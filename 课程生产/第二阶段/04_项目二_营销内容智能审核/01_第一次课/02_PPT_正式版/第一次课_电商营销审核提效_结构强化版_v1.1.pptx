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7"/>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  <Relationship Id="rId7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用一分钟开场。先让大家看见一千七百九十九元，不急着回答能不能过审。今天的任务不是解释模型原理，而是把一项每天都在发生的营销审核工作，做成有依据、有用户操作、有人处理、能够验证的项目方案。我们会从同一篇文案一路走到自检、正式审核和后续巡检。</a:t>
            </a:r>
          </a:p>
          <a:p>
            <a:pPr/>
            <a:endParaRPr lang="zh-CN" dirty="0"/>
          </a:p>
          <a:p>
            <a:pPr/>
            <a:r>
              <a:rPr lang="zh-CN" dirty="0"/>
              <a:t>画面中的扫拖机和家庭是生成的教学情境，净小伴、P1、所有商品参数、活动与人物也都是虚构材料。图片帮助进入场景，不证明任何真实产品功能。最后请大家回到开场问题：金额存在，是否就足以支持文案里的承诺？</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今天的结构分三篇七章。第一篇定问题，用业务背景找出费力动作，再确定目标与范围。第二篇做方案，依次形成三段流程、审核点卡、能力执行链和产品方案；前一章的产物是后一章的输入。第三篇验落地，用实施依赖、质量与人工投入的证据决定下一步。</a:t>
            </a:r>
          </a:p>
          <a:p>
            <a:pPr/>
            <a:endParaRPr lang="zh-CN" dirty="0"/>
          </a:p>
          <a:p>
            <a:pPr/>
            <a:r>
              <a:rPr lang="zh-CN" dirty="0"/>
              <a:t>每章都会先说明一个问题，沿小节编号分步推导，再停在一张填写好的产物小结上。页眉告诉大家处于哪个小节，底部导航告诉大家位于全课哪一章。全程一百八十分钟，包含两次各十分钟休息；所有案例、练习、图解和原型围绕同一篇净小伴P1营销文案，最后形成一页实施与验证安排。</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们先不急着讨论模型。用半分钟明确这一章要回答的问题：审核慢，具体慢在哪里？接下来先看小周和小林在日常审核里的分工，再对照原文核实业务承诺，最后回到查资料、解释与复核这些动作。章末请大家能画出角色流程，并用案例说明三类重复劳动。</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里用一分半钟说明流程。小周是内容运营，按日常计划为P1标准版写推广文案，人工自查后，把正文和资料提交给小林。小林核对商品、活动和配送表达，有疑义就找相应负责人。退回之后，小周形成新版本，小林复核，再由有权限的人员作出正式决定，定稿入库，按计划发布。</a:t>
            </a:r>
          </a:p>
          <a:p>
            <a:pPr/>
            <a:endParaRPr lang="zh-CN" dirty="0"/>
          </a:p>
          <a:p>
            <a:pPr/>
            <a:r>
              <a:rPr lang="zh-CN" dirty="0"/>
              <a:t>请指向流程外的三类资料负责人，说明产品负责商品事实，活动负责价格和赠品，履约负责配送依据。内容负责人负责实际使用版本和后续维护。不是所有事实都由审核人员凭经验确认，也不是作者提交之后就没有责任。这个日常流程没有临近开播或抢时间的设定，问题来自正常工作里的重复核对和协作。</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共三分钟，其中两分钟留给阅读和回答。先只展示V1，不向学员展示后面的业务资料。请每个人圈两处最想核实的地方，再说出需要哪份资料、找谁确认。有人说温度或到手价“肯定违法”时，先请他把判断改成核实需求，因为此时还没有给出适用依据。</a:t>
            </a:r>
          </a:p>
          <a:p>
            <a:pPr/>
            <a:endParaRPr lang="zh-CN" dirty="0"/>
          </a:p>
          <a:p>
            <a:pPr/>
            <a:r>
              <a:rPr lang="zh-CN" dirty="0"/>
              <a:t>收束时不一次揭晓所有答案。可以先听功能对象、价格资格、赠品条件、配送承诺这四类线索，再翻到资料页。“最高一万二千帕”和“最后再说一下”也保留在初稿里，后面用于说明正常表达不能只因为含某个词就被误报。这里的阅读、判断和回应共同计入三分钟。</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用两分钟。左边原句把六十五摄氏度用于直接拖地，右边的给定资料却说基站用这个温度清洗拖布。数值相同，但动作与对象不同，所以不能仅靠搜索温度是否出现来判断一致。示意图只区分地面和基站清洗，不是产品内部结构图。</a:t>
            </a:r>
          </a:p>
          <a:p>
            <a:pPr/>
            <a:endParaRPr lang="zh-CN" dirty="0"/>
          </a:p>
          <a:p>
            <a:pPr/>
            <a:r>
              <a:rPr lang="zh-CN" dirty="0"/>
              <a:t>再补两条边界：给定资料支持“最高一万二千帕”，不能把最高删掉，扩大成每个模式恒定达到。说明书要求提前清理电线和袜子，不能支持全面自动躲避的承诺；但我们也不能反推产品任何时候都无法避障。回到上一页，“最后再说一下”只是行文顺序，不能看到“最”字就判错。这些判断都限于本次给定检查范围。</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两分钟沿路径讲。当前活动价是两千三百九十九元，领取并使用四百元活动券后是一千九百九十九元；只有新会员再领取并使用两百元专享券，并按资料允许叠加，才是一千七百九十九元。请问大家，初稿哪两个地方需要改？一是没有交代对应条件，二是“人人同价”扩大了适用人群。</a:t>
            </a:r>
          </a:p>
          <a:p>
            <a:pPr/>
            <a:endParaRPr lang="zh-CN" dirty="0"/>
          </a:p>
          <a:p>
            <a:pPr/>
            <a:r>
              <a:rPr lang="zh-CN" dirty="0"/>
              <a:t>金额路径、适用人群和领券用券条件要一起核对，资料里有优惠价并不意味着任何文案使用这个数字都正确。以上条件只在本次活动适用期有效，不能把别的活动或旧版本资料直接拿来支持当前文案。这些金额完全是教学给定，不是真实促销信息。</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用两分钟。赠品资料的完整条件是：活动期内购买本次活动P1标准版并支付成功，按活动系统确认的支付顺序，前两百名每单赠一份宠物清洁包，赠完即止。谁取得名额由业务系统和活动负责人确认。“下单就送”把支付、限量和适用范围压缩掉了，而且初始规则不直接证明现在还剩名额。</a:t>
            </a:r>
          </a:p>
          <a:p>
            <a:pPr/>
            <a:endParaRPr lang="zh-CN" dirty="0"/>
          </a:p>
          <a:p>
            <a:pPr/>
            <a:r>
              <a:rPr lang="zh-CN" dirty="0"/>
              <a:t>另一边，明天能否到家，要结合地址、库存和下单时间。现在没有支持面向全部用户统一次日送达的依据，不能凭常识或通常经验补一个确定承诺。请学员分别指出这两条需要找的负责人。赠品交活动，配送交履约，审核人员负责对照和组织确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一分半钟跟着小林走动作。看到六十五度，打开商品资料，定位到基站洗拖布，再回原句写意见；看到一千七百九十九元，打开活动方案，继续确认两类券和新会员；赠品和配送也要分别找到依据。场景图里的人物只是帮助理解这个核对动作，不是实际访谈或业务照片。</a:t>
            </a:r>
          </a:p>
          <a:p>
            <a:pPr/>
            <a:endParaRPr lang="zh-CN" dirty="0"/>
          </a:p>
          <a:p>
            <a:pPr/>
            <a:r>
              <a:rPr lang="zh-CN" dirty="0"/>
              <a:t>请停在“再回原句整理意见”这一步。发现不对还不够，要把原句和依据连接起来，解释为什么不成立。即使最后确认一句话正确，查找、定位和比较的劳动也已经发生。我们要找的是哪些定位整理可以减少重复，不是取消必要的事实确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两分钟，可以先由教师读小林，请一位学员读小周，再读最后一条回复。第一轮只说价格补适用条件，小周认真地加了领券，双方都在履责，但没有对“补齐”的含义达成一致。还需要新会员资格，以及两类券分别领取并使用的条件。</a:t>
            </a:r>
          </a:p>
          <a:p>
            <a:pPr/>
            <a:endParaRPr lang="zh-CN" dirty="0"/>
          </a:p>
          <a:p>
            <a:pPr/>
            <a:r>
              <a:rPr lang="zh-CN" dirty="0"/>
              <a:t>这里值得记录的不只有最后是否正确，还有一次修改、重新读稿、解释和再次提交。请不要把小周归因成不认真，也不要把小林归因成不会审核；产品要帮助双方把任务说具体。后面的反馈设计必须让作者直接知道缺什么、依据在哪里、下一步怎样完成。</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用两分半钟，保留学员回应。小周说已修改，还顺了一下开头，小林需要把旧意见、新原句和当前依据重新连起来。旧问题在哪里，现在改成什么，依据是否仍适用？作者改过，不代表每条已经解决；其他改动还可能影响原来核实的内容。</a:t>
            </a:r>
          </a:p>
          <a:p>
            <a:pPr/>
            <a:endParaRPr lang="zh-CN" dirty="0"/>
          </a:p>
          <a:p>
            <a:pPr/>
            <a:r>
              <a:rPr lang="zh-CN" dirty="0"/>
              <a:t>请学员分别说出小周和小林多做的一次动作。参考回答是作者再次改写，审核人员再次解释、重读和核对。再挑一项能记录的工作量，例如查资料时间、同一问题往返次数、作者修改时间、逐条复核时间。没有实际测量时，不声称哪项占比最高。第一节到这里用二十分钟，接下来从动作变化确定项目目标。</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一分钟把第一章收成这份简化产物。小周撰写，小林审核，小周修改后由小林复核，最后按计划使用；业务负责人确认事实，内容负责人维护实际在用版本。审核耗时不是一个孤立动作：先要找齐商品、活动、赠品和配送依据；反馈不具体会造成解释往返；新版又要重新连起旧意见、新原句和当前依据。请学员用其中一个例子补全谁多做了什么。下一章把这些痛点转成首版目标。</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上一章已经找到具体费力的动作，这章用它们来定义项目目标。先把提效翻译成某个角色的工作变化，再确定第一版范围与正式决定的责任。学完后要能用一段话说明做什么、覆盖哪些内容、由谁决定；目标并不因为写在课件上就已经实现。</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里安排六分钟，其中三分钟让小组把一项功能翻译成工作变化。先逐项读出三个目标：适用依据来到待核对原句旁；反馈具体并接得上新版；条件变化以后找对在用内容和维护人。这些目标对应上一节出现的动作，不是已经实现的收益。</a:t>
            </a:r>
          </a:p>
          <a:p>
            <a:pPr/>
            <a:endParaRPr lang="zh-CN" dirty="0"/>
          </a:p>
          <a:p>
            <a:pPr/>
            <a:r>
              <a:rPr lang="zh-CN" dirty="0"/>
              <a:t>请一组拿“生成审核报告”解释：谁用这份报告完成什么操作，原来哪段劳动减少，哪段核实仍然必须保留？参考回答是小林少打开多份材料和定位段落，但仍需确认依据适用、提示成立。另一组可以拿作者自检解释：如果增加一步自检，却带来大量误报和再次解释，总劳动可能增加。</a:t>
            </a:r>
          </a:p>
          <a:p>
            <a:pPr/>
            <a:endParaRPr lang="zh-CN" dirty="0"/>
          </a:p>
          <a:p>
            <a:pPr/>
            <a:r>
              <a:rPr lang="zh-CN" dirty="0"/>
              <a:t>最后请每组把目标说成“让某角色减少某项重复劳动，同时保持某项质量”。工具响应很快只能说明局部时间，不证明整个审核工作省力。留出两分钟交流，收束到后面的首版范围与验证方式。</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里安排七分半钟，包含四分钟范围取舍。先明确材料范围：从P1和少量资料齐全商品开始，处理绑定单个SKU与活动的营销文本，核对功能、价格、赠品和配送。首版三个环节都保留，但建设时可以先做深正式审核，再接自检与人工发起的巡检。</a:t>
            </a:r>
          </a:p>
          <a:p>
            <a:pPr/>
            <a:endParaRPr lang="zh-CN" dirty="0"/>
          </a:p>
          <a:p>
            <a:pPr/>
            <a:r>
              <a:rPr lang="zh-CN" dirty="0"/>
              <a:t>请小组挑出一个最关键依赖，说明缺少它会缩小哪项检查。没有当前活动资料，价格和赠品不能完整判断；没有使用状态，不能声称历史巡检覆盖全部在用内容；没有处理人，问题列表无法形成闭环。范围不是简单删功能，而是让输入、判断与责任都能成立。</a:t>
            </a:r>
          </a:p>
          <a:p>
            <a:pPr/>
            <a:endParaRPr lang="zh-CN" dirty="0"/>
          </a:p>
          <a:p>
            <a:pPr/>
            <a:r>
              <a:rPr lang="zh-CN" dirty="0"/>
              <a:t>再看右侧：审核人员作正式决定，内容负责人确认修改、暂停等实际处置，业务负责人确认事实。未来限定场景的自动审核要另外明确覆盖、质量、权限和兜底，不因为当前辅助工具未发现问题就宣布全部要求通过。请一组用半分钟读出他们的首版定义，再用半分钟补上一个不能承诺的边界。</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分钟不再增加功能，而是检查首版定义是否完整。目标是让依据靠近原句、意见接上新版、变化找到在用内容。范围从绑定单个SKU的P1文本和已确认资料开始，核对功能、价格、赠品和配送，保留事前自检、事中审核与事后巡检。审核人员仍承担正式决定，内容负责人推动实际处置。最后用质量和作者、审核人员的总投入检验效果，后续再评估限定自动审核。接下来要让这三个目标在流程中找到位置。</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进入做方案。我们把首版目标放进三个时间环节，先看作者提交前怎样拿到可操作反馈，再看正式审核怎样确认、退回与复核，最后看条件变化后怎样选择在用内容并处理。完成标志是画出触发、处理结果和责任人，尤其说清什么时候才算完成。</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用一分半钟建立整段地图。事前由作者自检、修改并带说明提交；事中由审核人员核对、退回和复核，作正式决定；定稿入库按计划发布以后，业务条件变化触发事后巡检，负责人选范围、确认并推动实际更新。</a:t>
            </a:r>
          </a:p>
          <a:p>
            <a:pPr/>
            <a:endParaRPr lang="zh-CN" dirty="0"/>
          </a:p>
          <a:p>
            <a:pPr/>
            <a:r>
              <a:rPr lang="zh-CN" dirty="0"/>
              <a:t>三个环节不是三个彼此独立的模型。商品、活动和核对能力可以复用，但每次输入、触发时机和责任不同。请从左到右指一遍，再问：自检完成，为什么还需要正式审核？因为自检是辅助输入，正式确认仍要有承担责任的人。接下来分别看每个环节给用户什么结果。</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用三分半钟。请沿原句、发现、依据和动作讲。自检不是生成一句“存在风险”，而是指出原句把温度用于地面拖洗，和当前商品资料的基站洗拖布不一致。作者能看到具体缺什么，也能核对依据的文件和版本；有商品疑义时知道找产品负责人，修改后由审核人员复核。</a:t>
            </a:r>
          </a:p>
          <a:p>
            <a:pPr/>
            <a:endParaRPr lang="zh-CN" dirty="0"/>
          </a:p>
          <a:p>
            <a:pPr/>
            <a:r>
              <a:rPr lang="zh-CN" dirty="0"/>
              <a:t>请一位学员扮演作者，说出拿到这条结果后的下一步；再请另一位扮演小林，说出为什么仍要核对引用。引用存在不等于结论成立，还要确认资料适用、对象理解正确。同时，页面要展示本次检查覆盖哪些项，哪些因为缺资料或执行失败没有完成。结果必须绑定当前正文版本，不能让旧稿高亮假装对应新稿。</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这一页四分钟，其中三分钟两人练习。小周已改好其他问题，但价格只写了领券到手一千七百九十九元。让作者说出自己的说明，让审核人员说出下一步。暂不翻后页，先听两组答案。</a:t>
            </a:r>
          </a:p>
          <a:p>
            <a:pPr/>
            <a:endParaRPr lang="zh-CN" dirty="0"/>
          </a:p>
          <a:p>
            <a:pPr/>
            <a:r>
              <a:rPr lang="zh-CN" dirty="0"/>
              <a:t>讨论后这样收束：当前仍缺新会员资格与两类券的领取使用条件。作者可以带问题和异议说明进入正式审核，不要求对每条机器提醒全部接受、全部清零。小林需要根据有效活动资料判断，有业务疑义时找活动负责人，要求具体修改并在新版复核。能提交只是流转动作，不会自动变成审核通过，也不意味着缺失的依据可以不补。</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四分钟沿三个角色动作推进。小林先判断提示是否成立，成立就交作者修改；不成立要留理由；资料存在疑义就交对应业务负责人。小周修改形成V3，并说明改了哪里。复核时把原来原句、旧意见、新表达和适用依据放在一起，不只检查有没有点击“已修改”。</a:t>
            </a:r>
          </a:p>
          <a:p>
            <a:pPr/>
            <a:endParaRPr lang="zh-CN" dirty="0"/>
          </a:p>
          <a:p>
            <a:pPr/>
            <a:r>
              <a:rPr lang="zh-CN" dirty="0"/>
              <a:t>读一遍V3价格示例：本活动领取并使用四百元活动券后一千九百九十九，新会员再领取并使用两百元专享券后一千七百九十九。这里只是一种表达，不是要求全文必须套一个模板，其他适用条件仍要结合资料。价格问题解决以后，仍要确认其他既定审核要求，单条解决不自动成为整篇通过。通过后定稿与实际使用也需要对应正确版本。</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分钟提出一个实际问题：自检做过了，正式审核为什么要全部重跑？不应机械重复，而要看正文、SKU、活动、依据版本、审核点及执行配置是否一致，已有结果是否仍有效。条件没变时可以按约定复用，但是正式审核仍要保留自己的人工确认记录。</a:t>
            </a:r>
          </a:p>
          <a:p>
            <a:pPr/>
            <a:endParaRPr lang="zh-CN" dirty="0"/>
          </a:p>
          <a:p>
            <a:pPr/>
            <a:r>
              <a:rPr lang="zh-CN" dirty="0"/>
              <a:t>如果改了文案或资料，核对受影响项。不能默认只改一句就只查一句，因为前面的条件可能约束后文。首版判断不清依赖关系时，重查全文可以是更稳妥的实现选择。这里的原则不是永远重跑或永远缓存，而是把复用条件写清楚、记录清楚，并在后续验证中检查有没有把旧结果误用到新版本。</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三分钟。活动进行一段时间后，活动负责人根据活动系统确认两百个清洁包名额已经用完，登记变化事件。需要关联哪场活动、依据什么确认、从什么条件起适用、谁负责。首版可以人工登记，不要求模型自己推测库存，也不要求先建实时监控。</a:t>
            </a:r>
          </a:p>
          <a:p>
            <a:pPr/>
            <a:endParaRPr lang="zh-CN" dirty="0"/>
          </a:p>
          <a:p>
            <a:pPr/>
            <a:r>
              <a:rPr lang="zh-CN" dirty="0"/>
              <a:t>已经取得资格的订单仍然享有权益，不能因为名额用完就撤销过去承诺。本次要复查的是当前在用的推广是否仍然作赠送承诺。旧审核记录说明当时的依据和判断，继续保留；新巡检另建事件、范围与处理记录，不把旧记录直接改成当时审核失败。接下来先选范围，再判断句子。</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五分钟，其中四分钟留给分组。请大家先读六张内容卡，不要看到清洁包三个字就全部判错。先选进入本次巡检的已确认在用内容，再区分需要处理、该赠品项未发现问题和范围待确认，并给一个事项指定负责人。</a:t>
            </a:r>
          </a:p>
          <a:p>
            <a:pPr/>
            <a:endParaRPr lang="zh-CN" dirty="0"/>
          </a:p>
          <a:p>
            <a:pPr/>
            <a:r>
              <a:rPr lang="zh-CN" dirty="0"/>
              <a:t>教师在讨论中可以追问：停用内容要不要重写历史？其他活动是不是也使用本次权益？已写赠完的句子是否仍承诺赠送？只讲功能为何要加赠品？C06状态未知是不是直接排除？这些问题只是帮助分析，不在题目页提前宣布答案。最后一分钟邀请一组解释C06的处理，下一页揭示参考方案。</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四分半钟收束讨论。已确认本活动仍在使用的范围是C01、C03和C05。C01仍有旧赠送承诺，需要核实实际展示，交内容负责人决定更新、说明或暂停。C03已写明赠品用完，要核实登记与实际在用版本一致，不能因为含有清洁包就判错。C05没有赠品主张，该检查项不适用。</a:t>
            </a:r>
          </a:p>
          <a:p>
            <a:pPr/>
            <a:endParaRPr lang="zh-CN" dirty="0"/>
          </a:p>
          <a:p>
            <a:pPr/>
            <a:r>
              <a:rPr lang="zh-CN" dirty="0"/>
              <a:t>C02已经停用，保留历史；C04属于其他活动，不是这次变化的对象。C06使用状态不明，保留待确认，不能排除后宣布全库在用内容都查全了。请对照小组答案，看有没有把范围选择和表达判断混在一起。</a:t>
            </a:r>
          </a:p>
          <a:p>
            <a:pPr/>
            <a:endParaRPr lang="zh-CN" dirty="0"/>
          </a:p>
          <a:p>
            <a:pPr/>
            <a:r>
              <a:rPr lang="zh-CN" dirty="0"/>
              <a:t>再指向下方处理链：内容负责人接收，作者修改，审核人员复核，最后确认实际使用位置更新。内部文档改了而外部仍用旧稿，工作没结束。检查任务运行结束，也不能把所有问题和范围待确认自动关闭。到这里三环节段落共三十分钟，接下来休息。</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请沿三段流程回顾一分钟。事前由准备提交触发，作者拿到原句、依据与动作后修改，也可以带清楚说明进入正式审核。事中由正式提交触发，形成意见、改稿和复核，由有权限的审核人对相应版本作正式决定。事后由业务变化触发，先确认范围，再把处置跟到实际在用内容更新。检查完成、问题解决、审核通过、实际使用更新是四个不同事实，不能让一个绿色状态替代全部。休息之后我们把三段流程复用的核对任务拆成审核点。</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现在休息十分钟，七十五分钟时继续。请保留当前文案、业务资料和内容登记表。刚才三段审核回答了什么时候发生、谁来触发和承接，下一段把审核人员的经验拆成具体、可执行、可验证的检查任务。</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休息后我们带着三段流程往下拆。流程里反复出现核对，但怎样核对不能只靠一句功能准确。先用六个要素定义审核点，再拿温度、价格和赠品验证定义是否足够具体，最后把不同结果交到不同动作。章末要得到一张可以供实现、测试和人工处理使用的检查卡。</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里安排两分半钟。研发问小林审什么，小林说功能要准确、价格要完整，这在业务上没错，但还不足以让不同人按同样要求实现和测试。我们用六个问题把一项要求说具体：检查对象，适用条件，需要的依据，判断逻辑，例外缺项，以及处理人。</a:t>
            </a:r>
          </a:p>
          <a:p>
            <a:pPr/>
            <a:endParaRPr lang="zh-CN" dirty="0"/>
          </a:p>
          <a:p>
            <a:pPr/>
            <a:r>
              <a:rPr lang="zh-CN" dirty="0"/>
              <a:t>请用温度对象快速回答一轮。先把查什么定义清楚，再选择技术，不要一上来就决定整条都用模型。亚慧参考材料从文法、合规、真实性、版权等分类帮助梳理全貌，本项目首版只把已选定的商品、优惠、权益和承诺核对做具体，不代表全部审核要求都已经覆盖。</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三分半钟逐条比较。输入要有完整文案、绑定SKU和有效商品资料。直接拖地这句的温度对象不一致，需要改；明确基站热水洗拖布则有给定资料支持；深度清洁这句对象不清，要结合全文，仍不清楚就交人，不能擅自补出作者的意思。</a:t>
            </a:r>
          </a:p>
          <a:p>
            <a:pPr/>
            <a:endParaRPr lang="zh-CN" dirty="0"/>
          </a:p>
          <a:p>
            <a:pPr/>
            <a:r>
              <a:rPr lang="zh-CN" dirty="0"/>
              <a:t>最后一条没有温度数值，所以本温度检查不适用，但它仍然是一条产品功能主张，可以由相应事实检查核对。这不意味着整篇已经通过，也不能为了让检查适用而要求作者补写六十五度。请学员解释，为什么只有问题样例还不够？因为系统也可能误报正常表达，或把边界强行判成正确或错误。审核点要能被这些对照样例检验。</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用三分半钟。前两句分别说明人群扩大和条件遗漏。第三条表达要理解成新会员领取并使用四百元活动券及两百元专享券后，才能按当前活动路径得到一千七百九十九元。不能因为有效资料写了两种券，就假设作者在文案里也交代了。</a:t>
            </a:r>
          </a:p>
          <a:p>
            <a:pPr/>
            <a:endParaRPr lang="zh-CN" dirty="0"/>
          </a:p>
          <a:p>
            <a:pPr/>
            <a:r>
              <a:rPr lang="zh-CN" dirty="0"/>
              <a:t>请把条件移到上一句、价格放到下一句，让学员判断是否一定有问题。参考答案是结合全文，只要条件清楚约束这个价格，不要求都挤在同一句里。只宣传新会员价格，就核对这一条路径，不强制同时写所有价格；没有价格主张，不强迫增加价格。我们查业务含义与适用条件，不用唯一固定句式做唯一通关答案。缺有效活动依据时，不能完成价格正确性判断。</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这一页五分钟，其中三分钟填写，一分钟交流，最后一分钟收束。题目是下单就送清洁包，请按六项写出审核点，再补正常和无法确认的样例。不要在学员回答前念出下面的参考。</a:t>
            </a:r>
          </a:p>
          <a:p>
            <a:pPr/>
            <a:endParaRPr lang="zh-CN" dirty="0"/>
          </a:p>
          <a:p>
            <a:pPr/>
            <a:r>
              <a:rPr lang="zh-CN" dirty="0"/>
              <a:t>参考定义是：对象为本商品本活动的赠品主张，有对应权益宣传时适用。依据使用有效赠品规则，发生变化时加入负责人确认的事件和生效条件。结合全文核对购买本活动P1、成功支付、系统确认支付顺序前两百名、每单一份和赠完即止。条件不必在每一句重复商品名。正常样例完整交代这条路径；没有当前权益确认时，可以核对初始条件表达，但不能宣称现在还有名额；使用状态未知时范围待确认。作者修改，活动负责人确认事实，审核及内容负责人分别确认复核与实际更新。</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四分钟讲结果为什么要分开。有资料支持就保留依据，不能扩大成整篇通过；和依据不一致要改文案或确认新依据；缺条件就补充再复核；信息不足要说明缺项和责任人；不适用则不要求作者补写无关内容。</a:t>
            </a:r>
          </a:p>
          <a:p>
            <a:pPr/>
            <a:endParaRPr lang="zh-CN" dirty="0"/>
          </a:p>
          <a:p>
            <a:pPr/>
            <a:r>
              <a:rPr lang="zh-CN" dirty="0"/>
              <a:t>右侧技术失败单独讲。超时、读取失败或返回结果不可用，不是在业务上得出没问题，而是没有可靠完成这项检查。需要重试或人工补核，并且让用户知道未完成范围。请学员给“价格材料缺失”和“价格检查超时”各选一个状态，确认大家能把业务无法判断和技术未执行完分开。下一节再解释这些任务分别由程序、模型和人完成。</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一分钟把赠品练习回收到一张完整检查卡。对象是文案是否扩大赠品资格或遗漏关键限制，适用于本活动P1文案包含赠品承诺时。依据是当前有效赠品资料，发生变化时加入活动负责人确认的权益信息。结合全文核对成功支付、系统确认支付顺序前两百名、每单一份和赠完即止；不能从初始规则推断当前仍有名额。未提赠品则该项不适用，信息不足不能判为有支持。活动负责人确认事实，作者修改，审核人复核；实际在用更新仍由内容负责人确认。要求清楚之后，再选择怎么执行。</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审核点定义了查什么，接下来才讨论怎样执行。先解释混合审核，并和人工清单、规则、模型等方案比较，再把一条检查拆成程序、模型和人的接力，最后安排无法判断与技术失败的交接。完成标志是执行链的输入、分工和停止条件都能说清楚。</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用两分半钟，先把术语解释清楚。混合审核，是把规则程序校验、模型语义判断、人工复核按任务组合起来。程序负责明确条件、时间、金额和引用校验，模型辅助理解功能对象、主张及条件关系，人负责疑义和事实冲突，承担首版正式审核与内容处置。</a:t>
            </a:r>
          </a:p>
          <a:p>
            <a:pPr/>
            <a:endParaRPr lang="zh-CN" dirty="0"/>
          </a:p>
          <a:p>
            <a:pPr/>
            <a:r>
              <a:rPr lang="zh-CN" dirty="0"/>
              <a:t>下方业务资料提供事实依据，不是模型凭常识决定产品功能和权益。再区分两组问题：三段审核说什么时候，混合审核说怎样分工；上一节业务规则规定查什么，本节执行办法说明怎样查。一条审核点可以拆成多步，不必整条只交给一种能力。分工是依据输入特点、维护成本和可核对性作出的选择，不是说程序永远不能理解语言、模型永远不能计算。</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两分半钟比较四种候选。资料混乱时，先整理清单继续人工审核就可能很有帮助，但自由表达仍由人逐句核对。规则程序擅长明确条件和计算，同时要看不同说法的解析与维护成本。模型可辅助理解多种表述，但可能漏条件、误读对象或错误引用，人工纠错同样要计入。</a:t>
            </a:r>
          </a:p>
          <a:p>
            <a:pPr/>
            <a:endParaRPr lang="zh-CN" dirty="0"/>
          </a:p>
          <a:p>
            <a:pPr/>
            <a:r>
              <a:rPr lang="zh-CN" dirty="0"/>
              <a:t>组合方案把不同任务交给合适的办法，也增加交接与维护。请学员用一句话解释为什么本项目值得验证组合方案，参考是既有明确金额条件，又有自由文案语义，还有资料和责任争议。不能只因为这是AI课程就把所有步骤交给模型，更不能把组合本身当成效果保证。</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三分钟。程序先按P1及任务上下文取得适用商品资料，模型辅助识别温度是在描述拖地还是洗拖布，再结合资料比较。接下来要校验返回原句是否在正文中真实存在，引用是否来自本次有效材料，最后把疑义交产品负责人和审核人员。</a:t>
            </a:r>
          </a:p>
          <a:p>
            <a:pPr/>
            <a:endParaRPr lang="zh-CN" dirty="0"/>
          </a:p>
          <a:p>
            <a:pPr/>
            <a:r>
              <a:rPr lang="zh-CN" dirty="0"/>
              <a:t>请在第三步停一下：即使引用存在，也不能证明功能关系判断一定正确，语义仍可能误读。原句对象模糊时结合全文，不能自动补作者意图。这条链每一步都有明确输入与输出，才可以在结果不理想时定位是哪一步出错。页面是期望流程，不代表已经运行某个真实模型取得了这些结果。</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两分钟说明互补判断。左路计算两千三百九十九减四百再减两百，确实是一千七百九十九；右路看完整文案是否交代新会员以及两类券的条件。“领券一千七百九十九”仍然缺条件，这两个结论同时成立，并不矛盾。</a:t>
            </a:r>
          </a:p>
          <a:p>
            <a:pPr/>
            <a:endParaRPr lang="zh-CN" dirty="0"/>
          </a:p>
          <a:p>
            <a:pPr/>
            <a:r>
              <a:rPr lang="zh-CN" dirty="0"/>
              <a:t>合并时保留业务条件缺失，不要用两个检查投票。一条金额路径算对，也可能建立在错误提取的输入上，因此金额和资格都应该能回到原文核对。如果对同一事实出现真正冲突，再带原句、依据和判断路径交人确认。</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用一分半钟。活动负责人确认权益变化，不让模型猜库存或名额。程序按已有SKU、活动和使用状态筛选，未知项明确保留待核实。模型辅助判断当前文字是否仍作赠送承诺，“前两百名赠”与“已经赠完”虽然都含清洁包，但意思不同。</a:t>
            </a:r>
          </a:p>
          <a:p>
            <a:pPr/>
            <a:endParaRPr lang="zh-CN" dirty="0"/>
          </a:p>
          <a:p>
            <a:pPr/>
            <a:r>
              <a:rPr lang="zh-CN" dirty="0"/>
              <a:t>最后内容负责人核对实际在用版本，决定更新、说明或暂停，首版不凭搜索结果自动下架。请提醒大家，范围选错，即使逐句判断很准仍可能漏掉真正受影响内容。搜到词只是线索，不是结论，更不是处置权限。</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分钟按三个失败入口讲。缺业务材料，说明缺什么，交资料负责人补充，不靠常识编事实。原句不存在或引用不适用，要保留校验失败信息，重试或人工核实，不能把错误引用展示成可靠依据。执行超时则保留已经完成的部分，失败项显示未完成并转重试或人工补核。</a:t>
            </a:r>
          </a:p>
          <a:p>
            <a:pPr/>
            <a:endParaRPr lang="zh-CN" dirty="0"/>
          </a:p>
          <a:p>
            <a:pPr/>
            <a:r>
              <a:rPr lang="zh-CN" dirty="0"/>
              <a:t>如果同一事实出现不同判断，带原句、依据、版本和判断路径交对应负责人，不能让模型选语气更肯定的一份资料，也不能简单多数投票。这是让混合审核真正可用的交接，而不只是画三个能力方框。下一页请学员用自己的话解释分工与停止条件。</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四分钟，其中三分钟讨论，一分钟收束。A题是新会员领券一千七百九十九，要求先取得有效活动资料，程序核算路径，模型结合全文识别资格与两类券的领取使用关系，作者修改、活动负责人解释业务、审核人员复核。缺有效活动或关系仍不清楚时要停止完整判断并确认。</a:t>
            </a:r>
          </a:p>
          <a:p>
            <a:pPr/>
            <a:endParaRPr lang="zh-CN" dirty="0"/>
          </a:p>
          <a:p>
            <a:pPr/>
            <a:r>
              <a:rPr lang="zh-CN" dirty="0"/>
              <a:t>B题先由负责人确认权益变化，程序按活动关联与使用状态选范围，模型辅助识别旧赠送承诺，内容负责人确认实际版本并处理。使用状态未知或实际文本未核实时，不能宣布查全或处置结束。请每组不仅说谁做什么，还说清输入从哪来、什么时候无法继续。之后休息，下一段进入系统与产品。</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一分钟追踪这条执行链。输入必须包含全文、商品与活动、当前有效资料和适用审核点。程序取得并核对依据与上下文，明确计算可以直接执行；模型辅助理解对象和资格条件，但理解结果需要核实。随后校验原句和引用是否来自本任务，再合并业务结果，疑义与正式决定交给人。输出应包含可定位原句、依据、状态与下一步动作。缺依据先补，引用不符核实，超时重试或人工补核，未完成项不能隐藏。三段审核回答何时，混合审核回答怎样分工。休息后把执行链接进页面、状态和记录。</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休息十分钟，一百二十五分钟时继续。前面把检查要求和能力分工定义清楚了，接下来从小周点击按钮开始，看看系统记录什么、页面呈现什么，以及小林怎样完成正式判断。继续使用同一份文案与审核点，不另开一个案例。</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章把流程与检查执行链接到用户操作。先看架构、数据流和记录各承担什么，再用迟到结果练习说明版本有效性，最后看页面怎样让不同角色完成处理、复核和异常交接。我们要能解释点一下按钮以后系统怎样可靠地走完，而不仅是看见一个结果。</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用三分半钟，讲职责而不讲术语堆叠。业务应用层让作者提交、看结果、修改，让审核人员复核，让负责人组织巡检和跟踪处理。审核能力层整理上下文，选适用检查，安排程序和模型执行，校验并合并结果。底层提供语言能力与经过负责人确认的业务依据。</a:t>
            </a:r>
          </a:p>
          <a:p>
            <a:pPr/>
            <a:endParaRPr lang="zh-CN" dirty="0"/>
          </a:p>
          <a:p>
            <a:pPr/>
            <a:r>
              <a:rPr lang="zh-CN" dirty="0"/>
              <a:t>亚慧材料所说的审核规则引擎，在本项目可以理解成组织检查的模块，判断当前场景哪些点适用、交给什么能力、如何汇总。首版点不多，可以先写成清晰工作流，不要求一开始做可视化拖拽平台。已有关联能取到指定资料时，先按关联取，不默认先做覆盖所有材料的通用检索平台。三层是职责划分，也不代表必须建三个独立系统。</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用三分半钟，从按钮后的输入包讲。不能只发送一段文字，至少要知道正文版本、SKU、活动、审核场景、适用时间与调用人。系统先保存当时正文和依据快照，再确认材料、选适用检查，组织程序与模型，校验原句和引用后合并结果。</a:t>
            </a:r>
          </a:p>
          <a:p>
            <a:pPr/>
            <a:endParaRPr lang="zh-CN" dirty="0"/>
          </a:p>
          <a:p>
            <a:pPr/>
            <a:r>
              <a:rPr lang="zh-CN" dirty="0"/>
              <a:t>缺活动资料时，价格和赠品受影响，要显式说明未完成范围；仍能完成的商品检查可以保留结果。返回问题不仅需要引文，还需要关联正文版本与位置，因为同一句话可能在全文出现多次。定位校验失败不能假装已经准确高亮。作者随后形成新版本时，旧快照不被覆盖；这条数据链支撑接下来的正式审核与复核。</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四分钟，把三个记录分别讲。检查记录回答系统对哪个正文、依哪份资料完成了哪些任务；问题处理记录回答提示是否成立、作者怎样修改、复核是否确认；正式审核记录回答当前稿件的既定审核要求是否完成，由有权限的人决定。</a:t>
            </a:r>
          </a:p>
          <a:p>
            <a:pPr/>
            <a:endParaRPr lang="zh-CN" dirty="0"/>
          </a:p>
          <a:p>
            <a:pPr/>
            <a:r>
              <a:rPr lang="zh-CN" dirty="0"/>
              <a:t>沿底部路径走：V2系统检查完成，但人工待审，小林确认问题后退回；V3不是覆盖V2，而是新正文、新检查和关联复核。所有问题及既定要求处理完成后，形成绑定实际提交版本的正式决定。实际使用再关联通过的版本。页面可以在一起，但这三种语义不能合成一个绿色状态。请让一位学员解释，作者点已修改为何还不能直接变成正式通过。</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四分钟，三分钟推演，最后一分钟听答案但不急着判定。指向三个时间点：先发起V2检查，作者随后保存V3，最后V2结果才返回，提示价格问题。请学员说明结果存在哪里，当前页面显示什么，小林能否直接用它确认V3。</a:t>
            </a:r>
          </a:p>
          <a:p>
            <a:pPr/>
            <a:endParaRPr lang="zh-CN" dirty="0"/>
          </a:p>
          <a:p>
            <a:pPr/>
            <a:r>
              <a:rPr lang="zh-CN" dirty="0"/>
              <a:t>如果有人说结果成功就覆盖当前提示，请追问这条结果实际读到的是哪一版正文。如果有人说直接删除旧结果，请追问历史执行和反馈为什么不需要保留。让大家从输入与结论对应关系作判断，而不是背系统术语。下一页保留相同时间位置揭示参考方案。</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三分钟。V2的结果仍属于V2及其依据版本，保存历史，不覆盖当前V3。当前页面明确告诉用户正文已更新、V3尚需有效检查。能否复用某项结果，要回到正文、资料、审核点与执行配置等条件；受影响项重查，依赖不确定时首版可以全文重查。</a:t>
            </a:r>
          </a:p>
          <a:p>
            <a:pPr/>
            <a:endParaRPr lang="zh-CN" dirty="0"/>
          </a:p>
          <a:p>
            <a:pPr/>
            <a:r>
              <a:rPr lang="zh-CN" dirty="0"/>
              <a:t>正式决定绑定实际提交审核的版本，服务返回成功只说明那次请求结束。不要把执行完成、当前正文已检查和正式通过混成一件事。请学员用一句话总结：既不拿新稿覆盖旧任务，也不拿旧结果替新稿作决定。后面的原型可以切换延迟结果场景演示同一关系。</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三分钟，可以打开配套本地HTML实际操作。先从总览进入内容编辑与自检，选择作者角色，载入V1，点击检查；再点击问题，观察是否回到对应原句，并展开业务依据。保存部分修正稿，提醒大家当前版本和旧结果的关系。具体按钮以当前原型为准，配套操作说明包含预设场景与故障选择。</a:t>
            </a:r>
          </a:p>
          <a:p>
            <a:pPr/>
            <a:endParaRPr lang="zh-CN" dirty="0"/>
          </a:p>
          <a:p>
            <a:pPr/>
            <a:r>
              <a:rPr lang="zh-CN" dirty="0"/>
              <a:t>投影截图用于看整体组织，不要求学员读清所有小字，下一页用可编辑示意放大关键交互。重点是版本、覆盖与未完成项、问题定位与依据三件事。原型是本地预设规则，既没有接真实大模型，也不连接真实发布系统。自由输入不能据此验证真实审核效果，现场不要把预设命中展示成模型能力证据。</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四分钟。左边是V2正文和作者说明，右边是待确认的价格问题与当前活动依据。需要点击问题定位原句，也能从原句回到问题，方便小林在原文、发现和出处之间切换。小周可以说明保留短句的想法，但并不会因此让价格条件自动视为完整。</a:t>
            </a:r>
          </a:p>
          <a:p>
            <a:pPr/>
            <a:endParaRPr lang="zh-CN" dirty="0"/>
          </a:p>
          <a:p>
            <a:pPr/>
            <a:r>
              <a:rPr lang="zh-CN" dirty="0"/>
              <a:t>请两位学员分别扮演作者与审核人员，说出进入这页最需要的三项信息。作者关注原句、依据、要改什么；审核人员关注提交版本、检查覆盖、提示是否成立、历史说明。审核可以确认、不成立留理由、请求补资料或退回。修改之后要新版复核，正式决定由有权限的人员执行。这是放大的课堂设计示意，不是真实运行截图；原型若无法打开，也可以沿本页完成角色演示。</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三分钟沿C01处理链讲。批次记录E-GIFT-01，运行结束不等于业务结束。内容负责人小陈接收问题，小周改稿，小林复核，小陈最后确认实际使用位置更新。不能只有内部文档改好，没有人在外部使用位置核验。</a:t>
            </a:r>
          </a:p>
          <a:p>
            <a:pPr/>
            <a:endParaRPr lang="zh-CN" dirty="0"/>
          </a:p>
          <a:p>
            <a:pPr/>
            <a:r>
              <a:rPr lang="zh-CN" dirty="0"/>
              <a:t>C06仍然范围待确认，要先核实是否在用，不允许从待办里消失。其他检查项未发现问题的内容，也不能被扩张为完成全部审核。页面要分开运行、范围、问题处理状态，保留旧审核，新巡检关联变化事件。现场若演示原型，就切换巡检预设，检查认领与实际更新操作；否则请一位学员指出哪个状态说明工作仍未结束。</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用两分半钟。左侧五类任务可以接入现有内容系统，不必分别新建五个产品。编辑自检要帮助作者准备和修改；队列让小林知道什么等自己处理；详情支持核对复核；批次支持选范围和推动处置；管理入口维护依据与审核点。</a:t>
            </a:r>
          </a:p>
          <a:p>
            <a:pPr/>
            <a:endParaRPr lang="zh-CN" dirty="0"/>
          </a:p>
          <a:p>
            <a:pPr/>
            <a:r>
              <a:rPr lang="zh-CN" dirty="0"/>
              <a:t>右侧按职责设置权限：作者编辑、说明异议、提交；审核人员确认提示、复核和正式决定；资料负责人确认事实与变化；内容负责人确认使用状态并完成实际更新。作者提交异议不等于获得批准权，资料改了要有确认人和历史版本。请学员从五类页面中挑一个，说明如果少掉右侧某个承接角色，流程会卡在哪里。</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三分钟收束系统方案。缺活动资料时，价格赠品未完成，交提交人或活动负责人补有效资料；部分超时保留完成项，失败部分重试或人工补核，人工范围与依据要记录；状态不明或没人接收则保留待确认、待承接，交负责人协调，不按已处理关闭。</a:t>
            </a:r>
          </a:p>
          <a:p>
            <a:pPr/>
            <a:endParaRPr lang="zh-CN" dirty="0"/>
          </a:p>
          <a:p>
            <a:pPr/>
            <a:r>
              <a:rPr lang="zh-CN" dirty="0"/>
              <a:t>重复提交要避免重复正式流转，检查重试仍应关联正确任务与版本。资料冲突带原句、证据和版本交人确认。请大家检验每个异常是否都回答现在完成了什么、还缺什么、下一步谁做。到这里架构、数据、页面和异常已经连起来，下一段讨论实施依赖和验证证据。</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一分钟检查产品方案是否落到了操作上。三层架构中，应用负责自检、审核、巡检与处理，审核能力组织选点、执行、校验和合并，模型与有效资料提供语言能力和业务依据。检查记录、问题处理和正式结论分开保存；V2结果留在V2，V3需要重新确认检查有效性。页面把原句、依据、动作和责任人连起来，失败项显示未完成，并安排下一步承接。请学员任选一条约束，指出它在原型哪里体现。下一章不再靠演示证明收益，而是安排真实工作的验证。</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已经有能说明用户操作和异常的产品方案，还要回答可用与提效怎样证明。先确认材料、责任和建设顺序，再同时验证质量与整项人工投入，最后根据证据决定修复、扩大或收缩。章末把这些收成一页实施与验证安排。</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用一分半钟。准备实施时先确认四件事。业务负责人确认资料有效版本、范围与生效条件；审核和业务负责人共同确认原文与参考判断，争议留理由；内容负责人补齐商品、活动、版本、使用状态与维护人关联；产品、实现和业务一起确定接入、记录、复核、处置与暂停辅助能力的责任。</a:t>
            </a:r>
          </a:p>
          <a:p>
            <a:pPr/>
            <a:endParaRPr lang="zh-CN" dirty="0"/>
          </a:p>
          <a:p>
            <a:pPr/>
            <a:r>
              <a:rPr lang="zh-CN" dirty="0"/>
              <a:t>如果只有聊天里一句解释，程序和模型每次都未必能取得同样的有效依据。关联不全时，可以先试用一组登记清楚的内容，不承诺全库覆盖。产品的工作包括组织这些材料和责任，不是把页面画完就交给研发。</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一分半钟看首版内部顺序。先验证关键审核点能不能正确完成，尤其正常、问题、边界和失败出口。再把正式审核从提交、检查、人工确认、修改到复核跑通，核对记录绑定正确版本。之后复用能力接作者自检和人工发起巡检，验证变化与未知范围都能处理，最后在可承接的小范围真实工作中观察质量和总投入。</a:t>
            </a:r>
          </a:p>
          <a:p>
            <a:pPr/>
            <a:endParaRPr lang="zh-CN" dirty="0"/>
          </a:p>
          <a:p>
            <a:pPr/>
            <a:r>
              <a:rPr lang="zh-CN" dirty="0"/>
              <a:t>这不改变首版三个环节都保留的范围，只说明怎样分步建设。每一步的通过证据要先说清楚，不能因为一段理想演示能播放，就认为业务闭环已实现。没有实际资源和基线时，也不先承诺几周上线或节省一半时间。</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两分钟。明显错误样例只测到很小一块。正常的基站六十五度洗拖布不能误报，对象不清的深度清洁要看全文或交人，缺资料、资料更新和超时也要显式表达未完成。没有温度或赠品主张时，还要避免强加不适用要求。</a:t>
            </a:r>
          </a:p>
          <a:p>
            <a:pPr/>
            <a:endParaRPr lang="zh-CN" dirty="0"/>
          </a:p>
          <a:p>
            <a:pPr/>
            <a:r>
              <a:rPr lang="zh-CN" dirty="0"/>
              <a:t>参考判断由相应业务人员确认，争议样例留理由，不拿模型自己的结论当标准答案。调试资料和独立验证材料分开，相似模板也要注意，不能只改到熟悉的几道题能过。修改之后回看代表样例，防止修了一条又把原来正常表达变成误报。</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两分钟快速对照五条轨道。质量看漏误报、引用、信息不足有没有混成无问题；人工看作者和审核人的总投入，等待另记；版本看V2有没有误用到V3，正式结论和实际使用能否对应；巡检看未知范围、问题认领和真实更新；运行看成本、时延、重试和接管。</a:t>
            </a:r>
          </a:p>
          <a:p>
            <a:pPr/>
            <a:endParaRPr lang="zh-CN" dirty="0"/>
          </a:p>
          <a:p>
            <a:pPr/>
            <a:r>
              <a:rPr lang="zh-CN" dirty="0"/>
              <a:t>第一阶段已经讲过评测方法，这里不重讲公式，而是把证据放回实际任务。门槛由业务基线、可接受风险和资源共同约定，不能套用其他项目的通用准确率。接下来给一组计时数据，请大家用这个视角判断是否提效。</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三分钟，只展示分项，不先说总计。两组各处理十篇难度可比的文案，作者准备、自检与修改从六十变成八十分钟；审核查资料从一百变成六十；沟通、纠错和复核从四十变成六十五。请先独立计算，再讨论能否因为查资料省时就扩大试用。</a:t>
            </a:r>
          </a:p>
          <a:p>
            <a:pPr/>
            <a:endParaRPr lang="zh-CN" dirty="0"/>
          </a:p>
          <a:p>
            <a:pPr/>
            <a:r>
              <a:rPr lang="zh-CN" dirty="0"/>
              <a:t>请学生补充还需要的证据，例如问题质量、作者额外操作、沟通增加原因、等待时间和任务可比性。全部数字都是课堂算例，没有真实业务统计含义，也不是上线目标；十篇只是方便计算，不是推荐验收样本量。下一页再揭示总人工和诊断方向。</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两分钟揭示：原流程二百分钟，辅助流程二百零五分钟，总人工增加五分钟。作者增加二十，查资料减少四十，沟通复核增加二十五。局部变快不能直接宣布整体提效，可能需要看反馈是否清楚、误报是否过多、版本和意见是否接上，也可能包含初期学习成本，必须根据实际记录判断。</a:t>
            </a:r>
          </a:p>
          <a:p>
            <a:pPr/>
            <a:endParaRPr lang="zh-CN" dirty="0"/>
          </a:p>
          <a:p>
            <a:pPr/>
            <a:r>
              <a:rPr lang="zh-CN" dirty="0"/>
              <a:t>仍要同时看质量和等待。若质量提升但成本增加，要让业务明确是否接受这种取舍，不能悄悄把原定目标改成成功。任务难度、人员熟悉程度也要可比；同一个人刚记住答案又处理同一道题，变快不应全归功于工具。没有额外收益证据，不急于扩大。</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一分钟。质量、流程和人工承接稳定，而且收益可以确认，就逐步扩大相似商品和人员。发现误报、资料不适用或版本问题，先定位是取资料、理解、引用定位还是用户处理环节，修复后回归。如果关键错误不可控或问题无人处理，要缩小范围，必要时回到原人工方式，并保留本次调整理由。</a:t>
            </a:r>
          </a:p>
          <a:p>
            <a:pPr/>
            <a:endParaRPr lang="zh-CN" dirty="0"/>
          </a:p>
          <a:p>
            <a:pPr/>
            <a:r>
              <a:rPr lang="zh-CN" dirty="0"/>
              <a:t>试用结论应当指向一个下一步动作，不只是给模型一个总分。</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一分钟。先把边界明确的单条检查做好，在稳定辅助基础上，再评估限定场景的自动正式决定。自动完成一项检查和自动通过、拦截整篇文案，是不同阶段，后者额外需要完整覆盖、有效依据、实际质量证据、处置权限、异常承接与恢复人工的方式。</a:t>
            </a:r>
          </a:p>
          <a:p>
            <a:pPr/>
            <a:endParaRPr lang="zh-CN" dirty="0"/>
          </a:p>
          <a:p>
            <a:pPr/>
            <a:r>
              <a:rPr lang="zh-CN" dirty="0"/>
              <a:t>这里是方案演进示意，没有承诺工期，也没有将系统未发现问题直接连接到自动发布。今天的首版价值，仍然是让三段审核更省力、更稳定地完成。</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里用半分钟作为路线复盘；如果已经在对应章节做过演示，不再重复完整播放。依次回忆V1自检，V2带说明提交，人工确认和V3复核，赠品事件巡检与实际更新，最后是V2迟到结果。每一步都问，我们减少了原来哪项劳动，哪个判断仍然需要有人负责。</a:t>
            </a:r>
          </a:p>
          <a:p>
            <a:pPr/>
            <a:endParaRPr lang="zh-CN" dirty="0"/>
          </a:p>
          <a:p>
            <a:pPr/>
            <a:r>
              <a:rPr lang="zh-CN" dirty="0"/>
              <a:t>配套课堂原型是单文件HTML，可以本地打开，演示说明提供操作次序。现场故障时用第五十一到五十三页及版本时间线替代讲解。预设检查结果不证明真实模型能力，实际收益需要后续真实材料、人员与系统试用验证。</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两分钟布置课后任务。任选温度对象、价格条件或赠品权益的一项，写成一页实施安排。不要先写长PRD，先回答最小路径与边界、每个角色的责任、有效资料和版本使用关联、正常问题及无法确认样例，以及什么证据允许进入下一步。</a:t>
            </a:r>
          </a:p>
          <a:p>
            <a:pPr/>
            <a:endParaRPr lang="zh-CN" dirty="0"/>
          </a:p>
          <a:p>
            <a:pPr/>
            <a:r>
              <a:rPr lang="zh-CN" dirty="0"/>
              <a:t>可以请一位学员口头示范温度审核点：谁确认商品材料，程序取哪份版本，模型比较什么，什么时候交人，以及怎样验证没有把正常表达误报。最后说明下一课再深化资料接入、规则配置、页面状态及测试后的具体取舍，本次PPT只覆盖第一次课。</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用一分钟把七章收成一页实施与验证安排。以温度对象核对为例，先确认有效资料和关键检查可用，再跑通正式审核闭环，之后复用到作者自检和巡检。业务确认依据，产品组织路径，审核与内容负责人承接处理。正文、SKU与活动、资料版本、内容关联和维护人是具体依赖。验证既要有基站热水洗拖布这样的正常表达，也要有直接拖地的问题、深度清洁的边界和资料缺失或超时的失败情况；同时观察版本、实际处置与总人工投入。质量、流程、承接和收益证据稳定之后再扩；否则先定位原因、修复或收缩。这就是从业务背景走到项目落地的完整第一课。</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一分钟说明参考边界，也可作为课后备课页不逐条念。亚慧营销审核第一天原文第八十到一百一十段用于三环节，第二百零八到二百一十八段及第一份PDF第七页用于分类；第二天原文第一百二十四到一百五十二段及第二份PDF第一到第八页用于架构，第二百四十四到二百七十六段用于上下文、提取和规则，第三百一十四到三百二十六段及PDF第二十到二十三页用于流程复核，第三百二十八到三百五十段及PDF第二十四到二十七页用于业务数据和验证。亚慧也覆盖评估，不应把评估全部归于知乎。</a:t>
            </a:r>
          </a:p>
          <a:p>
            <a:pPr/>
            <a:endParaRPr lang="zh-CN" dirty="0"/>
          </a:p>
          <a:p>
            <a:pPr/>
            <a:r>
              <a:rPr lang="zh-CN" dirty="0"/>
              <a:t>知乎企业内部降本增效课程相关原文第四百一十四到四百三十八段、第四百五十八到四百六十六段提供业务规则、人工分流和分阶段思路；测试与数据原文第二百一十六到二百二十四段提醒事实核对与多方法验证。此前通过飞书CLI实际读取的《在线电商智能客服Agent》PRD第二十四版，人工协作、容错和迭代部分作为完整性参考，并未照搬客服状态或自动执行动作。P1全部案例、资料、人物、场景图和计时都是本课改编模拟，没有引用历史法律材料作为现行判断。</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一分钟，回到开场问题。一千七百九十九元写对，并不保证一篇文案能过；还要有适用条件、有效依据、正确版本和有人完成的审核处理。我们今天从业务动作确定目标，把事前、事中、事后连起来，定义检查点，安排程序、模型和人，再落到系统页面、异常与验证。</a:t>
            </a:r>
          </a:p>
          <a:p>
            <a:pPr/>
            <a:endParaRPr lang="zh-CN" dirty="0"/>
          </a:p>
          <a:p>
            <a:pPr/>
            <a:r>
              <a:rPr lang="zh-CN" dirty="0"/>
              <a:t>请大家带走这句话：把依据、修改、责任接起来，再证明它真的省力。首版目标是三段审核提效，落地依靠具体审核点和人工闭环，验证同时看质量与总投入。用一页实施安排，把今天的项目方案转成下一步可以做的工作。</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lesson1_classroom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lesson1_classroom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a:solidFill>
            <a:schemeClr val="tx1"/>
          </a:solidFill>
          <a:latin typeface="+mn-lt"/>
          <a:ea typeface="+mn-ea"/>
          <a:cs typeface="+mn-cs"/>
        </a:defRPr>
      </a:lvl9pPr>
    </p:bodyStyle>
    <p:otherStyle>
      <a:defPPr>
        <a:defRPr lang="en-US"/>
      </a:defPPr>
      <a:lvl1pPr marL="0" algn="l" defTabSz="457200" rtl="0" eaLnBrk="1" latinLnBrk="0" hangingPunct="1">
        <a:defRPr sz="2100" kern="1200">
          <a:solidFill>
            <a:schemeClr val="tx1"/>
          </a:solidFill>
          <a:latin typeface="+mn-lt"/>
          <a:ea typeface="+mn-ea"/>
          <a:cs typeface="+mn-cs"/>
        </a:defRPr>
      </a:lvl1pPr>
      <a:lvl2pPr marL="457200" algn="l" defTabSz="457200" rtl="0" eaLnBrk="1" latinLnBrk="0" hangingPunct="1">
        <a:defRPr sz="1950" kern="1200">
          <a:solidFill>
            <a:schemeClr val="tx1"/>
          </a:solidFill>
          <a:latin typeface="+mn-lt"/>
          <a:ea typeface="+mn-ea"/>
          <a:cs typeface="+mn-cs"/>
        </a:defRPr>
      </a:lvl2pPr>
      <a:lvl3pPr marL="914400" algn="l" defTabSz="457200" rtl="0" eaLnBrk="1" latinLnBrk="0" hangingPunct="1">
        <a:defRPr sz="1850" kern="1200">
          <a:solidFill>
            <a:schemeClr val="tx1"/>
          </a:solidFill>
          <a:latin typeface="+mn-lt"/>
          <a:ea typeface="+mn-ea"/>
          <a:cs typeface="+mn-cs"/>
        </a:defRPr>
      </a:lvl3pPr>
      <a:lvl4pPr marL="1371600" algn="l" defTabSz="457200" rtl="0" eaLnBrk="1" latinLnBrk="0" hangingPunct="1">
        <a:defRPr sz="1700" kern="1200">
          <a:solidFill>
            <a:schemeClr val="tx1"/>
          </a:solidFill>
          <a:latin typeface="+mn-lt"/>
          <a:ea typeface="+mn-ea"/>
          <a:cs typeface="+mn-cs"/>
        </a:defRPr>
      </a:lvl4pPr>
      <a:lvl5pPr marL="1828800" algn="l" defTabSz="457200" rtl="0" eaLnBrk="1" latinLnBrk="0" hangingPunct="1">
        <a:defRPr sz="1600" kern="1200">
          <a:solidFill>
            <a:schemeClr val="tx1"/>
          </a:solidFill>
          <a:latin typeface="+mn-lt"/>
          <a:ea typeface="+mn-ea"/>
          <a:cs typeface="+mn-cs"/>
        </a:defRPr>
      </a:lvl5pPr>
      <a:lvl6pPr marL="2286000" algn="l" defTabSz="457200" rtl="0" eaLnBrk="1" latinLnBrk="0" hangingPunct="1">
        <a:defRPr sz="1450" kern="1200">
          <a:solidFill>
            <a:schemeClr val="tx1"/>
          </a:solidFill>
          <a:latin typeface="+mn-lt"/>
          <a:ea typeface="+mn-ea"/>
          <a:cs typeface="+mn-cs"/>
        </a:defRPr>
      </a:lvl6pPr>
      <a:lvl7pPr marL="2743200" algn="l" defTabSz="457200" rtl="0" eaLnBrk="1" latinLnBrk="0" hangingPunct="1">
        <a:defRPr sz="13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0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2f2531b2fd9189c.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ea28567ecbbe5d9.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6.xml"/>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7.xml"/>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8.xml"/>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9.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0.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b1cf2a5a388c868.jpg"/>
  <Relationship Id="rId3" Type="http://schemas.openxmlformats.org/officeDocument/2006/relationships/notesSlide" Target="../notesSlides/notesSlide51.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2.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3.xml"/>
</Relationships>
</file>

<file path=ppt/slides/_rels/slide5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4.xml"/>
</Relationships>
</file>

<file path=ppt/slides/_rels/slide5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5.xml"/>
</Relationships>
</file>

<file path=ppt/slides/_rels/slide5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6.xml"/>
</Relationships>
</file>

<file path=ppt/slides/_rels/slide5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7.xml"/>
</Relationships>
</file>

<file path=ppt/slides/_rels/slide5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8.xml"/>
</Relationships>
</file>

<file path=ppt/slides/_rels/slide5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9.xml"/>
</Relationships>
</file>

<file path=ppt/slides/_rels/slide6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0.xml"/>
</Relationships>
</file>

<file path=ppt/slides/_rels/slide6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1.xml"/>
</Relationships>
</file>

<file path=ppt/slides/_rels/slide6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2.xml"/>
</Relationships>
</file>

<file path=ppt/slides/_rels/slide6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3.xml"/>
</Relationships>
</file>

<file path=ppt/slides/_rels/slide6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4.xml"/>
</Relationships>
</file>

<file path=ppt/slides/_rels/slide6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5.xml"/>
</Relationships>
</file>

<file path=ppt/slides/_rels/slide6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6.xml"/>
</Relationships>
</file>

<file path=ppt/slides/_rels/slide6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7.xml"/>
</Relationships>
</file>

<file path=ppt/slides/_rels/slide6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8.xml"/>
</Relationships>
</file>

<file path=ppt/slides/_rels/slide6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9.xml"/>
</Relationships>
</file>

<file path=ppt/slides/_rels/slide7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22732" y="504825"/>
            <a:ext cx="2848356" cy="774573"/>
            <a:chOff x="522732" y="504825"/>
            <a:chExt cx="2848356" cy="774573"/>
          </a:xfrm>
        </p:grpSpPr>
        <p:sp>
          <p:nvSpPr>
            <p:cNvPr id="2" name="TextBox 2"/>
            <p:cNvSpPr txBox="1"/>
            <p:nvPr/>
          </p:nvSpPr>
          <p:spPr>
            <a:xfrm>
              <a:off x="525780" y="504825"/>
              <a:ext cx="2383536"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AI产品项目课 / 第一次课</a:t>
              </a:r>
            </a:p>
          </p:txBody>
        </p:sp>
        <p:sp>
          <p:nvSpPr>
            <p:cNvPr id="3" name="TextBox 3"/>
            <p:cNvSpPr txBox="1"/>
            <p:nvPr/>
          </p:nvSpPr>
          <p:spPr>
            <a:xfrm>
              <a:off x="522732" y="868680"/>
              <a:ext cx="284835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电商营销内容审核提效</a:t>
              </a:r>
            </a:p>
          </p:txBody>
        </p:sp>
      </p:grpSp>
      <p:grpSp>
        <p:nvGrpSpPr>
          <p:cNvPr id="8" name="Group 8"/>
          <p:cNvGrpSpPr/>
          <p:nvPr/>
        </p:nvGrpSpPr>
        <p:grpSpPr>
          <a:xfrm>
            <a:off x="514350" y="1863090"/>
            <a:ext cx="4761647" cy="2571750"/>
            <a:chOff x="514350" y="1863090"/>
            <a:chExt cx="4761647" cy="2571750"/>
          </a:xfrm>
        </p:grpSpPr>
        <p:sp>
          <p:nvSpPr>
            <p:cNvPr id="5" name="TextBox 5"/>
            <p:cNvSpPr txBox="1"/>
            <p:nvPr/>
          </p:nvSpPr>
          <p:spPr>
            <a:xfrm>
              <a:off x="514350" y="1863090"/>
              <a:ext cx="4761647" cy="933450"/>
            </a:xfrm>
            <a:prstGeom prst="rect">
              <a:avLst/>
            </a:prstGeom>
            <a:noFill/>
            <a:ln>
              <a:noFill/>
            </a:ln>
          </p:spPr>
          <p:txBody>
            <a:bodyPr wrap="none" lIns="0" tIns="0" rIns="0" bIns="0" anchor="t" anchorCtr="0">
              <a:spAutoFit/>
            </a:bodyPr>
            <a:lstStyle/>
            <a:p>
              <a:pPr algn="l"/>
              <a:r>
                <a:rPr lang="zh-CN" sz="4800" b="1" dirty="0">
                  <a:solidFill>
                    <a:schemeClr val="accent2"/>
                  </a:solidFill>
                  <a:latin typeface="+mn-lt"/>
                  <a:ea typeface="+mn-ea"/>
                  <a:cs typeface="+mn-cs"/>
                </a:rPr>
                <a:t>1799元</a:t>
              </a:r>
              <a:r>
                <a:rPr lang="zh-CN" sz="4800" b="1" dirty="0">
                  <a:solidFill>
                    <a:schemeClr val="dk1"/>
                  </a:solidFill>
                  <a:latin typeface="+mn-lt"/>
                  <a:ea typeface="+mn-ea"/>
                  <a:cs typeface="+mn-cs"/>
                </a:rPr>
                <a:t>写对了，</a:t>
              </a:r>
            </a:p>
          </p:txBody>
        </p:sp>
        <p:sp>
          <p:nvSpPr>
            <p:cNvPr id="6" name="TextBox 6"/>
            <p:cNvSpPr txBox="1"/>
            <p:nvPr/>
          </p:nvSpPr>
          <p:spPr>
            <a:xfrm>
              <a:off x="514350" y="2682240"/>
              <a:ext cx="2622804" cy="933450"/>
            </a:xfrm>
            <a:prstGeom prst="rect">
              <a:avLst/>
            </a:prstGeom>
            <a:noFill/>
            <a:ln>
              <a:noFill/>
            </a:ln>
          </p:spPr>
          <p:txBody>
            <a:bodyPr wrap="none" lIns="0" tIns="0" rIns="0" bIns="0" anchor="t" anchorCtr="0">
              <a:spAutoFit/>
            </a:bodyPr>
            <a:lstStyle/>
            <a:p>
              <a:pPr algn="l"/>
              <a:r>
                <a:rPr lang="zh-CN" sz="4800" b="1" dirty="0">
                  <a:solidFill>
                    <a:schemeClr val="dk1"/>
                  </a:solidFill>
                  <a:latin typeface="+mn-lt"/>
                  <a:ea typeface="+mn-ea"/>
                  <a:cs typeface="+mn-cs"/>
                </a:rPr>
                <a:t>这篇文案</a:t>
              </a:r>
            </a:p>
          </p:txBody>
        </p:sp>
        <p:sp>
          <p:nvSpPr>
            <p:cNvPr id="7" name="TextBox 7"/>
            <p:cNvSpPr txBox="1"/>
            <p:nvPr/>
          </p:nvSpPr>
          <p:spPr>
            <a:xfrm>
              <a:off x="514350" y="3501390"/>
              <a:ext cx="3268980" cy="933450"/>
            </a:xfrm>
            <a:prstGeom prst="rect">
              <a:avLst/>
            </a:prstGeom>
            <a:noFill/>
            <a:ln>
              <a:noFill/>
            </a:ln>
          </p:spPr>
          <p:txBody>
            <a:bodyPr wrap="none" lIns="0" tIns="0" rIns="0" bIns="0" anchor="t" anchorCtr="0">
              <a:spAutoFit/>
            </a:bodyPr>
            <a:lstStyle/>
            <a:p>
              <a:pPr algn="l"/>
              <a:r>
                <a:rPr lang="zh-CN" sz="4800" b="1" dirty="0">
                  <a:solidFill>
                    <a:schemeClr val="dk1"/>
                  </a:solidFill>
                  <a:latin typeface="+mn-lt"/>
                  <a:ea typeface="+mn-ea"/>
                  <a:cs typeface="+mn-cs"/>
                </a:rPr>
                <a:t>就能过吗？</a:t>
              </a:r>
            </a:p>
          </p:txBody>
        </p:sp>
      </p:grpSp>
      <p:grpSp>
        <p:nvGrpSpPr>
          <p:cNvPr id="11" name="Group 11"/>
          <p:cNvGrpSpPr/>
          <p:nvPr/>
        </p:nvGrpSpPr>
        <p:grpSpPr>
          <a:xfrm>
            <a:off x="6126480" y="1676400"/>
            <a:ext cx="5532120" cy="4170045"/>
            <a:chOff x="6126480" y="1676400"/>
            <a:chExt cx="5532120" cy="4170045"/>
          </a:xfrm>
        </p:grpSpPr>
        <p:pic>
          <p:nvPicPr>
            <p:cNvPr id="9" name="Image 9"/>
            <p:cNvPicPr>
              <a:picLocks noChangeAspect="1"/>
            </p:cNvPicPr>
            <p:nvPr/>
          </p:nvPicPr>
          <p:blipFill>
            <a:blip r:embed="rId2"/>
            <a:stretch>
              <a:fillRect/>
            </a:stretch>
          </p:blipFill>
          <p:spPr>
            <a:xfrm>
              <a:off x="6134100" y="1676400"/>
              <a:ext cx="5524500" cy="3683032"/>
            </a:xfrm>
            <a:prstGeom prst="rect">
              <a:avLst/>
            </a:prstGeom>
          </p:spPr>
        </p:pic>
        <p:sp>
          <p:nvSpPr>
            <p:cNvPr id="10" name="TextBox 10"/>
            <p:cNvSpPr txBox="1"/>
            <p:nvPr/>
          </p:nvSpPr>
          <p:spPr>
            <a:xfrm>
              <a:off x="6126480" y="5553075"/>
              <a:ext cx="3332988"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净小伴 P1 · 养宠家庭日常营销文案</a:t>
              </a:r>
            </a:p>
          </p:txBody>
        </p:sp>
      </p:grpSp>
      <p:grpSp>
        <p:nvGrpSpPr>
          <p:cNvPr id="14" name="Group 14"/>
          <p:cNvGrpSpPr/>
          <p:nvPr/>
        </p:nvGrpSpPr>
        <p:grpSpPr>
          <a:xfrm>
            <a:off x="522732" y="5219700"/>
            <a:ext cx="4906518" cy="603123"/>
            <a:chOff x="522732" y="5219700"/>
            <a:chExt cx="4906518" cy="603123"/>
          </a:xfrm>
        </p:grpSpPr>
        <p:sp>
          <p:nvSpPr>
            <p:cNvPr id="12" name="Line 12"/>
            <p:cNvSpPr/>
            <p:nvPr/>
          </p:nvSpPr>
          <p:spPr>
            <a:xfrm>
              <a:off x="533400" y="5219700"/>
              <a:ext cx="4895850" cy="9525"/>
            </a:xfrm>
            <a:custGeom>
              <a:avLst/>
              <a:gdLst/>
              <a:ahLst/>
              <a:cxnLst/>
              <a:rect l="l" t="t" r="r" b="b"/>
              <a:pathLst>
                <a:path w="4895850" h="9525">
                  <a:moveTo>
                    <a:pt x="0" y="0"/>
                  </a:moveTo>
                  <a:lnTo>
                    <a:pt x="4895850" y="0"/>
                  </a:lnTo>
                </a:path>
              </a:pathLst>
            </a:custGeom>
            <a:noFill/>
            <a:ln w="38100">
              <a:solidFill>
                <a:schemeClr val="accent1"/>
              </a:solidFill>
            </a:ln>
          </p:spPr>
        </p:sp>
        <p:sp>
          <p:nvSpPr>
            <p:cNvPr id="13" name="TextBox 13"/>
            <p:cNvSpPr txBox="1"/>
            <p:nvPr/>
          </p:nvSpPr>
          <p:spPr>
            <a:xfrm>
              <a:off x="522732" y="5412105"/>
              <a:ext cx="454456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从业务问题，走到可验证的落地方案</a:t>
              </a:r>
            </a:p>
          </p:txBody>
        </p:sp>
      </p:grpSp>
      <p:grpSp>
        <p:nvGrpSpPr>
          <p:cNvPr id="17" name="Group 17"/>
          <p:cNvGrpSpPr/>
          <p:nvPr/>
        </p:nvGrpSpPr>
        <p:grpSpPr>
          <a:xfrm>
            <a:off x="528066" y="6420802"/>
            <a:ext cx="11135868" cy="205359"/>
            <a:chOff x="528066" y="6420802"/>
            <a:chExt cx="11135868" cy="205359"/>
          </a:xfrm>
        </p:grpSpPr>
        <p:sp>
          <p:nvSpPr>
            <p:cNvPr id="15" name="TextBox 15"/>
            <p:cNvSpPr txBox="1"/>
            <p:nvPr/>
          </p:nvSpPr>
          <p:spPr>
            <a:xfrm>
              <a:off x="528066" y="6420802"/>
              <a:ext cx="340309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教学模拟：品牌、资料、人物及生成图片均为虚构情境</a:t>
              </a:r>
            </a:p>
          </p:txBody>
        </p:sp>
        <p:sp>
          <p:nvSpPr>
            <p:cNvPr id="16" name="TextBox 16"/>
            <p:cNvSpPr txBox="1"/>
            <p:nvPr/>
          </p:nvSpPr>
          <p:spPr>
            <a:xfrm>
              <a:off x="11179740" y="6420802"/>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01 / 70</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816852" cy="1038035"/>
            <a:chOff x="441198" y="428625"/>
            <a:chExt cx="6816852" cy="1038035"/>
          </a:xfrm>
        </p:grpSpPr>
        <p:sp>
          <p:nvSpPr>
            <p:cNvPr id="2" name="TextBox 2"/>
            <p:cNvSpPr txBox="1"/>
            <p:nvPr/>
          </p:nvSpPr>
          <p:spPr>
            <a:xfrm>
              <a:off x="449580" y="428625"/>
              <a:ext cx="3831717"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课程地图 / 180分钟，含两次各10分钟休息</a:t>
              </a:r>
            </a:p>
          </p:txBody>
        </p:sp>
        <p:sp>
          <p:nvSpPr>
            <p:cNvPr id="3" name="TextBox 3"/>
            <p:cNvSpPr txBox="1"/>
            <p:nvPr/>
          </p:nvSpPr>
          <p:spPr>
            <a:xfrm>
              <a:off x="441198" y="850583"/>
              <a:ext cx="681685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三篇七章，把业务问题推到落地验证</a:t>
              </a:r>
            </a:p>
          </p:txBody>
        </p:sp>
      </p:grpSp>
      <p:grpSp>
        <p:nvGrpSpPr>
          <p:cNvPr id="12" name="Group 12"/>
          <p:cNvGrpSpPr/>
          <p:nvPr/>
        </p:nvGrpSpPr>
        <p:grpSpPr>
          <a:xfrm>
            <a:off x="457200" y="1828800"/>
            <a:ext cx="2667000" cy="3143250"/>
            <a:chOff x="457200" y="1828800"/>
            <a:chExt cx="2667000" cy="3143250"/>
          </a:xfrm>
        </p:grpSpPr>
        <p:sp>
          <p:nvSpPr>
            <p:cNvPr id="5" name="Rectangle 5"/>
            <p:cNvSpPr/>
            <p:nvPr/>
          </p:nvSpPr>
          <p:spPr>
            <a:xfrm>
              <a:off x="457200" y="1828800"/>
              <a:ext cx="2667000" cy="3143250"/>
            </a:xfrm>
            <a:prstGeom prst="roundRect">
              <a:avLst>
                <a:gd name="adj" fmla="val 4286"/>
              </a:avLst>
            </a:prstGeom>
            <a:solidFill>
              <a:schemeClr val="lt2"/>
            </a:solidFill>
            <a:ln>
              <a:noFill/>
            </a:ln>
          </p:spPr>
        </p:sp>
        <p:sp>
          <p:nvSpPr>
            <p:cNvPr id="6" name="TextBox 6"/>
            <p:cNvSpPr txBox="1"/>
            <p:nvPr/>
          </p:nvSpPr>
          <p:spPr>
            <a:xfrm>
              <a:off x="678180" y="2114550"/>
              <a:ext cx="166097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第一篇 / 为什么做</a:t>
              </a:r>
            </a:p>
          </p:txBody>
        </p:sp>
        <p:sp>
          <p:nvSpPr>
            <p:cNvPr id="7" name="TextBox 7"/>
            <p:cNvSpPr txBox="1"/>
            <p:nvPr/>
          </p:nvSpPr>
          <p:spPr>
            <a:xfrm>
              <a:off x="669798" y="2469832"/>
              <a:ext cx="130416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定问题</a:t>
              </a:r>
            </a:p>
          </p:txBody>
        </p:sp>
        <p:sp>
          <p:nvSpPr>
            <p:cNvPr id="8" name="Line 8"/>
            <p:cNvSpPr/>
            <p:nvPr/>
          </p:nvSpPr>
          <p:spPr>
            <a:xfrm>
              <a:off x="685800" y="3067050"/>
              <a:ext cx="2209800" cy="9525"/>
            </a:xfrm>
            <a:custGeom>
              <a:avLst/>
              <a:gdLst/>
              <a:ahLst/>
              <a:cxnLst/>
              <a:rect l="l" t="t" r="r" b="b"/>
              <a:pathLst>
                <a:path w="2209800" h="9525">
                  <a:moveTo>
                    <a:pt x="0" y="0"/>
                  </a:moveTo>
                  <a:lnTo>
                    <a:pt x="2209800" y="0"/>
                  </a:lnTo>
                </a:path>
              </a:pathLst>
            </a:custGeom>
            <a:noFill/>
            <a:ln w="9525">
              <a:solidFill>
                <a:schemeClr val="accent1"/>
              </a:solidFill>
            </a:ln>
          </p:spPr>
        </p:sp>
        <p:sp>
          <p:nvSpPr>
            <p:cNvPr id="9" name="TextBox 9"/>
            <p:cNvSpPr txBox="1"/>
            <p:nvPr/>
          </p:nvSpPr>
          <p:spPr>
            <a:xfrm>
              <a:off x="675132" y="3268980"/>
              <a:ext cx="139244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1 业务背景</a:t>
              </a:r>
            </a:p>
          </p:txBody>
        </p:sp>
        <p:sp>
          <p:nvSpPr>
            <p:cNvPr id="10" name="TextBox 10"/>
            <p:cNvSpPr txBox="1"/>
            <p:nvPr/>
          </p:nvSpPr>
          <p:spPr>
            <a:xfrm>
              <a:off x="675132" y="3726180"/>
              <a:ext cx="1675143"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2 目标与范围</a:t>
              </a:r>
            </a:p>
          </p:txBody>
        </p:sp>
        <p:sp>
          <p:nvSpPr>
            <p:cNvPr id="11" name="TextBox 11"/>
            <p:cNvSpPr txBox="1"/>
            <p:nvPr/>
          </p:nvSpPr>
          <p:spPr>
            <a:xfrm>
              <a:off x="678180" y="4486275"/>
              <a:ext cx="206483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产物：痛点 + 首版边界</a:t>
              </a:r>
            </a:p>
          </p:txBody>
        </p:sp>
      </p:grpSp>
      <p:grpSp>
        <p:nvGrpSpPr>
          <p:cNvPr id="23" name="Group 23"/>
          <p:cNvGrpSpPr/>
          <p:nvPr/>
        </p:nvGrpSpPr>
        <p:grpSpPr>
          <a:xfrm>
            <a:off x="3352800" y="1828800"/>
            <a:ext cx="5486400" cy="3143250"/>
            <a:chOff x="3352800" y="1828800"/>
            <a:chExt cx="5486400" cy="3143250"/>
          </a:xfrm>
        </p:grpSpPr>
        <p:sp>
          <p:nvSpPr>
            <p:cNvPr id="13" name="Rectangle 13"/>
            <p:cNvSpPr/>
            <p:nvPr/>
          </p:nvSpPr>
          <p:spPr>
            <a:xfrm>
              <a:off x="3352800" y="1828800"/>
              <a:ext cx="5486400" cy="3143250"/>
            </a:xfrm>
            <a:prstGeom prst="roundRect">
              <a:avLst>
                <a:gd name="adj" fmla="val 3636"/>
              </a:avLst>
            </a:prstGeom>
            <a:solidFill>
              <a:schemeClr val="accent1"/>
            </a:solidFill>
            <a:ln>
              <a:noFill/>
            </a:ln>
          </p:spPr>
        </p:sp>
        <p:sp>
          <p:nvSpPr>
            <p:cNvPr id="14" name="TextBox 14"/>
            <p:cNvSpPr txBox="1"/>
            <p:nvPr/>
          </p:nvSpPr>
          <p:spPr>
            <a:xfrm>
              <a:off x="3573780" y="2114550"/>
              <a:ext cx="1862900" cy="293370"/>
            </a:xfrm>
            <a:prstGeom prst="rect">
              <a:avLst/>
            </a:prstGeom>
            <a:noFill/>
            <a:ln>
              <a:noFill/>
            </a:ln>
          </p:spPr>
          <p:txBody>
            <a:bodyPr wrap="none" lIns="0" tIns="0" rIns="0" bIns="0" anchor="t" anchorCtr="0">
              <a:spAutoFit/>
            </a:bodyPr>
            <a:lstStyle/>
            <a:p>
              <a:pPr algn="l"/>
              <a:r>
                <a:rPr lang="zh-CN" sz="1500" dirty="0">
                  <a:solidFill>
                    <a:srgbClr val="E8F2EF"/>
                  </a:solidFill>
                  <a:latin typeface="+mn-lt"/>
                  <a:ea typeface="+mn-ea"/>
                  <a:cs typeface="+mn-cs"/>
                </a:rPr>
                <a:t>第二篇 / 具体怎样做</a:t>
              </a:r>
            </a:p>
          </p:txBody>
        </p:sp>
        <p:sp>
          <p:nvSpPr>
            <p:cNvPr id="15" name="TextBox 15"/>
            <p:cNvSpPr txBox="1"/>
            <p:nvPr/>
          </p:nvSpPr>
          <p:spPr>
            <a:xfrm>
              <a:off x="3565398" y="2469832"/>
              <a:ext cx="1304163"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做方案</a:t>
              </a:r>
            </a:p>
          </p:txBody>
        </p:sp>
        <p:sp>
          <p:nvSpPr>
            <p:cNvPr id="16" name="Line 16"/>
            <p:cNvSpPr/>
            <p:nvPr/>
          </p:nvSpPr>
          <p:spPr>
            <a:xfrm>
              <a:off x="3581400" y="3067050"/>
              <a:ext cx="5029200" cy="9525"/>
            </a:xfrm>
            <a:custGeom>
              <a:avLst/>
              <a:gdLst/>
              <a:ahLst/>
              <a:cxnLst/>
              <a:rect l="l" t="t" r="r" b="b"/>
              <a:pathLst>
                <a:path w="5029200" h="9525">
                  <a:moveTo>
                    <a:pt x="0" y="0"/>
                  </a:moveTo>
                  <a:lnTo>
                    <a:pt x="5029200" y="0"/>
                  </a:lnTo>
                </a:path>
              </a:pathLst>
            </a:custGeom>
            <a:noFill/>
            <a:ln w="9525">
              <a:solidFill>
                <a:srgbClr val="E8F2EF"/>
              </a:solidFill>
            </a:ln>
          </p:spPr>
        </p:sp>
        <p:grpSp>
          <p:nvGrpSpPr>
            <p:cNvPr id="21" name="Group 21"/>
            <p:cNvGrpSpPr/>
            <p:nvPr/>
          </p:nvGrpSpPr>
          <p:grpSpPr>
            <a:xfrm>
              <a:off x="3570732" y="3268980"/>
              <a:ext cx="4078491" cy="867918"/>
              <a:chOff x="3570732" y="3268980"/>
              <a:chExt cx="4078491" cy="867918"/>
            </a:xfrm>
          </p:grpSpPr>
          <p:sp>
            <p:nvSpPr>
              <p:cNvPr id="17" name="TextBox 17"/>
              <p:cNvSpPr txBox="1"/>
              <p:nvPr/>
            </p:nvSpPr>
            <p:spPr>
              <a:xfrm>
                <a:off x="3570732" y="3268980"/>
                <a:ext cx="1392441"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3 三段流程</a:t>
                </a:r>
              </a:p>
            </p:txBody>
          </p:sp>
          <p:sp>
            <p:nvSpPr>
              <p:cNvPr id="18" name="TextBox 18"/>
              <p:cNvSpPr txBox="1"/>
              <p:nvPr/>
            </p:nvSpPr>
            <p:spPr>
              <a:xfrm>
                <a:off x="6256782" y="3268980"/>
                <a:ext cx="1109739"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4 审核点</a:t>
                </a:r>
              </a:p>
            </p:txBody>
          </p:sp>
          <p:sp>
            <p:nvSpPr>
              <p:cNvPr id="19" name="TextBox 19"/>
              <p:cNvSpPr txBox="1"/>
              <p:nvPr/>
            </p:nvSpPr>
            <p:spPr>
              <a:xfrm>
                <a:off x="3570732" y="3726180"/>
                <a:ext cx="1392441"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5 能力分工</a:t>
                </a:r>
              </a:p>
            </p:txBody>
          </p:sp>
          <p:sp>
            <p:nvSpPr>
              <p:cNvPr id="20" name="TextBox 20"/>
              <p:cNvSpPr txBox="1"/>
              <p:nvPr/>
            </p:nvSpPr>
            <p:spPr>
              <a:xfrm>
                <a:off x="6256782" y="3726180"/>
                <a:ext cx="1392441"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6 产品方案</a:t>
                </a:r>
              </a:p>
            </p:txBody>
          </p:sp>
        </p:grpSp>
        <p:sp>
          <p:nvSpPr>
            <p:cNvPr id="22" name="TextBox 22"/>
            <p:cNvSpPr txBox="1"/>
            <p:nvPr/>
          </p:nvSpPr>
          <p:spPr>
            <a:xfrm>
              <a:off x="3573780" y="4486275"/>
              <a:ext cx="3942779" cy="293370"/>
            </a:xfrm>
            <a:prstGeom prst="rect">
              <a:avLst/>
            </a:prstGeom>
            <a:noFill/>
            <a:ln>
              <a:noFill/>
            </a:ln>
          </p:spPr>
          <p:txBody>
            <a:bodyPr wrap="none" lIns="0" tIns="0" rIns="0" bIns="0" anchor="t" anchorCtr="0">
              <a:spAutoFit/>
            </a:bodyPr>
            <a:lstStyle/>
            <a:p>
              <a:pPr algn="l"/>
              <a:r>
                <a:rPr lang="zh-CN" sz="1500" dirty="0">
                  <a:solidFill>
                    <a:srgbClr val="E8F2EF"/>
                  </a:solidFill>
                  <a:latin typeface="+mn-lt"/>
                  <a:ea typeface="+mn-ea"/>
                  <a:cs typeface="+mn-cs"/>
                </a:rPr>
                <a:t>产物：流程 → 检查卡 → 执行链 → 页面与状态</a:t>
              </a:r>
            </a:p>
          </p:txBody>
        </p:sp>
      </p:grpSp>
      <p:grpSp>
        <p:nvGrpSpPr>
          <p:cNvPr id="30" name="Group 30"/>
          <p:cNvGrpSpPr/>
          <p:nvPr/>
        </p:nvGrpSpPr>
        <p:grpSpPr>
          <a:xfrm>
            <a:off x="9067800" y="1828800"/>
            <a:ext cx="2667000" cy="3143250"/>
            <a:chOff x="9067800" y="1828800"/>
            <a:chExt cx="2667000" cy="3143250"/>
          </a:xfrm>
        </p:grpSpPr>
        <p:sp>
          <p:nvSpPr>
            <p:cNvPr id="24" name="Rectangle 24"/>
            <p:cNvSpPr/>
            <p:nvPr/>
          </p:nvSpPr>
          <p:spPr>
            <a:xfrm>
              <a:off x="9067800" y="1828800"/>
              <a:ext cx="2667000" cy="3143250"/>
            </a:xfrm>
            <a:prstGeom prst="roundRect">
              <a:avLst>
                <a:gd name="adj" fmla="val 4286"/>
              </a:avLst>
            </a:prstGeom>
            <a:solidFill>
              <a:srgbClr val="102F30"/>
            </a:solidFill>
            <a:ln>
              <a:noFill/>
            </a:ln>
          </p:spPr>
        </p:sp>
        <p:sp>
          <p:nvSpPr>
            <p:cNvPr id="25" name="TextBox 25"/>
            <p:cNvSpPr txBox="1"/>
            <p:nvPr/>
          </p:nvSpPr>
          <p:spPr>
            <a:xfrm>
              <a:off x="9288780" y="2114550"/>
              <a:ext cx="1660970"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第三篇 / 怎么证明</a:t>
              </a:r>
            </a:p>
          </p:txBody>
        </p:sp>
        <p:sp>
          <p:nvSpPr>
            <p:cNvPr id="26" name="TextBox 26"/>
            <p:cNvSpPr txBox="1"/>
            <p:nvPr/>
          </p:nvSpPr>
          <p:spPr>
            <a:xfrm>
              <a:off x="9280398" y="2469832"/>
              <a:ext cx="1304163"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验落地</a:t>
              </a:r>
            </a:p>
          </p:txBody>
        </p:sp>
        <p:sp>
          <p:nvSpPr>
            <p:cNvPr id="27" name="Line 27"/>
            <p:cNvSpPr/>
            <p:nvPr/>
          </p:nvSpPr>
          <p:spPr>
            <a:xfrm>
              <a:off x="9296400" y="3067050"/>
              <a:ext cx="2209800" cy="9525"/>
            </a:xfrm>
            <a:custGeom>
              <a:avLst/>
              <a:gdLst/>
              <a:ahLst/>
              <a:cxnLst/>
              <a:rect l="l" t="t" r="r" b="b"/>
              <a:pathLst>
                <a:path w="2209800" h="9525">
                  <a:moveTo>
                    <a:pt x="0" y="0"/>
                  </a:moveTo>
                  <a:lnTo>
                    <a:pt x="2209800" y="0"/>
                  </a:lnTo>
                </a:path>
              </a:pathLst>
            </a:custGeom>
            <a:noFill/>
            <a:ln w="9525">
              <a:solidFill>
                <a:schemeClr val="accent3"/>
              </a:solidFill>
            </a:ln>
          </p:spPr>
        </p:sp>
        <p:sp>
          <p:nvSpPr>
            <p:cNvPr id="28" name="TextBox 28"/>
            <p:cNvSpPr txBox="1"/>
            <p:nvPr/>
          </p:nvSpPr>
          <p:spPr>
            <a:xfrm>
              <a:off x="9285732" y="3268980"/>
              <a:ext cx="1675143"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7 实施与验证</a:t>
              </a:r>
            </a:p>
          </p:txBody>
        </p:sp>
        <p:sp>
          <p:nvSpPr>
            <p:cNvPr id="29" name="TextBox 29"/>
            <p:cNvSpPr txBox="1"/>
            <p:nvPr/>
          </p:nvSpPr>
          <p:spPr>
            <a:xfrm>
              <a:off x="9288780" y="4486275"/>
              <a:ext cx="2034540" cy="293370"/>
            </a:xfrm>
            <a:prstGeom prst="rect">
              <a:avLst/>
            </a:prstGeom>
            <a:noFill/>
            <a:ln>
              <a:noFill/>
            </a:ln>
          </p:spPr>
          <p:txBody>
            <a:bodyPr wrap="none" lIns="0" tIns="0" rIns="0" bIns="0" anchor="t" anchorCtr="0">
              <a:spAutoFit/>
            </a:bodyPr>
            <a:lstStyle/>
            <a:p>
              <a:pPr algn="l"/>
              <a:r>
                <a:rPr lang="zh-CN" sz="1500" dirty="0">
                  <a:solidFill>
                    <a:srgbClr val="E8F2EF"/>
                  </a:solidFill>
                  <a:latin typeface="+mn-lt"/>
                  <a:ea typeface="+mn-ea"/>
                  <a:cs typeface="+mn-cs"/>
                </a:rPr>
                <a:t>产物：实施与验证安排</a:t>
              </a:r>
            </a:p>
          </p:txBody>
        </p:sp>
      </p:grpSp>
      <p:grpSp>
        <p:nvGrpSpPr>
          <p:cNvPr id="33" name="Group 33"/>
          <p:cNvGrpSpPr/>
          <p:nvPr/>
        </p:nvGrpSpPr>
        <p:grpSpPr>
          <a:xfrm>
            <a:off x="446532" y="5469255"/>
            <a:ext cx="7720584" cy="681990"/>
            <a:chOff x="446532" y="5469255"/>
            <a:chExt cx="7720584" cy="681990"/>
          </a:xfrm>
        </p:grpSpPr>
        <p:sp>
          <p:nvSpPr>
            <p:cNvPr id="31" name="TextBox 31"/>
            <p:cNvSpPr txBox="1"/>
            <p:nvPr/>
          </p:nvSpPr>
          <p:spPr>
            <a:xfrm>
              <a:off x="446532" y="5469255"/>
              <a:ext cx="665069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每章：一个问题 → 分步推导 → 一份产物 → 进入下一步</a:t>
              </a:r>
            </a:p>
          </p:txBody>
        </p:sp>
        <p:sp>
          <p:nvSpPr>
            <p:cNvPr id="32" name="TextBox 32"/>
            <p:cNvSpPr txBox="1"/>
            <p:nvPr/>
          </p:nvSpPr>
          <p:spPr>
            <a:xfrm>
              <a:off x="449580" y="5857875"/>
              <a:ext cx="7717536"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用同一篇净小伴P1营销文案贯穿；案例、流程图、练习与原型都服务于项目推进。</a:t>
              </a:r>
            </a:p>
          </p:txBody>
        </p:sp>
      </p:grpSp>
      <p:sp>
        <p:nvSpPr>
          <p:cNvPr id="34" name="TextBox 34"/>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02 / 70</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438150" y="523875"/>
            <a:ext cx="2622804" cy="1443990"/>
            <a:chOff x="438150" y="523875"/>
            <a:chExt cx="2622804" cy="1443990"/>
          </a:xfrm>
        </p:grpSpPr>
        <p:sp>
          <p:nvSpPr>
            <p:cNvPr id="2" name="TextBox 2"/>
            <p:cNvSpPr txBox="1"/>
            <p:nvPr/>
          </p:nvSpPr>
          <p:spPr>
            <a:xfrm>
              <a:off x="449580" y="523875"/>
              <a:ext cx="2085022"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第一篇·定问题 / 第1章</a:t>
              </a:r>
            </a:p>
          </p:txBody>
        </p:sp>
        <p:sp>
          <p:nvSpPr>
            <p:cNvPr id="3" name="TextBox 3"/>
            <p:cNvSpPr txBox="1"/>
            <p:nvPr/>
          </p:nvSpPr>
          <p:spPr>
            <a:xfrm>
              <a:off x="438150" y="1034415"/>
              <a:ext cx="2622804" cy="933450"/>
            </a:xfrm>
            <a:prstGeom prst="rect">
              <a:avLst/>
            </a:prstGeom>
            <a:noFill/>
            <a:ln>
              <a:noFill/>
            </a:ln>
          </p:spPr>
          <p:txBody>
            <a:bodyPr wrap="none" lIns="0" tIns="0" rIns="0" bIns="0" anchor="t" anchorCtr="0">
              <a:spAutoFit/>
            </a:bodyPr>
            <a:lstStyle/>
            <a:p>
              <a:pPr algn="l"/>
              <a:r>
                <a:rPr lang="zh-CN" sz="4800" b="1" dirty="0">
                  <a:solidFill>
                    <a:srgbClr val="FFFFFF"/>
                  </a:solidFill>
                  <a:latin typeface="+mn-lt"/>
                  <a:ea typeface="+mn-ea"/>
                  <a:cs typeface="+mn-cs"/>
                </a:rPr>
                <a:t>业务背景</a:t>
              </a:r>
            </a:p>
          </p:txBody>
        </p:sp>
      </p:grpSp>
      <p:grpSp>
        <p:nvGrpSpPr>
          <p:cNvPr id="7" name="Group 7"/>
          <p:cNvGrpSpPr/>
          <p:nvPr/>
        </p:nvGrpSpPr>
        <p:grpSpPr>
          <a:xfrm>
            <a:off x="441198" y="2231708"/>
            <a:ext cx="2932938" cy="1993201"/>
            <a:chOff x="441198" y="2231708"/>
            <a:chExt cx="2932938" cy="1993201"/>
          </a:xfrm>
        </p:grpSpPr>
        <p:sp>
          <p:nvSpPr>
            <p:cNvPr id="5" name="TextBox 5"/>
            <p:cNvSpPr txBox="1"/>
            <p:nvPr/>
          </p:nvSpPr>
          <p:spPr>
            <a:xfrm>
              <a:off x="441198" y="2231708"/>
              <a:ext cx="2832354" cy="1225677"/>
            </a:xfrm>
            <a:prstGeom prst="rect">
              <a:avLst/>
            </a:prstGeom>
            <a:noFill/>
            <a:ln>
              <a:noFill/>
            </a:ln>
          </p:spPr>
          <p:txBody>
            <a:bodyPr wrap="none" lIns="0" tIns="0" rIns="0" bIns="0" anchor="t" anchorCtr="0">
              <a:spAutoFit/>
            </a:bodyPr>
            <a:lstStyle/>
            <a:p>
              <a:pPr algn="l">
                <a:lnSpc>
                  <a:spcPts val="4800"/>
                </a:lnSpc>
              </a:pPr>
              <a:r>
                <a:rPr lang="zh-CN" sz="3150" b="1" dirty="0">
                  <a:solidFill>
                    <a:srgbClr val="FFFFFF"/>
                  </a:solidFill>
                  <a:latin typeface="+mn-lt"/>
                  <a:ea typeface="+mn-ea"/>
                  <a:cs typeface="+mn-cs"/>
                </a:rPr>
                <a:t>审核慢，</a:t>
              </a:r>
              <a:br/>
              <a:r>
                <a:rPr lang="zh-CN" sz="3150" b="1" dirty="0">
                  <a:solidFill>
                    <a:srgbClr val="FFFFFF"/>
                  </a:solidFill>
                  <a:latin typeface="+mn-lt"/>
                  <a:ea typeface="+mn-ea"/>
                  <a:cs typeface="+mn-cs"/>
                </a:rPr>
                <a:t>具体慢在哪里？</a:t>
              </a:r>
            </a:p>
          </p:txBody>
        </p:sp>
        <p:sp>
          <p:nvSpPr>
            <p:cNvPr id="6" name="TextBox 6"/>
            <p:cNvSpPr txBox="1"/>
            <p:nvPr/>
          </p:nvSpPr>
          <p:spPr>
            <a:xfrm>
              <a:off x="448056" y="3872865"/>
              <a:ext cx="2926080"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从一次普通文案提交开始。</a:t>
              </a:r>
            </a:p>
          </p:txBody>
        </p:sp>
      </p:grpSp>
      <p:grpSp>
        <p:nvGrpSpPr>
          <p:cNvPr id="12" name="Group 12"/>
          <p:cNvGrpSpPr/>
          <p:nvPr/>
        </p:nvGrpSpPr>
        <p:grpSpPr>
          <a:xfrm>
            <a:off x="5295900" y="2095500"/>
            <a:ext cx="3693757" cy="2381250"/>
            <a:chOff x="5295900" y="2095500"/>
            <a:chExt cx="3693757" cy="2381250"/>
          </a:xfrm>
        </p:grpSpPr>
        <p:sp>
          <p:nvSpPr>
            <p:cNvPr id="8" name="Line 8"/>
            <p:cNvSpPr/>
            <p:nvPr/>
          </p:nvSpPr>
          <p:spPr>
            <a:xfrm>
              <a:off x="5295900" y="2095500"/>
              <a:ext cx="9525" cy="2381250"/>
            </a:xfrm>
            <a:custGeom>
              <a:avLst/>
              <a:gdLst/>
              <a:ahLst/>
              <a:cxnLst/>
              <a:rect l="l" t="t" r="r" b="b"/>
              <a:pathLst>
                <a:path w="9525" h="2381250">
                  <a:moveTo>
                    <a:pt x="0" y="0"/>
                  </a:moveTo>
                  <a:lnTo>
                    <a:pt x="0" y="2381250"/>
                  </a:lnTo>
                </a:path>
              </a:pathLst>
            </a:custGeom>
            <a:noFill/>
            <a:ln w="9525">
              <a:solidFill>
                <a:srgbClr val="617673"/>
              </a:solidFill>
            </a:ln>
          </p:spPr>
        </p:sp>
        <p:sp>
          <p:nvSpPr>
            <p:cNvPr id="9" name="TextBox 9"/>
            <p:cNvSpPr txBox="1"/>
            <p:nvPr/>
          </p:nvSpPr>
          <p:spPr>
            <a:xfrm>
              <a:off x="5590032" y="2240280"/>
              <a:ext cx="2551519"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1.1 看日常审核流程</a:t>
              </a:r>
            </a:p>
          </p:txBody>
        </p:sp>
        <p:sp>
          <p:nvSpPr>
            <p:cNvPr id="10" name="TextBox 10"/>
            <p:cNvSpPr txBox="1"/>
            <p:nvPr/>
          </p:nvSpPr>
          <p:spPr>
            <a:xfrm>
              <a:off x="5590032" y="3097530"/>
              <a:ext cx="3399625"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1.2 核实文案中的业务承诺</a:t>
              </a:r>
            </a:p>
          </p:txBody>
        </p:sp>
        <p:sp>
          <p:nvSpPr>
            <p:cNvPr id="11" name="TextBox 11"/>
            <p:cNvSpPr txBox="1"/>
            <p:nvPr/>
          </p:nvSpPr>
          <p:spPr>
            <a:xfrm>
              <a:off x="5590032" y="3954780"/>
              <a:ext cx="3116923"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1.3 找出重复劳动与往返</a:t>
              </a:r>
            </a:p>
          </p:txBody>
        </p:sp>
      </p:grpSp>
      <p:grpSp>
        <p:nvGrpSpPr>
          <p:cNvPr id="16" name="Group 16"/>
          <p:cNvGrpSpPr/>
          <p:nvPr/>
        </p:nvGrpSpPr>
        <p:grpSpPr>
          <a:xfrm>
            <a:off x="457200" y="5048250"/>
            <a:ext cx="11277600" cy="952500"/>
            <a:chOff x="457200" y="5048250"/>
            <a:chExt cx="11277600" cy="952500"/>
          </a:xfrm>
        </p:grpSpPr>
        <p:sp>
          <p:nvSpPr>
            <p:cNvPr id="13" name="Rectangle 13"/>
            <p:cNvSpPr/>
            <p:nvPr/>
          </p:nvSpPr>
          <p:spPr>
            <a:xfrm>
              <a:off x="457200" y="5048250"/>
              <a:ext cx="11277600" cy="952500"/>
            </a:xfrm>
            <a:prstGeom prst="roundRect">
              <a:avLst>
                <a:gd name="adj" fmla="val 12000"/>
              </a:avLst>
            </a:prstGeom>
            <a:solidFill>
              <a:schemeClr val="accent1"/>
            </a:solidFill>
            <a:ln>
              <a:noFill/>
            </a:ln>
          </p:spPr>
        </p:sp>
        <p:sp>
          <p:nvSpPr>
            <p:cNvPr id="14" name="TextBox 14"/>
            <p:cNvSpPr txBox="1"/>
            <p:nvPr/>
          </p:nvSpPr>
          <p:spPr>
            <a:xfrm>
              <a:off x="716280" y="5267325"/>
              <a:ext cx="1226820" cy="293370"/>
            </a:xfrm>
            <a:prstGeom prst="rect">
              <a:avLst/>
            </a:prstGeom>
            <a:noFill/>
            <a:ln>
              <a:noFill/>
            </a:ln>
          </p:spPr>
          <p:txBody>
            <a:bodyPr wrap="none" lIns="0" tIns="0" rIns="0" bIns="0" anchor="t" anchorCtr="0">
              <a:spAutoFit/>
            </a:bodyPr>
            <a:lstStyle/>
            <a:p>
              <a:pPr algn="l"/>
              <a:r>
                <a:rPr lang="zh-CN" sz="1500" dirty="0">
                  <a:solidFill>
                    <a:srgbClr val="E8F2EF"/>
                  </a:solidFill>
                  <a:latin typeface="+mn-lt"/>
                  <a:ea typeface="+mn-ea"/>
                  <a:cs typeface="+mn-cs"/>
                </a:rPr>
                <a:t>本章完成标志</a:t>
              </a:r>
            </a:p>
          </p:txBody>
        </p:sp>
        <p:sp>
          <p:nvSpPr>
            <p:cNvPr id="15" name="TextBox 15"/>
            <p:cNvSpPr txBox="1"/>
            <p:nvPr/>
          </p:nvSpPr>
          <p:spPr>
            <a:xfrm>
              <a:off x="713232" y="5583555"/>
              <a:ext cx="6240780"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画出角色流程，并说清三类值得改进的重复劳动。</a:t>
              </a:r>
            </a:p>
          </p:txBody>
        </p:sp>
      </p:grpSp>
      <p:sp>
        <p:nvSpPr>
          <p:cNvPr id="17" name="TextBox 17"/>
          <p:cNvSpPr txBox="1"/>
          <p:nvPr/>
        </p:nvSpPr>
        <p:spPr>
          <a:xfrm>
            <a:off x="451866" y="6468428"/>
            <a:ext cx="1607934" cy="205359"/>
          </a:xfrm>
          <a:prstGeom prst="rect">
            <a:avLst/>
          </a:prstGeom>
          <a:noFill/>
          <a:ln>
            <a:noFill/>
          </a:ln>
        </p:spPr>
        <p:txBody>
          <a:bodyPr wrap="none" lIns="0" tIns="0" rIns="0" bIns="0" anchor="t" anchorCtr="0">
            <a:spAutoFit/>
          </a:bodyPr>
          <a:lstStyle/>
          <a:p>
            <a:pPr algn="l"/>
            <a:r>
              <a:rPr lang="zh-CN" sz="1050" dirty="0">
                <a:solidFill>
                  <a:srgbClr val="E8F2EF"/>
                </a:solidFill>
                <a:latin typeface="+mn-lt"/>
                <a:ea typeface="+mn-ea"/>
                <a:cs typeface="+mn-cs"/>
              </a:rPr>
              <a:t>定问题 → 做方案 → 验落地</a:t>
            </a:r>
          </a:p>
        </p:txBody>
      </p:sp>
      <p:sp>
        <p:nvSpPr>
          <p:cNvPr id="18" name="TextBox 18"/>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rgbClr val="E8F2EF"/>
                </a:solidFill>
                <a:latin typeface="+mn-lt"/>
                <a:ea typeface="+mn-ea"/>
                <a:cs typeface="+mn-cs"/>
              </a:rPr>
              <a:t>03 / 70</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240905" cy="1038035"/>
            <a:chOff x="441198" y="428625"/>
            <a:chExt cx="7240905" cy="1038035"/>
          </a:xfrm>
        </p:grpSpPr>
        <p:sp>
          <p:nvSpPr>
            <p:cNvPr id="2" name="TextBox 2"/>
            <p:cNvSpPr txBox="1"/>
            <p:nvPr/>
          </p:nvSpPr>
          <p:spPr>
            <a:xfrm>
              <a:off x="449580" y="428625"/>
              <a:ext cx="317544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第一篇·定问题 / 1.1 日常审核流程</a:t>
              </a:r>
            </a:p>
          </p:txBody>
        </p:sp>
        <p:sp>
          <p:nvSpPr>
            <p:cNvPr id="3" name="TextBox 3"/>
            <p:cNvSpPr txBox="1"/>
            <p:nvPr/>
          </p:nvSpPr>
          <p:spPr>
            <a:xfrm>
              <a:off x="441198" y="850583"/>
              <a:ext cx="7240905"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小周写稿，小林审核，内容按计划发布</a:t>
              </a:r>
            </a:p>
          </p:txBody>
        </p:sp>
      </p:grpSp>
      <p:grpSp>
        <p:nvGrpSpPr>
          <p:cNvPr id="23" name="Group 23"/>
          <p:cNvGrpSpPr/>
          <p:nvPr/>
        </p:nvGrpSpPr>
        <p:grpSpPr>
          <a:xfrm>
            <a:off x="457200" y="2095500"/>
            <a:ext cx="11277600" cy="2624709"/>
            <a:chOff x="457200" y="2095500"/>
            <a:chExt cx="11277600" cy="2624709"/>
          </a:xfrm>
        </p:grpSpPr>
        <p:sp>
          <p:nvSpPr>
            <p:cNvPr id="5" name="Rectangle 5"/>
            <p:cNvSpPr/>
            <p:nvPr/>
          </p:nvSpPr>
          <p:spPr>
            <a:xfrm>
              <a:off x="457200" y="2095500"/>
              <a:ext cx="2495550" cy="1123950"/>
            </a:xfrm>
            <a:prstGeom prst="roundRect">
              <a:avLst>
                <a:gd name="adj" fmla="val 10169"/>
              </a:avLst>
            </a:prstGeom>
            <a:solidFill>
              <a:schemeClr val="lt2"/>
            </a:solidFill>
            <a:ln>
              <a:noFill/>
            </a:ln>
          </p:spPr>
        </p:sp>
        <p:sp>
          <p:nvSpPr>
            <p:cNvPr id="6" name="Rectangle 6"/>
            <p:cNvSpPr/>
            <p:nvPr/>
          </p:nvSpPr>
          <p:spPr>
            <a:xfrm>
              <a:off x="3381375" y="2095500"/>
              <a:ext cx="2495550" cy="1123950"/>
            </a:xfrm>
            <a:prstGeom prst="roundRect">
              <a:avLst>
                <a:gd name="adj" fmla="val 10169"/>
              </a:avLst>
            </a:prstGeom>
            <a:solidFill>
              <a:schemeClr val="lt2"/>
            </a:solidFill>
            <a:ln>
              <a:noFill/>
            </a:ln>
          </p:spPr>
        </p:sp>
        <p:sp>
          <p:nvSpPr>
            <p:cNvPr id="7" name="Rectangle 7"/>
            <p:cNvSpPr/>
            <p:nvPr/>
          </p:nvSpPr>
          <p:spPr>
            <a:xfrm>
              <a:off x="6305550" y="2095500"/>
              <a:ext cx="2495550" cy="1123950"/>
            </a:xfrm>
            <a:prstGeom prst="roundRect">
              <a:avLst>
                <a:gd name="adj" fmla="val 10169"/>
              </a:avLst>
            </a:prstGeom>
            <a:solidFill>
              <a:schemeClr val="lt2"/>
            </a:solidFill>
            <a:ln>
              <a:noFill/>
            </a:ln>
          </p:spPr>
        </p:sp>
        <p:sp>
          <p:nvSpPr>
            <p:cNvPr id="8" name="Rectangle 8"/>
            <p:cNvSpPr/>
            <p:nvPr/>
          </p:nvSpPr>
          <p:spPr>
            <a:xfrm>
              <a:off x="9229725" y="2095500"/>
              <a:ext cx="2505075" cy="1123950"/>
            </a:xfrm>
            <a:prstGeom prst="roundRect">
              <a:avLst>
                <a:gd name="adj" fmla="val 10169"/>
              </a:avLst>
            </a:prstGeom>
            <a:solidFill>
              <a:schemeClr val="accent1"/>
            </a:solidFill>
            <a:ln>
              <a:noFill/>
            </a:ln>
          </p:spPr>
        </p:sp>
        <p:grpSp>
          <p:nvGrpSpPr>
            <p:cNvPr id="15" name="Group 15"/>
            <p:cNvGrpSpPr/>
            <p:nvPr/>
          </p:nvGrpSpPr>
          <p:grpSpPr>
            <a:xfrm>
              <a:off x="656082" y="2316480"/>
              <a:ext cx="8049006" cy="803529"/>
              <a:chOff x="656082" y="2316480"/>
              <a:chExt cx="8049006" cy="803529"/>
            </a:xfrm>
          </p:grpSpPr>
          <p:sp>
            <p:nvSpPr>
              <p:cNvPr id="9" name="TextBox 9"/>
              <p:cNvSpPr txBox="1"/>
              <p:nvPr/>
            </p:nvSpPr>
            <p:spPr>
              <a:xfrm>
                <a:off x="656082" y="2316480"/>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小周：撰写与自查</a:t>
                </a:r>
              </a:p>
            </p:txBody>
          </p:sp>
          <p:sp>
            <p:nvSpPr>
              <p:cNvPr id="10" name="TextBox 10"/>
              <p:cNvSpPr txBox="1"/>
              <p:nvPr/>
            </p:nvSpPr>
            <p:spPr>
              <a:xfrm>
                <a:off x="657606" y="2767965"/>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提交正文＋业务资料</a:t>
                </a:r>
              </a:p>
            </p:txBody>
          </p:sp>
          <p:sp>
            <p:nvSpPr>
              <p:cNvPr id="11" name="TextBox 11"/>
              <p:cNvSpPr txBox="1"/>
              <p:nvPr/>
            </p:nvSpPr>
            <p:spPr>
              <a:xfrm>
                <a:off x="3580257" y="2316480"/>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小林：核对与反馈</a:t>
                </a:r>
              </a:p>
            </p:txBody>
          </p:sp>
          <p:sp>
            <p:nvSpPr>
              <p:cNvPr id="12" name="TextBox 12"/>
              <p:cNvSpPr txBox="1"/>
              <p:nvPr/>
            </p:nvSpPr>
            <p:spPr>
              <a:xfrm>
                <a:off x="3581781" y="2767965"/>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疑义找负责人确认</a:t>
                </a:r>
              </a:p>
            </p:txBody>
          </p:sp>
          <p:sp>
            <p:nvSpPr>
              <p:cNvPr id="13" name="TextBox 13"/>
              <p:cNvSpPr txBox="1"/>
              <p:nvPr/>
            </p:nvSpPr>
            <p:spPr>
              <a:xfrm>
                <a:off x="6504432" y="2316480"/>
                <a:ext cx="200025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小周：修改新稿</a:t>
                </a:r>
              </a:p>
            </p:txBody>
          </p:sp>
          <p:sp>
            <p:nvSpPr>
              <p:cNvPr id="14" name="TextBox 14"/>
              <p:cNvSpPr txBox="1"/>
              <p:nvPr/>
            </p:nvSpPr>
            <p:spPr>
              <a:xfrm>
                <a:off x="6505956" y="2767965"/>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小林复核、正式决定</a:t>
                </a:r>
              </a:p>
            </p:txBody>
          </p:sp>
        </p:grpSp>
        <p:sp>
          <p:nvSpPr>
            <p:cNvPr id="16" name="TextBox 16"/>
            <p:cNvSpPr txBox="1"/>
            <p:nvPr/>
          </p:nvSpPr>
          <p:spPr>
            <a:xfrm>
              <a:off x="9428607" y="231648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定稿入库</a:t>
              </a:r>
            </a:p>
          </p:txBody>
        </p:sp>
        <p:sp>
          <p:nvSpPr>
            <p:cNvPr id="17" name="TextBox 17"/>
            <p:cNvSpPr txBox="1"/>
            <p:nvPr/>
          </p:nvSpPr>
          <p:spPr>
            <a:xfrm>
              <a:off x="9430131" y="2767965"/>
              <a:ext cx="171450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按内容计划发布</a:t>
              </a:r>
            </a:p>
          </p:txBody>
        </p:sp>
        <p:sp>
          <p:nvSpPr>
            <p:cNvPr id="18" name="Line 18"/>
            <p:cNvSpPr/>
            <p:nvPr/>
          </p:nvSpPr>
          <p:spPr>
            <a:xfrm>
              <a:off x="2971800" y="2657475"/>
              <a:ext cx="361950" cy="1"/>
            </a:xfrm>
            <a:prstGeom prst="line">
              <a:avLst/>
            </a:prstGeom>
            <a:noFill/>
            <a:ln w="28575">
              <a:solidFill>
                <a:schemeClr val="accent1"/>
              </a:solidFill>
              <a:tailEnd type="triangle" w="lg" len="lg"/>
            </a:ln>
          </p:spPr>
        </p:sp>
        <p:sp>
          <p:nvSpPr>
            <p:cNvPr id="19" name="Line 19"/>
            <p:cNvSpPr/>
            <p:nvPr/>
          </p:nvSpPr>
          <p:spPr>
            <a:xfrm>
              <a:off x="5895975" y="2657475"/>
              <a:ext cx="361950" cy="1"/>
            </a:xfrm>
            <a:prstGeom prst="line">
              <a:avLst/>
            </a:prstGeom>
            <a:noFill/>
            <a:ln w="28575">
              <a:solidFill>
                <a:schemeClr val="accent1"/>
              </a:solidFill>
              <a:tailEnd type="triangle" w="lg" len="lg"/>
            </a:ln>
          </p:spPr>
        </p:sp>
        <p:sp>
          <p:nvSpPr>
            <p:cNvPr id="20" name="Line 20"/>
            <p:cNvSpPr/>
            <p:nvPr/>
          </p:nvSpPr>
          <p:spPr>
            <a:xfrm>
              <a:off x="8820150" y="2657475"/>
              <a:ext cx="361950" cy="1"/>
            </a:xfrm>
            <a:prstGeom prst="line">
              <a:avLst/>
            </a:prstGeom>
            <a:noFill/>
            <a:ln w="28575">
              <a:solidFill>
                <a:schemeClr val="accent1"/>
              </a:solidFill>
              <a:tailEnd type="triangle" w="lg" len="lg"/>
            </a:ln>
          </p:spPr>
        </p:sp>
        <p:sp>
          <p:nvSpPr>
            <p:cNvPr id="21" name="TextBox 21"/>
            <p:cNvSpPr txBox="1"/>
            <p:nvPr/>
          </p:nvSpPr>
          <p:spPr>
            <a:xfrm>
              <a:off x="3370707" y="3888105"/>
              <a:ext cx="4912081"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产品负责人 / 活动负责人 / 履约负责人</a:t>
              </a:r>
            </a:p>
          </p:txBody>
        </p:sp>
        <p:sp>
          <p:nvSpPr>
            <p:cNvPr id="22" name="TextBox 22"/>
            <p:cNvSpPr txBox="1"/>
            <p:nvPr/>
          </p:nvSpPr>
          <p:spPr>
            <a:xfrm>
              <a:off x="3372231" y="4368165"/>
              <a:ext cx="437997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分别确认商品事实、价格赠品与配送依据</a:t>
              </a:r>
            </a:p>
          </p:txBody>
        </p:sp>
      </p:grpSp>
      <p:grpSp>
        <p:nvGrpSpPr>
          <p:cNvPr id="26" name="Group 26"/>
          <p:cNvGrpSpPr/>
          <p:nvPr/>
        </p:nvGrpSpPr>
        <p:grpSpPr>
          <a:xfrm>
            <a:off x="446532" y="5219700"/>
            <a:ext cx="11288268" cy="688848"/>
            <a:chOff x="446532" y="5219700"/>
            <a:chExt cx="11288268" cy="688848"/>
          </a:xfrm>
        </p:grpSpPr>
        <p:sp>
          <p:nvSpPr>
            <p:cNvPr id="24" name="Line 24"/>
            <p:cNvSpPr/>
            <p:nvPr/>
          </p:nvSpPr>
          <p:spPr>
            <a:xfrm>
              <a:off x="457200" y="5219700"/>
              <a:ext cx="11277600" cy="9525"/>
            </a:xfrm>
            <a:custGeom>
              <a:avLst/>
              <a:gdLst/>
              <a:ahLst/>
              <a:cxnLst/>
              <a:rect l="l" t="t" r="r" b="b"/>
              <a:pathLst>
                <a:path w="11277600" h="9525">
                  <a:moveTo>
                    <a:pt x="0" y="0"/>
                  </a:moveTo>
                  <a:lnTo>
                    <a:pt x="11277600" y="0"/>
                  </a:lnTo>
                </a:path>
              </a:pathLst>
            </a:custGeom>
            <a:noFill/>
            <a:ln w="19050">
              <a:solidFill>
                <a:schemeClr val="accent6"/>
              </a:solidFill>
            </a:ln>
          </p:spPr>
        </p:sp>
        <p:sp>
          <p:nvSpPr>
            <p:cNvPr id="25" name="TextBox 25"/>
            <p:cNvSpPr txBox="1"/>
            <p:nvPr/>
          </p:nvSpPr>
          <p:spPr>
            <a:xfrm>
              <a:off x="446532" y="5497830"/>
              <a:ext cx="680618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内容负责人：维护实际使用版本，条件变化后组织更新</a:t>
              </a:r>
            </a:p>
          </p:txBody>
        </p:sp>
      </p:grpSp>
      <p:grpSp>
        <p:nvGrpSpPr>
          <p:cNvPr id="38" name="Group 38"/>
          <p:cNvGrpSpPr/>
          <p:nvPr/>
        </p:nvGrpSpPr>
        <p:grpSpPr>
          <a:xfrm>
            <a:off x="0" y="6286500"/>
            <a:ext cx="12192000" cy="571500"/>
            <a:chOff x="0" y="6286500"/>
            <a:chExt cx="12192000" cy="571500"/>
          </a:xfrm>
        </p:grpSpPr>
        <p:sp>
          <p:nvSpPr>
            <p:cNvPr id="27" name="Rectangle 27"/>
            <p:cNvSpPr/>
            <p:nvPr/>
          </p:nvSpPr>
          <p:spPr>
            <a:xfrm>
              <a:off x="0" y="6286500"/>
              <a:ext cx="12192000" cy="571500"/>
            </a:xfrm>
            <a:prstGeom prst="rect">
              <a:avLst/>
            </a:prstGeom>
            <a:solidFill>
              <a:srgbClr val="FFFFFF"/>
            </a:solidFill>
            <a:ln>
              <a:noFill/>
            </a:ln>
          </p:spPr>
        </p:sp>
        <p:sp>
          <p:nvSpPr>
            <p:cNvPr id="28" name="Line 28"/>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36" name="Group 36"/>
            <p:cNvGrpSpPr/>
            <p:nvPr/>
          </p:nvGrpSpPr>
          <p:grpSpPr>
            <a:xfrm>
              <a:off x="451866" y="6468428"/>
              <a:ext cx="9783070" cy="205359"/>
              <a:chOff x="451866" y="6468428"/>
              <a:chExt cx="9783070" cy="205359"/>
            </a:xfrm>
          </p:grpSpPr>
          <p:sp>
            <p:nvSpPr>
              <p:cNvPr id="29" name="TextBox 29"/>
              <p:cNvSpPr txBox="1"/>
              <p:nvPr/>
            </p:nvSpPr>
            <p:spPr>
              <a:xfrm>
                <a:off x="45186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1 业务背景</a:t>
                </a:r>
              </a:p>
            </p:txBody>
          </p:sp>
          <p:sp>
            <p:nvSpPr>
              <p:cNvPr id="30" name="TextBox 30"/>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31" name="TextBox 31"/>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32" name="TextBox 32"/>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33" name="TextBox 33"/>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34" name="TextBox 34"/>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35" name="TextBox 35"/>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37" name="TextBox 37"/>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04 / 70</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544693" cy="1038035"/>
            <a:chOff x="441198" y="428625"/>
            <a:chExt cx="5544693" cy="1038035"/>
          </a:xfrm>
        </p:grpSpPr>
        <p:sp>
          <p:nvSpPr>
            <p:cNvPr id="2" name="TextBox 2"/>
            <p:cNvSpPr txBox="1"/>
            <p:nvPr/>
          </p:nvSpPr>
          <p:spPr>
            <a:xfrm>
              <a:off x="449580" y="428625"/>
              <a:ext cx="317544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第一篇·定问题 / 1.2 核对内容主张</a:t>
              </a:r>
            </a:p>
          </p:txBody>
        </p:sp>
        <p:sp>
          <p:nvSpPr>
            <p:cNvPr id="3" name="TextBox 3"/>
            <p:cNvSpPr txBox="1"/>
            <p:nvPr/>
          </p:nvSpPr>
          <p:spPr>
            <a:xfrm>
              <a:off x="441198" y="850583"/>
              <a:ext cx="554469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先圈两处：你最想核实什么？</a:t>
              </a:r>
            </a:p>
          </p:txBody>
        </p:sp>
      </p:grpSp>
      <p:grpSp>
        <p:nvGrpSpPr>
          <p:cNvPr id="8" name="Group 8"/>
          <p:cNvGrpSpPr/>
          <p:nvPr/>
        </p:nvGrpSpPr>
        <p:grpSpPr>
          <a:xfrm>
            <a:off x="457200" y="1733550"/>
            <a:ext cx="11277600" cy="3381375"/>
            <a:chOff x="457200" y="1733550"/>
            <a:chExt cx="11277600" cy="3381375"/>
          </a:xfrm>
        </p:grpSpPr>
        <p:sp>
          <p:nvSpPr>
            <p:cNvPr id="5" name="Rectangle 5"/>
            <p:cNvSpPr/>
            <p:nvPr/>
          </p:nvSpPr>
          <p:spPr>
            <a:xfrm>
              <a:off x="457200" y="1733550"/>
              <a:ext cx="11277600" cy="3381375"/>
            </a:xfrm>
            <a:prstGeom prst="roundRect">
              <a:avLst>
                <a:gd name="adj" fmla="val 3380"/>
              </a:avLst>
            </a:prstGeom>
            <a:solidFill>
              <a:srgbClr val="FFFFFF"/>
            </a:solidFill>
            <a:ln>
              <a:noFill/>
            </a:ln>
          </p:spPr>
        </p:sp>
        <p:sp>
          <p:nvSpPr>
            <p:cNvPr id="6" name="TextBox 6"/>
            <p:cNvSpPr txBox="1"/>
            <p:nvPr/>
          </p:nvSpPr>
          <p:spPr>
            <a:xfrm>
              <a:off x="735330" y="1981200"/>
              <a:ext cx="1871472"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材料 M01 · 初稿 V1</a:t>
              </a:r>
            </a:p>
          </p:txBody>
        </p:sp>
        <p:sp>
          <p:nvSpPr>
            <p:cNvPr id="7" name="TextBox 7"/>
            <p:cNvSpPr txBox="1"/>
            <p:nvPr/>
          </p:nvSpPr>
          <p:spPr>
            <a:xfrm>
              <a:off x="732282" y="2459355"/>
              <a:ext cx="7475601" cy="2125218"/>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养猫人下班还要追着猫毛跑？看净小伴P1，最高12000Pa吸力，</a:t>
              </a:r>
              <a:br/>
              <a:r>
                <a:rPr lang="zh-CN" sz="2100" dirty="0">
                  <a:solidFill>
                    <a:schemeClr val="dk1"/>
                  </a:solidFill>
                  <a:latin typeface="+mn-lt"/>
                  <a:ea typeface="+mn-ea"/>
                  <a:cs typeface="+mn-cs"/>
                </a:rPr>
                <a:t>清扫交给它，自己少弯腰。本次活动到手1799元，人人同价！</a:t>
              </a:r>
              <a:br/>
              <a:r>
                <a:rPr lang="zh-CN" sz="2100" dirty="0">
                  <a:solidFill>
                    <a:schemeClr val="dk1"/>
                  </a:solidFill>
                  <a:latin typeface="+mn-lt"/>
                  <a:ea typeface="+mn-ea"/>
                  <a:cs typeface="+mn-cs"/>
                </a:rPr>
                <a:t>65℃热水直接拖地，电线袜子都能自动躲开。</a:t>
              </a:r>
              <a:br/>
              <a:r>
                <a:rPr lang="zh-CN" sz="2100" dirty="0">
                  <a:solidFill>
                    <a:schemeClr val="dk1"/>
                  </a:solidFill>
                  <a:latin typeface="+mn-lt"/>
                  <a:ea typeface="+mn-ea"/>
                  <a:cs typeface="+mn-cs"/>
                </a:rPr>
                <a:t>下单就送宠物清洁包，明天送到家。</a:t>
              </a:r>
              <a:br/>
              <a:r>
                <a:rPr lang="zh-CN" sz="2100" dirty="0">
                  <a:solidFill>
                    <a:schemeClr val="dk1"/>
                  </a:solidFill>
                  <a:latin typeface="+mn-lt"/>
                  <a:ea typeface="+mn-ea"/>
                  <a:cs typeface="+mn-cs"/>
                </a:rPr>
                <a:t>最后再说一下基站的自动洗拖布功能。</a:t>
              </a:r>
            </a:p>
          </p:txBody>
        </p:sp>
      </p:grpSp>
      <p:grpSp>
        <p:nvGrpSpPr>
          <p:cNvPr id="11" name="Group 11"/>
          <p:cNvGrpSpPr/>
          <p:nvPr/>
        </p:nvGrpSpPr>
        <p:grpSpPr>
          <a:xfrm>
            <a:off x="446532" y="5507355"/>
            <a:ext cx="6240780" cy="729615"/>
            <a:chOff x="446532" y="5507355"/>
            <a:chExt cx="6240780" cy="729615"/>
          </a:xfrm>
        </p:grpSpPr>
        <p:sp>
          <p:nvSpPr>
            <p:cNvPr id="9" name="TextBox 9"/>
            <p:cNvSpPr txBox="1"/>
            <p:nvPr/>
          </p:nvSpPr>
          <p:spPr>
            <a:xfrm>
              <a:off x="446532" y="5507355"/>
              <a:ext cx="624078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说清：要核实哪句话？需要什么资料？向谁确认？</a:t>
              </a:r>
            </a:p>
          </p:txBody>
        </p:sp>
        <p:sp>
          <p:nvSpPr>
            <p:cNvPr id="10" name="TextBox 10"/>
            <p:cNvSpPr txBox="1"/>
            <p:nvPr/>
          </p:nvSpPr>
          <p:spPr>
            <a:xfrm>
              <a:off x="449580" y="5943600"/>
              <a:ext cx="4094226"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先分开“觉得可疑”和“已有依据确认有问题”。</a:t>
              </a:r>
            </a:p>
          </p:txBody>
        </p:sp>
      </p:grpSp>
      <p:grpSp>
        <p:nvGrpSpPr>
          <p:cNvPr id="23" name="Group 23"/>
          <p:cNvGrpSpPr/>
          <p:nvPr/>
        </p:nvGrpSpPr>
        <p:grpSpPr>
          <a:xfrm>
            <a:off x="0" y="6286500"/>
            <a:ext cx="12192000" cy="571500"/>
            <a:chOff x="0" y="6286500"/>
            <a:chExt cx="12192000" cy="571500"/>
          </a:xfrm>
        </p:grpSpPr>
        <p:sp>
          <p:nvSpPr>
            <p:cNvPr id="12" name="Rectangle 12"/>
            <p:cNvSpPr/>
            <p:nvPr/>
          </p:nvSpPr>
          <p:spPr>
            <a:xfrm>
              <a:off x="0" y="6286500"/>
              <a:ext cx="12192000" cy="571500"/>
            </a:xfrm>
            <a:prstGeom prst="rect">
              <a:avLst/>
            </a:prstGeom>
            <a:solidFill>
              <a:srgbClr val="FFFFFF"/>
            </a:solidFill>
            <a:ln>
              <a:noFill/>
            </a:ln>
          </p:spPr>
        </p:sp>
        <p:sp>
          <p:nvSpPr>
            <p:cNvPr id="13" name="Line 13"/>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1" name="Group 21"/>
            <p:cNvGrpSpPr/>
            <p:nvPr/>
          </p:nvGrpSpPr>
          <p:grpSpPr>
            <a:xfrm>
              <a:off x="451866" y="6468428"/>
              <a:ext cx="9783070" cy="205359"/>
              <a:chOff x="451866" y="6468428"/>
              <a:chExt cx="9783070" cy="205359"/>
            </a:xfrm>
          </p:grpSpPr>
          <p:sp>
            <p:nvSpPr>
              <p:cNvPr id="14" name="TextBox 14"/>
              <p:cNvSpPr txBox="1"/>
              <p:nvPr/>
            </p:nvSpPr>
            <p:spPr>
              <a:xfrm>
                <a:off x="45186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1 业务背景</a:t>
                </a:r>
              </a:p>
            </p:txBody>
          </p:sp>
          <p:sp>
            <p:nvSpPr>
              <p:cNvPr id="15" name="TextBox 15"/>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16" name="TextBox 16"/>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17" name="TextBox 17"/>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18" name="TextBox 18"/>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19" name="TextBox 19"/>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0" name="TextBox 20"/>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22" name="TextBox 22"/>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05 / 70</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431259" cy="1038035"/>
            <a:chOff x="441198" y="428625"/>
            <a:chExt cx="5431259" cy="1038035"/>
          </a:xfrm>
        </p:grpSpPr>
        <p:sp>
          <p:nvSpPr>
            <p:cNvPr id="2" name="TextBox 2"/>
            <p:cNvSpPr txBox="1"/>
            <p:nvPr/>
          </p:nvSpPr>
          <p:spPr>
            <a:xfrm>
              <a:off x="449580" y="428625"/>
              <a:ext cx="317544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第一篇·定问题 / 1.2 核对内容主张</a:t>
              </a:r>
            </a:p>
          </p:txBody>
        </p:sp>
        <p:sp>
          <p:nvSpPr>
            <p:cNvPr id="3" name="TextBox 3"/>
            <p:cNvSpPr txBox="1"/>
            <p:nvPr/>
          </p:nvSpPr>
          <p:spPr>
            <a:xfrm>
              <a:off x="441198" y="850583"/>
              <a:ext cx="5431259"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65℃存在，功能对象却写错了</a:t>
              </a:r>
            </a:p>
          </p:txBody>
        </p:sp>
      </p:grpSp>
      <p:grpSp>
        <p:nvGrpSpPr>
          <p:cNvPr id="10" name="Group 10"/>
          <p:cNvGrpSpPr/>
          <p:nvPr/>
        </p:nvGrpSpPr>
        <p:grpSpPr>
          <a:xfrm>
            <a:off x="445008" y="1939290"/>
            <a:ext cx="4382643" cy="2346960"/>
            <a:chOff x="445008" y="1939290"/>
            <a:chExt cx="4382643" cy="2346960"/>
          </a:xfrm>
        </p:grpSpPr>
        <p:sp>
          <p:nvSpPr>
            <p:cNvPr id="5" name="TextBox 5"/>
            <p:cNvSpPr txBox="1"/>
            <p:nvPr/>
          </p:nvSpPr>
          <p:spPr>
            <a:xfrm>
              <a:off x="448056" y="1939290"/>
              <a:ext cx="745236"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文案说</a:t>
              </a:r>
            </a:p>
          </p:txBody>
        </p:sp>
        <p:sp>
          <p:nvSpPr>
            <p:cNvPr id="6" name="TextBox 6"/>
            <p:cNvSpPr txBox="1"/>
            <p:nvPr/>
          </p:nvSpPr>
          <p:spPr>
            <a:xfrm>
              <a:off x="445008" y="2417445"/>
              <a:ext cx="2895829"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“65℃热水直接拖地”</a:t>
              </a:r>
            </a:p>
          </p:txBody>
        </p:sp>
        <p:sp>
          <p:nvSpPr>
            <p:cNvPr id="7" name="Ellipse 7"/>
            <p:cNvSpPr/>
            <p:nvPr/>
          </p:nvSpPr>
          <p:spPr>
            <a:xfrm>
              <a:off x="1428750" y="3638550"/>
              <a:ext cx="2095500" cy="533400"/>
            </a:xfrm>
            <a:prstGeom prst="ellipse">
              <a:avLst/>
            </a:prstGeom>
            <a:solidFill>
              <a:srgbClr val="FFFFFF"/>
            </a:solidFill>
            <a:ln w="28575">
              <a:solidFill>
                <a:schemeClr val="accent2"/>
              </a:solidFill>
            </a:ln>
          </p:spPr>
        </p:sp>
        <p:sp>
          <p:nvSpPr>
            <p:cNvPr id="8" name="Line 8"/>
            <p:cNvSpPr/>
            <p:nvPr/>
          </p:nvSpPr>
          <p:spPr>
            <a:xfrm>
              <a:off x="1123950" y="4276725"/>
              <a:ext cx="2924175" cy="9525"/>
            </a:xfrm>
            <a:custGeom>
              <a:avLst/>
              <a:gdLst/>
              <a:ahLst/>
              <a:cxnLst/>
              <a:rect l="l" t="t" r="r" b="b"/>
              <a:pathLst>
                <a:path w="2924175" h="9525">
                  <a:moveTo>
                    <a:pt x="0" y="0"/>
                  </a:moveTo>
                  <a:lnTo>
                    <a:pt x="2924175" y="0"/>
                  </a:lnTo>
                </a:path>
              </a:pathLst>
            </a:custGeom>
            <a:noFill/>
            <a:ln w="28575">
              <a:solidFill>
                <a:srgbClr val="617673"/>
              </a:solidFill>
            </a:ln>
          </p:spPr>
        </p:sp>
        <p:sp>
          <p:nvSpPr>
            <p:cNvPr id="9" name="TextBox 9"/>
            <p:cNvSpPr txBox="1"/>
            <p:nvPr/>
          </p:nvSpPr>
          <p:spPr>
            <a:xfrm>
              <a:off x="4324731" y="3872865"/>
              <a:ext cx="502920"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地面</a:t>
              </a:r>
            </a:p>
          </p:txBody>
        </p:sp>
      </p:grpSp>
      <p:grpSp>
        <p:nvGrpSpPr>
          <p:cNvPr id="18" name="Group 18"/>
          <p:cNvGrpSpPr/>
          <p:nvPr/>
        </p:nvGrpSpPr>
        <p:grpSpPr>
          <a:xfrm>
            <a:off x="6267450" y="1809750"/>
            <a:ext cx="5467350" cy="2809875"/>
            <a:chOff x="6267450" y="1809750"/>
            <a:chExt cx="5467350" cy="2809875"/>
          </a:xfrm>
        </p:grpSpPr>
        <p:sp>
          <p:nvSpPr>
            <p:cNvPr id="11" name="Rectangle 11"/>
            <p:cNvSpPr/>
            <p:nvPr/>
          </p:nvSpPr>
          <p:spPr>
            <a:xfrm>
              <a:off x="6267450" y="1809750"/>
              <a:ext cx="5467350" cy="2809875"/>
            </a:xfrm>
            <a:prstGeom prst="roundRect">
              <a:avLst>
                <a:gd name="adj" fmla="val 4068"/>
              </a:avLst>
            </a:prstGeom>
            <a:solidFill>
              <a:schemeClr val="lt2"/>
            </a:solidFill>
            <a:ln>
              <a:noFill/>
            </a:ln>
          </p:spPr>
        </p:sp>
        <p:sp>
          <p:nvSpPr>
            <p:cNvPr id="12" name="TextBox 12"/>
            <p:cNvSpPr txBox="1"/>
            <p:nvPr/>
          </p:nvSpPr>
          <p:spPr>
            <a:xfrm>
              <a:off x="6525006" y="2005965"/>
              <a:ext cx="74523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资料说</a:t>
              </a:r>
            </a:p>
          </p:txBody>
        </p:sp>
        <p:sp>
          <p:nvSpPr>
            <p:cNvPr id="13" name="TextBox 13"/>
            <p:cNvSpPr txBox="1"/>
            <p:nvPr/>
          </p:nvSpPr>
          <p:spPr>
            <a:xfrm>
              <a:off x="6521958" y="2426970"/>
              <a:ext cx="3491926"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基站支持65℃热水洗拖布</a:t>
              </a:r>
            </a:p>
          </p:txBody>
        </p:sp>
        <p:sp>
          <p:nvSpPr>
            <p:cNvPr id="14" name="Rectangle 14"/>
            <p:cNvSpPr/>
            <p:nvPr/>
          </p:nvSpPr>
          <p:spPr>
            <a:xfrm>
              <a:off x="6934200" y="3067050"/>
              <a:ext cx="1619250" cy="1190625"/>
            </a:xfrm>
            <a:prstGeom prst="roundRect">
              <a:avLst>
                <a:gd name="adj" fmla="val 9600"/>
              </a:avLst>
            </a:prstGeom>
            <a:solidFill>
              <a:srgbClr val="FFFFFF"/>
            </a:solidFill>
            <a:ln w="28575">
              <a:solidFill>
                <a:schemeClr val="accent1"/>
              </a:solidFill>
            </a:ln>
          </p:spPr>
        </p:sp>
        <p:sp>
          <p:nvSpPr>
            <p:cNvPr id="15" name="Rectangle 15"/>
            <p:cNvSpPr/>
            <p:nvPr/>
          </p:nvSpPr>
          <p:spPr>
            <a:xfrm>
              <a:off x="7143750" y="3762375"/>
              <a:ext cx="1200150" cy="323850"/>
            </a:xfrm>
            <a:prstGeom prst="roundRect">
              <a:avLst>
                <a:gd name="adj" fmla="val 23529"/>
              </a:avLst>
            </a:prstGeom>
            <a:solidFill>
              <a:schemeClr val="accent1"/>
            </a:solidFill>
            <a:ln>
              <a:noFill/>
            </a:ln>
          </p:spPr>
        </p:sp>
        <p:sp>
          <p:nvSpPr>
            <p:cNvPr id="16" name="TextBox 16"/>
            <p:cNvSpPr txBox="1"/>
            <p:nvPr/>
          </p:nvSpPr>
          <p:spPr>
            <a:xfrm>
              <a:off x="8885682" y="3459480"/>
              <a:ext cx="1434846"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对象：拖布</a:t>
              </a:r>
            </a:p>
          </p:txBody>
        </p:sp>
        <p:sp>
          <p:nvSpPr>
            <p:cNvPr id="17" name="TextBox 17"/>
            <p:cNvSpPr txBox="1"/>
            <p:nvPr/>
          </p:nvSpPr>
          <p:spPr>
            <a:xfrm>
              <a:off x="8887206" y="3901440"/>
              <a:ext cx="1714500"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动作：基站清洗</a:t>
              </a:r>
            </a:p>
          </p:txBody>
        </p:sp>
      </p:grpSp>
      <p:grpSp>
        <p:nvGrpSpPr>
          <p:cNvPr id="21" name="Group 21"/>
          <p:cNvGrpSpPr/>
          <p:nvPr/>
        </p:nvGrpSpPr>
        <p:grpSpPr>
          <a:xfrm>
            <a:off x="446532" y="5212080"/>
            <a:ext cx="9494368" cy="841629"/>
            <a:chOff x="446532" y="5212080"/>
            <a:chExt cx="9494368" cy="841629"/>
          </a:xfrm>
        </p:grpSpPr>
        <p:sp>
          <p:nvSpPr>
            <p:cNvPr id="19" name="TextBox 19"/>
            <p:cNvSpPr txBox="1"/>
            <p:nvPr/>
          </p:nvSpPr>
          <p:spPr>
            <a:xfrm>
              <a:off x="446532" y="5212080"/>
              <a:ext cx="49487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“最高12000Pa”有支持；最高不能删。</a:t>
              </a:r>
            </a:p>
          </p:txBody>
        </p:sp>
        <p:sp>
          <p:nvSpPr>
            <p:cNvPr id="20" name="TextBox 20"/>
            <p:cNvSpPr txBox="1"/>
            <p:nvPr/>
          </p:nvSpPr>
          <p:spPr>
            <a:xfrm>
              <a:off x="448056" y="5701665"/>
              <a:ext cx="9492844"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说明书提示提前清理电线、袜子，无法支持“都能自动躲开”；也不能反推完全无法避障。</a:t>
              </a:r>
            </a:p>
          </p:txBody>
        </p:sp>
      </p:grpSp>
      <p:grpSp>
        <p:nvGrpSpPr>
          <p:cNvPr id="33" name="Group 33"/>
          <p:cNvGrpSpPr/>
          <p:nvPr/>
        </p:nvGrpSpPr>
        <p:grpSpPr>
          <a:xfrm>
            <a:off x="0" y="6286500"/>
            <a:ext cx="12192000" cy="571500"/>
            <a:chOff x="0" y="6286500"/>
            <a:chExt cx="12192000" cy="571500"/>
          </a:xfrm>
        </p:grpSpPr>
        <p:sp>
          <p:nvSpPr>
            <p:cNvPr id="22" name="Rectangle 22"/>
            <p:cNvSpPr/>
            <p:nvPr/>
          </p:nvSpPr>
          <p:spPr>
            <a:xfrm>
              <a:off x="0" y="6286500"/>
              <a:ext cx="12192000" cy="571500"/>
            </a:xfrm>
            <a:prstGeom prst="rect">
              <a:avLst/>
            </a:prstGeom>
            <a:solidFill>
              <a:srgbClr val="FFFFFF"/>
            </a:solidFill>
            <a:ln>
              <a:noFill/>
            </a:ln>
          </p:spPr>
        </p:sp>
        <p:sp>
          <p:nvSpPr>
            <p:cNvPr id="23" name="Line 23"/>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31" name="Group 31"/>
            <p:cNvGrpSpPr/>
            <p:nvPr/>
          </p:nvGrpSpPr>
          <p:grpSpPr>
            <a:xfrm>
              <a:off x="451866" y="6468428"/>
              <a:ext cx="9783070" cy="205359"/>
              <a:chOff x="451866" y="6468428"/>
              <a:chExt cx="9783070" cy="205359"/>
            </a:xfrm>
          </p:grpSpPr>
          <p:sp>
            <p:nvSpPr>
              <p:cNvPr id="24" name="TextBox 24"/>
              <p:cNvSpPr txBox="1"/>
              <p:nvPr/>
            </p:nvSpPr>
            <p:spPr>
              <a:xfrm>
                <a:off x="45186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1 业务背景</a:t>
                </a:r>
              </a:p>
            </p:txBody>
          </p:sp>
          <p:sp>
            <p:nvSpPr>
              <p:cNvPr id="25" name="TextBox 25"/>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6" name="TextBox 26"/>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7" name="TextBox 27"/>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8" name="TextBox 28"/>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9" name="TextBox 29"/>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30" name="TextBox 30"/>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32" name="TextBox 32"/>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06 / 70</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165931" cy="1038035"/>
            <a:chOff x="441198" y="428625"/>
            <a:chExt cx="6165931" cy="1038035"/>
          </a:xfrm>
        </p:grpSpPr>
        <p:sp>
          <p:nvSpPr>
            <p:cNvPr id="2" name="TextBox 2"/>
            <p:cNvSpPr txBox="1"/>
            <p:nvPr/>
          </p:nvSpPr>
          <p:spPr>
            <a:xfrm>
              <a:off x="449580" y="428625"/>
              <a:ext cx="317544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第一篇·定问题 / 1.2 核对内容主张</a:t>
              </a:r>
            </a:p>
          </p:txBody>
        </p:sp>
        <p:sp>
          <p:nvSpPr>
            <p:cNvPr id="3" name="TextBox 3"/>
            <p:cNvSpPr txBox="1"/>
            <p:nvPr/>
          </p:nvSpPr>
          <p:spPr>
            <a:xfrm>
              <a:off x="441198" y="850583"/>
              <a:ext cx="6165931"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1799元有依据，“人人同价”没有</a:t>
              </a:r>
            </a:p>
          </p:txBody>
        </p:sp>
      </p:grpSp>
      <p:grpSp>
        <p:nvGrpSpPr>
          <p:cNvPr id="20" name="Group 20"/>
          <p:cNvGrpSpPr/>
          <p:nvPr/>
        </p:nvGrpSpPr>
        <p:grpSpPr>
          <a:xfrm>
            <a:off x="457200" y="2320290"/>
            <a:ext cx="11277600" cy="2537460"/>
            <a:chOff x="457200" y="2320290"/>
            <a:chExt cx="11277600" cy="2537460"/>
          </a:xfrm>
        </p:grpSpPr>
        <p:grpSp>
          <p:nvGrpSpPr>
            <p:cNvPr id="8" name="Group 8"/>
            <p:cNvGrpSpPr/>
            <p:nvPr/>
          </p:nvGrpSpPr>
          <p:grpSpPr>
            <a:xfrm>
              <a:off x="533400" y="2320290"/>
              <a:ext cx="10484267" cy="933450"/>
              <a:chOff x="533400" y="2320290"/>
              <a:chExt cx="10484267" cy="933450"/>
            </a:xfrm>
          </p:grpSpPr>
          <p:sp>
            <p:nvSpPr>
              <p:cNvPr id="5" name="TextBox 5"/>
              <p:cNvSpPr txBox="1"/>
              <p:nvPr/>
            </p:nvSpPr>
            <p:spPr>
              <a:xfrm>
                <a:off x="533400" y="2320290"/>
                <a:ext cx="1530767" cy="933450"/>
              </a:xfrm>
              <a:prstGeom prst="rect">
                <a:avLst/>
              </a:prstGeom>
              <a:noFill/>
              <a:ln>
                <a:noFill/>
              </a:ln>
            </p:spPr>
            <p:txBody>
              <a:bodyPr wrap="none" lIns="0" tIns="0" rIns="0" bIns="0" anchor="t" anchorCtr="0">
                <a:spAutoFit/>
              </a:bodyPr>
              <a:lstStyle/>
              <a:p>
                <a:pPr algn="l"/>
                <a:r>
                  <a:rPr lang="zh-CN" sz="4800" b="1" dirty="0">
                    <a:solidFill>
                      <a:schemeClr val="dk1"/>
                    </a:solidFill>
                    <a:latin typeface="+mn-lt"/>
                    <a:ea typeface="+mn-ea"/>
                    <a:cs typeface="+mn-cs"/>
                  </a:rPr>
                  <a:t>2399</a:t>
                </a:r>
              </a:p>
            </p:txBody>
          </p:sp>
          <p:sp>
            <p:nvSpPr>
              <p:cNvPr id="6" name="TextBox 6"/>
              <p:cNvSpPr txBox="1"/>
              <p:nvPr/>
            </p:nvSpPr>
            <p:spPr>
              <a:xfrm>
                <a:off x="4933950" y="2320290"/>
                <a:ext cx="1530767" cy="933450"/>
              </a:xfrm>
              <a:prstGeom prst="rect">
                <a:avLst/>
              </a:prstGeom>
              <a:noFill/>
              <a:ln>
                <a:noFill/>
              </a:ln>
            </p:spPr>
            <p:txBody>
              <a:bodyPr wrap="none" lIns="0" tIns="0" rIns="0" bIns="0" anchor="t" anchorCtr="0">
                <a:spAutoFit/>
              </a:bodyPr>
              <a:lstStyle/>
              <a:p>
                <a:pPr algn="l"/>
                <a:r>
                  <a:rPr lang="zh-CN" sz="4800" b="1" dirty="0">
                    <a:solidFill>
                      <a:schemeClr val="dk1"/>
                    </a:solidFill>
                    <a:latin typeface="+mn-lt"/>
                    <a:ea typeface="+mn-ea"/>
                    <a:cs typeface="+mn-cs"/>
                  </a:rPr>
                  <a:t>1999</a:t>
                </a:r>
              </a:p>
            </p:txBody>
          </p:sp>
          <p:sp>
            <p:nvSpPr>
              <p:cNvPr id="7" name="TextBox 7"/>
              <p:cNvSpPr txBox="1"/>
              <p:nvPr/>
            </p:nvSpPr>
            <p:spPr>
              <a:xfrm>
                <a:off x="9486900" y="2320290"/>
                <a:ext cx="1530767" cy="933450"/>
              </a:xfrm>
              <a:prstGeom prst="rect">
                <a:avLst/>
              </a:prstGeom>
              <a:noFill/>
              <a:ln>
                <a:noFill/>
              </a:ln>
            </p:spPr>
            <p:txBody>
              <a:bodyPr wrap="none" lIns="0" tIns="0" rIns="0" bIns="0" anchor="t" anchorCtr="0">
                <a:spAutoFit/>
              </a:bodyPr>
              <a:lstStyle/>
              <a:p>
                <a:pPr algn="l"/>
                <a:r>
                  <a:rPr lang="zh-CN" sz="4800" b="1" dirty="0">
                    <a:solidFill>
                      <a:schemeClr val="accent2"/>
                    </a:solidFill>
                    <a:latin typeface="+mn-lt"/>
                    <a:ea typeface="+mn-ea"/>
                    <a:cs typeface="+mn-cs"/>
                  </a:rPr>
                  <a:t>1799</a:t>
                </a:r>
              </a:p>
            </p:txBody>
          </p:sp>
        </p:grpSp>
        <p:grpSp>
          <p:nvGrpSpPr>
            <p:cNvPr id="12" name="Group 12"/>
            <p:cNvGrpSpPr/>
            <p:nvPr/>
          </p:nvGrpSpPr>
          <p:grpSpPr>
            <a:xfrm>
              <a:off x="541782" y="3202305"/>
              <a:ext cx="10671048" cy="410718"/>
              <a:chOff x="541782" y="3202305"/>
              <a:chExt cx="10671048" cy="410718"/>
            </a:xfrm>
          </p:grpSpPr>
          <p:sp>
            <p:nvSpPr>
              <p:cNvPr id="9" name="TextBox 9"/>
              <p:cNvSpPr txBox="1"/>
              <p:nvPr/>
            </p:nvSpPr>
            <p:spPr>
              <a:xfrm>
                <a:off x="541782" y="320230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活动价</a:t>
                </a:r>
              </a:p>
            </p:txBody>
          </p:sp>
          <p:sp>
            <p:nvSpPr>
              <p:cNvPr id="10" name="TextBox 10"/>
              <p:cNvSpPr txBox="1"/>
              <p:nvPr/>
            </p:nvSpPr>
            <p:spPr>
              <a:xfrm>
                <a:off x="4942332" y="3202305"/>
                <a:ext cx="115214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活动券后</a:t>
                </a:r>
              </a:p>
            </p:txBody>
          </p:sp>
          <p:sp>
            <p:nvSpPr>
              <p:cNvPr id="11" name="TextBox 11"/>
              <p:cNvSpPr txBox="1"/>
              <p:nvPr/>
            </p:nvSpPr>
            <p:spPr>
              <a:xfrm>
                <a:off x="9495282" y="3202305"/>
                <a:ext cx="171754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新会员叠加后</a:t>
                </a:r>
              </a:p>
            </p:txBody>
          </p:sp>
        </p:grpSp>
        <p:grpSp>
          <p:nvGrpSpPr>
            <p:cNvPr id="17" name="Group 17"/>
            <p:cNvGrpSpPr/>
            <p:nvPr/>
          </p:nvGrpSpPr>
          <p:grpSpPr>
            <a:xfrm>
              <a:off x="2657856" y="2406015"/>
              <a:ext cx="6117717" cy="752094"/>
              <a:chOff x="2657856" y="2406015"/>
              <a:chExt cx="6117717" cy="752094"/>
            </a:xfrm>
          </p:grpSpPr>
          <p:sp>
            <p:nvSpPr>
              <p:cNvPr id="13" name="TextBox 13"/>
              <p:cNvSpPr txBox="1"/>
              <p:nvPr/>
            </p:nvSpPr>
            <p:spPr>
              <a:xfrm>
                <a:off x="2657856" y="2406015"/>
                <a:ext cx="1229868"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领取并使用</a:t>
                </a:r>
              </a:p>
            </p:txBody>
          </p:sp>
          <p:sp>
            <p:nvSpPr>
              <p:cNvPr id="14" name="TextBox 14"/>
              <p:cNvSpPr txBox="1"/>
              <p:nvPr/>
            </p:nvSpPr>
            <p:spPr>
              <a:xfrm>
                <a:off x="2657856" y="2806065"/>
                <a:ext cx="159334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400元活动券 →</a:t>
                </a:r>
              </a:p>
            </p:txBody>
          </p:sp>
          <p:sp>
            <p:nvSpPr>
              <p:cNvPr id="15" name="TextBox 15"/>
              <p:cNvSpPr txBox="1"/>
              <p:nvPr/>
            </p:nvSpPr>
            <p:spPr>
              <a:xfrm>
                <a:off x="7182231" y="2406015"/>
                <a:ext cx="147218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新会员再领用</a:t>
                </a:r>
              </a:p>
            </p:txBody>
          </p:sp>
          <p:sp>
            <p:nvSpPr>
              <p:cNvPr id="16" name="TextBox 16"/>
              <p:cNvSpPr txBox="1"/>
              <p:nvPr/>
            </p:nvSpPr>
            <p:spPr>
              <a:xfrm>
                <a:off x="7182231" y="2806065"/>
                <a:ext cx="159334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200元专享券 →</a:t>
                </a:r>
              </a:p>
            </p:txBody>
          </p:sp>
        </p:grpSp>
        <p:sp>
          <p:nvSpPr>
            <p:cNvPr id="18" name="Rectangle 18"/>
            <p:cNvSpPr/>
            <p:nvPr/>
          </p:nvSpPr>
          <p:spPr>
            <a:xfrm>
              <a:off x="457200" y="4000500"/>
              <a:ext cx="11277600" cy="857250"/>
            </a:xfrm>
            <a:prstGeom prst="roundRect">
              <a:avLst>
                <a:gd name="adj" fmla="val 13333"/>
              </a:avLst>
            </a:prstGeom>
            <a:solidFill>
              <a:schemeClr val="lt2"/>
            </a:solidFill>
            <a:ln>
              <a:noFill/>
            </a:ln>
          </p:spPr>
        </p:sp>
        <p:sp>
          <p:nvSpPr>
            <p:cNvPr id="19" name="TextBox 19"/>
            <p:cNvSpPr txBox="1"/>
            <p:nvPr/>
          </p:nvSpPr>
          <p:spPr>
            <a:xfrm>
              <a:off x="732282" y="4307205"/>
              <a:ext cx="595807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金额路径＋适用人群＋用券条件，要一起成立。</a:t>
              </a:r>
            </a:p>
          </p:txBody>
        </p:sp>
      </p:grpSp>
      <p:grpSp>
        <p:nvGrpSpPr>
          <p:cNvPr id="23" name="Group 23"/>
          <p:cNvGrpSpPr/>
          <p:nvPr/>
        </p:nvGrpSpPr>
        <p:grpSpPr>
          <a:xfrm>
            <a:off x="446532" y="5412105"/>
            <a:ext cx="5672328" cy="729615"/>
            <a:chOff x="446532" y="5412105"/>
            <a:chExt cx="5672328" cy="729615"/>
          </a:xfrm>
        </p:grpSpPr>
        <p:sp>
          <p:nvSpPr>
            <p:cNvPr id="21" name="TextBox 21"/>
            <p:cNvSpPr txBox="1"/>
            <p:nvPr/>
          </p:nvSpPr>
          <p:spPr>
            <a:xfrm>
              <a:off x="446532" y="5412105"/>
              <a:ext cx="3173463"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数值存在 ≠ 所有人都适用</a:t>
              </a:r>
            </a:p>
          </p:txBody>
        </p:sp>
        <p:sp>
          <p:nvSpPr>
            <p:cNvPr id="22" name="TextBox 22"/>
            <p:cNvSpPr txBox="1"/>
            <p:nvPr/>
          </p:nvSpPr>
          <p:spPr>
            <a:xfrm>
              <a:off x="449580" y="5848350"/>
              <a:ext cx="566928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以上优惠仅在本次活动适用期有效，不能跨活动或跨版本复用。</a:t>
              </a:r>
            </a:p>
          </p:txBody>
        </p:sp>
      </p:grpSp>
      <p:grpSp>
        <p:nvGrpSpPr>
          <p:cNvPr id="35" name="Group 35"/>
          <p:cNvGrpSpPr/>
          <p:nvPr/>
        </p:nvGrpSpPr>
        <p:grpSpPr>
          <a:xfrm>
            <a:off x="0" y="6286500"/>
            <a:ext cx="12192000" cy="571500"/>
            <a:chOff x="0" y="6286500"/>
            <a:chExt cx="12192000" cy="571500"/>
          </a:xfrm>
        </p:grpSpPr>
        <p:sp>
          <p:nvSpPr>
            <p:cNvPr id="24" name="Rectangle 24"/>
            <p:cNvSpPr/>
            <p:nvPr/>
          </p:nvSpPr>
          <p:spPr>
            <a:xfrm>
              <a:off x="0" y="6286500"/>
              <a:ext cx="12192000" cy="571500"/>
            </a:xfrm>
            <a:prstGeom prst="rect">
              <a:avLst/>
            </a:prstGeom>
            <a:solidFill>
              <a:srgbClr val="FFFFFF"/>
            </a:solidFill>
            <a:ln>
              <a:noFill/>
            </a:ln>
          </p:spPr>
        </p:sp>
        <p:sp>
          <p:nvSpPr>
            <p:cNvPr id="25" name="Line 25"/>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33" name="Group 33"/>
            <p:cNvGrpSpPr/>
            <p:nvPr/>
          </p:nvGrpSpPr>
          <p:grpSpPr>
            <a:xfrm>
              <a:off x="451866" y="6468428"/>
              <a:ext cx="9783070" cy="205359"/>
              <a:chOff x="451866" y="6468428"/>
              <a:chExt cx="9783070" cy="205359"/>
            </a:xfrm>
          </p:grpSpPr>
          <p:sp>
            <p:nvSpPr>
              <p:cNvPr id="26" name="TextBox 26"/>
              <p:cNvSpPr txBox="1"/>
              <p:nvPr/>
            </p:nvSpPr>
            <p:spPr>
              <a:xfrm>
                <a:off x="45186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1 业务背景</a:t>
                </a:r>
              </a:p>
            </p:txBody>
          </p:sp>
          <p:sp>
            <p:nvSpPr>
              <p:cNvPr id="27" name="TextBox 27"/>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8" name="TextBox 28"/>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9" name="TextBox 29"/>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30" name="TextBox 30"/>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31" name="TextBox 31"/>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32" name="TextBox 32"/>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34" name="TextBox 34"/>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07 / 70</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796414" cy="1038035"/>
            <a:chOff x="441198" y="428625"/>
            <a:chExt cx="7796414" cy="1038035"/>
          </a:xfrm>
        </p:grpSpPr>
        <p:sp>
          <p:nvSpPr>
            <p:cNvPr id="2" name="TextBox 2"/>
            <p:cNvSpPr txBox="1"/>
            <p:nvPr/>
          </p:nvSpPr>
          <p:spPr>
            <a:xfrm>
              <a:off x="449580" y="428625"/>
              <a:ext cx="317544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第一篇·定问题 / 1.2 核对内容主张</a:t>
              </a:r>
            </a:p>
          </p:txBody>
        </p:sp>
        <p:sp>
          <p:nvSpPr>
            <p:cNvPr id="3" name="TextBox 3"/>
            <p:cNvSpPr txBox="1"/>
            <p:nvPr/>
          </p:nvSpPr>
          <p:spPr>
            <a:xfrm>
              <a:off x="441198" y="850583"/>
              <a:ext cx="7796414"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“下单就送”和“明天到家”，分别缺什么？</a:t>
              </a:r>
            </a:p>
          </p:txBody>
        </p:sp>
      </p:grpSp>
      <p:grpSp>
        <p:nvGrpSpPr>
          <p:cNvPr id="10" name="Group 10"/>
          <p:cNvGrpSpPr/>
          <p:nvPr/>
        </p:nvGrpSpPr>
        <p:grpSpPr>
          <a:xfrm>
            <a:off x="457200" y="1857375"/>
            <a:ext cx="5391150" cy="3810000"/>
            <a:chOff x="457200" y="1857375"/>
            <a:chExt cx="5391150" cy="3810000"/>
          </a:xfrm>
        </p:grpSpPr>
        <p:sp>
          <p:nvSpPr>
            <p:cNvPr id="5" name="Rectangle 5"/>
            <p:cNvSpPr/>
            <p:nvPr/>
          </p:nvSpPr>
          <p:spPr>
            <a:xfrm>
              <a:off x="457200" y="1857375"/>
              <a:ext cx="5391150" cy="3810000"/>
            </a:xfrm>
            <a:prstGeom prst="roundRect">
              <a:avLst>
                <a:gd name="adj" fmla="val 3000"/>
              </a:avLst>
            </a:prstGeom>
            <a:solidFill>
              <a:srgbClr val="FFFFFF"/>
            </a:solidFill>
            <a:ln>
              <a:noFill/>
            </a:ln>
          </p:spPr>
        </p:sp>
        <p:sp>
          <p:nvSpPr>
            <p:cNvPr id="6" name="TextBox 6"/>
            <p:cNvSpPr txBox="1"/>
            <p:nvPr/>
          </p:nvSpPr>
          <p:spPr>
            <a:xfrm>
              <a:off x="730758" y="2065020"/>
              <a:ext cx="1689903"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“下单就送”</a:t>
              </a:r>
            </a:p>
          </p:txBody>
        </p:sp>
        <p:sp>
          <p:nvSpPr>
            <p:cNvPr id="7" name="TextBox 7"/>
            <p:cNvSpPr txBox="1"/>
            <p:nvPr/>
          </p:nvSpPr>
          <p:spPr>
            <a:xfrm>
              <a:off x="735330" y="2600325"/>
              <a:ext cx="3028474"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F-GIFT-01 v1 / 活动负责人确认</a:t>
              </a:r>
            </a:p>
          </p:txBody>
        </p:sp>
        <p:sp>
          <p:nvSpPr>
            <p:cNvPr id="8" name="TextBox 8"/>
            <p:cNvSpPr txBox="1"/>
            <p:nvPr/>
          </p:nvSpPr>
          <p:spPr>
            <a:xfrm>
              <a:off x="732282" y="3126105"/>
              <a:ext cx="3661791" cy="1287018"/>
            </a:xfrm>
            <a:prstGeom prst="rect">
              <a:avLst/>
            </a:prstGeom>
            <a:noFill/>
            <a:ln>
              <a:noFill/>
            </a:ln>
          </p:spPr>
          <p:txBody>
            <a:bodyPr wrap="none" lIns="0" tIns="0" rIns="0" bIns="0" anchor="t" anchorCtr="0">
              <a:spAutoFit/>
            </a:bodyPr>
            <a:lstStyle/>
            <a:p>
              <a:pPr algn="l">
                <a:lnSpc>
                  <a:spcPts val="3450"/>
                </a:lnSpc>
              </a:pPr>
              <a:r>
                <a:rPr lang="zh-CN" sz="2100" dirty="0">
                  <a:solidFill>
                    <a:schemeClr val="dk1"/>
                  </a:solidFill>
                  <a:latin typeface="+mn-lt"/>
                  <a:ea typeface="+mn-ea"/>
                  <a:cs typeface="+mn-cs"/>
                </a:rPr>
                <a:t>本活动P1，成功支付</a:t>
              </a:r>
              <a:br/>
              <a:r>
                <a:rPr lang="zh-CN" sz="2100" dirty="0">
                  <a:solidFill>
                    <a:schemeClr val="dk1"/>
                  </a:solidFill>
                  <a:latin typeface="+mn-lt"/>
                  <a:ea typeface="+mn-ea"/>
                  <a:cs typeface="+mn-cs"/>
                </a:rPr>
                <a:t>按系统确认的支付顺序前200名</a:t>
              </a:r>
              <a:br/>
              <a:r>
                <a:rPr lang="zh-CN" sz="2100" dirty="0">
                  <a:solidFill>
                    <a:schemeClr val="dk1"/>
                  </a:solidFill>
                  <a:latin typeface="+mn-lt"/>
                  <a:ea typeface="+mn-ea"/>
                  <a:cs typeface="+mn-cs"/>
                </a:rPr>
                <a:t>每单一份，赠完即止</a:t>
              </a:r>
            </a:p>
          </p:txBody>
        </p:sp>
        <p:sp>
          <p:nvSpPr>
            <p:cNvPr id="9" name="TextBox 9"/>
            <p:cNvSpPr txBox="1"/>
            <p:nvPr/>
          </p:nvSpPr>
          <p:spPr>
            <a:xfrm>
              <a:off x="733806" y="5063490"/>
              <a:ext cx="341071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当前还有无名额，另需权益依据</a:t>
              </a:r>
            </a:p>
          </p:txBody>
        </p:sp>
      </p:grpSp>
      <p:grpSp>
        <p:nvGrpSpPr>
          <p:cNvPr id="16" name="Group 16"/>
          <p:cNvGrpSpPr/>
          <p:nvPr/>
        </p:nvGrpSpPr>
        <p:grpSpPr>
          <a:xfrm>
            <a:off x="6229350" y="1857375"/>
            <a:ext cx="5505450" cy="3810000"/>
            <a:chOff x="6229350" y="1857375"/>
            <a:chExt cx="5505450" cy="3810000"/>
          </a:xfrm>
        </p:grpSpPr>
        <p:sp>
          <p:nvSpPr>
            <p:cNvPr id="11" name="Rectangle 11"/>
            <p:cNvSpPr/>
            <p:nvPr/>
          </p:nvSpPr>
          <p:spPr>
            <a:xfrm>
              <a:off x="6229350" y="1857375"/>
              <a:ext cx="5505450" cy="3810000"/>
            </a:xfrm>
            <a:prstGeom prst="roundRect">
              <a:avLst>
                <a:gd name="adj" fmla="val 3000"/>
              </a:avLst>
            </a:prstGeom>
            <a:solidFill>
              <a:schemeClr val="lt2"/>
            </a:solidFill>
            <a:ln>
              <a:noFill/>
            </a:ln>
          </p:spPr>
        </p:sp>
        <p:sp>
          <p:nvSpPr>
            <p:cNvPr id="12" name="TextBox 12"/>
            <p:cNvSpPr txBox="1"/>
            <p:nvPr/>
          </p:nvSpPr>
          <p:spPr>
            <a:xfrm>
              <a:off x="6502908" y="2065020"/>
              <a:ext cx="1689903"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“明天到家”</a:t>
              </a:r>
            </a:p>
          </p:txBody>
        </p:sp>
        <p:sp>
          <p:nvSpPr>
            <p:cNvPr id="13" name="TextBox 13"/>
            <p:cNvSpPr txBox="1"/>
            <p:nvPr/>
          </p:nvSpPr>
          <p:spPr>
            <a:xfrm>
              <a:off x="6507480" y="2600325"/>
              <a:ext cx="3028474"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F-SHIP-01 v1 / 履约负责人确认</a:t>
              </a:r>
            </a:p>
          </p:txBody>
        </p:sp>
        <p:sp>
          <p:nvSpPr>
            <p:cNvPr id="14" name="TextBox 14"/>
            <p:cNvSpPr txBox="1"/>
            <p:nvPr/>
          </p:nvSpPr>
          <p:spPr>
            <a:xfrm>
              <a:off x="6504432" y="3126105"/>
              <a:ext cx="3221736" cy="1287018"/>
            </a:xfrm>
            <a:prstGeom prst="rect">
              <a:avLst/>
            </a:prstGeom>
            <a:noFill/>
            <a:ln>
              <a:noFill/>
            </a:ln>
          </p:spPr>
          <p:txBody>
            <a:bodyPr wrap="none" lIns="0" tIns="0" rIns="0" bIns="0" anchor="t" anchorCtr="0">
              <a:spAutoFit/>
            </a:bodyPr>
            <a:lstStyle/>
            <a:p>
              <a:pPr algn="l">
                <a:lnSpc>
                  <a:spcPts val="3450"/>
                </a:lnSpc>
              </a:pPr>
              <a:r>
                <a:rPr lang="zh-CN" sz="2100" dirty="0">
                  <a:solidFill>
                    <a:schemeClr val="dk1"/>
                  </a:solidFill>
                  <a:latin typeface="+mn-lt"/>
                  <a:ea typeface="+mn-ea"/>
                  <a:cs typeface="+mn-cs"/>
                </a:rPr>
                <a:t>到达时间要结合：</a:t>
              </a:r>
              <a:br/>
              <a:r>
                <a:rPr lang="zh-CN" sz="2100" dirty="0">
                  <a:solidFill>
                    <a:schemeClr val="dk1"/>
                  </a:solidFill>
                  <a:latin typeface="+mn-lt"/>
                  <a:ea typeface="+mn-ea"/>
                  <a:cs typeface="+mn-cs"/>
                </a:rPr>
                <a:t>地址、库存、下单时间</a:t>
              </a:r>
              <a:br/>
              <a:r>
                <a:rPr lang="zh-CN" sz="2100" dirty="0">
                  <a:solidFill>
                    <a:schemeClr val="dk1"/>
                  </a:solidFill>
                  <a:latin typeface="+mn-lt"/>
                  <a:ea typeface="+mn-ea"/>
                  <a:cs typeface="+mn-cs"/>
                </a:rPr>
                <a:t>当前没有统一次日送达依据</a:t>
              </a:r>
            </a:p>
          </p:txBody>
        </p:sp>
        <p:sp>
          <p:nvSpPr>
            <p:cNvPr id="15" name="TextBox 15"/>
            <p:cNvSpPr txBox="1"/>
            <p:nvPr/>
          </p:nvSpPr>
          <p:spPr>
            <a:xfrm>
              <a:off x="6505956" y="5063490"/>
              <a:ext cx="341071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资料不足时，不能凭常识补承诺</a:t>
              </a:r>
            </a:p>
          </p:txBody>
        </p:sp>
      </p:grpSp>
      <p:grpSp>
        <p:nvGrpSpPr>
          <p:cNvPr id="28" name="Group 28"/>
          <p:cNvGrpSpPr/>
          <p:nvPr/>
        </p:nvGrpSpPr>
        <p:grpSpPr>
          <a:xfrm>
            <a:off x="0" y="6286500"/>
            <a:ext cx="12192000" cy="571500"/>
            <a:chOff x="0" y="6286500"/>
            <a:chExt cx="12192000" cy="571500"/>
          </a:xfrm>
        </p:grpSpPr>
        <p:sp>
          <p:nvSpPr>
            <p:cNvPr id="17" name="Rectangle 17"/>
            <p:cNvSpPr/>
            <p:nvPr/>
          </p:nvSpPr>
          <p:spPr>
            <a:xfrm>
              <a:off x="0" y="6286500"/>
              <a:ext cx="12192000" cy="571500"/>
            </a:xfrm>
            <a:prstGeom prst="rect">
              <a:avLst/>
            </a:prstGeom>
            <a:solidFill>
              <a:srgbClr val="FFFFFF"/>
            </a:solidFill>
            <a:ln>
              <a:noFill/>
            </a:ln>
          </p:spPr>
        </p:sp>
        <p:sp>
          <p:nvSpPr>
            <p:cNvPr id="18" name="Line 18"/>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6" name="Group 26"/>
            <p:cNvGrpSpPr/>
            <p:nvPr/>
          </p:nvGrpSpPr>
          <p:grpSpPr>
            <a:xfrm>
              <a:off x="451866" y="6468428"/>
              <a:ext cx="9783070" cy="205359"/>
              <a:chOff x="451866" y="6468428"/>
              <a:chExt cx="9783070" cy="205359"/>
            </a:xfrm>
          </p:grpSpPr>
          <p:sp>
            <p:nvSpPr>
              <p:cNvPr id="19" name="TextBox 19"/>
              <p:cNvSpPr txBox="1"/>
              <p:nvPr/>
            </p:nvSpPr>
            <p:spPr>
              <a:xfrm>
                <a:off x="45186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1 业务背景</a:t>
                </a:r>
              </a:p>
            </p:txBody>
          </p:sp>
          <p:sp>
            <p:nvSpPr>
              <p:cNvPr id="20" name="TextBox 20"/>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1" name="TextBox 21"/>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2" name="TextBox 22"/>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3" name="TextBox 23"/>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4" name="TextBox 24"/>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5" name="TextBox 25"/>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27" name="TextBox 27"/>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08 / 70</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120640" cy="1038035"/>
            <a:chOff x="441198" y="428625"/>
            <a:chExt cx="5120640" cy="1038035"/>
          </a:xfrm>
        </p:grpSpPr>
        <p:sp>
          <p:nvSpPr>
            <p:cNvPr id="2" name="TextBox 2"/>
            <p:cNvSpPr txBox="1"/>
            <p:nvPr/>
          </p:nvSpPr>
          <p:spPr>
            <a:xfrm>
              <a:off x="449580" y="428625"/>
              <a:ext cx="317544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第一篇·定问题 / 1.3 找出重复劳动</a:t>
              </a:r>
            </a:p>
          </p:txBody>
        </p:sp>
        <p:sp>
          <p:nvSpPr>
            <p:cNvPr id="3" name="TextBox 3"/>
            <p:cNvSpPr txBox="1"/>
            <p:nvPr/>
          </p:nvSpPr>
          <p:spPr>
            <a:xfrm>
              <a:off x="441198" y="850583"/>
              <a:ext cx="512064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文案读完了，核对才刚开始</a:t>
              </a:r>
            </a:p>
          </p:txBody>
        </p:sp>
      </p:grpSp>
      <p:grpSp>
        <p:nvGrpSpPr>
          <p:cNvPr id="6" name="Group 6"/>
          <p:cNvGrpSpPr/>
          <p:nvPr/>
        </p:nvGrpSpPr>
        <p:grpSpPr>
          <a:xfrm>
            <a:off x="457200" y="1809750"/>
            <a:ext cx="6667500" cy="4445032"/>
            <a:chOff x="457200" y="1809750"/>
            <a:chExt cx="6667500" cy="4445032"/>
          </a:xfrm>
        </p:grpSpPr>
        <p:pic>
          <p:nvPicPr>
            <p:cNvPr id="5" name="Image 5"/>
            <p:cNvPicPr>
              <a:picLocks noChangeAspect="1"/>
            </p:cNvPicPr>
            <p:nvPr/>
          </p:nvPicPr>
          <p:blipFill>
            <a:blip r:embed="rId2"/>
            <a:stretch>
              <a:fillRect/>
            </a:stretch>
          </p:blipFill>
          <p:spPr>
            <a:xfrm>
              <a:off x="457200" y="1809750"/>
              <a:ext cx="6667500" cy="4445032"/>
            </a:xfrm>
            <a:prstGeom prst="rect">
              <a:avLst/>
            </a:prstGeom>
          </p:spPr>
        </p:pic>
      </p:grpSp>
      <p:grpSp>
        <p:nvGrpSpPr>
          <p:cNvPr id="15" name="Group 15"/>
          <p:cNvGrpSpPr/>
          <p:nvPr/>
        </p:nvGrpSpPr>
        <p:grpSpPr>
          <a:xfrm>
            <a:off x="7531608" y="1948815"/>
            <a:ext cx="4203192" cy="3992880"/>
            <a:chOff x="7531608" y="1948815"/>
            <a:chExt cx="4203192" cy="3992880"/>
          </a:xfrm>
        </p:grpSpPr>
        <p:sp>
          <p:nvSpPr>
            <p:cNvPr id="7" name="TextBox 7"/>
            <p:cNvSpPr txBox="1"/>
            <p:nvPr/>
          </p:nvSpPr>
          <p:spPr>
            <a:xfrm>
              <a:off x="7534656" y="1948815"/>
              <a:ext cx="2962427"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读原句 → 分别找到适用材料</a:t>
              </a:r>
            </a:p>
          </p:txBody>
        </p:sp>
        <p:sp>
          <p:nvSpPr>
            <p:cNvPr id="8" name="TextBox 8"/>
            <p:cNvSpPr txBox="1"/>
            <p:nvPr/>
          </p:nvSpPr>
          <p:spPr>
            <a:xfrm>
              <a:off x="7531608" y="2522220"/>
              <a:ext cx="3322305"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商品 / 温度指的是谁？</a:t>
              </a:r>
            </a:p>
          </p:txBody>
        </p:sp>
        <p:sp>
          <p:nvSpPr>
            <p:cNvPr id="9" name="TextBox 9"/>
            <p:cNvSpPr txBox="1"/>
            <p:nvPr/>
          </p:nvSpPr>
          <p:spPr>
            <a:xfrm>
              <a:off x="7531608" y="3122295"/>
              <a:ext cx="2776286"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优惠 / 谁能1799？</a:t>
              </a:r>
            </a:p>
          </p:txBody>
        </p:sp>
        <p:sp>
          <p:nvSpPr>
            <p:cNvPr id="10" name="TextBox 10"/>
            <p:cNvSpPr txBox="1"/>
            <p:nvPr/>
          </p:nvSpPr>
          <p:spPr>
            <a:xfrm>
              <a:off x="7531608" y="3722370"/>
              <a:ext cx="2999217"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赠品 / 条件齐了吗？</a:t>
              </a:r>
            </a:p>
          </p:txBody>
        </p:sp>
        <p:sp>
          <p:nvSpPr>
            <p:cNvPr id="11" name="TextBox 11"/>
            <p:cNvSpPr txBox="1"/>
            <p:nvPr/>
          </p:nvSpPr>
          <p:spPr>
            <a:xfrm>
              <a:off x="7531608" y="4322445"/>
              <a:ext cx="3322305"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配送 / 承诺有依据吗？</a:t>
              </a:r>
            </a:p>
          </p:txBody>
        </p:sp>
        <p:sp>
          <p:nvSpPr>
            <p:cNvPr id="12" name="Line 12"/>
            <p:cNvSpPr/>
            <p:nvPr/>
          </p:nvSpPr>
          <p:spPr>
            <a:xfrm>
              <a:off x="7543800" y="4953000"/>
              <a:ext cx="4191000" cy="9525"/>
            </a:xfrm>
            <a:custGeom>
              <a:avLst/>
              <a:gdLst/>
              <a:ahLst/>
              <a:cxnLst/>
              <a:rect l="l" t="t" r="r" b="b"/>
              <a:pathLst>
                <a:path w="4191000" h="9525">
                  <a:moveTo>
                    <a:pt x="0" y="0"/>
                  </a:moveTo>
                  <a:lnTo>
                    <a:pt x="4191000" y="0"/>
                  </a:lnTo>
                </a:path>
              </a:pathLst>
            </a:custGeom>
            <a:noFill/>
            <a:ln w="28575">
              <a:solidFill>
                <a:schemeClr val="accent1"/>
              </a:solidFill>
            </a:ln>
          </p:spPr>
        </p:sp>
        <p:sp>
          <p:nvSpPr>
            <p:cNvPr id="13" name="TextBox 13"/>
            <p:cNvSpPr txBox="1"/>
            <p:nvPr/>
          </p:nvSpPr>
          <p:spPr>
            <a:xfrm>
              <a:off x="7533132" y="5154930"/>
              <a:ext cx="2565654"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再回原句，整理意见</a:t>
              </a:r>
            </a:p>
          </p:txBody>
        </p:sp>
        <p:sp>
          <p:nvSpPr>
            <p:cNvPr id="14" name="TextBox 14"/>
            <p:cNvSpPr txBox="1"/>
            <p:nvPr/>
          </p:nvSpPr>
          <p:spPr>
            <a:xfrm>
              <a:off x="7536180" y="5648325"/>
              <a:ext cx="304419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即使句子正确，核实劳动也发生了</a:t>
              </a:r>
            </a:p>
          </p:txBody>
        </p:sp>
      </p:grpSp>
      <p:grpSp>
        <p:nvGrpSpPr>
          <p:cNvPr id="27" name="Group 27"/>
          <p:cNvGrpSpPr/>
          <p:nvPr/>
        </p:nvGrpSpPr>
        <p:grpSpPr>
          <a:xfrm>
            <a:off x="0" y="6286500"/>
            <a:ext cx="12192000" cy="571500"/>
            <a:chOff x="0" y="6286500"/>
            <a:chExt cx="12192000" cy="571500"/>
          </a:xfrm>
        </p:grpSpPr>
        <p:sp>
          <p:nvSpPr>
            <p:cNvPr id="16" name="Rectangle 16"/>
            <p:cNvSpPr/>
            <p:nvPr/>
          </p:nvSpPr>
          <p:spPr>
            <a:xfrm>
              <a:off x="0" y="6286500"/>
              <a:ext cx="12192000" cy="571500"/>
            </a:xfrm>
            <a:prstGeom prst="rect">
              <a:avLst/>
            </a:prstGeom>
            <a:solidFill>
              <a:srgbClr val="FFFFFF"/>
            </a:solidFill>
            <a:ln>
              <a:noFill/>
            </a:ln>
          </p:spPr>
        </p:sp>
        <p:sp>
          <p:nvSpPr>
            <p:cNvPr id="17" name="Line 17"/>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5" name="Group 25"/>
            <p:cNvGrpSpPr/>
            <p:nvPr/>
          </p:nvGrpSpPr>
          <p:grpSpPr>
            <a:xfrm>
              <a:off x="451866" y="6468428"/>
              <a:ext cx="9783070" cy="205359"/>
              <a:chOff x="451866" y="6468428"/>
              <a:chExt cx="9783070" cy="205359"/>
            </a:xfrm>
          </p:grpSpPr>
          <p:sp>
            <p:nvSpPr>
              <p:cNvPr id="18" name="TextBox 18"/>
              <p:cNvSpPr txBox="1"/>
              <p:nvPr/>
            </p:nvSpPr>
            <p:spPr>
              <a:xfrm>
                <a:off x="45186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1 业务背景</a:t>
                </a:r>
              </a:p>
            </p:txBody>
          </p:sp>
          <p:sp>
            <p:nvSpPr>
              <p:cNvPr id="19" name="TextBox 19"/>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0" name="TextBox 20"/>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1" name="TextBox 21"/>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2" name="TextBox 22"/>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3" name="TextBox 23"/>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4" name="TextBox 24"/>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26" name="TextBox 26"/>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09 / 70</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306633" cy="1038035"/>
            <a:chOff x="441198" y="428625"/>
            <a:chExt cx="7306633" cy="1038035"/>
          </a:xfrm>
        </p:grpSpPr>
        <p:sp>
          <p:nvSpPr>
            <p:cNvPr id="2" name="TextBox 2"/>
            <p:cNvSpPr txBox="1"/>
            <p:nvPr/>
          </p:nvSpPr>
          <p:spPr>
            <a:xfrm>
              <a:off x="449580" y="428625"/>
              <a:ext cx="317544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第一篇·定问题 / 1.3 找出重复劳动</a:t>
              </a:r>
            </a:p>
          </p:txBody>
        </p:sp>
        <p:sp>
          <p:nvSpPr>
            <p:cNvPr id="3" name="TextBox 3"/>
            <p:cNvSpPr txBox="1"/>
            <p:nvPr/>
          </p:nvSpPr>
          <p:spPr>
            <a:xfrm>
              <a:off x="441198" y="850583"/>
              <a:ext cx="730663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“补充适用条件”，没有告诉作者补什么</a:t>
              </a:r>
            </a:p>
          </p:txBody>
        </p:sp>
      </p:grpSp>
      <p:grpSp>
        <p:nvGrpSpPr>
          <p:cNvPr id="8" name="Group 8"/>
          <p:cNvGrpSpPr/>
          <p:nvPr/>
        </p:nvGrpSpPr>
        <p:grpSpPr>
          <a:xfrm>
            <a:off x="457200" y="1828800"/>
            <a:ext cx="8572500" cy="955548"/>
            <a:chOff x="457200" y="1828800"/>
            <a:chExt cx="8572500" cy="955548"/>
          </a:xfrm>
        </p:grpSpPr>
        <p:sp>
          <p:nvSpPr>
            <p:cNvPr id="5" name="Rectangle 5"/>
            <p:cNvSpPr/>
            <p:nvPr/>
          </p:nvSpPr>
          <p:spPr>
            <a:xfrm>
              <a:off x="457200" y="1828800"/>
              <a:ext cx="8572500" cy="952500"/>
            </a:xfrm>
            <a:prstGeom prst="roundRect">
              <a:avLst>
                <a:gd name="adj" fmla="val 12000"/>
              </a:avLst>
            </a:prstGeom>
            <a:solidFill>
              <a:schemeClr val="lt2"/>
            </a:solidFill>
            <a:ln>
              <a:noFill/>
            </a:ln>
          </p:spPr>
        </p:sp>
        <p:sp>
          <p:nvSpPr>
            <p:cNvPr id="6" name="TextBox 6"/>
            <p:cNvSpPr txBox="1"/>
            <p:nvPr/>
          </p:nvSpPr>
          <p:spPr>
            <a:xfrm>
              <a:off x="735330" y="2057400"/>
              <a:ext cx="145904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小林 / 审核意见</a:t>
              </a:r>
            </a:p>
          </p:txBody>
        </p:sp>
        <p:sp>
          <p:nvSpPr>
            <p:cNvPr id="7" name="TextBox 7"/>
            <p:cNvSpPr txBox="1"/>
            <p:nvPr/>
          </p:nvSpPr>
          <p:spPr>
            <a:xfrm>
              <a:off x="732282" y="2373630"/>
              <a:ext cx="284835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价格请补充适用条件。</a:t>
              </a:r>
            </a:p>
          </p:txBody>
        </p:sp>
      </p:grpSp>
      <p:grpSp>
        <p:nvGrpSpPr>
          <p:cNvPr id="12" name="Group 12"/>
          <p:cNvGrpSpPr/>
          <p:nvPr/>
        </p:nvGrpSpPr>
        <p:grpSpPr>
          <a:xfrm>
            <a:off x="3048000" y="3048000"/>
            <a:ext cx="8686800" cy="955548"/>
            <a:chOff x="3048000" y="3048000"/>
            <a:chExt cx="8686800" cy="955548"/>
          </a:xfrm>
        </p:grpSpPr>
        <p:sp>
          <p:nvSpPr>
            <p:cNvPr id="9" name="Rectangle 9"/>
            <p:cNvSpPr/>
            <p:nvPr/>
          </p:nvSpPr>
          <p:spPr>
            <a:xfrm>
              <a:off x="3048000" y="3048000"/>
              <a:ext cx="8686800" cy="952500"/>
            </a:xfrm>
            <a:prstGeom prst="roundRect">
              <a:avLst>
                <a:gd name="adj" fmla="val 12000"/>
              </a:avLst>
            </a:prstGeom>
            <a:solidFill>
              <a:srgbClr val="FFFFFF"/>
            </a:solidFill>
            <a:ln>
              <a:noFill/>
            </a:ln>
          </p:spPr>
        </p:sp>
        <p:sp>
          <p:nvSpPr>
            <p:cNvPr id="10" name="TextBox 10"/>
            <p:cNvSpPr txBox="1"/>
            <p:nvPr/>
          </p:nvSpPr>
          <p:spPr>
            <a:xfrm>
              <a:off x="3326130" y="3276600"/>
              <a:ext cx="206483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小周 / 修改后重新提交</a:t>
              </a:r>
            </a:p>
          </p:txBody>
        </p:sp>
        <p:sp>
          <p:nvSpPr>
            <p:cNvPr id="11" name="TextBox 11"/>
            <p:cNvSpPr txBox="1"/>
            <p:nvPr/>
          </p:nvSpPr>
          <p:spPr>
            <a:xfrm>
              <a:off x="3323082" y="3592830"/>
              <a:ext cx="576018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已改成“领券到手1799元”，领券不是条件吗？</a:t>
              </a:r>
            </a:p>
          </p:txBody>
        </p:sp>
      </p:grpSp>
      <p:grpSp>
        <p:nvGrpSpPr>
          <p:cNvPr id="16" name="Group 16"/>
          <p:cNvGrpSpPr/>
          <p:nvPr/>
        </p:nvGrpSpPr>
        <p:grpSpPr>
          <a:xfrm>
            <a:off x="457200" y="4267200"/>
            <a:ext cx="10096500" cy="955548"/>
            <a:chOff x="457200" y="4267200"/>
            <a:chExt cx="10096500" cy="955548"/>
          </a:xfrm>
        </p:grpSpPr>
        <p:sp>
          <p:nvSpPr>
            <p:cNvPr id="13" name="Rectangle 13"/>
            <p:cNvSpPr/>
            <p:nvPr/>
          </p:nvSpPr>
          <p:spPr>
            <a:xfrm>
              <a:off x="457200" y="4267200"/>
              <a:ext cx="10096500" cy="952500"/>
            </a:xfrm>
            <a:prstGeom prst="roundRect">
              <a:avLst>
                <a:gd name="adj" fmla="val 12000"/>
              </a:avLst>
            </a:prstGeom>
            <a:solidFill>
              <a:schemeClr val="lt2"/>
            </a:solidFill>
            <a:ln>
              <a:noFill/>
            </a:ln>
          </p:spPr>
        </p:sp>
        <p:sp>
          <p:nvSpPr>
            <p:cNvPr id="14" name="TextBox 14"/>
            <p:cNvSpPr txBox="1"/>
            <p:nvPr/>
          </p:nvSpPr>
          <p:spPr>
            <a:xfrm>
              <a:off x="735330" y="4495800"/>
              <a:ext cx="166097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小林 / 又解释一次</a:t>
              </a:r>
            </a:p>
          </p:txBody>
        </p:sp>
        <p:sp>
          <p:nvSpPr>
            <p:cNvPr id="15" name="TextBox 15"/>
            <p:cNvSpPr txBox="1"/>
            <p:nvPr/>
          </p:nvSpPr>
          <p:spPr>
            <a:xfrm>
              <a:off x="732282" y="4812030"/>
              <a:ext cx="680618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还缺新会员资格，以及两类券分别领取并使用的条件。</a:t>
              </a:r>
            </a:p>
          </p:txBody>
        </p:sp>
      </p:grpSp>
      <p:grpSp>
        <p:nvGrpSpPr>
          <p:cNvPr id="18" name="Group 18"/>
          <p:cNvGrpSpPr/>
          <p:nvPr/>
        </p:nvGrpSpPr>
        <p:grpSpPr>
          <a:xfrm>
            <a:off x="445008" y="5684520"/>
            <a:ext cx="6308446" cy="469392"/>
            <a:chOff x="445008" y="5684520"/>
            <a:chExt cx="6308446" cy="469392"/>
          </a:xfrm>
        </p:grpSpPr>
        <p:sp>
          <p:nvSpPr>
            <p:cNvPr id="17" name="TextBox 17"/>
            <p:cNvSpPr txBox="1"/>
            <p:nvPr/>
          </p:nvSpPr>
          <p:spPr>
            <a:xfrm>
              <a:off x="445008" y="5684520"/>
              <a:ext cx="6308446"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修改 → 重读 → 解释 → 再修改，都是工作量。</a:t>
              </a:r>
            </a:p>
          </p:txBody>
        </p:sp>
      </p:grpSp>
      <p:grpSp>
        <p:nvGrpSpPr>
          <p:cNvPr id="30" name="Group 30"/>
          <p:cNvGrpSpPr/>
          <p:nvPr/>
        </p:nvGrpSpPr>
        <p:grpSpPr>
          <a:xfrm>
            <a:off x="0" y="6286500"/>
            <a:ext cx="12192000" cy="571500"/>
            <a:chOff x="0" y="6286500"/>
            <a:chExt cx="12192000" cy="571500"/>
          </a:xfrm>
        </p:grpSpPr>
        <p:sp>
          <p:nvSpPr>
            <p:cNvPr id="19" name="Rectangle 19"/>
            <p:cNvSpPr/>
            <p:nvPr/>
          </p:nvSpPr>
          <p:spPr>
            <a:xfrm>
              <a:off x="0" y="6286500"/>
              <a:ext cx="12192000" cy="571500"/>
            </a:xfrm>
            <a:prstGeom prst="rect">
              <a:avLst/>
            </a:prstGeom>
            <a:solidFill>
              <a:srgbClr val="FFFFFF"/>
            </a:solidFill>
            <a:ln>
              <a:noFill/>
            </a:ln>
          </p:spPr>
        </p:sp>
        <p:sp>
          <p:nvSpPr>
            <p:cNvPr id="20" name="Line 20"/>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8" name="Group 28"/>
            <p:cNvGrpSpPr/>
            <p:nvPr/>
          </p:nvGrpSpPr>
          <p:grpSpPr>
            <a:xfrm>
              <a:off x="451866" y="6468428"/>
              <a:ext cx="9783070" cy="205359"/>
              <a:chOff x="451866" y="6468428"/>
              <a:chExt cx="9783070" cy="205359"/>
            </a:xfrm>
          </p:grpSpPr>
          <p:sp>
            <p:nvSpPr>
              <p:cNvPr id="21" name="TextBox 21"/>
              <p:cNvSpPr txBox="1"/>
              <p:nvPr/>
            </p:nvSpPr>
            <p:spPr>
              <a:xfrm>
                <a:off x="45186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1 业务背景</a:t>
                </a:r>
              </a:p>
            </p:txBody>
          </p:sp>
          <p:sp>
            <p:nvSpPr>
              <p:cNvPr id="22" name="TextBox 22"/>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3" name="TextBox 23"/>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4" name="TextBox 24"/>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5" name="TextBox 25"/>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6" name="TextBox 26"/>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7" name="TextBox 27"/>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29" name="TextBox 29"/>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10 / 70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882580" cy="1038035"/>
            <a:chOff x="441198" y="428625"/>
            <a:chExt cx="6882580" cy="1038035"/>
          </a:xfrm>
        </p:grpSpPr>
        <p:sp>
          <p:nvSpPr>
            <p:cNvPr id="2" name="TextBox 2"/>
            <p:cNvSpPr txBox="1"/>
            <p:nvPr/>
          </p:nvSpPr>
          <p:spPr>
            <a:xfrm>
              <a:off x="449580" y="428625"/>
              <a:ext cx="317544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第一篇·定问题 / 1.3 找出重复劳动</a:t>
              </a:r>
            </a:p>
          </p:txBody>
        </p:sp>
        <p:sp>
          <p:nvSpPr>
            <p:cNvPr id="3" name="TextBox 3"/>
            <p:cNvSpPr txBox="1"/>
            <p:nvPr/>
          </p:nvSpPr>
          <p:spPr>
            <a:xfrm>
              <a:off x="441198" y="850583"/>
              <a:ext cx="688258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收到“已修改”，还得重新连起三件事</a:t>
              </a:r>
            </a:p>
          </p:txBody>
        </p:sp>
      </p:grpSp>
      <p:grpSp>
        <p:nvGrpSpPr>
          <p:cNvPr id="17" name="Group 17"/>
          <p:cNvGrpSpPr/>
          <p:nvPr/>
        </p:nvGrpSpPr>
        <p:grpSpPr>
          <a:xfrm>
            <a:off x="1307592" y="2409825"/>
            <a:ext cx="9576816" cy="2291334"/>
            <a:chOff x="1307592" y="2409825"/>
            <a:chExt cx="9576816" cy="2291334"/>
          </a:xfrm>
        </p:grpSpPr>
        <p:sp>
          <p:nvSpPr>
            <p:cNvPr id="5" name="Line 5"/>
            <p:cNvSpPr/>
            <p:nvPr/>
          </p:nvSpPr>
          <p:spPr>
            <a:xfrm>
              <a:off x="2381250" y="3219450"/>
              <a:ext cx="7524750" cy="9525"/>
            </a:xfrm>
            <a:custGeom>
              <a:avLst/>
              <a:gdLst/>
              <a:ahLst/>
              <a:cxnLst/>
              <a:rect l="l" t="t" r="r" b="b"/>
              <a:pathLst>
                <a:path w="7524750" h="9525">
                  <a:moveTo>
                    <a:pt x="0" y="0"/>
                  </a:moveTo>
                  <a:lnTo>
                    <a:pt x="7524750" y="0"/>
                  </a:lnTo>
                </a:path>
              </a:pathLst>
            </a:custGeom>
            <a:noFill/>
            <a:ln w="47625">
              <a:solidFill>
                <a:schemeClr val="accent6"/>
              </a:solidFill>
            </a:ln>
          </p:spPr>
        </p:sp>
        <p:sp>
          <p:nvSpPr>
            <p:cNvPr id="6" name="Ellipse 6"/>
            <p:cNvSpPr/>
            <p:nvPr/>
          </p:nvSpPr>
          <p:spPr>
            <a:xfrm>
              <a:off x="1476375" y="2409825"/>
              <a:ext cx="1619250" cy="1619250"/>
            </a:xfrm>
            <a:prstGeom prst="ellipse">
              <a:avLst/>
            </a:prstGeom>
            <a:solidFill>
              <a:schemeClr val="lt2"/>
            </a:solidFill>
            <a:ln>
              <a:noFill/>
            </a:ln>
          </p:spPr>
        </p:sp>
        <p:sp>
          <p:nvSpPr>
            <p:cNvPr id="7" name="Ellipse 7"/>
            <p:cNvSpPr/>
            <p:nvPr/>
          </p:nvSpPr>
          <p:spPr>
            <a:xfrm>
              <a:off x="5286375" y="2409825"/>
              <a:ext cx="1619250" cy="1619250"/>
            </a:xfrm>
            <a:prstGeom prst="ellipse">
              <a:avLst/>
            </a:prstGeom>
            <a:solidFill>
              <a:schemeClr val="lt2"/>
            </a:solidFill>
            <a:ln>
              <a:noFill/>
            </a:ln>
          </p:spPr>
        </p:sp>
        <p:sp>
          <p:nvSpPr>
            <p:cNvPr id="8" name="Ellipse 8"/>
            <p:cNvSpPr/>
            <p:nvPr/>
          </p:nvSpPr>
          <p:spPr>
            <a:xfrm>
              <a:off x="9096375" y="2409825"/>
              <a:ext cx="1619250" cy="1619250"/>
            </a:xfrm>
            <a:prstGeom prst="ellipse">
              <a:avLst/>
            </a:prstGeom>
            <a:solidFill>
              <a:schemeClr val="lt2"/>
            </a:solidFill>
            <a:ln>
              <a:noFill/>
            </a:ln>
          </p:spPr>
        </p:sp>
        <p:grpSp>
          <p:nvGrpSpPr>
            <p:cNvPr id="12" name="Group 12"/>
            <p:cNvGrpSpPr/>
            <p:nvPr/>
          </p:nvGrpSpPr>
          <p:grpSpPr>
            <a:xfrm>
              <a:off x="1789176" y="3065145"/>
              <a:ext cx="8775192" cy="469392"/>
              <a:chOff x="1789176" y="3065145"/>
              <a:chExt cx="8775192" cy="469392"/>
            </a:xfrm>
          </p:grpSpPr>
          <p:sp>
            <p:nvSpPr>
              <p:cNvPr id="9" name="TextBox 9"/>
              <p:cNvSpPr txBox="1"/>
              <p:nvPr/>
            </p:nvSpPr>
            <p:spPr>
              <a:xfrm>
                <a:off x="1789176" y="3065145"/>
                <a:ext cx="993648" cy="469392"/>
              </a:xfrm>
              <a:prstGeom prst="rect">
                <a:avLst/>
              </a:prstGeom>
              <a:noFill/>
              <a:ln>
                <a:noFill/>
              </a:ln>
            </p:spPr>
            <p:txBody>
              <a:bodyPr wrap="none" lIns="0" tIns="0" rIns="0" bIns="0" anchor="t" anchorCtr="0">
                <a:spAutoFit/>
              </a:bodyPr>
              <a:lstStyle/>
              <a:p>
                <a:pPr algn="ctr"/>
                <a:r>
                  <a:rPr lang="zh-CN" sz="2400" b="1" dirty="0">
                    <a:solidFill>
                      <a:schemeClr val="accent1"/>
                    </a:solidFill>
                    <a:latin typeface="+mn-lt"/>
                    <a:ea typeface="+mn-ea"/>
                    <a:cs typeface="+mn-cs"/>
                  </a:rPr>
                  <a:t>旧意见</a:t>
                </a:r>
              </a:p>
            </p:txBody>
          </p:sp>
          <p:sp>
            <p:nvSpPr>
              <p:cNvPr id="10" name="TextBox 10"/>
              <p:cNvSpPr txBox="1"/>
              <p:nvPr/>
            </p:nvSpPr>
            <p:spPr>
              <a:xfrm>
                <a:off x="5599176" y="3065145"/>
                <a:ext cx="993648" cy="469392"/>
              </a:xfrm>
              <a:prstGeom prst="rect">
                <a:avLst/>
              </a:prstGeom>
              <a:noFill/>
              <a:ln>
                <a:noFill/>
              </a:ln>
            </p:spPr>
            <p:txBody>
              <a:bodyPr wrap="none" lIns="0" tIns="0" rIns="0" bIns="0" anchor="t" anchorCtr="0">
                <a:spAutoFit/>
              </a:bodyPr>
              <a:lstStyle/>
              <a:p>
                <a:pPr algn="ctr"/>
                <a:r>
                  <a:rPr lang="zh-CN" sz="2400" b="1" dirty="0">
                    <a:solidFill>
                      <a:schemeClr val="accent1"/>
                    </a:solidFill>
                    <a:latin typeface="+mn-lt"/>
                    <a:ea typeface="+mn-ea"/>
                    <a:cs typeface="+mn-cs"/>
                  </a:rPr>
                  <a:t>新原句</a:t>
                </a:r>
              </a:p>
            </p:txBody>
          </p:sp>
          <p:sp>
            <p:nvSpPr>
              <p:cNvPr id="11" name="TextBox 11"/>
              <p:cNvSpPr txBox="1"/>
              <p:nvPr/>
            </p:nvSpPr>
            <p:spPr>
              <a:xfrm>
                <a:off x="9247632" y="3065145"/>
                <a:ext cx="1316736" cy="469392"/>
              </a:xfrm>
              <a:prstGeom prst="rect">
                <a:avLst/>
              </a:prstGeom>
              <a:noFill/>
              <a:ln>
                <a:noFill/>
              </a:ln>
            </p:spPr>
            <p:txBody>
              <a:bodyPr wrap="none" lIns="0" tIns="0" rIns="0" bIns="0" anchor="t" anchorCtr="0">
                <a:spAutoFit/>
              </a:bodyPr>
              <a:lstStyle/>
              <a:p>
                <a:pPr algn="ctr"/>
                <a:r>
                  <a:rPr lang="zh-CN" sz="2400" b="1" dirty="0">
                    <a:solidFill>
                      <a:schemeClr val="accent1"/>
                    </a:solidFill>
                    <a:latin typeface="+mn-lt"/>
                    <a:ea typeface="+mn-ea"/>
                    <a:cs typeface="+mn-cs"/>
                  </a:rPr>
                  <a:t>当前依据</a:t>
                </a:r>
              </a:p>
            </p:txBody>
          </p:sp>
        </p:grpSp>
        <p:grpSp>
          <p:nvGrpSpPr>
            <p:cNvPr id="16" name="Group 16"/>
            <p:cNvGrpSpPr/>
            <p:nvPr/>
          </p:nvGrpSpPr>
          <p:grpSpPr>
            <a:xfrm>
              <a:off x="1307592" y="4349115"/>
              <a:ext cx="9576816" cy="352044"/>
              <a:chOff x="1307592" y="4349115"/>
              <a:chExt cx="9576816" cy="352044"/>
            </a:xfrm>
          </p:grpSpPr>
          <p:sp>
            <p:nvSpPr>
              <p:cNvPr id="13" name="TextBox 13"/>
              <p:cNvSpPr txBox="1"/>
              <p:nvPr/>
            </p:nvSpPr>
            <p:spPr>
              <a:xfrm>
                <a:off x="1307592" y="4349115"/>
                <a:ext cx="1956816"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原来哪里有问题？</a:t>
                </a:r>
              </a:p>
            </p:txBody>
          </p:sp>
          <p:sp>
            <p:nvSpPr>
              <p:cNvPr id="14" name="TextBox 14"/>
              <p:cNvSpPr txBox="1"/>
              <p:nvPr/>
            </p:nvSpPr>
            <p:spPr>
              <a:xfrm>
                <a:off x="5238750" y="4349115"/>
                <a:ext cx="1714500"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现在改成什么？</a:t>
                </a:r>
              </a:p>
            </p:txBody>
          </p:sp>
          <p:sp>
            <p:nvSpPr>
              <p:cNvPr id="15" name="TextBox 15"/>
              <p:cNvSpPr txBox="1"/>
              <p:nvPr/>
            </p:nvSpPr>
            <p:spPr>
              <a:xfrm>
                <a:off x="8927592" y="4349115"/>
                <a:ext cx="1956816"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条件仍然适用吗？</a:t>
                </a:r>
              </a:p>
            </p:txBody>
          </p:sp>
        </p:grpSp>
      </p:grpSp>
      <p:grpSp>
        <p:nvGrpSpPr>
          <p:cNvPr id="21" name="Group 21"/>
          <p:cNvGrpSpPr/>
          <p:nvPr/>
        </p:nvGrpSpPr>
        <p:grpSpPr>
          <a:xfrm>
            <a:off x="457200" y="5143500"/>
            <a:ext cx="11277600" cy="1028700"/>
            <a:chOff x="457200" y="5143500"/>
            <a:chExt cx="11277600" cy="1028700"/>
          </a:xfrm>
        </p:grpSpPr>
        <p:sp>
          <p:nvSpPr>
            <p:cNvPr id="18" name="Rectangle 18"/>
            <p:cNvSpPr/>
            <p:nvPr/>
          </p:nvSpPr>
          <p:spPr>
            <a:xfrm>
              <a:off x="457200" y="5143500"/>
              <a:ext cx="11277600" cy="1028700"/>
            </a:xfrm>
            <a:prstGeom prst="roundRect">
              <a:avLst>
                <a:gd name="adj" fmla="val 11111"/>
              </a:avLst>
            </a:prstGeom>
            <a:solidFill>
              <a:srgbClr val="FFFFFF"/>
            </a:solidFill>
            <a:ln>
              <a:noFill/>
            </a:ln>
          </p:spPr>
        </p:sp>
        <p:sp>
          <p:nvSpPr>
            <p:cNvPr id="19" name="TextBox 19"/>
            <p:cNvSpPr txBox="1"/>
            <p:nvPr/>
          </p:nvSpPr>
          <p:spPr>
            <a:xfrm>
              <a:off x="713232" y="5326380"/>
              <a:ext cx="595807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回顾：小周与小林，分别多做了一次什么动作？</a:t>
              </a:r>
            </a:p>
          </p:txBody>
        </p:sp>
        <p:sp>
          <p:nvSpPr>
            <p:cNvPr id="20" name="TextBox 20"/>
            <p:cNvSpPr txBox="1"/>
            <p:nvPr/>
          </p:nvSpPr>
          <p:spPr>
            <a:xfrm>
              <a:off x="714756" y="5749290"/>
              <a:ext cx="801471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记录查找资料、沟通往返、作者修改、逐条复核；先测量，再谈节省多少。</a:t>
              </a:r>
            </a:p>
          </p:txBody>
        </p:sp>
      </p:grpSp>
      <p:grpSp>
        <p:nvGrpSpPr>
          <p:cNvPr id="33" name="Group 33"/>
          <p:cNvGrpSpPr/>
          <p:nvPr/>
        </p:nvGrpSpPr>
        <p:grpSpPr>
          <a:xfrm>
            <a:off x="0" y="6286500"/>
            <a:ext cx="12192000" cy="571500"/>
            <a:chOff x="0" y="6286500"/>
            <a:chExt cx="12192000" cy="571500"/>
          </a:xfrm>
        </p:grpSpPr>
        <p:sp>
          <p:nvSpPr>
            <p:cNvPr id="22" name="Rectangle 22"/>
            <p:cNvSpPr/>
            <p:nvPr/>
          </p:nvSpPr>
          <p:spPr>
            <a:xfrm>
              <a:off x="0" y="6286500"/>
              <a:ext cx="12192000" cy="571500"/>
            </a:xfrm>
            <a:prstGeom prst="rect">
              <a:avLst/>
            </a:prstGeom>
            <a:solidFill>
              <a:srgbClr val="FFFFFF"/>
            </a:solidFill>
            <a:ln>
              <a:noFill/>
            </a:ln>
          </p:spPr>
        </p:sp>
        <p:sp>
          <p:nvSpPr>
            <p:cNvPr id="23" name="Line 23"/>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31" name="Group 31"/>
            <p:cNvGrpSpPr/>
            <p:nvPr/>
          </p:nvGrpSpPr>
          <p:grpSpPr>
            <a:xfrm>
              <a:off x="451866" y="6468428"/>
              <a:ext cx="9783070" cy="205359"/>
              <a:chOff x="451866" y="6468428"/>
              <a:chExt cx="9783070" cy="205359"/>
            </a:xfrm>
          </p:grpSpPr>
          <p:sp>
            <p:nvSpPr>
              <p:cNvPr id="24" name="TextBox 24"/>
              <p:cNvSpPr txBox="1"/>
              <p:nvPr/>
            </p:nvSpPr>
            <p:spPr>
              <a:xfrm>
                <a:off x="45186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1 业务背景</a:t>
                </a:r>
              </a:p>
            </p:txBody>
          </p:sp>
          <p:sp>
            <p:nvSpPr>
              <p:cNvPr id="25" name="TextBox 25"/>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6" name="TextBox 26"/>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7" name="TextBox 27"/>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8" name="TextBox 28"/>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9" name="TextBox 29"/>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30" name="TextBox 30"/>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32" name="TextBox 32"/>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11 / 70</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365531" cy="1038035"/>
            <a:chOff x="441198" y="428625"/>
            <a:chExt cx="5365531" cy="1038035"/>
          </a:xfrm>
        </p:grpSpPr>
        <p:sp>
          <p:nvSpPr>
            <p:cNvPr id="2" name="TextBox 2"/>
            <p:cNvSpPr txBox="1"/>
            <p:nvPr/>
          </p:nvSpPr>
          <p:spPr>
            <a:xfrm>
              <a:off x="449580" y="428625"/>
              <a:ext cx="2488882"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第一篇·定问题 / 第1章小结</a:t>
              </a:r>
            </a:p>
          </p:txBody>
        </p:sp>
        <p:sp>
          <p:nvSpPr>
            <p:cNvPr id="3" name="TextBox 3"/>
            <p:cNvSpPr txBox="1"/>
            <p:nvPr/>
          </p:nvSpPr>
          <p:spPr>
            <a:xfrm>
              <a:off x="441198" y="850583"/>
              <a:ext cx="5365531"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产物①：角色流程与三类痛点</a:t>
              </a:r>
            </a:p>
          </p:txBody>
        </p:sp>
      </p:grpSp>
      <p:grpSp>
        <p:nvGrpSpPr>
          <p:cNvPr id="8" name="Group 8"/>
          <p:cNvGrpSpPr/>
          <p:nvPr/>
        </p:nvGrpSpPr>
        <p:grpSpPr>
          <a:xfrm>
            <a:off x="457200" y="1781175"/>
            <a:ext cx="11277600" cy="1000125"/>
            <a:chOff x="457200" y="1781175"/>
            <a:chExt cx="11277600" cy="1000125"/>
          </a:xfrm>
        </p:grpSpPr>
        <p:sp>
          <p:nvSpPr>
            <p:cNvPr id="5" name="Rectangle 5"/>
            <p:cNvSpPr/>
            <p:nvPr/>
          </p:nvSpPr>
          <p:spPr>
            <a:xfrm>
              <a:off x="457200" y="1781175"/>
              <a:ext cx="11277600" cy="1000125"/>
            </a:xfrm>
            <a:prstGeom prst="roundRect">
              <a:avLst>
                <a:gd name="adj" fmla="val 11429"/>
              </a:avLst>
            </a:prstGeom>
            <a:solidFill>
              <a:schemeClr val="lt2"/>
            </a:solidFill>
            <a:ln>
              <a:noFill/>
            </a:ln>
          </p:spPr>
        </p:sp>
        <p:sp>
          <p:nvSpPr>
            <p:cNvPr id="6" name="TextBox 6"/>
            <p:cNvSpPr txBox="1"/>
            <p:nvPr/>
          </p:nvSpPr>
          <p:spPr>
            <a:xfrm>
              <a:off x="713232" y="1964055"/>
              <a:ext cx="7258507"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小周撰写 → 小林审核 → 小周修改 → 小林复核 → 按计划使用</a:t>
              </a:r>
            </a:p>
          </p:txBody>
        </p:sp>
        <p:sp>
          <p:nvSpPr>
            <p:cNvPr id="7" name="TextBox 7"/>
            <p:cNvSpPr txBox="1"/>
            <p:nvPr/>
          </p:nvSpPr>
          <p:spPr>
            <a:xfrm>
              <a:off x="716280" y="2409825"/>
              <a:ext cx="647700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产品、活动与履约负责人确认业务事实；内容负责人维护实际在用版本。</a:t>
              </a:r>
            </a:p>
          </p:txBody>
        </p:sp>
      </p:grpSp>
      <p:grpSp>
        <p:nvGrpSpPr>
          <p:cNvPr id="19" name="Group 19"/>
          <p:cNvGrpSpPr/>
          <p:nvPr/>
        </p:nvGrpSpPr>
        <p:grpSpPr>
          <a:xfrm>
            <a:off x="446532" y="3249930"/>
            <a:ext cx="11288268" cy="1934718"/>
            <a:chOff x="446532" y="3249930"/>
            <a:chExt cx="11288268" cy="1934718"/>
          </a:xfrm>
        </p:grpSpPr>
        <p:grpSp>
          <p:nvGrpSpPr>
            <p:cNvPr id="15" name="Group 15"/>
            <p:cNvGrpSpPr/>
            <p:nvPr/>
          </p:nvGrpSpPr>
          <p:grpSpPr>
            <a:xfrm>
              <a:off x="446532" y="3249930"/>
              <a:ext cx="9215704" cy="1934718"/>
              <a:chOff x="446532" y="3249930"/>
              <a:chExt cx="9215704" cy="1934718"/>
            </a:xfrm>
          </p:grpSpPr>
          <p:sp>
            <p:nvSpPr>
              <p:cNvPr id="9" name="TextBox 9"/>
              <p:cNvSpPr txBox="1"/>
              <p:nvPr/>
            </p:nvSpPr>
            <p:spPr>
              <a:xfrm>
                <a:off x="446532" y="324993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找资料</a:t>
                </a:r>
              </a:p>
            </p:txBody>
          </p:sp>
          <p:sp>
            <p:nvSpPr>
              <p:cNvPr id="10" name="TextBox 10"/>
              <p:cNvSpPr txBox="1"/>
              <p:nvPr/>
            </p:nvSpPr>
            <p:spPr>
              <a:xfrm>
                <a:off x="2827782" y="3249930"/>
                <a:ext cx="680618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文案读完，还要逐项找商品、活动、赠品与配送依据。</a:t>
                </a:r>
              </a:p>
            </p:txBody>
          </p:sp>
          <p:sp>
            <p:nvSpPr>
              <p:cNvPr id="11" name="TextBox 11"/>
              <p:cNvSpPr txBox="1"/>
              <p:nvPr/>
            </p:nvSpPr>
            <p:spPr>
              <a:xfrm>
                <a:off x="446532" y="4011930"/>
                <a:ext cx="115214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解释往返</a:t>
                </a:r>
              </a:p>
            </p:txBody>
          </p:sp>
          <p:sp>
            <p:nvSpPr>
              <p:cNvPr id="12" name="TextBox 12"/>
              <p:cNvSpPr txBox="1"/>
              <p:nvPr/>
            </p:nvSpPr>
            <p:spPr>
              <a:xfrm>
                <a:off x="2827782" y="4011930"/>
                <a:ext cx="65517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“补条件”太含糊，作者改了，审核还得再解释一次。</a:t>
                </a:r>
              </a:p>
            </p:txBody>
          </p:sp>
          <p:sp>
            <p:nvSpPr>
              <p:cNvPr id="13" name="TextBox 13"/>
              <p:cNvSpPr txBox="1"/>
              <p:nvPr/>
            </p:nvSpPr>
            <p:spPr>
              <a:xfrm>
                <a:off x="446532" y="4773930"/>
                <a:ext cx="115214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重新复核</a:t>
                </a:r>
              </a:p>
            </p:txBody>
          </p:sp>
          <p:sp>
            <p:nvSpPr>
              <p:cNvPr id="14" name="TextBox 14"/>
              <p:cNvSpPr txBox="1"/>
              <p:nvPr/>
            </p:nvSpPr>
            <p:spPr>
              <a:xfrm>
                <a:off x="2827782" y="4773930"/>
                <a:ext cx="683445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“已修改”之后，仍要重连旧意见、新原句与当前依据。</a:t>
                </a:r>
              </a:p>
            </p:txBody>
          </p:sp>
        </p:grpSp>
        <p:grpSp>
          <p:nvGrpSpPr>
            <p:cNvPr id="18" name="Group 18"/>
            <p:cNvGrpSpPr/>
            <p:nvPr/>
          </p:nvGrpSpPr>
          <p:grpSpPr>
            <a:xfrm>
              <a:off x="457200" y="3705225"/>
              <a:ext cx="11277600" cy="771525"/>
              <a:chOff x="457200" y="3705225"/>
              <a:chExt cx="11277600" cy="771525"/>
            </a:xfrm>
          </p:grpSpPr>
          <p:sp>
            <p:nvSpPr>
              <p:cNvPr id="16" name="Line 16"/>
              <p:cNvSpPr/>
              <p:nvPr/>
            </p:nvSpPr>
            <p:spPr>
              <a:xfrm>
                <a:off x="457200" y="3705225"/>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7" name="Line 17"/>
              <p:cNvSpPr/>
              <p:nvPr/>
            </p:nvSpPr>
            <p:spPr>
              <a:xfrm>
                <a:off x="457200" y="4467225"/>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grpSp>
      <p:grpSp>
        <p:nvGrpSpPr>
          <p:cNvPr id="22" name="Group 22"/>
          <p:cNvGrpSpPr/>
          <p:nvPr/>
        </p:nvGrpSpPr>
        <p:grpSpPr>
          <a:xfrm>
            <a:off x="457200" y="5572125"/>
            <a:ext cx="11277600" cy="600075"/>
            <a:chOff x="457200" y="5572125"/>
            <a:chExt cx="11277600" cy="600075"/>
          </a:xfrm>
        </p:grpSpPr>
        <p:sp>
          <p:nvSpPr>
            <p:cNvPr id="20" name="Rectangle 20"/>
            <p:cNvSpPr/>
            <p:nvPr/>
          </p:nvSpPr>
          <p:spPr>
            <a:xfrm>
              <a:off x="457200" y="5572125"/>
              <a:ext cx="11277600" cy="600075"/>
            </a:xfrm>
            <a:prstGeom prst="roundRect">
              <a:avLst>
                <a:gd name="adj" fmla="val 19048"/>
              </a:avLst>
            </a:prstGeom>
            <a:solidFill>
              <a:schemeClr val="accent1"/>
            </a:solidFill>
            <a:ln>
              <a:noFill/>
            </a:ln>
          </p:spPr>
        </p:sp>
        <p:sp>
          <p:nvSpPr>
            <p:cNvPr id="21" name="TextBox 21"/>
            <p:cNvSpPr txBox="1"/>
            <p:nvPr/>
          </p:nvSpPr>
          <p:spPr>
            <a:xfrm>
              <a:off x="713232" y="5735955"/>
              <a:ext cx="6580022"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下一章：把“哪里费力”，转成“首版让谁少做什么”。</a:t>
              </a:r>
            </a:p>
          </p:txBody>
        </p:sp>
      </p:grpSp>
      <p:sp>
        <p:nvSpPr>
          <p:cNvPr id="23" name="TextBox 23"/>
          <p:cNvSpPr txBox="1"/>
          <p:nvPr/>
        </p:nvSpPr>
        <p:spPr>
          <a:xfrm>
            <a:off x="451866" y="6468428"/>
            <a:ext cx="241363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 · 产物已形成 → 2 目标范围</a:t>
            </a:r>
          </a:p>
        </p:txBody>
      </p:sp>
      <p:sp>
        <p:nvSpPr>
          <p:cNvPr id="24" name="TextBox 24"/>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12 / 70</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438150" y="523875"/>
            <a:ext cx="3268980" cy="1443990"/>
            <a:chOff x="438150" y="523875"/>
            <a:chExt cx="3268980" cy="1443990"/>
          </a:xfrm>
        </p:grpSpPr>
        <p:sp>
          <p:nvSpPr>
            <p:cNvPr id="2" name="TextBox 2"/>
            <p:cNvSpPr txBox="1"/>
            <p:nvPr/>
          </p:nvSpPr>
          <p:spPr>
            <a:xfrm>
              <a:off x="449580" y="523875"/>
              <a:ext cx="2085022"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第一篇·定问题 / 第2章</a:t>
              </a:r>
            </a:p>
          </p:txBody>
        </p:sp>
        <p:sp>
          <p:nvSpPr>
            <p:cNvPr id="3" name="TextBox 3"/>
            <p:cNvSpPr txBox="1"/>
            <p:nvPr/>
          </p:nvSpPr>
          <p:spPr>
            <a:xfrm>
              <a:off x="438150" y="1034415"/>
              <a:ext cx="3268980" cy="933450"/>
            </a:xfrm>
            <a:prstGeom prst="rect">
              <a:avLst/>
            </a:prstGeom>
            <a:noFill/>
            <a:ln>
              <a:noFill/>
            </a:ln>
          </p:spPr>
          <p:txBody>
            <a:bodyPr wrap="none" lIns="0" tIns="0" rIns="0" bIns="0" anchor="t" anchorCtr="0">
              <a:spAutoFit/>
            </a:bodyPr>
            <a:lstStyle/>
            <a:p>
              <a:pPr algn="l"/>
              <a:r>
                <a:rPr lang="zh-CN" sz="4800" b="1" dirty="0">
                  <a:solidFill>
                    <a:srgbClr val="FFFFFF"/>
                  </a:solidFill>
                  <a:latin typeface="+mn-lt"/>
                  <a:ea typeface="+mn-ea"/>
                  <a:cs typeface="+mn-cs"/>
                </a:rPr>
                <a:t>目标与范围</a:t>
              </a:r>
            </a:p>
          </p:txBody>
        </p:sp>
      </p:grpSp>
      <p:grpSp>
        <p:nvGrpSpPr>
          <p:cNvPr id="7" name="Group 7"/>
          <p:cNvGrpSpPr/>
          <p:nvPr/>
        </p:nvGrpSpPr>
        <p:grpSpPr>
          <a:xfrm>
            <a:off x="441198" y="2231708"/>
            <a:ext cx="2932938" cy="1993201"/>
            <a:chOff x="441198" y="2231708"/>
            <a:chExt cx="2932938" cy="1993201"/>
          </a:xfrm>
        </p:grpSpPr>
        <p:sp>
          <p:nvSpPr>
            <p:cNvPr id="5" name="TextBox 5"/>
            <p:cNvSpPr txBox="1"/>
            <p:nvPr/>
          </p:nvSpPr>
          <p:spPr>
            <a:xfrm>
              <a:off x="441198" y="2231708"/>
              <a:ext cx="2832354" cy="1225677"/>
            </a:xfrm>
            <a:prstGeom prst="rect">
              <a:avLst/>
            </a:prstGeom>
            <a:noFill/>
            <a:ln>
              <a:noFill/>
            </a:ln>
          </p:spPr>
          <p:txBody>
            <a:bodyPr wrap="none" lIns="0" tIns="0" rIns="0" bIns="0" anchor="t" anchorCtr="0">
              <a:spAutoFit/>
            </a:bodyPr>
            <a:lstStyle/>
            <a:p>
              <a:pPr algn="l">
                <a:lnSpc>
                  <a:spcPts val="4800"/>
                </a:lnSpc>
              </a:pPr>
              <a:r>
                <a:rPr lang="zh-CN" sz="3150" b="1" dirty="0">
                  <a:solidFill>
                    <a:srgbClr val="FFFFFF"/>
                  </a:solidFill>
                  <a:latin typeface="+mn-lt"/>
                  <a:ea typeface="+mn-ea"/>
                  <a:cs typeface="+mn-cs"/>
                </a:rPr>
                <a:t>第一版，</a:t>
              </a:r>
              <a:br/>
              <a:r>
                <a:rPr lang="zh-CN" sz="3150" b="1" dirty="0">
                  <a:solidFill>
                    <a:srgbClr val="FFFFFF"/>
                  </a:solidFill>
                  <a:latin typeface="+mn-lt"/>
                  <a:ea typeface="+mn-ea"/>
                  <a:cs typeface="+mn-cs"/>
                </a:rPr>
                <a:t>让谁少做什么？</a:t>
              </a:r>
            </a:p>
          </p:txBody>
        </p:sp>
        <p:sp>
          <p:nvSpPr>
            <p:cNvPr id="6" name="TextBox 6"/>
            <p:cNvSpPr txBox="1"/>
            <p:nvPr/>
          </p:nvSpPr>
          <p:spPr>
            <a:xfrm>
              <a:off x="448056" y="3872865"/>
              <a:ext cx="2926080"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输入：上一章的三类痛点。</a:t>
              </a:r>
            </a:p>
          </p:txBody>
        </p:sp>
      </p:grpSp>
      <p:grpSp>
        <p:nvGrpSpPr>
          <p:cNvPr id="11" name="Group 11"/>
          <p:cNvGrpSpPr/>
          <p:nvPr/>
        </p:nvGrpSpPr>
        <p:grpSpPr>
          <a:xfrm>
            <a:off x="5295900" y="2095500"/>
            <a:ext cx="3976459" cy="2381250"/>
            <a:chOff x="5295900" y="2095500"/>
            <a:chExt cx="3976459" cy="2381250"/>
          </a:xfrm>
        </p:grpSpPr>
        <p:sp>
          <p:nvSpPr>
            <p:cNvPr id="8" name="Line 8"/>
            <p:cNvSpPr/>
            <p:nvPr/>
          </p:nvSpPr>
          <p:spPr>
            <a:xfrm>
              <a:off x="5295900" y="2095500"/>
              <a:ext cx="9525" cy="2381250"/>
            </a:xfrm>
            <a:custGeom>
              <a:avLst/>
              <a:gdLst/>
              <a:ahLst/>
              <a:cxnLst/>
              <a:rect l="l" t="t" r="r" b="b"/>
              <a:pathLst>
                <a:path w="9525" h="2381250">
                  <a:moveTo>
                    <a:pt x="0" y="0"/>
                  </a:moveTo>
                  <a:lnTo>
                    <a:pt x="0" y="2381250"/>
                  </a:lnTo>
                </a:path>
              </a:pathLst>
            </a:custGeom>
            <a:noFill/>
            <a:ln w="9525">
              <a:solidFill>
                <a:srgbClr val="617673"/>
              </a:solidFill>
            </a:ln>
          </p:spPr>
        </p:sp>
        <p:sp>
          <p:nvSpPr>
            <p:cNvPr id="9" name="TextBox 9"/>
            <p:cNvSpPr txBox="1"/>
            <p:nvPr/>
          </p:nvSpPr>
          <p:spPr>
            <a:xfrm>
              <a:off x="5590032" y="2526030"/>
              <a:ext cx="3116923"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2.1 把提效写成工作变化</a:t>
              </a:r>
            </a:p>
          </p:txBody>
        </p:sp>
        <p:sp>
          <p:nvSpPr>
            <p:cNvPr id="10" name="TextBox 10"/>
            <p:cNvSpPr txBox="1"/>
            <p:nvPr/>
          </p:nvSpPr>
          <p:spPr>
            <a:xfrm>
              <a:off x="5590032" y="3573780"/>
              <a:ext cx="3682327"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2.2 划定首版范围与人工责任</a:t>
              </a:r>
            </a:p>
          </p:txBody>
        </p:sp>
      </p:grpSp>
      <p:grpSp>
        <p:nvGrpSpPr>
          <p:cNvPr id="15" name="Group 15"/>
          <p:cNvGrpSpPr/>
          <p:nvPr/>
        </p:nvGrpSpPr>
        <p:grpSpPr>
          <a:xfrm>
            <a:off x="457200" y="5048250"/>
            <a:ext cx="11277600" cy="952500"/>
            <a:chOff x="457200" y="5048250"/>
            <a:chExt cx="11277600" cy="952500"/>
          </a:xfrm>
        </p:grpSpPr>
        <p:sp>
          <p:nvSpPr>
            <p:cNvPr id="12" name="Rectangle 12"/>
            <p:cNvSpPr/>
            <p:nvPr/>
          </p:nvSpPr>
          <p:spPr>
            <a:xfrm>
              <a:off x="457200" y="5048250"/>
              <a:ext cx="11277600" cy="952500"/>
            </a:xfrm>
            <a:prstGeom prst="roundRect">
              <a:avLst>
                <a:gd name="adj" fmla="val 12000"/>
              </a:avLst>
            </a:prstGeom>
            <a:solidFill>
              <a:schemeClr val="accent1"/>
            </a:solidFill>
            <a:ln>
              <a:noFill/>
            </a:ln>
          </p:spPr>
        </p:sp>
        <p:sp>
          <p:nvSpPr>
            <p:cNvPr id="13" name="TextBox 13"/>
            <p:cNvSpPr txBox="1"/>
            <p:nvPr/>
          </p:nvSpPr>
          <p:spPr>
            <a:xfrm>
              <a:off x="716280" y="5267325"/>
              <a:ext cx="1226820" cy="293370"/>
            </a:xfrm>
            <a:prstGeom prst="rect">
              <a:avLst/>
            </a:prstGeom>
            <a:noFill/>
            <a:ln>
              <a:noFill/>
            </a:ln>
          </p:spPr>
          <p:txBody>
            <a:bodyPr wrap="none" lIns="0" tIns="0" rIns="0" bIns="0" anchor="t" anchorCtr="0">
              <a:spAutoFit/>
            </a:bodyPr>
            <a:lstStyle/>
            <a:p>
              <a:pPr algn="l"/>
              <a:r>
                <a:rPr lang="zh-CN" sz="1500" dirty="0">
                  <a:solidFill>
                    <a:srgbClr val="E8F2EF"/>
                  </a:solidFill>
                  <a:latin typeface="+mn-lt"/>
                  <a:ea typeface="+mn-ea"/>
                  <a:cs typeface="+mn-cs"/>
                </a:rPr>
                <a:t>本章完成标志</a:t>
              </a:r>
            </a:p>
          </p:txBody>
        </p:sp>
        <p:sp>
          <p:nvSpPr>
            <p:cNvPr id="14" name="TextBox 14"/>
            <p:cNvSpPr txBox="1"/>
            <p:nvPr/>
          </p:nvSpPr>
          <p:spPr>
            <a:xfrm>
              <a:off x="713232" y="5583555"/>
              <a:ext cx="5958078"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说清首版目标、适用范围和正式决定由谁承担。</a:t>
              </a:r>
            </a:p>
          </p:txBody>
        </p:sp>
      </p:grpSp>
      <p:sp>
        <p:nvSpPr>
          <p:cNvPr id="16" name="TextBox 16"/>
          <p:cNvSpPr txBox="1"/>
          <p:nvPr/>
        </p:nvSpPr>
        <p:spPr>
          <a:xfrm>
            <a:off x="451866" y="6468428"/>
            <a:ext cx="1607934" cy="205359"/>
          </a:xfrm>
          <a:prstGeom prst="rect">
            <a:avLst/>
          </a:prstGeom>
          <a:noFill/>
          <a:ln>
            <a:noFill/>
          </a:ln>
        </p:spPr>
        <p:txBody>
          <a:bodyPr wrap="none" lIns="0" tIns="0" rIns="0" bIns="0" anchor="t" anchorCtr="0">
            <a:spAutoFit/>
          </a:bodyPr>
          <a:lstStyle/>
          <a:p>
            <a:pPr algn="l"/>
            <a:r>
              <a:rPr lang="zh-CN" sz="1050" dirty="0">
                <a:solidFill>
                  <a:srgbClr val="E8F2EF"/>
                </a:solidFill>
                <a:latin typeface="+mn-lt"/>
                <a:ea typeface="+mn-ea"/>
                <a:cs typeface="+mn-cs"/>
              </a:rPr>
              <a:t>定问题 → 做方案 → 验落地</a:t>
            </a:r>
          </a:p>
        </p:txBody>
      </p:sp>
      <p:sp>
        <p:nvSpPr>
          <p:cNvPr id="17" name="TextBox 17"/>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rgbClr val="E8F2EF"/>
                </a:solidFill>
                <a:latin typeface="+mn-lt"/>
                <a:ea typeface="+mn-ea"/>
                <a:cs typeface="+mn-cs"/>
              </a:rPr>
              <a:t>13 / 70</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120640" cy="1038035"/>
            <a:chOff x="441198" y="428625"/>
            <a:chExt cx="5120640" cy="1038035"/>
          </a:xfrm>
        </p:grpSpPr>
        <p:sp>
          <p:nvSpPr>
            <p:cNvPr id="2" name="TextBox 2"/>
            <p:cNvSpPr txBox="1"/>
            <p:nvPr/>
          </p:nvSpPr>
          <p:spPr>
            <a:xfrm>
              <a:off x="449580" y="428625"/>
              <a:ext cx="3175445"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第一篇·定问题 / 2.1 定义提效目标</a:t>
              </a:r>
            </a:p>
          </p:txBody>
        </p:sp>
        <p:sp>
          <p:nvSpPr>
            <p:cNvPr id="3" name="TextBox 3"/>
            <p:cNvSpPr txBox="1"/>
            <p:nvPr/>
          </p:nvSpPr>
          <p:spPr>
            <a:xfrm>
              <a:off x="441198" y="850583"/>
              <a:ext cx="5120640"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第一版，要让谁少做什么？</a:t>
              </a:r>
            </a:p>
          </p:txBody>
        </p:sp>
      </p:grpSp>
      <p:grpSp>
        <p:nvGrpSpPr>
          <p:cNvPr id="8" name="Group 8"/>
          <p:cNvGrpSpPr/>
          <p:nvPr/>
        </p:nvGrpSpPr>
        <p:grpSpPr>
          <a:xfrm>
            <a:off x="438150" y="1853565"/>
            <a:ext cx="7271385" cy="1111758"/>
            <a:chOff x="438150" y="1853565"/>
            <a:chExt cx="7271385" cy="1111758"/>
          </a:xfrm>
        </p:grpSpPr>
        <p:sp>
          <p:nvSpPr>
            <p:cNvPr id="5" name="TextBox 5"/>
            <p:cNvSpPr txBox="1"/>
            <p:nvPr/>
          </p:nvSpPr>
          <p:spPr>
            <a:xfrm>
              <a:off x="438150" y="1853565"/>
              <a:ext cx="748894" cy="933450"/>
            </a:xfrm>
            <a:prstGeom prst="rect">
              <a:avLst/>
            </a:prstGeom>
            <a:noFill/>
            <a:ln>
              <a:noFill/>
            </a:ln>
          </p:spPr>
          <p:txBody>
            <a:bodyPr wrap="none" lIns="0" tIns="0" rIns="0" bIns="0" anchor="t" anchorCtr="0">
              <a:spAutoFit/>
            </a:bodyPr>
            <a:lstStyle/>
            <a:p>
              <a:pPr algn="l"/>
              <a:r>
                <a:rPr lang="zh-CN" sz="4800" dirty="0">
                  <a:solidFill>
                    <a:schemeClr val="accent3"/>
                  </a:solidFill>
                  <a:latin typeface="+mn-lt"/>
                  <a:ea typeface="+mn-ea"/>
                  <a:cs typeface="+mn-cs"/>
                </a:rPr>
                <a:t>01</a:t>
              </a:r>
            </a:p>
          </p:txBody>
        </p:sp>
        <p:sp>
          <p:nvSpPr>
            <p:cNvPr id="6" name="TextBox 6"/>
            <p:cNvSpPr txBox="1"/>
            <p:nvPr/>
          </p:nvSpPr>
          <p:spPr>
            <a:xfrm>
              <a:off x="1749933" y="2074545"/>
              <a:ext cx="2286000"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依据来到原句旁</a:t>
              </a:r>
            </a:p>
          </p:txBody>
        </p:sp>
        <p:sp>
          <p:nvSpPr>
            <p:cNvPr id="7" name="TextBox 7"/>
            <p:cNvSpPr txBox="1"/>
            <p:nvPr/>
          </p:nvSpPr>
          <p:spPr>
            <a:xfrm>
              <a:off x="1751457" y="2554605"/>
              <a:ext cx="5958078" cy="410718"/>
            </a:xfrm>
            <a:prstGeom prst="rect">
              <a:avLst/>
            </a:prstGeom>
            <a:noFill/>
            <a:ln>
              <a:noFill/>
            </a:ln>
          </p:spPr>
          <p:txBody>
            <a:bodyPr wrap="none" lIns="0" tIns="0" rIns="0" bIns="0" anchor="t" anchorCtr="0">
              <a:spAutoFit/>
            </a:bodyPr>
            <a:lstStyle/>
            <a:p>
              <a:pPr algn="l"/>
              <a:r>
                <a:rPr lang="zh-CN" sz="2100" dirty="0">
                  <a:solidFill>
                    <a:srgbClr val="E8F2EF"/>
                  </a:solidFill>
                  <a:latin typeface="+mn-lt"/>
                  <a:ea typeface="+mn-ea"/>
                  <a:cs typeface="+mn-cs"/>
                </a:rPr>
                <a:t>作者与审核人员，少重复查找、定位和整理材料</a:t>
              </a:r>
            </a:p>
          </p:txBody>
        </p:sp>
      </p:grpSp>
      <p:grpSp>
        <p:nvGrpSpPr>
          <p:cNvPr id="12" name="Group 12"/>
          <p:cNvGrpSpPr/>
          <p:nvPr/>
        </p:nvGrpSpPr>
        <p:grpSpPr>
          <a:xfrm>
            <a:off x="438150" y="3139440"/>
            <a:ext cx="6705981" cy="1111758"/>
            <a:chOff x="438150" y="3139440"/>
            <a:chExt cx="6705981" cy="1111758"/>
          </a:xfrm>
        </p:grpSpPr>
        <p:sp>
          <p:nvSpPr>
            <p:cNvPr id="9" name="TextBox 9"/>
            <p:cNvSpPr txBox="1"/>
            <p:nvPr/>
          </p:nvSpPr>
          <p:spPr>
            <a:xfrm>
              <a:off x="438150" y="3139440"/>
              <a:ext cx="748894" cy="933450"/>
            </a:xfrm>
            <a:prstGeom prst="rect">
              <a:avLst/>
            </a:prstGeom>
            <a:noFill/>
            <a:ln>
              <a:noFill/>
            </a:ln>
          </p:spPr>
          <p:txBody>
            <a:bodyPr wrap="none" lIns="0" tIns="0" rIns="0" bIns="0" anchor="t" anchorCtr="0">
              <a:spAutoFit/>
            </a:bodyPr>
            <a:lstStyle/>
            <a:p>
              <a:pPr algn="l"/>
              <a:r>
                <a:rPr lang="zh-CN" sz="4800" dirty="0">
                  <a:solidFill>
                    <a:schemeClr val="accent3"/>
                  </a:solidFill>
                  <a:latin typeface="+mn-lt"/>
                  <a:ea typeface="+mn-ea"/>
                  <a:cs typeface="+mn-cs"/>
                </a:rPr>
                <a:t>02</a:t>
              </a:r>
            </a:p>
          </p:txBody>
        </p:sp>
        <p:sp>
          <p:nvSpPr>
            <p:cNvPr id="10" name="TextBox 10"/>
            <p:cNvSpPr txBox="1"/>
            <p:nvPr/>
          </p:nvSpPr>
          <p:spPr>
            <a:xfrm>
              <a:off x="1749933" y="3360420"/>
              <a:ext cx="325526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意见具体，复核接得上</a:t>
              </a:r>
            </a:p>
          </p:txBody>
        </p:sp>
        <p:sp>
          <p:nvSpPr>
            <p:cNvPr id="11" name="TextBox 11"/>
            <p:cNvSpPr txBox="1"/>
            <p:nvPr/>
          </p:nvSpPr>
          <p:spPr>
            <a:xfrm>
              <a:off x="1751457" y="3840480"/>
              <a:ext cx="5392674" cy="410718"/>
            </a:xfrm>
            <a:prstGeom prst="rect">
              <a:avLst/>
            </a:prstGeom>
            <a:noFill/>
            <a:ln>
              <a:noFill/>
            </a:ln>
          </p:spPr>
          <p:txBody>
            <a:bodyPr wrap="none" lIns="0" tIns="0" rIns="0" bIns="0" anchor="t" anchorCtr="0">
              <a:spAutoFit/>
            </a:bodyPr>
            <a:lstStyle/>
            <a:p>
              <a:pPr algn="l"/>
              <a:r>
                <a:rPr lang="zh-CN" sz="2100" dirty="0">
                  <a:solidFill>
                    <a:srgbClr val="E8F2EF"/>
                  </a:solidFill>
                  <a:latin typeface="+mn-lt"/>
                  <a:ea typeface="+mn-ea"/>
                  <a:cs typeface="+mn-cs"/>
                </a:rPr>
                <a:t>少解释同一个问题，少重连旧意见与新版本</a:t>
              </a:r>
            </a:p>
          </p:txBody>
        </p:sp>
      </p:grpSp>
      <p:grpSp>
        <p:nvGrpSpPr>
          <p:cNvPr id="16" name="Group 16"/>
          <p:cNvGrpSpPr/>
          <p:nvPr/>
        </p:nvGrpSpPr>
        <p:grpSpPr>
          <a:xfrm>
            <a:off x="438150" y="4425315"/>
            <a:ext cx="6705981" cy="1111758"/>
            <a:chOff x="438150" y="4425315"/>
            <a:chExt cx="6705981" cy="1111758"/>
          </a:xfrm>
        </p:grpSpPr>
        <p:sp>
          <p:nvSpPr>
            <p:cNvPr id="13" name="TextBox 13"/>
            <p:cNvSpPr txBox="1"/>
            <p:nvPr/>
          </p:nvSpPr>
          <p:spPr>
            <a:xfrm>
              <a:off x="438150" y="4425315"/>
              <a:ext cx="748894" cy="933450"/>
            </a:xfrm>
            <a:prstGeom prst="rect">
              <a:avLst/>
            </a:prstGeom>
            <a:noFill/>
            <a:ln>
              <a:noFill/>
            </a:ln>
          </p:spPr>
          <p:txBody>
            <a:bodyPr wrap="none" lIns="0" tIns="0" rIns="0" bIns="0" anchor="t" anchorCtr="0">
              <a:spAutoFit/>
            </a:bodyPr>
            <a:lstStyle/>
            <a:p>
              <a:pPr algn="l"/>
              <a:r>
                <a:rPr lang="zh-CN" sz="4800" dirty="0">
                  <a:solidFill>
                    <a:schemeClr val="accent3"/>
                  </a:solidFill>
                  <a:latin typeface="+mn-lt"/>
                  <a:ea typeface="+mn-ea"/>
                  <a:cs typeface="+mn-cs"/>
                </a:rPr>
                <a:t>03</a:t>
              </a:r>
            </a:p>
          </p:txBody>
        </p:sp>
        <p:sp>
          <p:nvSpPr>
            <p:cNvPr id="14" name="TextBox 14"/>
            <p:cNvSpPr txBox="1"/>
            <p:nvPr/>
          </p:nvSpPr>
          <p:spPr>
            <a:xfrm>
              <a:off x="1749933" y="4646295"/>
              <a:ext cx="3578352"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条件变化，找对在用内容</a:t>
              </a:r>
            </a:p>
          </p:txBody>
        </p:sp>
        <p:sp>
          <p:nvSpPr>
            <p:cNvPr id="15" name="TextBox 15"/>
            <p:cNvSpPr txBox="1"/>
            <p:nvPr/>
          </p:nvSpPr>
          <p:spPr>
            <a:xfrm>
              <a:off x="1751457" y="5126355"/>
              <a:ext cx="5392674" cy="410718"/>
            </a:xfrm>
            <a:prstGeom prst="rect">
              <a:avLst/>
            </a:prstGeom>
            <a:noFill/>
            <a:ln>
              <a:noFill/>
            </a:ln>
          </p:spPr>
          <p:txBody>
            <a:bodyPr wrap="none" lIns="0" tIns="0" rIns="0" bIns="0" anchor="t" anchorCtr="0">
              <a:spAutoFit/>
            </a:bodyPr>
            <a:lstStyle/>
            <a:p>
              <a:pPr algn="l"/>
              <a:r>
                <a:rPr lang="zh-CN" sz="2100" dirty="0">
                  <a:solidFill>
                    <a:srgbClr val="E8F2EF"/>
                  </a:solidFill>
                  <a:latin typeface="+mn-lt"/>
                  <a:ea typeface="+mn-ea"/>
                  <a:cs typeface="+mn-cs"/>
                </a:rPr>
                <a:t>审核与内容负责人，少找范围、少找维护人</a:t>
              </a:r>
            </a:p>
          </p:txBody>
        </p:sp>
      </p:grpSp>
      <p:grpSp>
        <p:nvGrpSpPr>
          <p:cNvPr id="28" name="Group 28"/>
          <p:cNvGrpSpPr/>
          <p:nvPr/>
        </p:nvGrpSpPr>
        <p:grpSpPr>
          <a:xfrm>
            <a:off x="0" y="6286500"/>
            <a:ext cx="12192000" cy="571500"/>
            <a:chOff x="0" y="6286500"/>
            <a:chExt cx="12192000" cy="571500"/>
          </a:xfrm>
        </p:grpSpPr>
        <p:sp>
          <p:nvSpPr>
            <p:cNvPr id="17" name="Rectangle 17"/>
            <p:cNvSpPr/>
            <p:nvPr/>
          </p:nvSpPr>
          <p:spPr>
            <a:xfrm>
              <a:off x="0" y="6286500"/>
              <a:ext cx="12192000" cy="571500"/>
            </a:xfrm>
            <a:prstGeom prst="rect">
              <a:avLst/>
            </a:prstGeom>
            <a:solidFill>
              <a:srgbClr val="FFFFFF"/>
            </a:solidFill>
            <a:ln>
              <a:noFill/>
            </a:ln>
          </p:spPr>
        </p:sp>
        <p:sp>
          <p:nvSpPr>
            <p:cNvPr id="18" name="Line 18"/>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6" name="Group 26"/>
            <p:cNvGrpSpPr/>
            <p:nvPr/>
          </p:nvGrpSpPr>
          <p:grpSpPr>
            <a:xfrm>
              <a:off x="451866" y="6468428"/>
              <a:ext cx="9783070" cy="205359"/>
              <a:chOff x="451866" y="6468428"/>
              <a:chExt cx="9783070" cy="205359"/>
            </a:xfrm>
          </p:grpSpPr>
          <p:sp>
            <p:nvSpPr>
              <p:cNvPr id="19" name="TextBox 19"/>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0" name="TextBox 20"/>
              <p:cNvSpPr txBox="1"/>
              <p:nvPr/>
            </p:nvSpPr>
            <p:spPr>
              <a:xfrm>
                <a:off x="1966341"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2 目标范围</a:t>
                </a:r>
              </a:p>
            </p:txBody>
          </p:sp>
          <p:sp>
            <p:nvSpPr>
              <p:cNvPr id="21" name="TextBox 21"/>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2" name="TextBox 22"/>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3" name="TextBox 23"/>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4" name="TextBox 24"/>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5" name="TextBox 25"/>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27" name="TextBox 27"/>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14 / 70</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392799" cy="1038035"/>
            <a:chOff x="441198" y="428625"/>
            <a:chExt cx="6392799" cy="1038035"/>
          </a:xfrm>
        </p:grpSpPr>
        <p:sp>
          <p:nvSpPr>
            <p:cNvPr id="2" name="TextBox 2"/>
            <p:cNvSpPr txBox="1"/>
            <p:nvPr/>
          </p:nvSpPr>
          <p:spPr>
            <a:xfrm>
              <a:off x="449580" y="428625"/>
              <a:ext cx="317544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第一篇·定问题 / 2.2 划定首版范围</a:t>
              </a:r>
            </a:p>
          </p:txBody>
        </p:sp>
        <p:sp>
          <p:nvSpPr>
            <p:cNvPr id="3" name="TextBox 3"/>
            <p:cNvSpPr txBox="1"/>
            <p:nvPr/>
          </p:nvSpPr>
          <p:spPr>
            <a:xfrm>
              <a:off x="441198" y="850583"/>
              <a:ext cx="6392799"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先验证审核提效，再评估自动审核</a:t>
              </a:r>
            </a:p>
          </p:txBody>
        </p:sp>
      </p:grpSp>
      <p:grpSp>
        <p:nvGrpSpPr>
          <p:cNvPr id="8" name="Group 8"/>
          <p:cNvGrpSpPr/>
          <p:nvPr/>
        </p:nvGrpSpPr>
        <p:grpSpPr>
          <a:xfrm>
            <a:off x="457200" y="1809750"/>
            <a:ext cx="7143750" cy="3695700"/>
            <a:chOff x="457200" y="1809750"/>
            <a:chExt cx="7143750" cy="3695700"/>
          </a:xfrm>
        </p:grpSpPr>
        <p:sp>
          <p:nvSpPr>
            <p:cNvPr id="5" name="Rectangle 5"/>
            <p:cNvSpPr/>
            <p:nvPr/>
          </p:nvSpPr>
          <p:spPr>
            <a:xfrm>
              <a:off x="457200" y="1809750"/>
              <a:ext cx="7143750" cy="3695700"/>
            </a:xfrm>
            <a:prstGeom prst="roundRect">
              <a:avLst>
                <a:gd name="adj" fmla="val 3093"/>
              </a:avLst>
            </a:prstGeom>
            <a:solidFill>
              <a:schemeClr val="lt2"/>
            </a:solidFill>
            <a:ln>
              <a:noFill/>
            </a:ln>
          </p:spPr>
        </p:sp>
        <p:sp>
          <p:nvSpPr>
            <p:cNvPr id="6" name="TextBox 6"/>
            <p:cNvSpPr txBox="1"/>
            <p:nvPr/>
          </p:nvSpPr>
          <p:spPr>
            <a:xfrm>
              <a:off x="730758" y="2065020"/>
              <a:ext cx="163982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第一版覆盖</a:t>
              </a:r>
            </a:p>
          </p:txBody>
        </p:sp>
        <p:sp>
          <p:nvSpPr>
            <p:cNvPr id="7" name="TextBox 7"/>
            <p:cNvSpPr txBox="1"/>
            <p:nvPr/>
          </p:nvSpPr>
          <p:spPr>
            <a:xfrm>
              <a:off x="732282" y="2716530"/>
              <a:ext cx="4221861" cy="2277618"/>
            </a:xfrm>
            <a:prstGeom prst="rect">
              <a:avLst/>
            </a:prstGeom>
            <a:noFill/>
            <a:ln>
              <a:noFill/>
            </a:ln>
          </p:spPr>
          <p:txBody>
            <a:bodyPr wrap="none" lIns="0" tIns="0" rIns="0" bIns="0" anchor="t" anchorCtr="0">
              <a:spAutoFit/>
            </a:bodyPr>
            <a:lstStyle/>
            <a:p>
              <a:pPr algn="l">
                <a:lnSpc>
                  <a:spcPts val="3675"/>
                </a:lnSpc>
              </a:pPr>
              <a:r>
                <a:rPr lang="zh-CN" sz="2100" dirty="0">
                  <a:solidFill>
                    <a:schemeClr val="dk1"/>
                  </a:solidFill>
                  <a:latin typeface="+mn-lt"/>
                  <a:ea typeface="+mn-ea"/>
                  <a:cs typeface="+mn-cs"/>
                </a:rPr>
                <a:t>P1等资料齐全商品，单SKU营销文本</a:t>
              </a:r>
              <a:br/>
              <a:r>
                <a:rPr lang="zh-CN" sz="2100" dirty="0">
                  <a:solidFill>
                    <a:schemeClr val="dk1"/>
                  </a:solidFill>
                  <a:latin typeface="+mn-lt"/>
                  <a:ea typeface="+mn-ea"/>
                  <a:cs typeface="+mn-cs"/>
                </a:rPr>
                <a:t>绑定商品、活动、正文和依据版本</a:t>
              </a:r>
              <a:br/>
              <a:r>
                <a:rPr lang="zh-CN" sz="2100" dirty="0">
                  <a:solidFill>
                    <a:schemeClr val="dk1"/>
                  </a:solidFill>
                  <a:latin typeface="+mn-lt"/>
                  <a:ea typeface="+mn-ea"/>
                  <a:cs typeface="+mn-cs"/>
                </a:rPr>
                <a:t>功能 / 价格 / 赠品 / 配送</a:t>
              </a:r>
              <a:br/>
              <a:r>
                <a:rPr lang="zh-CN" sz="2100" dirty="0">
                  <a:solidFill>
                    <a:schemeClr val="dk1"/>
                  </a:solidFill>
                  <a:latin typeface="+mn-lt"/>
                  <a:ea typeface="+mn-ea"/>
                  <a:cs typeface="+mn-cs"/>
                </a:rPr>
                <a:t>自检、正式审核、人工发起巡检</a:t>
              </a:r>
              <a:br/>
              <a:r>
                <a:rPr lang="zh-CN" sz="2100" dirty="0">
                  <a:solidFill>
                    <a:schemeClr val="dk1"/>
                  </a:solidFill>
                  <a:latin typeface="+mn-lt"/>
                  <a:ea typeface="+mn-ea"/>
                  <a:cs typeface="+mn-cs"/>
                </a:rPr>
                <a:t>缺资料先补齐，或缩小试用范围</a:t>
              </a:r>
            </a:p>
          </p:txBody>
        </p:sp>
      </p:grpSp>
      <p:grpSp>
        <p:nvGrpSpPr>
          <p:cNvPr id="13" name="Group 13"/>
          <p:cNvGrpSpPr/>
          <p:nvPr/>
        </p:nvGrpSpPr>
        <p:grpSpPr>
          <a:xfrm>
            <a:off x="8026908" y="2065020"/>
            <a:ext cx="3707892" cy="2779014"/>
            <a:chOff x="8026908" y="2065020"/>
            <a:chExt cx="3707892" cy="2779014"/>
          </a:xfrm>
        </p:grpSpPr>
        <p:sp>
          <p:nvSpPr>
            <p:cNvPr id="9" name="TextBox 9"/>
            <p:cNvSpPr txBox="1"/>
            <p:nvPr/>
          </p:nvSpPr>
          <p:spPr>
            <a:xfrm>
              <a:off x="8026908" y="2065020"/>
              <a:ext cx="2932176"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正式决定仍由人作出</a:t>
              </a:r>
            </a:p>
          </p:txBody>
        </p:sp>
        <p:sp>
          <p:nvSpPr>
            <p:cNvPr id="10" name="TextBox 10"/>
            <p:cNvSpPr txBox="1"/>
            <p:nvPr/>
          </p:nvSpPr>
          <p:spPr>
            <a:xfrm>
              <a:off x="8028432" y="2716530"/>
              <a:ext cx="2688336" cy="877443"/>
            </a:xfrm>
            <a:prstGeom prst="rect">
              <a:avLst/>
            </a:prstGeom>
            <a:noFill/>
            <a:ln>
              <a:noFill/>
            </a:ln>
          </p:spPr>
          <p:txBody>
            <a:bodyPr wrap="none" lIns="0" tIns="0" rIns="0" bIns="0" anchor="t" anchorCtr="0">
              <a:spAutoFit/>
            </a:bodyPr>
            <a:lstStyle/>
            <a:p>
              <a:pPr algn="l">
                <a:lnSpc>
                  <a:spcPts val="3675"/>
                </a:lnSpc>
              </a:pPr>
              <a:r>
                <a:rPr lang="zh-CN" sz="2100" dirty="0">
                  <a:solidFill>
                    <a:schemeClr val="dk1"/>
                  </a:solidFill>
                  <a:latin typeface="+mn-lt"/>
                  <a:ea typeface="+mn-ea"/>
                  <a:cs typeface="+mn-cs"/>
                </a:rPr>
                <a:t>审核人员：确认与复核</a:t>
              </a:r>
              <a:br/>
              <a:r>
                <a:rPr lang="zh-CN" sz="2100" dirty="0">
                  <a:solidFill>
                    <a:schemeClr val="dk1"/>
                  </a:solidFill>
                  <a:latin typeface="+mn-lt"/>
                  <a:ea typeface="+mn-ea"/>
                  <a:cs typeface="+mn-cs"/>
                </a:rPr>
                <a:t>内容负责人：实际处置</a:t>
              </a:r>
            </a:p>
          </p:txBody>
        </p:sp>
        <p:sp>
          <p:nvSpPr>
            <p:cNvPr id="11" name="Line 11"/>
            <p:cNvSpPr/>
            <p:nvPr/>
          </p:nvSpPr>
          <p:spPr>
            <a:xfrm>
              <a:off x="8039100" y="3810000"/>
              <a:ext cx="3695700" cy="9525"/>
            </a:xfrm>
            <a:custGeom>
              <a:avLst/>
              <a:gdLst/>
              <a:ahLst/>
              <a:cxnLst/>
              <a:rect l="l" t="t" r="r" b="b"/>
              <a:pathLst>
                <a:path w="3695700" h="9525">
                  <a:moveTo>
                    <a:pt x="0" y="0"/>
                  </a:moveTo>
                  <a:lnTo>
                    <a:pt x="3695700" y="0"/>
                  </a:lnTo>
                </a:path>
              </a:pathLst>
            </a:custGeom>
            <a:noFill/>
            <a:ln w="19050">
              <a:solidFill>
                <a:schemeClr val="accent6"/>
              </a:solidFill>
            </a:ln>
          </p:spPr>
        </p:sp>
        <p:sp>
          <p:nvSpPr>
            <p:cNvPr id="12" name="TextBox 12"/>
            <p:cNvSpPr txBox="1"/>
            <p:nvPr/>
          </p:nvSpPr>
          <p:spPr>
            <a:xfrm>
              <a:off x="8029956" y="4110990"/>
              <a:ext cx="2532888" cy="733044"/>
            </a:xfrm>
            <a:prstGeom prst="rect">
              <a:avLst/>
            </a:prstGeom>
            <a:noFill/>
            <a:ln>
              <a:noFill/>
            </a:ln>
          </p:spPr>
          <p:txBody>
            <a:bodyPr wrap="none" lIns="0" tIns="0" rIns="0" bIns="0" anchor="t" anchorCtr="0">
              <a:spAutoFit/>
            </a:bodyPr>
            <a:lstStyle/>
            <a:p>
              <a:pPr algn="l">
                <a:lnSpc>
                  <a:spcPts val="3000"/>
                </a:lnSpc>
              </a:pPr>
              <a:r>
                <a:rPr lang="zh-CN" sz="1800" dirty="0">
                  <a:solidFill>
                    <a:schemeClr val="accent5"/>
                  </a:solidFill>
                  <a:latin typeface="+mn-lt"/>
                  <a:ea typeface="+mn-ea"/>
                  <a:cs typeface="+mn-cs"/>
                </a:rPr>
                <a:t>后续自动审核另行明确：</a:t>
              </a:r>
              <a:br/>
              <a:r>
                <a:rPr lang="zh-CN" sz="1800" dirty="0">
                  <a:solidFill>
                    <a:schemeClr val="accent5"/>
                  </a:solidFill>
                  <a:latin typeface="+mn-lt"/>
                  <a:ea typeface="+mn-ea"/>
                  <a:cs typeface="+mn-cs"/>
                </a:rPr>
                <a:t>覆盖、质量、权限与兜底</a:t>
              </a:r>
            </a:p>
          </p:txBody>
        </p:sp>
      </p:grpSp>
      <p:grpSp>
        <p:nvGrpSpPr>
          <p:cNvPr id="15" name="Group 15"/>
          <p:cNvGrpSpPr/>
          <p:nvPr/>
        </p:nvGrpSpPr>
        <p:grpSpPr>
          <a:xfrm>
            <a:off x="446532" y="5831205"/>
            <a:ext cx="6523482" cy="410718"/>
            <a:chOff x="446532" y="5831205"/>
            <a:chExt cx="6523482" cy="410718"/>
          </a:xfrm>
        </p:grpSpPr>
        <p:sp>
          <p:nvSpPr>
            <p:cNvPr id="14" name="TextBox 14"/>
            <p:cNvSpPr txBox="1"/>
            <p:nvPr/>
          </p:nvSpPr>
          <p:spPr>
            <a:xfrm>
              <a:off x="446532" y="5831205"/>
              <a:ext cx="652348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系统未发现已覆盖项的问题，不等于全部审核通过。</a:t>
              </a:r>
            </a:p>
          </p:txBody>
        </p:sp>
      </p:grpSp>
      <p:grpSp>
        <p:nvGrpSpPr>
          <p:cNvPr id="27" name="Group 27"/>
          <p:cNvGrpSpPr/>
          <p:nvPr/>
        </p:nvGrpSpPr>
        <p:grpSpPr>
          <a:xfrm>
            <a:off x="0" y="6286500"/>
            <a:ext cx="12192000" cy="571500"/>
            <a:chOff x="0" y="6286500"/>
            <a:chExt cx="12192000" cy="571500"/>
          </a:xfrm>
        </p:grpSpPr>
        <p:sp>
          <p:nvSpPr>
            <p:cNvPr id="16" name="Rectangle 16"/>
            <p:cNvSpPr/>
            <p:nvPr/>
          </p:nvSpPr>
          <p:spPr>
            <a:xfrm>
              <a:off x="0" y="6286500"/>
              <a:ext cx="12192000" cy="571500"/>
            </a:xfrm>
            <a:prstGeom prst="rect">
              <a:avLst/>
            </a:prstGeom>
            <a:solidFill>
              <a:srgbClr val="FFFFFF"/>
            </a:solidFill>
            <a:ln>
              <a:noFill/>
            </a:ln>
          </p:spPr>
        </p:sp>
        <p:sp>
          <p:nvSpPr>
            <p:cNvPr id="17" name="Line 17"/>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5" name="Group 25"/>
            <p:cNvGrpSpPr/>
            <p:nvPr/>
          </p:nvGrpSpPr>
          <p:grpSpPr>
            <a:xfrm>
              <a:off x="451866" y="6468428"/>
              <a:ext cx="9783070" cy="205359"/>
              <a:chOff x="451866" y="6468428"/>
              <a:chExt cx="9783070" cy="205359"/>
            </a:xfrm>
          </p:grpSpPr>
          <p:sp>
            <p:nvSpPr>
              <p:cNvPr id="18" name="TextBox 18"/>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19" name="TextBox 19"/>
              <p:cNvSpPr txBox="1"/>
              <p:nvPr/>
            </p:nvSpPr>
            <p:spPr>
              <a:xfrm>
                <a:off x="1966341"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2 目标范围</a:t>
                </a:r>
              </a:p>
            </p:txBody>
          </p:sp>
          <p:sp>
            <p:nvSpPr>
              <p:cNvPr id="20" name="TextBox 20"/>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1" name="TextBox 21"/>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2" name="TextBox 22"/>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3" name="TextBox 23"/>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4" name="TextBox 24"/>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26" name="TextBox 26"/>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15 / 70</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365531" cy="1038035"/>
            <a:chOff x="441198" y="428625"/>
            <a:chExt cx="5365531" cy="1038035"/>
          </a:xfrm>
        </p:grpSpPr>
        <p:sp>
          <p:nvSpPr>
            <p:cNvPr id="2" name="TextBox 2"/>
            <p:cNvSpPr txBox="1"/>
            <p:nvPr/>
          </p:nvSpPr>
          <p:spPr>
            <a:xfrm>
              <a:off x="449580" y="428625"/>
              <a:ext cx="2488882"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第一篇·定问题 / 第2章小结</a:t>
              </a:r>
            </a:p>
          </p:txBody>
        </p:sp>
        <p:sp>
          <p:nvSpPr>
            <p:cNvPr id="3" name="TextBox 3"/>
            <p:cNvSpPr txBox="1"/>
            <p:nvPr/>
          </p:nvSpPr>
          <p:spPr>
            <a:xfrm>
              <a:off x="441198" y="850583"/>
              <a:ext cx="5365531"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产物②：首版目标与范围说明</a:t>
              </a:r>
            </a:p>
          </p:txBody>
        </p:sp>
      </p:grpSp>
      <p:grpSp>
        <p:nvGrpSpPr>
          <p:cNvPr id="8" name="Group 8"/>
          <p:cNvGrpSpPr/>
          <p:nvPr/>
        </p:nvGrpSpPr>
        <p:grpSpPr>
          <a:xfrm>
            <a:off x="457200" y="1781175"/>
            <a:ext cx="11277600" cy="936498"/>
            <a:chOff x="457200" y="1781175"/>
            <a:chExt cx="11277600" cy="936498"/>
          </a:xfrm>
        </p:grpSpPr>
        <p:sp>
          <p:nvSpPr>
            <p:cNvPr id="5" name="Rectangle 5"/>
            <p:cNvSpPr/>
            <p:nvPr/>
          </p:nvSpPr>
          <p:spPr>
            <a:xfrm>
              <a:off x="457200" y="1781175"/>
              <a:ext cx="11277600" cy="914400"/>
            </a:xfrm>
            <a:prstGeom prst="roundRect">
              <a:avLst>
                <a:gd name="adj" fmla="val 12500"/>
              </a:avLst>
            </a:prstGeom>
            <a:solidFill>
              <a:schemeClr val="accent1"/>
            </a:solidFill>
            <a:ln>
              <a:noFill/>
            </a:ln>
          </p:spPr>
        </p:sp>
        <p:sp>
          <p:nvSpPr>
            <p:cNvPr id="6" name="TextBox 6"/>
            <p:cNvSpPr txBox="1"/>
            <p:nvPr/>
          </p:nvSpPr>
          <p:spPr>
            <a:xfrm>
              <a:off x="716280" y="1971675"/>
              <a:ext cx="1862900" cy="293370"/>
            </a:xfrm>
            <a:prstGeom prst="rect">
              <a:avLst/>
            </a:prstGeom>
            <a:noFill/>
            <a:ln>
              <a:noFill/>
            </a:ln>
          </p:spPr>
          <p:txBody>
            <a:bodyPr wrap="none" lIns="0" tIns="0" rIns="0" bIns="0" anchor="t" anchorCtr="0">
              <a:spAutoFit/>
            </a:bodyPr>
            <a:lstStyle/>
            <a:p>
              <a:pPr algn="l"/>
              <a:r>
                <a:rPr lang="zh-CN" sz="1500" dirty="0">
                  <a:solidFill>
                    <a:srgbClr val="E8F2EF"/>
                  </a:solidFill>
                  <a:latin typeface="+mn-lt"/>
                  <a:ea typeface="+mn-ea"/>
                  <a:cs typeface="+mn-cs"/>
                </a:rPr>
                <a:t>首版定位 / 审核提效</a:t>
              </a:r>
            </a:p>
          </p:txBody>
        </p:sp>
        <p:sp>
          <p:nvSpPr>
            <p:cNvPr id="7" name="TextBox 7"/>
            <p:cNvSpPr txBox="1"/>
            <p:nvPr/>
          </p:nvSpPr>
          <p:spPr>
            <a:xfrm>
              <a:off x="713232" y="2306955"/>
              <a:ext cx="680618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让依据靠近原句、意见接上新版、变化找到在用内容。</a:t>
              </a:r>
            </a:p>
          </p:txBody>
        </p:sp>
      </p:grpSp>
      <p:grpSp>
        <p:nvGrpSpPr>
          <p:cNvPr id="13" name="Group 13"/>
          <p:cNvGrpSpPr/>
          <p:nvPr/>
        </p:nvGrpSpPr>
        <p:grpSpPr>
          <a:xfrm>
            <a:off x="445008" y="3131820"/>
            <a:ext cx="3577438" cy="1816989"/>
            <a:chOff x="445008" y="3131820"/>
            <a:chExt cx="3577438" cy="1816989"/>
          </a:xfrm>
        </p:grpSpPr>
        <p:sp>
          <p:nvSpPr>
            <p:cNvPr id="9" name="TextBox 9"/>
            <p:cNvSpPr txBox="1"/>
            <p:nvPr/>
          </p:nvSpPr>
          <p:spPr>
            <a:xfrm>
              <a:off x="445008" y="3131820"/>
              <a:ext cx="67056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范围</a:t>
              </a:r>
            </a:p>
          </p:txBody>
        </p:sp>
        <p:sp>
          <p:nvSpPr>
            <p:cNvPr id="10" name="TextBox 10"/>
            <p:cNvSpPr txBox="1"/>
            <p:nvPr/>
          </p:nvSpPr>
          <p:spPr>
            <a:xfrm>
              <a:off x="446532" y="3649980"/>
              <a:ext cx="357591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P1单SKU文本 + 已确认资料</a:t>
              </a:r>
            </a:p>
          </p:txBody>
        </p:sp>
        <p:sp>
          <p:nvSpPr>
            <p:cNvPr id="11" name="TextBox 11"/>
            <p:cNvSpPr txBox="1"/>
            <p:nvPr/>
          </p:nvSpPr>
          <p:spPr>
            <a:xfrm>
              <a:off x="448056" y="4139565"/>
              <a:ext cx="26837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功能、价格、赠品、配送</a:t>
              </a:r>
            </a:p>
          </p:txBody>
        </p:sp>
        <p:sp>
          <p:nvSpPr>
            <p:cNvPr id="12" name="TextBox 12"/>
            <p:cNvSpPr txBox="1"/>
            <p:nvPr/>
          </p:nvSpPr>
          <p:spPr>
            <a:xfrm>
              <a:off x="448056" y="4596765"/>
              <a:ext cx="341071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事前自检、事中审核、事后巡检</a:t>
              </a:r>
            </a:p>
          </p:txBody>
        </p:sp>
      </p:grpSp>
      <p:grpSp>
        <p:nvGrpSpPr>
          <p:cNvPr id="19" name="Group 19"/>
          <p:cNvGrpSpPr/>
          <p:nvPr/>
        </p:nvGrpSpPr>
        <p:grpSpPr>
          <a:xfrm>
            <a:off x="5962650" y="3057525"/>
            <a:ext cx="4555998" cy="1895475"/>
            <a:chOff x="5962650" y="3057525"/>
            <a:chExt cx="4555998" cy="1895475"/>
          </a:xfrm>
        </p:grpSpPr>
        <p:sp>
          <p:nvSpPr>
            <p:cNvPr id="14" name="Line 14"/>
            <p:cNvSpPr/>
            <p:nvPr/>
          </p:nvSpPr>
          <p:spPr>
            <a:xfrm>
              <a:off x="5962650" y="3057525"/>
              <a:ext cx="9525" cy="1895475"/>
            </a:xfrm>
            <a:custGeom>
              <a:avLst/>
              <a:gdLst/>
              <a:ahLst/>
              <a:cxnLst/>
              <a:rect l="l" t="t" r="r" b="b"/>
              <a:pathLst>
                <a:path w="9525" h="1895475">
                  <a:moveTo>
                    <a:pt x="0" y="0"/>
                  </a:moveTo>
                  <a:lnTo>
                    <a:pt x="0" y="1895475"/>
                  </a:lnTo>
                </a:path>
              </a:pathLst>
            </a:custGeom>
            <a:noFill/>
            <a:ln w="9525">
              <a:solidFill>
                <a:schemeClr val="accent6"/>
              </a:solidFill>
            </a:ln>
          </p:spPr>
        </p:sp>
        <p:sp>
          <p:nvSpPr>
            <p:cNvPr id="15" name="TextBox 15"/>
            <p:cNvSpPr txBox="1"/>
            <p:nvPr/>
          </p:nvSpPr>
          <p:spPr>
            <a:xfrm>
              <a:off x="6255258" y="3131820"/>
              <a:ext cx="163982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责任与判断</a:t>
              </a:r>
            </a:p>
          </p:txBody>
        </p:sp>
        <p:sp>
          <p:nvSpPr>
            <p:cNvPr id="16" name="TextBox 16"/>
            <p:cNvSpPr txBox="1"/>
            <p:nvPr/>
          </p:nvSpPr>
          <p:spPr>
            <a:xfrm>
              <a:off x="6256782" y="3649980"/>
              <a:ext cx="426186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审核人正式决定，内容负责人处置</a:t>
              </a:r>
            </a:p>
          </p:txBody>
        </p:sp>
        <p:sp>
          <p:nvSpPr>
            <p:cNvPr id="17" name="TextBox 17"/>
            <p:cNvSpPr txBox="1"/>
            <p:nvPr/>
          </p:nvSpPr>
          <p:spPr>
            <a:xfrm>
              <a:off x="6258306" y="4139565"/>
              <a:ext cx="341071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看质量，也看作者与审核总投入</a:t>
              </a:r>
            </a:p>
          </p:txBody>
        </p:sp>
        <p:sp>
          <p:nvSpPr>
            <p:cNvPr id="18" name="TextBox 18"/>
            <p:cNvSpPr txBox="1"/>
            <p:nvPr/>
          </p:nvSpPr>
          <p:spPr>
            <a:xfrm>
              <a:off x="6258306" y="4596765"/>
              <a:ext cx="316839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后续再评估限定场景自动审核</a:t>
              </a:r>
            </a:p>
          </p:txBody>
        </p:sp>
      </p:grpSp>
      <p:grpSp>
        <p:nvGrpSpPr>
          <p:cNvPr id="22" name="Group 22"/>
          <p:cNvGrpSpPr/>
          <p:nvPr/>
        </p:nvGrpSpPr>
        <p:grpSpPr>
          <a:xfrm>
            <a:off x="457200" y="5572125"/>
            <a:ext cx="11277600" cy="600075"/>
            <a:chOff x="457200" y="5572125"/>
            <a:chExt cx="11277600" cy="600075"/>
          </a:xfrm>
        </p:grpSpPr>
        <p:sp>
          <p:nvSpPr>
            <p:cNvPr id="20" name="Rectangle 20"/>
            <p:cNvSpPr/>
            <p:nvPr/>
          </p:nvSpPr>
          <p:spPr>
            <a:xfrm>
              <a:off x="457200" y="5572125"/>
              <a:ext cx="11277600" cy="600075"/>
            </a:xfrm>
            <a:prstGeom prst="roundRect">
              <a:avLst>
                <a:gd name="adj" fmla="val 19048"/>
              </a:avLst>
            </a:prstGeom>
            <a:solidFill>
              <a:schemeClr val="lt2"/>
            </a:solidFill>
            <a:ln>
              <a:noFill/>
            </a:ln>
          </p:spPr>
        </p:sp>
        <p:sp>
          <p:nvSpPr>
            <p:cNvPr id="21" name="TextBox 21"/>
            <p:cNvSpPr txBox="1"/>
            <p:nvPr/>
          </p:nvSpPr>
          <p:spPr>
            <a:xfrm>
              <a:off x="713232" y="5735955"/>
              <a:ext cx="6806184"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下一章：让这三个提效目标，在业务流程中找到位置。</a:t>
              </a:r>
            </a:p>
          </p:txBody>
        </p:sp>
      </p:grpSp>
      <p:sp>
        <p:nvSpPr>
          <p:cNvPr id="23" name="TextBox 23"/>
          <p:cNvSpPr txBox="1"/>
          <p:nvPr/>
        </p:nvSpPr>
        <p:spPr>
          <a:xfrm>
            <a:off x="451866" y="6468428"/>
            <a:ext cx="241363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 · 产物已形成 → 3 三段流程</a:t>
            </a:r>
          </a:p>
        </p:txBody>
      </p:sp>
      <p:sp>
        <p:nvSpPr>
          <p:cNvPr id="24" name="TextBox 24"/>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16 / 70</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438150" y="523875"/>
            <a:ext cx="2622804" cy="1443990"/>
            <a:chOff x="438150" y="523875"/>
            <a:chExt cx="2622804" cy="1443990"/>
          </a:xfrm>
        </p:grpSpPr>
        <p:sp>
          <p:nvSpPr>
            <p:cNvPr id="2" name="TextBox 2"/>
            <p:cNvSpPr txBox="1"/>
            <p:nvPr/>
          </p:nvSpPr>
          <p:spPr>
            <a:xfrm>
              <a:off x="449580" y="523875"/>
              <a:ext cx="2085022"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第二篇·做方案 / 第3章</a:t>
              </a:r>
            </a:p>
          </p:txBody>
        </p:sp>
        <p:sp>
          <p:nvSpPr>
            <p:cNvPr id="3" name="TextBox 3"/>
            <p:cNvSpPr txBox="1"/>
            <p:nvPr/>
          </p:nvSpPr>
          <p:spPr>
            <a:xfrm>
              <a:off x="438150" y="1034415"/>
              <a:ext cx="2622804" cy="933450"/>
            </a:xfrm>
            <a:prstGeom prst="rect">
              <a:avLst/>
            </a:prstGeom>
            <a:noFill/>
            <a:ln>
              <a:noFill/>
            </a:ln>
          </p:spPr>
          <p:txBody>
            <a:bodyPr wrap="none" lIns="0" tIns="0" rIns="0" bIns="0" anchor="t" anchorCtr="0">
              <a:spAutoFit/>
            </a:bodyPr>
            <a:lstStyle/>
            <a:p>
              <a:pPr algn="l"/>
              <a:r>
                <a:rPr lang="zh-CN" sz="4800" b="1" dirty="0">
                  <a:solidFill>
                    <a:srgbClr val="FFFFFF"/>
                  </a:solidFill>
                  <a:latin typeface="+mn-lt"/>
                  <a:ea typeface="+mn-ea"/>
                  <a:cs typeface="+mn-cs"/>
                </a:rPr>
                <a:t>三段流程</a:t>
              </a:r>
            </a:p>
          </p:txBody>
        </p:sp>
      </p:grpSp>
      <p:grpSp>
        <p:nvGrpSpPr>
          <p:cNvPr id="7" name="Group 7"/>
          <p:cNvGrpSpPr/>
          <p:nvPr/>
        </p:nvGrpSpPr>
        <p:grpSpPr>
          <a:xfrm>
            <a:off x="441198" y="2231708"/>
            <a:ext cx="2832354" cy="1993201"/>
            <a:chOff x="441198" y="2231708"/>
            <a:chExt cx="2832354" cy="1993201"/>
          </a:xfrm>
        </p:grpSpPr>
        <p:sp>
          <p:nvSpPr>
            <p:cNvPr id="5" name="TextBox 5"/>
            <p:cNvSpPr txBox="1"/>
            <p:nvPr/>
          </p:nvSpPr>
          <p:spPr>
            <a:xfrm>
              <a:off x="441198" y="2231708"/>
              <a:ext cx="2832354" cy="1225677"/>
            </a:xfrm>
            <a:prstGeom prst="rect">
              <a:avLst/>
            </a:prstGeom>
            <a:noFill/>
            <a:ln>
              <a:noFill/>
            </a:ln>
          </p:spPr>
          <p:txBody>
            <a:bodyPr wrap="none" lIns="0" tIns="0" rIns="0" bIns="0" anchor="t" anchorCtr="0">
              <a:spAutoFit/>
            </a:bodyPr>
            <a:lstStyle/>
            <a:p>
              <a:pPr algn="l">
                <a:lnSpc>
                  <a:spcPts val="4800"/>
                </a:lnSpc>
              </a:pPr>
              <a:r>
                <a:rPr lang="zh-CN" sz="3150" b="1" dirty="0">
                  <a:solidFill>
                    <a:srgbClr val="FFFFFF"/>
                  </a:solidFill>
                  <a:latin typeface="+mn-lt"/>
                  <a:ea typeface="+mn-ea"/>
                  <a:cs typeface="+mn-cs"/>
                </a:rPr>
                <a:t>三个审核环节，</a:t>
              </a:r>
              <a:br/>
              <a:r>
                <a:rPr lang="zh-CN" sz="3150" b="1" dirty="0">
                  <a:solidFill>
                    <a:srgbClr val="FFFFFF"/>
                  </a:solidFill>
                  <a:latin typeface="+mn-lt"/>
                  <a:ea typeface="+mn-ea"/>
                  <a:cs typeface="+mn-cs"/>
                </a:rPr>
                <a:t>怎样接成闭环？</a:t>
              </a:r>
            </a:p>
          </p:txBody>
        </p:sp>
        <p:sp>
          <p:nvSpPr>
            <p:cNvPr id="6" name="TextBox 6"/>
            <p:cNvSpPr txBox="1"/>
            <p:nvPr/>
          </p:nvSpPr>
          <p:spPr>
            <a:xfrm>
              <a:off x="448056" y="3872865"/>
              <a:ext cx="2683764"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输入：首版目标与范围。</a:t>
              </a:r>
            </a:p>
          </p:txBody>
        </p:sp>
      </p:grpSp>
      <p:grpSp>
        <p:nvGrpSpPr>
          <p:cNvPr id="12" name="Group 12"/>
          <p:cNvGrpSpPr/>
          <p:nvPr/>
        </p:nvGrpSpPr>
        <p:grpSpPr>
          <a:xfrm>
            <a:off x="5295900" y="2095500"/>
            <a:ext cx="3976459" cy="2381250"/>
            <a:chOff x="5295900" y="2095500"/>
            <a:chExt cx="3976459" cy="2381250"/>
          </a:xfrm>
        </p:grpSpPr>
        <p:sp>
          <p:nvSpPr>
            <p:cNvPr id="8" name="Line 8"/>
            <p:cNvSpPr/>
            <p:nvPr/>
          </p:nvSpPr>
          <p:spPr>
            <a:xfrm>
              <a:off x="5295900" y="2095500"/>
              <a:ext cx="9525" cy="2381250"/>
            </a:xfrm>
            <a:custGeom>
              <a:avLst/>
              <a:gdLst/>
              <a:ahLst/>
              <a:cxnLst/>
              <a:rect l="l" t="t" r="r" b="b"/>
              <a:pathLst>
                <a:path w="9525" h="2381250">
                  <a:moveTo>
                    <a:pt x="0" y="0"/>
                  </a:moveTo>
                  <a:lnTo>
                    <a:pt x="0" y="2381250"/>
                  </a:lnTo>
                </a:path>
              </a:pathLst>
            </a:custGeom>
            <a:noFill/>
            <a:ln w="9525">
              <a:solidFill>
                <a:srgbClr val="617673"/>
              </a:solidFill>
            </a:ln>
          </p:spPr>
        </p:sp>
        <p:sp>
          <p:nvSpPr>
            <p:cNvPr id="9" name="TextBox 9"/>
            <p:cNvSpPr txBox="1"/>
            <p:nvPr/>
          </p:nvSpPr>
          <p:spPr>
            <a:xfrm>
              <a:off x="5590032" y="2240280"/>
              <a:ext cx="3682327"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3.1 事前：让作者知道怎么改</a:t>
              </a:r>
            </a:p>
          </p:txBody>
        </p:sp>
        <p:sp>
          <p:nvSpPr>
            <p:cNvPr id="10" name="TextBox 10"/>
            <p:cNvSpPr txBox="1"/>
            <p:nvPr/>
          </p:nvSpPr>
          <p:spPr>
            <a:xfrm>
              <a:off x="5590032" y="3097530"/>
              <a:ext cx="3682327"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3.2 事中：确认、修改与复核</a:t>
              </a:r>
            </a:p>
          </p:txBody>
        </p:sp>
        <p:sp>
          <p:nvSpPr>
            <p:cNvPr id="11" name="TextBox 11"/>
            <p:cNvSpPr txBox="1"/>
            <p:nvPr/>
          </p:nvSpPr>
          <p:spPr>
            <a:xfrm>
              <a:off x="5590032" y="3954780"/>
              <a:ext cx="3682327"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3.3 事后：圈范围并跟踪更新</a:t>
              </a:r>
            </a:p>
          </p:txBody>
        </p:sp>
      </p:grpSp>
      <p:grpSp>
        <p:nvGrpSpPr>
          <p:cNvPr id="16" name="Group 16"/>
          <p:cNvGrpSpPr/>
          <p:nvPr/>
        </p:nvGrpSpPr>
        <p:grpSpPr>
          <a:xfrm>
            <a:off x="457200" y="5048250"/>
            <a:ext cx="11277600" cy="952500"/>
            <a:chOff x="457200" y="5048250"/>
            <a:chExt cx="11277600" cy="952500"/>
          </a:xfrm>
        </p:grpSpPr>
        <p:sp>
          <p:nvSpPr>
            <p:cNvPr id="13" name="Rectangle 13"/>
            <p:cNvSpPr/>
            <p:nvPr/>
          </p:nvSpPr>
          <p:spPr>
            <a:xfrm>
              <a:off x="457200" y="5048250"/>
              <a:ext cx="11277600" cy="952500"/>
            </a:xfrm>
            <a:prstGeom prst="roundRect">
              <a:avLst>
                <a:gd name="adj" fmla="val 12000"/>
              </a:avLst>
            </a:prstGeom>
            <a:solidFill>
              <a:schemeClr val="accent1"/>
            </a:solidFill>
            <a:ln>
              <a:noFill/>
            </a:ln>
          </p:spPr>
        </p:sp>
        <p:sp>
          <p:nvSpPr>
            <p:cNvPr id="14" name="TextBox 14"/>
            <p:cNvSpPr txBox="1"/>
            <p:nvPr/>
          </p:nvSpPr>
          <p:spPr>
            <a:xfrm>
              <a:off x="716280" y="5267325"/>
              <a:ext cx="1226820" cy="293370"/>
            </a:xfrm>
            <a:prstGeom prst="rect">
              <a:avLst/>
            </a:prstGeom>
            <a:noFill/>
            <a:ln>
              <a:noFill/>
            </a:ln>
          </p:spPr>
          <p:txBody>
            <a:bodyPr wrap="none" lIns="0" tIns="0" rIns="0" bIns="0" anchor="t" anchorCtr="0">
              <a:spAutoFit/>
            </a:bodyPr>
            <a:lstStyle/>
            <a:p>
              <a:pPr algn="l"/>
              <a:r>
                <a:rPr lang="zh-CN" sz="1500" dirty="0">
                  <a:solidFill>
                    <a:srgbClr val="E8F2EF"/>
                  </a:solidFill>
                  <a:latin typeface="+mn-lt"/>
                  <a:ea typeface="+mn-ea"/>
                  <a:cs typeface="+mn-cs"/>
                </a:rPr>
                <a:t>本章完成标志</a:t>
              </a:r>
            </a:p>
          </p:txBody>
        </p:sp>
        <p:sp>
          <p:nvSpPr>
            <p:cNvPr id="15" name="TextBox 15"/>
            <p:cNvSpPr txBox="1"/>
            <p:nvPr/>
          </p:nvSpPr>
          <p:spPr>
            <a:xfrm>
              <a:off x="713232" y="5583555"/>
              <a:ext cx="6240780"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画出每段的触发、处理结果、责任人和完成条件。</a:t>
              </a:r>
            </a:p>
          </p:txBody>
        </p:sp>
      </p:grpSp>
      <p:sp>
        <p:nvSpPr>
          <p:cNvPr id="17" name="TextBox 17"/>
          <p:cNvSpPr txBox="1"/>
          <p:nvPr/>
        </p:nvSpPr>
        <p:spPr>
          <a:xfrm>
            <a:off x="451866" y="6468428"/>
            <a:ext cx="1607934" cy="205359"/>
          </a:xfrm>
          <a:prstGeom prst="rect">
            <a:avLst/>
          </a:prstGeom>
          <a:noFill/>
          <a:ln>
            <a:noFill/>
          </a:ln>
        </p:spPr>
        <p:txBody>
          <a:bodyPr wrap="none" lIns="0" tIns="0" rIns="0" bIns="0" anchor="t" anchorCtr="0">
            <a:spAutoFit/>
          </a:bodyPr>
          <a:lstStyle/>
          <a:p>
            <a:pPr algn="l"/>
            <a:r>
              <a:rPr lang="zh-CN" sz="1050" dirty="0">
                <a:solidFill>
                  <a:srgbClr val="E8F2EF"/>
                </a:solidFill>
                <a:latin typeface="+mn-lt"/>
                <a:ea typeface="+mn-ea"/>
                <a:cs typeface="+mn-cs"/>
              </a:rPr>
              <a:t>定问题 → 做方案 → 验落地</a:t>
            </a:r>
          </a:p>
        </p:txBody>
      </p:sp>
      <p:sp>
        <p:nvSpPr>
          <p:cNvPr id="18" name="TextBox 18"/>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rgbClr val="E8F2EF"/>
                </a:solidFill>
                <a:latin typeface="+mn-lt"/>
                <a:ea typeface="+mn-ea"/>
                <a:cs typeface="+mn-cs"/>
              </a:rPr>
              <a:t>17 / 70</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816852" cy="1038035"/>
            <a:chOff x="441198" y="428625"/>
            <a:chExt cx="6816852" cy="1038035"/>
          </a:xfrm>
        </p:grpSpPr>
        <p:sp>
          <p:nvSpPr>
            <p:cNvPr id="2" name="TextBox 2"/>
            <p:cNvSpPr txBox="1"/>
            <p:nvPr/>
          </p:nvSpPr>
          <p:spPr>
            <a:xfrm>
              <a:off x="449580" y="428625"/>
              <a:ext cx="317544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3.0 三段审核地图</a:t>
              </a:r>
            </a:p>
          </p:txBody>
        </p:sp>
        <p:sp>
          <p:nvSpPr>
            <p:cNvPr id="3" name="TextBox 3"/>
            <p:cNvSpPr txBox="1"/>
            <p:nvPr/>
          </p:nvSpPr>
          <p:spPr>
            <a:xfrm>
              <a:off x="441198" y="850583"/>
              <a:ext cx="681685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同一套核对能力，进入三个业务环节</a:t>
              </a:r>
            </a:p>
          </p:txBody>
        </p:sp>
      </p:grpSp>
      <p:grpSp>
        <p:nvGrpSpPr>
          <p:cNvPr id="9" name="Group 9"/>
          <p:cNvGrpSpPr/>
          <p:nvPr/>
        </p:nvGrpSpPr>
        <p:grpSpPr>
          <a:xfrm>
            <a:off x="457200" y="2000250"/>
            <a:ext cx="3257550" cy="2762250"/>
            <a:chOff x="457200" y="2000250"/>
            <a:chExt cx="3257550" cy="2762250"/>
          </a:xfrm>
        </p:grpSpPr>
        <p:sp>
          <p:nvSpPr>
            <p:cNvPr id="5" name="Rectangle 5"/>
            <p:cNvSpPr/>
            <p:nvPr/>
          </p:nvSpPr>
          <p:spPr>
            <a:xfrm>
              <a:off x="457200" y="2000250"/>
              <a:ext cx="3257550" cy="2762250"/>
            </a:xfrm>
            <a:prstGeom prst="roundRect">
              <a:avLst>
                <a:gd name="adj" fmla="val 4138"/>
              </a:avLst>
            </a:prstGeom>
            <a:solidFill>
              <a:schemeClr val="lt2"/>
            </a:solidFill>
            <a:ln>
              <a:noFill/>
            </a:ln>
          </p:spPr>
        </p:sp>
        <p:sp>
          <p:nvSpPr>
            <p:cNvPr id="6" name="TextBox 6"/>
            <p:cNvSpPr txBox="1"/>
            <p:nvPr/>
          </p:nvSpPr>
          <p:spPr>
            <a:xfrm>
              <a:off x="733806" y="2301240"/>
              <a:ext cx="1750847"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事前 / 作者触发</a:t>
              </a:r>
            </a:p>
          </p:txBody>
        </p:sp>
        <p:sp>
          <p:nvSpPr>
            <p:cNvPr id="7" name="TextBox 7"/>
            <p:cNvSpPr txBox="1"/>
            <p:nvPr/>
          </p:nvSpPr>
          <p:spPr>
            <a:xfrm>
              <a:off x="726948" y="2774632"/>
              <a:ext cx="88011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自检</a:t>
              </a:r>
            </a:p>
          </p:txBody>
        </p:sp>
        <p:sp>
          <p:nvSpPr>
            <p:cNvPr id="8" name="TextBox 8"/>
            <p:cNvSpPr txBox="1"/>
            <p:nvPr/>
          </p:nvSpPr>
          <p:spPr>
            <a:xfrm>
              <a:off x="732282" y="3516630"/>
              <a:ext cx="24216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先查、先改</a:t>
              </a:r>
              <a:br/>
              <a:r>
                <a:rPr lang="zh-CN" sz="2100" dirty="0">
                  <a:solidFill>
                    <a:schemeClr val="dk1"/>
                  </a:solidFill>
                  <a:latin typeface="+mn-lt"/>
                  <a:ea typeface="+mn-ea"/>
                  <a:cs typeface="+mn-cs"/>
                </a:rPr>
                <a:t>带说明进入正式审核</a:t>
              </a:r>
            </a:p>
          </p:txBody>
        </p:sp>
      </p:grpSp>
      <p:grpSp>
        <p:nvGrpSpPr>
          <p:cNvPr id="14" name="Group 14"/>
          <p:cNvGrpSpPr/>
          <p:nvPr/>
        </p:nvGrpSpPr>
        <p:grpSpPr>
          <a:xfrm>
            <a:off x="4467225" y="2000250"/>
            <a:ext cx="3257550" cy="2762250"/>
            <a:chOff x="4467225" y="2000250"/>
            <a:chExt cx="3257550" cy="2762250"/>
          </a:xfrm>
        </p:grpSpPr>
        <p:sp>
          <p:nvSpPr>
            <p:cNvPr id="10" name="Rectangle 10"/>
            <p:cNvSpPr/>
            <p:nvPr/>
          </p:nvSpPr>
          <p:spPr>
            <a:xfrm>
              <a:off x="4467225" y="2000250"/>
              <a:ext cx="3257550" cy="2762250"/>
            </a:xfrm>
            <a:prstGeom prst="roundRect">
              <a:avLst>
                <a:gd name="adj" fmla="val 4138"/>
              </a:avLst>
            </a:prstGeom>
            <a:solidFill>
              <a:schemeClr val="accent1"/>
            </a:solidFill>
            <a:ln>
              <a:noFill/>
            </a:ln>
          </p:spPr>
        </p:sp>
        <p:sp>
          <p:nvSpPr>
            <p:cNvPr id="11" name="TextBox 11"/>
            <p:cNvSpPr txBox="1"/>
            <p:nvPr/>
          </p:nvSpPr>
          <p:spPr>
            <a:xfrm>
              <a:off x="4743831" y="2301240"/>
              <a:ext cx="1750847"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事中 / 审核人员</a:t>
              </a:r>
            </a:p>
          </p:txBody>
        </p:sp>
        <p:sp>
          <p:nvSpPr>
            <p:cNvPr id="12" name="TextBox 12"/>
            <p:cNvSpPr txBox="1"/>
            <p:nvPr/>
          </p:nvSpPr>
          <p:spPr>
            <a:xfrm>
              <a:off x="4736973" y="2774632"/>
              <a:ext cx="1728216"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正式审核</a:t>
              </a:r>
            </a:p>
          </p:txBody>
        </p:sp>
        <p:sp>
          <p:nvSpPr>
            <p:cNvPr id="13" name="TextBox 13"/>
            <p:cNvSpPr txBox="1"/>
            <p:nvPr/>
          </p:nvSpPr>
          <p:spPr>
            <a:xfrm>
              <a:off x="4742307" y="3516630"/>
              <a:ext cx="2154936" cy="867918"/>
            </a:xfrm>
            <a:prstGeom prst="rect">
              <a:avLst/>
            </a:prstGeom>
            <a:noFill/>
            <a:ln>
              <a:noFill/>
            </a:ln>
          </p:spPr>
          <p:txBody>
            <a:bodyPr wrap="none" lIns="0" tIns="0" rIns="0" bIns="0" anchor="t" anchorCtr="0">
              <a:spAutoFit/>
            </a:bodyPr>
            <a:lstStyle/>
            <a:p>
              <a:pPr algn="l">
                <a:lnSpc>
                  <a:spcPts val="3600"/>
                </a:lnSpc>
              </a:pPr>
              <a:r>
                <a:rPr lang="zh-CN" sz="2100" dirty="0">
                  <a:solidFill>
                    <a:srgbClr val="FFFFFF"/>
                  </a:solidFill>
                  <a:latin typeface="+mn-lt"/>
                  <a:ea typeface="+mn-ea"/>
                  <a:cs typeface="+mn-cs"/>
                </a:rPr>
                <a:t>核对、退回、复核</a:t>
              </a:r>
              <a:br/>
              <a:r>
                <a:rPr lang="zh-CN" sz="2100" dirty="0">
                  <a:solidFill>
                    <a:srgbClr val="FFFFFF"/>
                  </a:solidFill>
                  <a:latin typeface="+mn-lt"/>
                  <a:ea typeface="+mn-ea"/>
                  <a:cs typeface="+mn-cs"/>
                </a:rPr>
                <a:t>作出正式审核决定</a:t>
              </a:r>
            </a:p>
          </p:txBody>
        </p:sp>
      </p:grpSp>
      <p:grpSp>
        <p:nvGrpSpPr>
          <p:cNvPr id="19" name="Group 19"/>
          <p:cNvGrpSpPr/>
          <p:nvPr/>
        </p:nvGrpSpPr>
        <p:grpSpPr>
          <a:xfrm>
            <a:off x="8477250" y="2000250"/>
            <a:ext cx="3257550" cy="2762250"/>
            <a:chOff x="8477250" y="2000250"/>
            <a:chExt cx="3257550" cy="2762250"/>
          </a:xfrm>
        </p:grpSpPr>
        <p:sp>
          <p:nvSpPr>
            <p:cNvPr id="15" name="Rectangle 15"/>
            <p:cNvSpPr/>
            <p:nvPr/>
          </p:nvSpPr>
          <p:spPr>
            <a:xfrm>
              <a:off x="8477250" y="2000250"/>
              <a:ext cx="3257550" cy="2762250"/>
            </a:xfrm>
            <a:prstGeom prst="roundRect">
              <a:avLst>
                <a:gd name="adj" fmla="val 4138"/>
              </a:avLst>
            </a:prstGeom>
            <a:solidFill>
              <a:schemeClr val="lt2"/>
            </a:solidFill>
            <a:ln>
              <a:noFill/>
            </a:ln>
          </p:spPr>
        </p:sp>
        <p:sp>
          <p:nvSpPr>
            <p:cNvPr id="16" name="TextBox 16"/>
            <p:cNvSpPr txBox="1"/>
            <p:nvPr/>
          </p:nvSpPr>
          <p:spPr>
            <a:xfrm>
              <a:off x="8753856" y="2301240"/>
              <a:ext cx="2235479"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事后 / 条件发生变化</a:t>
              </a:r>
            </a:p>
          </p:txBody>
        </p:sp>
        <p:sp>
          <p:nvSpPr>
            <p:cNvPr id="17" name="TextBox 17"/>
            <p:cNvSpPr txBox="1"/>
            <p:nvPr/>
          </p:nvSpPr>
          <p:spPr>
            <a:xfrm>
              <a:off x="8746998" y="2774632"/>
              <a:ext cx="88011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巡检</a:t>
              </a:r>
            </a:p>
          </p:txBody>
        </p:sp>
        <p:sp>
          <p:nvSpPr>
            <p:cNvPr id="18" name="TextBox 18"/>
            <p:cNvSpPr txBox="1"/>
            <p:nvPr/>
          </p:nvSpPr>
          <p:spPr>
            <a:xfrm>
              <a:off x="8752332" y="3516630"/>
              <a:ext cx="24216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选范围、确认、处置</a:t>
              </a:r>
              <a:br/>
              <a:r>
                <a:rPr lang="zh-CN" sz="2100" dirty="0">
                  <a:solidFill>
                    <a:schemeClr val="dk1"/>
                  </a:solidFill>
                  <a:latin typeface="+mn-lt"/>
                  <a:ea typeface="+mn-ea"/>
                  <a:cs typeface="+mn-cs"/>
                </a:rPr>
                <a:t>跟到实际使用更新</a:t>
              </a:r>
            </a:p>
          </p:txBody>
        </p:sp>
      </p:grpSp>
      <p:grpSp>
        <p:nvGrpSpPr>
          <p:cNvPr id="24" name="Group 24"/>
          <p:cNvGrpSpPr/>
          <p:nvPr/>
        </p:nvGrpSpPr>
        <p:grpSpPr>
          <a:xfrm>
            <a:off x="445008" y="3381375"/>
            <a:ext cx="9514637" cy="2858262"/>
            <a:chOff x="445008" y="3381375"/>
            <a:chExt cx="9514637" cy="2858262"/>
          </a:xfrm>
        </p:grpSpPr>
        <p:sp>
          <p:nvSpPr>
            <p:cNvPr id="20" name="Line 20"/>
            <p:cNvSpPr/>
            <p:nvPr/>
          </p:nvSpPr>
          <p:spPr>
            <a:xfrm>
              <a:off x="3771900" y="3381375"/>
              <a:ext cx="619125" cy="1"/>
            </a:xfrm>
            <a:prstGeom prst="line">
              <a:avLst/>
            </a:prstGeom>
            <a:noFill/>
            <a:ln w="28575">
              <a:solidFill>
                <a:schemeClr val="accent1"/>
              </a:solidFill>
              <a:tailEnd type="triangle" w="lg" len="lg"/>
            </a:ln>
          </p:spPr>
        </p:sp>
        <p:sp>
          <p:nvSpPr>
            <p:cNvPr id="21" name="Line 21"/>
            <p:cNvSpPr/>
            <p:nvPr/>
          </p:nvSpPr>
          <p:spPr>
            <a:xfrm>
              <a:off x="7781925" y="3381375"/>
              <a:ext cx="619125" cy="1"/>
            </a:xfrm>
            <a:prstGeom prst="line">
              <a:avLst/>
            </a:prstGeom>
            <a:noFill/>
            <a:ln w="28575">
              <a:solidFill>
                <a:schemeClr val="accent1"/>
              </a:solidFill>
              <a:tailEnd type="triangle" w="lg" len="lg"/>
            </a:ln>
          </p:spPr>
        </p:sp>
        <p:sp>
          <p:nvSpPr>
            <p:cNvPr id="22" name="TextBox 22"/>
            <p:cNvSpPr txBox="1"/>
            <p:nvPr/>
          </p:nvSpPr>
          <p:spPr>
            <a:xfrm>
              <a:off x="5991606" y="5187315"/>
              <a:ext cx="3968039"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定稿入库 → 计划发布 → 业务条件变化</a:t>
              </a:r>
            </a:p>
          </p:txBody>
        </p:sp>
        <p:sp>
          <p:nvSpPr>
            <p:cNvPr id="23" name="TextBox 23"/>
            <p:cNvSpPr txBox="1"/>
            <p:nvPr/>
          </p:nvSpPr>
          <p:spPr>
            <a:xfrm>
              <a:off x="445008" y="5770245"/>
              <a:ext cx="810158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不同的是触发时机和责任，能复用的是适用的核对能力。</a:t>
              </a:r>
            </a:p>
          </p:txBody>
        </p:sp>
      </p:grpSp>
      <p:grpSp>
        <p:nvGrpSpPr>
          <p:cNvPr id="36" name="Group 36"/>
          <p:cNvGrpSpPr/>
          <p:nvPr/>
        </p:nvGrpSpPr>
        <p:grpSpPr>
          <a:xfrm>
            <a:off x="0" y="6286500"/>
            <a:ext cx="12192000" cy="571500"/>
            <a:chOff x="0" y="6286500"/>
            <a:chExt cx="12192000" cy="571500"/>
          </a:xfrm>
        </p:grpSpPr>
        <p:sp>
          <p:nvSpPr>
            <p:cNvPr id="25" name="Rectangle 25"/>
            <p:cNvSpPr/>
            <p:nvPr/>
          </p:nvSpPr>
          <p:spPr>
            <a:xfrm>
              <a:off x="0" y="6286500"/>
              <a:ext cx="12192000" cy="571500"/>
            </a:xfrm>
            <a:prstGeom prst="rect">
              <a:avLst/>
            </a:prstGeom>
            <a:solidFill>
              <a:srgbClr val="FFFFFF"/>
            </a:solidFill>
            <a:ln>
              <a:noFill/>
            </a:ln>
          </p:spPr>
        </p:sp>
        <p:sp>
          <p:nvSpPr>
            <p:cNvPr id="26" name="Line 26"/>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34" name="Group 34"/>
            <p:cNvGrpSpPr/>
            <p:nvPr/>
          </p:nvGrpSpPr>
          <p:grpSpPr>
            <a:xfrm>
              <a:off x="451866" y="6468428"/>
              <a:ext cx="9783070" cy="205359"/>
              <a:chOff x="451866" y="6468428"/>
              <a:chExt cx="9783070" cy="205359"/>
            </a:xfrm>
          </p:grpSpPr>
          <p:sp>
            <p:nvSpPr>
              <p:cNvPr id="27" name="TextBox 27"/>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8" name="TextBox 28"/>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9" name="TextBox 29"/>
              <p:cNvSpPr txBox="1"/>
              <p:nvPr/>
            </p:nvSpPr>
            <p:spPr>
              <a:xfrm>
                <a:off x="348081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3 三段流程</a:t>
                </a:r>
              </a:p>
            </p:txBody>
          </p:sp>
          <p:sp>
            <p:nvSpPr>
              <p:cNvPr id="30" name="TextBox 30"/>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31" name="TextBox 31"/>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32" name="TextBox 32"/>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33" name="TextBox 33"/>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35" name="TextBox 35"/>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18 / 70</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8513064" cy="1038035"/>
            <a:chOff x="441198" y="428625"/>
            <a:chExt cx="8513064" cy="1038035"/>
          </a:xfrm>
        </p:grpSpPr>
        <p:sp>
          <p:nvSpPr>
            <p:cNvPr id="2" name="TextBox 2"/>
            <p:cNvSpPr txBox="1"/>
            <p:nvPr/>
          </p:nvSpPr>
          <p:spPr>
            <a:xfrm>
              <a:off x="449580" y="428625"/>
              <a:ext cx="2771584"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3.1 事前自检</a:t>
              </a:r>
            </a:p>
          </p:txBody>
        </p:sp>
        <p:sp>
          <p:nvSpPr>
            <p:cNvPr id="3" name="TextBox 3"/>
            <p:cNvSpPr txBox="1"/>
            <p:nvPr/>
          </p:nvSpPr>
          <p:spPr>
            <a:xfrm>
              <a:off x="441198" y="850583"/>
              <a:ext cx="8513064"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让作者知道：在哪里、为什么、下一步做什么</a:t>
              </a:r>
            </a:p>
          </p:txBody>
        </p:sp>
      </p:grpSp>
      <p:grpSp>
        <p:nvGrpSpPr>
          <p:cNvPr id="7" name="Group 7"/>
          <p:cNvGrpSpPr/>
          <p:nvPr/>
        </p:nvGrpSpPr>
        <p:grpSpPr>
          <a:xfrm>
            <a:off x="457200" y="1809750"/>
            <a:ext cx="11277600" cy="876300"/>
            <a:chOff x="457200" y="1809750"/>
            <a:chExt cx="11277600" cy="876300"/>
          </a:xfrm>
        </p:grpSpPr>
        <p:sp>
          <p:nvSpPr>
            <p:cNvPr id="5" name="Rectangle 5"/>
            <p:cNvSpPr/>
            <p:nvPr/>
          </p:nvSpPr>
          <p:spPr>
            <a:xfrm>
              <a:off x="457200" y="1809750"/>
              <a:ext cx="11277600" cy="876300"/>
            </a:xfrm>
            <a:prstGeom prst="roundRect">
              <a:avLst>
                <a:gd name="adj" fmla="val 13043"/>
              </a:avLst>
            </a:prstGeom>
            <a:solidFill>
              <a:srgbClr val="FFFFFF"/>
            </a:solidFill>
            <a:ln>
              <a:noFill/>
            </a:ln>
          </p:spPr>
        </p:sp>
        <p:sp>
          <p:nvSpPr>
            <p:cNvPr id="6" name="TextBox 6"/>
            <p:cNvSpPr txBox="1"/>
            <p:nvPr/>
          </p:nvSpPr>
          <p:spPr>
            <a:xfrm>
              <a:off x="730758" y="2074545"/>
              <a:ext cx="3869131"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原句 / “65℃热水直接拖地”</a:t>
              </a:r>
            </a:p>
          </p:txBody>
        </p:sp>
      </p:grpSp>
      <p:grpSp>
        <p:nvGrpSpPr>
          <p:cNvPr id="11" name="Group 11"/>
          <p:cNvGrpSpPr/>
          <p:nvPr/>
        </p:nvGrpSpPr>
        <p:grpSpPr>
          <a:xfrm>
            <a:off x="445008" y="3215640"/>
            <a:ext cx="3980688" cy="1426083"/>
            <a:chOff x="445008" y="3215640"/>
            <a:chExt cx="3980688" cy="1426083"/>
          </a:xfrm>
        </p:grpSpPr>
        <p:sp>
          <p:nvSpPr>
            <p:cNvPr id="8" name="TextBox 8"/>
            <p:cNvSpPr txBox="1"/>
            <p:nvPr/>
          </p:nvSpPr>
          <p:spPr>
            <a:xfrm>
              <a:off x="448056" y="3215640"/>
              <a:ext cx="502920"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发现</a:t>
              </a:r>
            </a:p>
          </p:txBody>
        </p:sp>
        <p:sp>
          <p:nvSpPr>
            <p:cNvPr id="9" name="TextBox 9"/>
            <p:cNvSpPr txBox="1"/>
            <p:nvPr/>
          </p:nvSpPr>
          <p:spPr>
            <a:xfrm>
              <a:off x="445008" y="3674745"/>
              <a:ext cx="3255264"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温度的功能对象不一致</a:t>
              </a:r>
            </a:p>
          </p:txBody>
        </p:sp>
        <p:sp>
          <p:nvSpPr>
            <p:cNvPr id="10" name="TextBox 10"/>
            <p:cNvSpPr txBox="1"/>
            <p:nvPr/>
          </p:nvSpPr>
          <p:spPr>
            <a:xfrm>
              <a:off x="446532" y="4231005"/>
              <a:ext cx="397916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文案说地面拖洗，资料说洗拖布</a:t>
              </a:r>
            </a:p>
          </p:txBody>
        </p:sp>
      </p:grpSp>
      <p:grpSp>
        <p:nvGrpSpPr>
          <p:cNvPr id="15" name="Group 15"/>
          <p:cNvGrpSpPr/>
          <p:nvPr/>
        </p:nvGrpSpPr>
        <p:grpSpPr>
          <a:xfrm>
            <a:off x="6274308" y="3215640"/>
            <a:ext cx="4263390" cy="1426083"/>
            <a:chOff x="6274308" y="3215640"/>
            <a:chExt cx="4263390" cy="1426083"/>
          </a:xfrm>
        </p:grpSpPr>
        <p:sp>
          <p:nvSpPr>
            <p:cNvPr id="12" name="TextBox 12"/>
            <p:cNvSpPr txBox="1"/>
            <p:nvPr/>
          </p:nvSpPr>
          <p:spPr>
            <a:xfrm>
              <a:off x="6277356" y="3215640"/>
              <a:ext cx="247962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依据 / F-PROD-01 v1</a:t>
              </a:r>
            </a:p>
          </p:txBody>
        </p:sp>
        <p:sp>
          <p:nvSpPr>
            <p:cNvPr id="13" name="TextBox 13"/>
            <p:cNvSpPr txBox="1"/>
            <p:nvPr/>
          </p:nvSpPr>
          <p:spPr>
            <a:xfrm>
              <a:off x="6274308" y="3674745"/>
              <a:ext cx="3491926"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65℃用于基站热水洗拖布</a:t>
              </a:r>
            </a:p>
          </p:txBody>
        </p:sp>
        <p:sp>
          <p:nvSpPr>
            <p:cNvPr id="14" name="TextBox 14"/>
            <p:cNvSpPr txBox="1"/>
            <p:nvPr/>
          </p:nvSpPr>
          <p:spPr>
            <a:xfrm>
              <a:off x="6275832" y="4231005"/>
              <a:ext cx="426186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作者修改；商品疑义交产品负责人</a:t>
              </a:r>
            </a:p>
          </p:txBody>
        </p:sp>
      </p:grpSp>
      <p:grpSp>
        <p:nvGrpSpPr>
          <p:cNvPr id="19" name="Group 19"/>
          <p:cNvGrpSpPr/>
          <p:nvPr/>
        </p:nvGrpSpPr>
        <p:grpSpPr>
          <a:xfrm>
            <a:off x="457200" y="5238750"/>
            <a:ext cx="11277600" cy="904875"/>
            <a:chOff x="457200" y="5238750"/>
            <a:chExt cx="11277600" cy="904875"/>
          </a:xfrm>
        </p:grpSpPr>
        <p:sp>
          <p:nvSpPr>
            <p:cNvPr id="16" name="Rectangle 16"/>
            <p:cNvSpPr/>
            <p:nvPr/>
          </p:nvSpPr>
          <p:spPr>
            <a:xfrm>
              <a:off x="457200" y="5238750"/>
              <a:ext cx="11277600" cy="904875"/>
            </a:xfrm>
            <a:prstGeom prst="roundRect">
              <a:avLst>
                <a:gd name="adj" fmla="val 12632"/>
              </a:avLst>
            </a:prstGeom>
            <a:solidFill>
              <a:schemeClr val="lt2"/>
            </a:solidFill>
            <a:ln>
              <a:noFill/>
            </a:ln>
          </p:spPr>
        </p:sp>
        <p:sp>
          <p:nvSpPr>
            <p:cNvPr id="17" name="TextBox 17"/>
            <p:cNvSpPr txBox="1"/>
            <p:nvPr/>
          </p:nvSpPr>
          <p:spPr>
            <a:xfrm>
              <a:off x="732282" y="5393055"/>
              <a:ext cx="624078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处理后由审核人员复核，结果绑定当前正文版本。</a:t>
              </a:r>
            </a:p>
          </p:txBody>
        </p:sp>
        <p:sp>
          <p:nvSpPr>
            <p:cNvPr id="18" name="TextBox 18"/>
            <p:cNvSpPr txBox="1"/>
            <p:nvPr/>
          </p:nvSpPr>
          <p:spPr>
            <a:xfrm>
              <a:off x="735330" y="5819775"/>
              <a:ext cx="5689473"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同时展示检查覆盖范围与未完成项，不能只显示“自检已完成”。</a:t>
              </a:r>
            </a:p>
          </p:txBody>
        </p:sp>
      </p:grpSp>
      <p:grpSp>
        <p:nvGrpSpPr>
          <p:cNvPr id="31" name="Group 31"/>
          <p:cNvGrpSpPr/>
          <p:nvPr/>
        </p:nvGrpSpPr>
        <p:grpSpPr>
          <a:xfrm>
            <a:off x="0" y="6286500"/>
            <a:ext cx="12192000" cy="571500"/>
            <a:chOff x="0" y="6286500"/>
            <a:chExt cx="12192000" cy="571500"/>
          </a:xfrm>
        </p:grpSpPr>
        <p:sp>
          <p:nvSpPr>
            <p:cNvPr id="20" name="Rectangle 20"/>
            <p:cNvSpPr/>
            <p:nvPr/>
          </p:nvSpPr>
          <p:spPr>
            <a:xfrm>
              <a:off x="0" y="6286500"/>
              <a:ext cx="12192000" cy="571500"/>
            </a:xfrm>
            <a:prstGeom prst="rect">
              <a:avLst/>
            </a:prstGeom>
            <a:solidFill>
              <a:srgbClr val="FFFFFF"/>
            </a:solidFill>
            <a:ln>
              <a:noFill/>
            </a:ln>
          </p:spPr>
        </p:sp>
        <p:sp>
          <p:nvSpPr>
            <p:cNvPr id="21" name="Line 21"/>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9" name="Group 29"/>
            <p:cNvGrpSpPr/>
            <p:nvPr/>
          </p:nvGrpSpPr>
          <p:grpSpPr>
            <a:xfrm>
              <a:off x="451866" y="6468428"/>
              <a:ext cx="9783070" cy="205359"/>
              <a:chOff x="451866" y="6468428"/>
              <a:chExt cx="9783070" cy="205359"/>
            </a:xfrm>
          </p:grpSpPr>
          <p:sp>
            <p:nvSpPr>
              <p:cNvPr id="22" name="TextBox 22"/>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3" name="TextBox 23"/>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4" name="TextBox 24"/>
              <p:cNvSpPr txBox="1"/>
              <p:nvPr/>
            </p:nvSpPr>
            <p:spPr>
              <a:xfrm>
                <a:off x="348081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3 三段流程</a:t>
                </a:r>
              </a:p>
            </p:txBody>
          </p:sp>
          <p:sp>
            <p:nvSpPr>
              <p:cNvPr id="25" name="TextBox 25"/>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6" name="TextBox 26"/>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7" name="TextBox 27"/>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8" name="TextBox 28"/>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30" name="TextBox 30"/>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19 / 70</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478125" cy="1038035"/>
            <a:chOff x="441198" y="428625"/>
            <a:chExt cx="5478125" cy="1038035"/>
          </a:xfrm>
        </p:grpSpPr>
        <p:sp>
          <p:nvSpPr>
            <p:cNvPr id="2" name="TextBox 2"/>
            <p:cNvSpPr txBox="1"/>
            <p:nvPr/>
          </p:nvSpPr>
          <p:spPr>
            <a:xfrm>
              <a:off x="449580" y="428625"/>
              <a:ext cx="3811524"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第二篇·做方案 / 3.1 事前自检 · 课堂判断</a:t>
              </a:r>
            </a:p>
          </p:txBody>
        </p:sp>
        <p:sp>
          <p:nvSpPr>
            <p:cNvPr id="3" name="TextBox 3"/>
            <p:cNvSpPr txBox="1"/>
            <p:nvPr/>
          </p:nvSpPr>
          <p:spPr>
            <a:xfrm>
              <a:off x="441198" y="850583"/>
              <a:ext cx="5478125"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V2写成这样，可以提交吗？</a:t>
              </a:r>
            </a:p>
          </p:txBody>
        </p:sp>
      </p:grpSp>
      <p:grpSp>
        <p:nvGrpSpPr>
          <p:cNvPr id="7" name="Group 7"/>
          <p:cNvGrpSpPr/>
          <p:nvPr/>
        </p:nvGrpSpPr>
        <p:grpSpPr>
          <a:xfrm>
            <a:off x="438150" y="2377440"/>
            <a:ext cx="8092684" cy="1514475"/>
            <a:chOff x="438150" y="2377440"/>
            <a:chExt cx="8092684" cy="1514475"/>
          </a:xfrm>
        </p:grpSpPr>
        <p:sp>
          <p:nvSpPr>
            <p:cNvPr id="5" name="TextBox 5"/>
            <p:cNvSpPr txBox="1"/>
            <p:nvPr/>
          </p:nvSpPr>
          <p:spPr>
            <a:xfrm>
              <a:off x="448056" y="2377440"/>
              <a:ext cx="3895344"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商品、赠品和配送已改；价格仍为：</a:t>
              </a:r>
            </a:p>
          </p:txBody>
        </p:sp>
        <p:sp>
          <p:nvSpPr>
            <p:cNvPr id="6" name="TextBox 6"/>
            <p:cNvSpPr txBox="1"/>
            <p:nvPr/>
          </p:nvSpPr>
          <p:spPr>
            <a:xfrm>
              <a:off x="438150" y="2958465"/>
              <a:ext cx="8092684" cy="933450"/>
            </a:xfrm>
            <a:prstGeom prst="rect">
              <a:avLst/>
            </a:prstGeom>
            <a:noFill/>
            <a:ln>
              <a:noFill/>
            </a:ln>
          </p:spPr>
          <p:txBody>
            <a:bodyPr wrap="none" lIns="0" tIns="0" rIns="0" bIns="0" anchor="t" anchorCtr="0">
              <a:spAutoFit/>
            </a:bodyPr>
            <a:lstStyle/>
            <a:p>
              <a:pPr algn="l"/>
              <a:r>
                <a:rPr lang="zh-CN" sz="4800" b="1" dirty="0">
                  <a:solidFill>
                    <a:srgbClr val="FFFFFF"/>
                  </a:solidFill>
                  <a:latin typeface="+mn-lt"/>
                  <a:ea typeface="+mn-ea"/>
                  <a:cs typeface="+mn-cs"/>
                </a:rPr>
                <a:t>“本次活动领券到手1799元”</a:t>
              </a:r>
            </a:p>
          </p:txBody>
        </p:sp>
      </p:grpSp>
      <p:grpSp>
        <p:nvGrpSpPr>
          <p:cNvPr id="11" name="Group 11"/>
          <p:cNvGrpSpPr/>
          <p:nvPr/>
        </p:nvGrpSpPr>
        <p:grpSpPr>
          <a:xfrm>
            <a:off x="445008" y="4436745"/>
            <a:ext cx="7090410" cy="1559814"/>
            <a:chOff x="445008" y="4436745"/>
            <a:chExt cx="7090410" cy="1559814"/>
          </a:xfrm>
        </p:grpSpPr>
        <p:sp>
          <p:nvSpPr>
            <p:cNvPr id="8" name="TextBox 8"/>
            <p:cNvSpPr txBox="1"/>
            <p:nvPr/>
          </p:nvSpPr>
          <p:spPr>
            <a:xfrm>
              <a:off x="445008" y="4436745"/>
              <a:ext cx="6163056" cy="469392"/>
            </a:xfrm>
            <a:prstGeom prst="rect">
              <a:avLst/>
            </a:prstGeom>
            <a:noFill/>
            <a:ln>
              <a:noFill/>
            </a:ln>
          </p:spPr>
          <p:txBody>
            <a:bodyPr wrap="none" lIns="0" tIns="0" rIns="0" bIns="0" anchor="t" anchorCtr="0">
              <a:spAutoFit/>
            </a:bodyPr>
            <a:lstStyle/>
            <a:p>
              <a:pPr algn="l"/>
              <a:r>
                <a:rPr lang="zh-CN" sz="2400" dirty="0">
                  <a:solidFill>
                    <a:schemeClr val="accent3"/>
                  </a:solidFill>
                  <a:latin typeface="+mn-lt"/>
                  <a:ea typeface="+mn-ea"/>
                  <a:cs typeface="+mn-cs"/>
                </a:rPr>
                <a:t>还缺什么？作者怎样说明？谁来正式确认？</a:t>
              </a:r>
            </a:p>
          </p:txBody>
        </p:sp>
        <p:sp>
          <p:nvSpPr>
            <p:cNvPr id="9" name="TextBox 9"/>
            <p:cNvSpPr txBox="1"/>
            <p:nvPr/>
          </p:nvSpPr>
          <p:spPr>
            <a:xfrm>
              <a:off x="446532" y="5126355"/>
              <a:ext cx="7088886" cy="410718"/>
            </a:xfrm>
            <a:prstGeom prst="rect">
              <a:avLst/>
            </a:prstGeom>
            <a:noFill/>
            <a:ln>
              <a:noFill/>
            </a:ln>
          </p:spPr>
          <p:txBody>
            <a:bodyPr wrap="none" lIns="0" tIns="0" rIns="0" bIns="0" anchor="t" anchorCtr="0">
              <a:spAutoFit/>
            </a:bodyPr>
            <a:lstStyle/>
            <a:p>
              <a:pPr algn="l"/>
              <a:r>
                <a:rPr lang="zh-CN" sz="2100" dirty="0">
                  <a:solidFill>
                    <a:srgbClr val="E8F2EF"/>
                  </a:solidFill>
                  <a:latin typeface="+mn-lt"/>
                  <a:ea typeface="+mn-ea"/>
                  <a:cs typeface="+mn-cs"/>
                </a:rPr>
                <a:t>可以带问题和说明进入正式审核，不要求所有提示清零。</a:t>
              </a:r>
            </a:p>
          </p:txBody>
        </p:sp>
        <p:sp>
          <p:nvSpPr>
            <p:cNvPr id="10" name="TextBox 10"/>
            <p:cNvSpPr txBox="1"/>
            <p:nvPr/>
          </p:nvSpPr>
          <p:spPr>
            <a:xfrm>
              <a:off x="448056" y="5644515"/>
              <a:ext cx="4622292"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提交是流转动作，不能被显示为审核通过。</a:t>
              </a:r>
            </a:p>
          </p:txBody>
        </p:sp>
      </p:grpSp>
      <p:grpSp>
        <p:nvGrpSpPr>
          <p:cNvPr id="23" name="Group 23"/>
          <p:cNvGrpSpPr/>
          <p:nvPr/>
        </p:nvGrpSpPr>
        <p:grpSpPr>
          <a:xfrm>
            <a:off x="0" y="6286500"/>
            <a:ext cx="12192000" cy="571500"/>
            <a:chOff x="0" y="6286500"/>
            <a:chExt cx="12192000" cy="571500"/>
          </a:xfrm>
        </p:grpSpPr>
        <p:sp>
          <p:nvSpPr>
            <p:cNvPr id="12" name="Rectangle 12"/>
            <p:cNvSpPr/>
            <p:nvPr/>
          </p:nvSpPr>
          <p:spPr>
            <a:xfrm>
              <a:off x="0" y="6286500"/>
              <a:ext cx="12192000" cy="571500"/>
            </a:xfrm>
            <a:prstGeom prst="rect">
              <a:avLst/>
            </a:prstGeom>
            <a:solidFill>
              <a:srgbClr val="FFFFFF"/>
            </a:solidFill>
            <a:ln>
              <a:noFill/>
            </a:ln>
          </p:spPr>
        </p:sp>
        <p:sp>
          <p:nvSpPr>
            <p:cNvPr id="13" name="Line 13"/>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1" name="Group 21"/>
            <p:cNvGrpSpPr/>
            <p:nvPr/>
          </p:nvGrpSpPr>
          <p:grpSpPr>
            <a:xfrm>
              <a:off x="451866" y="6468428"/>
              <a:ext cx="9783070" cy="205359"/>
              <a:chOff x="451866" y="6468428"/>
              <a:chExt cx="9783070" cy="205359"/>
            </a:xfrm>
          </p:grpSpPr>
          <p:sp>
            <p:nvSpPr>
              <p:cNvPr id="14" name="TextBox 14"/>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15" name="TextBox 15"/>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16" name="TextBox 16"/>
              <p:cNvSpPr txBox="1"/>
              <p:nvPr/>
            </p:nvSpPr>
            <p:spPr>
              <a:xfrm>
                <a:off x="348081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3 三段流程</a:t>
                </a:r>
              </a:p>
            </p:txBody>
          </p:sp>
          <p:sp>
            <p:nvSpPr>
              <p:cNvPr id="17" name="TextBox 17"/>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18" name="TextBox 18"/>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19" name="TextBox 19"/>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0" name="TextBox 20"/>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22" name="TextBox 22"/>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20 / 70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240905" cy="1038035"/>
            <a:chOff x="441198" y="428625"/>
            <a:chExt cx="7240905" cy="1038035"/>
          </a:xfrm>
        </p:grpSpPr>
        <p:sp>
          <p:nvSpPr>
            <p:cNvPr id="2" name="TextBox 2"/>
            <p:cNvSpPr txBox="1"/>
            <p:nvPr/>
          </p:nvSpPr>
          <p:spPr>
            <a:xfrm>
              <a:off x="449580" y="428625"/>
              <a:ext cx="337737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3.2 事中审核与复核</a:t>
              </a:r>
            </a:p>
          </p:txBody>
        </p:sp>
        <p:sp>
          <p:nvSpPr>
            <p:cNvPr id="3" name="TextBox 3"/>
            <p:cNvSpPr txBox="1"/>
            <p:nvPr/>
          </p:nvSpPr>
          <p:spPr>
            <a:xfrm>
              <a:off x="441198" y="850583"/>
              <a:ext cx="7240905"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问题确认、修改、复核，分别留下记录</a:t>
              </a:r>
            </a:p>
          </p:txBody>
        </p:sp>
      </p:grpSp>
      <p:grpSp>
        <p:nvGrpSpPr>
          <p:cNvPr id="18" name="Group 18"/>
          <p:cNvGrpSpPr/>
          <p:nvPr/>
        </p:nvGrpSpPr>
        <p:grpSpPr>
          <a:xfrm>
            <a:off x="457200" y="1905000"/>
            <a:ext cx="11277600" cy="1476375"/>
            <a:chOff x="457200" y="1905000"/>
            <a:chExt cx="11277600" cy="1476375"/>
          </a:xfrm>
        </p:grpSpPr>
        <p:sp>
          <p:nvSpPr>
            <p:cNvPr id="5" name="Rectangle 5"/>
            <p:cNvSpPr/>
            <p:nvPr/>
          </p:nvSpPr>
          <p:spPr>
            <a:xfrm>
              <a:off x="457200" y="1905000"/>
              <a:ext cx="3333750" cy="1476375"/>
            </a:xfrm>
            <a:prstGeom prst="roundRect">
              <a:avLst>
                <a:gd name="adj" fmla="val 7742"/>
              </a:avLst>
            </a:prstGeom>
            <a:solidFill>
              <a:schemeClr val="lt2"/>
            </a:solidFill>
            <a:ln>
              <a:noFill/>
            </a:ln>
          </p:spPr>
        </p:sp>
        <p:sp>
          <p:nvSpPr>
            <p:cNvPr id="6" name="Rectangle 6"/>
            <p:cNvSpPr/>
            <p:nvPr/>
          </p:nvSpPr>
          <p:spPr>
            <a:xfrm>
              <a:off x="4429125" y="1905000"/>
              <a:ext cx="3333750" cy="1476375"/>
            </a:xfrm>
            <a:prstGeom prst="roundRect">
              <a:avLst>
                <a:gd name="adj" fmla="val 7742"/>
              </a:avLst>
            </a:prstGeom>
            <a:solidFill>
              <a:schemeClr val="lt2"/>
            </a:solidFill>
            <a:ln>
              <a:noFill/>
            </a:ln>
          </p:spPr>
        </p:sp>
        <p:sp>
          <p:nvSpPr>
            <p:cNvPr id="7" name="Rectangle 7"/>
            <p:cNvSpPr/>
            <p:nvPr/>
          </p:nvSpPr>
          <p:spPr>
            <a:xfrm>
              <a:off x="8401050" y="1905000"/>
              <a:ext cx="3333750" cy="1476375"/>
            </a:xfrm>
            <a:prstGeom prst="roundRect">
              <a:avLst>
                <a:gd name="adj" fmla="val 7742"/>
              </a:avLst>
            </a:prstGeom>
            <a:solidFill>
              <a:schemeClr val="accent1"/>
            </a:solidFill>
            <a:ln>
              <a:noFill/>
            </a:ln>
          </p:spPr>
        </p:sp>
        <p:grpSp>
          <p:nvGrpSpPr>
            <p:cNvPr id="11" name="Group 11"/>
            <p:cNvGrpSpPr/>
            <p:nvPr/>
          </p:nvGrpSpPr>
          <p:grpSpPr>
            <a:xfrm>
              <a:off x="730758" y="2131695"/>
              <a:ext cx="9906762" cy="469392"/>
              <a:chOff x="730758" y="2131695"/>
              <a:chExt cx="9906762" cy="469392"/>
            </a:xfrm>
          </p:grpSpPr>
          <p:sp>
            <p:nvSpPr>
              <p:cNvPr id="8" name="TextBox 8"/>
              <p:cNvSpPr txBox="1"/>
              <p:nvPr/>
            </p:nvSpPr>
            <p:spPr>
              <a:xfrm>
                <a:off x="730758" y="2131695"/>
                <a:ext cx="1962912"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小林确认问题</a:t>
                </a:r>
              </a:p>
            </p:txBody>
          </p:sp>
          <p:sp>
            <p:nvSpPr>
              <p:cNvPr id="9" name="TextBox 9"/>
              <p:cNvSpPr txBox="1"/>
              <p:nvPr/>
            </p:nvSpPr>
            <p:spPr>
              <a:xfrm>
                <a:off x="4702683" y="2131695"/>
                <a:ext cx="1784177"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小周提交V3</a:t>
                </a:r>
              </a:p>
            </p:txBody>
          </p:sp>
          <p:sp>
            <p:nvSpPr>
              <p:cNvPr id="10" name="TextBox 10"/>
              <p:cNvSpPr txBox="1"/>
              <p:nvPr/>
            </p:nvSpPr>
            <p:spPr>
              <a:xfrm>
                <a:off x="8674608" y="2131695"/>
                <a:ext cx="1962912"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小林逐条复核</a:t>
                </a:r>
              </a:p>
            </p:txBody>
          </p:sp>
        </p:grpSp>
        <p:grpSp>
          <p:nvGrpSpPr>
            <p:cNvPr id="15" name="Group 15"/>
            <p:cNvGrpSpPr/>
            <p:nvPr/>
          </p:nvGrpSpPr>
          <p:grpSpPr>
            <a:xfrm>
              <a:off x="733806" y="2767965"/>
              <a:ext cx="10627614" cy="352044"/>
              <a:chOff x="733806" y="2767965"/>
              <a:chExt cx="10627614" cy="352044"/>
            </a:xfrm>
          </p:grpSpPr>
          <p:sp>
            <p:nvSpPr>
              <p:cNvPr id="12" name="TextBox 12"/>
              <p:cNvSpPr txBox="1"/>
              <p:nvPr/>
            </p:nvSpPr>
            <p:spPr>
              <a:xfrm>
                <a:off x="733806" y="2767965"/>
                <a:ext cx="296242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不成立留理由 / 疑义找业务</a:t>
                </a:r>
              </a:p>
            </p:txBody>
          </p:sp>
          <p:sp>
            <p:nvSpPr>
              <p:cNvPr id="13" name="TextBox 13"/>
              <p:cNvSpPr txBox="1"/>
              <p:nvPr/>
            </p:nvSpPr>
            <p:spPr>
              <a:xfrm>
                <a:off x="4705731" y="2767965"/>
                <a:ext cx="26837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新原句＋修改与异议说明</a:t>
                </a:r>
              </a:p>
            </p:txBody>
          </p:sp>
          <p:sp>
            <p:nvSpPr>
              <p:cNvPr id="14" name="TextBox 14"/>
              <p:cNvSpPr txBox="1"/>
              <p:nvPr/>
            </p:nvSpPr>
            <p:spPr>
              <a:xfrm>
                <a:off x="8677656" y="2767965"/>
                <a:ext cx="268376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原句、意见、新句与依据</a:t>
                </a:r>
              </a:p>
            </p:txBody>
          </p:sp>
        </p:grpSp>
        <p:sp>
          <p:nvSpPr>
            <p:cNvPr id="16" name="Line 16"/>
            <p:cNvSpPr/>
            <p:nvPr/>
          </p:nvSpPr>
          <p:spPr>
            <a:xfrm>
              <a:off x="3829050" y="2647950"/>
              <a:ext cx="523875" cy="1"/>
            </a:xfrm>
            <a:prstGeom prst="line">
              <a:avLst/>
            </a:prstGeom>
            <a:noFill/>
            <a:ln w="28575">
              <a:solidFill>
                <a:schemeClr val="accent1"/>
              </a:solidFill>
              <a:tailEnd type="triangle" w="lg" len="lg"/>
            </a:ln>
          </p:spPr>
        </p:sp>
        <p:sp>
          <p:nvSpPr>
            <p:cNvPr id="17" name="Line 17"/>
            <p:cNvSpPr/>
            <p:nvPr/>
          </p:nvSpPr>
          <p:spPr>
            <a:xfrm>
              <a:off x="7800975" y="2647950"/>
              <a:ext cx="523875" cy="1"/>
            </a:xfrm>
            <a:prstGeom prst="line">
              <a:avLst/>
            </a:prstGeom>
            <a:noFill/>
            <a:ln w="28575">
              <a:solidFill>
                <a:schemeClr val="accent1"/>
              </a:solidFill>
              <a:tailEnd type="triangle" w="lg" len="lg"/>
            </a:ln>
          </p:spPr>
        </p:sp>
      </p:grpSp>
      <p:grpSp>
        <p:nvGrpSpPr>
          <p:cNvPr id="21" name="Group 21"/>
          <p:cNvGrpSpPr/>
          <p:nvPr/>
        </p:nvGrpSpPr>
        <p:grpSpPr>
          <a:xfrm>
            <a:off x="446532" y="4010025"/>
            <a:ext cx="5315331" cy="1231773"/>
            <a:chOff x="446532" y="4010025"/>
            <a:chExt cx="5315331" cy="1231773"/>
          </a:xfrm>
        </p:grpSpPr>
        <p:sp>
          <p:nvSpPr>
            <p:cNvPr id="19" name="TextBox 19"/>
            <p:cNvSpPr txBox="1"/>
            <p:nvPr/>
          </p:nvSpPr>
          <p:spPr>
            <a:xfrm>
              <a:off x="449580" y="4010025"/>
              <a:ext cx="412242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V3价格示例 / 一种可用表达，不是唯一模板</a:t>
              </a:r>
            </a:p>
          </p:txBody>
        </p:sp>
        <p:sp>
          <p:nvSpPr>
            <p:cNvPr id="20" name="TextBox 20"/>
            <p:cNvSpPr txBox="1"/>
            <p:nvPr/>
          </p:nvSpPr>
          <p:spPr>
            <a:xfrm>
              <a:off x="446532" y="4411980"/>
              <a:ext cx="5315331" cy="829818"/>
            </a:xfrm>
            <a:prstGeom prst="rect">
              <a:avLst/>
            </a:prstGeom>
            <a:noFill/>
            <a:ln>
              <a:noFill/>
            </a:ln>
          </p:spPr>
          <p:txBody>
            <a:bodyPr wrap="none" lIns="0" tIns="0" rIns="0" bIns="0" anchor="t" anchorCtr="0">
              <a:spAutoFit/>
            </a:bodyPr>
            <a:lstStyle/>
            <a:p>
              <a:pPr algn="l">
                <a:lnSpc>
                  <a:spcPts val="3300"/>
                </a:lnSpc>
              </a:pPr>
              <a:r>
                <a:rPr lang="zh-CN" sz="2100" dirty="0">
                  <a:solidFill>
                    <a:schemeClr val="dk1"/>
                  </a:solidFill>
                  <a:latin typeface="+mn-lt"/>
                  <a:ea typeface="+mn-ea"/>
                  <a:cs typeface="+mn-cs"/>
                </a:rPr>
                <a:t>本次活动领取并使用400元活动券后1999元；</a:t>
              </a:r>
              <a:br/>
              <a:r>
                <a:rPr lang="zh-CN" sz="2100" dirty="0">
                  <a:solidFill>
                    <a:schemeClr val="dk1"/>
                  </a:solidFill>
                  <a:latin typeface="+mn-lt"/>
                  <a:ea typeface="+mn-ea"/>
                  <a:cs typeface="+mn-cs"/>
                </a:rPr>
                <a:t>新会员再领取并使用200元专享券后1799元。</a:t>
              </a:r>
            </a:p>
          </p:txBody>
        </p:sp>
      </p:grpSp>
      <p:grpSp>
        <p:nvGrpSpPr>
          <p:cNvPr id="23" name="Group 23"/>
          <p:cNvGrpSpPr/>
          <p:nvPr/>
        </p:nvGrpSpPr>
        <p:grpSpPr>
          <a:xfrm>
            <a:off x="445008" y="5646420"/>
            <a:ext cx="6292291" cy="469392"/>
            <a:chOff x="445008" y="5646420"/>
            <a:chExt cx="6292291" cy="469392"/>
          </a:xfrm>
        </p:grpSpPr>
        <p:sp>
          <p:nvSpPr>
            <p:cNvPr id="22" name="TextBox 22"/>
            <p:cNvSpPr txBox="1"/>
            <p:nvPr/>
          </p:nvSpPr>
          <p:spPr>
            <a:xfrm>
              <a:off x="445008" y="5646420"/>
              <a:ext cx="6292291"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作者“已修改” ≠ 问题已解决 ≠ 整篇正式通过</a:t>
              </a:r>
            </a:p>
          </p:txBody>
        </p:sp>
      </p:grpSp>
      <p:grpSp>
        <p:nvGrpSpPr>
          <p:cNvPr id="35" name="Group 35"/>
          <p:cNvGrpSpPr/>
          <p:nvPr/>
        </p:nvGrpSpPr>
        <p:grpSpPr>
          <a:xfrm>
            <a:off x="0" y="6286500"/>
            <a:ext cx="12192000" cy="571500"/>
            <a:chOff x="0" y="6286500"/>
            <a:chExt cx="12192000" cy="571500"/>
          </a:xfrm>
        </p:grpSpPr>
        <p:sp>
          <p:nvSpPr>
            <p:cNvPr id="24" name="Rectangle 24"/>
            <p:cNvSpPr/>
            <p:nvPr/>
          </p:nvSpPr>
          <p:spPr>
            <a:xfrm>
              <a:off x="0" y="6286500"/>
              <a:ext cx="12192000" cy="571500"/>
            </a:xfrm>
            <a:prstGeom prst="rect">
              <a:avLst/>
            </a:prstGeom>
            <a:solidFill>
              <a:srgbClr val="FFFFFF"/>
            </a:solidFill>
            <a:ln>
              <a:noFill/>
            </a:ln>
          </p:spPr>
        </p:sp>
        <p:sp>
          <p:nvSpPr>
            <p:cNvPr id="25" name="Line 25"/>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33" name="Group 33"/>
            <p:cNvGrpSpPr/>
            <p:nvPr/>
          </p:nvGrpSpPr>
          <p:grpSpPr>
            <a:xfrm>
              <a:off x="451866" y="6468428"/>
              <a:ext cx="9783070" cy="205359"/>
              <a:chOff x="451866" y="6468428"/>
              <a:chExt cx="9783070" cy="205359"/>
            </a:xfrm>
          </p:grpSpPr>
          <p:sp>
            <p:nvSpPr>
              <p:cNvPr id="26" name="TextBox 26"/>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7" name="TextBox 27"/>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8" name="TextBox 28"/>
              <p:cNvSpPr txBox="1"/>
              <p:nvPr/>
            </p:nvSpPr>
            <p:spPr>
              <a:xfrm>
                <a:off x="348081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3 三段流程</a:t>
                </a:r>
              </a:p>
            </p:txBody>
          </p:sp>
          <p:sp>
            <p:nvSpPr>
              <p:cNvPr id="29" name="TextBox 29"/>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30" name="TextBox 30"/>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31" name="TextBox 31"/>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32" name="TextBox 32"/>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34" name="TextBox 34"/>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21 / 70</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240905" cy="1038035"/>
            <a:chOff x="441198" y="428625"/>
            <a:chExt cx="7240905" cy="1038035"/>
          </a:xfrm>
        </p:grpSpPr>
        <p:sp>
          <p:nvSpPr>
            <p:cNvPr id="2" name="TextBox 2"/>
            <p:cNvSpPr txBox="1"/>
            <p:nvPr/>
          </p:nvSpPr>
          <p:spPr>
            <a:xfrm>
              <a:off x="449580" y="428625"/>
              <a:ext cx="337737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3.2 事中审核与复核</a:t>
              </a:r>
            </a:p>
          </p:txBody>
        </p:sp>
        <p:sp>
          <p:nvSpPr>
            <p:cNvPr id="3" name="TextBox 3"/>
            <p:cNvSpPr txBox="1"/>
            <p:nvPr/>
          </p:nvSpPr>
          <p:spPr>
            <a:xfrm>
              <a:off x="441198" y="850583"/>
              <a:ext cx="7240905"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条件没变可复用，变了就核对受影响项</a:t>
              </a:r>
            </a:p>
          </p:txBody>
        </p:sp>
      </p:grpSp>
      <p:grpSp>
        <p:nvGrpSpPr>
          <p:cNvPr id="8" name="Group 8"/>
          <p:cNvGrpSpPr/>
          <p:nvPr/>
        </p:nvGrpSpPr>
        <p:grpSpPr>
          <a:xfrm>
            <a:off x="457200" y="1905000"/>
            <a:ext cx="11277600" cy="1657350"/>
            <a:chOff x="457200" y="1905000"/>
            <a:chExt cx="11277600" cy="1657350"/>
          </a:xfrm>
        </p:grpSpPr>
        <p:sp>
          <p:nvSpPr>
            <p:cNvPr id="5" name="Rectangle 5"/>
            <p:cNvSpPr/>
            <p:nvPr/>
          </p:nvSpPr>
          <p:spPr>
            <a:xfrm>
              <a:off x="457200" y="1905000"/>
              <a:ext cx="11277600" cy="1657350"/>
            </a:xfrm>
            <a:prstGeom prst="roundRect">
              <a:avLst>
                <a:gd name="adj" fmla="val 6897"/>
              </a:avLst>
            </a:prstGeom>
            <a:solidFill>
              <a:schemeClr val="lt2"/>
            </a:solidFill>
            <a:ln>
              <a:noFill/>
            </a:ln>
          </p:spPr>
        </p:sp>
        <p:sp>
          <p:nvSpPr>
            <p:cNvPr id="6" name="TextBox 6"/>
            <p:cNvSpPr txBox="1"/>
            <p:nvPr/>
          </p:nvSpPr>
          <p:spPr>
            <a:xfrm>
              <a:off x="733806" y="2167890"/>
              <a:ext cx="2926080"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一次检查的有效性，取决于</a:t>
              </a:r>
            </a:p>
          </p:txBody>
        </p:sp>
        <p:sp>
          <p:nvSpPr>
            <p:cNvPr id="7" name="TextBox 7"/>
            <p:cNvSpPr txBox="1"/>
            <p:nvPr/>
          </p:nvSpPr>
          <p:spPr>
            <a:xfrm>
              <a:off x="730758" y="2684145"/>
              <a:ext cx="7797516"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正文 · SKU · 活动 · 资料版本 · 审核点 · 执行配置</a:t>
              </a:r>
            </a:p>
          </p:txBody>
        </p:sp>
      </p:grpSp>
      <p:grpSp>
        <p:nvGrpSpPr>
          <p:cNvPr id="11" name="Group 11"/>
          <p:cNvGrpSpPr/>
          <p:nvPr/>
        </p:nvGrpSpPr>
        <p:grpSpPr>
          <a:xfrm>
            <a:off x="445008" y="4122420"/>
            <a:ext cx="3980688" cy="966978"/>
            <a:chOff x="445008" y="4122420"/>
            <a:chExt cx="3980688" cy="966978"/>
          </a:xfrm>
        </p:grpSpPr>
        <p:sp>
          <p:nvSpPr>
            <p:cNvPr id="9" name="TextBox 9"/>
            <p:cNvSpPr txBox="1"/>
            <p:nvPr/>
          </p:nvSpPr>
          <p:spPr>
            <a:xfrm>
              <a:off x="445008" y="4122420"/>
              <a:ext cx="390144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条件一致，已有结果仍有效</a:t>
              </a:r>
            </a:p>
          </p:txBody>
        </p:sp>
        <p:sp>
          <p:nvSpPr>
            <p:cNvPr id="10" name="TextBox 10"/>
            <p:cNvSpPr txBox="1"/>
            <p:nvPr/>
          </p:nvSpPr>
          <p:spPr>
            <a:xfrm>
              <a:off x="446532" y="4678680"/>
              <a:ext cx="397916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按约定复用，保留人工正式确认</a:t>
              </a:r>
            </a:p>
          </p:txBody>
        </p:sp>
      </p:grpSp>
      <p:grpSp>
        <p:nvGrpSpPr>
          <p:cNvPr id="14" name="Group 14"/>
          <p:cNvGrpSpPr/>
          <p:nvPr/>
        </p:nvGrpSpPr>
        <p:grpSpPr>
          <a:xfrm>
            <a:off x="6293358" y="4122420"/>
            <a:ext cx="3980688" cy="966978"/>
            <a:chOff x="6293358" y="4122420"/>
            <a:chExt cx="3980688" cy="966978"/>
          </a:xfrm>
        </p:grpSpPr>
        <p:sp>
          <p:nvSpPr>
            <p:cNvPr id="12" name="TextBox 12"/>
            <p:cNvSpPr txBox="1"/>
            <p:nvPr/>
          </p:nvSpPr>
          <p:spPr>
            <a:xfrm>
              <a:off x="6293358" y="4122420"/>
              <a:ext cx="2932176"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文案或依据发生变化</a:t>
              </a:r>
            </a:p>
          </p:txBody>
        </p:sp>
        <p:sp>
          <p:nvSpPr>
            <p:cNvPr id="13" name="TextBox 13"/>
            <p:cNvSpPr txBox="1"/>
            <p:nvPr/>
          </p:nvSpPr>
          <p:spPr>
            <a:xfrm>
              <a:off x="6294882" y="4678680"/>
              <a:ext cx="397916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重查受影响项；不确定时查全文</a:t>
              </a:r>
            </a:p>
          </p:txBody>
        </p:sp>
      </p:grpSp>
      <p:grpSp>
        <p:nvGrpSpPr>
          <p:cNvPr id="16" name="Group 16"/>
          <p:cNvGrpSpPr/>
          <p:nvPr/>
        </p:nvGrpSpPr>
        <p:grpSpPr>
          <a:xfrm>
            <a:off x="448056" y="5835015"/>
            <a:ext cx="8014716" cy="352044"/>
            <a:chOff x="448056" y="5835015"/>
            <a:chExt cx="8014716" cy="352044"/>
          </a:xfrm>
        </p:grpSpPr>
        <p:sp>
          <p:nvSpPr>
            <p:cNvPr id="15" name="TextBox 15"/>
            <p:cNvSpPr txBox="1"/>
            <p:nvPr/>
          </p:nvSpPr>
          <p:spPr>
            <a:xfrm>
              <a:off x="448056" y="5835015"/>
              <a:ext cx="801471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改一句话可能改变其他句子的条件范围；稿件同名，不代表检查条件相同。</a:t>
              </a:r>
            </a:p>
          </p:txBody>
        </p:sp>
      </p:grpSp>
      <p:grpSp>
        <p:nvGrpSpPr>
          <p:cNvPr id="28" name="Group 28"/>
          <p:cNvGrpSpPr/>
          <p:nvPr/>
        </p:nvGrpSpPr>
        <p:grpSpPr>
          <a:xfrm>
            <a:off x="0" y="6286500"/>
            <a:ext cx="12192000" cy="571500"/>
            <a:chOff x="0" y="6286500"/>
            <a:chExt cx="12192000" cy="571500"/>
          </a:xfrm>
        </p:grpSpPr>
        <p:sp>
          <p:nvSpPr>
            <p:cNvPr id="17" name="Rectangle 17"/>
            <p:cNvSpPr/>
            <p:nvPr/>
          </p:nvSpPr>
          <p:spPr>
            <a:xfrm>
              <a:off x="0" y="6286500"/>
              <a:ext cx="12192000" cy="571500"/>
            </a:xfrm>
            <a:prstGeom prst="rect">
              <a:avLst/>
            </a:prstGeom>
            <a:solidFill>
              <a:srgbClr val="FFFFFF"/>
            </a:solidFill>
            <a:ln>
              <a:noFill/>
            </a:ln>
          </p:spPr>
        </p:sp>
        <p:sp>
          <p:nvSpPr>
            <p:cNvPr id="18" name="Line 18"/>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6" name="Group 26"/>
            <p:cNvGrpSpPr/>
            <p:nvPr/>
          </p:nvGrpSpPr>
          <p:grpSpPr>
            <a:xfrm>
              <a:off x="451866" y="6468428"/>
              <a:ext cx="9783070" cy="205359"/>
              <a:chOff x="451866" y="6468428"/>
              <a:chExt cx="9783070" cy="205359"/>
            </a:xfrm>
          </p:grpSpPr>
          <p:sp>
            <p:nvSpPr>
              <p:cNvPr id="19" name="TextBox 19"/>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0" name="TextBox 20"/>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1" name="TextBox 21"/>
              <p:cNvSpPr txBox="1"/>
              <p:nvPr/>
            </p:nvSpPr>
            <p:spPr>
              <a:xfrm>
                <a:off x="348081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3 三段流程</a:t>
                </a:r>
              </a:p>
            </p:txBody>
          </p:sp>
          <p:sp>
            <p:nvSpPr>
              <p:cNvPr id="22" name="TextBox 22"/>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3" name="TextBox 23"/>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4" name="TextBox 24"/>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5" name="TextBox 25"/>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27" name="TextBox 27"/>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22 / 70</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306633" cy="1038035"/>
            <a:chOff x="441198" y="428625"/>
            <a:chExt cx="7306633" cy="1038035"/>
          </a:xfrm>
        </p:grpSpPr>
        <p:sp>
          <p:nvSpPr>
            <p:cNvPr id="2" name="TextBox 2"/>
            <p:cNvSpPr txBox="1"/>
            <p:nvPr/>
          </p:nvSpPr>
          <p:spPr>
            <a:xfrm>
              <a:off x="449580" y="428625"/>
              <a:ext cx="2771584"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3.3 事后巡检</a:t>
              </a:r>
            </a:p>
          </p:txBody>
        </p:sp>
        <p:sp>
          <p:nvSpPr>
            <p:cNvPr id="3" name="TextBox 3"/>
            <p:cNvSpPr txBox="1"/>
            <p:nvPr/>
          </p:nvSpPr>
          <p:spPr>
            <a:xfrm>
              <a:off x="441198" y="850583"/>
              <a:ext cx="730663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“赠品名额已用完”，新增一次变化事件</a:t>
              </a:r>
            </a:p>
          </p:txBody>
        </p:sp>
      </p:grpSp>
      <p:grpSp>
        <p:nvGrpSpPr>
          <p:cNvPr id="9" name="Group 9"/>
          <p:cNvGrpSpPr/>
          <p:nvPr/>
        </p:nvGrpSpPr>
        <p:grpSpPr>
          <a:xfrm>
            <a:off x="457200" y="1847850"/>
            <a:ext cx="6667500" cy="3286125"/>
            <a:chOff x="457200" y="1847850"/>
            <a:chExt cx="6667500" cy="3286125"/>
          </a:xfrm>
        </p:grpSpPr>
        <p:sp>
          <p:nvSpPr>
            <p:cNvPr id="5" name="Rectangle 5"/>
            <p:cNvSpPr/>
            <p:nvPr/>
          </p:nvSpPr>
          <p:spPr>
            <a:xfrm>
              <a:off x="457200" y="1847850"/>
              <a:ext cx="6667500" cy="3286125"/>
            </a:xfrm>
            <a:prstGeom prst="roundRect">
              <a:avLst>
                <a:gd name="adj" fmla="val 3478"/>
              </a:avLst>
            </a:prstGeom>
            <a:solidFill>
              <a:schemeClr val="lt2"/>
            </a:solidFill>
            <a:ln>
              <a:noFill/>
            </a:ln>
          </p:spPr>
        </p:sp>
        <p:sp>
          <p:nvSpPr>
            <p:cNvPr id="6" name="TextBox 6"/>
            <p:cNvSpPr txBox="1"/>
            <p:nvPr/>
          </p:nvSpPr>
          <p:spPr>
            <a:xfrm>
              <a:off x="733806" y="2110740"/>
              <a:ext cx="3308299"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E-GIFT-01 / 活动负责人确认</a:t>
              </a:r>
            </a:p>
          </p:txBody>
        </p:sp>
        <p:sp>
          <p:nvSpPr>
            <p:cNvPr id="7" name="TextBox 7"/>
            <p:cNvSpPr txBox="1"/>
            <p:nvPr/>
          </p:nvSpPr>
          <p:spPr>
            <a:xfrm>
              <a:off x="726948" y="2631758"/>
              <a:ext cx="458315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清洁包200个名额已用完</a:t>
              </a:r>
            </a:p>
          </p:txBody>
        </p:sp>
        <p:sp>
          <p:nvSpPr>
            <p:cNvPr id="8" name="TextBox 8"/>
            <p:cNvSpPr txBox="1"/>
            <p:nvPr/>
          </p:nvSpPr>
          <p:spPr>
            <a:xfrm>
              <a:off x="732282" y="3430905"/>
              <a:ext cx="4288536" cy="877443"/>
            </a:xfrm>
            <a:prstGeom prst="rect">
              <a:avLst/>
            </a:prstGeom>
            <a:noFill/>
            <a:ln>
              <a:noFill/>
            </a:ln>
          </p:spPr>
          <p:txBody>
            <a:bodyPr wrap="none" lIns="0" tIns="0" rIns="0" bIns="0" anchor="t" anchorCtr="0">
              <a:spAutoFit/>
            </a:bodyPr>
            <a:lstStyle/>
            <a:p>
              <a:pPr algn="l">
                <a:lnSpc>
                  <a:spcPts val="3675"/>
                </a:lnSpc>
              </a:pPr>
              <a:r>
                <a:rPr lang="zh-CN" sz="2100" dirty="0">
                  <a:solidFill>
                    <a:schemeClr val="dk1"/>
                  </a:solidFill>
                  <a:latin typeface="+mn-lt"/>
                  <a:ea typeface="+mn-ea"/>
                  <a:cs typeface="+mn-cs"/>
                </a:rPr>
                <a:t>记录关联活动、确认依据、生效条件</a:t>
              </a:r>
              <a:br/>
              <a:r>
                <a:rPr lang="zh-CN" sz="2100" dirty="0">
                  <a:solidFill>
                    <a:schemeClr val="dk1"/>
                  </a:solidFill>
                  <a:latin typeface="+mn-lt"/>
                  <a:ea typeface="+mn-ea"/>
                  <a:cs typeface="+mn-cs"/>
                </a:rPr>
                <a:t>再选择相关的在用推广内容复查</a:t>
              </a:r>
            </a:p>
          </p:txBody>
        </p:sp>
      </p:grpSp>
      <p:grpSp>
        <p:nvGrpSpPr>
          <p:cNvPr id="15" name="Group 15"/>
          <p:cNvGrpSpPr/>
          <p:nvPr/>
        </p:nvGrpSpPr>
        <p:grpSpPr>
          <a:xfrm>
            <a:off x="7607808" y="2110740"/>
            <a:ext cx="3255264" cy="2902458"/>
            <a:chOff x="7607808" y="2110740"/>
            <a:chExt cx="3255264" cy="2902458"/>
          </a:xfrm>
        </p:grpSpPr>
        <p:sp>
          <p:nvSpPr>
            <p:cNvPr id="10" name="TextBox 10"/>
            <p:cNvSpPr txBox="1"/>
            <p:nvPr/>
          </p:nvSpPr>
          <p:spPr>
            <a:xfrm>
              <a:off x="7610856" y="2110740"/>
              <a:ext cx="1229868"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记录的关系</a:t>
              </a:r>
            </a:p>
          </p:txBody>
        </p:sp>
        <p:sp>
          <p:nvSpPr>
            <p:cNvPr id="11" name="TextBox 11"/>
            <p:cNvSpPr txBox="1"/>
            <p:nvPr/>
          </p:nvSpPr>
          <p:spPr>
            <a:xfrm>
              <a:off x="7607808" y="2712720"/>
              <a:ext cx="260908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旧审核记录：保留</a:t>
              </a:r>
            </a:p>
          </p:txBody>
        </p:sp>
        <p:sp>
          <p:nvSpPr>
            <p:cNvPr id="12" name="TextBox 12"/>
            <p:cNvSpPr txBox="1"/>
            <p:nvPr/>
          </p:nvSpPr>
          <p:spPr>
            <a:xfrm>
              <a:off x="7609332" y="3307080"/>
              <a:ext cx="284835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说明当时的判断与依据</a:t>
              </a:r>
            </a:p>
          </p:txBody>
        </p:sp>
        <p:sp>
          <p:nvSpPr>
            <p:cNvPr id="13" name="TextBox 13"/>
            <p:cNvSpPr txBox="1"/>
            <p:nvPr/>
          </p:nvSpPr>
          <p:spPr>
            <a:xfrm>
              <a:off x="7607808" y="4008120"/>
              <a:ext cx="3255264"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新巡检记录：关联事件</a:t>
              </a:r>
            </a:p>
          </p:txBody>
        </p:sp>
        <p:sp>
          <p:nvSpPr>
            <p:cNvPr id="14" name="TextBox 14"/>
            <p:cNvSpPr txBox="1"/>
            <p:nvPr/>
          </p:nvSpPr>
          <p:spPr>
            <a:xfrm>
              <a:off x="7609332" y="4602480"/>
              <a:ext cx="313105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说明变化后的范围与处置</a:t>
              </a:r>
            </a:p>
          </p:txBody>
        </p:sp>
      </p:grpSp>
      <p:grpSp>
        <p:nvGrpSpPr>
          <p:cNvPr id="17" name="Group 17"/>
          <p:cNvGrpSpPr/>
          <p:nvPr/>
        </p:nvGrpSpPr>
        <p:grpSpPr>
          <a:xfrm>
            <a:off x="446532" y="5726430"/>
            <a:ext cx="9350502" cy="410718"/>
            <a:chOff x="446532" y="5726430"/>
            <a:chExt cx="9350502" cy="410718"/>
          </a:xfrm>
        </p:grpSpPr>
        <p:sp>
          <p:nvSpPr>
            <p:cNvPr id="16" name="TextBox 16"/>
            <p:cNvSpPr txBox="1"/>
            <p:nvPr/>
          </p:nvSpPr>
          <p:spPr>
            <a:xfrm>
              <a:off x="446532" y="5726430"/>
              <a:ext cx="935050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已经取得赠品资格的订单权益保留；本次关注当前推广是否仍作赠送承诺。</a:t>
              </a:r>
            </a:p>
          </p:txBody>
        </p:sp>
      </p:grpSp>
      <p:grpSp>
        <p:nvGrpSpPr>
          <p:cNvPr id="29" name="Group 29"/>
          <p:cNvGrpSpPr/>
          <p:nvPr/>
        </p:nvGrpSpPr>
        <p:grpSpPr>
          <a:xfrm>
            <a:off x="0" y="6286500"/>
            <a:ext cx="12192000" cy="571500"/>
            <a:chOff x="0" y="6286500"/>
            <a:chExt cx="12192000" cy="571500"/>
          </a:xfrm>
        </p:grpSpPr>
        <p:sp>
          <p:nvSpPr>
            <p:cNvPr id="18" name="Rectangle 18"/>
            <p:cNvSpPr/>
            <p:nvPr/>
          </p:nvSpPr>
          <p:spPr>
            <a:xfrm>
              <a:off x="0" y="6286500"/>
              <a:ext cx="12192000" cy="571500"/>
            </a:xfrm>
            <a:prstGeom prst="rect">
              <a:avLst/>
            </a:prstGeom>
            <a:solidFill>
              <a:srgbClr val="FFFFFF"/>
            </a:solidFill>
            <a:ln>
              <a:noFill/>
            </a:ln>
          </p:spPr>
        </p:sp>
        <p:sp>
          <p:nvSpPr>
            <p:cNvPr id="19" name="Line 19"/>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7" name="Group 27"/>
            <p:cNvGrpSpPr/>
            <p:nvPr/>
          </p:nvGrpSpPr>
          <p:grpSpPr>
            <a:xfrm>
              <a:off x="451866" y="6468428"/>
              <a:ext cx="9783070" cy="205359"/>
              <a:chOff x="451866" y="6468428"/>
              <a:chExt cx="9783070" cy="205359"/>
            </a:xfrm>
          </p:grpSpPr>
          <p:sp>
            <p:nvSpPr>
              <p:cNvPr id="20" name="TextBox 20"/>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1" name="TextBox 21"/>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2" name="TextBox 22"/>
              <p:cNvSpPr txBox="1"/>
              <p:nvPr/>
            </p:nvSpPr>
            <p:spPr>
              <a:xfrm>
                <a:off x="348081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3 三段流程</a:t>
                </a:r>
              </a:p>
            </p:txBody>
          </p:sp>
          <p:sp>
            <p:nvSpPr>
              <p:cNvPr id="23" name="TextBox 23"/>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4" name="TextBox 24"/>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5" name="TextBox 25"/>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6" name="TextBox 26"/>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28" name="TextBox 28"/>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23 / 70</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968746" cy="1038035"/>
            <a:chOff x="441198" y="428625"/>
            <a:chExt cx="5968746" cy="1038035"/>
          </a:xfrm>
        </p:grpSpPr>
        <p:sp>
          <p:nvSpPr>
            <p:cNvPr id="2" name="TextBox 2"/>
            <p:cNvSpPr txBox="1"/>
            <p:nvPr/>
          </p:nvSpPr>
          <p:spPr>
            <a:xfrm>
              <a:off x="449580" y="428625"/>
              <a:ext cx="3811524"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3.3 事后巡检 · 范围练习</a:t>
              </a:r>
            </a:p>
          </p:txBody>
        </p:sp>
        <p:sp>
          <p:nvSpPr>
            <p:cNvPr id="3" name="TextBox 3"/>
            <p:cNvSpPr txBox="1"/>
            <p:nvPr/>
          </p:nvSpPr>
          <p:spPr>
            <a:xfrm>
              <a:off x="441198" y="850583"/>
              <a:ext cx="5968746"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六篇内容，哪些进入这次巡检？</a:t>
              </a:r>
            </a:p>
          </p:txBody>
        </p:sp>
      </p:grpSp>
      <p:grpSp>
        <p:nvGrpSpPr>
          <p:cNvPr id="8" name="Group 8"/>
          <p:cNvGrpSpPr/>
          <p:nvPr/>
        </p:nvGrpSpPr>
        <p:grpSpPr>
          <a:xfrm>
            <a:off x="457200" y="1809750"/>
            <a:ext cx="3505200" cy="1619250"/>
            <a:chOff x="457200" y="1809750"/>
            <a:chExt cx="3505200" cy="1619250"/>
          </a:xfrm>
        </p:grpSpPr>
        <p:sp>
          <p:nvSpPr>
            <p:cNvPr id="5" name="Rectangle 5"/>
            <p:cNvSpPr/>
            <p:nvPr/>
          </p:nvSpPr>
          <p:spPr>
            <a:xfrm>
              <a:off x="457200" y="1809750"/>
              <a:ext cx="3505200" cy="1619250"/>
            </a:xfrm>
            <a:prstGeom prst="roundRect">
              <a:avLst>
                <a:gd name="adj" fmla="val 7059"/>
              </a:avLst>
            </a:prstGeom>
            <a:solidFill>
              <a:srgbClr val="FFFFFF"/>
            </a:solidFill>
            <a:ln>
              <a:noFill/>
            </a:ln>
          </p:spPr>
        </p:sp>
        <p:sp>
          <p:nvSpPr>
            <p:cNvPr id="6" name="TextBox 6"/>
            <p:cNvSpPr txBox="1"/>
            <p:nvPr/>
          </p:nvSpPr>
          <p:spPr>
            <a:xfrm>
              <a:off x="656082" y="1973580"/>
              <a:ext cx="2753731"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C01 / 本活动 · 在用</a:t>
              </a:r>
            </a:p>
          </p:txBody>
        </p:sp>
        <p:sp>
          <p:nvSpPr>
            <p:cNvPr id="7" name="TextBox 7"/>
            <p:cNvSpPr txBox="1"/>
            <p:nvPr/>
          </p:nvSpPr>
          <p:spPr>
            <a:xfrm>
              <a:off x="657606" y="2520315"/>
              <a:ext cx="2224278" cy="733044"/>
            </a:xfrm>
            <a:prstGeom prst="rect">
              <a:avLst/>
            </a:prstGeom>
            <a:noFill/>
            <a:ln>
              <a:noFill/>
            </a:ln>
          </p:spPr>
          <p:txBody>
            <a:bodyPr wrap="none" lIns="0" tIns="0" rIns="0" bIns="0" anchor="t" anchorCtr="0">
              <a:spAutoFit/>
            </a:bodyPr>
            <a:lstStyle/>
            <a:p>
              <a:pPr algn="l">
                <a:lnSpc>
                  <a:spcPts val="3000"/>
                </a:lnSpc>
              </a:pPr>
              <a:r>
                <a:rPr lang="zh-CN" sz="1800" dirty="0">
                  <a:solidFill>
                    <a:schemeClr val="dk1"/>
                  </a:solidFill>
                  <a:latin typeface="+mn-lt"/>
                  <a:ea typeface="+mn-ea"/>
                  <a:cs typeface="+mn-cs"/>
                </a:rPr>
                <a:t>仍写前200名赠清洁包</a:t>
              </a:r>
              <a:br/>
              <a:r>
                <a:rPr lang="zh-CN" sz="1800" dirty="0">
                  <a:solidFill>
                    <a:schemeClr val="dk1"/>
                  </a:solidFill>
                  <a:latin typeface="+mn-lt"/>
                  <a:ea typeface="+mn-ea"/>
                  <a:cs typeface="+mn-cs"/>
                </a:rPr>
                <a:t>没有名额用完说明</a:t>
              </a:r>
            </a:p>
          </p:txBody>
        </p:sp>
      </p:grpSp>
      <p:grpSp>
        <p:nvGrpSpPr>
          <p:cNvPr id="12" name="Group 12"/>
          <p:cNvGrpSpPr/>
          <p:nvPr/>
        </p:nvGrpSpPr>
        <p:grpSpPr>
          <a:xfrm>
            <a:off x="4343400" y="1809750"/>
            <a:ext cx="3505200" cy="1619250"/>
            <a:chOff x="4343400" y="1809750"/>
            <a:chExt cx="3505200" cy="1619250"/>
          </a:xfrm>
        </p:grpSpPr>
        <p:sp>
          <p:nvSpPr>
            <p:cNvPr id="9" name="Rectangle 9"/>
            <p:cNvSpPr/>
            <p:nvPr/>
          </p:nvSpPr>
          <p:spPr>
            <a:xfrm>
              <a:off x="4343400" y="1809750"/>
              <a:ext cx="3505200" cy="1619250"/>
            </a:xfrm>
            <a:prstGeom prst="roundRect">
              <a:avLst>
                <a:gd name="adj" fmla="val 7059"/>
              </a:avLst>
            </a:prstGeom>
            <a:solidFill>
              <a:srgbClr val="FFFFFF"/>
            </a:solidFill>
            <a:ln>
              <a:noFill/>
            </a:ln>
          </p:spPr>
        </p:sp>
        <p:sp>
          <p:nvSpPr>
            <p:cNvPr id="10" name="TextBox 10"/>
            <p:cNvSpPr txBox="1"/>
            <p:nvPr/>
          </p:nvSpPr>
          <p:spPr>
            <a:xfrm>
              <a:off x="4542282" y="1973580"/>
              <a:ext cx="2753731"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C02 / 本活动 · 停用</a:t>
              </a:r>
            </a:p>
          </p:txBody>
        </p:sp>
        <p:sp>
          <p:nvSpPr>
            <p:cNvPr id="11" name="TextBox 11"/>
            <p:cNvSpPr txBox="1"/>
            <p:nvPr/>
          </p:nvSpPr>
          <p:spPr>
            <a:xfrm>
              <a:off x="4543806" y="2520315"/>
              <a:ext cx="1847088" cy="733044"/>
            </a:xfrm>
            <a:prstGeom prst="rect">
              <a:avLst/>
            </a:prstGeom>
            <a:noFill/>
            <a:ln>
              <a:noFill/>
            </a:ln>
          </p:spPr>
          <p:txBody>
            <a:bodyPr wrap="none" lIns="0" tIns="0" rIns="0" bIns="0" anchor="t" anchorCtr="0">
              <a:spAutoFit/>
            </a:bodyPr>
            <a:lstStyle/>
            <a:p>
              <a:pPr algn="l">
                <a:lnSpc>
                  <a:spcPts val="3000"/>
                </a:lnSpc>
              </a:pPr>
              <a:r>
                <a:rPr lang="zh-CN" sz="1800" dirty="0">
                  <a:solidFill>
                    <a:schemeClr val="dk1"/>
                  </a:solidFill>
                  <a:latin typeface="+mn-lt"/>
                  <a:ea typeface="+mn-ea"/>
                  <a:cs typeface="+mn-cs"/>
                </a:rPr>
                <a:t>保留原赠品表达</a:t>
              </a:r>
              <a:br/>
              <a:r>
                <a:rPr lang="zh-CN" sz="1800" dirty="0">
                  <a:solidFill>
                    <a:schemeClr val="dk1"/>
                  </a:solidFill>
                  <a:latin typeface="+mn-lt"/>
                  <a:ea typeface="+mn-ea"/>
                  <a:cs typeface="+mn-cs"/>
                </a:rPr>
                <a:t>作为历史内容留存</a:t>
              </a:r>
            </a:p>
          </p:txBody>
        </p:sp>
      </p:grpSp>
      <p:grpSp>
        <p:nvGrpSpPr>
          <p:cNvPr id="16" name="Group 16"/>
          <p:cNvGrpSpPr/>
          <p:nvPr/>
        </p:nvGrpSpPr>
        <p:grpSpPr>
          <a:xfrm>
            <a:off x="8229600" y="1809750"/>
            <a:ext cx="3505200" cy="1619250"/>
            <a:chOff x="8229600" y="1809750"/>
            <a:chExt cx="3505200" cy="1619250"/>
          </a:xfrm>
        </p:grpSpPr>
        <p:sp>
          <p:nvSpPr>
            <p:cNvPr id="13" name="Rectangle 13"/>
            <p:cNvSpPr/>
            <p:nvPr/>
          </p:nvSpPr>
          <p:spPr>
            <a:xfrm>
              <a:off x="8229600" y="1809750"/>
              <a:ext cx="3505200" cy="1619250"/>
            </a:xfrm>
            <a:prstGeom prst="roundRect">
              <a:avLst>
                <a:gd name="adj" fmla="val 7059"/>
              </a:avLst>
            </a:prstGeom>
            <a:solidFill>
              <a:srgbClr val="FFFFFF"/>
            </a:solidFill>
            <a:ln>
              <a:noFill/>
            </a:ln>
          </p:spPr>
        </p:sp>
        <p:sp>
          <p:nvSpPr>
            <p:cNvPr id="14" name="TextBox 14"/>
            <p:cNvSpPr txBox="1"/>
            <p:nvPr/>
          </p:nvSpPr>
          <p:spPr>
            <a:xfrm>
              <a:off x="8428482" y="1973580"/>
              <a:ext cx="2753731"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C03 / 本活动 · 在用</a:t>
              </a:r>
            </a:p>
          </p:txBody>
        </p:sp>
        <p:sp>
          <p:nvSpPr>
            <p:cNvPr id="15" name="TextBox 15"/>
            <p:cNvSpPr txBox="1"/>
            <p:nvPr/>
          </p:nvSpPr>
          <p:spPr>
            <a:xfrm>
              <a:off x="8430006" y="2520315"/>
              <a:ext cx="1389888" cy="733044"/>
            </a:xfrm>
            <a:prstGeom prst="rect">
              <a:avLst/>
            </a:prstGeom>
            <a:noFill/>
            <a:ln>
              <a:noFill/>
            </a:ln>
          </p:spPr>
          <p:txBody>
            <a:bodyPr wrap="none" lIns="0" tIns="0" rIns="0" bIns="0" anchor="t" anchorCtr="0">
              <a:spAutoFit/>
            </a:bodyPr>
            <a:lstStyle/>
            <a:p>
              <a:pPr algn="l">
                <a:lnSpc>
                  <a:spcPts val="3000"/>
                </a:lnSpc>
              </a:pPr>
              <a:r>
                <a:rPr lang="zh-CN" sz="1800" dirty="0">
                  <a:solidFill>
                    <a:schemeClr val="dk1"/>
                  </a:solidFill>
                  <a:latin typeface="+mn-lt"/>
                  <a:ea typeface="+mn-ea"/>
                  <a:cs typeface="+mn-cs"/>
                </a:rPr>
                <a:t>已经明确写出</a:t>
              </a:r>
              <a:br/>
              <a:r>
                <a:rPr lang="zh-CN" sz="1800" dirty="0">
                  <a:solidFill>
                    <a:schemeClr val="dk1"/>
                  </a:solidFill>
                  <a:latin typeface="+mn-lt"/>
                  <a:ea typeface="+mn-ea"/>
                  <a:cs typeface="+mn-cs"/>
                </a:rPr>
                <a:t>赠品名额用完</a:t>
              </a:r>
            </a:p>
          </p:txBody>
        </p:sp>
      </p:grpSp>
      <p:grpSp>
        <p:nvGrpSpPr>
          <p:cNvPr id="20" name="Group 20"/>
          <p:cNvGrpSpPr/>
          <p:nvPr/>
        </p:nvGrpSpPr>
        <p:grpSpPr>
          <a:xfrm>
            <a:off x="457200" y="3733800"/>
            <a:ext cx="3505200" cy="1619250"/>
            <a:chOff x="457200" y="3733800"/>
            <a:chExt cx="3505200" cy="1619250"/>
          </a:xfrm>
        </p:grpSpPr>
        <p:sp>
          <p:nvSpPr>
            <p:cNvPr id="17" name="Rectangle 17"/>
            <p:cNvSpPr/>
            <p:nvPr/>
          </p:nvSpPr>
          <p:spPr>
            <a:xfrm>
              <a:off x="457200" y="3733800"/>
              <a:ext cx="3505200" cy="1619250"/>
            </a:xfrm>
            <a:prstGeom prst="roundRect">
              <a:avLst>
                <a:gd name="adj" fmla="val 7059"/>
              </a:avLst>
            </a:prstGeom>
            <a:solidFill>
              <a:srgbClr val="FFFFFF"/>
            </a:solidFill>
            <a:ln>
              <a:noFill/>
            </a:ln>
          </p:spPr>
        </p:sp>
        <p:sp>
          <p:nvSpPr>
            <p:cNvPr id="18" name="TextBox 18"/>
            <p:cNvSpPr txBox="1"/>
            <p:nvPr/>
          </p:nvSpPr>
          <p:spPr>
            <a:xfrm>
              <a:off x="656082" y="3897630"/>
              <a:ext cx="3052435"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C04 / 其他活动 · 在用</a:t>
              </a:r>
            </a:p>
          </p:txBody>
        </p:sp>
        <p:sp>
          <p:nvSpPr>
            <p:cNvPr id="19" name="TextBox 19"/>
            <p:cNvSpPr txBox="1"/>
            <p:nvPr/>
          </p:nvSpPr>
          <p:spPr>
            <a:xfrm>
              <a:off x="657606" y="4444365"/>
              <a:ext cx="2532888" cy="733044"/>
            </a:xfrm>
            <a:prstGeom prst="rect">
              <a:avLst/>
            </a:prstGeom>
            <a:noFill/>
            <a:ln>
              <a:noFill/>
            </a:ln>
          </p:spPr>
          <p:txBody>
            <a:bodyPr wrap="none" lIns="0" tIns="0" rIns="0" bIns="0" anchor="t" anchorCtr="0">
              <a:spAutoFit/>
            </a:bodyPr>
            <a:lstStyle/>
            <a:p>
              <a:pPr algn="l">
                <a:lnSpc>
                  <a:spcPts val="3000"/>
                </a:lnSpc>
              </a:pPr>
              <a:r>
                <a:rPr lang="zh-CN" sz="1800" dirty="0">
                  <a:solidFill>
                    <a:schemeClr val="dk1"/>
                  </a:solidFill>
                  <a:latin typeface="+mn-lt"/>
                  <a:ea typeface="+mn-ea"/>
                  <a:cs typeface="+mn-cs"/>
                </a:rPr>
                <a:t>也提清洁包</a:t>
              </a:r>
              <a:br/>
              <a:r>
                <a:rPr lang="zh-CN" sz="1800" dirty="0">
                  <a:solidFill>
                    <a:schemeClr val="dk1"/>
                  </a:solidFill>
                  <a:latin typeface="+mn-lt"/>
                  <a:ea typeface="+mn-ea"/>
                  <a:cs typeface="+mn-cs"/>
                </a:rPr>
                <a:t>对应另一份有效权益方案</a:t>
              </a:r>
            </a:p>
          </p:txBody>
        </p:sp>
      </p:grpSp>
      <p:grpSp>
        <p:nvGrpSpPr>
          <p:cNvPr id="24" name="Group 24"/>
          <p:cNvGrpSpPr/>
          <p:nvPr/>
        </p:nvGrpSpPr>
        <p:grpSpPr>
          <a:xfrm>
            <a:off x="4343400" y="3733800"/>
            <a:ext cx="3505200" cy="1619250"/>
            <a:chOff x="4343400" y="3733800"/>
            <a:chExt cx="3505200" cy="1619250"/>
          </a:xfrm>
        </p:grpSpPr>
        <p:sp>
          <p:nvSpPr>
            <p:cNvPr id="21" name="Rectangle 21"/>
            <p:cNvSpPr/>
            <p:nvPr/>
          </p:nvSpPr>
          <p:spPr>
            <a:xfrm>
              <a:off x="4343400" y="3733800"/>
              <a:ext cx="3505200" cy="1619250"/>
            </a:xfrm>
            <a:prstGeom prst="roundRect">
              <a:avLst>
                <a:gd name="adj" fmla="val 7059"/>
              </a:avLst>
            </a:prstGeom>
            <a:solidFill>
              <a:srgbClr val="FFFFFF"/>
            </a:solidFill>
            <a:ln>
              <a:noFill/>
            </a:ln>
          </p:spPr>
        </p:sp>
        <p:sp>
          <p:nvSpPr>
            <p:cNvPr id="22" name="TextBox 22"/>
            <p:cNvSpPr txBox="1"/>
            <p:nvPr/>
          </p:nvSpPr>
          <p:spPr>
            <a:xfrm>
              <a:off x="4542282" y="3897630"/>
              <a:ext cx="2753731"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C05 / 本活动 · 在用</a:t>
              </a:r>
            </a:p>
          </p:txBody>
        </p:sp>
        <p:sp>
          <p:nvSpPr>
            <p:cNvPr id="23" name="TextBox 23"/>
            <p:cNvSpPr txBox="1"/>
            <p:nvPr/>
          </p:nvSpPr>
          <p:spPr>
            <a:xfrm>
              <a:off x="4543806" y="4444365"/>
              <a:ext cx="1618488" cy="733044"/>
            </a:xfrm>
            <a:prstGeom prst="rect">
              <a:avLst/>
            </a:prstGeom>
            <a:noFill/>
            <a:ln>
              <a:noFill/>
            </a:ln>
          </p:spPr>
          <p:txBody>
            <a:bodyPr wrap="none" lIns="0" tIns="0" rIns="0" bIns="0" anchor="t" anchorCtr="0">
              <a:spAutoFit/>
            </a:bodyPr>
            <a:lstStyle/>
            <a:p>
              <a:pPr algn="l">
                <a:lnSpc>
                  <a:spcPts val="3000"/>
                </a:lnSpc>
              </a:pPr>
              <a:r>
                <a:rPr lang="zh-CN" sz="1800" dirty="0">
                  <a:solidFill>
                    <a:schemeClr val="dk1"/>
                  </a:solidFill>
                  <a:latin typeface="+mn-lt"/>
                  <a:ea typeface="+mn-ea"/>
                  <a:cs typeface="+mn-cs"/>
                </a:rPr>
                <a:t>只介绍清洁功能</a:t>
              </a:r>
              <a:br/>
              <a:r>
                <a:rPr lang="zh-CN" sz="1800" dirty="0">
                  <a:solidFill>
                    <a:schemeClr val="dk1"/>
                  </a:solidFill>
                  <a:latin typeface="+mn-lt"/>
                  <a:ea typeface="+mn-ea"/>
                  <a:cs typeface="+mn-cs"/>
                </a:rPr>
                <a:t>没有赠品主张</a:t>
              </a:r>
            </a:p>
          </p:txBody>
        </p:sp>
      </p:grpSp>
      <p:grpSp>
        <p:nvGrpSpPr>
          <p:cNvPr id="28" name="Group 28"/>
          <p:cNvGrpSpPr/>
          <p:nvPr/>
        </p:nvGrpSpPr>
        <p:grpSpPr>
          <a:xfrm>
            <a:off x="8229600" y="3733800"/>
            <a:ext cx="3505200" cy="1619250"/>
            <a:chOff x="8229600" y="3733800"/>
            <a:chExt cx="3505200" cy="1619250"/>
          </a:xfrm>
        </p:grpSpPr>
        <p:sp>
          <p:nvSpPr>
            <p:cNvPr id="25" name="Rectangle 25"/>
            <p:cNvSpPr/>
            <p:nvPr/>
          </p:nvSpPr>
          <p:spPr>
            <a:xfrm>
              <a:off x="8229600" y="3733800"/>
              <a:ext cx="3505200" cy="1619250"/>
            </a:xfrm>
            <a:prstGeom prst="roundRect">
              <a:avLst>
                <a:gd name="adj" fmla="val 7059"/>
              </a:avLst>
            </a:prstGeom>
            <a:solidFill>
              <a:srgbClr val="FFFFFF"/>
            </a:solidFill>
            <a:ln>
              <a:noFill/>
            </a:ln>
          </p:spPr>
        </p:sp>
        <p:sp>
          <p:nvSpPr>
            <p:cNvPr id="26" name="TextBox 26"/>
            <p:cNvSpPr txBox="1"/>
            <p:nvPr/>
          </p:nvSpPr>
          <p:spPr>
            <a:xfrm>
              <a:off x="8428482" y="3897630"/>
              <a:ext cx="2753731"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C06 / 本活动 · 未知</a:t>
              </a:r>
            </a:p>
          </p:txBody>
        </p:sp>
        <p:sp>
          <p:nvSpPr>
            <p:cNvPr id="27" name="TextBox 27"/>
            <p:cNvSpPr txBox="1"/>
            <p:nvPr/>
          </p:nvSpPr>
          <p:spPr>
            <a:xfrm>
              <a:off x="8430006" y="4444365"/>
              <a:ext cx="2304288" cy="733044"/>
            </a:xfrm>
            <a:prstGeom prst="rect">
              <a:avLst/>
            </a:prstGeom>
            <a:noFill/>
            <a:ln>
              <a:noFill/>
            </a:ln>
          </p:spPr>
          <p:txBody>
            <a:bodyPr wrap="none" lIns="0" tIns="0" rIns="0" bIns="0" anchor="t" anchorCtr="0">
              <a:spAutoFit/>
            </a:bodyPr>
            <a:lstStyle/>
            <a:p>
              <a:pPr algn="l">
                <a:lnSpc>
                  <a:spcPts val="3000"/>
                </a:lnSpc>
              </a:pPr>
              <a:r>
                <a:rPr lang="zh-CN" sz="1800" dirty="0">
                  <a:solidFill>
                    <a:schemeClr val="dk1"/>
                  </a:solidFill>
                  <a:latin typeface="+mn-lt"/>
                  <a:ea typeface="+mn-ea"/>
                  <a:cs typeface="+mn-cs"/>
                </a:rPr>
                <a:t>含原赠品表达</a:t>
              </a:r>
              <a:br/>
              <a:r>
                <a:rPr lang="zh-CN" sz="1800" dirty="0">
                  <a:solidFill>
                    <a:schemeClr val="dk1"/>
                  </a:solidFill>
                  <a:latin typeface="+mn-lt"/>
                  <a:ea typeface="+mn-ea"/>
                  <a:cs typeface="+mn-cs"/>
                </a:rPr>
                <a:t>不知道是否仍对外使用</a:t>
              </a:r>
            </a:p>
          </p:txBody>
        </p:sp>
      </p:grpSp>
      <p:grpSp>
        <p:nvGrpSpPr>
          <p:cNvPr id="30" name="Group 30"/>
          <p:cNvGrpSpPr/>
          <p:nvPr/>
        </p:nvGrpSpPr>
        <p:grpSpPr>
          <a:xfrm>
            <a:off x="446532" y="5716905"/>
            <a:ext cx="9718015" cy="410718"/>
            <a:chOff x="446532" y="5716905"/>
            <a:chExt cx="9718015" cy="410718"/>
          </a:xfrm>
        </p:grpSpPr>
        <p:sp>
          <p:nvSpPr>
            <p:cNvPr id="29" name="TextBox 29"/>
            <p:cNvSpPr txBox="1"/>
            <p:nvPr/>
          </p:nvSpPr>
          <p:spPr>
            <a:xfrm>
              <a:off x="446532" y="5716905"/>
              <a:ext cx="971801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先选范围，再分：需处理 / 该项未发现问题 / 范围待确认。指定一位处理人。</a:t>
              </a:r>
            </a:p>
          </p:txBody>
        </p:sp>
      </p:grpSp>
      <p:grpSp>
        <p:nvGrpSpPr>
          <p:cNvPr id="42" name="Group 42"/>
          <p:cNvGrpSpPr/>
          <p:nvPr/>
        </p:nvGrpSpPr>
        <p:grpSpPr>
          <a:xfrm>
            <a:off x="0" y="6286500"/>
            <a:ext cx="12192000" cy="571500"/>
            <a:chOff x="0" y="6286500"/>
            <a:chExt cx="12192000" cy="571500"/>
          </a:xfrm>
        </p:grpSpPr>
        <p:sp>
          <p:nvSpPr>
            <p:cNvPr id="31" name="Rectangle 31"/>
            <p:cNvSpPr/>
            <p:nvPr/>
          </p:nvSpPr>
          <p:spPr>
            <a:xfrm>
              <a:off x="0" y="6286500"/>
              <a:ext cx="12192000" cy="571500"/>
            </a:xfrm>
            <a:prstGeom prst="rect">
              <a:avLst/>
            </a:prstGeom>
            <a:solidFill>
              <a:srgbClr val="FFFFFF"/>
            </a:solidFill>
            <a:ln>
              <a:noFill/>
            </a:ln>
          </p:spPr>
        </p:sp>
        <p:sp>
          <p:nvSpPr>
            <p:cNvPr id="32" name="Line 32"/>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40" name="Group 40"/>
            <p:cNvGrpSpPr/>
            <p:nvPr/>
          </p:nvGrpSpPr>
          <p:grpSpPr>
            <a:xfrm>
              <a:off x="451866" y="6468428"/>
              <a:ext cx="9783070" cy="205359"/>
              <a:chOff x="451866" y="6468428"/>
              <a:chExt cx="9783070" cy="205359"/>
            </a:xfrm>
          </p:grpSpPr>
          <p:sp>
            <p:nvSpPr>
              <p:cNvPr id="33" name="TextBox 33"/>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34" name="TextBox 34"/>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35" name="TextBox 35"/>
              <p:cNvSpPr txBox="1"/>
              <p:nvPr/>
            </p:nvSpPr>
            <p:spPr>
              <a:xfrm>
                <a:off x="348081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3 三段流程</a:t>
                </a:r>
              </a:p>
            </p:txBody>
          </p:sp>
          <p:sp>
            <p:nvSpPr>
              <p:cNvPr id="36" name="TextBox 36"/>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37" name="TextBox 37"/>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38" name="TextBox 38"/>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39" name="TextBox 39"/>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41" name="TextBox 41"/>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24 / 70</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544693" cy="1038035"/>
            <a:chOff x="441198" y="428625"/>
            <a:chExt cx="5544693" cy="1038035"/>
          </a:xfrm>
        </p:grpSpPr>
        <p:sp>
          <p:nvSpPr>
            <p:cNvPr id="2" name="TextBox 2"/>
            <p:cNvSpPr txBox="1"/>
            <p:nvPr/>
          </p:nvSpPr>
          <p:spPr>
            <a:xfrm>
              <a:off x="449580" y="428625"/>
              <a:ext cx="3811524"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3.3 事后巡检 · 结果揭示</a:t>
              </a:r>
            </a:p>
          </p:txBody>
        </p:sp>
        <p:sp>
          <p:nvSpPr>
            <p:cNvPr id="3" name="TextBox 3"/>
            <p:cNvSpPr txBox="1"/>
            <p:nvPr/>
          </p:nvSpPr>
          <p:spPr>
            <a:xfrm>
              <a:off x="441198" y="850583"/>
              <a:ext cx="554469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查完一批，不等于处理完一批</a:t>
              </a:r>
            </a:p>
          </p:txBody>
        </p:sp>
      </p:grpSp>
      <p:grpSp>
        <p:nvGrpSpPr>
          <p:cNvPr id="8" name="Group 8"/>
          <p:cNvGrpSpPr/>
          <p:nvPr/>
        </p:nvGrpSpPr>
        <p:grpSpPr>
          <a:xfrm>
            <a:off x="457200" y="1790700"/>
            <a:ext cx="7048500" cy="2952750"/>
            <a:chOff x="457200" y="1790700"/>
            <a:chExt cx="7048500" cy="2952750"/>
          </a:xfrm>
        </p:grpSpPr>
        <p:sp>
          <p:nvSpPr>
            <p:cNvPr id="5" name="Rectangle 5"/>
            <p:cNvSpPr/>
            <p:nvPr/>
          </p:nvSpPr>
          <p:spPr>
            <a:xfrm>
              <a:off x="457200" y="1790700"/>
              <a:ext cx="7048500" cy="2952750"/>
            </a:xfrm>
            <a:prstGeom prst="roundRect">
              <a:avLst>
                <a:gd name="adj" fmla="val 3871"/>
              </a:avLst>
            </a:prstGeom>
            <a:solidFill>
              <a:schemeClr val="lt2"/>
            </a:solidFill>
            <a:ln>
              <a:noFill/>
            </a:ln>
          </p:spPr>
        </p:sp>
        <p:sp>
          <p:nvSpPr>
            <p:cNvPr id="6" name="TextBox 6"/>
            <p:cNvSpPr txBox="1"/>
            <p:nvPr/>
          </p:nvSpPr>
          <p:spPr>
            <a:xfrm>
              <a:off x="730758" y="1998345"/>
              <a:ext cx="5354117"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已确认在用范围：C01 / C03 / C05</a:t>
              </a:r>
            </a:p>
          </p:txBody>
        </p:sp>
        <p:sp>
          <p:nvSpPr>
            <p:cNvPr id="7" name="TextBox 7"/>
            <p:cNvSpPr txBox="1"/>
            <p:nvPr/>
          </p:nvSpPr>
          <p:spPr>
            <a:xfrm>
              <a:off x="732282" y="2678430"/>
              <a:ext cx="4461891" cy="1401318"/>
            </a:xfrm>
            <a:prstGeom prst="rect">
              <a:avLst/>
            </a:prstGeom>
            <a:noFill/>
            <a:ln>
              <a:noFill/>
            </a:ln>
          </p:spPr>
          <p:txBody>
            <a:bodyPr wrap="none" lIns="0" tIns="0" rIns="0" bIns="0" anchor="t" anchorCtr="0">
              <a:spAutoFit/>
            </a:bodyPr>
            <a:lstStyle/>
            <a:p>
              <a:pPr algn="l">
                <a:lnSpc>
                  <a:spcPts val="3900"/>
                </a:lnSpc>
              </a:pPr>
              <a:r>
                <a:rPr lang="zh-CN" sz="2100" dirty="0">
                  <a:solidFill>
                    <a:schemeClr val="dk1"/>
                  </a:solidFill>
                  <a:latin typeface="+mn-lt"/>
                  <a:ea typeface="+mn-ea"/>
                  <a:cs typeface="+mn-cs"/>
                </a:rPr>
                <a:t>C01：确认实际展示，更新或暂停</a:t>
              </a:r>
              <a:br/>
              <a:r>
                <a:rPr lang="zh-CN" sz="2100" dirty="0">
                  <a:solidFill>
                    <a:schemeClr val="dk1"/>
                  </a:solidFill>
                  <a:latin typeface="+mn-lt"/>
                  <a:ea typeface="+mn-ea"/>
                  <a:cs typeface="+mn-cs"/>
                </a:rPr>
                <a:t>C03：已说明赠完，核实实际版本一致</a:t>
              </a:r>
              <a:br/>
              <a:r>
                <a:rPr lang="zh-CN" sz="2100" dirty="0">
                  <a:solidFill>
                    <a:schemeClr val="dk1"/>
                  </a:solidFill>
                  <a:latin typeface="+mn-lt"/>
                  <a:ea typeface="+mn-ea"/>
                  <a:cs typeface="+mn-cs"/>
                </a:rPr>
                <a:t>C05：没有赠品主张，该项不适用</a:t>
              </a:r>
            </a:p>
          </p:txBody>
        </p:sp>
      </p:grpSp>
      <p:grpSp>
        <p:nvGrpSpPr>
          <p:cNvPr id="13" name="Group 13"/>
          <p:cNvGrpSpPr/>
          <p:nvPr/>
        </p:nvGrpSpPr>
        <p:grpSpPr>
          <a:xfrm>
            <a:off x="7931658" y="1988820"/>
            <a:ext cx="3803142" cy="2426589"/>
            <a:chOff x="7931658" y="1988820"/>
            <a:chExt cx="3803142" cy="2426589"/>
          </a:xfrm>
        </p:grpSpPr>
        <p:sp>
          <p:nvSpPr>
            <p:cNvPr id="9" name="TextBox 9"/>
            <p:cNvSpPr txBox="1"/>
            <p:nvPr/>
          </p:nvSpPr>
          <p:spPr>
            <a:xfrm>
              <a:off x="7931658" y="1988820"/>
              <a:ext cx="2664074"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C06：范围待确认</a:t>
              </a:r>
            </a:p>
          </p:txBody>
        </p:sp>
        <p:sp>
          <p:nvSpPr>
            <p:cNvPr id="10" name="TextBox 10"/>
            <p:cNvSpPr txBox="1"/>
            <p:nvPr/>
          </p:nvSpPr>
          <p:spPr>
            <a:xfrm>
              <a:off x="7933182" y="2573655"/>
              <a:ext cx="313105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不能悄悄排除后宣布查全</a:t>
              </a:r>
            </a:p>
          </p:txBody>
        </p:sp>
        <p:sp>
          <p:nvSpPr>
            <p:cNvPr id="11" name="Line 11"/>
            <p:cNvSpPr/>
            <p:nvPr/>
          </p:nvSpPr>
          <p:spPr>
            <a:xfrm>
              <a:off x="7943850" y="3276600"/>
              <a:ext cx="3790950" cy="9525"/>
            </a:xfrm>
            <a:custGeom>
              <a:avLst/>
              <a:gdLst/>
              <a:ahLst/>
              <a:cxnLst/>
              <a:rect l="l" t="t" r="r" b="b"/>
              <a:pathLst>
                <a:path w="3790950" h="9525">
                  <a:moveTo>
                    <a:pt x="0" y="0"/>
                  </a:moveTo>
                  <a:lnTo>
                    <a:pt x="3790950" y="0"/>
                  </a:lnTo>
                </a:path>
              </a:pathLst>
            </a:custGeom>
            <a:noFill/>
            <a:ln w="19050">
              <a:solidFill>
                <a:schemeClr val="accent6"/>
              </a:solidFill>
            </a:ln>
          </p:spPr>
        </p:sp>
        <p:sp>
          <p:nvSpPr>
            <p:cNvPr id="12" name="TextBox 12"/>
            <p:cNvSpPr txBox="1"/>
            <p:nvPr/>
          </p:nvSpPr>
          <p:spPr>
            <a:xfrm>
              <a:off x="7934706" y="3644265"/>
              <a:ext cx="3138678" cy="771144"/>
            </a:xfrm>
            <a:prstGeom prst="rect">
              <a:avLst/>
            </a:prstGeom>
            <a:noFill/>
            <a:ln>
              <a:noFill/>
            </a:ln>
          </p:spPr>
          <p:txBody>
            <a:bodyPr wrap="none" lIns="0" tIns="0" rIns="0" bIns="0" anchor="t" anchorCtr="0">
              <a:spAutoFit/>
            </a:bodyPr>
            <a:lstStyle/>
            <a:p>
              <a:pPr algn="l">
                <a:lnSpc>
                  <a:spcPts val="3300"/>
                </a:lnSpc>
              </a:pPr>
              <a:r>
                <a:rPr lang="zh-CN" sz="1800" dirty="0">
                  <a:solidFill>
                    <a:schemeClr val="accent5"/>
                  </a:solidFill>
                  <a:latin typeface="+mn-lt"/>
                  <a:ea typeface="+mn-ea"/>
                  <a:cs typeface="+mn-cs"/>
                </a:rPr>
                <a:t>C02：停用，保留历史</a:t>
              </a:r>
              <a:br/>
              <a:r>
                <a:rPr lang="zh-CN" sz="1800" dirty="0">
                  <a:solidFill>
                    <a:schemeClr val="accent5"/>
                  </a:solidFill>
                  <a:latin typeface="+mn-lt"/>
                  <a:ea typeface="+mn-ea"/>
                  <a:cs typeface="+mn-cs"/>
                </a:rPr>
                <a:t>C04：其他活动，本事件范围外</a:t>
              </a:r>
            </a:p>
          </p:txBody>
        </p:sp>
      </p:grpSp>
      <p:grpSp>
        <p:nvGrpSpPr>
          <p:cNvPr id="16" name="Group 16"/>
          <p:cNvGrpSpPr/>
          <p:nvPr/>
        </p:nvGrpSpPr>
        <p:grpSpPr>
          <a:xfrm>
            <a:off x="446532" y="5307330"/>
            <a:ext cx="8258556" cy="822579"/>
            <a:chOff x="446532" y="5307330"/>
            <a:chExt cx="8258556" cy="822579"/>
          </a:xfrm>
        </p:grpSpPr>
        <p:sp>
          <p:nvSpPr>
            <p:cNvPr id="14" name="TextBox 14"/>
            <p:cNvSpPr txBox="1"/>
            <p:nvPr/>
          </p:nvSpPr>
          <p:spPr>
            <a:xfrm>
              <a:off x="446532" y="5307330"/>
              <a:ext cx="7781506"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问题 → 内容负责人接收 → 新稿修改与复核 → 实际使用版本更新</a:t>
              </a:r>
            </a:p>
          </p:txBody>
        </p:sp>
        <p:sp>
          <p:nvSpPr>
            <p:cNvPr id="15" name="TextBox 15"/>
            <p:cNvSpPr txBox="1"/>
            <p:nvPr/>
          </p:nvSpPr>
          <p:spPr>
            <a:xfrm>
              <a:off x="448056" y="5777865"/>
              <a:ext cx="825703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内部文档改了，外部仍在用旧稿，这项工作还没结束；旧审核记录继续保留。</a:t>
              </a:r>
            </a:p>
          </p:txBody>
        </p:sp>
      </p:grpSp>
      <p:grpSp>
        <p:nvGrpSpPr>
          <p:cNvPr id="28" name="Group 28"/>
          <p:cNvGrpSpPr/>
          <p:nvPr/>
        </p:nvGrpSpPr>
        <p:grpSpPr>
          <a:xfrm>
            <a:off x="0" y="6286500"/>
            <a:ext cx="12192000" cy="571500"/>
            <a:chOff x="0" y="6286500"/>
            <a:chExt cx="12192000" cy="571500"/>
          </a:xfrm>
        </p:grpSpPr>
        <p:sp>
          <p:nvSpPr>
            <p:cNvPr id="17" name="Rectangle 17"/>
            <p:cNvSpPr/>
            <p:nvPr/>
          </p:nvSpPr>
          <p:spPr>
            <a:xfrm>
              <a:off x="0" y="6286500"/>
              <a:ext cx="12192000" cy="571500"/>
            </a:xfrm>
            <a:prstGeom prst="rect">
              <a:avLst/>
            </a:prstGeom>
            <a:solidFill>
              <a:srgbClr val="FFFFFF"/>
            </a:solidFill>
            <a:ln>
              <a:noFill/>
            </a:ln>
          </p:spPr>
        </p:sp>
        <p:sp>
          <p:nvSpPr>
            <p:cNvPr id="18" name="Line 18"/>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6" name="Group 26"/>
            <p:cNvGrpSpPr/>
            <p:nvPr/>
          </p:nvGrpSpPr>
          <p:grpSpPr>
            <a:xfrm>
              <a:off x="451866" y="6468428"/>
              <a:ext cx="9783070" cy="205359"/>
              <a:chOff x="451866" y="6468428"/>
              <a:chExt cx="9783070" cy="205359"/>
            </a:xfrm>
          </p:grpSpPr>
          <p:sp>
            <p:nvSpPr>
              <p:cNvPr id="19" name="TextBox 19"/>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0" name="TextBox 20"/>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1" name="TextBox 21"/>
              <p:cNvSpPr txBox="1"/>
              <p:nvPr/>
            </p:nvSpPr>
            <p:spPr>
              <a:xfrm>
                <a:off x="348081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3 三段流程</a:t>
                </a:r>
              </a:p>
            </p:txBody>
          </p:sp>
          <p:sp>
            <p:nvSpPr>
              <p:cNvPr id="22" name="TextBox 22"/>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3" name="TextBox 23"/>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4" name="TextBox 24"/>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5" name="TextBox 25"/>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27" name="TextBox 27"/>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25 / 70</a:t>
              </a:r>
            </a:p>
          </p:txBody>
        </p:sp>
      </p:gr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703418" cy="1038035"/>
            <a:chOff x="441198" y="428625"/>
            <a:chExt cx="6703418" cy="1038035"/>
          </a:xfrm>
        </p:grpSpPr>
        <p:sp>
          <p:nvSpPr>
            <p:cNvPr id="2" name="TextBox 2"/>
            <p:cNvSpPr txBox="1"/>
            <p:nvPr/>
          </p:nvSpPr>
          <p:spPr>
            <a:xfrm>
              <a:off x="449580" y="428625"/>
              <a:ext cx="2488882"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第3章小结</a:t>
              </a:r>
            </a:p>
          </p:txBody>
        </p:sp>
        <p:sp>
          <p:nvSpPr>
            <p:cNvPr id="3" name="TextBox 3"/>
            <p:cNvSpPr txBox="1"/>
            <p:nvPr/>
          </p:nvSpPr>
          <p:spPr>
            <a:xfrm>
              <a:off x="441198" y="850583"/>
              <a:ext cx="6703418"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产物③：触发—处理—责任的三段流程</a:t>
              </a:r>
            </a:p>
          </p:txBody>
        </p:sp>
      </p:grpSp>
      <p:grpSp>
        <p:nvGrpSpPr>
          <p:cNvPr id="24" name="Group 24"/>
          <p:cNvGrpSpPr/>
          <p:nvPr/>
        </p:nvGrpSpPr>
        <p:grpSpPr>
          <a:xfrm>
            <a:off x="457200" y="1809750"/>
            <a:ext cx="11277600" cy="2743200"/>
            <a:chOff x="457200" y="1809750"/>
            <a:chExt cx="11277600" cy="2743200"/>
          </a:xfrm>
        </p:grpSpPr>
        <p:sp>
          <p:nvSpPr>
            <p:cNvPr id="5" name="Line 5"/>
            <p:cNvSpPr/>
            <p:nvPr/>
          </p:nvSpPr>
          <p:spPr>
            <a:xfrm>
              <a:off x="2381250" y="2238375"/>
              <a:ext cx="7620000" cy="9525"/>
            </a:xfrm>
            <a:custGeom>
              <a:avLst/>
              <a:gdLst/>
              <a:ahLst/>
              <a:cxnLst/>
              <a:rect l="l" t="t" r="r" b="b"/>
              <a:pathLst>
                <a:path w="7620000" h="9525">
                  <a:moveTo>
                    <a:pt x="0" y="0"/>
                  </a:moveTo>
                  <a:lnTo>
                    <a:pt x="7620000" y="0"/>
                  </a:lnTo>
                </a:path>
              </a:pathLst>
            </a:custGeom>
            <a:noFill/>
            <a:ln w="38100">
              <a:solidFill>
                <a:schemeClr val="accent1"/>
              </a:solidFill>
            </a:ln>
          </p:spPr>
        </p:sp>
        <p:grpSp>
          <p:nvGrpSpPr>
            <p:cNvPr id="9" name="Group 9"/>
            <p:cNvGrpSpPr/>
            <p:nvPr/>
          </p:nvGrpSpPr>
          <p:grpSpPr>
            <a:xfrm>
              <a:off x="457200" y="1809750"/>
              <a:ext cx="11277600" cy="2743200"/>
              <a:chOff x="457200" y="1809750"/>
              <a:chExt cx="11277600" cy="2743200"/>
            </a:xfrm>
          </p:grpSpPr>
          <p:sp>
            <p:nvSpPr>
              <p:cNvPr id="6" name="Rectangle 6"/>
              <p:cNvSpPr/>
              <p:nvPr/>
            </p:nvSpPr>
            <p:spPr>
              <a:xfrm>
                <a:off x="457200" y="1809750"/>
                <a:ext cx="3486150" cy="2743200"/>
              </a:xfrm>
              <a:prstGeom prst="roundRect">
                <a:avLst>
                  <a:gd name="adj" fmla="val 4167"/>
                </a:avLst>
              </a:prstGeom>
              <a:solidFill>
                <a:schemeClr val="lt2"/>
              </a:solidFill>
              <a:ln>
                <a:noFill/>
              </a:ln>
            </p:spPr>
          </p:sp>
          <p:sp>
            <p:nvSpPr>
              <p:cNvPr id="7" name="Rectangle 7"/>
              <p:cNvSpPr/>
              <p:nvPr/>
            </p:nvSpPr>
            <p:spPr>
              <a:xfrm>
                <a:off x="4352925" y="1809750"/>
                <a:ext cx="3486150" cy="2743200"/>
              </a:xfrm>
              <a:prstGeom prst="roundRect">
                <a:avLst>
                  <a:gd name="adj" fmla="val 4167"/>
                </a:avLst>
              </a:prstGeom>
              <a:solidFill>
                <a:schemeClr val="lt2"/>
              </a:solidFill>
              <a:ln>
                <a:noFill/>
              </a:ln>
            </p:spPr>
          </p:sp>
          <p:sp>
            <p:nvSpPr>
              <p:cNvPr id="8" name="Rectangle 8"/>
              <p:cNvSpPr/>
              <p:nvPr/>
            </p:nvSpPr>
            <p:spPr>
              <a:xfrm>
                <a:off x="8248650" y="1809750"/>
                <a:ext cx="3486150" cy="2743200"/>
              </a:xfrm>
              <a:prstGeom prst="roundRect">
                <a:avLst>
                  <a:gd name="adj" fmla="val 4167"/>
                </a:avLst>
              </a:prstGeom>
              <a:solidFill>
                <a:schemeClr val="lt2"/>
              </a:solidFill>
              <a:ln>
                <a:noFill/>
              </a:ln>
            </p:spPr>
          </p:sp>
        </p:grpSp>
        <p:grpSp>
          <p:nvGrpSpPr>
            <p:cNvPr id="13" name="Group 13"/>
            <p:cNvGrpSpPr/>
            <p:nvPr/>
          </p:nvGrpSpPr>
          <p:grpSpPr>
            <a:xfrm>
              <a:off x="673608" y="2065020"/>
              <a:ext cx="9108186" cy="469392"/>
              <a:chOff x="673608" y="2065020"/>
              <a:chExt cx="9108186" cy="469392"/>
            </a:xfrm>
          </p:grpSpPr>
          <p:sp>
            <p:nvSpPr>
              <p:cNvPr id="10" name="TextBox 10"/>
              <p:cNvSpPr txBox="1"/>
              <p:nvPr/>
            </p:nvSpPr>
            <p:spPr>
              <a:xfrm>
                <a:off x="673608" y="2065020"/>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事前自检</a:t>
                </a:r>
              </a:p>
            </p:txBody>
          </p:sp>
          <p:sp>
            <p:nvSpPr>
              <p:cNvPr id="11" name="TextBox 11"/>
              <p:cNvSpPr txBox="1"/>
              <p:nvPr/>
            </p:nvSpPr>
            <p:spPr>
              <a:xfrm>
                <a:off x="4569333" y="2065020"/>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事中审核</a:t>
                </a:r>
              </a:p>
            </p:txBody>
          </p:sp>
          <p:sp>
            <p:nvSpPr>
              <p:cNvPr id="12" name="TextBox 12"/>
              <p:cNvSpPr txBox="1"/>
              <p:nvPr/>
            </p:nvSpPr>
            <p:spPr>
              <a:xfrm>
                <a:off x="8465058" y="2065020"/>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事后巡检</a:t>
                </a:r>
              </a:p>
            </p:txBody>
          </p:sp>
        </p:grpSp>
        <p:grpSp>
          <p:nvGrpSpPr>
            <p:cNvPr id="23" name="Group 23"/>
            <p:cNvGrpSpPr/>
            <p:nvPr/>
          </p:nvGrpSpPr>
          <p:grpSpPr>
            <a:xfrm>
              <a:off x="676656" y="2739390"/>
              <a:ext cx="10475214" cy="1418844"/>
              <a:chOff x="676656" y="2739390"/>
              <a:chExt cx="10475214" cy="1418844"/>
            </a:xfrm>
          </p:grpSpPr>
          <p:sp>
            <p:nvSpPr>
              <p:cNvPr id="14" name="TextBox 14"/>
              <p:cNvSpPr txBox="1"/>
              <p:nvPr/>
            </p:nvSpPr>
            <p:spPr>
              <a:xfrm>
                <a:off x="676656" y="273939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触发：作者准备提交</a:t>
                </a:r>
              </a:p>
            </p:txBody>
          </p:sp>
          <p:sp>
            <p:nvSpPr>
              <p:cNvPr id="15" name="TextBox 15"/>
              <p:cNvSpPr txBox="1"/>
              <p:nvPr/>
            </p:nvSpPr>
            <p:spPr>
              <a:xfrm>
                <a:off x="676656" y="3272790"/>
                <a:ext cx="26837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结果：原句、依据与动作</a:t>
                </a:r>
              </a:p>
            </p:txBody>
          </p:sp>
          <p:sp>
            <p:nvSpPr>
              <p:cNvPr id="16" name="TextBox 16"/>
              <p:cNvSpPr txBox="1"/>
              <p:nvPr/>
            </p:nvSpPr>
            <p:spPr>
              <a:xfrm>
                <a:off x="676656" y="3806190"/>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作者修改或带说明提交</a:t>
                </a:r>
              </a:p>
            </p:txBody>
          </p:sp>
          <p:sp>
            <p:nvSpPr>
              <p:cNvPr id="17" name="TextBox 17"/>
              <p:cNvSpPr txBox="1"/>
              <p:nvPr/>
            </p:nvSpPr>
            <p:spPr>
              <a:xfrm>
                <a:off x="4572381" y="273939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触发：正文正式提交</a:t>
                </a:r>
              </a:p>
            </p:txBody>
          </p:sp>
          <p:sp>
            <p:nvSpPr>
              <p:cNvPr id="18" name="TextBox 18"/>
              <p:cNvSpPr txBox="1"/>
              <p:nvPr/>
            </p:nvSpPr>
            <p:spPr>
              <a:xfrm>
                <a:off x="4572381" y="3272790"/>
                <a:ext cx="26837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结果：意见、改稿与复核</a:t>
                </a:r>
              </a:p>
            </p:txBody>
          </p:sp>
          <p:sp>
            <p:nvSpPr>
              <p:cNvPr id="19" name="TextBox 19"/>
              <p:cNvSpPr txBox="1"/>
              <p:nvPr/>
            </p:nvSpPr>
            <p:spPr>
              <a:xfrm>
                <a:off x="4572381" y="3806190"/>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审核人对版本正式决定</a:t>
                </a:r>
              </a:p>
            </p:txBody>
          </p:sp>
          <p:sp>
            <p:nvSpPr>
              <p:cNvPr id="20" name="TextBox 20"/>
              <p:cNvSpPr txBox="1"/>
              <p:nvPr/>
            </p:nvSpPr>
            <p:spPr>
              <a:xfrm>
                <a:off x="8468106" y="273939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触发：业务条件变化</a:t>
                </a:r>
              </a:p>
            </p:txBody>
          </p:sp>
          <p:sp>
            <p:nvSpPr>
              <p:cNvPr id="21" name="TextBox 21"/>
              <p:cNvSpPr txBox="1"/>
              <p:nvPr/>
            </p:nvSpPr>
            <p:spPr>
              <a:xfrm>
                <a:off x="8468106" y="3272790"/>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结果：范围与处置任务</a:t>
                </a:r>
              </a:p>
            </p:txBody>
          </p:sp>
          <p:sp>
            <p:nvSpPr>
              <p:cNvPr id="22" name="TextBox 22"/>
              <p:cNvSpPr txBox="1"/>
              <p:nvPr/>
            </p:nvSpPr>
            <p:spPr>
              <a:xfrm>
                <a:off x="8468106" y="3806190"/>
                <a:ext cx="26837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内容负责人确认实际更新</a:t>
                </a:r>
              </a:p>
            </p:txBody>
          </p:sp>
        </p:grpSp>
      </p:grpSp>
      <p:grpSp>
        <p:nvGrpSpPr>
          <p:cNvPr id="26" name="Group 26"/>
          <p:cNvGrpSpPr/>
          <p:nvPr/>
        </p:nvGrpSpPr>
        <p:grpSpPr>
          <a:xfrm>
            <a:off x="446532" y="4907280"/>
            <a:ext cx="6367996" cy="410718"/>
            <a:chOff x="446532" y="4907280"/>
            <a:chExt cx="6367996" cy="410718"/>
          </a:xfrm>
        </p:grpSpPr>
        <p:sp>
          <p:nvSpPr>
            <p:cNvPr id="25" name="TextBox 25"/>
            <p:cNvSpPr txBox="1"/>
            <p:nvPr/>
          </p:nvSpPr>
          <p:spPr>
            <a:xfrm>
              <a:off x="446532" y="4907280"/>
              <a:ext cx="6367996"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检查完成 ≠ 问题解决 ≠ 审核通过 ≠ 实际使用已更新</a:t>
              </a:r>
            </a:p>
          </p:txBody>
        </p:sp>
      </p:grpSp>
      <p:grpSp>
        <p:nvGrpSpPr>
          <p:cNvPr id="29" name="Group 29"/>
          <p:cNvGrpSpPr/>
          <p:nvPr/>
        </p:nvGrpSpPr>
        <p:grpSpPr>
          <a:xfrm>
            <a:off x="457200" y="5572125"/>
            <a:ext cx="11277600" cy="600075"/>
            <a:chOff x="457200" y="5572125"/>
            <a:chExt cx="11277600" cy="600075"/>
          </a:xfrm>
        </p:grpSpPr>
        <p:sp>
          <p:nvSpPr>
            <p:cNvPr id="27" name="Rectangle 27"/>
            <p:cNvSpPr/>
            <p:nvPr/>
          </p:nvSpPr>
          <p:spPr>
            <a:xfrm>
              <a:off x="457200" y="5572125"/>
              <a:ext cx="11277600" cy="600075"/>
            </a:xfrm>
            <a:prstGeom prst="roundRect">
              <a:avLst>
                <a:gd name="adj" fmla="val 19048"/>
              </a:avLst>
            </a:prstGeom>
            <a:solidFill>
              <a:schemeClr val="accent1"/>
            </a:solidFill>
            <a:ln>
              <a:noFill/>
            </a:ln>
          </p:spPr>
        </p:sp>
        <p:sp>
          <p:nvSpPr>
            <p:cNvPr id="28" name="TextBox 28"/>
            <p:cNvSpPr txBox="1"/>
            <p:nvPr/>
          </p:nvSpPr>
          <p:spPr>
            <a:xfrm>
              <a:off x="713232" y="5735955"/>
              <a:ext cx="680618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休息后：把三段流程复用的检查，定义成具体审核点。</a:t>
              </a:r>
            </a:p>
          </p:txBody>
        </p:sp>
      </p:grpSp>
      <p:sp>
        <p:nvSpPr>
          <p:cNvPr id="30" name="TextBox 30"/>
          <p:cNvSpPr txBox="1"/>
          <p:nvPr/>
        </p:nvSpPr>
        <p:spPr>
          <a:xfrm>
            <a:off x="451866" y="6468428"/>
            <a:ext cx="227228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 · 产物已形成 → 4 审核点</a:t>
            </a:r>
          </a:p>
        </p:txBody>
      </p:sp>
      <p:sp>
        <p:nvSpPr>
          <p:cNvPr id="31" name="TextBox 31"/>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26 / 70</a:t>
            </a:r>
          </a:p>
        </p:txBody>
      </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5" name="Group 5"/>
          <p:cNvGrpSpPr/>
          <p:nvPr/>
        </p:nvGrpSpPr>
        <p:grpSpPr>
          <a:xfrm>
            <a:off x="742950" y="1282065"/>
            <a:ext cx="5297576" cy="2557272"/>
            <a:chOff x="742950" y="1282065"/>
            <a:chExt cx="5297576" cy="2557272"/>
          </a:xfrm>
        </p:grpSpPr>
        <p:sp>
          <p:nvSpPr>
            <p:cNvPr id="2" name="TextBox 2"/>
            <p:cNvSpPr txBox="1"/>
            <p:nvPr/>
          </p:nvSpPr>
          <p:spPr>
            <a:xfrm>
              <a:off x="752856" y="1282065"/>
              <a:ext cx="1169289" cy="352044"/>
            </a:xfrm>
            <a:prstGeom prst="rect">
              <a:avLst/>
            </a:prstGeom>
            <a:noFill/>
            <a:ln>
              <a:noFill/>
            </a:ln>
          </p:spPr>
          <p:txBody>
            <a:bodyPr wrap="none" lIns="0" tIns="0" rIns="0" bIns="0" anchor="t" anchorCtr="0">
              <a:spAutoFit/>
            </a:bodyPr>
            <a:lstStyle/>
            <a:p>
              <a:pPr algn="l"/>
              <a:r>
                <a:rPr lang="zh-CN" sz="1800" dirty="0">
                  <a:solidFill>
                    <a:schemeClr val="accent3"/>
                  </a:solidFill>
                  <a:latin typeface="+mn-lt"/>
                  <a:ea typeface="+mn-ea"/>
                  <a:cs typeface="+mn-cs"/>
                </a:rPr>
                <a:t>65—75分钟</a:t>
              </a:r>
            </a:p>
          </p:txBody>
        </p:sp>
        <p:sp>
          <p:nvSpPr>
            <p:cNvPr id="3" name="TextBox 3"/>
            <p:cNvSpPr txBox="1"/>
            <p:nvPr/>
          </p:nvSpPr>
          <p:spPr>
            <a:xfrm>
              <a:off x="742950" y="1954530"/>
              <a:ext cx="4618276" cy="1276350"/>
            </a:xfrm>
            <a:prstGeom prst="rect">
              <a:avLst/>
            </a:prstGeom>
            <a:noFill/>
            <a:ln>
              <a:noFill/>
            </a:ln>
          </p:spPr>
          <p:txBody>
            <a:bodyPr wrap="none" lIns="0" tIns="0" rIns="0" bIns="0" anchor="t" anchorCtr="0">
              <a:spAutoFit/>
            </a:bodyPr>
            <a:lstStyle/>
            <a:p>
              <a:pPr algn="l"/>
              <a:r>
                <a:rPr lang="zh-CN" sz="6600" b="1" dirty="0">
                  <a:solidFill>
                    <a:srgbClr val="FFFFFF"/>
                  </a:solidFill>
                  <a:latin typeface="+mn-lt"/>
                  <a:ea typeface="+mn-ea"/>
                  <a:cs typeface="+mn-cs"/>
                </a:rPr>
                <a:t>休息10分钟</a:t>
              </a:r>
            </a:p>
          </p:txBody>
        </p:sp>
        <p:sp>
          <p:nvSpPr>
            <p:cNvPr id="4" name="TextBox 4"/>
            <p:cNvSpPr txBox="1"/>
            <p:nvPr/>
          </p:nvSpPr>
          <p:spPr>
            <a:xfrm>
              <a:off x="749808" y="3369945"/>
              <a:ext cx="5290718" cy="469392"/>
            </a:xfrm>
            <a:prstGeom prst="rect">
              <a:avLst/>
            </a:prstGeom>
            <a:noFill/>
            <a:ln>
              <a:noFill/>
            </a:ln>
          </p:spPr>
          <p:txBody>
            <a:bodyPr wrap="none" lIns="0" tIns="0" rIns="0" bIns="0" anchor="t" anchorCtr="0">
              <a:spAutoFit/>
            </a:bodyPr>
            <a:lstStyle/>
            <a:p>
              <a:pPr algn="l"/>
              <a:r>
                <a:rPr lang="zh-CN" sz="2400" dirty="0">
                  <a:solidFill>
                    <a:srgbClr val="E8F2EF"/>
                  </a:solidFill>
                  <a:latin typeface="+mn-lt"/>
                  <a:ea typeface="+mn-ea"/>
                  <a:cs typeface="+mn-cs"/>
                </a:rPr>
                <a:t>自检 → 正式审核 → 条件变化后的巡检</a:t>
              </a:r>
            </a:p>
          </p:txBody>
        </p:sp>
      </p:grpSp>
      <p:grpSp>
        <p:nvGrpSpPr>
          <p:cNvPr id="9" name="Group 9"/>
          <p:cNvGrpSpPr/>
          <p:nvPr/>
        </p:nvGrpSpPr>
        <p:grpSpPr>
          <a:xfrm>
            <a:off x="751332" y="4619625"/>
            <a:ext cx="10678668" cy="1262634"/>
            <a:chOff x="751332" y="4619625"/>
            <a:chExt cx="10678668" cy="1262634"/>
          </a:xfrm>
        </p:grpSpPr>
        <p:sp>
          <p:nvSpPr>
            <p:cNvPr id="6" name="Line 6"/>
            <p:cNvSpPr/>
            <p:nvPr/>
          </p:nvSpPr>
          <p:spPr>
            <a:xfrm>
              <a:off x="762000" y="4619625"/>
              <a:ext cx="10668000" cy="9525"/>
            </a:xfrm>
            <a:custGeom>
              <a:avLst/>
              <a:gdLst/>
              <a:ahLst/>
              <a:cxnLst/>
              <a:rect l="l" t="t" r="r" b="b"/>
              <a:pathLst>
                <a:path w="10668000" h="9525">
                  <a:moveTo>
                    <a:pt x="0" y="0"/>
                  </a:moveTo>
                  <a:lnTo>
                    <a:pt x="10668000" y="0"/>
                  </a:lnTo>
                </a:path>
              </a:pathLst>
            </a:custGeom>
            <a:noFill/>
            <a:ln w="19050">
              <a:solidFill>
                <a:srgbClr val="617673"/>
              </a:solidFill>
            </a:ln>
          </p:spPr>
        </p:sp>
        <p:sp>
          <p:nvSpPr>
            <p:cNvPr id="7" name="TextBox 7"/>
            <p:cNvSpPr txBox="1"/>
            <p:nvPr/>
          </p:nvSpPr>
          <p:spPr>
            <a:xfrm>
              <a:off x="751332" y="4973955"/>
              <a:ext cx="680618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下一段：把审核经验，拆成可以执行和验证的审核点。</a:t>
              </a:r>
            </a:p>
          </p:txBody>
        </p:sp>
        <p:sp>
          <p:nvSpPr>
            <p:cNvPr id="8" name="TextBox 8"/>
            <p:cNvSpPr txBox="1"/>
            <p:nvPr/>
          </p:nvSpPr>
          <p:spPr>
            <a:xfrm>
              <a:off x="752856" y="5530215"/>
              <a:ext cx="5349240"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保留文案、业务资料和内容登记表，稍后继续用。</a:t>
              </a:r>
            </a:p>
          </p:txBody>
        </p:sp>
      </p:grpSp>
      <p:sp>
        <p:nvSpPr>
          <p:cNvPr id="10" name="TextBox 10"/>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rgbClr val="E8F2EF"/>
                </a:solidFill>
                <a:latin typeface="+mn-lt"/>
                <a:ea typeface="+mn-ea"/>
                <a:cs typeface="+mn-cs"/>
              </a:rPr>
              <a:t>27 / 70</a:t>
            </a:r>
          </a:p>
        </p:txBody>
      </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438150" y="523875"/>
            <a:ext cx="2096452" cy="1443990"/>
            <a:chOff x="438150" y="523875"/>
            <a:chExt cx="2096452" cy="1443990"/>
          </a:xfrm>
        </p:grpSpPr>
        <p:sp>
          <p:nvSpPr>
            <p:cNvPr id="2" name="TextBox 2"/>
            <p:cNvSpPr txBox="1"/>
            <p:nvPr/>
          </p:nvSpPr>
          <p:spPr>
            <a:xfrm>
              <a:off x="449580" y="523875"/>
              <a:ext cx="2085022"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第二篇·做方案 / 第4章</a:t>
              </a:r>
            </a:p>
          </p:txBody>
        </p:sp>
        <p:sp>
          <p:nvSpPr>
            <p:cNvPr id="3" name="TextBox 3"/>
            <p:cNvSpPr txBox="1"/>
            <p:nvPr/>
          </p:nvSpPr>
          <p:spPr>
            <a:xfrm>
              <a:off x="438150" y="1034415"/>
              <a:ext cx="1976628" cy="933450"/>
            </a:xfrm>
            <a:prstGeom prst="rect">
              <a:avLst/>
            </a:prstGeom>
            <a:noFill/>
            <a:ln>
              <a:noFill/>
            </a:ln>
          </p:spPr>
          <p:txBody>
            <a:bodyPr wrap="none" lIns="0" tIns="0" rIns="0" bIns="0" anchor="t" anchorCtr="0">
              <a:spAutoFit/>
            </a:bodyPr>
            <a:lstStyle/>
            <a:p>
              <a:pPr algn="l"/>
              <a:r>
                <a:rPr lang="zh-CN" sz="4800" b="1" dirty="0">
                  <a:solidFill>
                    <a:srgbClr val="FFFFFF"/>
                  </a:solidFill>
                  <a:latin typeface="+mn-lt"/>
                  <a:ea typeface="+mn-ea"/>
                  <a:cs typeface="+mn-cs"/>
                </a:rPr>
                <a:t>审核点</a:t>
              </a:r>
            </a:p>
          </p:txBody>
        </p:sp>
      </p:grpSp>
      <p:grpSp>
        <p:nvGrpSpPr>
          <p:cNvPr id="7" name="Group 7"/>
          <p:cNvGrpSpPr/>
          <p:nvPr/>
        </p:nvGrpSpPr>
        <p:grpSpPr>
          <a:xfrm>
            <a:off x="441198" y="2231708"/>
            <a:ext cx="3417570" cy="1993201"/>
            <a:chOff x="441198" y="2231708"/>
            <a:chExt cx="3417570" cy="1993201"/>
          </a:xfrm>
        </p:grpSpPr>
        <p:sp>
          <p:nvSpPr>
            <p:cNvPr id="5" name="TextBox 5"/>
            <p:cNvSpPr txBox="1"/>
            <p:nvPr/>
          </p:nvSpPr>
          <p:spPr>
            <a:xfrm>
              <a:off x="441198" y="2231708"/>
              <a:ext cx="2832354" cy="1225677"/>
            </a:xfrm>
            <a:prstGeom prst="rect">
              <a:avLst/>
            </a:prstGeom>
            <a:noFill/>
            <a:ln>
              <a:noFill/>
            </a:ln>
          </p:spPr>
          <p:txBody>
            <a:bodyPr wrap="none" lIns="0" tIns="0" rIns="0" bIns="0" anchor="t" anchorCtr="0">
              <a:spAutoFit/>
            </a:bodyPr>
            <a:lstStyle/>
            <a:p>
              <a:pPr algn="l">
                <a:lnSpc>
                  <a:spcPts val="4800"/>
                </a:lnSpc>
              </a:pPr>
              <a:r>
                <a:rPr lang="zh-CN" sz="3150" b="1" dirty="0">
                  <a:solidFill>
                    <a:srgbClr val="FFFFFF"/>
                  </a:solidFill>
                  <a:latin typeface="+mn-lt"/>
                  <a:ea typeface="+mn-ea"/>
                  <a:cs typeface="+mn-cs"/>
                </a:rPr>
                <a:t>一条要求，</a:t>
              </a:r>
              <a:br/>
              <a:r>
                <a:rPr lang="zh-CN" sz="3150" b="1" dirty="0">
                  <a:solidFill>
                    <a:srgbClr val="FFFFFF"/>
                  </a:solidFill>
                  <a:latin typeface="+mn-lt"/>
                  <a:ea typeface="+mn-ea"/>
                  <a:cs typeface="+mn-cs"/>
                </a:rPr>
                <a:t>怎样变成检查？</a:t>
              </a:r>
            </a:p>
          </p:txBody>
        </p:sp>
        <p:sp>
          <p:nvSpPr>
            <p:cNvPr id="6" name="TextBox 6"/>
            <p:cNvSpPr txBox="1"/>
            <p:nvPr/>
          </p:nvSpPr>
          <p:spPr>
            <a:xfrm>
              <a:off x="448056" y="3872865"/>
              <a:ext cx="3410712"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输入：三段流程中的核对任务。</a:t>
              </a:r>
            </a:p>
          </p:txBody>
        </p:sp>
      </p:grpSp>
      <p:grpSp>
        <p:nvGrpSpPr>
          <p:cNvPr id="12" name="Group 12"/>
          <p:cNvGrpSpPr/>
          <p:nvPr/>
        </p:nvGrpSpPr>
        <p:grpSpPr>
          <a:xfrm>
            <a:off x="5295900" y="2095500"/>
            <a:ext cx="4259161" cy="2381250"/>
            <a:chOff x="5295900" y="2095500"/>
            <a:chExt cx="4259161" cy="2381250"/>
          </a:xfrm>
        </p:grpSpPr>
        <p:sp>
          <p:nvSpPr>
            <p:cNvPr id="8" name="Line 8"/>
            <p:cNvSpPr/>
            <p:nvPr/>
          </p:nvSpPr>
          <p:spPr>
            <a:xfrm>
              <a:off x="5295900" y="2095500"/>
              <a:ext cx="9525" cy="2381250"/>
            </a:xfrm>
            <a:custGeom>
              <a:avLst/>
              <a:gdLst/>
              <a:ahLst/>
              <a:cxnLst/>
              <a:rect l="l" t="t" r="r" b="b"/>
              <a:pathLst>
                <a:path w="9525" h="2381250">
                  <a:moveTo>
                    <a:pt x="0" y="0"/>
                  </a:moveTo>
                  <a:lnTo>
                    <a:pt x="0" y="2381250"/>
                  </a:lnTo>
                </a:path>
              </a:pathLst>
            </a:custGeom>
            <a:noFill/>
            <a:ln w="9525">
              <a:solidFill>
                <a:srgbClr val="617673"/>
              </a:solidFill>
            </a:ln>
          </p:spPr>
        </p:sp>
        <p:sp>
          <p:nvSpPr>
            <p:cNvPr id="9" name="TextBox 9"/>
            <p:cNvSpPr txBox="1"/>
            <p:nvPr/>
          </p:nvSpPr>
          <p:spPr>
            <a:xfrm>
              <a:off x="5590032" y="2240280"/>
              <a:ext cx="3399625"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4.1 定义审核点的六个要素</a:t>
              </a:r>
            </a:p>
          </p:txBody>
        </p:sp>
        <p:sp>
          <p:nvSpPr>
            <p:cNvPr id="10" name="TextBox 10"/>
            <p:cNvSpPr txBox="1"/>
            <p:nvPr/>
          </p:nvSpPr>
          <p:spPr>
            <a:xfrm>
              <a:off x="5590032" y="3097530"/>
              <a:ext cx="3682327"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4.2 用温度、价格和赠品试写</a:t>
              </a:r>
            </a:p>
          </p:txBody>
        </p:sp>
        <p:sp>
          <p:nvSpPr>
            <p:cNvPr id="11" name="TextBox 11"/>
            <p:cNvSpPr txBox="1"/>
            <p:nvPr/>
          </p:nvSpPr>
          <p:spPr>
            <a:xfrm>
              <a:off x="5590032" y="3954780"/>
              <a:ext cx="3965029"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4.3 把不同结果接到下一步动作</a:t>
              </a:r>
            </a:p>
          </p:txBody>
        </p:sp>
      </p:grpSp>
      <p:grpSp>
        <p:nvGrpSpPr>
          <p:cNvPr id="16" name="Group 16"/>
          <p:cNvGrpSpPr/>
          <p:nvPr/>
        </p:nvGrpSpPr>
        <p:grpSpPr>
          <a:xfrm>
            <a:off x="457200" y="5048250"/>
            <a:ext cx="11277600" cy="952500"/>
            <a:chOff x="457200" y="5048250"/>
            <a:chExt cx="11277600" cy="952500"/>
          </a:xfrm>
        </p:grpSpPr>
        <p:sp>
          <p:nvSpPr>
            <p:cNvPr id="13" name="Rectangle 13"/>
            <p:cNvSpPr/>
            <p:nvPr/>
          </p:nvSpPr>
          <p:spPr>
            <a:xfrm>
              <a:off x="457200" y="5048250"/>
              <a:ext cx="11277600" cy="952500"/>
            </a:xfrm>
            <a:prstGeom prst="roundRect">
              <a:avLst>
                <a:gd name="adj" fmla="val 12000"/>
              </a:avLst>
            </a:prstGeom>
            <a:solidFill>
              <a:schemeClr val="accent1"/>
            </a:solidFill>
            <a:ln>
              <a:noFill/>
            </a:ln>
          </p:spPr>
        </p:sp>
        <p:sp>
          <p:nvSpPr>
            <p:cNvPr id="14" name="TextBox 14"/>
            <p:cNvSpPr txBox="1"/>
            <p:nvPr/>
          </p:nvSpPr>
          <p:spPr>
            <a:xfrm>
              <a:off x="716280" y="5267325"/>
              <a:ext cx="1226820" cy="293370"/>
            </a:xfrm>
            <a:prstGeom prst="rect">
              <a:avLst/>
            </a:prstGeom>
            <a:noFill/>
            <a:ln>
              <a:noFill/>
            </a:ln>
          </p:spPr>
          <p:txBody>
            <a:bodyPr wrap="none" lIns="0" tIns="0" rIns="0" bIns="0" anchor="t" anchorCtr="0">
              <a:spAutoFit/>
            </a:bodyPr>
            <a:lstStyle/>
            <a:p>
              <a:pPr algn="l"/>
              <a:r>
                <a:rPr lang="zh-CN" sz="1500" dirty="0">
                  <a:solidFill>
                    <a:srgbClr val="E8F2EF"/>
                  </a:solidFill>
                  <a:latin typeface="+mn-lt"/>
                  <a:ea typeface="+mn-ea"/>
                  <a:cs typeface="+mn-cs"/>
                </a:rPr>
                <a:t>本章完成标志</a:t>
              </a:r>
            </a:p>
          </p:txBody>
        </p:sp>
        <p:sp>
          <p:nvSpPr>
            <p:cNvPr id="15" name="TextBox 15"/>
            <p:cNvSpPr txBox="1"/>
            <p:nvPr/>
          </p:nvSpPr>
          <p:spPr>
            <a:xfrm>
              <a:off x="713232" y="5583555"/>
              <a:ext cx="680618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写出一张包含依据、判断边界和处理方式的审核点卡。</a:t>
              </a:r>
            </a:p>
          </p:txBody>
        </p:sp>
      </p:grpSp>
      <p:sp>
        <p:nvSpPr>
          <p:cNvPr id="17" name="TextBox 17"/>
          <p:cNvSpPr txBox="1"/>
          <p:nvPr/>
        </p:nvSpPr>
        <p:spPr>
          <a:xfrm>
            <a:off x="451866" y="6468428"/>
            <a:ext cx="1607934" cy="205359"/>
          </a:xfrm>
          <a:prstGeom prst="rect">
            <a:avLst/>
          </a:prstGeom>
          <a:noFill/>
          <a:ln>
            <a:noFill/>
          </a:ln>
        </p:spPr>
        <p:txBody>
          <a:bodyPr wrap="none" lIns="0" tIns="0" rIns="0" bIns="0" anchor="t" anchorCtr="0">
            <a:spAutoFit/>
          </a:bodyPr>
          <a:lstStyle/>
          <a:p>
            <a:pPr algn="l"/>
            <a:r>
              <a:rPr lang="zh-CN" sz="1050" dirty="0">
                <a:solidFill>
                  <a:srgbClr val="E8F2EF"/>
                </a:solidFill>
                <a:latin typeface="+mn-lt"/>
                <a:ea typeface="+mn-ea"/>
                <a:cs typeface="+mn-cs"/>
              </a:rPr>
              <a:t>定问题 → 做方案 → 验落地</a:t>
            </a:r>
          </a:p>
        </p:txBody>
      </p:sp>
      <p:sp>
        <p:nvSpPr>
          <p:cNvPr id="18" name="TextBox 18"/>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rgbClr val="E8F2EF"/>
                </a:solidFill>
                <a:latin typeface="+mn-lt"/>
                <a:ea typeface="+mn-ea"/>
                <a:cs typeface="+mn-cs"/>
              </a:rPr>
              <a:t>28 / 70</a:t>
            </a:r>
          </a:p>
        </p:txBody>
      </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730686" cy="1038035"/>
            <a:chOff x="441198" y="428625"/>
            <a:chExt cx="7730686" cy="1038035"/>
          </a:xfrm>
        </p:grpSpPr>
        <p:sp>
          <p:nvSpPr>
            <p:cNvPr id="2" name="TextBox 2"/>
            <p:cNvSpPr txBox="1"/>
            <p:nvPr/>
          </p:nvSpPr>
          <p:spPr>
            <a:xfrm>
              <a:off x="449580" y="428625"/>
              <a:ext cx="2771584"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4.1 六项定义</a:t>
              </a:r>
            </a:p>
          </p:txBody>
        </p:sp>
        <p:sp>
          <p:nvSpPr>
            <p:cNvPr id="3" name="TextBox 3"/>
            <p:cNvSpPr txBox="1"/>
            <p:nvPr/>
          </p:nvSpPr>
          <p:spPr>
            <a:xfrm>
              <a:off x="441198" y="850583"/>
              <a:ext cx="7730686"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“功能要准确”，还不是一条可执行审核点</a:t>
              </a:r>
            </a:p>
          </p:txBody>
        </p:sp>
      </p:grpSp>
      <p:grpSp>
        <p:nvGrpSpPr>
          <p:cNvPr id="7" name="Group 7"/>
          <p:cNvGrpSpPr/>
          <p:nvPr/>
        </p:nvGrpSpPr>
        <p:grpSpPr>
          <a:xfrm>
            <a:off x="445008" y="1979295"/>
            <a:ext cx="7775448" cy="854964"/>
            <a:chOff x="445008" y="1979295"/>
            <a:chExt cx="7775448" cy="854964"/>
          </a:xfrm>
        </p:grpSpPr>
        <p:sp>
          <p:nvSpPr>
            <p:cNvPr id="5" name="TextBox 5"/>
            <p:cNvSpPr txBox="1"/>
            <p:nvPr/>
          </p:nvSpPr>
          <p:spPr>
            <a:xfrm>
              <a:off x="445008" y="1979295"/>
              <a:ext cx="64861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把一项业务要求，拆成六个说得清楚的问题。</a:t>
              </a:r>
            </a:p>
          </p:txBody>
        </p:sp>
        <p:sp>
          <p:nvSpPr>
            <p:cNvPr id="6" name="TextBox 6"/>
            <p:cNvSpPr txBox="1"/>
            <p:nvPr/>
          </p:nvSpPr>
          <p:spPr>
            <a:xfrm>
              <a:off x="448056" y="2482215"/>
              <a:ext cx="7772400"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先定义任务，再选技术；首版不包揽全部文法、合规、版权等审核要求。</a:t>
              </a:r>
            </a:p>
          </p:txBody>
        </p:sp>
      </p:grpSp>
      <p:grpSp>
        <p:nvGrpSpPr>
          <p:cNvPr id="16" name="Group 16"/>
          <p:cNvGrpSpPr/>
          <p:nvPr/>
        </p:nvGrpSpPr>
        <p:grpSpPr>
          <a:xfrm>
            <a:off x="445008" y="3276600"/>
            <a:ext cx="9632899" cy="2428875"/>
            <a:chOff x="445008" y="3276600"/>
            <a:chExt cx="9632899" cy="2428875"/>
          </a:xfrm>
        </p:grpSpPr>
        <p:sp>
          <p:nvSpPr>
            <p:cNvPr id="8" name="Line 8"/>
            <p:cNvSpPr/>
            <p:nvPr/>
          </p:nvSpPr>
          <p:spPr>
            <a:xfrm>
              <a:off x="6096000" y="3276600"/>
              <a:ext cx="9525" cy="2428875"/>
            </a:xfrm>
            <a:custGeom>
              <a:avLst/>
              <a:gdLst/>
              <a:ahLst/>
              <a:cxnLst/>
              <a:rect l="l" t="t" r="r" b="b"/>
              <a:pathLst>
                <a:path w="9525" h="2428875">
                  <a:moveTo>
                    <a:pt x="0" y="0"/>
                  </a:moveTo>
                  <a:lnTo>
                    <a:pt x="0" y="2428875"/>
                  </a:lnTo>
                </a:path>
              </a:pathLst>
            </a:custGeom>
            <a:noFill/>
            <a:ln w="19050">
              <a:solidFill>
                <a:schemeClr val="accent6"/>
              </a:solidFill>
            </a:ln>
          </p:spPr>
        </p:sp>
        <p:grpSp>
          <p:nvGrpSpPr>
            <p:cNvPr id="15" name="Group 15"/>
            <p:cNvGrpSpPr/>
            <p:nvPr/>
          </p:nvGrpSpPr>
          <p:grpSpPr>
            <a:xfrm>
              <a:off x="445008" y="3427095"/>
              <a:ext cx="9632899" cy="2164842"/>
              <a:chOff x="445008" y="3427095"/>
              <a:chExt cx="9632899" cy="2164842"/>
            </a:xfrm>
          </p:grpSpPr>
          <p:sp>
            <p:nvSpPr>
              <p:cNvPr id="9" name="TextBox 9"/>
              <p:cNvSpPr txBox="1"/>
              <p:nvPr/>
            </p:nvSpPr>
            <p:spPr>
              <a:xfrm>
                <a:off x="445008" y="3427095"/>
                <a:ext cx="1769059"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01 查什么？</a:t>
                </a:r>
              </a:p>
            </p:txBody>
          </p:sp>
          <p:sp>
            <p:nvSpPr>
              <p:cNvPr id="10" name="TextBox 10"/>
              <p:cNvSpPr txBox="1"/>
              <p:nvPr/>
            </p:nvSpPr>
            <p:spPr>
              <a:xfrm>
                <a:off x="445008" y="4274820"/>
                <a:ext cx="2738323"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02 什么时候适用？</a:t>
                </a:r>
              </a:p>
            </p:txBody>
          </p:sp>
          <p:sp>
            <p:nvSpPr>
              <p:cNvPr id="11" name="TextBox 11"/>
              <p:cNvSpPr txBox="1"/>
              <p:nvPr/>
            </p:nvSpPr>
            <p:spPr>
              <a:xfrm>
                <a:off x="445008" y="5122545"/>
                <a:ext cx="2738323"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03 需要什么依据？</a:t>
                </a:r>
              </a:p>
            </p:txBody>
          </p:sp>
          <p:sp>
            <p:nvSpPr>
              <p:cNvPr id="12" name="TextBox 12"/>
              <p:cNvSpPr txBox="1"/>
              <p:nvPr/>
            </p:nvSpPr>
            <p:spPr>
              <a:xfrm>
                <a:off x="6693408" y="3427095"/>
                <a:ext cx="2092147"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04 怎样判断？</a:t>
                </a:r>
              </a:p>
            </p:txBody>
          </p:sp>
          <p:sp>
            <p:nvSpPr>
              <p:cNvPr id="13" name="TextBox 13"/>
              <p:cNvSpPr txBox="1"/>
              <p:nvPr/>
            </p:nvSpPr>
            <p:spPr>
              <a:xfrm>
                <a:off x="6693408" y="4274820"/>
                <a:ext cx="3384499"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05 例外、缺项怎么办？</a:t>
                </a:r>
              </a:p>
            </p:txBody>
          </p:sp>
          <p:sp>
            <p:nvSpPr>
              <p:cNvPr id="14" name="TextBox 14"/>
              <p:cNvSpPr txBox="1"/>
              <p:nvPr/>
            </p:nvSpPr>
            <p:spPr>
              <a:xfrm>
                <a:off x="6693408" y="5122545"/>
                <a:ext cx="2415235"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06 交给谁处理？</a:t>
                </a:r>
              </a:p>
            </p:txBody>
          </p:sp>
        </p:grpSp>
      </p:grpSp>
      <p:grpSp>
        <p:nvGrpSpPr>
          <p:cNvPr id="28" name="Group 28"/>
          <p:cNvGrpSpPr/>
          <p:nvPr/>
        </p:nvGrpSpPr>
        <p:grpSpPr>
          <a:xfrm>
            <a:off x="0" y="6286500"/>
            <a:ext cx="12192000" cy="571500"/>
            <a:chOff x="0" y="6286500"/>
            <a:chExt cx="12192000" cy="571500"/>
          </a:xfrm>
        </p:grpSpPr>
        <p:sp>
          <p:nvSpPr>
            <p:cNvPr id="17" name="Rectangle 17"/>
            <p:cNvSpPr/>
            <p:nvPr/>
          </p:nvSpPr>
          <p:spPr>
            <a:xfrm>
              <a:off x="0" y="6286500"/>
              <a:ext cx="12192000" cy="571500"/>
            </a:xfrm>
            <a:prstGeom prst="rect">
              <a:avLst/>
            </a:prstGeom>
            <a:solidFill>
              <a:srgbClr val="FFFFFF"/>
            </a:solidFill>
            <a:ln>
              <a:noFill/>
            </a:ln>
          </p:spPr>
        </p:sp>
        <p:sp>
          <p:nvSpPr>
            <p:cNvPr id="18" name="Line 18"/>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6" name="Group 26"/>
            <p:cNvGrpSpPr/>
            <p:nvPr/>
          </p:nvGrpSpPr>
          <p:grpSpPr>
            <a:xfrm>
              <a:off x="451866" y="6468428"/>
              <a:ext cx="9783070" cy="205359"/>
              <a:chOff x="451866" y="6468428"/>
              <a:chExt cx="9783070" cy="205359"/>
            </a:xfrm>
          </p:grpSpPr>
          <p:sp>
            <p:nvSpPr>
              <p:cNvPr id="19" name="TextBox 19"/>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0" name="TextBox 20"/>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1" name="TextBox 21"/>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2" name="TextBox 22"/>
              <p:cNvSpPr txBox="1"/>
              <p:nvPr/>
            </p:nvSpPr>
            <p:spPr>
              <a:xfrm>
                <a:off x="4995291" y="6468428"/>
                <a:ext cx="560877"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4 审核点</a:t>
                </a:r>
              </a:p>
            </p:txBody>
          </p:sp>
          <p:sp>
            <p:nvSpPr>
              <p:cNvPr id="23" name="TextBox 23"/>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4" name="TextBox 24"/>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5" name="TextBox 25"/>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27" name="TextBox 27"/>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29 / 70</a:t>
              </a:r>
            </a:p>
          </p:txBody>
        </p:sp>
      </p:gr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551524" cy="1038035"/>
            <a:chOff x="441198" y="428625"/>
            <a:chExt cx="7551524" cy="1038035"/>
          </a:xfrm>
        </p:grpSpPr>
        <p:sp>
          <p:nvSpPr>
            <p:cNvPr id="2" name="TextBox 2"/>
            <p:cNvSpPr txBox="1"/>
            <p:nvPr/>
          </p:nvSpPr>
          <p:spPr>
            <a:xfrm>
              <a:off x="449580" y="428625"/>
              <a:ext cx="337737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4.2 编写具体审核点</a:t>
              </a:r>
            </a:p>
          </p:txBody>
        </p:sp>
        <p:sp>
          <p:nvSpPr>
            <p:cNvPr id="3" name="TextBox 3"/>
            <p:cNvSpPr txBox="1"/>
            <p:nvPr/>
          </p:nvSpPr>
          <p:spPr>
            <a:xfrm>
              <a:off x="441198" y="850583"/>
              <a:ext cx="7551524"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不是看见65℃就提示，而是核对它描述谁</a:t>
              </a:r>
            </a:p>
          </p:txBody>
        </p:sp>
      </p:grpSp>
      <p:grpSp>
        <p:nvGrpSpPr>
          <p:cNvPr id="7" name="Group 7"/>
          <p:cNvGrpSpPr/>
          <p:nvPr/>
        </p:nvGrpSpPr>
        <p:grpSpPr>
          <a:xfrm>
            <a:off x="457200" y="1809750"/>
            <a:ext cx="11277600" cy="857250"/>
            <a:chOff x="457200" y="1809750"/>
            <a:chExt cx="11277600" cy="857250"/>
          </a:xfrm>
        </p:grpSpPr>
        <p:sp>
          <p:nvSpPr>
            <p:cNvPr id="5" name="Rectangle 5"/>
            <p:cNvSpPr/>
            <p:nvPr/>
          </p:nvSpPr>
          <p:spPr>
            <a:xfrm>
              <a:off x="457200" y="1809750"/>
              <a:ext cx="11277600" cy="857250"/>
            </a:xfrm>
            <a:prstGeom prst="roundRect">
              <a:avLst>
                <a:gd name="adj" fmla="val 13333"/>
              </a:avLst>
            </a:prstGeom>
            <a:solidFill>
              <a:schemeClr val="lt2"/>
            </a:solidFill>
            <a:ln>
              <a:noFill/>
            </a:ln>
          </p:spPr>
        </p:sp>
        <p:sp>
          <p:nvSpPr>
            <p:cNvPr id="6" name="TextBox 6"/>
            <p:cNvSpPr txBox="1"/>
            <p:nvPr/>
          </p:nvSpPr>
          <p:spPr>
            <a:xfrm>
              <a:off x="713232" y="2087880"/>
              <a:ext cx="977402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输入：完整文案＋SKU＋有效商品资料；对象不清或依据冲突，交人确认。</a:t>
              </a:r>
            </a:p>
          </p:txBody>
        </p:sp>
      </p:grpSp>
      <p:grpSp>
        <p:nvGrpSpPr>
          <p:cNvPr id="9" name="Group 9"/>
          <p:cNvGrpSpPr/>
          <p:nvPr/>
        </p:nvGrpSpPr>
        <p:grpSpPr>
          <a:xfrm>
            <a:off x="446532" y="3116580"/>
            <a:ext cx="5647106" cy="410718"/>
            <a:chOff x="446532" y="3116580"/>
            <a:chExt cx="5647106" cy="410718"/>
          </a:xfrm>
        </p:grpSpPr>
        <p:sp>
          <p:nvSpPr>
            <p:cNvPr id="8" name="TextBox 8"/>
            <p:cNvSpPr txBox="1"/>
            <p:nvPr/>
          </p:nvSpPr>
          <p:spPr>
            <a:xfrm>
              <a:off x="446532" y="3116580"/>
              <a:ext cx="5647106"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“65℃热水直接拖地” → 功能对象不一致，修改</a:t>
              </a:r>
            </a:p>
          </p:txBody>
        </p:sp>
      </p:grpSp>
      <p:grpSp>
        <p:nvGrpSpPr>
          <p:cNvPr id="11" name="Group 11"/>
          <p:cNvGrpSpPr/>
          <p:nvPr/>
        </p:nvGrpSpPr>
        <p:grpSpPr>
          <a:xfrm>
            <a:off x="446532" y="3869055"/>
            <a:ext cx="5647106" cy="410718"/>
            <a:chOff x="446532" y="3869055"/>
            <a:chExt cx="5647106" cy="410718"/>
          </a:xfrm>
        </p:grpSpPr>
        <p:sp>
          <p:nvSpPr>
            <p:cNvPr id="10" name="TextBox 10"/>
            <p:cNvSpPr txBox="1"/>
            <p:nvPr/>
          </p:nvSpPr>
          <p:spPr>
            <a:xfrm>
              <a:off x="446532" y="3869055"/>
              <a:ext cx="5647106"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“基站支持65℃热水洗拖布” → 有给定资料支持</a:t>
              </a:r>
            </a:p>
          </p:txBody>
        </p:sp>
      </p:grpSp>
      <p:grpSp>
        <p:nvGrpSpPr>
          <p:cNvPr id="13" name="Group 13"/>
          <p:cNvGrpSpPr/>
          <p:nvPr/>
        </p:nvGrpSpPr>
        <p:grpSpPr>
          <a:xfrm>
            <a:off x="446532" y="4621530"/>
            <a:ext cx="6495212" cy="410718"/>
            <a:chOff x="446532" y="4621530"/>
            <a:chExt cx="6495212" cy="410718"/>
          </a:xfrm>
        </p:grpSpPr>
        <p:sp>
          <p:nvSpPr>
            <p:cNvPr id="12" name="TextBox 12"/>
            <p:cNvSpPr txBox="1"/>
            <p:nvPr/>
          </p:nvSpPr>
          <p:spPr>
            <a:xfrm>
              <a:off x="446532" y="4621530"/>
              <a:ext cx="649521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“65℃热水深度清洁” → 看全文；仍不清楚时人工确认</a:t>
              </a:r>
            </a:p>
          </p:txBody>
        </p:sp>
      </p:grpSp>
      <p:grpSp>
        <p:nvGrpSpPr>
          <p:cNvPr id="16" name="Group 16"/>
          <p:cNvGrpSpPr/>
          <p:nvPr/>
        </p:nvGrpSpPr>
        <p:grpSpPr>
          <a:xfrm>
            <a:off x="446532" y="5374005"/>
            <a:ext cx="7159562" cy="739140"/>
            <a:chOff x="446532" y="5374005"/>
            <a:chExt cx="7159562" cy="739140"/>
          </a:xfrm>
        </p:grpSpPr>
        <p:sp>
          <p:nvSpPr>
            <p:cNvPr id="14" name="TextBox 14"/>
            <p:cNvSpPr txBox="1"/>
            <p:nvPr/>
          </p:nvSpPr>
          <p:spPr>
            <a:xfrm>
              <a:off x="446532" y="5374005"/>
              <a:ext cx="71595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“基站支持热水洗拖布” → 没有温度数值，本温度项不适用</a:t>
              </a:r>
            </a:p>
          </p:txBody>
        </p:sp>
        <p:sp>
          <p:nvSpPr>
            <p:cNvPr id="15" name="TextBox 15"/>
            <p:cNvSpPr txBox="1"/>
            <p:nvPr/>
          </p:nvSpPr>
          <p:spPr>
            <a:xfrm>
              <a:off x="449580" y="5819775"/>
              <a:ext cx="5598605"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仍可进行对应的商品功能核对，不能因为没写65℃就要求补写。</a:t>
              </a:r>
            </a:p>
          </p:txBody>
        </p:sp>
      </p:grpSp>
      <p:grpSp>
        <p:nvGrpSpPr>
          <p:cNvPr id="28" name="Group 28"/>
          <p:cNvGrpSpPr/>
          <p:nvPr/>
        </p:nvGrpSpPr>
        <p:grpSpPr>
          <a:xfrm>
            <a:off x="0" y="6286500"/>
            <a:ext cx="12192000" cy="571500"/>
            <a:chOff x="0" y="6286500"/>
            <a:chExt cx="12192000" cy="571500"/>
          </a:xfrm>
        </p:grpSpPr>
        <p:sp>
          <p:nvSpPr>
            <p:cNvPr id="17" name="Rectangle 17"/>
            <p:cNvSpPr/>
            <p:nvPr/>
          </p:nvSpPr>
          <p:spPr>
            <a:xfrm>
              <a:off x="0" y="6286500"/>
              <a:ext cx="12192000" cy="571500"/>
            </a:xfrm>
            <a:prstGeom prst="rect">
              <a:avLst/>
            </a:prstGeom>
            <a:solidFill>
              <a:srgbClr val="FFFFFF"/>
            </a:solidFill>
            <a:ln>
              <a:noFill/>
            </a:ln>
          </p:spPr>
        </p:sp>
        <p:sp>
          <p:nvSpPr>
            <p:cNvPr id="18" name="Line 18"/>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6" name="Group 26"/>
            <p:cNvGrpSpPr/>
            <p:nvPr/>
          </p:nvGrpSpPr>
          <p:grpSpPr>
            <a:xfrm>
              <a:off x="451866" y="6468428"/>
              <a:ext cx="9783070" cy="205359"/>
              <a:chOff x="451866" y="6468428"/>
              <a:chExt cx="9783070" cy="205359"/>
            </a:xfrm>
          </p:grpSpPr>
          <p:sp>
            <p:nvSpPr>
              <p:cNvPr id="19" name="TextBox 19"/>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0" name="TextBox 20"/>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1" name="TextBox 21"/>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2" name="TextBox 22"/>
              <p:cNvSpPr txBox="1"/>
              <p:nvPr/>
            </p:nvSpPr>
            <p:spPr>
              <a:xfrm>
                <a:off x="4995291" y="6468428"/>
                <a:ext cx="560877"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4 审核点</a:t>
                </a:r>
              </a:p>
            </p:txBody>
          </p:sp>
          <p:sp>
            <p:nvSpPr>
              <p:cNvPr id="23" name="TextBox 23"/>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4" name="TextBox 24"/>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5" name="TextBox 25"/>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27" name="TextBox 27"/>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30 / 70</a:t>
              </a:r>
            </a:p>
          </p:txBody>
        </p:sp>
      </p:gr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816852" cy="1038035"/>
            <a:chOff x="441198" y="428625"/>
            <a:chExt cx="6816852" cy="1038035"/>
          </a:xfrm>
        </p:grpSpPr>
        <p:sp>
          <p:nvSpPr>
            <p:cNvPr id="2" name="TextBox 2"/>
            <p:cNvSpPr txBox="1"/>
            <p:nvPr/>
          </p:nvSpPr>
          <p:spPr>
            <a:xfrm>
              <a:off x="449580" y="428625"/>
              <a:ext cx="337737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4.2 编写具体审核点</a:t>
              </a:r>
            </a:p>
          </p:txBody>
        </p:sp>
        <p:sp>
          <p:nvSpPr>
            <p:cNvPr id="3" name="TextBox 3"/>
            <p:cNvSpPr txBox="1"/>
            <p:nvPr/>
          </p:nvSpPr>
          <p:spPr>
            <a:xfrm>
              <a:off x="441198" y="850583"/>
              <a:ext cx="681685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资料里有条件，不等于文案已经写了</a:t>
              </a:r>
            </a:p>
          </p:txBody>
        </p:sp>
      </p:grpSp>
      <p:grpSp>
        <p:nvGrpSpPr>
          <p:cNvPr id="9" name="Group 9"/>
          <p:cNvGrpSpPr/>
          <p:nvPr/>
        </p:nvGrpSpPr>
        <p:grpSpPr>
          <a:xfrm>
            <a:off x="457200" y="1809750"/>
            <a:ext cx="11277600" cy="2286000"/>
            <a:chOff x="457200" y="1809750"/>
            <a:chExt cx="11277600" cy="2286000"/>
          </a:xfrm>
        </p:grpSpPr>
        <p:sp>
          <p:nvSpPr>
            <p:cNvPr id="5" name="Rectangle 5"/>
            <p:cNvSpPr/>
            <p:nvPr/>
          </p:nvSpPr>
          <p:spPr>
            <a:xfrm>
              <a:off x="457200" y="1809750"/>
              <a:ext cx="11277600" cy="2286000"/>
            </a:xfrm>
            <a:prstGeom prst="roundRect">
              <a:avLst>
                <a:gd name="adj" fmla="val 5000"/>
              </a:avLst>
            </a:prstGeom>
            <a:solidFill>
              <a:srgbClr val="FFFFFF"/>
            </a:solidFill>
            <a:ln>
              <a:noFill/>
            </a:ln>
          </p:spPr>
        </p:sp>
        <p:sp>
          <p:nvSpPr>
            <p:cNvPr id="6" name="TextBox 6"/>
            <p:cNvSpPr txBox="1"/>
            <p:nvPr/>
          </p:nvSpPr>
          <p:spPr>
            <a:xfrm>
              <a:off x="732282" y="2068830"/>
              <a:ext cx="6933400"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“1799元，人人同价” → 遗漏资格、用券条件，扩大人群</a:t>
              </a:r>
            </a:p>
          </p:txBody>
        </p:sp>
        <p:sp>
          <p:nvSpPr>
            <p:cNvPr id="7" name="TextBox 7"/>
            <p:cNvSpPr txBox="1"/>
            <p:nvPr/>
          </p:nvSpPr>
          <p:spPr>
            <a:xfrm>
              <a:off x="732282" y="2745105"/>
              <a:ext cx="5802592"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“领券到手1799元” → 新会员与两类券仍未说明</a:t>
              </a:r>
            </a:p>
          </p:txBody>
        </p:sp>
        <p:sp>
          <p:nvSpPr>
            <p:cNvPr id="8" name="TextBox 8"/>
            <p:cNvSpPr txBox="1"/>
            <p:nvPr/>
          </p:nvSpPr>
          <p:spPr>
            <a:xfrm>
              <a:off x="732282" y="3421380"/>
              <a:ext cx="727264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新会员领用400元活动券及200元专享券后1799 → 核对路径</a:t>
              </a:r>
            </a:p>
          </p:txBody>
        </p:sp>
      </p:grpSp>
      <p:grpSp>
        <p:nvGrpSpPr>
          <p:cNvPr id="13" name="Group 13"/>
          <p:cNvGrpSpPr/>
          <p:nvPr/>
        </p:nvGrpSpPr>
        <p:grpSpPr>
          <a:xfrm>
            <a:off x="445008" y="4598670"/>
            <a:ext cx="8260080" cy="1445514"/>
            <a:chOff x="445008" y="4598670"/>
            <a:chExt cx="8260080" cy="1445514"/>
          </a:xfrm>
        </p:grpSpPr>
        <p:sp>
          <p:nvSpPr>
            <p:cNvPr id="10" name="TextBox 10"/>
            <p:cNvSpPr txBox="1"/>
            <p:nvPr/>
          </p:nvSpPr>
          <p:spPr>
            <a:xfrm>
              <a:off x="445008" y="4598670"/>
              <a:ext cx="4870704"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按全文判断语义，保留表达自由。</a:t>
              </a:r>
            </a:p>
          </p:txBody>
        </p:sp>
        <p:sp>
          <p:nvSpPr>
            <p:cNvPr id="11" name="TextBox 11"/>
            <p:cNvSpPr txBox="1"/>
            <p:nvPr/>
          </p:nvSpPr>
          <p:spPr>
            <a:xfrm>
              <a:off x="446532" y="5164455"/>
              <a:ext cx="737158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条件可以跨句清楚交代；只宣传一种价格，就核对该路径。</a:t>
              </a:r>
            </a:p>
          </p:txBody>
        </p:sp>
        <p:sp>
          <p:nvSpPr>
            <p:cNvPr id="12" name="TextBox 12"/>
            <p:cNvSpPr txBox="1"/>
            <p:nvPr/>
          </p:nvSpPr>
          <p:spPr>
            <a:xfrm>
              <a:off x="448056" y="5692140"/>
              <a:ext cx="825703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没有价格主张不强加价格；不强制唯一句式；缺有效活动资料不能完整判断。</a:t>
              </a:r>
            </a:p>
          </p:txBody>
        </p:sp>
      </p:grpSp>
      <p:grpSp>
        <p:nvGrpSpPr>
          <p:cNvPr id="25" name="Group 25"/>
          <p:cNvGrpSpPr/>
          <p:nvPr/>
        </p:nvGrpSpPr>
        <p:grpSpPr>
          <a:xfrm>
            <a:off x="0" y="6286500"/>
            <a:ext cx="12192000" cy="571500"/>
            <a:chOff x="0" y="6286500"/>
            <a:chExt cx="12192000" cy="571500"/>
          </a:xfrm>
        </p:grpSpPr>
        <p:sp>
          <p:nvSpPr>
            <p:cNvPr id="14" name="Rectangle 14"/>
            <p:cNvSpPr/>
            <p:nvPr/>
          </p:nvSpPr>
          <p:spPr>
            <a:xfrm>
              <a:off x="0" y="6286500"/>
              <a:ext cx="12192000" cy="571500"/>
            </a:xfrm>
            <a:prstGeom prst="rect">
              <a:avLst/>
            </a:prstGeom>
            <a:solidFill>
              <a:srgbClr val="FFFFFF"/>
            </a:solidFill>
            <a:ln>
              <a:noFill/>
            </a:ln>
          </p:spPr>
        </p:sp>
        <p:sp>
          <p:nvSpPr>
            <p:cNvPr id="15" name="Line 15"/>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3" name="Group 23"/>
            <p:cNvGrpSpPr/>
            <p:nvPr/>
          </p:nvGrpSpPr>
          <p:grpSpPr>
            <a:xfrm>
              <a:off x="451866" y="6468428"/>
              <a:ext cx="9783070" cy="205359"/>
              <a:chOff x="451866" y="6468428"/>
              <a:chExt cx="9783070" cy="205359"/>
            </a:xfrm>
          </p:grpSpPr>
          <p:sp>
            <p:nvSpPr>
              <p:cNvPr id="16" name="TextBox 16"/>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17" name="TextBox 17"/>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18" name="TextBox 18"/>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19" name="TextBox 19"/>
              <p:cNvSpPr txBox="1"/>
              <p:nvPr/>
            </p:nvSpPr>
            <p:spPr>
              <a:xfrm>
                <a:off x="4995291" y="6468428"/>
                <a:ext cx="560877"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4 审核点</a:t>
                </a:r>
              </a:p>
            </p:txBody>
          </p:sp>
          <p:sp>
            <p:nvSpPr>
              <p:cNvPr id="20" name="TextBox 20"/>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1" name="TextBox 21"/>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2" name="TextBox 22"/>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24" name="TextBox 24"/>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31 / 70</a:t>
              </a:r>
            </a:p>
          </p:txBody>
        </p:sp>
      </p:gr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882580" cy="1038035"/>
            <a:chOff x="441198" y="428625"/>
            <a:chExt cx="6882580" cy="1038035"/>
          </a:xfrm>
        </p:grpSpPr>
        <p:sp>
          <p:nvSpPr>
            <p:cNvPr id="2" name="TextBox 2"/>
            <p:cNvSpPr txBox="1"/>
            <p:nvPr/>
          </p:nvSpPr>
          <p:spPr>
            <a:xfrm>
              <a:off x="449580" y="428625"/>
              <a:ext cx="4417314"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第二篇·做方案 / 4.2 编写具体审核点 · 课堂练习</a:t>
              </a:r>
            </a:p>
          </p:txBody>
        </p:sp>
        <p:sp>
          <p:nvSpPr>
            <p:cNvPr id="3" name="TextBox 3"/>
            <p:cNvSpPr txBox="1"/>
            <p:nvPr/>
          </p:nvSpPr>
          <p:spPr>
            <a:xfrm>
              <a:off x="441198" y="850583"/>
              <a:ext cx="6882580"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把“下单就送宠物清洁包”拆成审核点</a:t>
              </a:r>
            </a:p>
          </p:txBody>
        </p:sp>
      </p:grpSp>
      <p:grpSp>
        <p:nvGrpSpPr>
          <p:cNvPr id="19" name="Group 19"/>
          <p:cNvGrpSpPr/>
          <p:nvPr/>
        </p:nvGrpSpPr>
        <p:grpSpPr>
          <a:xfrm>
            <a:off x="446532" y="2192655"/>
            <a:ext cx="11288268" cy="2239518"/>
            <a:chOff x="446532" y="2192655"/>
            <a:chExt cx="11288268" cy="2239518"/>
          </a:xfrm>
        </p:grpSpPr>
        <p:grpSp>
          <p:nvGrpSpPr>
            <p:cNvPr id="11" name="Group 11"/>
            <p:cNvGrpSpPr/>
            <p:nvPr/>
          </p:nvGrpSpPr>
          <p:grpSpPr>
            <a:xfrm>
              <a:off x="446532" y="2192655"/>
              <a:ext cx="7880223" cy="2239518"/>
              <a:chOff x="446532" y="2192655"/>
              <a:chExt cx="7880223" cy="2239518"/>
            </a:xfrm>
          </p:grpSpPr>
          <p:sp>
            <p:nvSpPr>
              <p:cNvPr id="5" name="TextBox 5"/>
              <p:cNvSpPr txBox="1"/>
              <p:nvPr/>
            </p:nvSpPr>
            <p:spPr>
              <a:xfrm>
                <a:off x="446532" y="2192655"/>
                <a:ext cx="1434846"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检查对象：</a:t>
                </a:r>
              </a:p>
            </p:txBody>
          </p:sp>
          <p:sp>
            <p:nvSpPr>
              <p:cNvPr id="6" name="TextBox 6"/>
              <p:cNvSpPr txBox="1"/>
              <p:nvPr/>
            </p:nvSpPr>
            <p:spPr>
              <a:xfrm>
                <a:off x="446532" y="3107055"/>
                <a:ext cx="1434846"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适用条件：</a:t>
                </a:r>
              </a:p>
            </p:txBody>
          </p:sp>
          <p:sp>
            <p:nvSpPr>
              <p:cNvPr id="7" name="TextBox 7"/>
              <p:cNvSpPr txBox="1"/>
              <p:nvPr/>
            </p:nvSpPr>
            <p:spPr>
              <a:xfrm>
                <a:off x="446532" y="4021455"/>
                <a:ext cx="1434846"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业务依据：</a:t>
                </a:r>
              </a:p>
            </p:txBody>
          </p:sp>
          <p:sp>
            <p:nvSpPr>
              <p:cNvPr id="8" name="TextBox 8"/>
              <p:cNvSpPr txBox="1"/>
              <p:nvPr/>
            </p:nvSpPr>
            <p:spPr>
              <a:xfrm>
                <a:off x="6609207" y="2192655"/>
                <a:ext cx="1434846"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判断逻辑：</a:t>
                </a:r>
              </a:p>
            </p:txBody>
          </p:sp>
          <p:sp>
            <p:nvSpPr>
              <p:cNvPr id="9" name="TextBox 9"/>
              <p:cNvSpPr txBox="1"/>
              <p:nvPr/>
            </p:nvSpPr>
            <p:spPr>
              <a:xfrm>
                <a:off x="6609207" y="3107055"/>
                <a:ext cx="1717548"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例外与缺项：</a:t>
                </a:r>
              </a:p>
            </p:txBody>
          </p:sp>
          <p:sp>
            <p:nvSpPr>
              <p:cNvPr id="10" name="TextBox 10"/>
              <p:cNvSpPr txBox="1"/>
              <p:nvPr/>
            </p:nvSpPr>
            <p:spPr>
              <a:xfrm>
                <a:off x="6609207" y="4021455"/>
                <a:ext cx="1717548"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责任与处理：</a:t>
                </a:r>
              </a:p>
            </p:txBody>
          </p:sp>
        </p:grpSp>
        <p:grpSp>
          <p:nvGrpSpPr>
            <p:cNvPr id="18" name="Group 18"/>
            <p:cNvGrpSpPr/>
            <p:nvPr/>
          </p:nvGrpSpPr>
          <p:grpSpPr>
            <a:xfrm>
              <a:off x="2000250" y="2533650"/>
              <a:ext cx="9734550" cy="1838325"/>
              <a:chOff x="2000250" y="2533650"/>
              <a:chExt cx="9734550" cy="1838325"/>
            </a:xfrm>
          </p:grpSpPr>
          <p:sp>
            <p:nvSpPr>
              <p:cNvPr id="12" name="Line 12"/>
              <p:cNvSpPr/>
              <p:nvPr/>
            </p:nvSpPr>
            <p:spPr>
              <a:xfrm>
                <a:off x="2000250" y="2533650"/>
                <a:ext cx="3429000" cy="9525"/>
              </a:xfrm>
              <a:custGeom>
                <a:avLst/>
                <a:gdLst/>
                <a:ahLst/>
                <a:cxnLst/>
                <a:rect l="l" t="t" r="r" b="b"/>
                <a:pathLst>
                  <a:path w="3429000" h="9525">
                    <a:moveTo>
                      <a:pt x="0" y="0"/>
                    </a:moveTo>
                    <a:lnTo>
                      <a:pt x="3429000" y="0"/>
                    </a:lnTo>
                  </a:path>
                </a:pathLst>
              </a:custGeom>
              <a:noFill/>
              <a:ln w="19050">
                <a:solidFill>
                  <a:srgbClr val="617673"/>
                </a:solidFill>
              </a:ln>
            </p:spPr>
          </p:sp>
          <p:sp>
            <p:nvSpPr>
              <p:cNvPr id="13" name="Line 13"/>
              <p:cNvSpPr/>
              <p:nvPr/>
            </p:nvSpPr>
            <p:spPr>
              <a:xfrm>
                <a:off x="2000250" y="3448050"/>
                <a:ext cx="3429000" cy="9525"/>
              </a:xfrm>
              <a:custGeom>
                <a:avLst/>
                <a:gdLst/>
                <a:ahLst/>
                <a:cxnLst/>
                <a:rect l="l" t="t" r="r" b="b"/>
                <a:pathLst>
                  <a:path w="3429000" h="9525">
                    <a:moveTo>
                      <a:pt x="0" y="0"/>
                    </a:moveTo>
                    <a:lnTo>
                      <a:pt x="3429000" y="0"/>
                    </a:lnTo>
                  </a:path>
                </a:pathLst>
              </a:custGeom>
              <a:noFill/>
              <a:ln w="19050">
                <a:solidFill>
                  <a:srgbClr val="617673"/>
                </a:solidFill>
              </a:ln>
            </p:spPr>
          </p:sp>
          <p:sp>
            <p:nvSpPr>
              <p:cNvPr id="14" name="Line 14"/>
              <p:cNvSpPr/>
              <p:nvPr/>
            </p:nvSpPr>
            <p:spPr>
              <a:xfrm>
                <a:off x="2000250" y="4362450"/>
                <a:ext cx="3429000" cy="9525"/>
              </a:xfrm>
              <a:custGeom>
                <a:avLst/>
                <a:gdLst/>
                <a:ahLst/>
                <a:cxnLst/>
                <a:rect l="l" t="t" r="r" b="b"/>
                <a:pathLst>
                  <a:path w="3429000" h="9525">
                    <a:moveTo>
                      <a:pt x="0" y="0"/>
                    </a:moveTo>
                    <a:lnTo>
                      <a:pt x="3429000" y="0"/>
                    </a:lnTo>
                  </a:path>
                </a:pathLst>
              </a:custGeom>
              <a:noFill/>
              <a:ln w="19050">
                <a:solidFill>
                  <a:srgbClr val="617673"/>
                </a:solidFill>
              </a:ln>
            </p:spPr>
          </p:sp>
          <p:sp>
            <p:nvSpPr>
              <p:cNvPr id="15" name="Line 15"/>
              <p:cNvSpPr/>
              <p:nvPr/>
            </p:nvSpPr>
            <p:spPr>
              <a:xfrm>
                <a:off x="8477250" y="2533650"/>
                <a:ext cx="3257550" cy="9525"/>
              </a:xfrm>
              <a:custGeom>
                <a:avLst/>
                <a:gdLst/>
                <a:ahLst/>
                <a:cxnLst/>
                <a:rect l="l" t="t" r="r" b="b"/>
                <a:pathLst>
                  <a:path w="3257550" h="9525">
                    <a:moveTo>
                      <a:pt x="0" y="0"/>
                    </a:moveTo>
                    <a:lnTo>
                      <a:pt x="3257550" y="0"/>
                    </a:lnTo>
                  </a:path>
                </a:pathLst>
              </a:custGeom>
              <a:noFill/>
              <a:ln w="19050">
                <a:solidFill>
                  <a:srgbClr val="617673"/>
                </a:solidFill>
              </a:ln>
            </p:spPr>
          </p:sp>
          <p:sp>
            <p:nvSpPr>
              <p:cNvPr id="16" name="Line 16"/>
              <p:cNvSpPr/>
              <p:nvPr/>
            </p:nvSpPr>
            <p:spPr>
              <a:xfrm>
                <a:off x="8477250" y="3448050"/>
                <a:ext cx="3257550" cy="9525"/>
              </a:xfrm>
              <a:custGeom>
                <a:avLst/>
                <a:gdLst/>
                <a:ahLst/>
                <a:cxnLst/>
                <a:rect l="l" t="t" r="r" b="b"/>
                <a:pathLst>
                  <a:path w="3257550" h="9525">
                    <a:moveTo>
                      <a:pt x="0" y="0"/>
                    </a:moveTo>
                    <a:lnTo>
                      <a:pt x="3257550" y="0"/>
                    </a:lnTo>
                  </a:path>
                </a:pathLst>
              </a:custGeom>
              <a:noFill/>
              <a:ln w="19050">
                <a:solidFill>
                  <a:srgbClr val="617673"/>
                </a:solidFill>
              </a:ln>
            </p:spPr>
          </p:sp>
          <p:sp>
            <p:nvSpPr>
              <p:cNvPr id="17" name="Line 17"/>
              <p:cNvSpPr/>
              <p:nvPr/>
            </p:nvSpPr>
            <p:spPr>
              <a:xfrm>
                <a:off x="8477250" y="4362450"/>
                <a:ext cx="3257550" cy="9525"/>
              </a:xfrm>
              <a:custGeom>
                <a:avLst/>
                <a:gdLst/>
                <a:ahLst/>
                <a:cxnLst/>
                <a:rect l="l" t="t" r="r" b="b"/>
                <a:pathLst>
                  <a:path w="3257550" h="9525">
                    <a:moveTo>
                      <a:pt x="0" y="0"/>
                    </a:moveTo>
                    <a:lnTo>
                      <a:pt x="3257550" y="0"/>
                    </a:lnTo>
                  </a:path>
                </a:pathLst>
              </a:custGeom>
              <a:noFill/>
              <a:ln w="19050">
                <a:solidFill>
                  <a:srgbClr val="617673"/>
                </a:solidFill>
              </a:ln>
            </p:spPr>
          </p:sp>
        </p:grpSp>
      </p:grpSp>
      <p:grpSp>
        <p:nvGrpSpPr>
          <p:cNvPr id="22" name="Group 22"/>
          <p:cNvGrpSpPr/>
          <p:nvPr/>
        </p:nvGrpSpPr>
        <p:grpSpPr>
          <a:xfrm>
            <a:off x="446532" y="5202555"/>
            <a:ext cx="5392674" cy="925068"/>
            <a:chOff x="446532" y="5202555"/>
            <a:chExt cx="5392674" cy="925068"/>
          </a:xfrm>
        </p:grpSpPr>
        <p:sp>
          <p:nvSpPr>
            <p:cNvPr id="20" name="TextBox 20"/>
            <p:cNvSpPr txBox="1"/>
            <p:nvPr/>
          </p:nvSpPr>
          <p:spPr>
            <a:xfrm>
              <a:off x="446532" y="5202555"/>
              <a:ext cx="5109972"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补一条正常表达、一条无法确认的情况。</a:t>
              </a:r>
            </a:p>
          </p:txBody>
        </p:sp>
        <p:sp>
          <p:nvSpPr>
            <p:cNvPr id="21" name="TextBox 21"/>
            <p:cNvSpPr txBox="1"/>
            <p:nvPr/>
          </p:nvSpPr>
          <p:spPr>
            <a:xfrm>
              <a:off x="446532" y="5716905"/>
              <a:ext cx="5392674" cy="410718"/>
            </a:xfrm>
            <a:prstGeom prst="rect">
              <a:avLst/>
            </a:prstGeom>
            <a:noFill/>
            <a:ln>
              <a:noFill/>
            </a:ln>
          </p:spPr>
          <p:txBody>
            <a:bodyPr wrap="none" lIns="0" tIns="0" rIns="0" bIns="0" anchor="t" anchorCtr="0">
              <a:spAutoFit/>
            </a:bodyPr>
            <a:lstStyle/>
            <a:p>
              <a:pPr algn="l"/>
              <a:r>
                <a:rPr lang="zh-CN" sz="2100" dirty="0">
                  <a:solidFill>
                    <a:srgbClr val="E8F2EF"/>
                  </a:solidFill>
                  <a:latin typeface="+mn-lt"/>
                  <a:ea typeface="+mn-ea"/>
                  <a:cs typeface="+mn-cs"/>
                </a:rPr>
                <a:t>追问：名额用完以后，需要增加什么输入？</a:t>
              </a:r>
            </a:p>
          </p:txBody>
        </p:sp>
      </p:grpSp>
      <p:grpSp>
        <p:nvGrpSpPr>
          <p:cNvPr id="34" name="Group 34"/>
          <p:cNvGrpSpPr/>
          <p:nvPr/>
        </p:nvGrpSpPr>
        <p:grpSpPr>
          <a:xfrm>
            <a:off x="0" y="6286500"/>
            <a:ext cx="12192000" cy="571500"/>
            <a:chOff x="0" y="6286500"/>
            <a:chExt cx="12192000" cy="571500"/>
          </a:xfrm>
        </p:grpSpPr>
        <p:sp>
          <p:nvSpPr>
            <p:cNvPr id="23" name="Rectangle 23"/>
            <p:cNvSpPr/>
            <p:nvPr/>
          </p:nvSpPr>
          <p:spPr>
            <a:xfrm>
              <a:off x="0" y="6286500"/>
              <a:ext cx="12192000" cy="571500"/>
            </a:xfrm>
            <a:prstGeom prst="rect">
              <a:avLst/>
            </a:prstGeom>
            <a:solidFill>
              <a:srgbClr val="FFFFFF"/>
            </a:solidFill>
            <a:ln>
              <a:noFill/>
            </a:ln>
          </p:spPr>
        </p:sp>
        <p:sp>
          <p:nvSpPr>
            <p:cNvPr id="24" name="Line 24"/>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32" name="Group 32"/>
            <p:cNvGrpSpPr/>
            <p:nvPr/>
          </p:nvGrpSpPr>
          <p:grpSpPr>
            <a:xfrm>
              <a:off x="451866" y="6468428"/>
              <a:ext cx="9783070" cy="205359"/>
              <a:chOff x="451866" y="6468428"/>
              <a:chExt cx="9783070" cy="205359"/>
            </a:xfrm>
          </p:grpSpPr>
          <p:sp>
            <p:nvSpPr>
              <p:cNvPr id="25" name="TextBox 25"/>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6" name="TextBox 26"/>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7" name="TextBox 27"/>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8" name="TextBox 28"/>
              <p:cNvSpPr txBox="1"/>
              <p:nvPr/>
            </p:nvSpPr>
            <p:spPr>
              <a:xfrm>
                <a:off x="4995291" y="6468428"/>
                <a:ext cx="560877"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4 审核点</a:t>
                </a:r>
              </a:p>
            </p:txBody>
          </p:sp>
          <p:sp>
            <p:nvSpPr>
              <p:cNvPr id="29" name="TextBox 29"/>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30" name="TextBox 30"/>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31" name="TextBox 31"/>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33" name="TextBox 33"/>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32 / 70</a:t>
              </a:r>
            </a:p>
          </p:txBody>
        </p:sp>
      </p:grpSp>
    </p:spTree>
  </p:cSld>
  <p:clrMapOvr>
    <a:masterClrMapping/>
  </p:clrMapOvr>
  <p:transition xmlns:p14="http://schemas.microsoft.com/office/powerpoint/2010/main" p14:dur="400">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882580" cy="1038035"/>
            <a:chOff x="441198" y="428625"/>
            <a:chExt cx="6882580" cy="1038035"/>
          </a:xfrm>
        </p:grpSpPr>
        <p:sp>
          <p:nvSpPr>
            <p:cNvPr id="2" name="TextBox 2"/>
            <p:cNvSpPr txBox="1"/>
            <p:nvPr/>
          </p:nvSpPr>
          <p:spPr>
            <a:xfrm>
              <a:off x="449580" y="428625"/>
              <a:ext cx="337737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4.3 结果与动作分流</a:t>
              </a:r>
            </a:p>
          </p:txBody>
        </p:sp>
        <p:sp>
          <p:nvSpPr>
            <p:cNvPr id="3" name="TextBox 3"/>
            <p:cNvSpPr txBox="1"/>
            <p:nvPr/>
          </p:nvSpPr>
          <p:spPr>
            <a:xfrm>
              <a:off x="441198" y="850583"/>
              <a:ext cx="688258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不要把所有情况，都显示成“有风险”</a:t>
              </a:r>
            </a:p>
          </p:txBody>
        </p:sp>
      </p:grpSp>
      <p:grpSp>
        <p:nvGrpSpPr>
          <p:cNvPr id="11" name="Group 11"/>
          <p:cNvGrpSpPr/>
          <p:nvPr/>
        </p:nvGrpSpPr>
        <p:grpSpPr>
          <a:xfrm>
            <a:off x="446532" y="2068830"/>
            <a:ext cx="5435079" cy="3687318"/>
            <a:chOff x="446532" y="2068830"/>
            <a:chExt cx="5435079" cy="3687318"/>
          </a:xfrm>
        </p:grpSpPr>
        <p:grpSp>
          <p:nvGrpSpPr>
            <p:cNvPr id="10" name="Group 10"/>
            <p:cNvGrpSpPr/>
            <p:nvPr/>
          </p:nvGrpSpPr>
          <p:grpSpPr>
            <a:xfrm>
              <a:off x="446532" y="2068830"/>
              <a:ext cx="5435079" cy="3687318"/>
              <a:chOff x="446532" y="2068830"/>
              <a:chExt cx="5435079" cy="3687318"/>
            </a:xfrm>
          </p:grpSpPr>
          <p:sp>
            <p:nvSpPr>
              <p:cNvPr id="5" name="TextBox 5"/>
              <p:cNvSpPr txBox="1"/>
              <p:nvPr/>
            </p:nvSpPr>
            <p:spPr>
              <a:xfrm>
                <a:off x="446532" y="2068830"/>
                <a:ext cx="5435079"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有资料支持</a:t>
                </a:r>
                <a:r>
                  <a:rPr lang="zh-CN" sz="2100" dirty="0">
                    <a:solidFill>
                      <a:schemeClr val="dk1"/>
                    </a:solidFill>
                    <a:latin typeface="+mn-lt"/>
                    <a:ea typeface="+mn-ea"/>
                    <a:cs typeface="+mn-cs"/>
                  </a:rPr>
                  <a:t xml:space="preserve"> → 保留依据，不扩大成整篇通过</a:t>
                </a:r>
              </a:p>
            </p:txBody>
          </p:sp>
          <p:sp>
            <p:nvSpPr>
              <p:cNvPr id="6" name="TextBox 6"/>
              <p:cNvSpPr txBox="1"/>
              <p:nvPr/>
            </p:nvSpPr>
            <p:spPr>
              <a:xfrm>
                <a:off x="446532" y="2887980"/>
                <a:ext cx="4869675"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与依据不一致</a:t>
                </a:r>
                <a:r>
                  <a:rPr lang="zh-CN" sz="2100" dirty="0">
                    <a:solidFill>
                      <a:schemeClr val="dk1"/>
                    </a:solidFill>
                    <a:latin typeface="+mn-lt"/>
                    <a:ea typeface="+mn-ea"/>
                    <a:cs typeface="+mn-cs"/>
                  </a:rPr>
                  <a:t xml:space="preserve"> → 修改文案或确认新依据</a:t>
                </a:r>
              </a:p>
            </p:txBody>
          </p:sp>
          <p:sp>
            <p:nvSpPr>
              <p:cNvPr id="7" name="TextBox 7"/>
              <p:cNvSpPr txBox="1"/>
              <p:nvPr/>
            </p:nvSpPr>
            <p:spPr>
              <a:xfrm>
                <a:off x="446532" y="3707130"/>
                <a:ext cx="4021569"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表达缺条件</a:t>
                </a:r>
                <a:r>
                  <a:rPr lang="zh-CN" sz="2100" dirty="0">
                    <a:solidFill>
                      <a:schemeClr val="dk1"/>
                    </a:solidFill>
                    <a:latin typeface="+mn-lt"/>
                    <a:ea typeface="+mn-ea"/>
                    <a:cs typeface="+mn-cs"/>
                  </a:rPr>
                  <a:t xml:space="preserve"> → 补充条件，再复核</a:t>
                </a:r>
              </a:p>
            </p:txBody>
          </p:sp>
          <p:sp>
            <p:nvSpPr>
              <p:cNvPr id="8" name="TextBox 8"/>
              <p:cNvSpPr txBox="1"/>
              <p:nvPr/>
            </p:nvSpPr>
            <p:spPr>
              <a:xfrm>
                <a:off x="446532" y="4526280"/>
                <a:ext cx="5152377"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信息不足</a:t>
                </a:r>
                <a:r>
                  <a:rPr lang="zh-CN" sz="2100" dirty="0">
                    <a:solidFill>
                      <a:schemeClr val="dk1"/>
                    </a:solidFill>
                    <a:latin typeface="+mn-lt"/>
                    <a:ea typeface="+mn-ea"/>
                    <a:cs typeface="+mn-cs"/>
                  </a:rPr>
                  <a:t xml:space="preserve"> → 说明缺项，补资料或人工确认</a:t>
                </a:r>
              </a:p>
            </p:txBody>
          </p:sp>
          <p:sp>
            <p:nvSpPr>
              <p:cNvPr id="9" name="TextBox 9"/>
              <p:cNvSpPr txBox="1"/>
              <p:nvPr/>
            </p:nvSpPr>
            <p:spPr>
              <a:xfrm>
                <a:off x="446532" y="5345430"/>
                <a:ext cx="4869675"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本项不适用</a:t>
                </a:r>
                <a:r>
                  <a:rPr lang="zh-CN" sz="2100" dirty="0">
                    <a:solidFill>
                      <a:schemeClr val="dk1"/>
                    </a:solidFill>
                    <a:latin typeface="+mn-lt"/>
                    <a:ea typeface="+mn-ea"/>
                    <a:cs typeface="+mn-cs"/>
                  </a:rPr>
                  <a:t xml:space="preserve"> → 不强迫作者补写无关内容</a:t>
                </a:r>
              </a:p>
            </p:txBody>
          </p:sp>
        </p:grpSp>
      </p:grpSp>
      <p:grpSp>
        <p:nvGrpSpPr>
          <p:cNvPr id="17" name="Group 17"/>
          <p:cNvGrpSpPr/>
          <p:nvPr/>
        </p:nvGrpSpPr>
        <p:grpSpPr>
          <a:xfrm>
            <a:off x="8696325" y="1866900"/>
            <a:ext cx="3038475" cy="4038600"/>
            <a:chOff x="8696325" y="1866900"/>
            <a:chExt cx="3038475" cy="4038600"/>
          </a:xfrm>
        </p:grpSpPr>
        <p:sp>
          <p:nvSpPr>
            <p:cNvPr id="12" name="Rectangle 12"/>
            <p:cNvSpPr/>
            <p:nvPr/>
          </p:nvSpPr>
          <p:spPr>
            <a:xfrm>
              <a:off x="8696325" y="1866900"/>
              <a:ext cx="3038475" cy="4038600"/>
            </a:xfrm>
            <a:prstGeom prst="roundRect">
              <a:avLst>
                <a:gd name="adj" fmla="val 3762"/>
              </a:avLst>
            </a:prstGeom>
            <a:solidFill>
              <a:srgbClr val="102F30"/>
            </a:solidFill>
            <a:ln>
              <a:noFill/>
            </a:ln>
          </p:spPr>
        </p:sp>
        <p:sp>
          <p:nvSpPr>
            <p:cNvPr id="13" name="TextBox 13"/>
            <p:cNvSpPr txBox="1"/>
            <p:nvPr/>
          </p:nvSpPr>
          <p:spPr>
            <a:xfrm>
              <a:off x="8969883" y="2131695"/>
              <a:ext cx="1316736"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技术失败</a:t>
              </a:r>
            </a:p>
          </p:txBody>
        </p:sp>
        <p:sp>
          <p:nvSpPr>
            <p:cNvPr id="14" name="TextBox 14"/>
            <p:cNvSpPr txBox="1"/>
            <p:nvPr/>
          </p:nvSpPr>
          <p:spPr>
            <a:xfrm>
              <a:off x="8971407" y="2859405"/>
              <a:ext cx="1928241" cy="867918"/>
            </a:xfrm>
            <a:prstGeom prst="rect">
              <a:avLst/>
            </a:prstGeom>
            <a:noFill/>
            <a:ln>
              <a:noFill/>
            </a:ln>
          </p:spPr>
          <p:txBody>
            <a:bodyPr wrap="none" lIns="0" tIns="0" rIns="0" bIns="0" anchor="t" anchorCtr="0">
              <a:spAutoFit/>
            </a:bodyPr>
            <a:lstStyle/>
            <a:p>
              <a:pPr algn="l">
                <a:lnSpc>
                  <a:spcPts val="3600"/>
                </a:lnSpc>
              </a:pPr>
              <a:r>
                <a:rPr lang="zh-CN" sz="2100" dirty="0">
                  <a:solidFill>
                    <a:srgbClr val="E8F2EF"/>
                  </a:solidFill>
                  <a:latin typeface="+mn-lt"/>
                  <a:ea typeface="+mn-ea"/>
                  <a:cs typeface="+mn-cs"/>
                </a:rPr>
                <a:t>超时 / 读取失败</a:t>
              </a:r>
              <a:br/>
              <a:r>
                <a:rPr lang="zh-CN" sz="2100" dirty="0">
                  <a:solidFill>
                    <a:srgbClr val="E8F2EF"/>
                  </a:solidFill>
                  <a:latin typeface="+mn-lt"/>
                  <a:ea typeface="+mn-ea"/>
                  <a:cs typeface="+mn-cs"/>
                </a:rPr>
                <a:t>返回不可用</a:t>
              </a:r>
            </a:p>
          </p:txBody>
        </p:sp>
        <p:sp>
          <p:nvSpPr>
            <p:cNvPr id="15" name="TextBox 15"/>
            <p:cNvSpPr txBox="1"/>
            <p:nvPr/>
          </p:nvSpPr>
          <p:spPr>
            <a:xfrm>
              <a:off x="8971407" y="4145280"/>
              <a:ext cx="21549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accent3"/>
                  </a:solidFill>
                  <a:latin typeface="+mn-lt"/>
                  <a:ea typeface="+mn-ea"/>
                  <a:cs typeface="+mn-cs"/>
                </a:rPr>
                <a:t>意味着未可靠完成</a:t>
              </a:r>
              <a:br/>
              <a:r>
                <a:rPr lang="zh-CN" sz="2100" dirty="0">
                  <a:solidFill>
                    <a:schemeClr val="accent3"/>
                  </a:solidFill>
                  <a:latin typeface="+mn-lt"/>
                  <a:ea typeface="+mn-ea"/>
                  <a:cs typeface="+mn-cs"/>
                </a:rPr>
                <a:t>重试或人工补核</a:t>
              </a:r>
            </a:p>
          </p:txBody>
        </p:sp>
        <p:sp>
          <p:nvSpPr>
            <p:cNvPr id="16" name="TextBox 16"/>
            <p:cNvSpPr txBox="1"/>
            <p:nvPr/>
          </p:nvSpPr>
          <p:spPr>
            <a:xfrm>
              <a:off x="8972931" y="5358765"/>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不能默认为无问题</a:t>
              </a:r>
            </a:p>
          </p:txBody>
        </p:sp>
      </p:grpSp>
      <p:grpSp>
        <p:nvGrpSpPr>
          <p:cNvPr id="29" name="Group 29"/>
          <p:cNvGrpSpPr/>
          <p:nvPr/>
        </p:nvGrpSpPr>
        <p:grpSpPr>
          <a:xfrm>
            <a:off x="0" y="6286500"/>
            <a:ext cx="12192000" cy="571500"/>
            <a:chOff x="0" y="6286500"/>
            <a:chExt cx="12192000" cy="571500"/>
          </a:xfrm>
        </p:grpSpPr>
        <p:sp>
          <p:nvSpPr>
            <p:cNvPr id="18" name="Rectangle 18"/>
            <p:cNvSpPr/>
            <p:nvPr/>
          </p:nvSpPr>
          <p:spPr>
            <a:xfrm>
              <a:off x="0" y="6286500"/>
              <a:ext cx="12192000" cy="571500"/>
            </a:xfrm>
            <a:prstGeom prst="rect">
              <a:avLst/>
            </a:prstGeom>
            <a:solidFill>
              <a:srgbClr val="FFFFFF"/>
            </a:solidFill>
            <a:ln>
              <a:noFill/>
            </a:ln>
          </p:spPr>
        </p:sp>
        <p:sp>
          <p:nvSpPr>
            <p:cNvPr id="19" name="Line 19"/>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7" name="Group 27"/>
            <p:cNvGrpSpPr/>
            <p:nvPr/>
          </p:nvGrpSpPr>
          <p:grpSpPr>
            <a:xfrm>
              <a:off x="451866" y="6468428"/>
              <a:ext cx="9783070" cy="205359"/>
              <a:chOff x="451866" y="6468428"/>
              <a:chExt cx="9783070" cy="205359"/>
            </a:xfrm>
          </p:grpSpPr>
          <p:sp>
            <p:nvSpPr>
              <p:cNvPr id="20" name="TextBox 20"/>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1" name="TextBox 21"/>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2" name="TextBox 22"/>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3" name="TextBox 23"/>
              <p:cNvSpPr txBox="1"/>
              <p:nvPr/>
            </p:nvSpPr>
            <p:spPr>
              <a:xfrm>
                <a:off x="4995291" y="6468428"/>
                <a:ext cx="560877"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4 审核点</a:t>
                </a:r>
              </a:p>
            </p:txBody>
          </p:sp>
          <p:sp>
            <p:nvSpPr>
              <p:cNvPr id="24" name="TextBox 24"/>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5" name="TextBox 25"/>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6" name="TextBox 26"/>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28" name="TextBox 28"/>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33 / 70</a:t>
              </a:r>
            </a:p>
          </p:txBody>
        </p:sp>
      </p:grpSp>
    </p:spTree>
  </p:cSld>
  <p:clrMapOvr>
    <a:masterClrMapping/>
  </p:clrMapOvr>
  <p:transition xmlns:p14="http://schemas.microsoft.com/office/powerpoint/2010/main" p14:dur="400">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703418" cy="1038035"/>
            <a:chOff x="441198" y="428625"/>
            <a:chExt cx="6703418" cy="1038035"/>
          </a:xfrm>
        </p:grpSpPr>
        <p:sp>
          <p:nvSpPr>
            <p:cNvPr id="2" name="TextBox 2"/>
            <p:cNvSpPr txBox="1"/>
            <p:nvPr/>
          </p:nvSpPr>
          <p:spPr>
            <a:xfrm>
              <a:off x="449580" y="428625"/>
              <a:ext cx="2488882"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第4章小结</a:t>
              </a:r>
            </a:p>
          </p:txBody>
        </p:sp>
        <p:sp>
          <p:nvSpPr>
            <p:cNvPr id="3" name="TextBox 3"/>
            <p:cNvSpPr txBox="1"/>
            <p:nvPr/>
          </p:nvSpPr>
          <p:spPr>
            <a:xfrm>
              <a:off x="441198" y="850583"/>
              <a:ext cx="6703418"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产物④：把“赠品准确”写成审核点卡</a:t>
              </a:r>
            </a:p>
          </p:txBody>
        </p:sp>
      </p:grpSp>
      <p:grpSp>
        <p:nvGrpSpPr>
          <p:cNvPr id="14" name="Group 14"/>
          <p:cNvGrpSpPr/>
          <p:nvPr/>
        </p:nvGrpSpPr>
        <p:grpSpPr>
          <a:xfrm>
            <a:off x="457200" y="1733550"/>
            <a:ext cx="11277600" cy="3536823"/>
            <a:chOff x="457200" y="1733550"/>
            <a:chExt cx="11277600" cy="3536823"/>
          </a:xfrm>
        </p:grpSpPr>
        <p:sp>
          <p:nvSpPr>
            <p:cNvPr id="5" name="Rectangle 5"/>
            <p:cNvSpPr/>
            <p:nvPr/>
          </p:nvSpPr>
          <p:spPr>
            <a:xfrm>
              <a:off x="457200" y="1733550"/>
              <a:ext cx="11277600" cy="3476625"/>
            </a:xfrm>
            <a:prstGeom prst="roundRect">
              <a:avLst>
                <a:gd name="adj" fmla="val 3288"/>
              </a:avLst>
            </a:prstGeom>
            <a:solidFill>
              <a:srgbClr val="FFFFFF"/>
            </a:solidFill>
            <a:ln>
              <a:noFill/>
            </a:ln>
          </p:spPr>
        </p:sp>
        <p:sp>
          <p:nvSpPr>
            <p:cNvPr id="6" name="TextBox 6"/>
            <p:cNvSpPr txBox="1"/>
            <p:nvPr/>
          </p:nvSpPr>
          <p:spPr>
            <a:xfrm>
              <a:off x="714756" y="1958340"/>
              <a:ext cx="4358030"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R03 / 赠品资格与承诺核对 · 教学模拟</a:t>
              </a:r>
            </a:p>
          </p:txBody>
        </p:sp>
        <p:grpSp>
          <p:nvGrpSpPr>
            <p:cNvPr id="13" name="Group 13"/>
            <p:cNvGrpSpPr/>
            <p:nvPr/>
          </p:nvGrpSpPr>
          <p:grpSpPr>
            <a:xfrm>
              <a:off x="713232" y="2430780"/>
              <a:ext cx="7371588" cy="2839593"/>
              <a:chOff x="713232" y="2430780"/>
              <a:chExt cx="7371588" cy="2839593"/>
            </a:xfrm>
          </p:grpSpPr>
          <p:sp>
            <p:nvSpPr>
              <p:cNvPr id="7" name="TextBox 7"/>
              <p:cNvSpPr txBox="1"/>
              <p:nvPr/>
            </p:nvSpPr>
            <p:spPr>
              <a:xfrm>
                <a:off x="713232" y="2430780"/>
                <a:ext cx="624078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查什么：文案是否扩大赠品资格或省略关键限制。</a:t>
                </a:r>
              </a:p>
            </p:txBody>
          </p:sp>
          <p:sp>
            <p:nvSpPr>
              <p:cNvPr id="8" name="TextBox 8"/>
              <p:cNvSpPr txBox="1"/>
              <p:nvPr/>
            </p:nvSpPr>
            <p:spPr>
              <a:xfrm>
                <a:off x="713232" y="2916555"/>
                <a:ext cx="512917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何时查：本活动P1文案包含赠品承诺。</a:t>
                </a:r>
              </a:p>
            </p:txBody>
          </p:sp>
          <p:sp>
            <p:nvSpPr>
              <p:cNvPr id="9" name="TextBox 9"/>
              <p:cNvSpPr txBox="1"/>
              <p:nvPr/>
            </p:nvSpPr>
            <p:spPr>
              <a:xfrm>
                <a:off x="713232" y="3402330"/>
                <a:ext cx="652348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依什么：当前有效赠品资料、活动及权益变化信息。</a:t>
                </a:r>
              </a:p>
            </p:txBody>
          </p:sp>
          <p:sp>
            <p:nvSpPr>
              <p:cNvPr id="10" name="TextBox 10"/>
              <p:cNvSpPr txBox="1"/>
              <p:nvPr/>
            </p:nvSpPr>
            <p:spPr>
              <a:xfrm>
                <a:off x="713232" y="3888105"/>
                <a:ext cx="670723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怎样判：核对支付、前200名、每单一份及赠完即止。</a:t>
                </a:r>
              </a:p>
            </p:txBody>
          </p:sp>
          <p:sp>
            <p:nvSpPr>
              <p:cNvPr id="11" name="TextBox 11"/>
              <p:cNvSpPr txBox="1"/>
              <p:nvPr/>
            </p:nvSpPr>
            <p:spPr>
              <a:xfrm>
                <a:off x="713232" y="4373880"/>
                <a:ext cx="737158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边界：未提赠品则该项不适用；信息不足不能判为有支持。</a:t>
                </a:r>
              </a:p>
            </p:txBody>
          </p:sp>
          <p:sp>
            <p:nvSpPr>
              <p:cNvPr id="12" name="TextBox 12"/>
              <p:cNvSpPr txBox="1"/>
              <p:nvPr/>
            </p:nvSpPr>
            <p:spPr>
              <a:xfrm>
                <a:off x="713232" y="4859655"/>
                <a:ext cx="708888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谁处理：活动负责人确认事实，作者改稿，审核人复核。</a:t>
                </a:r>
              </a:p>
            </p:txBody>
          </p:sp>
        </p:grpSp>
      </p:grpSp>
      <p:grpSp>
        <p:nvGrpSpPr>
          <p:cNvPr id="17" name="Group 17"/>
          <p:cNvGrpSpPr/>
          <p:nvPr/>
        </p:nvGrpSpPr>
        <p:grpSpPr>
          <a:xfrm>
            <a:off x="457200" y="5572125"/>
            <a:ext cx="11277600" cy="600075"/>
            <a:chOff x="457200" y="5572125"/>
            <a:chExt cx="11277600" cy="600075"/>
          </a:xfrm>
        </p:grpSpPr>
        <p:sp>
          <p:nvSpPr>
            <p:cNvPr id="15" name="Rectangle 15"/>
            <p:cNvSpPr/>
            <p:nvPr/>
          </p:nvSpPr>
          <p:spPr>
            <a:xfrm>
              <a:off x="457200" y="5572125"/>
              <a:ext cx="11277600" cy="600075"/>
            </a:xfrm>
            <a:prstGeom prst="roundRect">
              <a:avLst>
                <a:gd name="adj" fmla="val 19048"/>
              </a:avLst>
            </a:prstGeom>
            <a:solidFill>
              <a:schemeClr val="lt2"/>
            </a:solidFill>
            <a:ln>
              <a:noFill/>
            </a:ln>
          </p:spPr>
        </p:sp>
        <p:sp>
          <p:nvSpPr>
            <p:cNvPr id="16" name="TextBox 16"/>
            <p:cNvSpPr txBox="1"/>
            <p:nvPr/>
          </p:nvSpPr>
          <p:spPr>
            <a:xfrm>
              <a:off x="713232" y="5735955"/>
              <a:ext cx="6806184"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下一章：要求定义清楚了，再选择怎样执行这条检查。</a:t>
              </a:r>
            </a:p>
          </p:txBody>
        </p:sp>
      </p:grpSp>
      <p:sp>
        <p:nvSpPr>
          <p:cNvPr id="18" name="TextBox 18"/>
          <p:cNvSpPr txBox="1"/>
          <p:nvPr/>
        </p:nvSpPr>
        <p:spPr>
          <a:xfrm>
            <a:off x="451866" y="6468428"/>
            <a:ext cx="227228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 · 产物已形成 → 5 能力分工</a:t>
            </a:r>
          </a:p>
        </p:txBody>
      </p:sp>
      <p:sp>
        <p:nvSpPr>
          <p:cNvPr id="19" name="TextBox 19"/>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34 / 70</a:t>
            </a:r>
          </a:p>
        </p:txBody>
      </p:sp>
    </p:spTree>
  </p:cSld>
  <p:clrMapOvr>
    <a:masterClrMapping/>
  </p:clrMapOvr>
  <p:transition xmlns:p14="http://schemas.microsoft.com/office/powerpoint/2010/main" p14:dur="400">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438150" y="523875"/>
            <a:ext cx="2622804" cy="1443990"/>
            <a:chOff x="438150" y="523875"/>
            <a:chExt cx="2622804" cy="1443990"/>
          </a:xfrm>
        </p:grpSpPr>
        <p:sp>
          <p:nvSpPr>
            <p:cNvPr id="2" name="TextBox 2"/>
            <p:cNvSpPr txBox="1"/>
            <p:nvPr/>
          </p:nvSpPr>
          <p:spPr>
            <a:xfrm>
              <a:off x="449580" y="523875"/>
              <a:ext cx="2085022"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第二篇·做方案 / 第5章</a:t>
              </a:r>
            </a:p>
          </p:txBody>
        </p:sp>
        <p:sp>
          <p:nvSpPr>
            <p:cNvPr id="3" name="TextBox 3"/>
            <p:cNvSpPr txBox="1"/>
            <p:nvPr/>
          </p:nvSpPr>
          <p:spPr>
            <a:xfrm>
              <a:off x="438150" y="1034415"/>
              <a:ext cx="2622804" cy="933450"/>
            </a:xfrm>
            <a:prstGeom prst="rect">
              <a:avLst/>
            </a:prstGeom>
            <a:noFill/>
            <a:ln>
              <a:noFill/>
            </a:ln>
          </p:spPr>
          <p:txBody>
            <a:bodyPr wrap="none" lIns="0" tIns="0" rIns="0" bIns="0" anchor="t" anchorCtr="0">
              <a:spAutoFit/>
            </a:bodyPr>
            <a:lstStyle/>
            <a:p>
              <a:pPr algn="l"/>
              <a:r>
                <a:rPr lang="zh-CN" sz="4800" b="1" dirty="0">
                  <a:solidFill>
                    <a:srgbClr val="FFFFFF"/>
                  </a:solidFill>
                  <a:latin typeface="+mn-lt"/>
                  <a:ea typeface="+mn-ea"/>
                  <a:cs typeface="+mn-cs"/>
                </a:rPr>
                <a:t>能力分工</a:t>
              </a:r>
            </a:p>
          </p:txBody>
        </p:sp>
      </p:grpSp>
      <p:grpSp>
        <p:nvGrpSpPr>
          <p:cNvPr id="7" name="Group 7"/>
          <p:cNvGrpSpPr/>
          <p:nvPr/>
        </p:nvGrpSpPr>
        <p:grpSpPr>
          <a:xfrm>
            <a:off x="441198" y="2231708"/>
            <a:ext cx="3232404" cy="1993201"/>
            <a:chOff x="441198" y="2231708"/>
            <a:chExt cx="3232404" cy="1993201"/>
          </a:xfrm>
        </p:grpSpPr>
        <p:sp>
          <p:nvSpPr>
            <p:cNvPr id="5" name="TextBox 5"/>
            <p:cNvSpPr txBox="1"/>
            <p:nvPr/>
          </p:nvSpPr>
          <p:spPr>
            <a:xfrm>
              <a:off x="441198" y="2231708"/>
              <a:ext cx="3232404" cy="1225677"/>
            </a:xfrm>
            <a:prstGeom prst="rect">
              <a:avLst/>
            </a:prstGeom>
            <a:noFill/>
            <a:ln>
              <a:noFill/>
            </a:ln>
          </p:spPr>
          <p:txBody>
            <a:bodyPr wrap="none" lIns="0" tIns="0" rIns="0" bIns="0" anchor="t" anchorCtr="0">
              <a:spAutoFit/>
            </a:bodyPr>
            <a:lstStyle/>
            <a:p>
              <a:pPr algn="l">
                <a:lnSpc>
                  <a:spcPts val="4800"/>
                </a:lnSpc>
              </a:pPr>
              <a:r>
                <a:rPr lang="zh-CN" sz="3150" b="1" dirty="0">
                  <a:solidFill>
                    <a:srgbClr val="FFFFFF"/>
                  </a:solidFill>
                  <a:latin typeface="+mn-lt"/>
                  <a:ea typeface="+mn-ea"/>
                  <a:cs typeface="+mn-cs"/>
                </a:rPr>
                <a:t>程序、模型与人，</a:t>
              </a:r>
              <a:br/>
              <a:r>
                <a:rPr lang="zh-CN" sz="3150" b="1" dirty="0">
                  <a:solidFill>
                    <a:srgbClr val="FFFFFF"/>
                  </a:solidFill>
                  <a:latin typeface="+mn-lt"/>
                  <a:ea typeface="+mn-ea"/>
                  <a:cs typeface="+mn-cs"/>
                </a:rPr>
                <a:t>分别承担什么？</a:t>
              </a:r>
            </a:p>
          </p:txBody>
        </p:sp>
        <p:sp>
          <p:nvSpPr>
            <p:cNvPr id="6" name="TextBox 6"/>
            <p:cNvSpPr txBox="1"/>
            <p:nvPr/>
          </p:nvSpPr>
          <p:spPr>
            <a:xfrm>
              <a:off x="448056" y="3872865"/>
              <a:ext cx="2926080"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输入：可执行的审核点卡。</a:t>
              </a:r>
            </a:p>
          </p:txBody>
        </p:sp>
      </p:grpSp>
      <p:grpSp>
        <p:nvGrpSpPr>
          <p:cNvPr id="12" name="Group 12"/>
          <p:cNvGrpSpPr/>
          <p:nvPr/>
        </p:nvGrpSpPr>
        <p:grpSpPr>
          <a:xfrm>
            <a:off x="5295900" y="2095500"/>
            <a:ext cx="4259161" cy="2381250"/>
            <a:chOff x="5295900" y="2095500"/>
            <a:chExt cx="4259161" cy="2381250"/>
          </a:xfrm>
        </p:grpSpPr>
        <p:sp>
          <p:nvSpPr>
            <p:cNvPr id="8" name="Line 8"/>
            <p:cNvSpPr/>
            <p:nvPr/>
          </p:nvSpPr>
          <p:spPr>
            <a:xfrm>
              <a:off x="5295900" y="2095500"/>
              <a:ext cx="9525" cy="2381250"/>
            </a:xfrm>
            <a:custGeom>
              <a:avLst/>
              <a:gdLst/>
              <a:ahLst/>
              <a:cxnLst/>
              <a:rect l="l" t="t" r="r" b="b"/>
              <a:pathLst>
                <a:path w="9525" h="2381250">
                  <a:moveTo>
                    <a:pt x="0" y="0"/>
                  </a:moveTo>
                  <a:lnTo>
                    <a:pt x="0" y="2381250"/>
                  </a:lnTo>
                </a:path>
              </a:pathLst>
            </a:custGeom>
            <a:noFill/>
            <a:ln w="9525">
              <a:solidFill>
                <a:srgbClr val="617673"/>
              </a:solidFill>
            </a:ln>
          </p:spPr>
        </p:sp>
        <p:sp>
          <p:nvSpPr>
            <p:cNvPr id="9" name="TextBox 9"/>
            <p:cNvSpPr txBox="1"/>
            <p:nvPr/>
          </p:nvSpPr>
          <p:spPr>
            <a:xfrm>
              <a:off x="5590032" y="2240280"/>
              <a:ext cx="3682327"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5.1 定义混合审核并比较方案</a:t>
              </a:r>
            </a:p>
          </p:txBody>
        </p:sp>
        <p:sp>
          <p:nvSpPr>
            <p:cNvPr id="10" name="TextBox 10"/>
            <p:cNvSpPr txBox="1"/>
            <p:nvPr/>
          </p:nvSpPr>
          <p:spPr>
            <a:xfrm>
              <a:off x="5590032" y="3097530"/>
              <a:ext cx="3682327"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5.2 拆解一条检查的执行接力</a:t>
              </a:r>
            </a:p>
          </p:txBody>
        </p:sp>
        <p:sp>
          <p:nvSpPr>
            <p:cNvPr id="11" name="TextBox 11"/>
            <p:cNvSpPr txBox="1"/>
            <p:nvPr/>
          </p:nvSpPr>
          <p:spPr>
            <a:xfrm>
              <a:off x="5590032" y="3954780"/>
              <a:ext cx="3965029"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5.3 为无法判断与失败安排交接</a:t>
              </a:r>
            </a:p>
          </p:txBody>
        </p:sp>
      </p:grpSp>
      <p:grpSp>
        <p:nvGrpSpPr>
          <p:cNvPr id="16" name="Group 16"/>
          <p:cNvGrpSpPr/>
          <p:nvPr/>
        </p:nvGrpSpPr>
        <p:grpSpPr>
          <a:xfrm>
            <a:off x="457200" y="5048250"/>
            <a:ext cx="11277600" cy="952500"/>
            <a:chOff x="457200" y="5048250"/>
            <a:chExt cx="11277600" cy="952500"/>
          </a:xfrm>
        </p:grpSpPr>
        <p:sp>
          <p:nvSpPr>
            <p:cNvPr id="13" name="Rectangle 13"/>
            <p:cNvSpPr/>
            <p:nvPr/>
          </p:nvSpPr>
          <p:spPr>
            <a:xfrm>
              <a:off x="457200" y="5048250"/>
              <a:ext cx="11277600" cy="952500"/>
            </a:xfrm>
            <a:prstGeom prst="roundRect">
              <a:avLst>
                <a:gd name="adj" fmla="val 12000"/>
              </a:avLst>
            </a:prstGeom>
            <a:solidFill>
              <a:schemeClr val="accent1"/>
            </a:solidFill>
            <a:ln>
              <a:noFill/>
            </a:ln>
          </p:spPr>
        </p:sp>
        <p:sp>
          <p:nvSpPr>
            <p:cNvPr id="14" name="TextBox 14"/>
            <p:cNvSpPr txBox="1"/>
            <p:nvPr/>
          </p:nvSpPr>
          <p:spPr>
            <a:xfrm>
              <a:off x="716280" y="5267325"/>
              <a:ext cx="1226820" cy="293370"/>
            </a:xfrm>
            <a:prstGeom prst="rect">
              <a:avLst/>
            </a:prstGeom>
            <a:noFill/>
            <a:ln>
              <a:noFill/>
            </a:ln>
          </p:spPr>
          <p:txBody>
            <a:bodyPr wrap="none" lIns="0" tIns="0" rIns="0" bIns="0" anchor="t" anchorCtr="0">
              <a:spAutoFit/>
            </a:bodyPr>
            <a:lstStyle/>
            <a:p>
              <a:pPr algn="l"/>
              <a:r>
                <a:rPr lang="zh-CN" sz="1500" dirty="0">
                  <a:solidFill>
                    <a:srgbClr val="E8F2EF"/>
                  </a:solidFill>
                  <a:latin typeface="+mn-lt"/>
                  <a:ea typeface="+mn-ea"/>
                  <a:cs typeface="+mn-cs"/>
                </a:rPr>
                <a:t>本章完成标志</a:t>
              </a:r>
            </a:p>
          </p:txBody>
        </p:sp>
        <p:sp>
          <p:nvSpPr>
            <p:cNvPr id="15" name="TextBox 15"/>
            <p:cNvSpPr txBox="1"/>
            <p:nvPr/>
          </p:nvSpPr>
          <p:spPr>
            <a:xfrm>
              <a:off x="713232" y="5583555"/>
              <a:ext cx="7088886"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画出一条输入明确、分工合理、失败有人接住的执行链。</a:t>
              </a:r>
            </a:p>
          </p:txBody>
        </p:sp>
      </p:grpSp>
      <p:sp>
        <p:nvSpPr>
          <p:cNvPr id="17" name="TextBox 17"/>
          <p:cNvSpPr txBox="1"/>
          <p:nvPr/>
        </p:nvSpPr>
        <p:spPr>
          <a:xfrm>
            <a:off x="451866" y="6468428"/>
            <a:ext cx="1607934" cy="205359"/>
          </a:xfrm>
          <a:prstGeom prst="rect">
            <a:avLst/>
          </a:prstGeom>
          <a:noFill/>
          <a:ln>
            <a:noFill/>
          </a:ln>
        </p:spPr>
        <p:txBody>
          <a:bodyPr wrap="none" lIns="0" tIns="0" rIns="0" bIns="0" anchor="t" anchorCtr="0">
            <a:spAutoFit/>
          </a:bodyPr>
          <a:lstStyle/>
          <a:p>
            <a:pPr algn="l"/>
            <a:r>
              <a:rPr lang="zh-CN" sz="1050" dirty="0">
                <a:solidFill>
                  <a:srgbClr val="E8F2EF"/>
                </a:solidFill>
                <a:latin typeface="+mn-lt"/>
                <a:ea typeface="+mn-ea"/>
                <a:cs typeface="+mn-cs"/>
              </a:rPr>
              <a:t>定问题 → 做方案 → 验落地</a:t>
            </a:r>
          </a:p>
        </p:txBody>
      </p:sp>
      <p:sp>
        <p:nvSpPr>
          <p:cNvPr id="18" name="TextBox 18"/>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rgbClr val="E8F2EF"/>
                </a:solidFill>
                <a:latin typeface="+mn-lt"/>
                <a:ea typeface="+mn-ea"/>
                <a:cs typeface="+mn-cs"/>
              </a:rPr>
              <a:t>35 / 70</a:t>
            </a:r>
          </a:p>
        </p:txBody>
      </p:sp>
    </p:spTree>
  </p:cSld>
  <p:clrMapOvr>
    <a:masterClrMapping/>
  </p:clrMapOvr>
  <p:transition xmlns:p14="http://schemas.microsoft.com/office/powerpoint/2010/main" p14:dur="400">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240905" cy="1038035"/>
            <a:chOff x="441198" y="428625"/>
            <a:chExt cx="7240905" cy="1038035"/>
          </a:xfrm>
        </p:grpSpPr>
        <p:sp>
          <p:nvSpPr>
            <p:cNvPr id="2" name="TextBox 2"/>
            <p:cNvSpPr txBox="1"/>
            <p:nvPr/>
          </p:nvSpPr>
          <p:spPr>
            <a:xfrm>
              <a:off x="449580" y="428625"/>
              <a:ext cx="3781234"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5.1 混合审核与方案选择</a:t>
              </a:r>
            </a:p>
          </p:txBody>
        </p:sp>
        <p:sp>
          <p:nvSpPr>
            <p:cNvPr id="3" name="TextBox 3"/>
            <p:cNvSpPr txBox="1"/>
            <p:nvPr/>
          </p:nvSpPr>
          <p:spPr>
            <a:xfrm>
              <a:off x="441198" y="850583"/>
              <a:ext cx="7240905"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混合审核：把任务拆给程序、模型与人</a:t>
              </a:r>
            </a:p>
          </p:txBody>
        </p:sp>
      </p:grpSp>
      <p:grpSp>
        <p:nvGrpSpPr>
          <p:cNvPr id="9" name="Group 9"/>
          <p:cNvGrpSpPr/>
          <p:nvPr/>
        </p:nvGrpSpPr>
        <p:grpSpPr>
          <a:xfrm>
            <a:off x="446532" y="2171700"/>
            <a:ext cx="2688336" cy="1793748"/>
            <a:chOff x="446532" y="2171700"/>
            <a:chExt cx="2688336" cy="1793748"/>
          </a:xfrm>
        </p:grpSpPr>
        <p:sp>
          <p:nvSpPr>
            <p:cNvPr id="5" name="Ellipse 5"/>
            <p:cNvSpPr/>
            <p:nvPr/>
          </p:nvSpPr>
          <p:spPr>
            <a:xfrm>
              <a:off x="590550" y="2171700"/>
              <a:ext cx="685800" cy="685800"/>
            </a:xfrm>
            <a:prstGeom prst="ellipse">
              <a:avLst/>
            </a:prstGeom>
            <a:solidFill>
              <a:schemeClr val="accent1"/>
            </a:solidFill>
            <a:ln>
              <a:noFill/>
            </a:ln>
          </p:spPr>
        </p:sp>
        <p:sp>
          <p:nvSpPr>
            <p:cNvPr id="6" name="TextBox 6"/>
            <p:cNvSpPr txBox="1"/>
            <p:nvPr/>
          </p:nvSpPr>
          <p:spPr>
            <a:xfrm>
              <a:off x="845039" y="2392680"/>
              <a:ext cx="176822"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1</a:t>
              </a:r>
            </a:p>
          </p:txBody>
        </p:sp>
        <p:sp>
          <p:nvSpPr>
            <p:cNvPr id="7" name="TextBox 7"/>
            <p:cNvSpPr txBox="1"/>
            <p:nvPr/>
          </p:nvSpPr>
          <p:spPr>
            <a:xfrm>
              <a:off x="1464183" y="2360295"/>
              <a:ext cx="1639824"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规则与程序</a:t>
              </a:r>
            </a:p>
          </p:txBody>
        </p:sp>
        <p:sp>
          <p:nvSpPr>
            <p:cNvPr id="8" name="TextBox 8"/>
            <p:cNvSpPr txBox="1"/>
            <p:nvPr/>
          </p:nvSpPr>
          <p:spPr>
            <a:xfrm>
              <a:off x="446532" y="3097530"/>
              <a:ext cx="26883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明确条件、时间、金额</a:t>
              </a:r>
              <a:br/>
              <a:r>
                <a:rPr lang="zh-CN" sz="2100" dirty="0">
                  <a:solidFill>
                    <a:schemeClr val="dk1"/>
                  </a:solidFill>
                  <a:latin typeface="+mn-lt"/>
                  <a:ea typeface="+mn-ea"/>
                  <a:cs typeface="+mn-cs"/>
                </a:rPr>
                <a:t>以及原句与引用校验</a:t>
              </a:r>
            </a:p>
          </p:txBody>
        </p:sp>
      </p:grpSp>
      <p:grpSp>
        <p:nvGrpSpPr>
          <p:cNvPr id="14" name="Group 14"/>
          <p:cNvGrpSpPr/>
          <p:nvPr/>
        </p:nvGrpSpPr>
        <p:grpSpPr>
          <a:xfrm>
            <a:off x="4332732" y="2171700"/>
            <a:ext cx="2688336" cy="1793748"/>
            <a:chOff x="4332732" y="2171700"/>
            <a:chExt cx="2688336" cy="1793748"/>
          </a:xfrm>
        </p:grpSpPr>
        <p:sp>
          <p:nvSpPr>
            <p:cNvPr id="10" name="Ellipse 10"/>
            <p:cNvSpPr/>
            <p:nvPr/>
          </p:nvSpPr>
          <p:spPr>
            <a:xfrm>
              <a:off x="4476750" y="2171700"/>
              <a:ext cx="685800" cy="685800"/>
            </a:xfrm>
            <a:prstGeom prst="ellipse">
              <a:avLst/>
            </a:prstGeom>
            <a:solidFill>
              <a:schemeClr val="accent1"/>
            </a:solidFill>
            <a:ln>
              <a:noFill/>
            </a:ln>
          </p:spPr>
        </p:sp>
        <p:sp>
          <p:nvSpPr>
            <p:cNvPr id="11" name="TextBox 11"/>
            <p:cNvSpPr txBox="1"/>
            <p:nvPr/>
          </p:nvSpPr>
          <p:spPr>
            <a:xfrm>
              <a:off x="4731239" y="2392680"/>
              <a:ext cx="176822"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2</a:t>
              </a:r>
            </a:p>
          </p:txBody>
        </p:sp>
        <p:sp>
          <p:nvSpPr>
            <p:cNvPr id="12" name="TextBox 12"/>
            <p:cNvSpPr txBox="1"/>
            <p:nvPr/>
          </p:nvSpPr>
          <p:spPr>
            <a:xfrm>
              <a:off x="5350383" y="2360295"/>
              <a:ext cx="1316736"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模型辅助</a:t>
              </a:r>
            </a:p>
          </p:txBody>
        </p:sp>
        <p:sp>
          <p:nvSpPr>
            <p:cNvPr id="13" name="TextBox 13"/>
            <p:cNvSpPr txBox="1"/>
            <p:nvPr/>
          </p:nvSpPr>
          <p:spPr>
            <a:xfrm>
              <a:off x="4332732" y="3097530"/>
              <a:ext cx="26883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理解功能对象与主张</a:t>
              </a:r>
              <a:br/>
              <a:r>
                <a:rPr lang="zh-CN" sz="2100" dirty="0">
                  <a:solidFill>
                    <a:schemeClr val="dk1"/>
                  </a:solidFill>
                  <a:latin typeface="+mn-lt"/>
                  <a:ea typeface="+mn-ea"/>
                  <a:cs typeface="+mn-cs"/>
                </a:rPr>
                <a:t>识别条件及上下文关系</a:t>
              </a:r>
            </a:p>
          </p:txBody>
        </p:sp>
      </p:grpSp>
      <p:grpSp>
        <p:nvGrpSpPr>
          <p:cNvPr id="19" name="Group 19"/>
          <p:cNvGrpSpPr/>
          <p:nvPr/>
        </p:nvGrpSpPr>
        <p:grpSpPr>
          <a:xfrm>
            <a:off x="8218932" y="2171700"/>
            <a:ext cx="2421636" cy="1793748"/>
            <a:chOff x="8218932" y="2171700"/>
            <a:chExt cx="2421636" cy="1793748"/>
          </a:xfrm>
        </p:grpSpPr>
        <p:sp>
          <p:nvSpPr>
            <p:cNvPr id="15" name="Ellipse 15"/>
            <p:cNvSpPr/>
            <p:nvPr/>
          </p:nvSpPr>
          <p:spPr>
            <a:xfrm>
              <a:off x="8362950" y="2171700"/>
              <a:ext cx="685800" cy="685800"/>
            </a:xfrm>
            <a:prstGeom prst="ellipse">
              <a:avLst/>
            </a:prstGeom>
            <a:solidFill>
              <a:schemeClr val="accent2"/>
            </a:solidFill>
            <a:ln>
              <a:noFill/>
            </a:ln>
          </p:spPr>
        </p:sp>
        <p:sp>
          <p:nvSpPr>
            <p:cNvPr id="16" name="TextBox 16"/>
            <p:cNvSpPr txBox="1"/>
            <p:nvPr/>
          </p:nvSpPr>
          <p:spPr>
            <a:xfrm>
              <a:off x="8617439" y="2392680"/>
              <a:ext cx="176822"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3</a:t>
              </a:r>
            </a:p>
          </p:txBody>
        </p:sp>
        <p:sp>
          <p:nvSpPr>
            <p:cNvPr id="17" name="TextBox 17"/>
            <p:cNvSpPr txBox="1"/>
            <p:nvPr/>
          </p:nvSpPr>
          <p:spPr>
            <a:xfrm>
              <a:off x="9236583" y="2360295"/>
              <a:ext cx="1316736"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人工确认</a:t>
              </a:r>
            </a:p>
          </p:txBody>
        </p:sp>
        <p:sp>
          <p:nvSpPr>
            <p:cNvPr id="18" name="TextBox 18"/>
            <p:cNvSpPr txBox="1"/>
            <p:nvPr/>
          </p:nvSpPr>
          <p:spPr>
            <a:xfrm>
              <a:off x="8218932" y="3097530"/>
              <a:ext cx="24216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处理疑义与资料冲突</a:t>
              </a:r>
              <a:br/>
              <a:r>
                <a:rPr lang="zh-CN" sz="2100" dirty="0">
                  <a:solidFill>
                    <a:schemeClr val="dk1"/>
                  </a:solidFill>
                  <a:latin typeface="+mn-lt"/>
                  <a:ea typeface="+mn-ea"/>
                  <a:cs typeface="+mn-cs"/>
                </a:rPr>
                <a:t>正式审核及内容处置</a:t>
              </a:r>
            </a:p>
          </p:txBody>
        </p:sp>
      </p:grpSp>
      <p:grpSp>
        <p:nvGrpSpPr>
          <p:cNvPr id="23" name="Group 23"/>
          <p:cNvGrpSpPr/>
          <p:nvPr/>
        </p:nvGrpSpPr>
        <p:grpSpPr>
          <a:xfrm>
            <a:off x="457200" y="4705350"/>
            <a:ext cx="11277600" cy="1409700"/>
            <a:chOff x="457200" y="4705350"/>
            <a:chExt cx="11277600" cy="1409700"/>
          </a:xfrm>
        </p:grpSpPr>
        <p:sp>
          <p:nvSpPr>
            <p:cNvPr id="20" name="Rectangle 20"/>
            <p:cNvSpPr/>
            <p:nvPr/>
          </p:nvSpPr>
          <p:spPr>
            <a:xfrm>
              <a:off x="457200" y="4705350"/>
              <a:ext cx="11277600" cy="1409700"/>
            </a:xfrm>
            <a:prstGeom prst="roundRect">
              <a:avLst>
                <a:gd name="adj" fmla="val 8108"/>
              </a:avLst>
            </a:prstGeom>
            <a:solidFill>
              <a:schemeClr val="lt2"/>
            </a:solidFill>
            <a:ln>
              <a:noFill/>
            </a:ln>
          </p:spPr>
        </p:sp>
        <p:sp>
          <p:nvSpPr>
            <p:cNvPr id="21" name="TextBox 21"/>
            <p:cNvSpPr txBox="1"/>
            <p:nvPr/>
          </p:nvSpPr>
          <p:spPr>
            <a:xfrm>
              <a:off x="732282" y="4907280"/>
              <a:ext cx="652348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事实依据：经过确认的商品、活动、赠品与配送资料</a:t>
              </a:r>
            </a:p>
          </p:txBody>
        </p:sp>
        <p:sp>
          <p:nvSpPr>
            <p:cNvPr id="22" name="TextBox 22"/>
            <p:cNvSpPr txBox="1"/>
            <p:nvPr/>
          </p:nvSpPr>
          <p:spPr>
            <a:xfrm>
              <a:off x="733806" y="5492115"/>
              <a:ext cx="832972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三段审核说“什么时候”；混合审核说“怎样分工”。业务规则先规定“查什么”。</a:t>
              </a:r>
            </a:p>
          </p:txBody>
        </p:sp>
      </p:grpSp>
      <p:grpSp>
        <p:nvGrpSpPr>
          <p:cNvPr id="35" name="Group 35"/>
          <p:cNvGrpSpPr/>
          <p:nvPr/>
        </p:nvGrpSpPr>
        <p:grpSpPr>
          <a:xfrm>
            <a:off x="0" y="6286500"/>
            <a:ext cx="12192000" cy="571500"/>
            <a:chOff x="0" y="6286500"/>
            <a:chExt cx="12192000" cy="571500"/>
          </a:xfrm>
        </p:grpSpPr>
        <p:sp>
          <p:nvSpPr>
            <p:cNvPr id="24" name="Rectangle 24"/>
            <p:cNvSpPr/>
            <p:nvPr/>
          </p:nvSpPr>
          <p:spPr>
            <a:xfrm>
              <a:off x="0" y="6286500"/>
              <a:ext cx="12192000" cy="571500"/>
            </a:xfrm>
            <a:prstGeom prst="rect">
              <a:avLst/>
            </a:prstGeom>
            <a:solidFill>
              <a:srgbClr val="FFFFFF"/>
            </a:solidFill>
            <a:ln>
              <a:noFill/>
            </a:ln>
          </p:spPr>
        </p:sp>
        <p:sp>
          <p:nvSpPr>
            <p:cNvPr id="25" name="Line 25"/>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33" name="Group 33"/>
            <p:cNvGrpSpPr/>
            <p:nvPr/>
          </p:nvGrpSpPr>
          <p:grpSpPr>
            <a:xfrm>
              <a:off x="451866" y="6468428"/>
              <a:ext cx="9783070" cy="205359"/>
              <a:chOff x="451866" y="6468428"/>
              <a:chExt cx="9783070" cy="205359"/>
            </a:xfrm>
          </p:grpSpPr>
          <p:sp>
            <p:nvSpPr>
              <p:cNvPr id="26" name="TextBox 26"/>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7" name="TextBox 27"/>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8" name="TextBox 28"/>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9" name="TextBox 29"/>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30" name="TextBox 30"/>
              <p:cNvSpPr txBox="1"/>
              <p:nvPr/>
            </p:nvSpPr>
            <p:spPr>
              <a:xfrm>
                <a:off x="650976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5 能力分工</a:t>
                </a:r>
              </a:p>
            </p:txBody>
          </p:sp>
          <p:sp>
            <p:nvSpPr>
              <p:cNvPr id="31" name="TextBox 31"/>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32" name="TextBox 32"/>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34" name="TextBox 34"/>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36 / 70</a:t>
              </a:r>
            </a:p>
          </p:txBody>
        </p:sp>
      </p:grpSp>
    </p:spTree>
  </p:cSld>
  <p:clrMapOvr>
    <a:masterClrMapping/>
  </p:clrMapOvr>
  <p:transition xmlns:p14="http://schemas.microsoft.com/office/powerpoint/2010/main" p14:dur="400">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664958" cy="1038035"/>
            <a:chOff x="441198" y="428625"/>
            <a:chExt cx="7664958" cy="1038035"/>
          </a:xfrm>
        </p:grpSpPr>
        <p:sp>
          <p:nvSpPr>
            <p:cNvPr id="2" name="TextBox 2"/>
            <p:cNvSpPr txBox="1"/>
            <p:nvPr/>
          </p:nvSpPr>
          <p:spPr>
            <a:xfrm>
              <a:off x="449580" y="428625"/>
              <a:ext cx="3781234"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5.1 混合审核与方案选择</a:t>
              </a:r>
            </a:p>
          </p:txBody>
        </p:sp>
        <p:sp>
          <p:nvSpPr>
            <p:cNvPr id="3" name="TextBox 3"/>
            <p:cNvSpPr txBox="1"/>
            <p:nvPr/>
          </p:nvSpPr>
          <p:spPr>
            <a:xfrm>
              <a:off x="441198" y="850583"/>
              <a:ext cx="7664958"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先比较四种办法，再决定组合到什么程度</a:t>
              </a:r>
            </a:p>
          </p:txBody>
        </p:sp>
      </p:grpSp>
      <p:grpSp>
        <p:nvGrpSpPr>
          <p:cNvPr id="7" name="Group 7"/>
          <p:cNvGrpSpPr/>
          <p:nvPr/>
        </p:nvGrpSpPr>
        <p:grpSpPr>
          <a:xfrm>
            <a:off x="445008" y="1979295"/>
            <a:ext cx="3489960" cy="1414653"/>
            <a:chOff x="445008" y="1979295"/>
            <a:chExt cx="3489960" cy="1414653"/>
          </a:xfrm>
        </p:grpSpPr>
        <p:sp>
          <p:nvSpPr>
            <p:cNvPr id="5" name="TextBox 5"/>
            <p:cNvSpPr txBox="1"/>
            <p:nvPr/>
          </p:nvSpPr>
          <p:spPr>
            <a:xfrm>
              <a:off x="445008" y="1979295"/>
              <a:ext cx="1639824"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清单＋人工</a:t>
              </a:r>
            </a:p>
          </p:txBody>
        </p:sp>
        <p:sp>
          <p:nvSpPr>
            <p:cNvPr id="6" name="TextBox 6"/>
            <p:cNvSpPr txBox="1"/>
            <p:nvPr/>
          </p:nvSpPr>
          <p:spPr>
            <a:xfrm>
              <a:off x="446532" y="2554605"/>
              <a:ext cx="3488436" cy="839343"/>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先解决资料找不到、提交不齐</a:t>
              </a:r>
              <a:br/>
              <a:r>
                <a:rPr lang="zh-CN" sz="2100" dirty="0">
                  <a:solidFill>
                    <a:schemeClr val="dk1"/>
                  </a:solidFill>
                  <a:latin typeface="+mn-lt"/>
                  <a:ea typeface="+mn-ea"/>
                  <a:cs typeface="+mn-cs"/>
                </a:rPr>
                <a:t>自由表达仍要逐句人工核对</a:t>
              </a:r>
            </a:p>
          </p:txBody>
        </p:sp>
      </p:grpSp>
      <p:grpSp>
        <p:nvGrpSpPr>
          <p:cNvPr id="10" name="Group 10"/>
          <p:cNvGrpSpPr/>
          <p:nvPr/>
        </p:nvGrpSpPr>
        <p:grpSpPr>
          <a:xfrm>
            <a:off x="6521958" y="1979295"/>
            <a:ext cx="3489960" cy="1414653"/>
            <a:chOff x="6521958" y="1979295"/>
            <a:chExt cx="3489960" cy="1414653"/>
          </a:xfrm>
        </p:grpSpPr>
        <p:sp>
          <p:nvSpPr>
            <p:cNvPr id="8" name="TextBox 8"/>
            <p:cNvSpPr txBox="1"/>
            <p:nvPr/>
          </p:nvSpPr>
          <p:spPr>
            <a:xfrm>
              <a:off x="6521958" y="1979295"/>
              <a:ext cx="1316736"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规则为主</a:t>
              </a:r>
            </a:p>
          </p:txBody>
        </p:sp>
        <p:sp>
          <p:nvSpPr>
            <p:cNvPr id="9" name="TextBox 9"/>
            <p:cNvSpPr txBox="1"/>
            <p:nvPr/>
          </p:nvSpPr>
          <p:spPr>
            <a:xfrm>
              <a:off x="6523482" y="2554605"/>
              <a:ext cx="3488436" cy="839343"/>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明确条件与计算，便于核对</a:t>
              </a:r>
              <a:br/>
              <a:r>
                <a:rPr lang="zh-CN" sz="2100" dirty="0">
                  <a:solidFill>
                    <a:schemeClr val="dk1"/>
                  </a:solidFill>
                  <a:latin typeface="+mn-lt"/>
                  <a:ea typeface="+mn-ea"/>
                  <a:cs typeface="+mn-cs"/>
                </a:rPr>
                <a:t>多种自然表达的维护成本要测</a:t>
              </a:r>
            </a:p>
          </p:txBody>
        </p:sp>
      </p:grpSp>
      <p:grpSp>
        <p:nvGrpSpPr>
          <p:cNvPr id="13" name="Group 13"/>
          <p:cNvGrpSpPr/>
          <p:nvPr/>
        </p:nvGrpSpPr>
        <p:grpSpPr>
          <a:xfrm>
            <a:off x="445008" y="4055745"/>
            <a:ext cx="3489960" cy="1414653"/>
            <a:chOff x="445008" y="4055745"/>
            <a:chExt cx="3489960" cy="1414653"/>
          </a:xfrm>
        </p:grpSpPr>
        <p:sp>
          <p:nvSpPr>
            <p:cNvPr id="11" name="TextBox 11"/>
            <p:cNvSpPr txBox="1"/>
            <p:nvPr/>
          </p:nvSpPr>
          <p:spPr>
            <a:xfrm>
              <a:off x="445008" y="4055745"/>
              <a:ext cx="1316736"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模型为主</a:t>
              </a:r>
            </a:p>
          </p:txBody>
        </p:sp>
        <p:sp>
          <p:nvSpPr>
            <p:cNvPr id="12" name="TextBox 12"/>
            <p:cNvSpPr txBox="1"/>
            <p:nvPr/>
          </p:nvSpPr>
          <p:spPr>
            <a:xfrm>
              <a:off x="446532" y="4631055"/>
              <a:ext cx="3488436" cy="839343"/>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理解对象、条件和多种说法</a:t>
              </a:r>
              <a:br/>
              <a:r>
                <a:rPr lang="zh-CN" sz="2100" dirty="0">
                  <a:solidFill>
                    <a:schemeClr val="dk1"/>
                  </a:solidFill>
                  <a:latin typeface="+mn-lt"/>
                  <a:ea typeface="+mn-ea"/>
                  <a:cs typeface="+mn-cs"/>
                </a:rPr>
                <a:t>可能误读、漏条件、错误引用</a:t>
              </a:r>
            </a:p>
          </p:txBody>
        </p:sp>
      </p:grpSp>
      <p:grpSp>
        <p:nvGrpSpPr>
          <p:cNvPr id="17" name="Group 17"/>
          <p:cNvGrpSpPr/>
          <p:nvPr/>
        </p:nvGrpSpPr>
        <p:grpSpPr>
          <a:xfrm>
            <a:off x="6248400" y="3743325"/>
            <a:ext cx="5486400" cy="1914525"/>
            <a:chOff x="6248400" y="3743325"/>
            <a:chExt cx="5486400" cy="1914525"/>
          </a:xfrm>
        </p:grpSpPr>
        <p:sp>
          <p:nvSpPr>
            <p:cNvPr id="14" name="Rectangle 14"/>
            <p:cNvSpPr/>
            <p:nvPr/>
          </p:nvSpPr>
          <p:spPr>
            <a:xfrm>
              <a:off x="6248400" y="3743325"/>
              <a:ext cx="5486400" cy="1914525"/>
            </a:xfrm>
            <a:prstGeom prst="roundRect">
              <a:avLst>
                <a:gd name="adj" fmla="val 5970"/>
              </a:avLst>
            </a:prstGeom>
            <a:solidFill>
              <a:schemeClr val="lt2"/>
            </a:solidFill>
            <a:ln>
              <a:noFill/>
            </a:ln>
          </p:spPr>
        </p:sp>
        <p:sp>
          <p:nvSpPr>
            <p:cNvPr id="15" name="TextBox 15"/>
            <p:cNvSpPr txBox="1"/>
            <p:nvPr/>
          </p:nvSpPr>
          <p:spPr>
            <a:xfrm>
              <a:off x="6521958" y="405574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组合方案</a:t>
              </a:r>
            </a:p>
          </p:txBody>
        </p:sp>
        <p:sp>
          <p:nvSpPr>
            <p:cNvPr id="16" name="TextBox 16"/>
            <p:cNvSpPr txBox="1"/>
            <p:nvPr/>
          </p:nvSpPr>
          <p:spPr>
            <a:xfrm>
              <a:off x="6523482" y="4631055"/>
              <a:ext cx="3488436" cy="839343"/>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按任务分工，保留责任确认</a:t>
              </a:r>
              <a:br/>
              <a:r>
                <a:rPr lang="zh-CN" sz="2100" dirty="0">
                  <a:solidFill>
                    <a:schemeClr val="dk1"/>
                  </a:solidFill>
                  <a:latin typeface="+mn-lt"/>
                  <a:ea typeface="+mn-ea"/>
                  <a:cs typeface="+mn-cs"/>
                </a:rPr>
                <a:t>也增加交接、维护与纠错成本</a:t>
              </a:r>
            </a:p>
          </p:txBody>
        </p:sp>
      </p:grpSp>
      <p:grpSp>
        <p:nvGrpSpPr>
          <p:cNvPr id="19" name="Group 19"/>
          <p:cNvGrpSpPr/>
          <p:nvPr/>
        </p:nvGrpSpPr>
        <p:grpSpPr>
          <a:xfrm>
            <a:off x="448056" y="5911215"/>
            <a:ext cx="8941003" cy="352044"/>
            <a:chOff x="448056" y="5911215"/>
            <a:chExt cx="8941003" cy="352044"/>
          </a:xfrm>
        </p:grpSpPr>
        <p:sp>
          <p:nvSpPr>
            <p:cNvPr id="18" name="TextBox 18"/>
            <p:cNvSpPr txBox="1"/>
            <p:nvPr/>
          </p:nvSpPr>
          <p:spPr>
            <a:xfrm>
              <a:off x="448056" y="5911215"/>
              <a:ext cx="8941003"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不是绝对能力边界：比较质量、维护、时延与总人工投入；不默认AI越多越好。</a:t>
              </a:r>
            </a:p>
          </p:txBody>
        </p:sp>
      </p:grpSp>
      <p:grpSp>
        <p:nvGrpSpPr>
          <p:cNvPr id="31" name="Group 31"/>
          <p:cNvGrpSpPr/>
          <p:nvPr/>
        </p:nvGrpSpPr>
        <p:grpSpPr>
          <a:xfrm>
            <a:off x="0" y="6286500"/>
            <a:ext cx="12192000" cy="571500"/>
            <a:chOff x="0" y="6286500"/>
            <a:chExt cx="12192000" cy="571500"/>
          </a:xfrm>
        </p:grpSpPr>
        <p:sp>
          <p:nvSpPr>
            <p:cNvPr id="20" name="Rectangle 20"/>
            <p:cNvSpPr/>
            <p:nvPr/>
          </p:nvSpPr>
          <p:spPr>
            <a:xfrm>
              <a:off x="0" y="6286500"/>
              <a:ext cx="12192000" cy="571500"/>
            </a:xfrm>
            <a:prstGeom prst="rect">
              <a:avLst/>
            </a:prstGeom>
            <a:solidFill>
              <a:srgbClr val="FFFFFF"/>
            </a:solidFill>
            <a:ln>
              <a:noFill/>
            </a:ln>
          </p:spPr>
        </p:sp>
        <p:sp>
          <p:nvSpPr>
            <p:cNvPr id="21" name="Line 21"/>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9" name="Group 29"/>
            <p:cNvGrpSpPr/>
            <p:nvPr/>
          </p:nvGrpSpPr>
          <p:grpSpPr>
            <a:xfrm>
              <a:off x="451866" y="6468428"/>
              <a:ext cx="9783070" cy="205359"/>
              <a:chOff x="451866" y="6468428"/>
              <a:chExt cx="9783070" cy="205359"/>
            </a:xfrm>
          </p:grpSpPr>
          <p:sp>
            <p:nvSpPr>
              <p:cNvPr id="22" name="TextBox 22"/>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3" name="TextBox 23"/>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4" name="TextBox 24"/>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5" name="TextBox 25"/>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6" name="TextBox 26"/>
              <p:cNvSpPr txBox="1"/>
              <p:nvPr/>
            </p:nvSpPr>
            <p:spPr>
              <a:xfrm>
                <a:off x="650976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5 能力分工</a:t>
                </a:r>
              </a:p>
            </p:txBody>
          </p:sp>
          <p:sp>
            <p:nvSpPr>
              <p:cNvPr id="27" name="TextBox 27"/>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8" name="TextBox 28"/>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30" name="TextBox 30"/>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37 / 70</a:t>
              </a:r>
            </a:p>
          </p:txBody>
        </p:sp>
      </p:grpSp>
    </p:spTree>
  </p:cSld>
  <p:clrMapOvr>
    <a:masterClrMapping/>
  </p:clrMapOvr>
  <p:transition xmlns:p14="http://schemas.microsoft.com/office/powerpoint/2010/main" p14:dur="400">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968746" cy="1038035"/>
            <a:chOff x="441198" y="428625"/>
            <a:chExt cx="5968746" cy="1038035"/>
          </a:xfrm>
        </p:grpSpPr>
        <p:sp>
          <p:nvSpPr>
            <p:cNvPr id="2" name="TextBox 2"/>
            <p:cNvSpPr txBox="1"/>
            <p:nvPr/>
          </p:nvSpPr>
          <p:spPr>
            <a:xfrm>
              <a:off x="449580" y="428625"/>
              <a:ext cx="337737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5.2 检查的执行接力</a:t>
              </a:r>
            </a:p>
          </p:txBody>
        </p:sp>
        <p:sp>
          <p:nvSpPr>
            <p:cNvPr id="3" name="TextBox 3"/>
            <p:cNvSpPr txBox="1"/>
            <p:nvPr/>
          </p:nvSpPr>
          <p:spPr>
            <a:xfrm>
              <a:off x="441198" y="850583"/>
              <a:ext cx="5968746"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先理解对象，再校验结论和引用</a:t>
              </a:r>
            </a:p>
          </p:txBody>
        </p:sp>
      </p:grpSp>
      <p:grpSp>
        <p:nvGrpSpPr>
          <p:cNvPr id="7" name="Group 7"/>
          <p:cNvGrpSpPr/>
          <p:nvPr/>
        </p:nvGrpSpPr>
        <p:grpSpPr>
          <a:xfrm>
            <a:off x="446532" y="1992630"/>
            <a:ext cx="10335158" cy="410718"/>
            <a:chOff x="446532" y="1992630"/>
            <a:chExt cx="10335158" cy="410718"/>
          </a:xfrm>
        </p:grpSpPr>
        <p:sp>
          <p:nvSpPr>
            <p:cNvPr id="5" name="TextBox 5"/>
            <p:cNvSpPr txBox="1"/>
            <p:nvPr/>
          </p:nvSpPr>
          <p:spPr>
            <a:xfrm>
              <a:off x="446532" y="1992630"/>
              <a:ext cx="334308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原句：“65℃热水直接拖地”</a:t>
              </a:r>
            </a:p>
          </p:txBody>
        </p:sp>
        <p:sp>
          <p:nvSpPr>
            <p:cNvPr id="6" name="TextBox 6"/>
            <p:cNvSpPr txBox="1"/>
            <p:nvPr/>
          </p:nvSpPr>
          <p:spPr>
            <a:xfrm>
              <a:off x="6847332" y="1992630"/>
              <a:ext cx="3934358"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有效P1资料：基站热水洗拖布</a:t>
              </a:r>
            </a:p>
          </p:txBody>
        </p:sp>
      </p:grpSp>
      <p:grpSp>
        <p:nvGrpSpPr>
          <p:cNvPr id="26" name="Group 26"/>
          <p:cNvGrpSpPr/>
          <p:nvPr/>
        </p:nvGrpSpPr>
        <p:grpSpPr>
          <a:xfrm>
            <a:off x="457200" y="2905125"/>
            <a:ext cx="11277600" cy="1619250"/>
            <a:chOff x="457200" y="2905125"/>
            <a:chExt cx="11277600" cy="1619250"/>
          </a:xfrm>
        </p:grpSpPr>
        <p:sp>
          <p:nvSpPr>
            <p:cNvPr id="8" name="Rectangle 8"/>
            <p:cNvSpPr/>
            <p:nvPr/>
          </p:nvSpPr>
          <p:spPr>
            <a:xfrm>
              <a:off x="457200" y="2905125"/>
              <a:ext cx="2400300" cy="1619250"/>
            </a:xfrm>
            <a:prstGeom prst="roundRect">
              <a:avLst>
                <a:gd name="adj" fmla="val 7059"/>
              </a:avLst>
            </a:prstGeom>
            <a:solidFill>
              <a:schemeClr val="lt2"/>
            </a:solidFill>
            <a:ln>
              <a:noFill/>
            </a:ln>
          </p:spPr>
        </p:sp>
        <p:sp>
          <p:nvSpPr>
            <p:cNvPr id="9" name="Rectangle 9"/>
            <p:cNvSpPr/>
            <p:nvPr/>
          </p:nvSpPr>
          <p:spPr>
            <a:xfrm>
              <a:off x="3409950" y="2905125"/>
              <a:ext cx="2400300" cy="1619250"/>
            </a:xfrm>
            <a:prstGeom prst="roundRect">
              <a:avLst>
                <a:gd name="adj" fmla="val 7059"/>
              </a:avLst>
            </a:prstGeom>
            <a:solidFill>
              <a:schemeClr val="lt2"/>
            </a:solidFill>
            <a:ln>
              <a:noFill/>
            </a:ln>
          </p:spPr>
        </p:sp>
        <p:sp>
          <p:nvSpPr>
            <p:cNvPr id="10" name="Rectangle 10"/>
            <p:cNvSpPr/>
            <p:nvPr/>
          </p:nvSpPr>
          <p:spPr>
            <a:xfrm>
              <a:off x="6362700" y="2905125"/>
              <a:ext cx="2400300" cy="1619250"/>
            </a:xfrm>
            <a:prstGeom prst="roundRect">
              <a:avLst>
                <a:gd name="adj" fmla="val 7059"/>
              </a:avLst>
            </a:prstGeom>
            <a:solidFill>
              <a:schemeClr val="lt2"/>
            </a:solidFill>
            <a:ln>
              <a:noFill/>
            </a:ln>
          </p:spPr>
        </p:sp>
        <p:sp>
          <p:nvSpPr>
            <p:cNvPr id="11" name="Rectangle 11"/>
            <p:cNvSpPr/>
            <p:nvPr/>
          </p:nvSpPr>
          <p:spPr>
            <a:xfrm>
              <a:off x="9315450" y="2905125"/>
              <a:ext cx="2419350" cy="1619250"/>
            </a:xfrm>
            <a:prstGeom prst="roundRect">
              <a:avLst>
                <a:gd name="adj" fmla="val 7059"/>
              </a:avLst>
            </a:prstGeom>
            <a:solidFill>
              <a:schemeClr val="accent1"/>
            </a:solidFill>
            <a:ln>
              <a:noFill/>
            </a:ln>
          </p:spPr>
        </p:sp>
        <p:grpSp>
          <p:nvGrpSpPr>
            <p:cNvPr id="16" name="Group 16"/>
            <p:cNvGrpSpPr/>
            <p:nvPr/>
          </p:nvGrpSpPr>
          <p:grpSpPr>
            <a:xfrm>
              <a:off x="656082" y="3145155"/>
              <a:ext cx="10575798" cy="410718"/>
              <a:chOff x="656082" y="3145155"/>
              <a:chExt cx="10575798" cy="410718"/>
            </a:xfrm>
          </p:grpSpPr>
          <p:sp>
            <p:nvSpPr>
              <p:cNvPr id="12" name="TextBox 12"/>
              <p:cNvSpPr txBox="1"/>
              <p:nvPr/>
            </p:nvSpPr>
            <p:spPr>
              <a:xfrm>
                <a:off x="656082" y="3145155"/>
                <a:ext cx="2000250"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程序取有效资料</a:t>
                </a:r>
              </a:p>
            </p:txBody>
          </p:sp>
          <p:sp>
            <p:nvSpPr>
              <p:cNvPr id="13" name="TextBox 13"/>
              <p:cNvSpPr txBox="1"/>
              <p:nvPr/>
            </p:nvSpPr>
            <p:spPr>
              <a:xfrm>
                <a:off x="3608832" y="3145155"/>
                <a:ext cx="1717548"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模型辅助比较</a:t>
                </a:r>
              </a:p>
            </p:txBody>
          </p:sp>
          <p:sp>
            <p:nvSpPr>
              <p:cNvPr id="14" name="TextBox 14"/>
              <p:cNvSpPr txBox="1"/>
              <p:nvPr/>
            </p:nvSpPr>
            <p:spPr>
              <a:xfrm>
                <a:off x="6561582" y="3145155"/>
                <a:ext cx="2000250"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校验原句与引用</a:t>
                </a:r>
              </a:p>
            </p:txBody>
          </p:sp>
          <p:sp>
            <p:nvSpPr>
              <p:cNvPr id="15" name="TextBox 15"/>
              <p:cNvSpPr txBox="1"/>
              <p:nvPr/>
            </p:nvSpPr>
            <p:spPr>
              <a:xfrm>
                <a:off x="9514332" y="3145155"/>
                <a:ext cx="1717548" cy="410718"/>
              </a:xfrm>
              <a:prstGeom prst="rect">
                <a:avLst/>
              </a:prstGeom>
              <a:noFill/>
              <a:ln>
                <a:noFill/>
              </a:ln>
            </p:spPr>
            <p:txBody>
              <a:bodyPr wrap="none" lIns="0" tIns="0" rIns="0" bIns="0" anchor="t" anchorCtr="0">
                <a:spAutoFit/>
              </a:bodyPr>
              <a:lstStyle/>
              <a:p>
                <a:pPr algn="l"/>
                <a:r>
                  <a:rPr lang="zh-CN" sz="2100" b="1" dirty="0">
                    <a:solidFill>
                      <a:srgbClr val="FFFFFF"/>
                    </a:solidFill>
                    <a:latin typeface="+mn-lt"/>
                    <a:ea typeface="+mn-ea"/>
                    <a:cs typeface="+mn-cs"/>
                  </a:rPr>
                  <a:t>人工确认疑义</a:t>
                </a:r>
              </a:p>
            </p:txBody>
          </p:sp>
        </p:grpSp>
        <p:grpSp>
          <p:nvGrpSpPr>
            <p:cNvPr id="21" name="Group 21"/>
            <p:cNvGrpSpPr/>
            <p:nvPr/>
          </p:nvGrpSpPr>
          <p:grpSpPr>
            <a:xfrm>
              <a:off x="657606" y="3749040"/>
              <a:ext cx="10706024" cy="352044"/>
              <a:chOff x="657606" y="3749040"/>
              <a:chExt cx="10706024" cy="352044"/>
            </a:xfrm>
          </p:grpSpPr>
          <p:sp>
            <p:nvSpPr>
              <p:cNvPr id="17" name="TextBox 17"/>
              <p:cNvSpPr txBox="1"/>
              <p:nvPr/>
            </p:nvSpPr>
            <p:spPr>
              <a:xfrm>
                <a:off x="657606" y="3749040"/>
                <a:ext cx="172090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SKU、版本适用</a:t>
                </a:r>
              </a:p>
            </p:txBody>
          </p:sp>
          <p:sp>
            <p:nvSpPr>
              <p:cNvPr id="18" name="TextBox 18"/>
              <p:cNvSpPr txBox="1"/>
              <p:nvPr/>
            </p:nvSpPr>
            <p:spPr>
              <a:xfrm>
                <a:off x="3610356" y="374904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动作与对象关系</a:t>
                </a:r>
              </a:p>
            </p:txBody>
          </p:sp>
          <p:sp>
            <p:nvSpPr>
              <p:cNvPr id="19" name="TextBox 19"/>
              <p:cNvSpPr txBox="1"/>
              <p:nvPr/>
            </p:nvSpPr>
            <p:spPr>
              <a:xfrm>
                <a:off x="6563106" y="374904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真实存在且适用</a:t>
                </a:r>
              </a:p>
            </p:txBody>
          </p:sp>
          <p:sp>
            <p:nvSpPr>
              <p:cNvPr id="20" name="TextBox 20"/>
              <p:cNvSpPr txBox="1"/>
              <p:nvPr/>
            </p:nvSpPr>
            <p:spPr>
              <a:xfrm>
                <a:off x="9515856" y="3749040"/>
                <a:ext cx="184777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产品负责人/审核</a:t>
                </a:r>
              </a:p>
            </p:txBody>
          </p:sp>
        </p:grpSp>
        <p:grpSp>
          <p:nvGrpSpPr>
            <p:cNvPr id="25" name="Group 25"/>
            <p:cNvGrpSpPr/>
            <p:nvPr/>
          </p:nvGrpSpPr>
          <p:grpSpPr>
            <a:xfrm>
              <a:off x="2895600" y="3714750"/>
              <a:ext cx="6343650" cy="1"/>
              <a:chOff x="2895600" y="3714750"/>
              <a:chExt cx="6343650" cy="1"/>
            </a:xfrm>
          </p:grpSpPr>
          <p:sp>
            <p:nvSpPr>
              <p:cNvPr id="22" name="Line 22"/>
              <p:cNvSpPr/>
              <p:nvPr/>
            </p:nvSpPr>
            <p:spPr>
              <a:xfrm>
                <a:off x="2895600" y="3714750"/>
                <a:ext cx="438150" cy="1"/>
              </a:xfrm>
              <a:prstGeom prst="line">
                <a:avLst/>
              </a:prstGeom>
              <a:noFill/>
              <a:ln w="28575">
                <a:solidFill>
                  <a:schemeClr val="accent1"/>
                </a:solidFill>
                <a:tailEnd type="triangle" w="lg" len="lg"/>
              </a:ln>
            </p:spPr>
          </p:sp>
          <p:sp>
            <p:nvSpPr>
              <p:cNvPr id="23" name="Line 23"/>
              <p:cNvSpPr/>
              <p:nvPr/>
            </p:nvSpPr>
            <p:spPr>
              <a:xfrm>
                <a:off x="5848350" y="3714750"/>
                <a:ext cx="438150" cy="1"/>
              </a:xfrm>
              <a:prstGeom prst="line">
                <a:avLst/>
              </a:prstGeom>
              <a:noFill/>
              <a:ln w="28575">
                <a:solidFill>
                  <a:schemeClr val="accent1"/>
                </a:solidFill>
                <a:tailEnd type="triangle" w="lg" len="lg"/>
              </a:ln>
            </p:spPr>
          </p:sp>
          <p:sp>
            <p:nvSpPr>
              <p:cNvPr id="24" name="Line 24"/>
              <p:cNvSpPr/>
              <p:nvPr/>
            </p:nvSpPr>
            <p:spPr>
              <a:xfrm>
                <a:off x="8801100" y="3714750"/>
                <a:ext cx="438150" cy="1"/>
              </a:xfrm>
              <a:prstGeom prst="line">
                <a:avLst/>
              </a:prstGeom>
              <a:noFill/>
              <a:ln w="28575">
                <a:solidFill>
                  <a:schemeClr val="accent1"/>
                </a:solidFill>
                <a:tailEnd type="triangle" w="lg" len="lg"/>
              </a:ln>
            </p:spPr>
          </p:sp>
        </p:grpSp>
      </p:grpSp>
      <p:grpSp>
        <p:nvGrpSpPr>
          <p:cNvPr id="29" name="Group 29"/>
          <p:cNvGrpSpPr/>
          <p:nvPr/>
        </p:nvGrpSpPr>
        <p:grpSpPr>
          <a:xfrm>
            <a:off x="445008" y="5303520"/>
            <a:ext cx="8017764" cy="864489"/>
            <a:chOff x="445008" y="5303520"/>
            <a:chExt cx="8017764" cy="864489"/>
          </a:xfrm>
        </p:grpSpPr>
        <p:sp>
          <p:nvSpPr>
            <p:cNvPr id="27" name="TextBox 27"/>
            <p:cNvSpPr txBox="1"/>
            <p:nvPr/>
          </p:nvSpPr>
          <p:spPr>
            <a:xfrm>
              <a:off x="445008" y="5303520"/>
              <a:ext cx="4870704"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引用有效，不等于结论一定正确。</a:t>
              </a:r>
            </a:p>
          </p:txBody>
        </p:sp>
        <p:sp>
          <p:nvSpPr>
            <p:cNvPr id="28" name="TextBox 28"/>
            <p:cNvSpPr txBox="1"/>
            <p:nvPr/>
          </p:nvSpPr>
          <p:spPr>
            <a:xfrm>
              <a:off x="448056" y="5815965"/>
              <a:ext cx="801471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对象不清时看全文，不能自行补出作者意图；有争议要带原句与依据交人。</a:t>
              </a:r>
            </a:p>
          </p:txBody>
        </p:sp>
      </p:grpSp>
      <p:grpSp>
        <p:nvGrpSpPr>
          <p:cNvPr id="41" name="Group 41"/>
          <p:cNvGrpSpPr/>
          <p:nvPr/>
        </p:nvGrpSpPr>
        <p:grpSpPr>
          <a:xfrm>
            <a:off x="0" y="6286500"/>
            <a:ext cx="12192000" cy="571500"/>
            <a:chOff x="0" y="6286500"/>
            <a:chExt cx="12192000" cy="571500"/>
          </a:xfrm>
        </p:grpSpPr>
        <p:sp>
          <p:nvSpPr>
            <p:cNvPr id="30" name="Rectangle 30"/>
            <p:cNvSpPr/>
            <p:nvPr/>
          </p:nvSpPr>
          <p:spPr>
            <a:xfrm>
              <a:off x="0" y="6286500"/>
              <a:ext cx="12192000" cy="571500"/>
            </a:xfrm>
            <a:prstGeom prst="rect">
              <a:avLst/>
            </a:prstGeom>
            <a:solidFill>
              <a:srgbClr val="FFFFFF"/>
            </a:solidFill>
            <a:ln>
              <a:noFill/>
            </a:ln>
          </p:spPr>
        </p:sp>
        <p:sp>
          <p:nvSpPr>
            <p:cNvPr id="31" name="Line 31"/>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39" name="Group 39"/>
            <p:cNvGrpSpPr/>
            <p:nvPr/>
          </p:nvGrpSpPr>
          <p:grpSpPr>
            <a:xfrm>
              <a:off x="451866" y="6468428"/>
              <a:ext cx="9783070" cy="205359"/>
              <a:chOff x="451866" y="6468428"/>
              <a:chExt cx="9783070" cy="205359"/>
            </a:xfrm>
          </p:grpSpPr>
          <p:sp>
            <p:nvSpPr>
              <p:cNvPr id="32" name="TextBox 32"/>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33" name="TextBox 33"/>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34" name="TextBox 34"/>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35" name="TextBox 35"/>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36" name="TextBox 36"/>
              <p:cNvSpPr txBox="1"/>
              <p:nvPr/>
            </p:nvSpPr>
            <p:spPr>
              <a:xfrm>
                <a:off x="650976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5 能力分工</a:t>
                </a:r>
              </a:p>
            </p:txBody>
          </p:sp>
          <p:sp>
            <p:nvSpPr>
              <p:cNvPr id="37" name="TextBox 37"/>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38" name="TextBox 38"/>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40" name="TextBox 40"/>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38 / 70</a:t>
              </a:r>
            </a:p>
          </p:txBody>
        </p:sp>
      </p:grpSp>
    </p:spTree>
  </p:cSld>
  <p:clrMapOvr>
    <a:masterClrMapping/>
  </p:clrMapOvr>
  <p:transition xmlns:p14="http://schemas.microsoft.com/office/powerpoint/2010/main" p14:dur="400">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372361" cy="1038035"/>
            <a:chOff x="441198" y="428625"/>
            <a:chExt cx="7372361" cy="1038035"/>
          </a:xfrm>
        </p:grpSpPr>
        <p:sp>
          <p:nvSpPr>
            <p:cNvPr id="2" name="TextBox 2"/>
            <p:cNvSpPr txBox="1"/>
            <p:nvPr/>
          </p:nvSpPr>
          <p:spPr>
            <a:xfrm>
              <a:off x="449580" y="428625"/>
              <a:ext cx="337737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5.2 检查的执行接力</a:t>
              </a:r>
            </a:p>
          </p:txBody>
        </p:sp>
        <p:sp>
          <p:nvSpPr>
            <p:cNvPr id="3" name="TextBox 3"/>
            <p:cNvSpPr txBox="1"/>
            <p:nvPr/>
          </p:nvSpPr>
          <p:spPr>
            <a:xfrm>
              <a:off x="441198" y="850583"/>
              <a:ext cx="7372361"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“算得对”和“条件缺失”，可以同时成立</a:t>
              </a:r>
            </a:p>
          </p:txBody>
        </p:sp>
      </p:grpSp>
      <p:grpSp>
        <p:nvGrpSpPr>
          <p:cNvPr id="8" name="Group 8"/>
          <p:cNvGrpSpPr/>
          <p:nvPr/>
        </p:nvGrpSpPr>
        <p:grpSpPr>
          <a:xfrm>
            <a:off x="441198" y="2101215"/>
            <a:ext cx="4996604" cy="1664208"/>
            <a:chOff x="441198" y="2101215"/>
            <a:chExt cx="4996604" cy="1664208"/>
          </a:xfrm>
        </p:grpSpPr>
        <p:sp>
          <p:nvSpPr>
            <p:cNvPr id="5" name="TextBox 5"/>
            <p:cNvSpPr txBox="1"/>
            <p:nvPr/>
          </p:nvSpPr>
          <p:spPr>
            <a:xfrm>
              <a:off x="448056" y="2101215"/>
              <a:ext cx="219913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程序：核算优惠路径</a:t>
              </a:r>
            </a:p>
          </p:txBody>
        </p:sp>
        <p:sp>
          <p:nvSpPr>
            <p:cNvPr id="6" name="TextBox 6"/>
            <p:cNvSpPr txBox="1"/>
            <p:nvPr/>
          </p:nvSpPr>
          <p:spPr>
            <a:xfrm>
              <a:off x="441198" y="2603182"/>
              <a:ext cx="4996604"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2399 − 400 − 200 = 1799</a:t>
              </a:r>
            </a:p>
          </p:txBody>
        </p:sp>
        <p:sp>
          <p:nvSpPr>
            <p:cNvPr id="7" name="TextBox 7"/>
            <p:cNvSpPr txBox="1"/>
            <p:nvPr/>
          </p:nvSpPr>
          <p:spPr>
            <a:xfrm>
              <a:off x="446532" y="3354705"/>
              <a:ext cx="2848356"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给定路径在数值上成立</a:t>
              </a:r>
            </a:p>
          </p:txBody>
        </p:sp>
      </p:grpSp>
      <p:grpSp>
        <p:nvGrpSpPr>
          <p:cNvPr id="12" name="Group 12"/>
          <p:cNvGrpSpPr/>
          <p:nvPr/>
        </p:nvGrpSpPr>
        <p:grpSpPr>
          <a:xfrm>
            <a:off x="6521958" y="2101215"/>
            <a:ext cx="3415284" cy="1664208"/>
            <a:chOff x="6521958" y="2101215"/>
            <a:chExt cx="3415284" cy="1664208"/>
          </a:xfrm>
        </p:grpSpPr>
        <p:sp>
          <p:nvSpPr>
            <p:cNvPr id="9" name="TextBox 9"/>
            <p:cNvSpPr txBox="1"/>
            <p:nvPr/>
          </p:nvSpPr>
          <p:spPr>
            <a:xfrm>
              <a:off x="6525006" y="2101215"/>
              <a:ext cx="268376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模型：辅助理解全文条件</a:t>
              </a:r>
            </a:p>
          </p:txBody>
        </p:sp>
        <p:sp>
          <p:nvSpPr>
            <p:cNvPr id="10" name="TextBox 10"/>
            <p:cNvSpPr txBox="1"/>
            <p:nvPr/>
          </p:nvSpPr>
          <p:spPr>
            <a:xfrm>
              <a:off x="6521958" y="2684145"/>
              <a:ext cx="2113148"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“领券1799元”</a:t>
              </a:r>
            </a:p>
          </p:txBody>
        </p:sp>
        <p:sp>
          <p:nvSpPr>
            <p:cNvPr id="11" name="TextBox 11"/>
            <p:cNvSpPr txBox="1"/>
            <p:nvPr/>
          </p:nvSpPr>
          <p:spPr>
            <a:xfrm>
              <a:off x="6523482" y="3354705"/>
              <a:ext cx="3413760"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缺新会员资格与两类券条件</a:t>
              </a:r>
            </a:p>
          </p:txBody>
        </p:sp>
      </p:grpSp>
      <p:grpSp>
        <p:nvGrpSpPr>
          <p:cNvPr id="18" name="Group 18"/>
          <p:cNvGrpSpPr/>
          <p:nvPr/>
        </p:nvGrpSpPr>
        <p:grpSpPr>
          <a:xfrm>
            <a:off x="457200" y="3905250"/>
            <a:ext cx="11277600" cy="2152650"/>
            <a:chOff x="457200" y="3905250"/>
            <a:chExt cx="11277600" cy="2152650"/>
          </a:xfrm>
        </p:grpSpPr>
        <p:sp>
          <p:nvSpPr>
            <p:cNvPr id="13" name="Line 13"/>
            <p:cNvSpPr/>
            <p:nvPr/>
          </p:nvSpPr>
          <p:spPr>
            <a:xfrm>
              <a:off x="3143250" y="3905250"/>
              <a:ext cx="2952750" cy="533400"/>
            </a:xfrm>
            <a:custGeom>
              <a:avLst/>
              <a:gdLst/>
              <a:ahLst/>
              <a:cxnLst/>
              <a:rect l="l" t="t" r="r" b="b"/>
              <a:pathLst>
                <a:path w="2952750" h="533400">
                  <a:moveTo>
                    <a:pt x="0" y="0"/>
                  </a:moveTo>
                  <a:lnTo>
                    <a:pt x="2952750" y="533400"/>
                  </a:lnTo>
                </a:path>
              </a:pathLst>
            </a:custGeom>
            <a:noFill/>
            <a:ln w="28575">
              <a:solidFill>
                <a:schemeClr val="accent1"/>
              </a:solidFill>
            </a:ln>
          </p:spPr>
        </p:sp>
        <p:sp>
          <p:nvSpPr>
            <p:cNvPr id="14" name="Line 14"/>
            <p:cNvSpPr/>
            <p:nvPr/>
          </p:nvSpPr>
          <p:spPr>
            <a:xfrm>
              <a:off x="6096000" y="3905250"/>
              <a:ext cx="3048000" cy="533400"/>
            </a:xfrm>
            <a:custGeom>
              <a:avLst/>
              <a:gdLst/>
              <a:ahLst/>
              <a:cxnLst/>
              <a:rect l="l" t="t" r="r" b="b"/>
              <a:pathLst>
                <a:path w="3048000" h="533400">
                  <a:moveTo>
                    <a:pt x="3048000" y="0"/>
                  </a:moveTo>
                  <a:lnTo>
                    <a:pt x="0" y="533400"/>
                  </a:lnTo>
                </a:path>
              </a:pathLst>
            </a:custGeom>
            <a:noFill/>
            <a:ln w="28575">
              <a:solidFill>
                <a:schemeClr val="accent1"/>
              </a:solidFill>
            </a:ln>
          </p:spPr>
        </p:sp>
        <p:sp>
          <p:nvSpPr>
            <p:cNvPr id="15" name="Rectangle 15"/>
            <p:cNvSpPr/>
            <p:nvPr/>
          </p:nvSpPr>
          <p:spPr>
            <a:xfrm>
              <a:off x="457200" y="4438650"/>
              <a:ext cx="11277600" cy="1619250"/>
            </a:xfrm>
            <a:prstGeom prst="roundRect">
              <a:avLst>
                <a:gd name="adj" fmla="val 7059"/>
              </a:avLst>
            </a:prstGeom>
            <a:solidFill>
              <a:schemeClr val="accent1"/>
            </a:solidFill>
            <a:ln>
              <a:noFill/>
            </a:ln>
          </p:spPr>
        </p:sp>
        <p:sp>
          <p:nvSpPr>
            <p:cNvPr id="16" name="TextBox 16"/>
            <p:cNvSpPr txBox="1"/>
            <p:nvPr/>
          </p:nvSpPr>
          <p:spPr>
            <a:xfrm>
              <a:off x="730758" y="4703445"/>
              <a:ext cx="583996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合并结论：金额成立，表达条件仍缺失。</a:t>
              </a:r>
            </a:p>
          </p:txBody>
        </p:sp>
        <p:sp>
          <p:nvSpPr>
            <p:cNvPr id="17" name="TextBox 17"/>
            <p:cNvSpPr txBox="1"/>
            <p:nvPr/>
          </p:nvSpPr>
          <p:spPr>
            <a:xfrm>
              <a:off x="732282" y="5307330"/>
              <a:ext cx="821969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这不是冲突，不用简单投票；提取的金额、资格都要能回到原文。</a:t>
              </a:r>
            </a:p>
          </p:txBody>
        </p:sp>
      </p:grpSp>
      <p:grpSp>
        <p:nvGrpSpPr>
          <p:cNvPr id="30" name="Group 30"/>
          <p:cNvGrpSpPr/>
          <p:nvPr/>
        </p:nvGrpSpPr>
        <p:grpSpPr>
          <a:xfrm>
            <a:off x="0" y="6286500"/>
            <a:ext cx="12192000" cy="571500"/>
            <a:chOff x="0" y="6286500"/>
            <a:chExt cx="12192000" cy="571500"/>
          </a:xfrm>
        </p:grpSpPr>
        <p:sp>
          <p:nvSpPr>
            <p:cNvPr id="19" name="Rectangle 19"/>
            <p:cNvSpPr/>
            <p:nvPr/>
          </p:nvSpPr>
          <p:spPr>
            <a:xfrm>
              <a:off x="0" y="6286500"/>
              <a:ext cx="12192000" cy="571500"/>
            </a:xfrm>
            <a:prstGeom prst="rect">
              <a:avLst/>
            </a:prstGeom>
            <a:solidFill>
              <a:srgbClr val="FFFFFF"/>
            </a:solidFill>
            <a:ln>
              <a:noFill/>
            </a:ln>
          </p:spPr>
        </p:sp>
        <p:sp>
          <p:nvSpPr>
            <p:cNvPr id="20" name="Line 20"/>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8" name="Group 28"/>
            <p:cNvGrpSpPr/>
            <p:nvPr/>
          </p:nvGrpSpPr>
          <p:grpSpPr>
            <a:xfrm>
              <a:off x="451866" y="6468428"/>
              <a:ext cx="9783070" cy="205359"/>
              <a:chOff x="451866" y="6468428"/>
              <a:chExt cx="9783070" cy="205359"/>
            </a:xfrm>
          </p:grpSpPr>
          <p:sp>
            <p:nvSpPr>
              <p:cNvPr id="21" name="TextBox 21"/>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2" name="TextBox 22"/>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3" name="TextBox 23"/>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4" name="TextBox 24"/>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5" name="TextBox 25"/>
              <p:cNvSpPr txBox="1"/>
              <p:nvPr/>
            </p:nvSpPr>
            <p:spPr>
              <a:xfrm>
                <a:off x="650976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5 能力分工</a:t>
                </a:r>
              </a:p>
            </p:txBody>
          </p:sp>
          <p:sp>
            <p:nvSpPr>
              <p:cNvPr id="26" name="TextBox 26"/>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7" name="TextBox 27"/>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29" name="TextBox 29"/>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39 / 70</a:t>
              </a:r>
            </a:p>
          </p:txBody>
        </p:sp>
      </p:grpSp>
    </p:spTree>
  </p:cSld>
  <p:clrMapOvr>
    <a:masterClrMapping/>
  </p:clrMapOvr>
  <p:transition xmlns:p14="http://schemas.microsoft.com/office/powerpoint/2010/main" p14:dur="400">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306633" cy="1038035"/>
            <a:chOff x="441198" y="428625"/>
            <a:chExt cx="7306633" cy="1038035"/>
          </a:xfrm>
        </p:grpSpPr>
        <p:sp>
          <p:nvSpPr>
            <p:cNvPr id="2" name="TextBox 2"/>
            <p:cNvSpPr txBox="1"/>
            <p:nvPr/>
          </p:nvSpPr>
          <p:spPr>
            <a:xfrm>
              <a:off x="449580" y="428625"/>
              <a:ext cx="337737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5.2 检查的执行接力</a:t>
              </a:r>
            </a:p>
          </p:txBody>
        </p:sp>
        <p:sp>
          <p:nvSpPr>
            <p:cNvPr id="3" name="TextBox 3"/>
            <p:cNvSpPr txBox="1"/>
            <p:nvPr/>
          </p:nvSpPr>
          <p:spPr>
            <a:xfrm>
              <a:off x="441198" y="850583"/>
              <a:ext cx="730663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模型不用猜名额，也不能只搜“清洁包”</a:t>
              </a:r>
            </a:p>
          </p:txBody>
        </p:sp>
      </p:grpSp>
      <p:grpSp>
        <p:nvGrpSpPr>
          <p:cNvPr id="16" name="Group 16"/>
          <p:cNvGrpSpPr/>
          <p:nvPr/>
        </p:nvGrpSpPr>
        <p:grpSpPr>
          <a:xfrm>
            <a:off x="628650" y="2057400"/>
            <a:ext cx="8012354" cy="3270123"/>
            <a:chOff x="628650" y="2057400"/>
            <a:chExt cx="8012354" cy="3270123"/>
          </a:xfrm>
        </p:grpSpPr>
        <p:sp>
          <p:nvSpPr>
            <p:cNvPr id="5" name="Line 5"/>
            <p:cNvSpPr/>
            <p:nvPr/>
          </p:nvSpPr>
          <p:spPr>
            <a:xfrm>
              <a:off x="762000" y="2190750"/>
              <a:ext cx="9525" cy="2847975"/>
            </a:xfrm>
            <a:custGeom>
              <a:avLst/>
              <a:gdLst/>
              <a:ahLst/>
              <a:cxnLst/>
              <a:rect l="l" t="t" r="r" b="b"/>
              <a:pathLst>
                <a:path w="9525" h="2847975">
                  <a:moveTo>
                    <a:pt x="0" y="0"/>
                  </a:moveTo>
                  <a:lnTo>
                    <a:pt x="0" y="2847975"/>
                  </a:lnTo>
                </a:path>
              </a:pathLst>
            </a:custGeom>
            <a:noFill/>
            <a:ln w="47625">
              <a:solidFill>
                <a:schemeClr val="accent6"/>
              </a:solidFill>
            </a:ln>
          </p:spPr>
        </p:sp>
        <p:grpSp>
          <p:nvGrpSpPr>
            <p:cNvPr id="10" name="Group 10"/>
            <p:cNvGrpSpPr/>
            <p:nvPr/>
          </p:nvGrpSpPr>
          <p:grpSpPr>
            <a:xfrm>
              <a:off x="628650" y="2057400"/>
              <a:ext cx="266700" cy="3124200"/>
              <a:chOff x="628650" y="2057400"/>
              <a:chExt cx="266700" cy="3124200"/>
            </a:xfrm>
          </p:grpSpPr>
          <p:sp>
            <p:nvSpPr>
              <p:cNvPr id="6" name="Ellipse 6"/>
              <p:cNvSpPr/>
              <p:nvPr/>
            </p:nvSpPr>
            <p:spPr>
              <a:xfrm>
                <a:off x="628650" y="2057400"/>
                <a:ext cx="266700" cy="266700"/>
              </a:xfrm>
              <a:prstGeom prst="ellipse">
                <a:avLst/>
              </a:prstGeom>
              <a:solidFill>
                <a:schemeClr val="accent1"/>
              </a:solidFill>
              <a:ln>
                <a:noFill/>
              </a:ln>
            </p:spPr>
          </p:sp>
          <p:sp>
            <p:nvSpPr>
              <p:cNvPr id="7" name="Ellipse 7"/>
              <p:cNvSpPr/>
              <p:nvPr/>
            </p:nvSpPr>
            <p:spPr>
              <a:xfrm>
                <a:off x="628650" y="3009900"/>
                <a:ext cx="266700" cy="266700"/>
              </a:xfrm>
              <a:prstGeom prst="ellipse">
                <a:avLst/>
              </a:prstGeom>
              <a:solidFill>
                <a:schemeClr val="accent1"/>
              </a:solidFill>
              <a:ln>
                <a:noFill/>
              </a:ln>
            </p:spPr>
          </p:sp>
          <p:sp>
            <p:nvSpPr>
              <p:cNvPr id="8" name="Ellipse 8"/>
              <p:cNvSpPr/>
              <p:nvPr/>
            </p:nvSpPr>
            <p:spPr>
              <a:xfrm>
                <a:off x="628650" y="3962400"/>
                <a:ext cx="266700" cy="266700"/>
              </a:xfrm>
              <a:prstGeom prst="ellipse">
                <a:avLst/>
              </a:prstGeom>
              <a:solidFill>
                <a:schemeClr val="accent1"/>
              </a:solidFill>
              <a:ln>
                <a:noFill/>
              </a:ln>
            </p:spPr>
          </p:sp>
          <p:sp>
            <p:nvSpPr>
              <p:cNvPr id="9" name="Ellipse 9"/>
              <p:cNvSpPr/>
              <p:nvPr/>
            </p:nvSpPr>
            <p:spPr>
              <a:xfrm>
                <a:off x="628650" y="4914900"/>
                <a:ext cx="266700" cy="266700"/>
              </a:xfrm>
              <a:prstGeom prst="ellipse">
                <a:avLst/>
              </a:prstGeom>
              <a:solidFill>
                <a:schemeClr val="accent1"/>
              </a:solidFill>
              <a:ln>
                <a:noFill/>
              </a:ln>
            </p:spPr>
          </p:sp>
        </p:grpSp>
        <p:grpSp>
          <p:nvGrpSpPr>
            <p:cNvPr id="15" name="Group 15"/>
            <p:cNvGrpSpPr/>
            <p:nvPr/>
          </p:nvGrpSpPr>
          <p:grpSpPr>
            <a:xfrm>
              <a:off x="1199007" y="2059305"/>
              <a:ext cx="7441997" cy="3268218"/>
              <a:chOff x="1199007" y="2059305"/>
              <a:chExt cx="7441997" cy="3268218"/>
            </a:xfrm>
          </p:grpSpPr>
          <p:sp>
            <p:nvSpPr>
              <p:cNvPr id="11" name="TextBox 11"/>
              <p:cNvSpPr txBox="1"/>
              <p:nvPr/>
            </p:nvSpPr>
            <p:spPr>
              <a:xfrm>
                <a:off x="1199007" y="2059305"/>
                <a:ext cx="6042889"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活动负责人</a:t>
                </a:r>
                <a:r>
                  <a:rPr lang="zh-CN" sz="2100" dirty="0">
                    <a:solidFill>
                      <a:schemeClr val="dk1"/>
                    </a:solidFill>
                    <a:latin typeface="+mn-lt"/>
                    <a:ea typeface="+mn-ea"/>
                    <a:cs typeface="+mn-cs"/>
                  </a:rPr>
                  <a:t xml:space="preserve"> 确认权益变化、适用范围与生效条件</a:t>
                </a:r>
              </a:p>
            </p:txBody>
          </p:sp>
          <p:sp>
            <p:nvSpPr>
              <p:cNvPr id="12" name="TextBox 12"/>
              <p:cNvSpPr txBox="1"/>
              <p:nvPr/>
            </p:nvSpPr>
            <p:spPr>
              <a:xfrm>
                <a:off x="1199007" y="3011805"/>
                <a:ext cx="7441997"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程序</a:t>
                </a:r>
                <a:r>
                  <a:rPr lang="zh-CN" sz="2100" dirty="0">
                    <a:solidFill>
                      <a:schemeClr val="dk1"/>
                    </a:solidFill>
                    <a:latin typeface="+mn-lt"/>
                    <a:ea typeface="+mn-ea"/>
                    <a:cs typeface="+mn-cs"/>
                  </a:rPr>
                  <a:t xml:space="preserve"> 按SKU、活动、使用状态筛选；未知状态保留待确认</a:t>
                </a:r>
              </a:p>
            </p:txBody>
          </p:sp>
          <p:sp>
            <p:nvSpPr>
              <p:cNvPr id="13" name="TextBox 13"/>
              <p:cNvSpPr txBox="1"/>
              <p:nvPr/>
            </p:nvSpPr>
            <p:spPr>
              <a:xfrm>
                <a:off x="1199007" y="3964305"/>
                <a:ext cx="6283185"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模型辅助</a:t>
                </a:r>
                <a:r>
                  <a:rPr lang="zh-CN" sz="2100" dirty="0">
                    <a:solidFill>
                      <a:schemeClr val="dk1"/>
                    </a:solidFill>
                    <a:latin typeface="+mn-lt"/>
                    <a:ea typeface="+mn-ea"/>
                    <a:cs typeface="+mn-cs"/>
                  </a:rPr>
                  <a:t xml:space="preserve"> 区分“前200名赠”与“赠品已用完”的表达</a:t>
                </a:r>
              </a:p>
            </p:txBody>
          </p:sp>
          <p:sp>
            <p:nvSpPr>
              <p:cNvPr id="14" name="TextBox 14"/>
              <p:cNvSpPr txBox="1"/>
              <p:nvPr/>
            </p:nvSpPr>
            <p:spPr>
              <a:xfrm>
                <a:off x="1199007" y="4916805"/>
                <a:ext cx="6890995"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内容负责人</a:t>
                </a:r>
                <a:r>
                  <a:rPr lang="zh-CN" sz="2100" dirty="0">
                    <a:solidFill>
                      <a:schemeClr val="dk1"/>
                    </a:solidFill>
                    <a:latin typeface="+mn-lt"/>
                    <a:ea typeface="+mn-ea"/>
                    <a:cs typeface="+mn-cs"/>
                  </a:rPr>
                  <a:t xml:space="preserve"> 核实实际在用版本，决定更新、说明或暂停</a:t>
                </a:r>
              </a:p>
            </p:txBody>
          </p:sp>
        </p:grpSp>
      </p:grpSp>
      <p:grpSp>
        <p:nvGrpSpPr>
          <p:cNvPr id="18" name="Group 18"/>
          <p:cNvGrpSpPr/>
          <p:nvPr/>
        </p:nvGrpSpPr>
        <p:grpSpPr>
          <a:xfrm>
            <a:off x="446532" y="5764530"/>
            <a:ext cx="7682560" cy="410718"/>
            <a:chOff x="446532" y="5764530"/>
            <a:chExt cx="7682560" cy="410718"/>
          </a:xfrm>
        </p:grpSpPr>
        <p:sp>
          <p:nvSpPr>
            <p:cNvPr id="17" name="TextBox 17"/>
            <p:cNvSpPr txBox="1"/>
            <p:nvPr/>
          </p:nvSpPr>
          <p:spPr>
            <a:xfrm>
              <a:off x="446532" y="5764530"/>
              <a:ext cx="7682560"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“搜到了词”只是线索，不是问题成立，更不是自动下架授权。</a:t>
              </a:r>
            </a:p>
          </p:txBody>
        </p:sp>
      </p:grpSp>
      <p:grpSp>
        <p:nvGrpSpPr>
          <p:cNvPr id="30" name="Group 30"/>
          <p:cNvGrpSpPr/>
          <p:nvPr/>
        </p:nvGrpSpPr>
        <p:grpSpPr>
          <a:xfrm>
            <a:off x="0" y="6286500"/>
            <a:ext cx="12192000" cy="571500"/>
            <a:chOff x="0" y="6286500"/>
            <a:chExt cx="12192000" cy="571500"/>
          </a:xfrm>
        </p:grpSpPr>
        <p:sp>
          <p:nvSpPr>
            <p:cNvPr id="19" name="Rectangle 19"/>
            <p:cNvSpPr/>
            <p:nvPr/>
          </p:nvSpPr>
          <p:spPr>
            <a:xfrm>
              <a:off x="0" y="6286500"/>
              <a:ext cx="12192000" cy="571500"/>
            </a:xfrm>
            <a:prstGeom prst="rect">
              <a:avLst/>
            </a:prstGeom>
            <a:solidFill>
              <a:srgbClr val="FFFFFF"/>
            </a:solidFill>
            <a:ln>
              <a:noFill/>
            </a:ln>
          </p:spPr>
        </p:sp>
        <p:sp>
          <p:nvSpPr>
            <p:cNvPr id="20" name="Line 20"/>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8" name="Group 28"/>
            <p:cNvGrpSpPr/>
            <p:nvPr/>
          </p:nvGrpSpPr>
          <p:grpSpPr>
            <a:xfrm>
              <a:off x="451866" y="6468428"/>
              <a:ext cx="9783070" cy="205359"/>
              <a:chOff x="451866" y="6468428"/>
              <a:chExt cx="9783070" cy="205359"/>
            </a:xfrm>
          </p:grpSpPr>
          <p:sp>
            <p:nvSpPr>
              <p:cNvPr id="21" name="TextBox 21"/>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2" name="TextBox 22"/>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3" name="TextBox 23"/>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4" name="TextBox 24"/>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5" name="TextBox 25"/>
              <p:cNvSpPr txBox="1"/>
              <p:nvPr/>
            </p:nvSpPr>
            <p:spPr>
              <a:xfrm>
                <a:off x="650976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5 能力分工</a:t>
                </a:r>
              </a:p>
            </p:txBody>
          </p:sp>
          <p:sp>
            <p:nvSpPr>
              <p:cNvPr id="26" name="TextBox 26"/>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7" name="TextBox 27"/>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29" name="TextBox 29"/>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40 / 70</a:t>
              </a:r>
            </a:p>
          </p:txBody>
        </p:sp>
      </p:grpSp>
    </p:spTree>
  </p:cSld>
  <p:clrMapOvr>
    <a:masterClrMapping/>
  </p:clrMapOvr>
  <p:transition xmlns:p14="http://schemas.microsoft.com/office/powerpoint/2010/main" p14:dur="400">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664958" cy="1038035"/>
            <a:chOff x="441198" y="428625"/>
            <a:chExt cx="7664958" cy="1038035"/>
          </a:xfrm>
        </p:grpSpPr>
        <p:sp>
          <p:nvSpPr>
            <p:cNvPr id="2" name="TextBox 2"/>
            <p:cNvSpPr txBox="1"/>
            <p:nvPr/>
          </p:nvSpPr>
          <p:spPr>
            <a:xfrm>
              <a:off x="449580" y="428625"/>
              <a:ext cx="337737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5.3 失败与人工交接</a:t>
              </a:r>
            </a:p>
          </p:txBody>
        </p:sp>
        <p:sp>
          <p:nvSpPr>
            <p:cNvPr id="3" name="TextBox 3"/>
            <p:cNvSpPr txBox="1"/>
            <p:nvPr/>
          </p:nvSpPr>
          <p:spPr>
            <a:xfrm>
              <a:off x="441198" y="850583"/>
              <a:ext cx="7664958"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缺资料、错引用、超时，分别交到哪里？</a:t>
              </a:r>
            </a:p>
          </p:txBody>
        </p:sp>
      </p:grpSp>
      <p:grpSp>
        <p:nvGrpSpPr>
          <p:cNvPr id="9" name="Group 9"/>
          <p:cNvGrpSpPr/>
          <p:nvPr/>
        </p:nvGrpSpPr>
        <p:grpSpPr>
          <a:xfrm>
            <a:off x="457200" y="1885950"/>
            <a:ext cx="3505200" cy="3171825"/>
            <a:chOff x="457200" y="1885950"/>
            <a:chExt cx="3505200" cy="3171825"/>
          </a:xfrm>
        </p:grpSpPr>
        <p:sp>
          <p:nvSpPr>
            <p:cNvPr id="5" name="Rectangle 5"/>
            <p:cNvSpPr/>
            <p:nvPr/>
          </p:nvSpPr>
          <p:spPr>
            <a:xfrm>
              <a:off x="457200" y="1885950"/>
              <a:ext cx="3505200" cy="3171825"/>
            </a:xfrm>
            <a:prstGeom prst="roundRect">
              <a:avLst>
                <a:gd name="adj" fmla="val 3604"/>
              </a:avLst>
            </a:prstGeom>
            <a:solidFill>
              <a:srgbClr val="FFFFFF"/>
            </a:solidFill>
            <a:ln>
              <a:noFill/>
            </a:ln>
          </p:spPr>
        </p:sp>
        <p:sp>
          <p:nvSpPr>
            <p:cNvPr id="6" name="TextBox 6"/>
            <p:cNvSpPr txBox="1"/>
            <p:nvPr/>
          </p:nvSpPr>
          <p:spPr>
            <a:xfrm>
              <a:off x="711708" y="2141220"/>
              <a:ext cx="1639824"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缺业务依据</a:t>
              </a:r>
            </a:p>
          </p:txBody>
        </p:sp>
        <p:sp>
          <p:nvSpPr>
            <p:cNvPr id="7" name="TextBox 7"/>
            <p:cNvSpPr txBox="1"/>
            <p:nvPr/>
          </p:nvSpPr>
          <p:spPr>
            <a:xfrm>
              <a:off x="713232" y="2830830"/>
              <a:ext cx="2154936" cy="13251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说明缺少什么</a:t>
              </a:r>
              <a:br/>
              <a:r>
                <a:rPr lang="zh-CN" sz="2100" dirty="0">
                  <a:solidFill>
                    <a:schemeClr val="dk1"/>
                  </a:solidFill>
                  <a:latin typeface="+mn-lt"/>
                  <a:ea typeface="+mn-ea"/>
                  <a:cs typeface="+mn-cs"/>
                </a:rPr>
                <a:t>交资料负责人确认</a:t>
              </a:r>
              <a:br/>
              <a:r>
                <a:rPr lang="zh-CN" sz="2100" dirty="0">
                  <a:solidFill>
                    <a:schemeClr val="dk1"/>
                  </a:solidFill>
                  <a:latin typeface="+mn-lt"/>
                  <a:ea typeface="+mn-ea"/>
                  <a:cs typeface="+mn-cs"/>
                </a:rPr>
                <a:t>不能用常识补事实</a:t>
              </a:r>
            </a:p>
          </p:txBody>
        </p:sp>
        <p:sp>
          <p:nvSpPr>
            <p:cNvPr id="8" name="TextBox 8"/>
            <p:cNvSpPr txBox="1"/>
            <p:nvPr/>
          </p:nvSpPr>
          <p:spPr>
            <a:xfrm>
              <a:off x="714756" y="4520565"/>
              <a:ext cx="1714500"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状态：信息不足</a:t>
              </a:r>
            </a:p>
          </p:txBody>
        </p:sp>
      </p:grpSp>
      <p:grpSp>
        <p:nvGrpSpPr>
          <p:cNvPr id="14" name="Group 14"/>
          <p:cNvGrpSpPr/>
          <p:nvPr/>
        </p:nvGrpSpPr>
        <p:grpSpPr>
          <a:xfrm>
            <a:off x="4343400" y="1885950"/>
            <a:ext cx="3505200" cy="3171825"/>
            <a:chOff x="4343400" y="1885950"/>
            <a:chExt cx="3505200" cy="3171825"/>
          </a:xfrm>
        </p:grpSpPr>
        <p:sp>
          <p:nvSpPr>
            <p:cNvPr id="10" name="Rectangle 10"/>
            <p:cNvSpPr/>
            <p:nvPr/>
          </p:nvSpPr>
          <p:spPr>
            <a:xfrm>
              <a:off x="4343400" y="1885950"/>
              <a:ext cx="3505200" cy="3171825"/>
            </a:xfrm>
            <a:prstGeom prst="roundRect">
              <a:avLst>
                <a:gd name="adj" fmla="val 3604"/>
              </a:avLst>
            </a:prstGeom>
            <a:solidFill>
              <a:srgbClr val="FFFFFF"/>
            </a:solidFill>
            <a:ln>
              <a:noFill/>
            </a:ln>
          </p:spPr>
        </p:sp>
        <p:sp>
          <p:nvSpPr>
            <p:cNvPr id="11" name="TextBox 11"/>
            <p:cNvSpPr txBox="1"/>
            <p:nvPr/>
          </p:nvSpPr>
          <p:spPr>
            <a:xfrm>
              <a:off x="4597908" y="2141220"/>
              <a:ext cx="2286000"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原句或引用无效</a:t>
              </a:r>
            </a:p>
          </p:txBody>
        </p:sp>
        <p:sp>
          <p:nvSpPr>
            <p:cNvPr id="12" name="TextBox 12"/>
            <p:cNvSpPr txBox="1"/>
            <p:nvPr/>
          </p:nvSpPr>
          <p:spPr>
            <a:xfrm>
              <a:off x="4599432" y="2830830"/>
              <a:ext cx="2421636" cy="13251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保留校验失败位置</a:t>
              </a:r>
              <a:br/>
              <a:r>
                <a:rPr lang="zh-CN" sz="2100" dirty="0">
                  <a:solidFill>
                    <a:schemeClr val="dk1"/>
                  </a:solidFill>
                  <a:latin typeface="+mn-lt"/>
                  <a:ea typeface="+mn-ea"/>
                  <a:cs typeface="+mn-cs"/>
                </a:rPr>
                <a:t>重试或人工核实</a:t>
              </a:r>
              <a:br/>
              <a:r>
                <a:rPr lang="zh-CN" sz="2100" dirty="0">
                  <a:solidFill>
                    <a:schemeClr val="dk1"/>
                  </a:solidFill>
                  <a:latin typeface="+mn-lt"/>
                  <a:ea typeface="+mn-ea"/>
                  <a:cs typeface="+mn-cs"/>
                </a:rPr>
                <a:t>不能假装已准确定位</a:t>
              </a:r>
            </a:p>
          </p:txBody>
        </p:sp>
        <p:sp>
          <p:nvSpPr>
            <p:cNvPr id="13" name="TextBox 13"/>
            <p:cNvSpPr txBox="1"/>
            <p:nvPr/>
          </p:nvSpPr>
          <p:spPr>
            <a:xfrm>
              <a:off x="4600956" y="4520565"/>
              <a:ext cx="195681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状态：未可靠完成</a:t>
              </a:r>
            </a:p>
          </p:txBody>
        </p:sp>
      </p:grpSp>
      <p:grpSp>
        <p:nvGrpSpPr>
          <p:cNvPr id="19" name="Group 19"/>
          <p:cNvGrpSpPr/>
          <p:nvPr/>
        </p:nvGrpSpPr>
        <p:grpSpPr>
          <a:xfrm>
            <a:off x="8229600" y="1885950"/>
            <a:ext cx="3505200" cy="3171825"/>
            <a:chOff x="8229600" y="1885950"/>
            <a:chExt cx="3505200" cy="3171825"/>
          </a:xfrm>
        </p:grpSpPr>
        <p:sp>
          <p:nvSpPr>
            <p:cNvPr id="15" name="Rectangle 15"/>
            <p:cNvSpPr/>
            <p:nvPr/>
          </p:nvSpPr>
          <p:spPr>
            <a:xfrm>
              <a:off x="8229600" y="1885950"/>
              <a:ext cx="3505200" cy="3171825"/>
            </a:xfrm>
            <a:prstGeom prst="roundRect">
              <a:avLst>
                <a:gd name="adj" fmla="val 3604"/>
              </a:avLst>
            </a:prstGeom>
            <a:solidFill>
              <a:srgbClr val="FFFFFF"/>
            </a:solidFill>
            <a:ln>
              <a:noFill/>
            </a:ln>
          </p:spPr>
        </p:sp>
        <p:sp>
          <p:nvSpPr>
            <p:cNvPr id="16" name="TextBox 16"/>
            <p:cNvSpPr txBox="1"/>
            <p:nvPr/>
          </p:nvSpPr>
          <p:spPr>
            <a:xfrm>
              <a:off x="8484108" y="2141220"/>
              <a:ext cx="1316736"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技术超时</a:t>
              </a:r>
            </a:p>
          </p:txBody>
        </p:sp>
        <p:sp>
          <p:nvSpPr>
            <p:cNvPr id="17" name="TextBox 17"/>
            <p:cNvSpPr txBox="1"/>
            <p:nvPr/>
          </p:nvSpPr>
          <p:spPr>
            <a:xfrm>
              <a:off x="8485632" y="2830830"/>
              <a:ext cx="2688336" cy="13251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已完成项继续保留</a:t>
              </a:r>
              <a:br/>
              <a:r>
                <a:rPr lang="zh-CN" sz="2100" dirty="0">
                  <a:solidFill>
                    <a:schemeClr val="dk1"/>
                  </a:solidFill>
                  <a:latin typeface="+mn-lt"/>
                  <a:ea typeface="+mn-ea"/>
                  <a:cs typeface="+mn-cs"/>
                </a:rPr>
                <a:t>失败项重试或人工补核</a:t>
              </a:r>
              <a:br/>
              <a:r>
                <a:rPr lang="zh-CN" sz="2100" dirty="0">
                  <a:solidFill>
                    <a:schemeClr val="dk1"/>
                  </a:solidFill>
                  <a:latin typeface="+mn-lt"/>
                  <a:ea typeface="+mn-ea"/>
                  <a:cs typeface="+mn-cs"/>
                </a:rPr>
                <a:t>不能悄悄变成绿色</a:t>
              </a:r>
            </a:p>
          </p:txBody>
        </p:sp>
        <p:sp>
          <p:nvSpPr>
            <p:cNvPr id="18" name="TextBox 18"/>
            <p:cNvSpPr txBox="1"/>
            <p:nvPr/>
          </p:nvSpPr>
          <p:spPr>
            <a:xfrm>
              <a:off x="8487156" y="4520565"/>
              <a:ext cx="195681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状态：执行未完成</a:t>
              </a:r>
            </a:p>
          </p:txBody>
        </p:sp>
      </p:grpSp>
      <p:grpSp>
        <p:nvGrpSpPr>
          <p:cNvPr id="21" name="Group 21"/>
          <p:cNvGrpSpPr/>
          <p:nvPr/>
        </p:nvGrpSpPr>
        <p:grpSpPr>
          <a:xfrm>
            <a:off x="446532" y="5621655"/>
            <a:ext cx="8502396" cy="410718"/>
            <a:chOff x="446532" y="5621655"/>
            <a:chExt cx="8502396" cy="410718"/>
          </a:xfrm>
        </p:grpSpPr>
        <p:sp>
          <p:nvSpPr>
            <p:cNvPr id="20" name="TextBox 20"/>
            <p:cNvSpPr txBox="1"/>
            <p:nvPr/>
          </p:nvSpPr>
          <p:spPr>
            <a:xfrm>
              <a:off x="446532" y="5621655"/>
              <a:ext cx="850239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同一事实判断冲突：带原句、依据与判断路径交人，不能简单投票。</a:t>
              </a:r>
            </a:p>
          </p:txBody>
        </p:sp>
      </p:grpSp>
      <p:grpSp>
        <p:nvGrpSpPr>
          <p:cNvPr id="33" name="Group 33"/>
          <p:cNvGrpSpPr/>
          <p:nvPr/>
        </p:nvGrpSpPr>
        <p:grpSpPr>
          <a:xfrm>
            <a:off x="0" y="6286500"/>
            <a:ext cx="12192000" cy="571500"/>
            <a:chOff x="0" y="6286500"/>
            <a:chExt cx="12192000" cy="571500"/>
          </a:xfrm>
        </p:grpSpPr>
        <p:sp>
          <p:nvSpPr>
            <p:cNvPr id="22" name="Rectangle 22"/>
            <p:cNvSpPr/>
            <p:nvPr/>
          </p:nvSpPr>
          <p:spPr>
            <a:xfrm>
              <a:off x="0" y="6286500"/>
              <a:ext cx="12192000" cy="571500"/>
            </a:xfrm>
            <a:prstGeom prst="rect">
              <a:avLst/>
            </a:prstGeom>
            <a:solidFill>
              <a:srgbClr val="FFFFFF"/>
            </a:solidFill>
            <a:ln>
              <a:noFill/>
            </a:ln>
          </p:spPr>
        </p:sp>
        <p:sp>
          <p:nvSpPr>
            <p:cNvPr id="23" name="Line 23"/>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31" name="Group 31"/>
            <p:cNvGrpSpPr/>
            <p:nvPr/>
          </p:nvGrpSpPr>
          <p:grpSpPr>
            <a:xfrm>
              <a:off x="451866" y="6468428"/>
              <a:ext cx="9783070" cy="205359"/>
              <a:chOff x="451866" y="6468428"/>
              <a:chExt cx="9783070" cy="205359"/>
            </a:xfrm>
          </p:grpSpPr>
          <p:sp>
            <p:nvSpPr>
              <p:cNvPr id="24" name="TextBox 24"/>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5" name="TextBox 25"/>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6" name="TextBox 26"/>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7" name="TextBox 27"/>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8" name="TextBox 28"/>
              <p:cNvSpPr txBox="1"/>
              <p:nvPr/>
            </p:nvSpPr>
            <p:spPr>
              <a:xfrm>
                <a:off x="650976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5 能力分工</a:t>
                </a:r>
              </a:p>
            </p:txBody>
          </p:sp>
          <p:sp>
            <p:nvSpPr>
              <p:cNvPr id="29" name="TextBox 29"/>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30" name="TextBox 30"/>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32" name="TextBox 32"/>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41 / 70</a:t>
              </a:r>
            </a:p>
          </p:txBody>
        </p:sp>
      </p:grpSp>
    </p:spTree>
  </p:cSld>
  <p:clrMapOvr>
    <a:masterClrMapping/>
  </p:clrMapOvr>
  <p:transition xmlns:p14="http://schemas.microsoft.com/office/powerpoint/2010/main" p14:dur="400">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240905" cy="1038035"/>
            <a:chOff x="441198" y="428625"/>
            <a:chExt cx="7240905" cy="1038035"/>
          </a:xfrm>
        </p:grpSpPr>
        <p:sp>
          <p:nvSpPr>
            <p:cNvPr id="2" name="TextBox 2"/>
            <p:cNvSpPr txBox="1"/>
            <p:nvPr/>
          </p:nvSpPr>
          <p:spPr>
            <a:xfrm>
              <a:off x="449580" y="428625"/>
              <a:ext cx="4417314"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第二篇·做方案 / 5.3 失败与人工交接 · 课堂练习</a:t>
              </a:r>
            </a:p>
          </p:txBody>
        </p:sp>
        <p:sp>
          <p:nvSpPr>
            <p:cNvPr id="3" name="TextBox 3"/>
            <p:cNvSpPr txBox="1"/>
            <p:nvPr/>
          </p:nvSpPr>
          <p:spPr>
            <a:xfrm>
              <a:off x="441198" y="850583"/>
              <a:ext cx="7240905"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解释你的分工，还要解释何时停止判断</a:t>
              </a:r>
            </a:p>
          </p:txBody>
        </p:sp>
      </p:grpSp>
      <p:grpSp>
        <p:nvGrpSpPr>
          <p:cNvPr id="8" name="Group 8"/>
          <p:cNvGrpSpPr/>
          <p:nvPr/>
        </p:nvGrpSpPr>
        <p:grpSpPr>
          <a:xfrm>
            <a:off x="441198" y="2126932"/>
            <a:ext cx="6398666" cy="983552"/>
            <a:chOff x="441198" y="2126932"/>
            <a:chExt cx="6398666" cy="983552"/>
          </a:xfrm>
        </p:grpSpPr>
        <p:sp>
          <p:nvSpPr>
            <p:cNvPr id="5" name="TextBox 5"/>
            <p:cNvSpPr txBox="1"/>
            <p:nvPr/>
          </p:nvSpPr>
          <p:spPr>
            <a:xfrm>
              <a:off x="441198" y="2126932"/>
              <a:ext cx="290756" cy="616077"/>
            </a:xfrm>
            <a:prstGeom prst="rect">
              <a:avLst/>
            </a:prstGeom>
            <a:noFill/>
            <a:ln>
              <a:noFill/>
            </a:ln>
          </p:spPr>
          <p:txBody>
            <a:bodyPr wrap="none" lIns="0" tIns="0" rIns="0" bIns="0" anchor="t" anchorCtr="0">
              <a:spAutoFit/>
            </a:bodyPr>
            <a:lstStyle/>
            <a:p>
              <a:pPr algn="l"/>
              <a:r>
                <a:rPr lang="zh-CN" sz="3150" b="1" dirty="0">
                  <a:solidFill>
                    <a:schemeClr val="accent3"/>
                  </a:solidFill>
                  <a:latin typeface="+mn-lt"/>
                  <a:ea typeface="+mn-ea"/>
                  <a:cs typeface="+mn-cs"/>
                </a:rPr>
                <a:t>A</a:t>
              </a:r>
            </a:p>
          </p:txBody>
        </p:sp>
        <p:sp>
          <p:nvSpPr>
            <p:cNvPr id="6" name="TextBox 6"/>
            <p:cNvSpPr txBox="1"/>
            <p:nvPr/>
          </p:nvSpPr>
          <p:spPr>
            <a:xfrm>
              <a:off x="1226058" y="2179320"/>
              <a:ext cx="5613806" cy="469392"/>
            </a:xfrm>
            <a:prstGeom prst="rect">
              <a:avLst/>
            </a:prstGeom>
            <a:noFill/>
            <a:ln>
              <a:noFill/>
            </a:ln>
          </p:spPr>
          <p:txBody>
            <a:bodyPr wrap="none" lIns="0" tIns="0" rIns="0" bIns="0" anchor="t" anchorCtr="0">
              <a:spAutoFit/>
            </a:bodyPr>
            <a:lstStyle/>
            <a:p>
              <a:pPr algn="l"/>
              <a:r>
                <a:rPr lang="zh-CN" sz="2400" dirty="0">
                  <a:solidFill>
                    <a:srgbClr val="FFFFFF"/>
                  </a:solidFill>
                  <a:latin typeface="+mn-lt"/>
                  <a:ea typeface="+mn-ea"/>
                  <a:cs typeface="+mn-cs"/>
                </a:rPr>
                <a:t>“新会员领券1799元”，表达是否完整？</a:t>
              </a:r>
            </a:p>
          </p:txBody>
        </p:sp>
        <p:sp>
          <p:nvSpPr>
            <p:cNvPr id="7" name="TextBox 7"/>
            <p:cNvSpPr txBox="1"/>
            <p:nvPr/>
          </p:nvSpPr>
          <p:spPr>
            <a:xfrm>
              <a:off x="1229106" y="2758440"/>
              <a:ext cx="5106924"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需要核对的条件，是否已经在全文中交代清楚？</a:t>
              </a:r>
            </a:p>
          </p:txBody>
        </p:sp>
      </p:grpSp>
      <p:grpSp>
        <p:nvGrpSpPr>
          <p:cNvPr id="12" name="Group 12"/>
          <p:cNvGrpSpPr/>
          <p:nvPr/>
        </p:nvGrpSpPr>
        <p:grpSpPr>
          <a:xfrm>
            <a:off x="441198" y="3574732"/>
            <a:ext cx="6137148" cy="983552"/>
            <a:chOff x="441198" y="3574732"/>
            <a:chExt cx="6137148" cy="983552"/>
          </a:xfrm>
        </p:grpSpPr>
        <p:sp>
          <p:nvSpPr>
            <p:cNvPr id="9" name="TextBox 9"/>
            <p:cNvSpPr txBox="1"/>
            <p:nvPr/>
          </p:nvSpPr>
          <p:spPr>
            <a:xfrm>
              <a:off x="441198" y="3574732"/>
              <a:ext cx="290756" cy="616077"/>
            </a:xfrm>
            <a:prstGeom prst="rect">
              <a:avLst/>
            </a:prstGeom>
            <a:noFill/>
            <a:ln>
              <a:noFill/>
            </a:ln>
          </p:spPr>
          <p:txBody>
            <a:bodyPr wrap="none" lIns="0" tIns="0" rIns="0" bIns="0" anchor="t" anchorCtr="0">
              <a:spAutoFit/>
            </a:bodyPr>
            <a:lstStyle/>
            <a:p>
              <a:pPr algn="l"/>
              <a:r>
                <a:rPr lang="zh-CN" sz="3150" b="1" dirty="0">
                  <a:solidFill>
                    <a:schemeClr val="accent3"/>
                  </a:solidFill>
                  <a:latin typeface="+mn-lt"/>
                  <a:ea typeface="+mn-ea"/>
                  <a:cs typeface="+mn-cs"/>
                </a:rPr>
                <a:t>B</a:t>
              </a:r>
            </a:p>
          </p:txBody>
        </p:sp>
        <p:sp>
          <p:nvSpPr>
            <p:cNvPr id="10" name="TextBox 10"/>
            <p:cNvSpPr txBox="1"/>
            <p:nvPr/>
          </p:nvSpPr>
          <p:spPr>
            <a:xfrm>
              <a:off x="1226058" y="3627120"/>
              <a:ext cx="5193792" cy="469392"/>
            </a:xfrm>
            <a:prstGeom prst="rect">
              <a:avLst/>
            </a:prstGeom>
            <a:noFill/>
            <a:ln>
              <a:noFill/>
            </a:ln>
          </p:spPr>
          <p:txBody>
            <a:bodyPr wrap="none" lIns="0" tIns="0" rIns="0" bIns="0" anchor="t" anchorCtr="0">
              <a:spAutoFit/>
            </a:bodyPr>
            <a:lstStyle/>
            <a:p>
              <a:pPr algn="l"/>
              <a:r>
                <a:rPr lang="zh-CN" sz="2400" dirty="0">
                  <a:solidFill>
                    <a:srgbClr val="FFFFFF"/>
                  </a:solidFill>
                  <a:latin typeface="+mn-lt"/>
                  <a:ea typeface="+mn-ea"/>
                  <a:cs typeface="+mn-cs"/>
                </a:rPr>
                <a:t>赠品用完后，找出在用的旧赠送承诺</a:t>
              </a:r>
            </a:p>
          </p:txBody>
        </p:sp>
        <p:sp>
          <p:nvSpPr>
            <p:cNvPr id="11" name="TextBox 11"/>
            <p:cNvSpPr txBox="1"/>
            <p:nvPr/>
          </p:nvSpPr>
          <p:spPr>
            <a:xfrm>
              <a:off x="1229106" y="4206240"/>
              <a:ext cx="5349240"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范围、语义、当前权益和实际使用，分别谁负责？</a:t>
              </a:r>
            </a:p>
          </p:txBody>
        </p:sp>
      </p:grpSp>
      <p:grpSp>
        <p:nvGrpSpPr>
          <p:cNvPr id="16" name="Group 16"/>
          <p:cNvGrpSpPr/>
          <p:nvPr/>
        </p:nvGrpSpPr>
        <p:grpSpPr>
          <a:xfrm>
            <a:off x="446532" y="5219700"/>
            <a:ext cx="11288268" cy="1012698"/>
            <a:chOff x="446532" y="5219700"/>
            <a:chExt cx="11288268" cy="1012698"/>
          </a:xfrm>
        </p:grpSpPr>
        <p:sp>
          <p:nvSpPr>
            <p:cNvPr id="13" name="Line 13"/>
            <p:cNvSpPr/>
            <p:nvPr/>
          </p:nvSpPr>
          <p:spPr>
            <a:xfrm>
              <a:off x="457200" y="5219700"/>
              <a:ext cx="11277600" cy="9525"/>
            </a:xfrm>
            <a:custGeom>
              <a:avLst/>
              <a:gdLst/>
              <a:ahLst/>
              <a:cxnLst/>
              <a:rect l="l" t="t" r="r" b="b"/>
              <a:pathLst>
                <a:path w="11277600" h="9525">
                  <a:moveTo>
                    <a:pt x="0" y="0"/>
                  </a:moveTo>
                  <a:lnTo>
                    <a:pt x="11277600" y="0"/>
                  </a:lnTo>
                </a:path>
              </a:pathLst>
            </a:custGeom>
            <a:noFill/>
            <a:ln w="19050">
              <a:solidFill>
                <a:srgbClr val="617673"/>
              </a:solidFill>
            </a:ln>
          </p:spPr>
        </p:sp>
        <p:sp>
          <p:nvSpPr>
            <p:cNvPr id="14" name="TextBox 14"/>
            <p:cNvSpPr txBox="1"/>
            <p:nvPr/>
          </p:nvSpPr>
          <p:spPr>
            <a:xfrm>
              <a:off x="446532" y="5393055"/>
              <a:ext cx="5237188"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写出：资料 / 程序 / 模型 / 人工各做什么</a:t>
              </a:r>
            </a:p>
          </p:txBody>
        </p:sp>
        <p:sp>
          <p:nvSpPr>
            <p:cNvPr id="15" name="TextBox 15"/>
            <p:cNvSpPr txBox="1"/>
            <p:nvPr/>
          </p:nvSpPr>
          <p:spPr>
            <a:xfrm>
              <a:off x="446532" y="5821680"/>
              <a:ext cx="3979164" cy="410718"/>
            </a:xfrm>
            <a:prstGeom prst="rect">
              <a:avLst/>
            </a:prstGeom>
            <a:noFill/>
            <a:ln>
              <a:noFill/>
            </a:ln>
          </p:spPr>
          <p:txBody>
            <a:bodyPr wrap="none" lIns="0" tIns="0" rIns="0" bIns="0" anchor="t" anchorCtr="0">
              <a:spAutoFit/>
            </a:bodyPr>
            <a:lstStyle/>
            <a:p>
              <a:pPr algn="l"/>
              <a:r>
                <a:rPr lang="zh-CN" sz="2100" dirty="0">
                  <a:solidFill>
                    <a:srgbClr val="E8F2EF"/>
                  </a:solidFill>
                  <a:latin typeface="+mn-lt"/>
                  <a:ea typeface="+mn-ea"/>
                  <a:cs typeface="+mn-cs"/>
                </a:rPr>
                <a:t>再补一个无法继续判断的条件。</a:t>
              </a:r>
            </a:p>
          </p:txBody>
        </p:sp>
      </p:grpSp>
      <p:grpSp>
        <p:nvGrpSpPr>
          <p:cNvPr id="28" name="Group 28"/>
          <p:cNvGrpSpPr/>
          <p:nvPr/>
        </p:nvGrpSpPr>
        <p:grpSpPr>
          <a:xfrm>
            <a:off x="0" y="6286500"/>
            <a:ext cx="12192000" cy="571500"/>
            <a:chOff x="0" y="6286500"/>
            <a:chExt cx="12192000" cy="571500"/>
          </a:xfrm>
        </p:grpSpPr>
        <p:sp>
          <p:nvSpPr>
            <p:cNvPr id="17" name="Rectangle 17"/>
            <p:cNvSpPr/>
            <p:nvPr/>
          </p:nvSpPr>
          <p:spPr>
            <a:xfrm>
              <a:off x="0" y="6286500"/>
              <a:ext cx="12192000" cy="571500"/>
            </a:xfrm>
            <a:prstGeom prst="rect">
              <a:avLst/>
            </a:prstGeom>
            <a:solidFill>
              <a:srgbClr val="FFFFFF"/>
            </a:solidFill>
            <a:ln>
              <a:noFill/>
            </a:ln>
          </p:spPr>
        </p:sp>
        <p:sp>
          <p:nvSpPr>
            <p:cNvPr id="18" name="Line 18"/>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6" name="Group 26"/>
            <p:cNvGrpSpPr/>
            <p:nvPr/>
          </p:nvGrpSpPr>
          <p:grpSpPr>
            <a:xfrm>
              <a:off x="451866" y="6468428"/>
              <a:ext cx="9783070" cy="205359"/>
              <a:chOff x="451866" y="6468428"/>
              <a:chExt cx="9783070" cy="205359"/>
            </a:xfrm>
          </p:grpSpPr>
          <p:sp>
            <p:nvSpPr>
              <p:cNvPr id="19" name="TextBox 19"/>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0" name="TextBox 20"/>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1" name="TextBox 21"/>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2" name="TextBox 22"/>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3" name="TextBox 23"/>
              <p:cNvSpPr txBox="1"/>
              <p:nvPr/>
            </p:nvSpPr>
            <p:spPr>
              <a:xfrm>
                <a:off x="650976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5 能力分工</a:t>
                </a:r>
              </a:p>
            </p:txBody>
          </p:sp>
          <p:sp>
            <p:nvSpPr>
              <p:cNvPr id="24" name="TextBox 24"/>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5" name="TextBox 25"/>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27" name="TextBox 27"/>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42 / 70</a:t>
              </a:r>
            </a:p>
          </p:txBody>
        </p:sp>
      </p:grpSp>
    </p:spTree>
  </p:cSld>
  <p:clrMapOvr>
    <a:masterClrMapping/>
  </p:clrMapOvr>
  <p:transition xmlns:p14="http://schemas.microsoft.com/office/powerpoint/2010/main" p14:dur="400">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061743" cy="1038035"/>
            <a:chOff x="441198" y="428625"/>
            <a:chExt cx="7061743" cy="1038035"/>
          </a:xfrm>
        </p:grpSpPr>
        <p:sp>
          <p:nvSpPr>
            <p:cNvPr id="2" name="TextBox 2"/>
            <p:cNvSpPr txBox="1"/>
            <p:nvPr/>
          </p:nvSpPr>
          <p:spPr>
            <a:xfrm>
              <a:off x="449580" y="428625"/>
              <a:ext cx="2488882"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第5章小结</a:t>
              </a:r>
            </a:p>
          </p:txBody>
        </p:sp>
        <p:sp>
          <p:nvSpPr>
            <p:cNvPr id="3" name="TextBox 3"/>
            <p:cNvSpPr txBox="1"/>
            <p:nvPr/>
          </p:nvSpPr>
          <p:spPr>
            <a:xfrm>
              <a:off x="441198" y="850583"/>
              <a:ext cx="706174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产物⑤：一条有依据、有校验的执行链</a:t>
              </a:r>
            </a:p>
          </p:txBody>
        </p:sp>
      </p:grpSp>
      <p:grpSp>
        <p:nvGrpSpPr>
          <p:cNvPr id="6" name="Group 6"/>
          <p:cNvGrpSpPr/>
          <p:nvPr/>
        </p:nvGrpSpPr>
        <p:grpSpPr>
          <a:xfrm>
            <a:off x="446532" y="1849755"/>
            <a:ext cx="7055815" cy="410718"/>
            <a:chOff x="446532" y="1849755"/>
            <a:chExt cx="7055815" cy="410718"/>
          </a:xfrm>
        </p:grpSpPr>
        <p:sp>
          <p:nvSpPr>
            <p:cNvPr id="5" name="TextBox 5"/>
            <p:cNvSpPr txBox="1"/>
            <p:nvPr/>
          </p:nvSpPr>
          <p:spPr>
            <a:xfrm>
              <a:off x="446532" y="1849755"/>
              <a:ext cx="705581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输入：全文 + P1与活动 + 当前有效资料 + 适用审核点</a:t>
              </a:r>
            </a:p>
          </p:txBody>
        </p:sp>
      </p:grpSp>
      <p:grpSp>
        <p:nvGrpSpPr>
          <p:cNvPr id="27" name="Group 27"/>
          <p:cNvGrpSpPr/>
          <p:nvPr/>
        </p:nvGrpSpPr>
        <p:grpSpPr>
          <a:xfrm>
            <a:off x="457200" y="2543175"/>
            <a:ext cx="11277600" cy="1676400"/>
            <a:chOff x="457200" y="2543175"/>
            <a:chExt cx="11277600" cy="1676400"/>
          </a:xfrm>
        </p:grpSpPr>
        <p:sp>
          <p:nvSpPr>
            <p:cNvPr id="7" name="Line 7"/>
            <p:cNvSpPr/>
            <p:nvPr/>
          </p:nvSpPr>
          <p:spPr>
            <a:xfrm>
              <a:off x="1714500" y="2990850"/>
              <a:ext cx="8724900" cy="9525"/>
            </a:xfrm>
            <a:custGeom>
              <a:avLst/>
              <a:gdLst/>
              <a:ahLst/>
              <a:cxnLst/>
              <a:rect l="l" t="t" r="r" b="b"/>
              <a:pathLst>
                <a:path w="8724900" h="9525">
                  <a:moveTo>
                    <a:pt x="0" y="0"/>
                  </a:moveTo>
                  <a:lnTo>
                    <a:pt x="8724900" y="0"/>
                  </a:lnTo>
                </a:path>
              </a:pathLst>
            </a:custGeom>
            <a:noFill/>
            <a:ln w="38100">
              <a:solidFill>
                <a:schemeClr val="accent1"/>
              </a:solidFill>
            </a:ln>
          </p:spPr>
        </p:sp>
        <p:grpSp>
          <p:nvGrpSpPr>
            <p:cNvPr id="12" name="Group 12"/>
            <p:cNvGrpSpPr/>
            <p:nvPr/>
          </p:nvGrpSpPr>
          <p:grpSpPr>
            <a:xfrm>
              <a:off x="457200" y="2543175"/>
              <a:ext cx="11277600" cy="1676400"/>
              <a:chOff x="457200" y="2543175"/>
              <a:chExt cx="11277600" cy="1676400"/>
            </a:xfrm>
          </p:grpSpPr>
          <p:sp>
            <p:nvSpPr>
              <p:cNvPr id="8" name="Rectangle 8"/>
              <p:cNvSpPr/>
              <p:nvPr/>
            </p:nvSpPr>
            <p:spPr>
              <a:xfrm>
                <a:off x="457200" y="2543175"/>
                <a:ext cx="2571750" cy="1676400"/>
              </a:xfrm>
              <a:prstGeom prst="roundRect">
                <a:avLst>
                  <a:gd name="adj" fmla="val 6818"/>
                </a:avLst>
              </a:prstGeom>
              <a:solidFill>
                <a:schemeClr val="lt2"/>
              </a:solidFill>
              <a:ln>
                <a:noFill/>
              </a:ln>
            </p:spPr>
          </p:sp>
          <p:sp>
            <p:nvSpPr>
              <p:cNvPr id="9" name="Rectangle 9"/>
              <p:cNvSpPr/>
              <p:nvPr/>
            </p:nvSpPr>
            <p:spPr>
              <a:xfrm>
                <a:off x="3362325" y="2543175"/>
                <a:ext cx="2571750" cy="1676400"/>
              </a:xfrm>
              <a:prstGeom prst="roundRect">
                <a:avLst>
                  <a:gd name="adj" fmla="val 6818"/>
                </a:avLst>
              </a:prstGeom>
              <a:solidFill>
                <a:schemeClr val="lt2"/>
              </a:solidFill>
              <a:ln>
                <a:noFill/>
              </a:ln>
            </p:spPr>
          </p:sp>
          <p:sp>
            <p:nvSpPr>
              <p:cNvPr id="10" name="Rectangle 10"/>
              <p:cNvSpPr/>
              <p:nvPr/>
            </p:nvSpPr>
            <p:spPr>
              <a:xfrm>
                <a:off x="6267450" y="2543175"/>
                <a:ext cx="2571750" cy="1676400"/>
              </a:xfrm>
              <a:prstGeom prst="roundRect">
                <a:avLst>
                  <a:gd name="adj" fmla="val 6818"/>
                </a:avLst>
              </a:prstGeom>
              <a:solidFill>
                <a:schemeClr val="lt2"/>
              </a:solidFill>
              <a:ln>
                <a:noFill/>
              </a:ln>
            </p:spPr>
          </p:sp>
          <p:sp>
            <p:nvSpPr>
              <p:cNvPr id="11" name="Rectangle 11"/>
              <p:cNvSpPr/>
              <p:nvPr/>
            </p:nvSpPr>
            <p:spPr>
              <a:xfrm>
                <a:off x="9172575" y="2543175"/>
                <a:ext cx="2562225" cy="1676400"/>
              </a:xfrm>
              <a:prstGeom prst="roundRect">
                <a:avLst>
                  <a:gd name="adj" fmla="val 6818"/>
                </a:avLst>
              </a:prstGeom>
              <a:solidFill>
                <a:schemeClr val="lt2"/>
              </a:solidFill>
              <a:ln>
                <a:noFill/>
              </a:ln>
            </p:spPr>
          </p:sp>
        </p:grpSp>
        <p:grpSp>
          <p:nvGrpSpPr>
            <p:cNvPr id="17" name="Group 17"/>
            <p:cNvGrpSpPr/>
            <p:nvPr/>
          </p:nvGrpSpPr>
          <p:grpSpPr>
            <a:xfrm>
              <a:off x="673608" y="2788920"/>
              <a:ext cx="10355199" cy="469392"/>
              <a:chOff x="673608" y="2788920"/>
              <a:chExt cx="10355199" cy="469392"/>
            </a:xfrm>
          </p:grpSpPr>
          <p:sp>
            <p:nvSpPr>
              <p:cNvPr id="13" name="TextBox 13"/>
              <p:cNvSpPr txBox="1"/>
              <p:nvPr/>
            </p:nvSpPr>
            <p:spPr>
              <a:xfrm>
                <a:off x="673608" y="2788920"/>
                <a:ext cx="163982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程序取依据</a:t>
                </a:r>
              </a:p>
            </p:txBody>
          </p:sp>
          <p:sp>
            <p:nvSpPr>
              <p:cNvPr id="14" name="TextBox 14"/>
              <p:cNvSpPr txBox="1"/>
              <p:nvPr/>
            </p:nvSpPr>
            <p:spPr>
              <a:xfrm>
                <a:off x="3578733" y="2788920"/>
                <a:ext cx="163982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模型读语义</a:t>
                </a:r>
              </a:p>
            </p:txBody>
          </p:sp>
          <p:sp>
            <p:nvSpPr>
              <p:cNvPr id="15" name="TextBox 15"/>
              <p:cNvSpPr txBox="1"/>
              <p:nvPr/>
            </p:nvSpPr>
            <p:spPr>
              <a:xfrm>
                <a:off x="6483858" y="2788920"/>
                <a:ext cx="163982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校验并合并</a:t>
                </a:r>
              </a:p>
            </p:txBody>
          </p:sp>
          <p:sp>
            <p:nvSpPr>
              <p:cNvPr id="16" name="TextBox 16"/>
              <p:cNvSpPr txBox="1"/>
              <p:nvPr/>
            </p:nvSpPr>
            <p:spPr>
              <a:xfrm>
                <a:off x="9388983" y="2788920"/>
                <a:ext cx="163982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人工作决定</a:t>
                </a:r>
              </a:p>
            </p:txBody>
          </p:sp>
        </p:grpSp>
        <p:grpSp>
          <p:nvGrpSpPr>
            <p:cNvPr id="26" name="Group 26"/>
            <p:cNvGrpSpPr/>
            <p:nvPr/>
          </p:nvGrpSpPr>
          <p:grpSpPr>
            <a:xfrm>
              <a:off x="676656" y="3396615"/>
              <a:ext cx="10914507" cy="733044"/>
              <a:chOff x="676656" y="3396615"/>
              <a:chExt cx="10914507" cy="733044"/>
            </a:xfrm>
          </p:grpSpPr>
          <p:sp>
            <p:nvSpPr>
              <p:cNvPr id="18" name="TextBox 18"/>
              <p:cNvSpPr txBox="1"/>
              <p:nvPr/>
            </p:nvSpPr>
            <p:spPr>
              <a:xfrm>
                <a:off x="676656" y="3396615"/>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核对上下文与有效性</a:t>
                </a:r>
              </a:p>
            </p:txBody>
          </p:sp>
          <p:sp>
            <p:nvSpPr>
              <p:cNvPr id="19" name="TextBox 19"/>
              <p:cNvSpPr txBox="1"/>
              <p:nvPr/>
            </p:nvSpPr>
            <p:spPr>
              <a:xfrm>
                <a:off x="3581781" y="3396615"/>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识别对象与资格条件</a:t>
                </a:r>
              </a:p>
            </p:txBody>
          </p:sp>
          <p:sp>
            <p:nvSpPr>
              <p:cNvPr id="20" name="TextBox 20"/>
              <p:cNvSpPr txBox="1"/>
              <p:nvPr/>
            </p:nvSpPr>
            <p:spPr>
              <a:xfrm>
                <a:off x="6486906" y="3396615"/>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原句、引用与结果</a:t>
                </a:r>
              </a:p>
            </p:txBody>
          </p:sp>
          <p:sp>
            <p:nvSpPr>
              <p:cNvPr id="21" name="TextBox 21"/>
              <p:cNvSpPr txBox="1"/>
              <p:nvPr/>
            </p:nvSpPr>
            <p:spPr>
              <a:xfrm>
                <a:off x="9392031" y="3396615"/>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确认疑义与正式审核</a:t>
                </a:r>
              </a:p>
            </p:txBody>
          </p:sp>
          <p:sp>
            <p:nvSpPr>
              <p:cNvPr id="22" name="TextBox 22"/>
              <p:cNvSpPr txBox="1"/>
              <p:nvPr/>
            </p:nvSpPr>
            <p:spPr>
              <a:xfrm>
                <a:off x="676656" y="3777615"/>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明确计算可由程序做</a:t>
                </a:r>
              </a:p>
            </p:txBody>
          </p:sp>
          <p:sp>
            <p:nvSpPr>
              <p:cNvPr id="23" name="TextBox 23"/>
              <p:cNvSpPr txBox="1"/>
              <p:nvPr/>
            </p:nvSpPr>
            <p:spPr>
              <a:xfrm>
                <a:off x="3581781" y="3777615"/>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理解结果仍需核实</a:t>
                </a:r>
              </a:p>
            </p:txBody>
          </p:sp>
          <p:sp>
            <p:nvSpPr>
              <p:cNvPr id="24" name="TextBox 24"/>
              <p:cNvSpPr txBox="1"/>
              <p:nvPr/>
            </p:nvSpPr>
            <p:spPr>
              <a:xfrm>
                <a:off x="6486906" y="3777615"/>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回到本任务核对</a:t>
                </a:r>
              </a:p>
            </p:txBody>
          </p:sp>
          <p:sp>
            <p:nvSpPr>
              <p:cNvPr id="25" name="TextBox 25"/>
              <p:cNvSpPr txBox="1"/>
              <p:nvPr/>
            </p:nvSpPr>
            <p:spPr>
              <a:xfrm>
                <a:off x="9392031" y="3777615"/>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责任不随提示转移</a:t>
                </a:r>
              </a:p>
            </p:txBody>
          </p:sp>
        </p:grpSp>
      </p:grpSp>
      <p:grpSp>
        <p:nvGrpSpPr>
          <p:cNvPr id="30" name="Group 30"/>
          <p:cNvGrpSpPr/>
          <p:nvPr/>
        </p:nvGrpSpPr>
        <p:grpSpPr>
          <a:xfrm>
            <a:off x="446532" y="4669155"/>
            <a:ext cx="8943594" cy="710565"/>
            <a:chOff x="446532" y="4669155"/>
            <a:chExt cx="8943594" cy="710565"/>
          </a:xfrm>
        </p:grpSpPr>
        <p:sp>
          <p:nvSpPr>
            <p:cNvPr id="28" name="TextBox 28"/>
            <p:cNvSpPr txBox="1"/>
            <p:nvPr/>
          </p:nvSpPr>
          <p:spPr>
            <a:xfrm>
              <a:off x="446532" y="4669155"/>
              <a:ext cx="7781506"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缺依据 → 补资料；引用不符 → 核实；超时 → 重试或人工补核。</a:t>
              </a:r>
            </a:p>
          </p:txBody>
        </p:sp>
        <p:sp>
          <p:nvSpPr>
            <p:cNvPr id="29" name="TextBox 29"/>
            <p:cNvSpPr txBox="1"/>
            <p:nvPr/>
          </p:nvSpPr>
          <p:spPr>
            <a:xfrm>
              <a:off x="449580" y="5086350"/>
              <a:ext cx="8940546"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输出是可定位的原句、依据、状态与下一步动作；三段审核说明“何时”，混合审核说明“怎样分工”。</a:t>
              </a:r>
            </a:p>
          </p:txBody>
        </p:sp>
      </p:grpSp>
      <p:grpSp>
        <p:nvGrpSpPr>
          <p:cNvPr id="33" name="Group 33"/>
          <p:cNvGrpSpPr/>
          <p:nvPr/>
        </p:nvGrpSpPr>
        <p:grpSpPr>
          <a:xfrm>
            <a:off x="457200" y="5572125"/>
            <a:ext cx="11277600" cy="600075"/>
            <a:chOff x="457200" y="5572125"/>
            <a:chExt cx="11277600" cy="600075"/>
          </a:xfrm>
        </p:grpSpPr>
        <p:sp>
          <p:nvSpPr>
            <p:cNvPr id="31" name="Rectangle 31"/>
            <p:cNvSpPr/>
            <p:nvPr/>
          </p:nvSpPr>
          <p:spPr>
            <a:xfrm>
              <a:off x="457200" y="5572125"/>
              <a:ext cx="11277600" cy="600075"/>
            </a:xfrm>
            <a:prstGeom prst="roundRect">
              <a:avLst>
                <a:gd name="adj" fmla="val 19048"/>
              </a:avLst>
            </a:prstGeom>
            <a:solidFill>
              <a:schemeClr val="accent1"/>
            </a:solidFill>
            <a:ln>
              <a:noFill/>
            </a:ln>
          </p:spPr>
        </p:sp>
        <p:sp>
          <p:nvSpPr>
            <p:cNvPr id="32" name="TextBox 32"/>
            <p:cNvSpPr txBox="1"/>
            <p:nvPr/>
          </p:nvSpPr>
          <p:spPr>
            <a:xfrm>
              <a:off x="713232" y="5735955"/>
              <a:ext cx="680618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休息后：把这条执行链，接进页面、状态和版本记录。</a:t>
              </a:r>
            </a:p>
          </p:txBody>
        </p:sp>
      </p:grpSp>
      <p:sp>
        <p:nvSpPr>
          <p:cNvPr id="34" name="TextBox 34"/>
          <p:cNvSpPr txBox="1"/>
          <p:nvPr/>
        </p:nvSpPr>
        <p:spPr>
          <a:xfrm>
            <a:off x="451866" y="6468428"/>
            <a:ext cx="241363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 · 产物已形成 → 6 产品方案</a:t>
            </a:r>
          </a:p>
        </p:txBody>
      </p:sp>
      <p:sp>
        <p:nvSpPr>
          <p:cNvPr id="35" name="TextBox 35"/>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43 / 70</a:t>
            </a:r>
          </a:p>
        </p:txBody>
      </p:sp>
    </p:spTree>
  </p:cSld>
  <p:clrMapOvr>
    <a:masterClrMapping/>
  </p:clrMapOvr>
  <p:transition xmlns:p14="http://schemas.microsoft.com/office/powerpoint/2010/main" p14:dur="400">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5" name="Group 5"/>
          <p:cNvGrpSpPr/>
          <p:nvPr/>
        </p:nvGrpSpPr>
        <p:grpSpPr>
          <a:xfrm>
            <a:off x="742950" y="1282065"/>
            <a:ext cx="5620664" cy="2557272"/>
            <a:chOff x="742950" y="1282065"/>
            <a:chExt cx="5620664" cy="2557272"/>
          </a:xfrm>
        </p:grpSpPr>
        <p:sp>
          <p:nvSpPr>
            <p:cNvPr id="2" name="TextBox 2"/>
            <p:cNvSpPr txBox="1"/>
            <p:nvPr/>
          </p:nvSpPr>
          <p:spPr>
            <a:xfrm>
              <a:off x="752856" y="1282065"/>
              <a:ext cx="1435837" cy="352044"/>
            </a:xfrm>
            <a:prstGeom prst="rect">
              <a:avLst/>
            </a:prstGeom>
            <a:noFill/>
            <a:ln>
              <a:noFill/>
            </a:ln>
          </p:spPr>
          <p:txBody>
            <a:bodyPr wrap="none" lIns="0" tIns="0" rIns="0" bIns="0" anchor="t" anchorCtr="0">
              <a:spAutoFit/>
            </a:bodyPr>
            <a:lstStyle/>
            <a:p>
              <a:pPr algn="l"/>
              <a:r>
                <a:rPr lang="zh-CN" sz="1800" dirty="0">
                  <a:solidFill>
                    <a:schemeClr val="accent3"/>
                  </a:solidFill>
                  <a:latin typeface="+mn-lt"/>
                  <a:ea typeface="+mn-ea"/>
                  <a:cs typeface="+mn-cs"/>
                </a:rPr>
                <a:t>115—125分钟</a:t>
              </a:r>
            </a:p>
          </p:txBody>
        </p:sp>
        <p:sp>
          <p:nvSpPr>
            <p:cNvPr id="3" name="TextBox 3"/>
            <p:cNvSpPr txBox="1"/>
            <p:nvPr/>
          </p:nvSpPr>
          <p:spPr>
            <a:xfrm>
              <a:off x="742950" y="1954530"/>
              <a:ext cx="4618276" cy="1276350"/>
            </a:xfrm>
            <a:prstGeom prst="rect">
              <a:avLst/>
            </a:prstGeom>
            <a:noFill/>
            <a:ln>
              <a:noFill/>
            </a:ln>
          </p:spPr>
          <p:txBody>
            <a:bodyPr wrap="none" lIns="0" tIns="0" rIns="0" bIns="0" anchor="t" anchorCtr="0">
              <a:spAutoFit/>
            </a:bodyPr>
            <a:lstStyle/>
            <a:p>
              <a:pPr algn="l"/>
              <a:r>
                <a:rPr lang="zh-CN" sz="6600" b="1" dirty="0">
                  <a:solidFill>
                    <a:srgbClr val="FFFFFF"/>
                  </a:solidFill>
                  <a:latin typeface="+mn-lt"/>
                  <a:ea typeface="+mn-ea"/>
                  <a:cs typeface="+mn-cs"/>
                </a:rPr>
                <a:t>休息10分钟</a:t>
              </a:r>
            </a:p>
          </p:txBody>
        </p:sp>
        <p:sp>
          <p:nvSpPr>
            <p:cNvPr id="4" name="TextBox 4"/>
            <p:cNvSpPr txBox="1"/>
            <p:nvPr/>
          </p:nvSpPr>
          <p:spPr>
            <a:xfrm>
              <a:off x="749808" y="3369945"/>
              <a:ext cx="5613806" cy="469392"/>
            </a:xfrm>
            <a:prstGeom prst="rect">
              <a:avLst/>
            </a:prstGeom>
            <a:noFill/>
            <a:ln>
              <a:noFill/>
            </a:ln>
          </p:spPr>
          <p:txBody>
            <a:bodyPr wrap="none" lIns="0" tIns="0" rIns="0" bIns="0" anchor="t" anchorCtr="0">
              <a:spAutoFit/>
            </a:bodyPr>
            <a:lstStyle/>
            <a:p>
              <a:pPr algn="l"/>
              <a:r>
                <a:rPr lang="zh-CN" sz="2400" dirty="0">
                  <a:solidFill>
                    <a:srgbClr val="E8F2EF"/>
                  </a:solidFill>
                  <a:latin typeface="+mn-lt"/>
                  <a:ea typeface="+mn-ea"/>
                  <a:cs typeface="+mn-cs"/>
                </a:rPr>
                <a:t>审核点 → 规则、模型与人工 → 用户操作</a:t>
              </a:r>
            </a:p>
          </p:txBody>
        </p:sp>
      </p:grpSp>
      <p:grpSp>
        <p:nvGrpSpPr>
          <p:cNvPr id="9" name="Group 9"/>
          <p:cNvGrpSpPr/>
          <p:nvPr/>
        </p:nvGrpSpPr>
        <p:grpSpPr>
          <a:xfrm>
            <a:off x="751332" y="4619625"/>
            <a:ext cx="10678668" cy="1262634"/>
            <a:chOff x="751332" y="4619625"/>
            <a:chExt cx="10678668" cy="1262634"/>
          </a:xfrm>
        </p:grpSpPr>
        <p:sp>
          <p:nvSpPr>
            <p:cNvPr id="6" name="Line 6"/>
            <p:cNvSpPr/>
            <p:nvPr/>
          </p:nvSpPr>
          <p:spPr>
            <a:xfrm>
              <a:off x="762000" y="4619625"/>
              <a:ext cx="10668000" cy="9525"/>
            </a:xfrm>
            <a:custGeom>
              <a:avLst/>
              <a:gdLst/>
              <a:ahLst/>
              <a:cxnLst/>
              <a:rect l="l" t="t" r="r" b="b"/>
              <a:pathLst>
                <a:path w="10668000" h="9525">
                  <a:moveTo>
                    <a:pt x="0" y="0"/>
                  </a:moveTo>
                  <a:lnTo>
                    <a:pt x="10668000" y="0"/>
                  </a:lnTo>
                </a:path>
              </a:pathLst>
            </a:custGeom>
            <a:noFill/>
            <a:ln w="19050">
              <a:solidFill>
                <a:srgbClr val="617673"/>
              </a:solidFill>
            </a:ln>
          </p:spPr>
        </p:sp>
        <p:sp>
          <p:nvSpPr>
            <p:cNvPr id="7" name="TextBox 7"/>
            <p:cNvSpPr txBox="1"/>
            <p:nvPr/>
          </p:nvSpPr>
          <p:spPr>
            <a:xfrm>
              <a:off x="751332" y="4973955"/>
              <a:ext cx="7654290"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下一段：小周点完按钮，系统发生什么？小林怎样完成审核？</a:t>
              </a:r>
            </a:p>
          </p:txBody>
        </p:sp>
        <p:sp>
          <p:nvSpPr>
            <p:cNvPr id="8" name="TextBox 8"/>
            <p:cNvSpPr txBox="1"/>
            <p:nvPr/>
          </p:nvSpPr>
          <p:spPr>
            <a:xfrm>
              <a:off x="752856" y="5530215"/>
              <a:ext cx="5349240"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带着同一篇文案和审核点，进入系统与产品方案。</a:t>
              </a:r>
            </a:p>
          </p:txBody>
        </p:sp>
      </p:grpSp>
      <p:sp>
        <p:nvSpPr>
          <p:cNvPr id="10" name="TextBox 10"/>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rgbClr val="E8F2EF"/>
                </a:solidFill>
                <a:latin typeface="+mn-lt"/>
                <a:ea typeface="+mn-ea"/>
                <a:cs typeface="+mn-cs"/>
              </a:rPr>
              <a:t>44 / 70</a:t>
            </a:r>
          </a:p>
        </p:txBody>
      </p:sp>
    </p:spTree>
  </p:cSld>
  <p:clrMapOvr>
    <a:masterClrMapping/>
  </p:clrMapOvr>
  <p:transition xmlns:p14="http://schemas.microsoft.com/office/powerpoint/2010/main" p14:dur="400">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438150" y="523875"/>
            <a:ext cx="2622804" cy="1443990"/>
            <a:chOff x="438150" y="523875"/>
            <a:chExt cx="2622804" cy="1443990"/>
          </a:xfrm>
        </p:grpSpPr>
        <p:sp>
          <p:nvSpPr>
            <p:cNvPr id="2" name="TextBox 2"/>
            <p:cNvSpPr txBox="1"/>
            <p:nvPr/>
          </p:nvSpPr>
          <p:spPr>
            <a:xfrm>
              <a:off x="449580" y="523875"/>
              <a:ext cx="2085022"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第二篇·做方案 / 第6章</a:t>
              </a:r>
            </a:p>
          </p:txBody>
        </p:sp>
        <p:sp>
          <p:nvSpPr>
            <p:cNvPr id="3" name="TextBox 3"/>
            <p:cNvSpPr txBox="1"/>
            <p:nvPr/>
          </p:nvSpPr>
          <p:spPr>
            <a:xfrm>
              <a:off x="438150" y="1034415"/>
              <a:ext cx="2622804" cy="933450"/>
            </a:xfrm>
            <a:prstGeom prst="rect">
              <a:avLst/>
            </a:prstGeom>
            <a:noFill/>
            <a:ln>
              <a:noFill/>
            </a:ln>
          </p:spPr>
          <p:txBody>
            <a:bodyPr wrap="none" lIns="0" tIns="0" rIns="0" bIns="0" anchor="t" anchorCtr="0">
              <a:spAutoFit/>
            </a:bodyPr>
            <a:lstStyle/>
            <a:p>
              <a:pPr algn="l"/>
              <a:r>
                <a:rPr lang="zh-CN" sz="4800" b="1" dirty="0">
                  <a:solidFill>
                    <a:srgbClr val="FFFFFF"/>
                  </a:solidFill>
                  <a:latin typeface="+mn-lt"/>
                  <a:ea typeface="+mn-ea"/>
                  <a:cs typeface="+mn-cs"/>
                </a:rPr>
                <a:t>产品方案</a:t>
              </a:r>
            </a:p>
          </p:txBody>
        </p:sp>
      </p:grpSp>
      <p:grpSp>
        <p:nvGrpSpPr>
          <p:cNvPr id="7" name="Group 7"/>
          <p:cNvGrpSpPr/>
          <p:nvPr/>
        </p:nvGrpSpPr>
        <p:grpSpPr>
          <a:xfrm>
            <a:off x="441198" y="2231708"/>
            <a:ext cx="3453917" cy="1993201"/>
            <a:chOff x="441198" y="2231708"/>
            <a:chExt cx="3453917" cy="1993201"/>
          </a:xfrm>
        </p:grpSpPr>
        <p:sp>
          <p:nvSpPr>
            <p:cNvPr id="5" name="TextBox 5"/>
            <p:cNvSpPr txBox="1"/>
            <p:nvPr/>
          </p:nvSpPr>
          <p:spPr>
            <a:xfrm>
              <a:off x="441198" y="2231708"/>
              <a:ext cx="2832354" cy="1225677"/>
            </a:xfrm>
            <a:prstGeom prst="rect">
              <a:avLst/>
            </a:prstGeom>
            <a:noFill/>
            <a:ln>
              <a:noFill/>
            </a:ln>
          </p:spPr>
          <p:txBody>
            <a:bodyPr wrap="none" lIns="0" tIns="0" rIns="0" bIns="0" anchor="t" anchorCtr="0">
              <a:spAutoFit/>
            </a:bodyPr>
            <a:lstStyle/>
            <a:p>
              <a:pPr algn="l">
                <a:lnSpc>
                  <a:spcPts val="4800"/>
                </a:lnSpc>
              </a:pPr>
              <a:r>
                <a:rPr lang="zh-CN" sz="3150" b="1" dirty="0">
                  <a:solidFill>
                    <a:srgbClr val="FFFFFF"/>
                  </a:solidFill>
                  <a:latin typeface="+mn-lt"/>
                  <a:ea typeface="+mn-ea"/>
                  <a:cs typeface="+mn-cs"/>
                </a:rPr>
                <a:t>用户点一下，</a:t>
              </a:r>
              <a:br/>
              <a:r>
                <a:rPr lang="zh-CN" sz="3150" b="1" dirty="0">
                  <a:solidFill>
                    <a:srgbClr val="FFFFFF"/>
                  </a:solidFill>
                  <a:latin typeface="+mn-lt"/>
                  <a:ea typeface="+mn-ea"/>
                  <a:cs typeface="+mn-cs"/>
                </a:rPr>
                <a:t>系统怎样走完？</a:t>
              </a:r>
            </a:p>
          </p:txBody>
        </p:sp>
        <p:sp>
          <p:nvSpPr>
            <p:cNvPr id="6" name="TextBox 6"/>
            <p:cNvSpPr txBox="1"/>
            <p:nvPr/>
          </p:nvSpPr>
          <p:spPr>
            <a:xfrm>
              <a:off x="448056" y="3872865"/>
              <a:ext cx="3447059"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输入：三段流程 + 检查执行链。</a:t>
              </a:r>
            </a:p>
          </p:txBody>
        </p:sp>
      </p:grpSp>
      <p:grpSp>
        <p:nvGrpSpPr>
          <p:cNvPr id="12" name="Group 12"/>
          <p:cNvGrpSpPr/>
          <p:nvPr/>
        </p:nvGrpSpPr>
        <p:grpSpPr>
          <a:xfrm>
            <a:off x="5295900" y="2095500"/>
            <a:ext cx="4259161" cy="2381250"/>
            <a:chOff x="5295900" y="2095500"/>
            <a:chExt cx="4259161" cy="2381250"/>
          </a:xfrm>
        </p:grpSpPr>
        <p:sp>
          <p:nvSpPr>
            <p:cNvPr id="8" name="Line 8"/>
            <p:cNvSpPr/>
            <p:nvPr/>
          </p:nvSpPr>
          <p:spPr>
            <a:xfrm>
              <a:off x="5295900" y="2095500"/>
              <a:ext cx="9525" cy="2381250"/>
            </a:xfrm>
            <a:custGeom>
              <a:avLst/>
              <a:gdLst/>
              <a:ahLst/>
              <a:cxnLst/>
              <a:rect l="l" t="t" r="r" b="b"/>
              <a:pathLst>
                <a:path w="9525" h="2381250">
                  <a:moveTo>
                    <a:pt x="0" y="0"/>
                  </a:moveTo>
                  <a:lnTo>
                    <a:pt x="0" y="2381250"/>
                  </a:lnTo>
                </a:path>
              </a:pathLst>
            </a:custGeom>
            <a:noFill/>
            <a:ln w="9525">
              <a:solidFill>
                <a:srgbClr val="617673"/>
              </a:solidFill>
            </a:ln>
          </p:spPr>
        </p:sp>
        <p:sp>
          <p:nvSpPr>
            <p:cNvPr id="9" name="TextBox 9"/>
            <p:cNvSpPr txBox="1"/>
            <p:nvPr/>
          </p:nvSpPr>
          <p:spPr>
            <a:xfrm>
              <a:off x="5590032" y="2240280"/>
              <a:ext cx="3682327"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6.1 组织架构、数据流和记录</a:t>
              </a:r>
            </a:p>
          </p:txBody>
        </p:sp>
        <p:sp>
          <p:nvSpPr>
            <p:cNvPr id="10" name="TextBox 10"/>
            <p:cNvSpPr txBox="1"/>
            <p:nvPr/>
          </p:nvSpPr>
          <p:spPr>
            <a:xfrm>
              <a:off x="5590032" y="3097530"/>
              <a:ext cx="3682327"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6.2 解决正文版本与迟到结果</a:t>
              </a:r>
            </a:p>
          </p:txBody>
        </p:sp>
        <p:sp>
          <p:nvSpPr>
            <p:cNvPr id="11" name="TextBox 11"/>
            <p:cNvSpPr txBox="1"/>
            <p:nvPr/>
          </p:nvSpPr>
          <p:spPr>
            <a:xfrm>
              <a:off x="5590032" y="3954780"/>
              <a:ext cx="3965029"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6.3 页面承接角色、动作和异常</a:t>
              </a:r>
            </a:p>
          </p:txBody>
        </p:sp>
      </p:grpSp>
      <p:grpSp>
        <p:nvGrpSpPr>
          <p:cNvPr id="16" name="Group 16"/>
          <p:cNvGrpSpPr/>
          <p:nvPr/>
        </p:nvGrpSpPr>
        <p:grpSpPr>
          <a:xfrm>
            <a:off x="457200" y="5048250"/>
            <a:ext cx="11277600" cy="952500"/>
            <a:chOff x="457200" y="5048250"/>
            <a:chExt cx="11277600" cy="952500"/>
          </a:xfrm>
        </p:grpSpPr>
        <p:sp>
          <p:nvSpPr>
            <p:cNvPr id="13" name="Rectangle 13"/>
            <p:cNvSpPr/>
            <p:nvPr/>
          </p:nvSpPr>
          <p:spPr>
            <a:xfrm>
              <a:off x="457200" y="5048250"/>
              <a:ext cx="11277600" cy="952500"/>
            </a:xfrm>
            <a:prstGeom prst="roundRect">
              <a:avLst>
                <a:gd name="adj" fmla="val 12000"/>
              </a:avLst>
            </a:prstGeom>
            <a:solidFill>
              <a:schemeClr val="accent1"/>
            </a:solidFill>
            <a:ln>
              <a:noFill/>
            </a:ln>
          </p:spPr>
        </p:sp>
        <p:sp>
          <p:nvSpPr>
            <p:cNvPr id="14" name="TextBox 14"/>
            <p:cNvSpPr txBox="1"/>
            <p:nvPr/>
          </p:nvSpPr>
          <p:spPr>
            <a:xfrm>
              <a:off x="716280" y="5267325"/>
              <a:ext cx="1226820" cy="293370"/>
            </a:xfrm>
            <a:prstGeom prst="rect">
              <a:avLst/>
            </a:prstGeom>
            <a:noFill/>
            <a:ln>
              <a:noFill/>
            </a:ln>
          </p:spPr>
          <p:txBody>
            <a:bodyPr wrap="none" lIns="0" tIns="0" rIns="0" bIns="0" anchor="t" anchorCtr="0">
              <a:spAutoFit/>
            </a:bodyPr>
            <a:lstStyle/>
            <a:p>
              <a:pPr algn="l"/>
              <a:r>
                <a:rPr lang="zh-CN" sz="1500" dirty="0">
                  <a:solidFill>
                    <a:srgbClr val="E8F2EF"/>
                  </a:solidFill>
                  <a:latin typeface="+mn-lt"/>
                  <a:ea typeface="+mn-ea"/>
                  <a:cs typeface="+mn-cs"/>
                </a:rPr>
                <a:t>本章完成标志</a:t>
              </a:r>
            </a:p>
          </p:txBody>
        </p:sp>
        <p:sp>
          <p:nvSpPr>
            <p:cNvPr id="15" name="TextBox 15"/>
            <p:cNvSpPr txBox="1"/>
            <p:nvPr/>
          </p:nvSpPr>
          <p:spPr>
            <a:xfrm>
              <a:off x="713232" y="5583555"/>
              <a:ext cx="7088886"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用架构、版本状态和页面操作，解释方案怎样可靠运行。</a:t>
              </a:r>
            </a:p>
          </p:txBody>
        </p:sp>
      </p:grpSp>
      <p:sp>
        <p:nvSpPr>
          <p:cNvPr id="17" name="TextBox 17"/>
          <p:cNvSpPr txBox="1"/>
          <p:nvPr/>
        </p:nvSpPr>
        <p:spPr>
          <a:xfrm>
            <a:off x="451866" y="6468428"/>
            <a:ext cx="1607934" cy="205359"/>
          </a:xfrm>
          <a:prstGeom prst="rect">
            <a:avLst/>
          </a:prstGeom>
          <a:noFill/>
          <a:ln>
            <a:noFill/>
          </a:ln>
        </p:spPr>
        <p:txBody>
          <a:bodyPr wrap="none" lIns="0" tIns="0" rIns="0" bIns="0" anchor="t" anchorCtr="0">
            <a:spAutoFit/>
          </a:bodyPr>
          <a:lstStyle/>
          <a:p>
            <a:pPr algn="l"/>
            <a:r>
              <a:rPr lang="zh-CN" sz="1050" dirty="0">
                <a:solidFill>
                  <a:srgbClr val="E8F2EF"/>
                </a:solidFill>
                <a:latin typeface="+mn-lt"/>
                <a:ea typeface="+mn-ea"/>
                <a:cs typeface="+mn-cs"/>
              </a:rPr>
              <a:t>定问题 → 做方案 → 验落地</a:t>
            </a:r>
          </a:p>
        </p:txBody>
      </p:sp>
      <p:sp>
        <p:nvSpPr>
          <p:cNvPr id="18" name="TextBox 18"/>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rgbClr val="E8F2EF"/>
                </a:solidFill>
                <a:latin typeface="+mn-lt"/>
                <a:ea typeface="+mn-ea"/>
                <a:cs typeface="+mn-cs"/>
              </a:rPr>
              <a:t>45 / 70</a:t>
            </a:r>
          </a:p>
        </p:txBody>
      </p:sp>
    </p:spTree>
  </p:cSld>
  <p:clrMapOvr>
    <a:masterClrMapping/>
  </p:clrMapOvr>
  <p:transition xmlns:p14="http://schemas.microsoft.com/office/powerpoint/2010/main" p14:dur="400">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120640" cy="1038035"/>
            <a:chOff x="441198" y="428625"/>
            <a:chExt cx="5120640" cy="1038035"/>
          </a:xfrm>
        </p:grpSpPr>
        <p:sp>
          <p:nvSpPr>
            <p:cNvPr id="2" name="TextBox 2"/>
            <p:cNvSpPr txBox="1"/>
            <p:nvPr/>
          </p:nvSpPr>
          <p:spPr>
            <a:xfrm>
              <a:off x="449580" y="428625"/>
              <a:ext cx="3781234"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6.1 架构、数据流与记录</a:t>
              </a:r>
            </a:p>
          </p:txBody>
        </p:sp>
        <p:sp>
          <p:nvSpPr>
            <p:cNvPr id="3" name="TextBox 3"/>
            <p:cNvSpPr txBox="1"/>
            <p:nvPr/>
          </p:nvSpPr>
          <p:spPr>
            <a:xfrm>
              <a:off x="441198" y="850583"/>
              <a:ext cx="512064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系统分三层，职责先讲清楚</a:t>
              </a:r>
            </a:p>
          </p:txBody>
        </p:sp>
      </p:grpSp>
      <p:grpSp>
        <p:nvGrpSpPr>
          <p:cNvPr id="9" name="Group 9"/>
          <p:cNvGrpSpPr/>
          <p:nvPr/>
        </p:nvGrpSpPr>
        <p:grpSpPr>
          <a:xfrm>
            <a:off x="457200" y="1790700"/>
            <a:ext cx="11277600" cy="1028700"/>
            <a:chOff x="457200" y="1790700"/>
            <a:chExt cx="11277600" cy="1028700"/>
          </a:xfrm>
        </p:grpSpPr>
        <p:sp>
          <p:nvSpPr>
            <p:cNvPr id="5" name="Rectangle 5"/>
            <p:cNvSpPr/>
            <p:nvPr/>
          </p:nvSpPr>
          <p:spPr>
            <a:xfrm>
              <a:off x="457200" y="1790700"/>
              <a:ext cx="11277600" cy="1028700"/>
            </a:xfrm>
            <a:prstGeom prst="roundRect">
              <a:avLst>
                <a:gd name="adj" fmla="val 11111"/>
              </a:avLst>
            </a:prstGeom>
            <a:solidFill>
              <a:schemeClr val="accent1"/>
            </a:solidFill>
            <a:ln>
              <a:noFill/>
            </a:ln>
          </p:spPr>
        </p:sp>
        <p:sp>
          <p:nvSpPr>
            <p:cNvPr id="6" name="TextBox 6"/>
            <p:cNvSpPr txBox="1"/>
            <p:nvPr/>
          </p:nvSpPr>
          <p:spPr>
            <a:xfrm>
              <a:off x="730758" y="1950720"/>
              <a:ext cx="163982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业务应用层</a:t>
              </a:r>
            </a:p>
          </p:txBody>
        </p:sp>
        <p:sp>
          <p:nvSpPr>
            <p:cNvPr id="7" name="TextBox 7"/>
            <p:cNvSpPr txBox="1"/>
            <p:nvPr/>
          </p:nvSpPr>
          <p:spPr>
            <a:xfrm>
              <a:off x="3799332" y="1983105"/>
              <a:ext cx="467178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自检 / 正式审核 / 巡检 / 权限与记录</a:t>
              </a:r>
            </a:p>
          </p:txBody>
        </p:sp>
        <p:sp>
          <p:nvSpPr>
            <p:cNvPr id="8" name="TextBox 8"/>
            <p:cNvSpPr txBox="1"/>
            <p:nvPr/>
          </p:nvSpPr>
          <p:spPr>
            <a:xfrm>
              <a:off x="3800856" y="2415540"/>
              <a:ext cx="3895344"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让用户提交、修改、确认和跟踪处理</a:t>
              </a:r>
            </a:p>
          </p:txBody>
        </p:sp>
      </p:grpSp>
      <p:grpSp>
        <p:nvGrpSpPr>
          <p:cNvPr id="14" name="Group 14"/>
          <p:cNvGrpSpPr/>
          <p:nvPr/>
        </p:nvGrpSpPr>
        <p:grpSpPr>
          <a:xfrm>
            <a:off x="457200" y="3171825"/>
            <a:ext cx="11277600" cy="1028700"/>
            <a:chOff x="457200" y="3171825"/>
            <a:chExt cx="11277600" cy="1028700"/>
          </a:xfrm>
        </p:grpSpPr>
        <p:sp>
          <p:nvSpPr>
            <p:cNvPr id="10" name="Rectangle 10"/>
            <p:cNvSpPr/>
            <p:nvPr/>
          </p:nvSpPr>
          <p:spPr>
            <a:xfrm>
              <a:off x="457200" y="3171825"/>
              <a:ext cx="11277600" cy="1028700"/>
            </a:xfrm>
            <a:prstGeom prst="roundRect">
              <a:avLst>
                <a:gd name="adj" fmla="val 11111"/>
              </a:avLst>
            </a:prstGeom>
            <a:solidFill>
              <a:schemeClr val="lt2"/>
            </a:solidFill>
            <a:ln>
              <a:noFill/>
            </a:ln>
          </p:spPr>
        </p:sp>
        <p:sp>
          <p:nvSpPr>
            <p:cNvPr id="11" name="TextBox 11"/>
            <p:cNvSpPr txBox="1"/>
            <p:nvPr/>
          </p:nvSpPr>
          <p:spPr>
            <a:xfrm>
              <a:off x="730758" y="3331845"/>
              <a:ext cx="1639824"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审核能力层</a:t>
              </a:r>
            </a:p>
          </p:txBody>
        </p:sp>
        <p:sp>
          <p:nvSpPr>
            <p:cNvPr id="12" name="TextBox 12"/>
            <p:cNvSpPr txBox="1"/>
            <p:nvPr/>
          </p:nvSpPr>
          <p:spPr>
            <a:xfrm>
              <a:off x="3799332" y="3364230"/>
              <a:ext cx="495448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上下文 → 选审核点 → 执行 → 校验与合并</a:t>
              </a:r>
            </a:p>
          </p:txBody>
        </p:sp>
        <p:sp>
          <p:nvSpPr>
            <p:cNvPr id="13" name="TextBox 13"/>
            <p:cNvSpPr txBox="1"/>
            <p:nvPr/>
          </p:nvSpPr>
          <p:spPr>
            <a:xfrm>
              <a:off x="3800856" y="3796665"/>
              <a:ext cx="416189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“规则引擎”在这里组织适用检查和结果</a:t>
              </a:r>
            </a:p>
          </p:txBody>
        </p:sp>
      </p:grpSp>
      <p:grpSp>
        <p:nvGrpSpPr>
          <p:cNvPr id="19" name="Group 19"/>
          <p:cNvGrpSpPr/>
          <p:nvPr/>
        </p:nvGrpSpPr>
        <p:grpSpPr>
          <a:xfrm>
            <a:off x="457200" y="4552950"/>
            <a:ext cx="11277600" cy="1028700"/>
            <a:chOff x="457200" y="4552950"/>
            <a:chExt cx="11277600" cy="1028700"/>
          </a:xfrm>
        </p:grpSpPr>
        <p:sp>
          <p:nvSpPr>
            <p:cNvPr id="15" name="Rectangle 15"/>
            <p:cNvSpPr/>
            <p:nvPr/>
          </p:nvSpPr>
          <p:spPr>
            <a:xfrm>
              <a:off x="457200" y="4552950"/>
              <a:ext cx="11277600" cy="1028700"/>
            </a:xfrm>
            <a:prstGeom prst="roundRect">
              <a:avLst>
                <a:gd name="adj" fmla="val 11111"/>
              </a:avLst>
            </a:prstGeom>
            <a:solidFill>
              <a:srgbClr val="FFFFFF"/>
            </a:solidFill>
            <a:ln>
              <a:noFill/>
            </a:ln>
          </p:spPr>
        </p:sp>
        <p:sp>
          <p:nvSpPr>
            <p:cNvPr id="16" name="TextBox 16"/>
            <p:cNvSpPr txBox="1"/>
            <p:nvPr/>
          </p:nvSpPr>
          <p:spPr>
            <a:xfrm>
              <a:off x="730758" y="4712970"/>
              <a:ext cx="1962912"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模型与资料层</a:t>
              </a:r>
            </a:p>
          </p:txBody>
        </p:sp>
        <p:sp>
          <p:nvSpPr>
            <p:cNvPr id="17" name="TextBox 17"/>
            <p:cNvSpPr txBox="1"/>
            <p:nvPr/>
          </p:nvSpPr>
          <p:spPr>
            <a:xfrm>
              <a:off x="3799332" y="4745355"/>
              <a:ext cx="539267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模型能力＋经过确认、版本有效的业务依据</a:t>
              </a:r>
            </a:p>
          </p:txBody>
        </p:sp>
        <p:sp>
          <p:nvSpPr>
            <p:cNvPr id="18" name="TextBox 18"/>
            <p:cNvSpPr txBox="1"/>
            <p:nvPr/>
          </p:nvSpPr>
          <p:spPr>
            <a:xfrm>
              <a:off x="3800856" y="5177790"/>
              <a:ext cx="559155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商品、活动、赠品、配送；使用哪份就保留哪份版本</a:t>
              </a:r>
            </a:p>
          </p:txBody>
        </p:sp>
      </p:grpSp>
      <p:grpSp>
        <p:nvGrpSpPr>
          <p:cNvPr id="21" name="Group 21"/>
          <p:cNvGrpSpPr/>
          <p:nvPr/>
        </p:nvGrpSpPr>
        <p:grpSpPr>
          <a:xfrm>
            <a:off x="448056" y="5911215"/>
            <a:ext cx="9468612" cy="352044"/>
            <a:chOff x="448056" y="5911215"/>
            <a:chExt cx="9468612" cy="352044"/>
          </a:xfrm>
        </p:grpSpPr>
        <p:sp>
          <p:nvSpPr>
            <p:cNvPr id="20" name="TextBox 20"/>
            <p:cNvSpPr txBox="1"/>
            <p:nvPr/>
          </p:nvSpPr>
          <p:spPr>
            <a:xfrm>
              <a:off x="448056" y="5911215"/>
              <a:ext cx="946861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首版可按明确工作流实现，不默认先做复杂拖拽画布、通用资料检索库或三个独立系统。</a:t>
              </a:r>
            </a:p>
          </p:txBody>
        </p:sp>
      </p:grpSp>
      <p:grpSp>
        <p:nvGrpSpPr>
          <p:cNvPr id="33" name="Group 33"/>
          <p:cNvGrpSpPr/>
          <p:nvPr/>
        </p:nvGrpSpPr>
        <p:grpSpPr>
          <a:xfrm>
            <a:off x="0" y="6286500"/>
            <a:ext cx="12192000" cy="571500"/>
            <a:chOff x="0" y="6286500"/>
            <a:chExt cx="12192000" cy="571500"/>
          </a:xfrm>
        </p:grpSpPr>
        <p:sp>
          <p:nvSpPr>
            <p:cNvPr id="22" name="Rectangle 22"/>
            <p:cNvSpPr/>
            <p:nvPr/>
          </p:nvSpPr>
          <p:spPr>
            <a:xfrm>
              <a:off x="0" y="6286500"/>
              <a:ext cx="12192000" cy="571500"/>
            </a:xfrm>
            <a:prstGeom prst="rect">
              <a:avLst/>
            </a:prstGeom>
            <a:solidFill>
              <a:srgbClr val="FFFFFF"/>
            </a:solidFill>
            <a:ln>
              <a:noFill/>
            </a:ln>
          </p:spPr>
        </p:sp>
        <p:sp>
          <p:nvSpPr>
            <p:cNvPr id="23" name="Line 23"/>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31" name="Group 31"/>
            <p:cNvGrpSpPr/>
            <p:nvPr/>
          </p:nvGrpSpPr>
          <p:grpSpPr>
            <a:xfrm>
              <a:off x="451866" y="6468428"/>
              <a:ext cx="9783070" cy="205359"/>
              <a:chOff x="451866" y="6468428"/>
              <a:chExt cx="9783070" cy="205359"/>
            </a:xfrm>
          </p:grpSpPr>
          <p:sp>
            <p:nvSpPr>
              <p:cNvPr id="24" name="TextBox 24"/>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5" name="TextBox 25"/>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6" name="TextBox 26"/>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7" name="TextBox 27"/>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8" name="TextBox 28"/>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9" name="TextBox 29"/>
              <p:cNvSpPr txBox="1"/>
              <p:nvPr/>
            </p:nvSpPr>
            <p:spPr>
              <a:xfrm>
                <a:off x="8024241"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6 产品方案</a:t>
                </a:r>
              </a:p>
            </p:txBody>
          </p:sp>
          <p:sp>
            <p:nvSpPr>
              <p:cNvPr id="30" name="TextBox 30"/>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32" name="TextBox 32"/>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46 / 70</a:t>
              </a:r>
            </a:p>
          </p:txBody>
        </p:sp>
      </p:grpSp>
    </p:spTree>
  </p:cSld>
  <p:clrMapOvr>
    <a:masterClrMapping/>
  </p:clrMapOvr>
  <p:transition xmlns:p14="http://schemas.microsoft.com/office/powerpoint/2010/main" p14:dur="400">
    <p:fade/>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882580" cy="1038035"/>
            <a:chOff x="441198" y="428625"/>
            <a:chExt cx="6882580" cy="1038035"/>
          </a:xfrm>
        </p:grpSpPr>
        <p:sp>
          <p:nvSpPr>
            <p:cNvPr id="2" name="TextBox 2"/>
            <p:cNvSpPr txBox="1"/>
            <p:nvPr/>
          </p:nvSpPr>
          <p:spPr>
            <a:xfrm>
              <a:off x="449580" y="428625"/>
              <a:ext cx="3781234"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6.1 架构、数据流与记录</a:t>
              </a:r>
            </a:p>
          </p:txBody>
        </p:sp>
        <p:sp>
          <p:nvSpPr>
            <p:cNvPr id="3" name="TextBox 3"/>
            <p:cNvSpPr txBox="1"/>
            <p:nvPr/>
          </p:nvSpPr>
          <p:spPr>
            <a:xfrm>
              <a:off x="441198" y="850583"/>
              <a:ext cx="688258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小周点“自检”后，系统要保存什么？</a:t>
              </a:r>
            </a:p>
          </p:txBody>
        </p:sp>
      </p:grpSp>
      <p:grpSp>
        <p:nvGrpSpPr>
          <p:cNvPr id="7" name="Group 7"/>
          <p:cNvGrpSpPr/>
          <p:nvPr/>
        </p:nvGrpSpPr>
        <p:grpSpPr>
          <a:xfrm>
            <a:off x="457200" y="1724025"/>
            <a:ext cx="11277600" cy="809625"/>
            <a:chOff x="457200" y="1724025"/>
            <a:chExt cx="11277600" cy="809625"/>
          </a:xfrm>
        </p:grpSpPr>
        <p:sp>
          <p:nvSpPr>
            <p:cNvPr id="5" name="Rectangle 5"/>
            <p:cNvSpPr/>
            <p:nvPr/>
          </p:nvSpPr>
          <p:spPr>
            <a:xfrm>
              <a:off x="457200" y="1724025"/>
              <a:ext cx="11277600" cy="809625"/>
            </a:xfrm>
            <a:prstGeom prst="roundRect">
              <a:avLst>
                <a:gd name="adj" fmla="val 14118"/>
              </a:avLst>
            </a:prstGeom>
            <a:solidFill>
              <a:srgbClr val="102F30"/>
            </a:solidFill>
            <a:ln>
              <a:noFill/>
            </a:ln>
          </p:spPr>
        </p:sp>
        <p:sp>
          <p:nvSpPr>
            <p:cNvPr id="6" name="TextBox 6"/>
            <p:cNvSpPr txBox="1"/>
            <p:nvPr/>
          </p:nvSpPr>
          <p:spPr>
            <a:xfrm>
              <a:off x="732282" y="2002155"/>
              <a:ext cx="7115556"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输入：正文V1＋SKU＋活动＋场景＋适用时间＋调用人</a:t>
              </a:r>
            </a:p>
          </p:txBody>
        </p:sp>
      </p:grpSp>
      <p:grpSp>
        <p:nvGrpSpPr>
          <p:cNvPr id="22" name="Group 22"/>
          <p:cNvGrpSpPr/>
          <p:nvPr/>
        </p:nvGrpSpPr>
        <p:grpSpPr>
          <a:xfrm>
            <a:off x="457200" y="2971800"/>
            <a:ext cx="11277600" cy="1381125"/>
            <a:chOff x="457200" y="2971800"/>
            <a:chExt cx="11277600" cy="1381125"/>
          </a:xfrm>
        </p:grpSpPr>
        <p:grpSp>
          <p:nvGrpSpPr>
            <p:cNvPr id="11" name="Group 11"/>
            <p:cNvGrpSpPr/>
            <p:nvPr/>
          </p:nvGrpSpPr>
          <p:grpSpPr>
            <a:xfrm>
              <a:off x="457200" y="2971800"/>
              <a:ext cx="11277600" cy="1381125"/>
              <a:chOff x="457200" y="2971800"/>
              <a:chExt cx="11277600" cy="1381125"/>
            </a:xfrm>
          </p:grpSpPr>
          <p:sp>
            <p:nvSpPr>
              <p:cNvPr id="8" name="Rectangle 8"/>
              <p:cNvSpPr/>
              <p:nvPr/>
            </p:nvSpPr>
            <p:spPr>
              <a:xfrm>
                <a:off x="457200" y="2971800"/>
                <a:ext cx="3276600" cy="1381125"/>
              </a:xfrm>
              <a:prstGeom prst="roundRect">
                <a:avLst>
                  <a:gd name="adj" fmla="val 8276"/>
                </a:avLst>
              </a:prstGeom>
              <a:solidFill>
                <a:schemeClr val="lt2"/>
              </a:solidFill>
              <a:ln>
                <a:noFill/>
              </a:ln>
            </p:spPr>
          </p:sp>
          <p:sp>
            <p:nvSpPr>
              <p:cNvPr id="9" name="Rectangle 9"/>
              <p:cNvSpPr/>
              <p:nvPr/>
            </p:nvSpPr>
            <p:spPr>
              <a:xfrm>
                <a:off x="4457700" y="2971800"/>
                <a:ext cx="3276600" cy="1381125"/>
              </a:xfrm>
              <a:prstGeom prst="roundRect">
                <a:avLst>
                  <a:gd name="adj" fmla="val 8276"/>
                </a:avLst>
              </a:prstGeom>
              <a:solidFill>
                <a:schemeClr val="lt2"/>
              </a:solidFill>
              <a:ln>
                <a:noFill/>
              </a:ln>
            </p:spPr>
          </p:sp>
          <p:sp>
            <p:nvSpPr>
              <p:cNvPr id="10" name="Rectangle 10"/>
              <p:cNvSpPr/>
              <p:nvPr/>
            </p:nvSpPr>
            <p:spPr>
              <a:xfrm>
                <a:off x="8458200" y="2971800"/>
                <a:ext cx="3276600" cy="1381125"/>
              </a:xfrm>
              <a:prstGeom prst="roundRect">
                <a:avLst>
                  <a:gd name="adj" fmla="val 8276"/>
                </a:avLst>
              </a:prstGeom>
              <a:solidFill>
                <a:schemeClr val="lt2"/>
              </a:solidFill>
              <a:ln>
                <a:noFill/>
              </a:ln>
            </p:spPr>
          </p:sp>
        </p:grpSp>
        <p:grpSp>
          <p:nvGrpSpPr>
            <p:cNvPr id="15" name="Group 15"/>
            <p:cNvGrpSpPr/>
            <p:nvPr/>
          </p:nvGrpSpPr>
          <p:grpSpPr>
            <a:xfrm>
              <a:off x="732282" y="3202305"/>
              <a:ext cx="10253562" cy="410718"/>
              <a:chOff x="732282" y="3202305"/>
              <a:chExt cx="10253562" cy="410718"/>
            </a:xfrm>
          </p:grpSpPr>
          <p:sp>
            <p:nvSpPr>
              <p:cNvPr id="12" name="TextBox 12"/>
              <p:cNvSpPr txBox="1"/>
              <p:nvPr/>
            </p:nvSpPr>
            <p:spPr>
              <a:xfrm>
                <a:off x="732282" y="3202305"/>
                <a:ext cx="2252562"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1 快照＋有效资料</a:t>
                </a:r>
              </a:p>
            </p:txBody>
          </p:sp>
          <p:sp>
            <p:nvSpPr>
              <p:cNvPr id="13" name="TextBox 13"/>
              <p:cNvSpPr txBox="1"/>
              <p:nvPr/>
            </p:nvSpPr>
            <p:spPr>
              <a:xfrm>
                <a:off x="4732782" y="3202305"/>
                <a:ext cx="2415822"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2 选点＋程序/模型</a:t>
                </a:r>
              </a:p>
            </p:txBody>
          </p:sp>
          <p:sp>
            <p:nvSpPr>
              <p:cNvPr id="14" name="TextBox 14"/>
              <p:cNvSpPr txBox="1"/>
              <p:nvPr/>
            </p:nvSpPr>
            <p:spPr>
              <a:xfrm>
                <a:off x="8733282" y="3202305"/>
                <a:ext cx="2252562"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3 校验＋合并结果</a:t>
                </a:r>
              </a:p>
            </p:txBody>
          </p:sp>
        </p:grpSp>
        <p:grpSp>
          <p:nvGrpSpPr>
            <p:cNvPr id="19" name="Group 19"/>
            <p:cNvGrpSpPr/>
            <p:nvPr/>
          </p:nvGrpSpPr>
          <p:grpSpPr>
            <a:xfrm>
              <a:off x="733806" y="3787140"/>
              <a:ext cx="10684764" cy="352044"/>
              <a:chOff x="733806" y="3787140"/>
              <a:chExt cx="10684764" cy="352044"/>
            </a:xfrm>
          </p:grpSpPr>
          <p:sp>
            <p:nvSpPr>
              <p:cNvPr id="16" name="TextBox 16"/>
              <p:cNvSpPr txBox="1"/>
              <p:nvPr/>
            </p:nvSpPr>
            <p:spPr>
              <a:xfrm>
                <a:off x="733806" y="3787140"/>
                <a:ext cx="2683764"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正文和依据版本不可覆盖</a:t>
                </a:r>
              </a:p>
            </p:txBody>
          </p:sp>
          <p:sp>
            <p:nvSpPr>
              <p:cNvPr id="17" name="TextBox 17"/>
              <p:cNvSpPr txBox="1"/>
              <p:nvPr/>
            </p:nvSpPr>
            <p:spPr>
              <a:xfrm>
                <a:off x="4734306" y="3787140"/>
                <a:ext cx="219913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按适用条件组织执行</a:t>
                </a:r>
              </a:p>
            </p:txBody>
          </p:sp>
          <p:sp>
            <p:nvSpPr>
              <p:cNvPr id="18" name="TextBox 18"/>
              <p:cNvSpPr txBox="1"/>
              <p:nvPr/>
            </p:nvSpPr>
            <p:spPr>
              <a:xfrm>
                <a:off x="8734806" y="3787140"/>
                <a:ext cx="2683764"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原句、引用、范围与状态</a:t>
                </a:r>
              </a:p>
            </p:txBody>
          </p:sp>
        </p:grpSp>
        <p:sp>
          <p:nvSpPr>
            <p:cNvPr id="20" name="Line 20"/>
            <p:cNvSpPr/>
            <p:nvPr/>
          </p:nvSpPr>
          <p:spPr>
            <a:xfrm>
              <a:off x="3790950" y="3648075"/>
              <a:ext cx="590550" cy="1"/>
            </a:xfrm>
            <a:prstGeom prst="line">
              <a:avLst/>
            </a:prstGeom>
            <a:noFill/>
            <a:ln w="28575">
              <a:solidFill>
                <a:schemeClr val="accent1"/>
              </a:solidFill>
              <a:tailEnd type="triangle" w="lg" len="lg"/>
            </a:ln>
          </p:spPr>
        </p:sp>
        <p:sp>
          <p:nvSpPr>
            <p:cNvPr id="21" name="Line 21"/>
            <p:cNvSpPr/>
            <p:nvPr/>
          </p:nvSpPr>
          <p:spPr>
            <a:xfrm>
              <a:off x="7791450" y="3648075"/>
              <a:ext cx="590550" cy="1"/>
            </a:xfrm>
            <a:prstGeom prst="line">
              <a:avLst/>
            </a:prstGeom>
            <a:noFill/>
            <a:ln w="28575">
              <a:solidFill>
                <a:schemeClr val="accent1"/>
              </a:solidFill>
              <a:tailEnd type="triangle" w="lg" len="lg"/>
            </a:ln>
          </p:spPr>
        </p:sp>
      </p:grpSp>
      <p:grpSp>
        <p:nvGrpSpPr>
          <p:cNvPr id="25" name="Group 25"/>
          <p:cNvGrpSpPr/>
          <p:nvPr/>
        </p:nvGrpSpPr>
        <p:grpSpPr>
          <a:xfrm>
            <a:off x="445008" y="5065395"/>
            <a:ext cx="8987028" cy="931164"/>
            <a:chOff x="445008" y="5065395"/>
            <a:chExt cx="8987028" cy="931164"/>
          </a:xfrm>
        </p:grpSpPr>
        <p:sp>
          <p:nvSpPr>
            <p:cNvPr id="23" name="TextBox 23"/>
            <p:cNvSpPr txBox="1"/>
            <p:nvPr/>
          </p:nvSpPr>
          <p:spPr>
            <a:xfrm>
              <a:off x="445008" y="5065395"/>
              <a:ext cx="680923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返回的不是一段点评，而是可追溯的检查记录。</a:t>
              </a:r>
            </a:p>
          </p:txBody>
        </p:sp>
        <p:sp>
          <p:nvSpPr>
            <p:cNvPr id="24" name="TextBox 24"/>
            <p:cNvSpPr txBox="1"/>
            <p:nvPr/>
          </p:nvSpPr>
          <p:spPr>
            <a:xfrm>
              <a:off x="448056" y="5644515"/>
              <a:ext cx="8983980"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缺资料保留受影响项；原句有重复时按版本和位置定位，校验失败不能假装已定位。</a:t>
              </a:r>
            </a:p>
          </p:txBody>
        </p:sp>
      </p:grpSp>
      <p:grpSp>
        <p:nvGrpSpPr>
          <p:cNvPr id="37" name="Group 37"/>
          <p:cNvGrpSpPr/>
          <p:nvPr/>
        </p:nvGrpSpPr>
        <p:grpSpPr>
          <a:xfrm>
            <a:off x="0" y="6286500"/>
            <a:ext cx="12192000" cy="571500"/>
            <a:chOff x="0" y="6286500"/>
            <a:chExt cx="12192000" cy="571500"/>
          </a:xfrm>
        </p:grpSpPr>
        <p:sp>
          <p:nvSpPr>
            <p:cNvPr id="26" name="Rectangle 26"/>
            <p:cNvSpPr/>
            <p:nvPr/>
          </p:nvSpPr>
          <p:spPr>
            <a:xfrm>
              <a:off x="0" y="6286500"/>
              <a:ext cx="12192000" cy="571500"/>
            </a:xfrm>
            <a:prstGeom prst="rect">
              <a:avLst/>
            </a:prstGeom>
            <a:solidFill>
              <a:srgbClr val="FFFFFF"/>
            </a:solidFill>
            <a:ln>
              <a:noFill/>
            </a:ln>
          </p:spPr>
        </p:sp>
        <p:sp>
          <p:nvSpPr>
            <p:cNvPr id="27" name="Line 27"/>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35" name="Group 35"/>
            <p:cNvGrpSpPr/>
            <p:nvPr/>
          </p:nvGrpSpPr>
          <p:grpSpPr>
            <a:xfrm>
              <a:off x="451866" y="6468428"/>
              <a:ext cx="9783070" cy="205359"/>
              <a:chOff x="451866" y="6468428"/>
              <a:chExt cx="9783070" cy="205359"/>
            </a:xfrm>
          </p:grpSpPr>
          <p:sp>
            <p:nvSpPr>
              <p:cNvPr id="28" name="TextBox 28"/>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9" name="TextBox 29"/>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30" name="TextBox 30"/>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31" name="TextBox 31"/>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32" name="TextBox 32"/>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33" name="TextBox 33"/>
              <p:cNvSpPr txBox="1"/>
              <p:nvPr/>
            </p:nvSpPr>
            <p:spPr>
              <a:xfrm>
                <a:off x="8024241"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6 产品方案</a:t>
                </a:r>
              </a:p>
            </p:txBody>
          </p:sp>
          <p:sp>
            <p:nvSpPr>
              <p:cNvPr id="34" name="TextBox 34"/>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36" name="TextBox 36"/>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47 / 70</a:t>
              </a:r>
            </a:p>
          </p:txBody>
        </p:sp>
      </p:grpSp>
    </p:spTree>
  </p:cSld>
  <p:clrMapOvr>
    <a:masterClrMapping/>
  </p:clrMapOvr>
  <p:transition xmlns:p14="http://schemas.microsoft.com/office/powerpoint/2010/main" p14:dur="400">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8089011" cy="1038035"/>
            <a:chOff x="441198" y="428625"/>
            <a:chExt cx="8089011" cy="1038035"/>
          </a:xfrm>
        </p:grpSpPr>
        <p:sp>
          <p:nvSpPr>
            <p:cNvPr id="2" name="TextBox 2"/>
            <p:cNvSpPr txBox="1"/>
            <p:nvPr/>
          </p:nvSpPr>
          <p:spPr>
            <a:xfrm>
              <a:off x="449580" y="428625"/>
              <a:ext cx="3781234"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6.1 架构、数据流与记录</a:t>
              </a:r>
            </a:p>
          </p:txBody>
        </p:sp>
        <p:sp>
          <p:nvSpPr>
            <p:cNvPr id="3" name="TextBox 3"/>
            <p:cNvSpPr txBox="1"/>
            <p:nvPr/>
          </p:nvSpPr>
          <p:spPr>
            <a:xfrm>
              <a:off x="441198" y="850583"/>
              <a:ext cx="8089011"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检查完成、问题解决、审核通过，是三件事</a:t>
              </a:r>
            </a:p>
          </p:txBody>
        </p:sp>
      </p:grpSp>
      <p:grpSp>
        <p:nvGrpSpPr>
          <p:cNvPr id="8" name="Group 8"/>
          <p:cNvGrpSpPr/>
          <p:nvPr/>
        </p:nvGrpSpPr>
        <p:grpSpPr>
          <a:xfrm>
            <a:off x="457200" y="1885950"/>
            <a:ext cx="3505200" cy="2552700"/>
            <a:chOff x="457200" y="1885950"/>
            <a:chExt cx="3505200" cy="2552700"/>
          </a:xfrm>
        </p:grpSpPr>
        <p:sp>
          <p:nvSpPr>
            <p:cNvPr id="5" name="Rectangle 5"/>
            <p:cNvSpPr/>
            <p:nvPr/>
          </p:nvSpPr>
          <p:spPr>
            <a:xfrm>
              <a:off x="457200" y="1885950"/>
              <a:ext cx="3505200" cy="2552700"/>
            </a:xfrm>
            <a:prstGeom prst="roundRect">
              <a:avLst>
                <a:gd name="adj" fmla="val 4478"/>
              </a:avLst>
            </a:prstGeom>
            <a:solidFill>
              <a:schemeClr val="lt2"/>
            </a:solidFill>
            <a:ln>
              <a:noFill/>
            </a:ln>
          </p:spPr>
        </p:sp>
        <p:sp>
          <p:nvSpPr>
            <p:cNvPr id="6" name="TextBox 6"/>
            <p:cNvSpPr txBox="1"/>
            <p:nvPr/>
          </p:nvSpPr>
          <p:spPr>
            <a:xfrm>
              <a:off x="711708" y="2122170"/>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检查记录</a:t>
              </a:r>
            </a:p>
          </p:txBody>
        </p:sp>
        <p:sp>
          <p:nvSpPr>
            <p:cNvPr id="7" name="TextBox 7"/>
            <p:cNvSpPr txBox="1"/>
            <p:nvPr/>
          </p:nvSpPr>
          <p:spPr>
            <a:xfrm>
              <a:off x="713232" y="2802255"/>
              <a:ext cx="2421636" cy="13251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对哪个版本查了什么</a:t>
              </a:r>
              <a:br/>
              <a:r>
                <a:rPr lang="zh-CN" sz="2100" dirty="0">
                  <a:solidFill>
                    <a:schemeClr val="dk1"/>
                  </a:solidFill>
                  <a:latin typeface="+mn-lt"/>
                  <a:ea typeface="+mn-ea"/>
                  <a:cs typeface="+mn-cs"/>
                </a:rPr>
                <a:t>使用哪份依据</a:t>
              </a:r>
              <a:br/>
              <a:r>
                <a:rPr lang="zh-CN" sz="2100" dirty="0">
                  <a:solidFill>
                    <a:schemeClr val="dk1"/>
                  </a:solidFill>
                  <a:latin typeface="+mn-lt"/>
                  <a:ea typeface="+mn-ea"/>
                  <a:cs typeface="+mn-cs"/>
                </a:rPr>
                <a:t>哪些完成、哪些失败</a:t>
              </a:r>
            </a:p>
          </p:txBody>
        </p:sp>
      </p:grpSp>
      <p:grpSp>
        <p:nvGrpSpPr>
          <p:cNvPr id="12" name="Group 12"/>
          <p:cNvGrpSpPr/>
          <p:nvPr/>
        </p:nvGrpSpPr>
        <p:grpSpPr>
          <a:xfrm>
            <a:off x="4343400" y="1885950"/>
            <a:ext cx="3505200" cy="2552700"/>
            <a:chOff x="4343400" y="1885950"/>
            <a:chExt cx="3505200" cy="2552700"/>
          </a:xfrm>
        </p:grpSpPr>
        <p:sp>
          <p:nvSpPr>
            <p:cNvPr id="9" name="Rectangle 9"/>
            <p:cNvSpPr/>
            <p:nvPr/>
          </p:nvSpPr>
          <p:spPr>
            <a:xfrm>
              <a:off x="4343400" y="1885950"/>
              <a:ext cx="3505200" cy="2552700"/>
            </a:xfrm>
            <a:prstGeom prst="roundRect">
              <a:avLst>
                <a:gd name="adj" fmla="val 4478"/>
              </a:avLst>
            </a:prstGeom>
            <a:solidFill>
              <a:srgbClr val="FFFFFF"/>
            </a:solidFill>
            <a:ln>
              <a:noFill/>
            </a:ln>
          </p:spPr>
        </p:sp>
        <p:sp>
          <p:nvSpPr>
            <p:cNvPr id="10" name="TextBox 10"/>
            <p:cNvSpPr txBox="1"/>
            <p:nvPr/>
          </p:nvSpPr>
          <p:spPr>
            <a:xfrm>
              <a:off x="4597908" y="2122170"/>
              <a:ext cx="196291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问题处理记录</a:t>
              </a:r>
            </a:p>
          </p:txBody>
        </p:sp>
        <p:sp>
          <p:nvSpPr>
            <p:cNvPr id="11" name="TextBox 11"/>
            <p:cNvSpPr txBox="1"/>
            <p:nvPr/>
          </p:nvSpPr>
          <p:spPr>
            <a:xfrm>
              <a:off x="4599432" y="2802255"/>
              <a:ext cx="2154936" cy="13251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提示是否成立</a:t>
              </a:r>
              <a:br/>
              <a:r>
                <a:rPr lang="zh-CN" sz="2100" dirty="0">
                  <a:solidFill>
                    <a:schemeClr val="dk1"/>
                  </a:solidFill>
                  <a:latin typeface="+mn-lt"/>
                  <a:ea typeface="+mn-ea"/>
                  <a:cs typeface="+mn-cs"/>
                </a:rPr>
                <a:t>作者怎样修改</a:t>
              </a:r>
              <a:br/>
              <a:r>
                <a:rPr lang="zh-CN" sz="2100" dirty="0">
                  <a:solidFill>
                    <a:schemeClr val="dk1"/>
                  </a:solidFill>
                  <a:latin typeface="+mn-lt"/>
                  <a:ea typeface="+mn-ea"/>
                  <a:cs typeface="+mn-cs"/>
                </a:rPr>
                <a:t>复核是否确认解决</a:t>
              </a:r>
            </a:p>
          </p:txBody>
        </p:sp>
      </p:grpSp>
      <p:grpSp>
        <p:nvGrpSpPr>
          <p:cNvPr id="16" name="Group 16"/>
          <p:cNvGrpSpPr/>
          <p:nvPr/>
        </p:nvGrpSpPr>
        <p:grpSpPr>
          <a:xfrm>
            <a:off x="8229600" y="1885950"/>
            <a:ext cx="3505200" cy="2552700"/>
            <a:chOff x="8229600" y="1885950"/>
            <a:chExt cx="3505200" cy="2552700"/>
          </a:xfrm>
        </p:grpSpPr>
        <p:sp>
          <p:nvSpPr>
            <p:cNvPr id="13" name="Rectangle 13"/>
            <p:cNvSpPr/>
            <p:nvPr/>
          </p:nvSpPr>
          <p:spPr>
            <a:xfrm>
              <a:off x="8229600" y="1885950"/>
              <a:ext cx="3505200" cy="2552700"/>
            </a:xfrm>
            <a:prstGeom prst="roundRect">
              <a:avLst>
                <a:gd name="adj" fmla="val 4478"/>
              </a:avLst>
            </a:prstGeom>
            <a:solidFill>
              <a:schemeClr val="accent1"/>
            </a:solidFill>
            <a:ln>
              <a:noFill/>
            </a:ln>
          </p:spPr>
        </p:sp>
        <p:sp>
          <p:nvSpPr>
            <p:cNvPr id="14" name="TextBox 14"/>
            <p:cNvSpPr txBox="1"/>
            <p:nvPr/>
          </p:nvSpPr>
          <p:spPr>
            <a:xfrm>
              <a:off x="8484108" y="2122170"/>
              <a:ext cx="1962912"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正式审核记录</a:t>
              </a:r>
            </a:p>
          </p:txBody>
        </p:sp>
        <p:sp>
          <p:nvSpPr>
            <p:cNvPr id="15" name="TextBox 15"/>
            <p:cNvSpPr txBox="1"/>
            <p:nvPr/>
          </p:nvSpPr>
          <p:spPr>
            <a:xfrm>
              <a:off x="8485632" y="2802255"/>
              <a:ext cx="2688336" cy="1325118"/>
            </a:xfrm>
            <a:prstGeom prst="rect">
              <a:avLst/>
            </a:prstGeom>
            <a:noFill/>
            <a:ln>
              <a:noFill/>
            </a:ln>
          </p:spPr>
          <p:txBody>
            <a:bodyPr wrap="none" lIns="0" tIns="0" rIns="0" bIns="0" anchor="t" anchorCtr="0">
              <a:spAutoFit/>
            </a:bodyPr>
            <a:lstStyle/>
            <a:p>
              <a:pPr algn="l">
                <a:lnSpc>
                  <a:spcPts val="3600"/>
                </a:lnSpc>
              </a:pPr>
              <a:r>
                <a:rPr lang="zh-CN" sz="2100" dirty="0">
                  <a:solidFill>
                    <a:srgbClr val="FFFFFF"/>
                  </a:solidFill>
                  <a:latin typeface="+mn-lt"/>
                  <a:ea typeface="+mn-ea"/>
                  <a:cs typeface="+mn-cs"/>
                </a:rPr>
                <a:t>既定审核要求是否完成</a:t>
              </a:r>
              <a:br/>
              <a:r>
                <a:rPr lang="zh-CN" sz="2100" dirty="0">
                  <a:solidFill>
                    <a:srgbClr val="FFFFFF"/>
                  </a:solidFill>
                  <a:latin typeface="+mn-lt"/>
                  <a:ea typeface="+mn-ea"/>
                  <a:cs typeface="+mn-cs"/>
                </a:rPr>
                <a:t>有权限的人作出决定</a:t>
              </a:r>
              <a:br/>
              <a:r>
                <a:rPr lang="zh-CN" sz="2100" dirty="0">
                  <a:solidFill>
                    <a:srgbClr val="FFFFFF"/>
                  </a:solidFill>
                  <a:latin typeface="+mn-lt"/>
                  <a:ea typeface="+mn-ea"/>
                  <a:cs typeface="+mn-cs"/>
                </a:rPr>
                <a:t>结论绑定提交版本</a:t>
              </a:r>
            </a:p>
          </p:txBody>
        </p:sp>
      </p:grpSp>
      <p:grpSp>
        <p:nvGrpSpPr>
          <p:cNvPr id="19" name="Group 19"/>
          <p:cNvGrpSpPr/>
          <p:nvPr/>
        </p:nvGrpSpPr>
        <p:grpSpPr>
          <a:xfrm>
            <a:off x="446532" y="5097780"/>
            <a:ext cx="8668817" cy="908304"/>
            <a:chOff x="446532" y="5097780"/>
            <a:chExt cx="8668817" cy="908304"/>
          </a:xfrm>
        </p:grpSpPr>
        <p:sp>
          <p:nvSpPr>
            <p:cNvPr id="17" name="TextBox 17"/>
            <p:cNvSpPr txBox="1"/>
            <p:nvPr/>
          </p:nvSpPr>
          <p:spPr>
            <a:xfrm>
              <a:off x="446532" y="5097780"/>
              <a:ext cx="866881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V2检查完成 / 人工待审 → 退回 → V3新记录 → 逐条复核 → 正式决定</a:t>
              </a:r>
            </a:p>
          </p:txBody>
        </p:sp>
        <p:sp>
          <p:nvSpPr>
            <p:cNvPr id="18" name="TextBox 18"/>
            <p:cNvSpPr txBox="1"/>
            <p:nvPr/>
          </p:nvSpPr>
          <p:spPr>
            <a:xfrm>
              <a:off x="448056" y="5654040"/>
              <a:ext cx="7530084"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实际使用再关联通过版本；一颗绿色图标不能代表以上事情都结束了。</a:t>
              </a:r>
            </a:p>
          </p:txBody>
        </p:sp>
      </p:grpSp>
      <p:grpSp>
        <p:nvGrpSpPr>
          <p:cNvPr id="31" name="Group 31"/>
          <p:cNvGrpSpPr/>
          <p:nvPr/>
        </p:nvGrpSpPr>
        <p:grpSpPr>
          <a:xfrm>
            <a:off x="0" y="6286500"/>
            <a:ext cx="12192000" cy="571500"/>
            <a:chOff x="0" y="6286500"/>
            <a:chExt cx="12192000" cy="571500"/>
          </a:xfrm>
        </p:grpSpPr>
        <p:sp>
          <p:nvSpPr>
            <p:cNvPr id="20" name="Rectangle 20"/>
            <p:cNvSpPr/>
            <p:nvPr/>
          </p:nvSpPr>
          <p:spPr>
            <a:xfrm>
              <a:off x="0" y="6286500"/>
              <a:ext cx="12192000" cy="571500"/>
            </a:xfrm>
            <a:prstGeom prst="rect">
              <a:avLst/>
            </a:prstGeom>
            <a:solidFill>
              <a:srgbClr val="FFFFFF"/>
            </a:solidFill>
            <a:ln>
              <a:noFill/>
            </a:ln>
          </p:spPr>
        </p:sp>
        <p:sp>
          <p:nvSpPr>
            <p:cNvPr id="21" name="Line 21"/>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9" name="Group 29"/>
            <p:cNvGrpSpPr/>
            <p:nvPr/>
          </p:nvGrpSpPr>
          <p:grpSpPr>
            <a:xfrm>
              <a:off x="451866" y="6468428"/>
              <a:ext cx="9783070" cy="205359"/>
              <a:chOff x="451866" y="6468428"/>
              <a:chExt cx="9783070" cy="205359"/>
            </a:xfrm>
          </p:grpSpPr>
          <p:sp>
            <p:nvSpPr>
              <p:cNvPr id="22" name="TextBox 22"/>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3" name="TextBox 23"/>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4" name="TextBox 24"/>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5" name="TextBox 25"/>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6" name="TextBox 26"/>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7" name="TextBox 27"/>
              <p:cNvSpPr txBox="1"/>
              <p:nvPr/>
            </p:nvSpPr>
            <p:spPr>
              <a:xfrm>
                <a:off x="8024241"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6 产品方案</a:t>
                </a:r>
              </a:p>
            </p:txBody>
          </p:sp>
          <p:sp>
            <p:nvSpPr>
              <p:cNvPr id="28" name="TextBox 28"/>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30" name="TextBox 30"/>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48 / 70</a:t>
              </a:r>
            </a:p>
          </p:txBody>
        </p:sp>
      </p:grpSp>
    </p:spTree>
  </p:cSld>
  <p:clrMapOvr>
    <a:masterClrMapping/>
  </p:clrMapOvr>
  <p:transition xmlns:p14="http://schemas.microsoft.com/office/powerpoint/2010/main" p14:dur="400">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787853" cy="1038035"/>
            <a:chOff x="441198" y="428625"/>
            <a:chExt cx="7787853" cy="1038035"/>
          </a:xfrm>
        </p:grpSpPr>
        <p:sp>
          <p:nvSpPr>
            <p:cNvPr id="2" name="TextBox 2"/>
            <p:cNvSpPr txBox="1"/>
            <p:nvPr/>
          </p:nvSpPr>
          <p:spPr>
            <a:xfrm>
              <a:off x="449580" y="428625"/>
              <a:ext cx="4619244"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第二篇·做方案 / 6.2 版本与结果有效性 · 课堂判断</a:t>
              </a:r>
            </a:p>
          </p:txBody>
        </p:sp>
        <p:sp>
          <p:nvSpPr>
            <p:cNvPr id="3" name="TextBox 3"/>
            <p:cNvSpPr txBox="1"/>
            <p:nvPr/>
          </p:nvSpPr>
          <p:spPr>
            <a:xfrm>
              <a:off x="441198" y="850583"/>
              <a:ext cx="7787853"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V3已保存，V2的结果才回来，怎么办？</a:t>
              </a:r>
            </a:p>
          </p:txBody>
        </p:sp>
      </p:grpSp>
      <p:grpSp>
        <p:nvGrpSpPr>
          <p:cNvPr id="17" name="Group 17"/>
          <p:cNvGrpSpPr/>
          <p:nvPr/>
        </p:nvGrpSpPr>
        <p:grpSpPr>
          <a:xfrm>
            <a:off x="631911" y="2198370"/>
            <a:ext cx="11014497" cy="1521714"/>
            <a:chOff x="631911" y="2198370"/>
            <a:chExt cx="11014497" cy="1521714"/>
          </a:xfrm>
        </p:grpSpPr>
        <p:sp>
          <p:nvSpPr>
            <p:cNvPr id="5" name="Line 5"/>
            <p:cNvSpPr/>
            <p:nvPr/>
          </p:nvSpPr>
          <p:spPr>
            <a:xfrm>
              <a:off x="1524000" y="2857500"/>
              <a:ext cx="9144000" cy="9525"/>
            </a:xfrm>
            <a:custGeom>
              <a:avLst/>
              <a:gdLst/>
              <a:ahLst/>
              <a:cxnLst/>
              <a:rect l="l" t="t" r="r" b="b"/>
              <a:pathLst>
                <a:path w="9144000" h="9525">
                  <a:moveTo>
                    <a:pt x="0" y="0"/>
                  </a:moveTo>
                  <a:lnTo>
                    <a:pt x="9144000" y="0"/>
                  </a:lnTo>
                </a:path>
              </a:pathLst>
            </a:custGeom>
            <a:noFill/>
            <a:ln w="47625">
              <a:solidFill>
                <a:srgbClr val="617673"/>
              </a:solidFill>
            </a:ln>
          </p:spPr>
        </p:sp>
        <p:sp>
          <p:nvSpPr>
            <p:cNvPr id="6" name="Ellipse 6"/>
            <p:cNvSpPr/>
            <p:nvPr/>
          </p:nvSpPr>
          <p:spPr>
            <a:xfrm>
              <a:off x="1362075" y="2695575"/>
              <a:ext cx="323850" cy="323850"/>
            </a:xfrm>
            <a:prstGeom prst="ellipse">
              <a:avLst/>
            </a:prstGeom>
            <a:solidFill>
              <a:schemeClr val="lt2"/>
            </a:solidFill>
            <a:ln>
              <a:noFill/>
            </a:ln>
          </p:spPr>
        </p:sp>
        <p:sp>
          <p:nvSpPr>
            <p:cNvPr id="7" name="Ellipse 7"/>
            <p:cNvSpPr/>
            <p:nvPr/>
          </p:nvSpPr>
          <p:spPr>
            <a:xfrm>
              <a:off x="5934075" y="2695575"/>
              <a:ext cx="323850" cy="323850"/>
            </a:xfrm>
            <a:prstGeom prst="ellipse">
              <a:avLst/>
            </a:prstGeom>
            <a:solidFill>
              <a:schemeClr val="lt2"/>
            </a:solidFill>
            <a:ln>
              <a:noFill/>
            </a:ln>
          </p:spPr>
        </p:sp>
        <p:sp>
          <p:nvSpPr>
            <p:cNvPr id="8" name="Ellipse 8"/>
            <p:cNvSpPr/>
            <p:nvPr/>
          </p:nvSpPr>
          <p:spPr>
            <a:xfrm>
              <a:off x="10506075" y="2695575"/>
              <a:ext cx="323850" cy="323850"/>
            </a:xfrm>
            <a:prstGeom prst="ellipse">
              <a:avLst/>
            </a:prstGeom>
            <a:solidFill>
              <a:schemeClr val="accent3"/>
            </a:solidFill>
            <a:ln>
              <a:noFill/>
            </a:ln>
          </p:spPr>
        </p:sp>
        <p:grpSp>
          <p:nvGrpSpPr>
            <p:cNvPr id="12" name="Group 12"/>
            <p:cNvGrpSpPr/>
            <p:nvPr/>
          </p:nvGrpSpPr>
          <p:grpSpPr>
            <a:xfrm>
              <a:off x="631911" y="2198370"/>
              <a:ext cx="10928177" cy="469392"/>
              <a:chOff x="631911" y="2198370"/>
              <a:chExt cx="10928177" cy="469392"/>
            </a:xfrm>
          </p:grpSpPr>
          <p:sp>
            <p:nvSpPr>
              <p:cNvPr id="9" name="TextBox 9"/>
              <p:cNvSpPr txBox="1"/>
              <p:nvPr/>
            </p:nvSpPr>
            <p:spPr>
              <a:xfrm>
                <a:off x="631911" y="2198370"/>
                <a:ext cx="1784177" cy="469392"/>
              </a:xfrm>
              <a:prstGeom prst="rect">
                <a:avLst/>
              </a:prstGeom>
              <a:noFill/>
              <a:ln>
                <a:noFill/>
              </a:ln>
            </p:spPr>
            <p:txBody>
              <a:bodyPr wrap="none" lIns="0" tIns="0" rIns="0" bIns="0" anchor="t" anchorCtr="0">
                <a:spAutoFit/>
              </a:bodyPr>
              <a:lstStyle/>
              <a:p>
                <a:pPr algn="ctr"/>
                <a:r>
                  <a:rPr lang="zh-CN" sz="2400" b="1" dirty="0">
                    <a:solidFill>
                      <a:srgbClr val="FFFFFF"/>
                    </a:solidFill>
                    <a:latin typeface="+mn-lt"/>
                    <a:ea typeface="+mn-ea"/>
                    <a:cs typeface="+mn-cs"/>
                  </a:rPr>
                  <a:t>发起V2检查</a:t>
                </a:r>
              </a:p>
            </p:txBody>
          </p:sp>
          <p:sp>
            <p:nvSpPr>
              <p:cNvPr id="10" name="TextBox 10"/>
              <p:cNvSpPr txBox="1"/>
              <p:nvPr/>
            </p:nvSpPr>
            <p:spPr>
              <a:xfrm>
                <a:off x="5203911" y="2198370"/>
                <a:ext cx="1784177" cy="469392"/>
              </a:xfrm>
              <a:prstGeom prst="rect">
                <a:avLst/>
              </a:prstGeom>
              <a:noFill/>
              <a:ln>
                <a:noFill/>
              </a:ln>
            </p:spPr>
            <p:txBody>
              <a:bodyPr wrap="none" lIns="0" tIns="0" rIns="0" bIns="0" anchor="t" anchorCtr="0">
                <a:spAutoFit/>
              </a:bodyPr>
              <a:lstStyle/>
              <a:p>
                <a:pPr algn="ctr"/>
                <a:r>
                  <a:rPr lang="zh-CN" sz="2400" b="1" dirty="0">
                    <a:solidFill>
                      <a:srgbClr val="FFFFFF"/>
                    </a:solidFill>
                    <a:latin typeface="+mn-lt"/>
                    <a:ea typeface="+mn-ea"/>
                    <a:cs typeface="+mn-cs"/>
                  </a:rPr>
                  <a:t>保存V3新稿</a:t>
                </a:r>
              </a:p>
            </p:txBody>
          </p:sp>
          <p:sp>
            <p:nvSpPr>
              <p:cNvPr id="11" name="TextBox 11"/>
              <p:cNvSpPr txBox="1"/>
              <p:nvPr/>
            </p:nvSpPr>
            <p:spPr>
              <a:xfrm>
                <a:off x="9775911" y="2198370"/>
                <a:ext cx="1784177" cy="469392"/>
              </a:xfrm>
              <a:prstGeom prst="rect">
                <a:avLst/>
              </a:prstGeom>
              <a:noFill/>
              <a:ln>
                <a:noFill/>
              </a:ln>
            </p:spPr>
            <p:txBody>
              <a:bodyPr wrap="none" lIns="0" tIns="0" rIns="0" bIns="0" anchor="t" anchorCtr="0">
                <a:spAutoFit/>
              </a:bodyPr>
              <a:lstStyle/>
              <a:p>
                <a:pPr algn="ctr"/>
                <a:r>
                  <a:rPr lang="zh-CN" sz="2400" b="1" dirty="0">
                    <a:solidFill>
                      <a:schemeClr val="accent3"/>
                    </a:solidFill>
                    <a:latin typeface="+mn-lt"/>
                    <a:ea typeface="+mn-ea"/>
                    <a:cs typeface="+mn-cs"/>
                  </a:rPr>
                  <a:t>V2结果返回</a:t>
                </a:r>
              </a:p>
            </p:txBody>
          </p:sp>
        </p:grpSp>
        <p:grpSp>
          <p:nvGrpSpPr>
            <p:cNvPr id="16" name="Group 16"/>
            <p:cNvGrpSpPr/>
            <p:nvPr/>
          </p:nvGrpSpPr>
          <p:grpSpPr>
            <a:xfrm>
              <a:off x="666750" y="3368040"/>
              <a:ext cx="10979658" cy="352044"/>
              <a:chOff x="666750" y="3368040"/>
              <a:chExt cx="10979658" cy="352044"/>
            </a:xfrm>
          </p:grpSpPr>
          <p:sp>
            <p:nvSpPr>
              <p:cNvPr id="13" name="TextBox 13"/>
              <p:cNvSpPr txBox="1"/>
              <p:nvPr/>
            </p:nvSpPr>
            <p:spPr>
              <a:xfrm>
                <a:off x="666750" y="3368040"/>
                <a:ext cx="1714500" cy="352044"/>
              </a:xfrm>
              <a:prstGeom prst="rect">
                <a:avLst/>
              </a:prstGeom>
              <a:noFill/>
              <a:ln>
                <a:noFill/>
              </a:ln>
            </p:spPr>
            <p:txBody>
              <a:bodyPr wrap="none" lIns="0" tIns="0" rIns="0" bIns="0" anchor="t" anchorCtr="0">
                <a:spAutoFit/>
              </a:bodyPr>
              <a:lstStyle/>
              <a:p>
                <a:pPr algn="ctr"/>
                <a:r>
                  <a:rPr lang="zh-CN" sz="1800" dirty="0">
                    <a:solidFill>
                      <a:srgbClr val="E8F2EF"/>
                    </a:solidFill>
                    <a:latin typeface="+mn-lt"/>
                    <a:ea typeface="+mn-ea"/>
                    <a:cs typeface="+mn-cs"/>
                  </a:rPr>
                  <a:t>检查请求已发出</a:t>
                </a:r>
              </a:p>
            </p:txBody>
          </p:sp>
          <p:sp>
            <p:nvSpPr>
              <p:cNvPr id="14" name="TextBox 14"/>
              <p:cNvSpPr txBox="1"/>
              <p:nvPr/>
            </p:nvSpPr>
            <p:spPr>
              <a:xfrm>
                <a:off x="5238750" y="3368040"/>
                <a:ext cx="1714500" cy="352044"/>
              </a:xfrm>
              <a:prstGeom prst="rect">
                <a:avLst/>
              </a:prstGeom>
              <a:noFill/>
              <a:ln>
                <a:noFill/>
              </a:ln>
            </p:spPr>
            <p:txBody>
              <a:bodyPr wrap="none" lIns="0" tIns="0" rIns="0" bIns="0" anchor="t" anchorCtr="0">
                <a:spAutoFit/>
              </a:bodyPr>
              <a:lstStyle/>
              <a:p>
                <a:pPr algn="ctr"/>
                <a:r>
                  <a:rPr lang="zh-CN" sz="1800" dirty="0">
                    <a:solidFill>
                      <a:srgbClr val="E8F2EF"/>
                    </a:solidFill>
                    <a:latin typeface="+mn-lt"/>
                    <a:ea typeface="+mn-ea"/>
                    <a:cs typeface="+mn-cs"/>
                  </a:rPr>
                  <a:t>当前正文已变化</a:t>
                </a:r>
              </a:p>
            </p:txBody>
          </p:sp>
          <p:sp>
            <p:nvSpPr>
              <p:cNvPr id="15" name="TextBox 15"/>
              <p:cNvSpPr txBox="1"/>
              <p:nvPr/>
            </p:nvSpPr>
            <p:spPr>
              <a:xfrm>
                <a:off x="9689592" y="3368040"/>
                <a:ext cx="1956816" cy="352044"/>
              </a:xfrm>
              <a:prstGeom prst="rect">
                <a:avLst/>
              </a:prstGeom>
              <a:noFill/>
              <a:ln>
                <a:noFill/>
              </a:ln>
            </p:spPr>
            <p:txBody>
              <a:bodyPr wrap="none" lIns="0" tIns="0" rIns="0" bIns="0" anchor="t" anchorCtr="0">
                <a:spAutoFit/>
              </a:bodyPr>
              <a:lstStyle/>
              <a:p>
                <a:pPr algn="ctr"/>
                <a:r>
                  <a:rPr lang="zh-CN" sz="1800" dirty="0">
                    <a:solidFill>
                      <a:srgbClr val="E8F2EF"/>
                    </a:solidFill>
                    <a:latin typeface="+mn-lt"/>
                    <a:ea typeface="+mn-ea"/>
                    <a:cs typeface="+mn-cs"/>
                  </a:rPr>
                  <a:t>提示一条价格问题</a:t>
                </a:r>
              </a:p>
            </p:txBody>
          </p:sp>
        </p:grpSp>
      </p:grpSp>
      <p:grpSp>
        <p:nvGrpSpPr>
          <p:cNvPr id="20" name="Group 20"/>
          <p:cNvGrpSpPr/>
          <p:nvPr/>
        </p:nvGrpSpPr>
        <p:grpSpPr>
          <a:xfrm>
            <a:off x="445008" y="4817745"/>
            <a:ext cx="5520538" cy="1145667"/>
            <a:chOff x="445008" y="4817745"/>
            <a:chExt cx="5520538" cy="1145667"/>
          </a:xfrm>
        </p:grpSpPr>
        <p:sp>
          <p:nvSpPr>
            <p:cNvPr id="18" name="TextBox 18"/>
            <p:cNvSpPr txBox="1"/>
            <p:nvPr/>
          </p:nvSpPr>
          <p:spPr>
            <a:xfrm>
              <a:off x="445008" y="4817745"/>
              <a:ext cx="4870704" cy="469392"/>
            </a:xfrm>
            <a:prstGeom prst="rect">
              <a:avLst/>
            </a:prstGeom>
            <a:noFill/>
            <a:ln>
              <a:noFill/>
            </a:ln>
          </p:spPr>
          <p:txBody>
            <a:bodyPr wrap="none" lIns="0" tIns="0" rIns="0" bIns="0" anchor="t" anchorCtr="0">
              <a:spAutoFit/>
            </a:bodyPr>
            <a:lstStyle/>
            <a:p>
              <a:pPr algn="l"/>
              <a:r>
                <a:rPr lang="zh-CN" sz="2400" dirty="0">
                  <a:solidFill>
                    <a:srgbClr val="FFFFFF"/>
                  </a:solidFill>
                  <a:latin typeface="+mn-lt"/>
                  <a:ea typeface="+mn-ea"/>
                  <a:cs typeface="+mn-cs"/>
                </a:rPr>
                <a:t>结果保存在哪里？页面怎样提示？</a:t>
              </a:r>
            </a:p>
          </p:txBody>
        </p:sp>
        <p:sp>
          <p:nvSpPr>
            <p:cNvPr id="19" name="TextBox 19"/>
            <p:cNvSpPr txBox="1"/>
            <p:nvPr/>
          </p:nvSpPr>
          <p:spPr>
            <a:xfrm>
              <a:off x="445008" y="5494020"/>
              <a:ext cx="5520538" cy="469392"/>
            </a:xfrm>
            <a:prstGeom prst="rect">
              <a:avLst/>
            </a:prstGeom>
            <a:noFill/>
            <a:ln>
              <a:noFill/>
            </a:ln>
          </p:spPr>
          <p:txBody>
            <a:bodyPr wrap="none" lIns="0" tIns="0" rIns="0" bIns="0" anchor="t" anchorCtr="0">
              <a:spAutoFit/>
            </a:bodyPr>
            <a:lstStyle/>
            <a:p>
              <a:pPr algn="l"/>
              <a:r>
                <a:rPr lang="zh-CN" sz="2400" dirty="0">
                  <a:solidFill>
                    <a:schemeClr val="accent3"/>
                  </a:solidFill>
                  <a:latin typeface="+mn-lt"/>
                  <a:ea typeface="+mn-ea"/>
                  <a:cs typeface="+mn-cs"/>
                </a:rPr>
                <a:t>小林能直接用这条结果，确认V3吗？</a:t>
              </a:r>
            </a:p>
          </p:txBody>
        </p:sp>
      </p:grpSp>
      <p:grpSp>
        <p:nvGrpSpPr>
          <p:cNvPr id="32" name="Group 32"/>
          <p:cNvGrpSpPr/>
          <p:nvPr/>
        </p:nvGrpSpPr>
        <p:grpSpPr>
          <a:xfrm>
            <a:off x="0" y="6286500"/>
            <a:ext cx="12192000" cy="571500"/>
            <a:chOff x="0" y="6286500"/>
            <a:chExt cx="12192000" cy="571500"/>
          </a:xfrm>
        </p:grpSpPr>
        <p:sp>
          <p:nvSpPr>
            <p:cNvPr id="21" name="Rectangle 21"/>
            <p:cNvSpPr/>
            <p:nvPr/>
          </p:nvSpPr>
          <p:spPr>
            <a:xfrm>
              <a:off x="0" y="6286500"/>
              <a:ext cx="12192000" cy="571500"/>
            </a:xfrm>
            <a:prstGeom prst="rect">
              <a:avLst/>
            </a:prstGeom>
            <a:solidFill>
              <a:srgbClr val="FFFFFF"/>
            </a:solidFill>
            <a:ln>
              <a:noFill/>
            </a:ln>
          </p:spPr>
        </p:sp>
        <p:sp>
          <p:nvSpPr>
            <p:cNvPr id="22" name="Line 22"/>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30" name="Group 30"/>
            <p:cNvGrpSpPr/>
            <p:nvPr/>
          </p:nvGrpSpPr>
          <p:grpSpPr>
            <a:xfrm>
              <a:off x="451866" y="6468428"/>
              <a:ext cx="9783070" cy="205359"/>
              <a:chOff x="451866" y="6468428"/>
              <a:chExt cx="9783070" cy="205359"/>
            </a:xfrm>
          </p:grpSpPr>
          <p:sp>
            <p:nvSpPr>
              <p:cNvPr id="23" name="TextBox 23"/>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4" name="TextBox 24"/>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5" name="TextBox 25"/>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6" name="TextBox 26"/>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7" name="TextBox 27"/>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8" name="TextBox 28"/>
              <p:cNvSpPr txBox="1"/>
              <p:nvPr/>
            </p:nvSpPr>
            <p:spPr>
              <a:xfrm>
                <a:off x="8024241"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6 产品方案</a:t>
                </a:r>
              </a:p>
            </p:txBody>
          </p:sp>
          <p:sp>
            <p:nvSpPr>
              <p:cNvPr id="29" name="TextBox 29"/>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31" name="TextBox 31"/>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49 / 70</a:t>
              </a:r>
            </a:p>
          </p:txBody>
        </p:sp>
      </p:grpSp>
    </p:spTree>
  </p:cSld>
  <p:clrMapOvr>
    <a:masterClrMapping/>
  </p:clrMapOvr>
  <p:transition xmlns:p14="http://schemas.microsoft.com/office/powerpoint/2010/main" p14:dur="400">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339797" cy="1038035"/>
            <a:chOff x="441198" y="428625"/>
            <a:chExt cx="7339797" cy="1038035"/>
          </a:xfrm>
        </p:grpSpPr>
        <p:sp>
          <p:nvSpPr>
            <p:cNvPr id="2" name="TextBox 2"/>
            <p:cNvSpPr txBox="1"/>
            <p:nvPr/>
          </p:nvSpPr>
          <p:spPr>
            <a:xfrm>
              <a:off x="449580" y="428625"/>
              <a:ext cx="4619244"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6.2 版本与结果有效性 · 结果揭示</a:t>
              </a:r>
            </a:p>
          </p:txBody>
        </p:sp>
        <p:sp>
          <p:nvSpPr>
            <p:cNvPr id="3" name="TextBox 3"/>
            <p:cNvSpPr txBox="1"/>
            <p:nvPr/>
          </p:nvSpPr>
          <p:spPr>
            <a:xfrm>
              <a:off x="441198" y="850583"/>
              <a:ext cx="7339797"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旧结果留在V2，当前稿件明确显示V3</a:t>
              </a:r>
            </a:p>
          </p:txBody>
        </p:sp>
      </p:grpSp>
      <p:grpSp>
        <p:nvGrpSpPr>
          <p:cNvPr id="17" name="Group 17"/>
          <p:cNvGrpSpPr/>
          <p:nvPr/>
        </p:nvGrpSpPr>
        <p:grpSpPr>
          <a:xfrm>
            <a:off x="424434" y="2198370"/>
            <a:ext cx="11417655" cy="1521714"/>
            <a:chOff x="424434" y="2198370"/>
            <a:chExt cx="11417655" cy="1521714"/>
          </a:xfrm>
        </p:grpSpPr>
        <p:sp>
          <p:nvSpPr>
            <p:cNvPr id="5" name="Line 5"/>
            <p:cNvSpPr/>
            <p:nvPr/>
          </p:nvSpPr>
          <p:spPr>
            <a:xfrm>
              <a:off x="1524000" y="2857500"/>
              <a:ext cx="9144000" cy="9525"/>
            </a:xfrm>
            <a:custGeom>
              <a:avLst/>
              <a:gdLst/>
              <a:ahLst/>
              <a:cxnLst/>
              <a:rect l="l" t="t" r="r" b="b"/>
              <a:pathLst>
                <a:path w="9144000" h="9525">
                  <a:moveTo>
                    <a:pt x="0" y="0"/>
                  </a:moveTo>
                  <a:lnTo>
                    <a:pt x="9144000" y="0"/>
                  </a:lnTo>
                </a:path>
              </a:pathLst>
            </a:custGeom>
            <a:noFill/>
            <a:ln w="47625">
              <a:solidFill>
                <a:schemeClr val="accent6"/>
              </a:solidFill>
            </a:ln>
          </p:spPr>
        </p:sp>
        <p:sp>
          <p:nvSpPr>
            <p:cNvPr id="6" name="Ellipse 6"/>
            <p:cNvSpPr/>
            <p:nvPr/>
          </p:nvSpPr>
          <p:spPr>
            <a:xfrm>
              <a:off x="1362075" y="2695575"/>
              <a:ext cx="323850" cy="323850"/>
            </a:xfrm>
            <a:prstGeom prst="ellipse">
              <a:avLst/>
            </a:prstGeom>
            <a:solidFill>
              <a:schemeClr val="accent1"/>
            </a:solidFill>
            <a:ln>
              <a:noFill/>
            </a:ln>
          </p:spPr>
        </p:sp>
        <p:sp>
          <p:nvSpPr>
            <p:cNvPr id="7" name="Ellipse 7"/>
            <p:cNvSpPr/>
            <p:nvPr/>
          </p:nvSpPr>
          <p:spPr>
            <a:xfrm>
              <a:off x="5934075" y="2695575"/>
              <a:ext cx="323850" cy="323850"/>
            </a:xfrm>
            <a:prstGeom prst="ellipse">
              <a:avLst/>
            </a:prstGeom>
            <a:solidFill>
              <a:schemeClr val="accent2"/>
            </a:solidFill>
            <a:ln>
              <a:noFill/>
            </a:ln>
          </p:spPr>
        </p:sp>
        <p:sp>
          <p:nvSpPr>
            <p:cNvPr id="8" name="Ellipse 8"/>
            <p:cNvSpPr/>
            <p:nvPr/>
          </p:nvSpPr>
          <p:spPr>
            <a:xfrm>
              <a:off x="10506075" y="2695575"/>
              <a:ext cx="323850" cy="323850"/>
            </a:xfrm>
            <a:prstGeom prst="ellipse">
              <a:avLst/>
            </a:prstGeom>
            <a:solidFill>
              <a:schemeClr val="accent1"/>
            </a:solidFill>
            <a:ln>
              <a:noFill/>
            </a:ln>
          </p:spPr>
        </p:sp>
        <p:grpSp>
          <p:nvGrpSpPr>
            <p:cNvPr id="12" name="Group 12"/>
            <p:cNvGrpSpPr/>
            <p:nvPr/>
          </p:nvGrpSpPr>
          <p:grpSpPr>
            <a:xfrm>
              <a:off x="631911" y="2198370"/>
              <a:ext cx="10928177" cy="469392"/>
              <a:chOff x="631911" y="2198370"/>
              <a:chExt cx="10928177" cy="469392"/>
            </a:xfrm>
          </p:grpSpPr>
          <p:sp>
            <p:nvSpPr>
              <p:cNvPr id="9" name="TextBox 9"/>
              <p:cNvSpPr txBox="1"/>
              <p:nvPr/>
            </p:nvSpPr>
            <p:spPr>
              <a:xfrm>
                <a:off x="631911" y="2198370"/>
                <a:ext cx="1784177" cy="469392"/>
              </a:xfrm>
              <a:prstGeom prst="rect">
                <a:avLst/>
              </a:prstGeom>
              <a:noFill/>
              <a:ln>
                <a:noFill/>
              </a:ln>
            </p:spPr>
            <p:txBody>
              <a:bodyPr wrap="none" lIns="0" tIns="0" rIns="0" bIns="0" anchor="t" anchorCtr="0">
                <a:spAutoFit/>
              </a:bodyPr>
              <a:lstStyle/>
              <a:p>
                <a:pPr algn="ctr"/>
                <a:r>
                  <a:rPr lang="zh-CN" sz="2400" b="1" dirty="0">
                    <a:solidFill>
                      <a:schemeClr val="accent1"/>
                    </a:solidFill>
                    <a:latin typeface="+mn-lt"/>
                    <a:ea typeface="+mn-ea"/>
                    <a:cs typeface="+mn-cs"/>
                  </a:rPr>
                  <a:t>发起V2检查</a:t>
                </a:r>
              </a:p>
            </p:txBody>
          </p:sp>
          <p:sp>
            <p:nvSpPr>
              <p:cNvPr id="10" name="TextBox 10"/>
              <p:cNvSpPr txBox="1"/>
              <p:nvPr/>
            </p:nvSpPr>
            <p:spPr>
              <a:xfrm>
                <a:off x="4691847" y="2198370"/>
                <a:ext cx="2808305" cy="469392"/>
              </a:xfrm>
              <a:prstGeom prst="rect">
                <a:avLst/>
              </a:prstGeom>
              <a:noFill/>
              <a:ln>
                <a:noFill/>
              </a:ln>
            </p:spPr>
            <p:txBody>
              <a:bodyPr wrap="none" lIns="0" tIns="0" rIns="0" bIns="0" anchor="t" anchorCtr="0">
                <a:spAutoFit/>
              </a:bodyPr>
              <a:lstStyle/>
              <a:p>
                <a:pPr algn="ctr"/>
                <a:r>
                  <a:rPr lang="zh-CN" sz="2400" b="1" dirty="0">
                    <a:solidFill>
                      <a:schemeClr val="accent2"/>
                    </a:solidFill>
                    <a:latin typeface="+mn-lt"/>
                    <a:ea typeface="+mn-ea"/>
                    <a:cs typeface="+mn-cs"/>
                  </a:rPr>
                  <a:t>当前V3待有效检查</a:t>
                </a:r>
              </a:p>
            </p:txBody>
          </p:sp>
          <p:sp>
            <p:nvSpPr>
              <p:cNvPr id="11" name="TextBox 11"/>
              <p:cNvSpPr txBox="1"/>
              <p:nvPr/>
            </p:nvSpPr>
            <p:spPr>
              <a:xfrm>
                <a:off x="9775911" y="2198370"/>
                <a:ext cx="1784177" cy="469392"/>
              </a:xfrm>
              <a:prstGeom prst="rect">
                <a:avLst/>
              </a:prstGeom>
              <a:noFill/>
              <a:ln>
                <a:noFill/>
              </a:ln>
            </p:spPr>
            <p:txBody>
              <a:bodyPr wrap="none" lIns="0" tIns="0" rIns="0" bIns="0" anchor="t" anchorCtr="0">
                <a:spAutoFit/>
              </a:bodyPr>
              <a:lstStyle/>
              <a:p>
                <a:pPr algn="ctr"/>
                <a:r>
                  <a:rPr lang="zh-CN" sz="2400" b="1" dirty="0">
                    <a:solidFill>
                      <a:schemeClr val="accent1"/>
                    </a:solidFill>
                    <a:latin typeface="+mn-lt"/>
                    <a:ea typeface="+mn-ea"/>
                    <a:cs typeface="+mn-cs"/>
                  </a:rPr>
                  <a:t>V2结果归档</a:t>
                </a:r>
              </a:p>
            </p:txBody>
          </p:sp>
        </p:grpSp>
        <p:grpSp>
          <p:nvGrpSpPr>
            <p:cNvPr id="16" name="Group 16"/>
            <p:cNvGrpSpPr/>
            <p:nvPr/>
          </p:nvGrpSpPr>
          <p:grpSpPr>
            <a:xfrm>
              <a:off x="424434" y="3368040"/>
              <a:ext cx="11417655" cy="352044"/>
              <a:chOff x="424434" y="3368040"/>
              <a:chExt cx="11417655" cy="352044"/>
            </a:xfrm>
          </p:grpSpPr>
          <p:sp>
            <p:nvSpPr>
              <p:cNvPr id="13" name="TextBox 13"/>
              <p:cNvSpPr txBox="1"/>
              <p:nvPr/>
            </p:nvSpPr>
            <p:spPr>
              <a:xfrm>
                <a:off x="424434" y="3368040"/>
                <a:ext cx="2199132"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固定正文、依据版本</a:t>
                </a:r>
              </a:p>
            </p:txBody>
          </p:sp>
          <p:sp>
            <p:nvSpPr>
              <p:cNvPr id="14" name="TextBox 14"/>
              <p:cNvSpPr txBox="1"/>
              <p:nvPr/>
            </p:nvSpPr>
            <p:spPr>
              <a:xfrm>
                <a:off x="4996434" y="3368040"/>
                <a:ext cx="2199132"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不拿旧结果直接确认</a:t>
                </a:r>
              </a:p>
            </p:txBody>
          </p:sp>
          <p:sp>
            <p:nvSpPr>
              <p:cNvPr id="15" name="TextBox 15"/>
              <p:cNvSpPr txBox="1"/>
              <p:nvPr/>
            </p:nvSpPr>
            <p:spPr>
              <a:xfrm>
                <a:off x="9493910" y="3368040"/>
                <a:ext cx="2348179"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始终绑定发起时的V2</a:t>
                </a:r>
              </a:p>
            </p:txBody>
          </p:sp>
        </p:grpSp>
      </p:grpSp>
      <p:grpSp>
        <p:nvGrpSpPr>
          <p:cNvPr id="22" name="Group 22"/>
          <p:cNvGrpSpPr/>
          <p:nvPr/>
        </p:nvGrpSpPr>
        <p:grpSpPr>
          <a:xfrm>
            <a:off x="457200" y="4581525"/>
            <a:ext cx="11277600" cy="1504950"/>
            <a:chOff x="457200" y="4581525"/>
            <a:chExt cx="11277600" cy="1504950"/>
          </a:xfrm>
        </p:grpSpPr>
        <p:sp>
          <p:nvSpPr>
            <p:cNvPr id="18" name="Rectangle 18"/>
            <p:cNvSpPr/>
            <p:nvPr/>
          </p:nvSpPr>
          <p:spPr>
            <a:xfrm>
              <a:off x="457200" y="4581525"/>
              <a:ext cx="11277600" cy="1504950"/>
            </a:xfrm>
            <a:prstGeom prst="roundRect">
              <a:avLst>
                <a:gd name="adj" fmla="val 7595"/>
              </a:avLst>
            </a:prstGeom>
            <a:solidFill>
              <a:schemeClr val="lt2"/>
            </a:solidFill>
            <a:ln>
              <a:noFill/>
            </a:ln>
          </p:spPr>
        </p:sp>
        <p:sp>
          <p:nvSpPr>
            <p:cNvPr id="19" name="TextBox 19"/>
            <p:cNvSpPr txBox="1"/>
            <p:nvPr/>
          </p:nvSpPr>
          <p:spPr>
            <a:xfrm>
              <a:off x="730758" y="4760595"/>
              <a:ext cx="583996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不覆盖旧任务，也不让旧结果覆盖新稿。</a:t>
              </a:r>
            </a:p>
          </p:txBody>
        </p:sp>
        <p:sp>
          <p:nvSpPr>
            <p:cNvPr id="20" name="TextBox 20"/>
            <p:cNvSpPr txBox="1"/>
            <p:nvPr/>
          </p:nvSpPr>
          <p:spPr>
            <a:xfrm>
              <a:off x="732282" y="5345430"/>
              <a:ext cx="595807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按复用条件重查受影响项；不确定时全文重查。</a:t>
              </a:r>
            </a:p>
          </p:txBody>
        </p:sp>
        <p:sp>
          <p:nvSpPr>
            <p:cNvPr id="21" name="TextBox 21"/>
            <p:cNvSpPr txBox="1"/>
            <p:nvPr/>
          </p:nvSpPr>
          <p:spPr>
            <a:xfrm>
              <a:off x="735330" y="5791200"/>
              <a:ext cx="667893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正式结论对应实际提交版本；服务返回成功，只说明这一次请求执行结束。</a:t>
              </a:r>
            </a:p>
          </p:txBody>
        </p:sp>
      </p:grpSp>
      <p:grpSp>
        <p:nvGrpSpPr>
          <p:cNvPr id="34" name="Group 34"/>
          <p:cNvGrpSpPr/>
          <p:nvPr/>
        </p:nvGrpSpPr>
        <p:grpSpPr>
          <a:xfrm>
            <a:off x="0" y="6286500"/>
            <a:ext cx="12192000" cy="571500"/>
            <a:chOff x="0" y="6286500"/>
            <a:chExt cx="12192000" cy="571500"/>
          </a:xfrm>
        </p:grpSpPr>
        <p:sp>
          <p:nvSpPr>
            <p:cNvPr id="23" name="Rectangle 23"/>
            <p:cNvSpPr/>
            <p:nvPr/>
          </p:nvSpPr>
          <p:spPr>
            <a:xfrm>
              <a:off x="0" y="6286500"/>
              <a:ext cx="12192000" cy="571500"/>
            </a:xfrm>
            <a:prstGeom prst="rect">
              <a:avLst/>
            </a:prstGeom>
            <a:solidFill>
              <a:srgbClr val="FFFFFF"/>
            </a:solidFill>
            <a:ln>
              <a:noFill/>
            </a:ln>
          </p:spPr>
        </p:sp>
        <p:sp>
          <p:nvSpPr>
            <p:cNvPr id="24" name="Line 24"/>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32" name="Group 32"/>
            <p:cNvGrpSpPr/>
            <p:nvPr/>
          </p:nvGrpSpPr>
          <p:grpSpPr>
            <a:xfrm>
              <a:off x="451866" y="6468428"/>
              <a:ext cx="9783070" cy="205359"/>
              <a:chOff x="451866" y="6468428"/>
              <a:chExt cx="9783070" cy="205359"/>
            </a:xfrm>
          </p:grpSpPr>
          <p:sp>
            <p:nvSpPr>
              <p:cNvPr id="25" name="TextBox 25"/>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6" name="TextBox 26"/>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7" name="TextBox 27"/>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8" name="TextBox 28"/>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9" name="TextBox 29"/>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30" name="TextBox 30"/>
              <p:cNvSpPr txBox="1"/>
              <p:nvPr/>
            </p:nvSpPr>
            <p:spPr>
              <a:xfrm>
                <a:off x="8024241"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6 产品方案</a:t>
                </a:r>
              </a:p>
            </p:txBody>
          </p:sp>
          <p:sp>
            <p:nvSpPr>
              <p:cNvPr id="31" name="TextBox 31"/>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33" name="TextBox 33"/>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50 / 70</a:t>
              </a:r>
            </a:p>
          </p:txBody>
        </p:sp>
      </p:grpSp>
    </p:spTree>
  </p:cSld>
  <p:clrMapOvr>
    <a:masterClrMapping/>
  </p:clrMapOvr>
  <p:transition xmlns:p14="http://schemas.microsoft.com/office/powerpoint/2010/main" p14:dur="400">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240905" cy="1038035"/>
            <a:chOff x="441198" y="428625"/>
            <a:chExt cx="7240905" cy="1038035"/>
          </a:xfrm>
        </p:grpSpPr>
        <p:sp>
          <p:nvSpPr>
            <p:cNvPr id="2" name="TextBox 2"/>
            <p:cNvSpPr txBox="1"/>
            <p:nvPr/>
          </p:nvSpPr>
          <p:spPr>
            <a:xfrm>
              <a:off x="449580" y="428625"/>
              <a:ext cx="357930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6.3 页面、权限与异常</a:t>
              </a:r>
            </a:p>
          </p:txBody>
        </p:sp>
        <p:sp>
          <p:nvSpPr>
            <p:cNvPr id="3" name="TextBox 3"/>
            <p:cNvSpPr txBox="1"/>
            <p:nvPr/>
          </p:nvSpPr>
          <p:spPr>
            <a:xfrm>
              <a:off x="441198" y="850583"/>
              <a:ext cx="7240905"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先看：原句、问题和依据怎样接在一起</a:t>
              </a:r>
            </a:p>
          </p:txBody>
        </p:sp>
      </p:grpSp>
      <p:grpSp>
        <p:nvGrpSpPr>
          <p:cNvPr id="6" name="Group 6"/>
          <p:cNvGrpSpPr/>
          <p:nvPr/>
        </p:nvGrpSpPr>
        <p:grpSpPr>
          <a:xfrm>
            <a:off x="457200" y="1685925"/>
            <a:ext cx="8077200" cy="4543425"/>
            <a:chOff x="457200" y="1685925"/>
            <a:chExt cx="8077200" cy="4543425"/>
          </a:xfrm>
        </p:grpSpPr>
        <p:pic>
          <p:nvPicPr>
            <p:cNvPr id="5" name="Image 5"/>
            <p:cNvPicPr>
              <a:picLocks noChangeAspect="1"/>
            </p:cNvPicPr>
            <p:nvPr/>
          </p:nvPicPr>
          <p:blipFill>
            <a:blip r:embed="rId2"/>
            <a:stretch>
              <a:fillRect/>
            </a:stretch>
          </p:blipFill>
          <p:spPr>
            <a:xfrm>
              <a:off x="457200" y="1685925"/>
              <a:ext cx="8077200" cy="4543425"/>
            </a:xfrm>
            <a:prstGeom prst="rect">
              <a:avLst/>
            </a:prstGeom>
          </p:spPr>
        </p:pic>
      </p:grpSp>
      <p:grpSp>
        <p:nvGrpSpPr>
          <p:cNvPr id="14" name="Group 14"/>
          <p:cNvGrpSpPr/>
          <p:nvPr/>
        </p:nvGrpSpPr>
        <p:grpSpPr>
          <a:xfrm>
            <a:off x="8885682" y="1897380"/>
            <a:ext cx="2849118" cy="3891915"/>
            <a:chOff x="8885682" y="1897380"/>
            <a:chExt cx="2849118" cy="3891915"/>
          </a:xfrm>
        </p:grpSpPr>
        <p:sp>
          <p:nvSpPr>
            <p:cNvPr id="7" name="TextBox 7"/>
            <p:cNvSpPr txBox="1"/>
            <p:nvPr/>
          </p:nvSpPr>
          <p:spPr>
            <a:xfrm>
              <a:off x="8885682" y="1897380"/>
              <a:ext cx="143484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观察三件事</a:t>
              </a:r>
            </a:p>
          </p:txBody>
        </p:sp>
        <p:sp>
          <p:nvSpPr>
            <p:cNvPr id="8" name="TextBox 8"/>
            <p:cNvSpPr txBox="1"/>
            <p:nvPr/>
          </p:nvSpPr>
          <p:spPr>
            <a:xfrm>
              <a:off x="8887206" y="2558415"/>
              <a:ext cx="181142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01 当前正文版本</a:t>
              </a:r>
            </a:p>
          </p:txBody>
        </p:sp>
        <p:sp>
          <p:nvSpPr>
            <p:cNvPr id="9" name="TextBox 9"/>
            <p:cNvSpPr txBox="1"/>
            <p:nvPr/>
          </p:nvSpPr>
          <p:spPr>
            <a:xfrm>
              <a:off x="8887206" y="3187065"/>
              <a:ext cx="205374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02 覆盖与未完成项</a:t>
              </a:r>
            </a:p>
          </p:txBody>
        </p:sp>
        <p:sp>
          <p:nvSpPr>
            <p:cNvPr id="10" name="TextBox 10"/>
            <p:cNvSpPr txBox="1"/>
            <p:nvPr/>
          </p:nvSpPr>
          <p:spPr>
            <a:xfrm>
              <a:off x="8887206" y="3815715"/>
              <a:ext cx="205374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03 定位与展开依据</a:t>
              </a:r>
            </a:p>
          </p:txBody>
        </p:sp>
        <p:sp>
          <p:nvSpPr>
            <p:cNvPr id="11" name="Line 11"/>
            <p:cNvSpPr/>
            <p:nvPr/>
          </p:nvSpPr>
          <p:spPr>
            <a:xfrm>
              <a:off x="8896350" y="4438650"/>
              <a:ext cx="2838450" cy="9525"/>
            </a:xfrm>
            <a:custGeom>
              <a:avLst/>
              <a:gdLst/>
              <a:ahLst/>
              <a:cxnLst/>
              <a:rect l="l" t="t" r="r" b="b"/>
              <a:pathLst>
                <a:path w="2838450" h="9525">
                  <a:moveTo>
                    <a:pt x="0" y="0"/>
                  </a:moveTo>
                  <a:lnTo>
                    <a:pt x="2838450" y="0"/>
                  </a:lnTo>
                </a:path>
              </a:pathLst>
            </a:custGeom>
            <a:noFill/>
            <a:ln w="19050">
              <a:solidFill>
                <a:schemeClr val="accent6"/>
              </a:solidFill>
            </a:ln>
          </p:spPr>
        </p:sp>
        <p:sp>
          <p:nvSpPr>
            <p:cNvPr id="12" name="TextBox 12"/>
            <p:cNvSpPr txBox="1"/>
            <p:nvPr/>
          </p:nvSpPr>
          <p:spPr>
            <a:xfrm>
              <a:off x="8887206" y="4692015"/>
              <a:ext cx="1956816"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本地预设规则演示</a:t>
              </a:r>
            </a:p>
          </p:txBody>
        </p:sp>
        <p:sp>
          <p:nvSpPr>
            <p:cNvPr id="13" name="TextBox 13"/>
            <p:cNvSpPr txBox="1"/>
            <p:nvPr/>
          </p:nvSpPr>
          <p:spPr>
            <a:xfrm>
              <a:off x="8888730" y="5153025"/>
              <a:ext cx="1539240" cy="636270"/>
            </a:xfrm>
            <a:prstGeom prst="rect">
              <a:avLst/>
            </a:prstGeom>
            <a:noFill/>
            <a:ln>
              <a:noFill/>
            </a:ln>
          </p:spPr>
          <p:txBody>
            <a:bodyPr wrap="none" lIns="0" tIns="0" rIns="0" bIns="0" anchor="t" anchorCtr="0">
              <a:spAutoFit/>
            </a:bodyPr>
            <a:lstStyle/>
            <a:p>
              <a:pPr algn="l">
                <a:lnSpc>
                  <a:spcPts val="2700"/>
                </a:lnSpc>
              </a:pPr>
              <a:r>
                <a:rPr lang="zh-CN" sz="1500" dirty="0">
                  <a:solidFill>
                    <a:schemeClr val="accent5"/>
                  </a:solidFill>
                  <a:latin typeface="+mn-lt"/>
                  <a:ea typeface="+mn-ea"/>
                  <a:cs typeface="+mn-cs"/>
                </a:rPr>
                <a:t>没有接入真实模型</a:t>
              </a:r>
              <a:br/>
              <a:r>
                <a:rPr lang="zh-CN" sz="1500" dirty="0">
                  <a:solidFill>
                    <a:schemeClr val="accent5"/>
                  </a:solidFill>
                  <a:latin typeface="+mn-lt"/>
                  <a:ea typeface="+mn-ea"/>
                  <a:cs typeface="+mn-cs"/>
                </a:rPr>
                <a:t>或真实发布系统</a:t>
              </a:r>
            </a:p>
          </p:txBody>
        </p:sp>
      </p:grpSp>
      <p:grpSp>
        <p:nvGrpSpPr>
          <p:cNvPr id="26" name="Group 26"/>
          <p:cNvGrpSpPr/>
          <p:nvPr/>
        </p:nvGrpSpPr>
        <p:grpSpPr>
          <a:xfrm>
            <a:off x="0" y="6286500"/>
            <a:ext cx="12192000" cy="571500"/>
            <a:chOff x="0" y="6286500"/>
            <a:chExt cx="12192000" cy="571500"/>
          </a:xfrm>
        </p:grpSpPr>
        <p:sp>
          <p:nvSpPr>
            <p:cNvPr id="15" name="Rectangle 15"/>
            <p:cNvSpPr/>
            <p:nvPr/>
          </p:nvSpPr>
          <p:spPr>
            <a:xfrm>
              <a:off x="0" y="6286500"/>
              <a:ext cx="12192000" cy="571500"/>
            </a:xfrm>
            <a:prstGeom prst="rect">
              <a:avLst/>
            </a:prstGeom>
            <a:solidFill>
              <a:srgbClr val="FFFFFF"/>
            </a:solidFill>
            <a:ln>
              <a:noFill/>
            </a:ln>
          </p:spPr>
        </p:sp>
        <p:sp>
          <p:nvSpPr>
            <p:cNvPr id="16" name="Line 16"/>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4" name="Group 24"/>
            <p:cNvGrpSpPr/>
            <p:nvPr/>
          </p:nvGrpSpPr>
          <p:grpSpPr>
            <a:xfrm>
              <a:off x="451866" y="6468428"/>
              <a:ext cx="9783070" cy="205359"/>
              <a:chOff x="451866" y="6468428"/>
              <a:chExt cx="9783070" cy="205359"/>
            </a:xfrm>
          </p:grpSpPr>
          <p:sp>
            <p:nvSpPr>
              <p:cNvPr id="17" name="TextBox 17"/>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18" name="TextBox 18"/>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19" name="TextBox 19"/>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0" name="TextBox 20"/>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1" name="TextBox 21"/>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2" name="TextBox 22"/>
              <p:cNvSpPr txBox="1"/>
              <p:nvPr/>
            </p:nvSpPr>
            <p:spPr>
              <a:xfrm>
                <a:off x="8024241"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6 产品方案</a:t>
                </a:r>
              </a:p>
            </p:txBody>
          </p:sp>
          <p:sp>
            <p:nvSpPr>
              <p:cNvPr id="23" name="TextBox 23"/>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25" name="TextBox 25"/>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51 / 70</a:t>
              </a:r>
            </a:p>
          </p:txBody>
        </p:sp>
      </p:grpSp>
    </p:spTree>
  </p:cSld>
  <p:clrMapOvr>
    <a:masterClrMapping/>
  </p:clrMapOvr>
  <p:transition xmlns:p14="http://schemas.microsoft.com/office/powerpoint/2010/main" p14:dur="400">
    <p:fad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100202" cy="1038035"/>
            <a:chOff x="441198" y="428625"/>
            <a:chExt cx="6100202" cy="1038035"/>
          </a:xfrm>
        </p:grpSpPr>
        <p:sp>
          <p:nvSpPr>
            <p:cNvPr id="2" name="TextBox 2"/>
            <p:cNvSpPr txBox="1"/>
            <p:nvPr/>
          </p:nvSpPr>
          <p:spPr>
            <a:xfrm>
              <a:off x="449580" y="428625"/>
              <a:ext cx="357930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6.3 页面、权限与异常</a:t>
              </a:r>
            </a:p>
          </p:txBody>
        </p:sp>
        <p:sp>
          <p:nvSpPr>
            <p:cNvPr id="3" name="TextBox 3"/>
            <p:cNvSpPr txBox="1"/>
            <p:nvPr/>
          </p:nvSpPr>
          <p:spPr>
            <a:xfrm>
              <a:off x="441198" y="850583"/>
              <a:ext cx="610020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把“看到问题”，接到“完成判断”</a:t>
              </a:r>
            </a:p>
          </p:txBody>
        </p:sp>
      </p:grpSp>
      <p:grpSp>
        <p:nvGrpSpPr>
          <p:cNvPr id="12" name="Group 12"/>
          <p:cNvGrpSpPr/>
          <p:nvPr/>
        </p:nvGrpSpPr>
        <p:grpSpPr>
          <a:xfrm>
            <a:off x="457200" y="1790700"/>
            <a:ext cx="5353050" cy="3724275"/>
            <a:chOff x="457200" y="1790700"/>
            <a:chExt cx="5353050" cy="3724275"/>
          </a:xfrm>
        </p:grpSpPr>
        <p:sp>
          <p:nvSpPr>
            <p:cNvPr id="5" name="Rectangle 5"/>
            <p:cNvSpPr/>
            <p:nvPr/>
          </p:nvSpPr>
          <p:spPr>
            <a:xfrm>
              <a:off x="457200" y="1790700"/>
              <a:ext cx="5353050" cy="3724275"/>
            </a:xfrm>
            <a:prstGeom prst="roundRect">
              <a:avLst>
                <a:gd name="adj" fmla="val 3069"/>
              </a:avLst>
            </a:prstGeom>
            <a:solidFill>
              <a:srgbClr val="FFFFFF"/>
            </a:solidFill>
            <a:ln>
              <a:noFill/>
            </a:ln>
          </p:spPr>
        </p:sp>
        <p:sp>
          <p:nvSpPr>
            <p:cNvPr id="6" name="TextBox 6"/>
            <p:cNvSpPr txBox="1"/>
            <p:nvPr/>
          </p:nvSpPr>
          <p:spPr>
            <a:xfrm>
              <a:off x="714756" y="2005965"/>
              <a:ext cx="2535723"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正文 V2 / P1本次活动</a:t>
              </a:r>
            </a:p>
          </p:txBody>
        </p:sp>
        <p:sp>
          <p:nvSpPr>
            <p:cNvPr id="7" name="TextBox 7"/>
            <p:cNvSpPr txBox="1"/>
            <p:nvPr/>
          </p:nvSpPr>
          <p:spPr>
            <a:xfrm>
              <a:off x="713232" y="2573655"/>
              <a:ext cx="331481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基站支持65℃热水洗拖布。</a:t>
              </a:r>
            </a:p>
          </p:txBody>
        </p:sp>
        <p:sp>
          <p:nvSpPr>
            <p:cNvPr id="8" name="Rectangle 8"/>
            <p:cNvSpPr/>
            <p:nvPr/>
          </p:nvSpPr>
          <p:spPr>
            <a:xfrm>
              <a:off x="666750" y="3076575"/>
              <a:ext cx="4810125" cy="523875"/>
            </a:xfrm>
            <a:prstGeom prst="roundRect">
              <a:avLst>
                <a:gd name="adj" fmla="val 10909"/>
              </a:avLst>
            </a:prstGeom>
            <a:solidFill>
              <a:srgbClr val="F8E7DF"/>
            </a:solidFill>
            <a:ln>
              <a:noFill/>
            </a:ln>
          </p:spPr>
        </p:sp>
        <p:sp>
          <p:nvSpPr>
            <p:cNvPr id="9" name="TextBox 9"/>
            <p:cNvSpPr txBox="1"/>
            <p:nvPr/>
          </p:nvSpPr>
          <p:spPr>
            <a:xfrm>
              <a:off x="713232" y="3202305"/>
              <a:ext cx="3470300"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本次活动领券到手1799元。</a:t>
              </a:r>
            </a:p>
          </p:txBody>
        </p:sp>
        <p:sp>
          <p:nvSpPr>
            <p:cNvPr id="10" name="TextBox 10"/>
            <p:cNvSpPr txBox="1"/>
            <p:nvPr/>
          </p:nvSpPr>
          <p:spPr>
            <a:xfrm>
              <a:off x="714756" y="3882390"/>
              <a:ext cx="2990088" cy="733044"/>
            </a:xfrm>
            <a:prstGeom prst="rect">
              <a:avLst/>
            </a:prstGeom>
            <a:noFill/>
            <a:ln>
              <a:noFill/>
            </a:ln>
          </p:spPr>
          <p:txBody>
            <a:bodyPr wrap="none" lIns="0" tIns="0" rIns="0" bIns="0" anchor="t" anchorCtr="0">
              <a:spAutoFit/>
            </a:bodyPr>
            <a:lstStyle/>
            <a:p>
              <a:pPr algn="l">
                <a:lnSpc>
                  <a:spcPts val="3000"/>
                </a:lnSpc>
              </a:pPr>
              <a:r>
                <a:rPr lang="zh-CN" sz="1800" dirty="0">
                  <a:solidFill>
                    <a:schemeClr val="dk1"/>
                  </a:solidFill>
                  <a:latin typeface="+mn-lt"/>
                  <a:ea typeface="+mn-ea"/>
                  <a:cs typeface="+mn-cs"/>
                </a:rPr>
                <a:t>作者说明：希望保留短句，</a:t>
              </a:r>
              <a:br/>
              <a:r>
                <a:rPr lang="zh-CN" sz="1800" dirty="0">
                  <a:solidFill>
                    <a:schemeClr val="dk1"/>
                  </a:solidFill>
                  <a:latin typeface="+mn-lt"/>
                  <a:ea typeface="+mn-ea"/>
                  <a:cs typeface="+mn-cs"/>
                </a:rPr>
                <a:t>价格条件请活动负责人确认。</a:t>
              </a:r>
            </a:p>
          </p:txBody>
        </p:sp>
        <p:sp>
          <p:nvSpPr>
            <p:cNvPr id="11" name="TextBox 11"/>
            <p:cNvSpPr txBox="1"/>
            <p:nvPr/>
          </p:nvSpPr>
          <p:spPr>
            <a:xfrm>
              <a:off x="716280" y="5029200"/>
              <a:ext cx="284226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原句与对应问题，支持双向定位</a:t>
              </a:r>
            </a:p>
          </p:txBody>
        </p:sp>
      </p:grpSp>
      <p:grpSp>
        <p:nvGrpSpPr>
          <p:cNvPr id="19" name="Group 19"/>
          <p:cNvGrpSpPr/>
          <p:nvPr/>
        </p:nvGrpSpPr>
        <p:grpSpPr>
          <a:xfrm>
            <a:off x="6305550" y="1790700"/>
            <a:ext cx="5429250" cy="3724275"/>
            <a:chOff x="6305550" y="1790700"/>
            <a:chExt cx="5429250" cy="3724275"/>
          </a:xfrm>
        </p:grpSpPr>
        <p:sp>
          <p:nvSpPr>
            <p:cNvPr id="13" name="Rectangle 13"/>
            <p:cNvSpPr/>
            <p:nvPr/>
          </p:nvSpPr>
          <p:spPr>
            <a:xfrm>
              <a:off x="6305550" y="1790700"/>
              <a:ext cx="5429250" cy="3724275"/>
            </a:xfrm>
            <a:prstGeom prst="roundRect">
              <a:avLst>
                <a:gd name="adj" fmla="val 3069"/>
              </a:avLst>
            </a:prstGeom>
            <a:solidFill>
              <a:schemeClr val="lt2"/>
            </a:solidFill>
            <a:ln>
              <a:noFill/>
            </a:ln>
          </p:spPr>
        </p:sp>
        <p:sp>
          <p:nvSpPr>
            <p:cNvPr id="14" name="TextBox 14"/>
            <p:cNvSpPr txBox="1"/>
            <p:nvPr/>
          </p:nvSpPr>
          <p:spPr>
            <a:xfrm>
              <a:off x="6563106" y="2005965"/>
              <a:ext cx="2734045"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价格条件 / 等待人工判断</a:t>
              </a:r>
            </a:p>
          </p:txBody>
        </p:sp>
        <p:sp>
          <p:nvSpPr>
            <p:cNvPr id="15" name="TextBox 15"/>
            <p:cNvSpPr txBox="1"/>
            <p:nvPr/>
          </p:nvSpPr>
          <p:spPr>
            <a:xfrm>
              <a:off x="6561582" y="2573655"/>
              <a:ext cx="397916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缺新会员资格及两类券领用条件</a:t>
              </a:r>
            </a:p>
          </p:txBody>
        </p:sp>
        <p:sp>
          <p:nvSpPr>
            <p:cNvPr id="16" name="TextBox 16"/>
            <p:cNvSpPr txBox="1"/>
            <p:nvPr/>
          </p:nvSpPr>
          <p:spPr>
            <a:xfrm>
              <a:off x="6563106" y="3215640"/>
              <a:ext cx="399452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依据：F-PROMO-01 v1 / 本次活动</a:t>
              </a:r>
            </a:p>
          </p:txBody>
        </p:sp>
        <p:sp>
          <p:nvSpPr>
            <p:cNvPr id="17" name="TextBox 17"/>
            <p:cNvSpPr txBox="1"/>
            <p:nvPr/>
          </p:nvSpPr>
          <p:spPr>
            <a:xfrm>
              <a:off x="6563106" y="3720465"/>
              <a:ext cx="3447288" cy="733044"/>
            </a:xfrm>
            <a:prstGeom prst="rect">
              <a:avLst/>
            </a:prstGeom>
            <a:noFill/>
            <a:ln>
              <a:noFill/>
            </a:ln>
          </p:spPr>
          <p:txBody>
            <a:bodyPr wrap="none" lIns="0" tIns="0" rIns="0" bIns="0" anchor="t" anchorCtr="0">
              <a:spAutoFit/>
            </a:bodyPr>
            <a:lstStyle/>
            <a:p>
              <a:pPr algn="l">
                <a:lnSpc>
                  <a:spcPts val="3000"/>
                </a:lnSpc>
              </a:pPr>
              <a:r>
                <a:rPr lang="zh-CN" sz="1800" dirty="0">
                  <a:solidFill>
                    <a:schemeClr val="dk1"/>
                  </a:solidFill>
                  <a:latin typeface="+mn-lt"/>
                  <a:ea typeface="+mn-ea"/>
                  <a:cs typeface="+mn-cs"/>
                </a:rPr>
                <a:t>活动券400元 → 1999元</a:t>
              </a:r>
              <a:br/>
              <a:r>
                <a:rPr lang="zh-CN" sz="1800" dirty="0">
                  <a:solidFill>
                    <a:schemeClr val="dk1"/>
                  </a:solidFill>
                  <a:latin typeface="+mn-lt"/>
                  <a:ea typeface="+mn-ea"/>
                  <a:cs typeface="+mn-cs"/>
                </a:rPr>
                <a:t>新会员再用专享券200元 → 1799元</a:t>
              </a:r>
            </a:p>
          </p:txBody>
        </p:sp>
        <p:sp>
          <p:nvSpPr>
            <p:cNvPr id="18" name="TextBox 18"/>
            <p:cNvSpPr txBox="1"/>
            <p:nvPr/>
          </p:nvSpPr>
          <p:spPr>
            <a:xfrm>
              <a:off x="6563106" y="4796790"/>
              <a:ext cx="421035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确认问题 / 不成立留理由 / 请求补资料</a:t>
              </a:r>
            </a:p>
          </p:txBody>
        </p:sp>
      </p:grpSp>
      <p:grpSp>
        <p:nvGrpSpPr>
          <p:cNvPr id="21" name="Group 21"/>
          <p:cNvGrpSpPr/>
          <p:nvPr/>
        </p:nvGrpSpPr>
        <p:grpSpPr>
          <a:xfrm>
            <a:off x="446532" y="5840730"/>
            <a:ext cx="7413993" cy="410718"/>
            <a:chOff x="446532" y="5840730"/>
            <a:chExt cx="7413993" cy="410718"/>
          </a:xfrm>
        </p:grpSpPr>
        <p:sp>
          <p:nvSpPr>
            <p:cNvPr id="20" name="TextBox 20"/>
            <p:cNvSpPr txBox="1"/>
            <p:nvPr/>
          </p:nvSpPr>
          <p:spPr>
            <a:xfrm>
              <a:off x="446532" y="5840730"/>
              <a:ext cx="7413993"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退回修改 → 新版复核；正式通过由有权限的审核人员执行。</a:t>
              </a:r>
            </a:p>
          </p:txBody>
        </p:sp>
      </p:grpSp>
      <p:grpSp>
        <p:nvGrpSpPr>
          <p:cNvPr id="33" name="Group 33"/>
          <p:cNvGrpSpPr/>
          <p:nvPr/>
        </p:nvGrpSpPr>
        <p:grpSpPr>
          <a:xfrm>
            <a:off x="0" y="6286500"/>
            <a:ext cx="12192000" cy="571500"/>
            <a:chOff x="0" y="6286500"/>
            <a:chExt cx="12192000" cy="571500"/>
          </a:xfrm>
        </p:grpSpPr>
        <p:sp>
          <p:nvSpPr>
            <p:cNvPr id="22" name="Rectangle 22"/>
            <p:cNvSpPr/>
            <p:nvPr/>
          </p:nvSpPr>
          <p:spPr>
            <a:xfrm>
              <a:off x="0" y="6286500"/>
              <a:ext cx="12192000" cy="571500"/>
            </a:xfrm>
            <a:prstGeom prst="rect">
              <a:avLst/>
            </a:prstGeom>
            <a:solidFill>
              <a:srgbClr val="FFFFFF"/>
            </a:solidFill>
            <a:ln>
              <a:noFill/>
            </a:ln>
          </p:spPr>
        </p:sp>
        <p:sp>
          <p:nvSpPr>
            <p:cNvPr id="23" name="Line 23"/>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31" name="Group 31"/>
            <p:cNvGrpSpPr/>
            <p:nvPr/>
          </p:nvGrpSpPr>
          <p:grpSpPr>
            <a:xfrm>
              <a:off x="451866" y="6468428"/>
              <a:ext cx="9783070" cy="205359"/>
              <a:chOff x="451866" y="6468428"/>
              <a:chExt cx="9783070" cy="205359"/>
            </a:xfrm>
          </p:grpSpPr>
          <p:sp>
            <p:nvSpPr>
              <p:cNvPr id="24" name="TextBox 24"/>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5" name="TextBox 25"/>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6" name="TextBox 26"/>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7" name="TextBox 27"/>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8" name="TextBox 28"/>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9" name="TextBox 29"/>
              <p:cNvSpPr txBox="1"/>
              <p:nvPr/>
            </p:nvSpPr>
            <p:spPr>
              <a:xfrm>
                <a:off x="8024241"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6 产品方案</a:t>
                </a:r>
              </a:p>
            </p:txBody>
          </p:sp>
          <p:sp>
            <p:nvSpPr>
              <p:cNvPr id="30" name="TextBox 30"/>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32" name="TextBox 32"/>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52 / 70</a:t>
              </a:r>
            </a:p>
          </p:txBody>
        </p:sp>
      </p:grpSp>
    </p:spTree>
  </p:cSld>
  <p:clrMapOvr>
    <a:masterClrMapping/>
  </p:clrMapOvr>
  <p:transition xmlns:p14="http://schemas.microsoft.com/office/powerpoint/2010/main" p14:dur="400">
    <p:fade/>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458527" cy="1038035"/>
            <a:chOff x="441198" y="428625"/>
            <a:chExt cx="6458527" cy="1038035"/>
          </a:xfrm>
        </p:grpSpPr>
        <p:sp>
          <p:nvSpPr>
            <p:cNvPr id="2" name="TextBox 2"/>
            <p:cNvSpPr txBox="1"/>
            <p:nvPr/>
          </p:nvSpPr>
          <p:spPr>
            <a:xfrm>
              <a:off x="449580" y="428625"/>
              <a:ext cx="357930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6.3 页面、权限与异常</a:t>
              </a:r>
            </a:p>
          </p:txBody>
        </p:sp>
        <p:sp>
          <p:nvSpPr>
            <p:cNvPr id="3" name="TextBox 3"/>
            <p:cNvSpPr txBox="1"/>
            <p:nvPr/>
          </p:nvSpPr>
          <p:spPr>
            <a:xfrm>
              <a:off x="441198" y="850583"/>
              <a:ext cx="6458527"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巡检页，必须看得见“谁还没接住”</a:t>
              </a:r>
            </a:p>
          </p:txBody>
        </p:sp>
      </p:grpSp>
      <p:grpSp>
        <p:nvGrpSpPr>
          <p:cNvPr id="8" name="Group 8"/>
          <p:cNvGrpSpPr/>
          <p:nvPr/>
        </p:nvGrpSpPr>
        <p:grpSpPr>
          <a:xfrm>
            <a:off x="457200" y="1762125"/>
            <a:ext cx="11277600" cy="1000125"/>
            <a:chOff x="457200" y="1762125"/>
            <a:chExt cx="11277600" cy="1000125"/>
          </a:xfrm>
        </p:grpSpPr>
        <p:sp>
          <p:nvSpPr>
            <p:cNvPr id="5" name="Rectangle 5"/>
            <p:cNvSpPr/>
            <p:nvPr/>
          </p:nvSpPr>
          <p:spPr>
            <a:xfrm>
              <a:off x="457200" y="1762125"/>
              <a:ext cx="11277600" cy="1000125"/>
            </a:xfrm>
            <a:prstGeom prst="roundRect">
              <a:avLst>
                <a:gd name="adj" fmla="val 11429"/>
              </a:avLst>
            </a:prstGeom>
            <a:solidFill>
              <a:srgbClr val="102F30"/>
            </a:solidFill>
            <a:ln>
              <a:noFill/>
            </a:ln>
          </p:spPr>
        </p:sp>
        <p:sp>
          <p:nvSpPr>
            <p:cNvPr id="6" name="TextBox 6"/>
            <p:cNvSpPr txBox="1"/>
            <p:nvPr/>
          </p:nvSpPr>
          <p:spPr>
            <a:xfrm>
              <a:off x="713232" y="1935480"/>
              <a:ext cx="4158386"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E-GIFT-01 / 清洁包名额已用完</a:t>
              </a:r>
            </a:p>
          </p:txBody>
        </p:sp>
        <p:sp>
          <p:nvSpPr>
            <p:cNvPr id="7" name="TextBox 7"/>
            <p:cNvSpPr txBox="1"/>
            <p:nvPr/>
          </p:nvSpPr>
          <p:spPr>
            <a:xfrm>
              <a:off x="714756" y="2377440"/>
              <a:ext cx="5833872"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检查运行结束；范围待确认与问题待处理仍需继续跟踪</a:t>
              </a:r>
            </a:p>
          </p:txBody>
        </p:sp>
      </p:grpSp>
      <p:grpSp>
        <p:nvGrpSpPr>
          <p:cNvPr id="13" name="Group 13"/>
          <p:cNvGrpSpPr/>
          <p:nvPr/>
        </p:nvGrpSpPr>
        <p:grpSpPr>
          <a:xfrm>
            <a:off x="457200" y="3143250"/>
            <a:ext cx="7239000" cy="2000250"/>
            <a:chOff x="457200" y="3143250"/>
            <a:chExt cx="7239000" cy="2000250"/>
          </a:xfrm>
        </p:grpSpPr>
        <p:sp>
          <p:nvSpPr>
            <p:cNvPr id="9" name="Rectangle 9"/>
            <p:cNvSpPr/>
            <p:nvPr/>
          </p:nvSpPr>
          <p:spPr>
            <a:xfrm>
              <a:off x="457200" y="3143250"/>
              <a:ext cx="7239000" cy="2000250"/>
            </a:xfrm>
            <a:prstGeom prst="roundRect">
              <a:avLst>
                <a:gd name="adj" fmla="val 5714"/>
              </a:avLst>
            </a:prstGeom>
            <a:solidFill>
              <a:srgbClr val="FFFFFF"/>
            </a:solidFill>
            <a:ln>
              <a:noFill/>
            </a:ln>
          </p:spPr>
        </p:sp>
        <p:sp>
          <p:nvSpPr>
            <p:cNvPr id="10" name="TextBox 10"/>
            <p:cNvSpPr txBox="1"/>
            <p:nvPr/>
          </p:nvSpPr>
          <p:spPr>
            <a:xfrm>
              <a:off x="713232" y="3345180"/>
              <a:ext cx="4545955"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C01 / 处理路径 / 内容负责人小陈</a:t>
              </a:r>
            </a:p>
          </p:txBody>
        </p:sp>
        <p:sp>
          <p:nvSpPr>
            <p:cNvPr id="11" name="TextBox 11"/>
            <p:cNvSpPr txBox="1"/>
            <p:nvPr/>
          </p:nvSpPr>
          <p:spPr>
            <a:xfrm>
              <a:off x="713232" y="3897630"/>
              <a:ext cx="406397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小陈接收 → 小周修改 → 小林复核</a:t>
              </a:r>
            </a:p>
          </p:txBody>
        </p:sp>
        <p:sp>
          <p:nvSpPr>
            <p:cNvPr id="12" name="TextBox 12"/>
            <p:cNvSpPr txBox="1"/>
            <p:nvPr/>
          </p:nvSpPr>
          <p:spPr>
            <a:xfrm>
              <a:off x="713232" y="4469130"/>
              <a:ext cx="4544568"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终点：小陈核验实际使用位置已更新</a:t>
              </a:r>
            </a:p>
          </p:txBody>
        </p:sp>
      </p:grpSp>
      <p:grpSp>
        <p:nvGrpSpPr>
          <p:cNvPr id="17" name="Group 17"/>
          <p:cNvGrpSpPr/>
          <p:nvPr/>
        </p:nvGrpSpPr>
        <p:grpSpPr>
          <a:xfrm>
            <a:off x="8123682" y="3345180"/>
            <a:ext cx="3169920" cy="1508379"/>
            <a:chOff x="8123682" y="3345180"/>
            <a:chExt cx="3169920" cy="1508379"/>
          </a:xfrm>
        </p:grpSpPr>
        <p:sp>
          <p:nvSpPr>
            <p:cNvPr id="14" name="TextBox 14"/>
            <p:cNvSpPr txBox="1"/>
            <p:nvPr/>
          </p:nvSpPr>
          <p:spPr>
            <a:xfrm>
              <a:off x="8123682" y="3345180"/>
              <a:ext cx="2393046"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C06 / 范围待确认</a:t>
              </a:r>
            </a:p>
          </p:txBody>
        </p:sp>
        <p:sp>
          <p:nvSpPr>
            <p:cNvPr id="15" name="TextBox 15"/>
            <p:cNvSpPr txBox="1"/>
            <p:nvPr/>
          </p:nvSpPr>
          <p:spPr>
            <a:xfrm>
              <a:off x="8125206" y="3930015"/>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先核实是否仍在使用</a:t>
              </a:r>
            </a:p>
          </p:txBody>
        </p:sp>
        <p:sp>
          <p:nvSpPr>
            <p:cNvPr id="16" name="TextBox 16"/>
            <p:cNvSpPr txBox="1"/>
            <p:nvPr/>
          </p:nvSpPr>
          <p:spPr>
            <a:xfrm>
              <a:off x="8125206" y="4501515"/>
              <a:ext cx="316839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其他内容：该检查项未见问题</a:t>
              </a:r>
            </a:p>
          </p:txBody>
        </p:sp>
      </p:grpSp>
      <p:sp>
        <p:nvSpPr>
          <p:cNvPr id="18" name="TextBox 18"/>
          <p:cNvSpPr txBox="1"/>
          <p:nvPr/>
        </p:nvSpPr>
        <p:spPr>
          <a:xfrm>
            <a:off x="446532" y="5688330"/>
            <a:ext cx="881336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批次不能因为“运行结束”，就把未解决问题和无人接收事项一起关闭。</a:t>
            </a:r>
          </a:p>
        </p:txBody>
      </p:sp>
      <p:grpSp>
        <p:nvGrpSpPr>
          <p:cNvPr id="30" name="Group 30"/>
          <p:cNvGrpSpPr/>
          <p:nvPr/>
        </p:nvGrpSpPr>
        <p:grpSpPr>
          <a:xfrm>
            <a:off x="0" y="6286500"/>
            <a:ext cx="12192000" cy="571500"/>
            <a:chOff x="0" y="6286500"/>
            <a:chExt cx="12192000" cy="571500"/>
          </a:xfrm>
        </p:grpSpPr>
        <p:sp>
          <p:nvSpPr>
            <p:cNvPr id="19" name="Rectangle 19"/>
            <p:cNvSpPr/>
            <p:nvPr/>
          </p:nvSpPr>
          <p:spPr>
            <a:xfrm>
              <a:off x="0" y="6286500"/>
              <a:ext cx="12192000" cy="571500"/>
            </a:xfrm>
            <a:prstGeom prst="rect">
              <a:avLst/>
            </a:prstGeom>
            <a:solidFill>
              <a:srgbClr val="FFFFFF"/>
            </a:solidFill>
            <a:ln>
              <a:noFill/>
            </a:ln>
          </p:spPr>
        </p:sp>
        <p:sp>
          <p:nvSpPr>
            <p:cNvPr id="20" name="Line 20"/>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8" name="Group 28"/>
            <p:cNvGrpSpPr/>
            <p:nvPr/>
          </p:nvGrpSpPr>
          <p:grpSpPr>
            <a:xfrm>
              <a:off x="451866" y="6468428"/>
              <a:ext cx="9783070" cy="205359"/>
              <a:chOff x="451866" y="6468428"/>
              <a:chExt cx="9783070" cy="205359"/>
            </a:xfrm>
          </p:grpSpPr>
          <p:sp>
            <p:nvSpPr>
              <p:cNvPr id="21" name="TextBox 21"/>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2" name="TextBox 22"/>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3" name="TextBox 23"/>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4" name="TextBox 24"/>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5" name="TextBox 25"/>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6" name="TextBox 26"/>
              <p:cNvSpPr txBox="1"/>
              <p:nvPr/>
            </p:nvSpPr>
            <p:spPr>
              <a:xfrm>
                <a:off x="8024241"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6 产品方案</a:t>
                </a:r>
              </a:p>
            </p:txBody>
          </p:sp>
          <p:sp>
            <p:nvSpPr>
              <p:cNvPr id="27" name="TextBox 27"/>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29" name="TextBox 29"/>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53 / 70</a:t>
              </a:r>
            </a:p>
          </p:txBody>
        </p:sp>
      </p:grpSp>
    </p:spTree>
  </p:cSld>
  <p:clrMapOvr>
    <a:masterClrMapping/>
  </p:clrMapOvr>
  <p:transition xmlns:p14="http://schemas.microsoft.com/office/powerpoint/2010/main" p14:dur="400">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392799" cy="1038035"/>
            <a:chOff x="441198" y="428625"/>
            <a:chExt cx="6392799" cy="1038035"/>
          </a:xfrm>
        </p:grpSpPr>
        <p:sp>
          <p:nvSpPr>
            <p:cNvPr id="2" name="TextBox 2"/>
            <p:cNvSpPr txBox="1"/>
            <p:nvPr/>
          </p:nvSpPr>
          <p:spPr>
            <a:xfrm>
              <a:off x="449580" y="428625"/>
              <a:ext cx="357930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6.3 页面、权限与异常</a:t>
              </a:r>
            </a:p>
          </p:txBody>
        </p:sp>
        <p:sp>
          <p:nvSpPr>
            <p:cNvPr id="3" name="TextBox 3"/>
            <p:cNvSpPr txBox="1"/>
            <p:nvPr/>
          </p:nvSpPr>
          <p:spPr>
            <a:xfrm>
              <a:off x="441198" y="850583"/>
              <a:ext cx="6392799"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页面可以合并，任务和责任不能丢</a:t>
              </a:r>
            </a:p>
          </p:txBody>
        </p:sp>
      </p:grpSp>
      <p:grpSp>
        <p:nvGrpSpPr>
          <p:cNvPr id="7" name="Group 7"/>
          <p:cNvGrpSpPr/>
          <p:nvPr/>
        </p:nvGrpSpPr>
        <p:grpSpPr>
          <a:xfrm>
            <a:off x="445008" y="1998345"/>
            <a:ext cx="2932176" cy="3491103"/>
            <a:chOff x="445008" y="1998345"/>
            <a:chExt cx="2932176" cy="3491103"/>
          </a:xfrm>
        </p:grpSpPr>
        <p:sp>
          <p:nvSpPr>
            <p:cNvPr id="5" name="TextBox 5"/>
            <p:cNvSpPr txBox="1"/>
            <p:nvPr/>
          </p:nvSpPr>
          <p:spPr>
            <a:xfrm>
              <a:off x="445008" y="1998345"/>
              <a:ext cx="293217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用户需要完成的任务</a:t>
              </a:r>
            </a:p>
          </p:txBody>
        </p:sp>
        <p:sp>
          <p:nvSpPr>
            <p:cNvPr id="6" name="TextBox 6"/>
            <p:cNvSpPr txBox="1"/>
            <p:nvPr/>
          </p:nvSpPr>
          <p:spPr>
            <a:xfrm>
              <a:off x="446532" y="2678430"/>
              <a:ext cx="2421636" cy="2811018"/>
            </a:xfrm>
            <a:prstGeom prst="rect">
              <a:avLst/>
            </a:prstGeom>
            <a:noFill/>
            <a:ln>
              <a:noFill/>
            </a:ln>
          </p:spPr>
          <p:txBody>
            <a:bodyPr wrap="none" lIns="0" tIns="0" rIns="0" bIns="0" anchor="t" anchorCtr="0">
              <a:spAutoFit/>
            </a:bodyPr>
            <a:lstStyle/>
            <a:p>
              <a:pPr algn="l">
                <a:lnSpc>
                  <a:spcPts val="4725"/>
                </a:lnSpc>
              </a:pPr>
              <a:r>
                <a:rPr lang="zh-CN" sz="2100" dirty="0">
                  <a:solidFill>
                    <a:schemeClr val="dk1"/>
                  </a:solidFill>
                  <a:latin typeface="+mn-lt"/>
                  <a:ea typeface="+mn-ea"/>
                  <a:cs typeface="+mn-cs"/>
                </a:rPr>
                <a:t>编辑与自检</a:t>
              </a:r>
              <a:br/>
              <a:r>
                <a:rPr lang="zh-CN" sz="2100" dirty="0">
                  <a:solidFill>
                    <a:schemeClr val="dk1"/>
                  </a:solidFill>
                  <a:latin typeface="+mn-lt"/>
                  <a:ea typeface="+mn-ea"/>
                  <a:cs typeface="+mn-cs"/>
                </a:rPr>
                <a:t>任务队列与分派</a:t>
              </a:r>
              <a:br/>
              <a:r>
                <a:rPr lang="zh-CN" sz="2100" dirty="0">
                  <a:solidFill>
                    <a:schemeClr val="dk1"/>
                  </a:solidFill>
                  <a:latin typeface="+mn-lt"/>
                  <a:ea typeface="+mn-ea"/>
                  <a:cs typeface="+mn-cs"/>
                </a:rPr>
                <a:t>审核详情与修改复核</a:t>
              </a:r>
              <a:br/>
              <a:r>
                <a:rPr lang="zh-CN" sz="2100" dirty="0">
                  <a:solidFill>
                    <a:schemeClr val="dk1"/>
                  </a:solidFill>
                  <a:latin typeface="+mn-lt"/>
                  <a:ea typeface="+mn-ea"/>
                  <a:cs typeface="+mn-cs"/>
                </a:rPr>
                <a:t>巡检批次与处理</a:t>
              </a:r>
              <a:br/>
              <a:r>
                <a:rPr lang="zh-CN" sz="2100" dirty="0">
                  <a:solidFill>
                    <a:schemeClr val="dk1"/>
                  </a:solidFill>
                  <a:latin typeface="+mn-lt"/>
                  <a:ea typeface="+mn-ea"/>
                  <a:cs typeface="+mn-cs"/>
                </a:rPr>
                <a:t>资料与审核点管理</a:t>
              </a:r>
            </a:p>
          </p:txBody>
        </p:sp>
      </p:grpSp>
      <p:grpSp>
        <p:nvGrpSpPr>
          <p:cNvPr id="11" name="Group 11"/>
          <p:cNvGrpSpPr/>
          <p:nvPr/>
        </p:nvGrpSpPr>
        <p:grpSpPr>
          <a:xfrm>
            <a:off x="6267450" y="1857375"/>
            <a:ext cx="5467350" cy="3857625"/>
            <a:chOff x="6267450" y="1857375"/>
            <a:chExt cx="5467350" cy="3857625"/>
          </a:xfrm>
        </p:grpSpPr>
        <p:sp>
          <p:nvSpPr>
            <p:cNvPr id="8" name="Rectangle 8"/>
            <p:cNvSpPr/>
            <p:nvPr/>
          </p:nvSpPr>
          <p:spPr>
            <a:xfrm>
              <a:off x="6267450" y="1857375"/>
              <a:ext cx="5467350" cy="3857625"/>
            </a:xfrm>
            <a:prstGeom prst="roundRect">
              <a:avLst>
                <a:gd name="adj" fmla="val 2963"/>
              </a:avLst>
            </a:prstGeom>
            <a:solidFill>
              <a:schemeClr val="lt2"/>
            </a:solidFill>
            <a:ln>
              <a:noFill/>
            </a:ln>
          </p:spPr>
        </p:sp>
        <p:sp>
          <p:nvSpPr>
            <p:cNvPr id="9" name="TextBox 9"/>
            <p:cNvSpPr txBox="1"/>
            <p:nvPr/>
          </p:nvSpPr>
          <p:spPr>
            <a:xfrm>
              <a:off x="6521958" y="1998345"/>
              <a:ext cx="260908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权限跟随实际职责</a:t>
              </a:r>
            </a:p>
          </p:txBody>
        </p:sp>
        <p:sp>
          <p:nvSpPr>
            <p:cNvPr id="10" name="TextBox 10"/>
            <p:cNvSpPr txBox="1"/>
            <p:nvPr/>
          </p:nvSpPr>
          <p:spPr>
            <a:xfrm>
              <a:off x="6523482" y="2678430"/>
              <a:ext cx="4021836" cy="2210943"/>
            </a:xfrm>
            <a:prstGeom prst="rect">
              <a:avLst/>
            </a:prstGeom>
            <a:noFill/>
            <a:ln>
              <a:noFill/>
            </a:ln>
          </p:spPr>
          <p:txBody>
            <a:bodyPr wrap="none" lIns="0" tIns="0" rIns="0" bIns="0" anchor="t" anchorCtr="0">
              <a:spAutoFit/>
            </a:bodyPr>
            <a:lstStyle/>
            <a:p>
              <a:pPr algn="l">
                <a:lnSpc>
                  <a:spcPts val="4725"/>
                </a:lnSpc>
              </a:pPr>
              <a:r>
                <a:rPr lang="zh-CN" sz="2100" dirty="0">
                  <a:solidFill>
                    <a:schemeClr val="dk1"/>
                  </a:solidFill>
                  <a:latin typeface="+mn-lt"/>
                  <a:ea typeface="+mn-ea"/>
                  <a:cs typeface="+mn-cs"/>
                </a:rPr>
                <a:t>作者：编辑、说明异议、提交</a:t>
              </a:r>
              <a:br/>
              <a:r>
                <a:rPr lang="zh-CN" sz="2100" dirty="0">
                  <a:solidFill>
                    <a:schemeClr val="dk1"/>
                  </a:solidFill>
                  <a:latin typeface="+mn-lt"/>
                  <a:ea typeface="+mn-ea"/>
                  <a:cs typeface="+mn-cs"/>
                </a:rPr>
                <a:t>审核人员：确认、复核、正式决定</a:t>
              </a:r>
              <a:br/>
              <a:r>
                <a:rPr lang="zh-CN" sz="2100" dirty="0">
                  <a:solidFill>
                    <a:schemeClr val="dk1"/>
                  </a:solidFill>
                  <a:latin typeface="+mn-lt"/>
                  <a:ea typeface="+mn-ea"/>
                  <a:cs typeface="+mn-cs"/>
                </a:rPr>
                <a:t>资料负责人：有效事实与变更确认</a:t>
              </a:r>
              <a:br/>
              <a:r>
                <a:rPr lang="zh-CN" sz="2100" dirty="0">
                  <a:solidFill>
                    <a:schemeClr val="dk1"/>
                  </a:solidFill>
                  <a:latin typeface="+mn-lt"/>
                  <a:ea typeface="+mn-ea"/>
                  <a:cs typeface="+mn-cs"/>
                </a:rPr>
                <a:t>内容负责人：使用状态与实际更新</a:t>
              </a:r>
            </a:p>
          </p:txBody>
        </p:sp>
      </p:grpSp>
      <p:grpSp>
        <p:nvGrpSpPr>
          <p:cNvPr id="13" name="Group 13"/>
          <p:cNvGrpSpPr/>
          <p:nvPr/>
        </p:nvGrpSpPr>
        <p:grpSpPr>
          <a:xfrm>
            <a:off x="448056" y="5958840"/>
            <a:ext cx="8499348" cy="352044"/>
            <a:chOff x="448056" y="5958840"/>
            <a:chExt cx="8499348" cy="352044"/>
          </a:xfrm>
        </p:grpSpPr>
        <p:sp>
          <p:nvSpPr>
            <p:cNvPr id="12" name="TextBox 12"/>
            <p:cNvSpPr txBox="1"/>
            <p:nvPr/>
          </p:nvSpPr>
          <p:spPr>
            <a:xfrm>
              <a:off x="448056" y="5958840"/>
              <a:ext cx="8499348"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作者提交异议，不会因此获得正式批准权；资料变更也要有确认人和历史版本。</a:t>
              </a:r>
            </a:p>
          </p:txBody>
        </p:sp>
      </p:grpSp>
      <p:grpSp>
        <p:nvGrpSpPr>
          <p:cNvPr id="25" name="Group 25"/>
          <p:cNvGrpSpPr/>
          <p:nvPr/>
        </p:nvGrpSpPr>
        <p:grpSpPr>
          <a:xfrm>
            <a:off x="0" y="6286500"/>
            <a:ext cx="12192000" cy="571500"/>
            <a:chOff x="0" y="6286500"/>
            <a:chExt cx="12192000" cy="571500"/>
          </a:xfrm>
        </p:grpSpPr>
        <p:sp>
          <p:nvSpPr>
            <p:cNvPr id="14" name="Rectangle 14"/>
            <p:cNvSpPr/>
            <p:nvPr/>
          </p:nvSpPr>
          <p:spPr>
            <a:xfrm>
              <a:off x="0" y="6286500"/>
              <a:ext cx="12192000" cy="571500"/>
            </a:xfrm>
            <a:prstGeom prst="rect">
              <a:avLst/>
            </a:prstGeom>
            <a:solidFill>
              <a:srgbClr val="FFFFFF"/>
            </a:solidFill>
            <a:ln>
              <a:noFill/>
            </a:ln>
          </p:spPr>
        </p:sp>
        <p:sp>
          <p:nvSpPr>
            <p:cNvPr id="15" name="Line 15"/>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3" name="Group 23"/>
            <p:cNvGrpSpPr/>
            <p:nvPr/>
          </p:nvGrpSpPr>
          <p:grpSpPr>
            <a:xfrm>
              <a:off x="451866" y="6468428"/>
              <a:ext cx="9783070" cy="205359"/>
              <a:chOff x="451866" y="6468428"/>
              <a:chExt cx="9783070" cy="205359"/>
            </a:xfrm>
          </p:grpSpPr>
          <p:sp>
            <p:nvSpPr>
              <p:cNvPr id="16" name="TextBox 16"/>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17" name="TextBox 17"/>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18" name="TextBox 18"/>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19" name="TextBox 19"/>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0" name="TextBox 20"/>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1" name="TextBox 21"/>
              <p:cNvSpPr txBox="1"/>
              <p:nvPr/>
            </p:nvSpPr>
            <p:spPr>
              <a:xfrm>
                <a:off x="8024241"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6 产品方案</a:t>
                </a:r>
              </a:p>
            </p:txBody>
          </p:sp>
          <p:sp>
            <p:nvSpPr>
              <p:cNvPr id="22" name="TextBox 22"/>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24" name="TextBox 24"/>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54 / 70</a:t>
              </a:r>
            </a:p>
          </p:txBody>
        </p:sp>
      </p:grpSp>
    </p:spTree>
  </p:cSld>
  <p:clrMapOvr>
    <a:masterClrMapping/>
  </p:clrMapOvr>
  <p:transition xmlns:p14="http://schemas.microsoft.com/office/powerpoint/2010/main" p14:dur="400">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8578792" cy="1038035"/>
            <a:chOff x="441198" y="428625"/>
            <a:chExt cx="8578792" cy="1038035"/>
          </a:xfrm>
        </p:grpSpPr>
        <p:sp>
          <p:nvSpPr>
            <p:cNvPr id="2" name="TextBox 2"/>
            <p:cNvSpPr txBox="1"/>
            <p:nvPr/>
          </p:nvSpPr>
          <p:spPr>
            <a:xfrm>
              <a:off x="449580" y="428625"/>
              <a:ext cx="357930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6.3 页面、权限与异常</a:t>
              </a:r>
            </a:p>
          </p:txBody>
        </p:sp>
        <p:sp>
          <p:nvSpPr>
            <p:cNvPr id="3" name="TextBox 3"/>
            <p:cNvSpPr txBox="1"/>
            <p:nvPr/>
          </p:nvSpPr>
          <p:spPr>
            <a:xfrm>
              <a:off x="441198" y="850583"/>
              <a:ext cx="857879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每个异常，都要回答“现在怎样、下一步谁做”</a:t>
              </a:r>
            </a:p>
          </p:txBody>
        </p:sp>
      </p:grpSp>
      <p:grpSp>
        <p:nvGrpSpPr>
          <p:cNvPr id="9" name="Group 9"/>
          <p:cNvGrpSpPr/>
          <p:nvPr/>
        </p:nvGrpSpPr>
        <p:grpSpPr>
          <a:xfrm>
            <a:off x="457200" y="1828800"/>
            <a:ext cx="11277600" cy="1066800"/>
            <a:chOff x="457200" y="1828800"/>
            <a:chExt cx="11277600" cy="1066800"/>
          </a:xfrm>
        </p:grpSpPr>
        <p:sp>
          <p:nvSpPr>
            <p:cNvPr id="5" name="Rectangle 5"/>
            <p:cNvSpPr/>
            <p:nvPr/>
          </p:nvSpPr>
          <p:spPr>
            <a:xfrm>
              <a:off x="457200" y="1828800"/>
              <a:ext cx="11277600" cy="1066800"/>
            </a:xfrm>
            <a:prstGeom prst="roundRect">
              <a:avLst>
                <a:gd name="adj" fmla="val 10714"/>
              </a:avLst>
            </a:prstGeom>
            <a:solidFill>
              <a:srgbClr val="FFFFFF"/>
            </a:solidFill>
            <a:ln>
              <a:noFill/>
            </a:ln>
          </p:spPr>
        </p:sp>
        <p:sp>
          <p:nvSpPr>
            <p:cNvPr id="6" name="TextBox 6"/>
            <p:cNvSpPr txBox="1"/>
            <p:nvPr/>
          </p:nvSpPr>
          <p:spPr>
            <a:xfrm>
              <a:off x="713232" y="2011680"/>
              <a:ext cx="1434846"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缺活动资料</a:t>
              </a:r>
            </a:p>
          </p:txBody>
        </p:sp>
        <p:sp>
          <p:nvSpPr>
            <p:cNvPr id="7" name="TextBox 7"/>
            <p:cNvSpPr txBox="1"/>
            <p:nvPr/>
          </p:nvSpPr>
          <p:spPr>
            <a:xfrm>
              <a:off x="3513582" y="2011680"/>
              <a:ext cx="486967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价格、赠品检查未完成 → 补充有效资料</a:t>
              </a:r>
            </a:p>
          </p:txBody>
        </p:sp>
        <p:sp>
          <p:nvSpPr>
            <p:cNvPr id="8" name="TextBox 8"/>
            <p:cNvSpPr txBox="1"/>
            <p:nvPr/>
          </p:nvSpPr>
          <p:spPr>
            <a:xfrm>
              <a:off x="3515106" y="2491740"/>
              <a:ext cx="5349240"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提交人或活动负责人承接，不能显示完整审核完成</a:t>
              </a:r>
            </a:p>
          </p:txBody>
        </p:sp>
      </p:grpSp>
      <p:grpSp>
        <p:nvGrpSpPr>
          <p:cNvPr id="14" name="Group 14"/>
          <p:cNvGrpSpPr/>
          <p:nvPr/>
        </p:nvGrpSpPr>
        <p:grpSpPr>
          <a:xfrm>
            <a:off x="457200" y="3190875"/>
            <a:ext cx="11277600" cy="1066800"/>
            <a:chOff x="457200" y="3190875"/>
            <a:chExt cx="11277600" cy="1066800"/>
          </a:xfrm>
        </p:grpSpPr>
        <p:sp>
          <p:nvSpPr>
            <p:cNvPr id="10" name="Rectangle 10"/>
            <p:cNvSpPr/>
            <p:nvPr/>
          </p:nvSpPr>
          <p:spPr>
            <a:xfrm>
              <a:off x="457200" y="3190875"/>
              <a:ext cx="11277600" cy="1066800"/>
            </a:xfrm>
            <a:prstGeom prst="roundRect">
              <a:avLst>
                <a:gd name="adj" fmla="val 10714"/>
              </a:avLst>
            </a:prstGeom>
            <a:solidFill>
              <a:schemeClr val="lt2"/>
            </a:solidFill>
            <a:ln>
              <a:noFill/>
            </a:ln>
          </p:spPr>
        </p:sp>
        <p:sp>
          <p:nvSpPr>
            <p:cNvPr id="11" name="TextBox 11"/>
            <p:cNvSpPr txBox="1"/>
            <p:nvPr/>
          </p:nvSpPr>
          <p:spPr>
            <a:xfrm>
              <a:off x="713232" y="3373755"/>
              <a:ext cx="1152144"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部分超时</a:t>
              </a:r>
            </a:p>
          </p:txBody>
        </p:sp>
        <p:sp>
          <p:nvSpPr>
            <p:cNvPr id="12" name="TextBox 12"/>
            <p:cNvSpPr txBox="1"/>
            <p:nvPr/>
          </p:nvSpPr>
          <p:spPr>
            <a:xfrm>
              <a:off x="3513582" y="3373755"/>
              <a:ext cx="4021569"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保留已完成项 → 重试或人工补核</a:t>
              </a:r>
            </a:p>
          </p:txBody>
        </p:sp>
        <p:sp>
          <p:nvSpPr>
            <p:cNvPr id="13" name="TextBox 13"/>
            <p:cNvSpPr txBox="1"/>
            <p:nvPr/>
          </p:nvSpPr>
          <p:spPr>
            <a:xfrm>
              <a:off x="3515106" y="3853815"/>
              <a:ext cx="559155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明确人工核对范围与依据，重试继续关联原任务版本</a:t>
              </a:r>
            </a:p>
          </p:txBody>
        </p:sp>
      </p:grpSp>
      <p:grpSp>
        <p:nvGrpSpPr>
          <p:cNvPr id="19" name="Group 19"/>
          <p:cNvGrpSpPr/>
          <p:nvPr/>
        </p:nvGrpSpPr>
        <p:grpSpPr>
          <a:xfrm>
            <a:off x="457200" y="4552950"/>
            <a:ext cx="11277600" cy="1066800"/>
            <a:chOff x="457200" y="4552950"/>
            <a:chExt cx="11277600" cy="1066800"/>
          </a:xfrm>
        </p:grpSpPr>
        <p:sp>
          <p:nvSpPr>
            <p:cNvPr id="15" name="Rectangle 15"/>
            <p:cNvSpPr/>
            <p:nvPr/>
          </p:nvSpPr>
          <p:spPr>
            <a:xfrm>
              <a:off x="457200" y="4552950"/>
              <a:ext cx="11277600" cy="1066800"/>
            </a:xfrm>
            <a:prstGeom prst="roundRect">
              <a:avLst>
                <a:gd name="adj" fmla="val 10714"/>
              </a:avLst>
            </a:prstGeom>
            <a:solidFill>
              <a:srgbClr val="FFFFFF"/>
            </a:solidFill>
            <a:ln>
              <a:noFill/>
            </a:ln>
          </p:spPr>
        </p:sp>
        <p:sp>
          <p:nvSpPr>
            <p:cNvPr id="16" name="TextBox 16"/>
            <p:cNvSpPr txBox="1"/>
            <p:nvPr/>
          </p:nvSpPr>
          <p:spPr>
            <a:xfrm>
              <a:off x="713232" y="4735830"/>
              <a:ext cx="2565654"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状态不明或无人接收</a:t>
              </a:r>
            </a:p>
          </p:txBody>
        </p:sp>
        <p:sp>
          <p:nvSpPr>
            <p:cNvPr id="17" name="TextBox 17"/>
            <p:cNvSpPr txBox="1"/>
            <p:nvPr/>
          </p:nvSpPr>
          <p:spPr>
            <a:xfrm>
              <a:off x="3513582" y="4735830"/>
              <a:ext cx="373886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待确认、待承接 → 负责人协调</a:t>
              </a:r>
            </a:p>
          </p:txBody>
        </p:sp>
        <p:sp>
          <p:nvSpPr>
            <p:cNvPr id="18" name="TextBox 18"/>
            <p:cNvSpPr txBox="1"/>
            <p:nvPr/>
          </p:nvSpPr>
          <p:spPr>
            <a:xfrm>
              <a:off x="3515106" y="5215890"/>
              <a:ext cx="4864608"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不按已处理关闭；重复提交避免重复正式流转</a:t>
              </a:r>
            </a:p>
          </p:txBody>
        </p:sp>
      </p:grpSp>
      <p:grpSp>
        <p:nvGrpSpPr>
          <p:cNvPr id="21" name="Group 21"/>
          <p:cNvGrpSpPr/>
          <p:nvPr/>
        </p:nvGrpSpPr>
        <p:grpSpPr>
          <a:xfrm>
            <a:off x="448056" y="5939790"/>
            <a:ext cx="7530084" cy="352044"/>
            <a:chOff x="448056" y="5939790"/>
            <a:chExt cx="7530084" cy="352044"/>
          </a:xfrm>
        </p:grpSpPr>
        <p:sp>
          <p:nvSpPr>
            <p:cNvPr id="20" name="TextBox 20"/>
            <p:cNvSpPr txBox="1"/>
            <p:nvPr/>
          </p:nvSpPr>
          <p:spPr>
            <a:xfrm>
              <a:off x="448056" y="5939790"/>
              <a:ext cx="753008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失败可见，范围可见，责任可见。资料冲突时带证据与版本交人确认。</a:t>
              </a:r>
            </a:p>
          </p:txBody>
        </p:sp>
      </p:grpSp>
      <p:grpSp>
        <p:nvGrpSpPr>
          <p:cNvPr id="33" name="Group 33"/>
          <p:cNvGrpSpPr/>
          <p:nvPr/>
        </p:nvGrpSpPr>
        <p:grpSpPr>
          <a:xfrm>
            <a:off x="0" y="6286500"/>
            <a:ext cx="12192000" cy="571500"/>
            <a:chOff x="0" y="6286500"/>
            <a:chExt cx="12192000" cy="571500"/>
          </a:xfrm>
        </p:grpSpPr>
        <p:sp>
          <p:nvSpPr>
            <p:cNvPr id="22" name="Rectangle 22"/>
            <p:cNvSpPr/>
            <p:nvPr/>
          </p:nvSpPr>
          <p:spPr>
            <a:xfrm>
              <a:off x="0" y="6286500"/>
              <a:ext cx="12192000" cy="571500"/>
            </a:xfrm>
            <a:prstGeom prst="rect">
              <a:avLst/>
            </a:prstGeom>
            <a:solidFill>
              <a:srgbClr val="FFFFFF"/>
            </a:solidFill>
            <a:ln>
              <a:noFill/>
            </a:ln>
          </p:spPr>
        </p:sp>
        <p:sp>
          <p:nvSpPr>
            <p:cNvPr id="23" name="Line 23"/>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31" name="Group 31"/>
            <p:cNvGrpSpPr/>
            <p:nvPr/>
          </p:nvGrpSpPr>
          <p:grpSpPr>
            <a:xfrm>
              <a:off x="451866" y="6468428"/>
              <a:ext cx="9783070" cy="205359"/>
              <a:chOff x="451866" y="6468428"/>
              <a:chExt cx="9783070" cy="205359"/>
            </a:xfrm>
          </p:grpSpPr>
          <p:sp>
            <p:nvSpPr>
              <p:cNvPr id="24" name="TextBox 24"/>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5" name="TextBox 25"/>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6" name="TextBox 26"/>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7" name="TextBox 27"/>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8" name="TextBox 28"/>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9" name="TextBox 29"/>
              <p:cNvSpPr txBox="1"/>
              <p:nvPr/>
            </p:nvSpPr>
            <p:spPr>
              <a:xfrm>
                <a:off x="8024241"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6 产品方案</a:t>
                </a:r>
              </a:p>
            </p:txBody>
          </p:sp>
          <p:sp>
            <p:nvSpPr>
              <p:cNvPr id="30" name="TextBox 30"/>
              <p:cNvSpPr txBox="1"/>
              <p:nvPr/>
            </p:nvSpPr>
            <p:spPr>
              <a:xfrm>
                <a:off x="95387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7 实施验证</a:t>
                </a:r>
              </a:p>
            </p:txBody>
          </p:sp>
        </p:grpSp>
        <p:sp>
          <p:nvSpPr>
            <p:cNvPr id="32" name="TextBox 32"/>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55 / 70</a:t>
              </a:r>
            </a:p>
          </p:txBody>
        </p:sp>
      </p:grpSp>
    </p:spTree>
  </p:cSld>
  <p:clrMapOvr>
    <a:masterClrMapping/>
  </p:clrMapOvr>
  <p:transition xmlns:p14="http://schemas.microsoft.com/office/powerpoint/2010/main" p14:dur="400">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061743" cy="1038035"/>
            <a:chOff x="441198" y="428625"/>
            <a:chExt cx="7061743" cy="1038035"/>
          </a:xfrm>
        </p:grpSpPr>
        <p:sp>
          <p:nvSpPr>
            <p:cNvPr id="2" name="TextBox 2"/>
            <p:cNvSpPr txBox="1"/>
            <p:nvPr/>
          </p:nvSpPr>
          <p:spPr>
            <a:xfrm>
              <a:off x="449580" y="428625"/>
              <a:ext cx="2488882"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第二篇·做方案 / 第6章小结</a:t>
              </a:r>
            </a:p>
          </p:txBody>
        </p:sp>
        <p:sp>
          <p:nvSpPr>
            <p:cNvPr id="3" name="TextBox 3"/>
            <p:cNvSpPr txBox="1"/>
            <p:nvPr/>
          </p:nvSpPr>
          <p:spPr>
            <a:xfrm>
              <a:off x="441198" y="850583"/>
              <a:ext cx="706174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产物⑥：把能力接到页面、状态与记录</a:t>
              </a:r>
            </a:p>
          </p:txBody>
        </p:sp>
      </p:grpSp>
      <p:grpSp>
        <p:nvGrpSpPr>
          <p:cNvPr id="16" name="Group 16"/>
          <p:cNvGrpSpPr/>
          <p:nvPr/>
        </p:nvGrpSpPr>
        <p:grpSpPr>
          <a:xfrm>
            <a:off x="446532" y="1916430"/>
            <a:ext cx="5249418" cy="2903220"/>
            <a:chOff x="446532" y="1916430"/>
            <a:chExt cx="5249418" cy="2903220"/>
          </a:xfrm>
        </p:grpSpPr>
        <p:sp>
          <p:nvSpPr>
            <p:cNvPr id="5" name="TextBox 5"/>
            <p:cNvSpPr txBox="1"/>
            <p:nvPr/>
          </p:nvSpPr>
          <p:spPr>
            <a:xfrm>
              <a:off x="446532" y="1916430"/>
              <a:ext cx="256565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三层架构，分清职责</a:t>
              </a:r>
            </a:p>
          </p:txBody>
        </p:sp>
        <p:grpSp>
          <p:nvGrpSpPr>
            <p:cNvPr id="9" name="Group 9"/>
            <p:cNvGrpSpPr/>
            <p:nvPr/>
          </p:nvGrpSpPr>
          <p:grpSpPr>
            <a:xfrm>
              <a:off x="457200" y="2381250"/>
              <a:ext cx="5238750" cy="2438400"/>
              <a:chOff x="457200" y="2381250"/>
              <a:chExt cx="5238750" cy="2438400"/>
            </a:xfrm>
          </p:grpSpPr>
          <p:sp>
            <p:nvSpPr>
              <p:cNvPr id="6" name="Rectangle 6"/>
              <p:cNvSpPr/>
              <p:nvPr/>
            </p:nvSpPr>
            <p:spPr>
              <a:xfrm>
                <a:off x="457200" y="2381250"/>
                <a:ext cx="5238750" cy="685800"/>
              </a:xfrm>
              <a:prstGeom prst="roundRect">
                <a:avLst>
                  <a:gd name="adj" fmla="val 13889"/>
                </a:avLst>
              </a:prstGeom>
              <a:solidFill>
                <a:schemeClr val="lt2"/>
              </a:solidFill>
              <a:ln>
                <a:noFill/>
              </a:ln>
            </p:spPr>
          </p:sp>
          <p:sp>
            <p:nvSpPr>
              <p:cNvPr id="7" name="Rectangle 7"/>
              <p:cNvSpPr/>
              <p:nvPr/>
            </p:nvSpPr>
            <p:spPr>
              <a:xfrm>
                <a:off x="457200" y="3257550"/>
                <a:ext cx="5238750" cy="685800"/>
              </a:xfrm>
              <a:prstGeom prst="roundRect">
                <a:avLst>
                  <a:gd name="adj" fmla="val 13889"/>
                </a:avLst>
              </a:prstGeom>
              <a:solidFill>
                <a:schemeClr val="lt2"/>
              </a:solidFill>
              <a:ln>
                <a:noFill/>
              </a:ln>
            </p:spPr>
          </p:sp>
          <p:sp>
            <p:nvSpPr>
              <p:cNvPr id="8" name="Rectangle 8"/>
              <p:cNvSpPr/>
              <p:nvPr/>
            </p:nvSpPr>
            <p:spPr>
              <a:xfrm>
                <a:off x="457200" y="4133850"/>
                <a:ext cx="5238750" cy="685800"/>
              </a:xfrm>
              <a:prstGeom prst="roundRect">
                <a:avLst>
                  <a:gd name="adj" fmla="val 13889"/>
                </a:avLst>
              </a:prstGeom>
              <a:solidFill>
                <a:schemeClr val="lt2"/>
              </a:solidFill>
              <a:ln>
                <a:noFill/>
              </a:ln>
            </p:spPr>
          </p:sp>
        </p:grpSp>
        <p:grpSp>
          <p:nvGrpSpPr>
            <p:cNvPr id="13" name="Group 13"/>
            <p:cNvGrpSpPr/>
            <p:nvPr/>
          </p:nvGrpSpPr>
          <p:grpSpPr>
            <a:xfrm>
              <a:off x="676656" y="2615565"/>
              <a:ext cx="3895344" cy="2104644"/>
              <a:chOff x="676656" y="2615565"/>
              <a:chExt cx="3895344" cy="2104644"/>
            </a:xfrm>
          </p:grpSpPr>
          <p:sp>
            <p:nvSpPr>
              <p:cNvPr id="10" name="TextBox 10"/>
              <p:cNvSpPr txBox="1"/>
              <p:nvPr/>
            </p:nvSpPr>
            <p:spPr>
              <a:xfrm>
                <a:off x="676656" y="2615565"/>
                <a:ext cx="341071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应用：自检、审核、巡检与处理</a:t>
                </a:r>
              </a:p>
            </p:txBody>
          </p:sp>
          <p:sp>
            <p:nvSpPr>
              <p:cNvPr id="11" name="TextBox 11"/>
              <p:cNvSpPr txBox="1"/>
              <p:nvPr/>
            </p:nvSpPr>
            <p:spPr>
              <a:xfrm>
                <a:off x="676656" y="3491865"/>
                <a:ext cx="389534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审核能力：选点、执行、校验与合并</a:t>
                </a:r>
              </a:p>
            </p:txBody>
          </p:sp>
          <p:sp>
            <p:nvSpPr>
              <p:cNvPr id="12" name="TextBox 12"/>
              <p:cNvSpPr txBox="1"/>
              <p:nvPr/>
            </p:nvSpPr>
            <p:spPr>
              <a:xfrm>
                <a:off x="676656" y="4368165"/>
                <a:ext cx="365302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模型与资料：语言能力与业务依据</a:t>
                </a:r>
              </a:p>
            </p:txBody>
          </p:sp>
        </p:grpSp>
        <p:sp>
          <p:nvSpPr>
            <p:cNvPr id="14" name="Line 14"/>
            <p:cNvSpPr/>
            <p:nvPr/>
          </p:nvSpPr>
          <p:spPr>
            <a:xfrm>
              <a:off x="3076575" y="3067050"/>
              <a:ext cx="9525" cy="190500"/>
            </a:xfrm>
            <a:custGeom>
              <a:avLst/>
              <a:gdLst/>
              <a:ahLst/>
              <a:cxnLst/>
              <a:rect l="l" t="t" r="r" b="b"/>
              <a:pathLst>
                <a:path w="9525" h="190500">
                  <a:moveTo>
                    <a:pt x="0" y="0"/>
                  </a:moveTo>
                  <a:lnTo>
                    <a:pt x="0" y="190500"/>
                  </a:lnTo>
                </a:path>
              </a:pathLst>
            </a:custGeom>
            <a:noFill/>
            <a:ln w="28575">
              <a:solidFill>
                <a:schemeClr val="accent1"/>
              </a:solidFill>
            </a:ln>
          </p:spPr>
        </p:sp>
        <p:sp>
          <p:nvSpPr>
            <p:cNvPr id="15" name="Line 15"/>
            <p:cNvSpPr/>
            <p:nvPr/>
          </p:nvSpPr>
          <p:spPr>
            <a:xfrm>
              <a:off x="3076575" y="3943350"/>
              <a:ext cx="9525" cy="190500"/>
            </a:xfrm>
            <a:custGeom>
              <a:avLst/>
              <a:gdLst/>
              <a:ahLst/>
              <a:cxnLst/>
              <a:rect l="l" t="t" r="r" b="b"/>
              <a:pathLst>
                <a:path w="9525" h="190500">
                  <a:moveTo>
                    <a:pt x="0" y="0"/>
                  </a:moveTo>
                  <a:lnTo>
                    <a:pt x="0" y="190500"/>
                  </a:lnTo>
                </a:path>
              </a:pathLst>
            </a:custGeom>
            <a:noFill/>
            <a:ln w="28575">
              <a:solidFill>
                <a:schemeClr val="accent1"/>
              </a:solidFill>
            </a:ln>
          </p:spPr>
        </p:sp>
      </p:grpSp>
      <p:grpSp>
        <p:nvGrpSpPr>
          <p:cNvPr id="23" name="Group 23"/>
          <p:cNvGrpSpPr/>
          <p:nvPr/>
        </p:nvGrpSpPr>
        <p:grpSpPr>
          <a:xfrm>
            <a:off x="6256782" y="1916430"/>
            <a:ext cx="4705198" cy="2994279"/>
            <a:chOff x="6256782" y="1916430"/>
            <a:chExt cx="4705198" cy="2994279"/>
          </a:xfrm>
        </p:grpSpPr>
        <p:sp>
          <p:nvSpPr>
            <p:cNvPr id="17" name="TextBox 17"/>
            <p:cNvSpPr txBox="1"/>
            <p:nvPr/>
          </p:nvSpPr>
          <p:spPr>
            <a:xfrm>
              <a:off x="6256782" y="1916430"/>
              <a:ext cx="313105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关键约束，落到具体操作</a:t>
              </a:r>
            </a:p>
          </p:txBody>
        </p:sp>
        <p:grpSp>
          <p:nvGrpSpPr>
            <p:cNvPr id="22" name="Group 22"/>
            <p:cNvGrpSpPr/>
            <p:nvPr/>
          </p:nvGrpSpPr>
          <p:grpSpPr>
            <a:xfrm>
              <a:off x="6258306" y="2615565"/>
              <a:ext cx="4703674" cy="2295144"/>
              <a:chOff x="6258306" y="2615565"/>
              <a:chExt cx="4703674" cy="2295144"/>
            </a:xfrm>
          </p:grpSpPr>
          <p:sp>
            <p:nvSpPr>
              <p:cNvPr id="18" name="TextBox 18"/>
              <p:cNvSpPr txBox="1"/>
              <p:nvPr/>
            </p:nvSpPr>
            <p:spPr>
              <a:xfrm>
                <a:off x="6258306" y="2615565"/>
                <a:ext cx="437997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记录分开：检查、问题处理、正式结论。</a:t>
                </a:r>
              </a:p>
            </p:txBody>
          </p:sp>
          <p:sp>
            <p:nvSpPr>
              <p:cNvPr id="19" name="TextBox 19"/>
              <p:cNvSpPr txBox="1"/>
              <p:nvPr/>
            </p:nvSpPr>
            <p:spPr>
              <a:xfrm>
                <a:off x="6258306" y="3263265"/>
                <a:ext cx="470367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版本对应：V2结果留V2，V3另判有效性。</a:t>
                </a:r>
              </a:p>
            </p:txBody>
          </p:sp>
          <p:sp>
            <p:nvSpPr>
              <p:cNvPr id="20" name="TextBox 20"/>
              <p:cNvSpPr txBox="1"/>
              <p:nvPr/>
            </p:nvSpPr>
            <p:spPr>
              <a:xfrm>
                <a:off x="6258306" y="3910965"/>
                <a:ext cx="437997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页面接住：原句、依据、动作、责任人。</a:t>
                </a:r>
              </a:p>
            </p:txBody>
          </p:sp>
          <p:sp>
            <p:nvSpPr>
              <p:cNvPr id="21" name="TextBox 21"/>
              <p:cNvSpPr txBox="1"/>
              <p:nvPr/>
            </p:nvSpPr>
            <p:spPr>
              <a:xfrm>
                <a:off x="6258306" y="4558665"/>
                <a:ext cx="462229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异常出口：未完成可见，下一步有人承担。</a:t>
                </a:r>
              </a:p>
            </p:txBody>
          </p:sp>
        </p:grpSp>
      </p:grpSp>
      <p:grpSp>
        <p:nvGrpSpPr>
          <p:cNvPr id="26" name="Group 26"/>
          <p:cNvGrpSpPr/>
          <p:nvPr/>
        </p:nvGrpSpPr>
        <p:grpSpPr>
          <a:xfrm>
            <a:off x="457200" y="5572125"/>
            <a:ext cx="11277600" cy="600075"/>
            <a:chOff x="457200" y="5572125"/>
            <a:chExt cx="11277600" cy="600075"/>
          </a:xfrm>
        </p:grpSpPr>
        <p:sp>
          <p:nvSpPr>
            <p:cNvPr id="24" name="Rectangle 24"/>
            <p:cNvSpPr/>
            <p:nvPr/>
          </p:nvSpPr>
          <p:spPr>
            <a:xfrm>
              <a:off x="457200" y="5572125"/>
              <a:ext cx="11277600" cy="600075"/>
            </a:xfrm>
            <a:prstGeom prst="roundRect">
              <a:avLst>
                <a:gd name="adj" fmla="val 19048"/>
              </a:avLst>
            </a:prstGeom>
            <a:solidFill>
              <a:schemeClr val="accent1"/>
            </a:solidFill>
            <a:ln>
              <a:noFill/>
            </a:ln>
          </p:spPr>
        </p:sp>
        <p:sp>
          <p:nvSpPr>
            <p:cNvPr id="25" name="TextBox 25"/>
            <p:cNvSpPr txBox="1"/>
            <p:nvPr/>
          </p:nvSpPr>
          <p:spPr>
            <a:xfrm>
              <a:off x="713232" y="5735955"/>
              <a:ext cx="7654290"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下一章：原型能走通以后，还要证明真实工作可以可靠完成。</a:t>
              </a:r>
            </a:p>
          </p:txBody>
        </p:sp>
      </p:grpSp>
      <p:sp>
        <p:nvSpPr>
          <p:cNvPr id="27" name="TextBox 27"/>
          <p:cNvSpPr txBox="1"/>
          <p:nvPr/>
        </p:nvSpPr>
        <p:spPr>
          <a:xfrm>
            <a:off x="451866" y="6468428"/>
            <a:ext cx="241363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 · 产物已形成 → 7 实施验证</a:t>
            </a:r>
          </a:p>
        </p:txBody>
      </p:sp>
      <p:sp>
        <p:nvSpPr>
          <p:cNvPr id="28" name="TextBox 28"/>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56 / 70</a:t>
            </a:r>
          </a:p>
        </p:txBody>
      </p:sp>
    </p:spTree>
  </p:cSld>
  <p:clrMapOvr>
    <a:masterClrMapping/>
  </p:clrMapOvr>
  <p:transition xmlns:p14="http://schemas.microsoft.com/office/powerpoint/2010/main" p14:dur="400">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438150" y="523875"/>
            <a:ext cx="3268980" cy="1443990"/>
            <a:chOff x="438150" y="523875"/>
            <a:chExt cx="3268980" cy="1443990"/>
          </a:xfrm>
        </p:grpSpPr>
        <p:sp>
          <p:nvSpPr>
            <p:cNvPr id="2" name="TextBox 2"/>
            <p:cNvSpPr txBox="1"/>
            <p:nvPr/>
          </p:nvSpPr>
          <p:spPr>
            <a:xfrm>
              <a:off x="449580" y="523875"/>
              <a:ext cx="2085022"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第三篇·验落地 / 第7章</a:t>
              </a:r>
            </a:p>
          </p:txBody>
        </p:sp>
        <p:sp>
          <p:nvSpPr>
            <p:cNvPr id="3" name="TextBox 3"/>
            <p:cNvSpPr txBox="1"/>
            <p:nvPr/>
          </p:nvSpPr>
          <p:spPr>
            <a:xfrm>
              <a:off x="438150" y="1034415"/>
              <a:ext cx="3268980" cy="933450"/>
            </a:xfrm>
            <a:prstGeom prst="rect">
              <a:avLst/>
            </a:prstGeom>
            <a:noFill/>
            <a:ln>
              <a:noFill/>
            </a:ln>
          </p:spPr>
          <p:txBody>
            <a:bodyPr wrap="none" lIns="0" tIns="0" rIns="0" bIns="0" anchor="t" anchorCtr="0">
              <a:spAutoFit/>
            </a:bodyPr>
            <a:lstStyle/>
            <a:p>
              <a:pPr algn="l"/>
              <a:r>
                <a:rPr lang="zh-CN" sz="4800" b="1" dirty="0">
                  <a:solidFill>
                    <a:srgbClr val="FFFFFF"/>
                  </a:solidFill>
                  <a:latin typeface="+mn-lt"/>
                  <a:ea typeface="+mn-ea"/>
                  <a:cs typeface="+mn-cs"/>
                </a:rPr>
                <a:t>实施与验证</a:t>
              </a:r>
            </a:p>
          </p:txBody>
        </p:sp>
      </p:grpSp>
      <p:grpSp>
        <p:nvGrpSpPr>
          <p:cNvPr id="7" name="Group 7"/>
          <p:cNvGrpSpPr/>
          <p:nvPr/>
        </p:nvGrpSpPr>
        <p:grpSpPr>
          <a:xfrm>
            <a:off x="441198" y="2231708"/>
            <a:ext cx="3659886" cy="1993201"/>
            <a:chOff x="441198" y="2231708"/>
            <a:chExt cx="3659886" cy="1993201"/>
          </a:xfrm>
        </p:grpSpPr>
        <p:sp>
          <p:nvSpPr>
            <p:cNvPr id="5" name="TextBox 5"/>
            <p:cNvSpPr txBox="1"/>
            <p:nvPr/>
          </p:nvSpPr>
          <p:spPr>
            <a:xfrm>
              <a:off x="441198" y="2231708"/>
              <a:ext cx="2832354" cy="1225677"/>
            </a:xfrm>
            <a:prstGeom prst="rect">
              <a:avLst/>
            </a:prstGeom>
            <a:noFill/>
            <a:ln>
              <a:noFill/>
            </a:ln>
          </p:spPr>
          <p:txBody>
            <a:bodyPr wrap="none" lIns="0" tIns="0" rIns="0" bIns="0" anchor="t" anchorCtr="0">
              <a:spAutoFit/>
            </a:bodyPr>
            <a:lstStyle/>
            <a:p>
              <a:pPr algn="l">
                <a:lnSpc>
                  <a:spcPts val="4800"/>
                </a:lnSpc>
              </a:pPr>
              <a:r>
                <a:rPr lang="zh-CN" sz="3150" b="1" dirty="0">
                  <a:solidFill>
                    <a:srgbClr val="FFFFFF"/>
                  </a:solidFill>
                  <a:latin typeface="+mn-lt"/>
                  <a:ea typeface="+mn-ea"/>
                  <a:cs typeface="+mn-cs"/>
                </a:rPr>
                <a:t>怎样证明可用，</a:t>
              </a:r>
              <a:br/>
              <a:r>
                <a:rPr lang="zh-CN" sz="3150" b="1" dirty="0">
                  <a:solidFill>
                    <a:srgbClr val="FFFFFF"/>
                  </a:solidFill>
                  <a:latin typeface="+mn-lt"/>
                  <a:ea typeface="+mn-ea"/>
                  <a:cs typeface="+mn-cs"/>
                </a:rPr>
                <a:t>而且真的提效？</a:t>
              </a:r>
            </a:p>
          </p:txBody>
        </p:sp>
        <p:sp>
          <p:nvSpPr>
            <p:cNvPr id="6" name="TextBox 6"/>
            <p:cNvSpPr txBox="1"/>
            <p:nvPr/>
          </p:nvSpPr>
          <p:spPr>
            <a:xfrm>
              <a:off x="448056" y="3872865"/>
              <a:ext cx="3653028"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输入：可说明操作与异常的方案。</a:t>
              </a:r>
            </a:p>
          </p:txBody>
        </p:sp>
      </p:grpSp>
      <p:grpSp>
        <p:nvGrpSpPr>
          <p:cNvPr id="12" name="Group 12"/>
          <p:cNvGrpSpPr/>
          <p:nvPr/>
        </p:nvGrpSpPr>
        <p:grpSpPr>
          <a:xfrm>
            <a:off x="5295900" y="2095500"/>
            <a:ext cx="3976459" cy="2381250"/>
            <a:chOff x="5295900" y="2095500"/>
            <a:chExt cx="3976459" cy="2381250"/>
          </a:xfrm>
        </p:grpSpPr>
        <p:sp>
          <p:nvSpPr>
            <p:cNvPr id="8" name="Line 8"/>
            <p:cNvSpPr/>
            <p:nvPr/>
          </p:nvSpPr>
          <p:spPr>
            <a:xfrm>
              <a:off x="5295900" y="2095500"/>
              <a:ext cx="9525" cy="2381250"/>
            </a:xfrm>
            <a:custGeom>
              <a:avLst/>
              <a:gdLst/>
              <a:ahLst/>
              <a:cxnLst/>
              <a:rect l="l" t="t" r="r" b="b"/>
              <a:pathLst>
                <a:path w="9525" h="2381250">
                  <a:moveTo>
                    <a:pt x="0" y="0"/>
                  </a:moveTo>
                  <a:lnTo>
                    <a:pt x="0" y="2381250"/>
                  </a:lnTo>
                </a:path>
              </a:pathLst>
            </a:custGeom>
            <a:noFill/>
            <a:ln w="9525">
              <a:solidFill>
                <a:srgbClr val="617673"/>
              </a:solidFill>
            </a:ln>
          </p:spPr>
        </p:sp>
        <p:sp>
          <p:nvSpPr>
            <p:cNvPr id="9" name="TextBox 9"/>
            <p:cNvSpPr txBox="1"/>
            <p:nvPr/>
          </p:nvSpPr>
          <p:spPr>
            <a:xfrm>
              <a:off x="5590032" y="2240280"/>
              <a:ext cx="3116923"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7.1 确认依赖与建设顺序</a:t>
              </a:r>
            </a:p>
          </p:txBody>
        </p:sp>
        <p:sp>
          <p:nvSpPr>
            <p:cNvPr id="10" name="TextBox 10"/>
            <p:cNvSpPr txBox="1"/>
            <p:nvPr/>
          </p:nvSpPr>
          <p:spPr>
            <a:xfrm>
              <a:off x="5590032" y="3097530"/>
              <a:ext cx="3682327"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7.2 验证质量与整项人工投入</a:t>
              </a:r>
            </a:p>
          </p:txBody>
        </p:sp>
        <p:sp>
          <p:nvSpPr>
            <p:cNvPr id="11" name="TextBox 11"/>
            <p:cNvSpPr txBox="1"/>
            <p:nvPr/>
          </p:nvSpPr>
          <p:spPr>
            <a:xfrm>
              <a:off x="5590032" y="3954780"/>
              <a:ext cx="3399625"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7.3 决定修复、扩大或收缩</a:t>
              </a:r>
            </a:p>
          </p:txBody>
        </p:sp>
      </p:grpSp>
      <p:grpSp>
        <p:nvGrpSpPr>
          <p:cNvPr id="16" name="Group 16"/>
          <p:cNvGrpSpPr/>
          <p:nvPr/>
        </p:nvGrpSpPr>
        <p:grpSpPr>
          <a:xfrm>
            <a:off x="457200" y="5048250"/>
            <a:ext cx="11277600" cy="952500"/>
            <a:chOff x="457200" y="5048250"/>
            <a:chExt cx="11277600" cy="952500"/>
          </a:xfrm>
        </p:grpSpPr>
        <p:sp>
          <p:nvSpPr>
            <p:cNvPr id="13" name="Rectangle 13"/>
            <p:cNvSpPr/>
            <p:nvPr/>
          </p:nvSpPr>
          <p:spPr>
            <a:xfrm>
              <a:off x="457200" y="5048250"/>
              <a:ext cx="11277600" cy="952500"/>
            </a:xfrm>
            <a:prstGeom prst="roundRect">
              <a:avLst>
                <a:gd name="adj" fmla="val 12000"/>
              </a:avLst>
            </a:prstGeom>
            <a:solidFill>
              <a:schemeClr val="accent1"/>
            </a:solidFill>
            <a:ln>
              <a:noFill/>
            </a:ln>
          </p:spPr>
        </p:sp>
        <p:sp>
          <p:nvSpPr>
            <p:cNvPr id="14" name="TextBox 14"/>
            <p:cNvSpPr txBox="1"/>
            <p:nvPr/>
          </p:nvSpPr>
          <p:spPr>
            <a:xfrm>
              <a:off x="716280" y="5267325"/>
              <a:ext cx="1226820" cy="293370"/>
            </a:xfrm>
            <a:prstGeom prst="rect">
              <a:avLst/>
            </a:prstGeom>
            <a:noFill/>
            <a:ln>
              <a:noFill/>
            </a:ln>
          </p:spPr>
          <p:txBody>
            <a:bodyPr wrap="none" lIns="0" tIns="0" rIns="0" bIns="0" anchor="t" anchorCtr="0">
              <a:spAutoFit/>
            </a:bodyPr>
            <a:lstStyle/>
            <a:p>
              <a:pPr algn="l"/>
              <a:r>
                <a:rPr lang="zh-CN" sz="1500" dirty="0">
                  <a:solidFill>
                    <a:srgbClr val="E8F2EF"/>
                  </a:solidFill>
                  <a:latin typeface="+mn-lt"/>
                  <a:ea typeface="+mn-ea"/>
                  <a:cs typeface="+mn-cs"/>
                </a:rPr>
                <a:t>本章完成标志</a:t>
              </a:r>
            </a:p>
          </p:txBody>
        </p:sp>
        <p:sp>
          <p:nvSpPr>
            <p:cNvPr id="15" name="TextBox 15"/>
            <p:cNvSpPr txBox="1"/>
            <p:nvPr/>
          </p:nvSpPr>
          <p:spPr>
            <a:xfrm>
              <a:off x="713232" y="5583555"/>
              <a:ext cx="6523482"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完成一页实施与验证安排，说明凭什么进入下一步。</a:t>
              </a:r>
            </a:p>
          </p:txBody>
        </p:sp>
      </p:grpSp>
      <p:sp>
        <p:nvSpPr>
          <p:cNvPr id="17" name="TextBox 17"/>
          <p:cNvSpPr txBox="1"/>
          <p:nvPr/>
        </p:nvSpPr>
        <p:spPr>
          <a:xfrm>
            <a:off x="451866" y="6468428"/>
            <a:ext cx="1607934" cy="205359"/>
          </a:xfrm>
          <a:prstGeom prst="rect">
            <a:avLst/>
          </a:prstGeom>
          <a:noFill/>
          <a:ln>
            <a:noFill/>
          </a:ln>
        </p:spPr>
        <p:txBody>
          <a:bodyPr wrap="none" lIns="0" tIns="0" rIns="0" bIns="0" anchor="t" anchorCtr="0">
            <a:spAutoFit/>
          </a:bodyPr>
          <a:lstStyle/>
          <a:p>
            <a:pPr algn="l"/>
            <a:r>
              <a:rPr lang="zh-CN" sz="1050" dirty="0">
                <a:solidFill>
                  <a:srgbClr val="E8F2EF"/>
                </a:solidFill>
                <a:latin typeface="+mn-lt"/>
                <a:ea typeface="+mn-ea"/>
                <a:cs typeface="+mn-cs"/>
              </a:rPr>
              <a:t>定问题 → 做方案 → 验落地</a:t>
            </a:r>
          </a:p>
        </p:txBody>
      </p:sp>
      <p:sp>
        <p:nvSpPr>
          <p:cNvPr id="18" name="TextBox 18"/>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rgbClr val="E8F2EF"/>
                </a:solidFill>
                <a:latin typeface="+mn-lt"/>
                <a:ea typeface="+mn-ea"/>
                <a:cs typeface="+mn-cs"/>
              </a:rPr>
              <a:t>57 / 70</a:t>
            </a:r>
          </a:p>
        </p:txBody>
      </p:sp>
    </p:spTree>
  </p:cSld>
  <p:clrMapOvr>
    <a:masterClrMapping/>
  </p:clrMapOvr>
  <p:transition xmlns:p14="http://schemas.microsoft.com/office/powerpoint/2010/main" p14:dur="400">
    <p:fade/>
  </p:transition>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816852" cy="1038035"/>
            <a:chOff x="441198" y="428625"/>
            <a:chExt cx="6816852" cy="1038035"/>
          </a:xfrm>
        </p:grpSpPr>
        <p:sp>
          <p:nvSpPr>
            <p:cNvPr id="2" name="TextBox 2"/>
            <p:cNvSpPr txBox="1"/>
            <p:nvPr/>
          </p:nvSpPr>
          <p:spPr>
            <a:xfrm>
              <a:off x="449580" y="428625"/>
              <a:ext cx="337737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第三篇·验落地 / 7.1 依赖与建设顺序</a:t>
              </a:r>
            </a:p>
          </p:txBody>
        </p:sp>
        <p:sp>
          <p:nvSpPr>
            <p:cNvPr id="3" name="TextBox 3"/>
            <p:cNvSpPr txBox="1"/>
            <p:nvPr/>
          </p:nvSpPr>
          <p:spPr>
            <a:xfrm>
              <a:off x="441198" y="850583"/>
              <a:ext cx="681685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开发之前，先确认四件东西有人负责</a:t>
              </a:r>
            </a:p>
          </p:txBody>
        </p:sp>
      </p:grpSp>
      <p:grpSp>
        <p:nvGrpSpPr>
          <p:cNvPr id="7" name="Group 7"/>
          <p:cNvGrpSpPr/>
          <p:nvPr/>
        </p:nvGrpSpPr>
        <p:grpSpPr>
          <a:xfrm>
            <a:off x="445008" y="2093595"/>
            <a:ext cx="4290060" cy="1424178"/>
            <a:chOff x="445008" y="2093595"/>
            <a:chExt cx="4290060" cy="1424178"/>
          </a:xfrm>
        </p:grpSpPr>
        <p:sp>
          <p:nvSpPr>
            <p:cNvPr id="5" name="TextBox 5"/>
            <p:cNvSpPr txBox="1"/>
            <p:nvPr/>
          </p:nvSpPr>
          <p:spPr>
            <a:xfrm>
              <a:off x="445008" y="209359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有效资料</a:t>
              </a:r>
            </a:p>
          </p:txBody>
        </p:sp>
        <p:sp>
          <p:nvSpPr>
            <p:cNvPr id="6" name="TextBox 6"/>
            <p:cNvSpPr txBox="1"/>
            <p:nvPr/>
          </p:nvSpPr>
          <p:spPr>
            <a:xfrm>
              <a:off x="446532" y="2678430"/>
              <a:ext cx="4288536" cy="839343"/>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业务负责人：版本、范围、生效条件</a:t>
              </a:r>
              <a:br/>
              <a:r>
                <a:rPr lang="zh-CN" sz="2100" dirty="0">
                  <a:solidFill>
                    <a:schemeClr val="dk1"/>
                  </a:solidFill>
                  <a:latin typeface="+mn-lt"/>
                  <a:ea typeface="+mn-ea"/>
                  <a:cs typeface="+mn-cs"/>
                </a:rPr>
                <a:t>不能只有聊天里的一句口头解释</a:t>
              </a:r>
            </a:p>
          </p:txBody>
        </p:sp>
      </p:grpSp>
      <p:grpSp>
        <p:nvGrpSpPr>
          <p:cNvPr id="10" name="Group 10"/>
          <p:cNvGrpSpPr/>
          <p:nvPr/>
        </p:nvGrpSpPr>
        <p:grpSpPr>
          <a:xfrm>
            <a:off x="6369558" y="2093595"/>
            <a:ext cx="4556760" cy="1424178"/>
            <a:chOff x="6369558" y="2093595"/>
            <a:chExt cx="4556760" cy="1424178"/>
          </a:xfrm>
        </p:grpSpPr>
        <p:sp>
          <p:nvSpPr>
            <p:cNvPr id="8" name="TextBox 8"/>
            <p:cNvSpPr txBox="1"/>
            <p:nvPr/>
          </p:nvSpPr>
          <p:spPr>
            <a:xfrm>
              <a:off x="6369558" y="2093595"/>
              <a:ext cx="228600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原文与参考判断</a:t>
              </a:r>
            </a:p>
          </p:txBody>
        </p:sp>
        <p:sp>
          <p:nvSpPr>
            <p:cNvPr id="9" name="TextBox 9"/>
            <p:cNvSpPr txBox="1"/>
            <p:nvPr/>
          </p:nvSpPr>
          <p:spPr>
            <a:xfrm>
              <a:off x="6371082" y="2678430"/>
              <a:ext cx="4555236" cy="839343"/>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审核与业务负责人：正常、问题、疑义</a:t>
              </a:r>
              <a:br/>
              <a:r>
                <a:rPr lang="zh-CN" sz="2100" dirty="0">
                  <a:solidFill>
                    <a:schemeClr val="dk1"/>
                  </a:solidFill>
                  <a:latin typeface="+mn-lt"/>
                  <a:ea typeface="+mn-ea"/>
                  <a:cs typeface="+mn-cs"/>
                </a:rPr>
                <a:t>保留确认理由，不拿模型自评当答案</a:t>
              </a:r>
            </a:p>
          </p:txBody>
        </p:sp>
      </p:grpSp>
      <p:grpSp>
        <p:nvGrpSpPr>
          <p:cNvPr id="13" name="Group 13"/>
          <p:cNvGrpSpPr/>
          <p:nvPr/>
        </p:nvGrpSpPr>
        <p:grpSpPr>
          <a:xfrm>
            <a:off x="445008" y="4150995"/>
            <a:ext cx="4730115" cy="1424178"/>
            <a:chOff x="445008" y="4150995"/>
            <a:chExt cx="4730115" cy="1424178"/>
          </a:xfrm>
        </p:grpSpPr>
        <p:sp>
          <p:nvSpPr>
            <p:cNvPr id="11" name="TextBox 11"/>
            <p:cNvSpPr txBox="1"/>
            <p:nvPr/>
          </p:nvSpPr>
          <p:spPr>
            <a:xfrm>
              <a:off x="445008" y="4150995"/>
              <a:ext cx="228600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关联与实际使用</a:t>
              </a:r>
            </a:p>
          </p:txBody>
        </p:sp>
        <p:sp>
          <p:nvSpPr>
            <p:cNvPr id="12" name="TextBox 12"/>
            <p:cNvSpPr txBox="1"/>
            <p:nvPr/>
          </p:nvSpPr>
          <p:spPr>
            <a:xfrm>
              <a:off x="446532" y="4735830"/>
              <a:ext cx="4728591" cy="839343"/>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内容负责人：SKU、活动、版本、维护人</a:t>
              </a:r>
              <a:br/>
              <a:r>
                <a:rPr lang="zh-CN" sz="2100" dirty="0">
                  <a:solidFill>
                    <a:schemeClr val="dk1"/>
                  </a:solidFill>
                  <a:latin typeface="+mn-lt"/>
                  <a:ea typeface="+mn-ea"/>
                  <a:cs typeface="+mn-cs"/>
                </a:rPr>
                <a:t>在用状态不齐，先补或缩小范围</a:t>
              </a:r>
            </a:p>
          </p:txBody>
        </p:sp>
      </p:grpSp>
      <p:grpSp>
        <p:nvGrpSpPr>
          <p:cNvPr id="16" name="Group 16"/>
          <p:cNvGrpSpPr/>
          <p:nvPr/>
        </p:nvGrpSpPr>
        <p:grpSpPr>
          <a:xfrm>
            <a:off x="6369558" y="4150995"/>
            <a:ext cx="4290060" cy="1424178"/>
            <a:chOff x="6369558" y="4150995"/>
            <a:chExt cx="4290060" cy="1424178"/>
          </a:xfrm>
        </p:grpSpPr>
        <p:sp>
          <p:nvSpPr>
            <p:cNvPr id="14" name="TextBox 14"/>
            <p:cNvSpPr txBox="1"/>
            <p:nvPr/>
          </p:nvSpPr>
          <p:spPr>
            <a:xfrm>
              <a:off x="6369558" y="4150995"/>
              <a:ext cx="228600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接入与人工承接</a:t>
              </a:r>
            </a:p>
          </p:txBody>
        </p:sp>
        <p:sp>
          <p:nvSpPr>
            <p:cNvPr id="15" name="TextBox 15"/>
            <p:cNvSpPr txBox="1"/>
            <p:nvPr/>
          </p:nvSpPr>
          <p:spPr>
            <a:xfrm>
              <a:off x="6371082" y="4735830"/>
              <a:ext cx="4288536" cy="839343"/>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产品、实现和业务：执行记录、权限</a:t>
              </a:r>
              <a:br/>
              <a:r>
                <a:rPr lang="zh-CN" sz="2100" dirty="0">
                  <a:solidFill>
                    <a:schemeClr val="dk1"/>
                  </a:solidFill>
                  <a:latin typeface="+mn-lt"/>
                  <a:ea typeface="+mn-ea"/>
                  <a:cs typeface="+mn-cs"/>
                </a:rPr>
                <a:t>谁复核、谁处理、谁有权暂停辅助</a:t>
              </a:r>
            </a:p>
          </p:txBody>
        </p:sp>
      </p:grpSp>
      <p:grpSp>
        <p:nvGrpSpPr>
          <p:cNvPr id="28" name="Group 28"/>
          <p:cNvGrpSpPr/>
          <p:nvPr/>
        </p:nvGrpSpPr>
        <p:grpSpPr>
          <a:xfrm>
            <a:off x="0" y="6286500"/>
            <a:ext cx="12192000" cy="571500"/>
            <a:chOff x="0" y="6286500"/>
            <a:chExt cx="12192000" cy="571500"/>
          </a:xfrm>
        </p:grpSpPr>
        <p:sp>
          <p:nvSpPr>
            <p:cNvPr id="17" name="Rectangle 17"/>
            <p:cNvSpPr/>
            <p:nvPr/>
          </p:nvSpPr>
          <p:spPr>
            <a:xfrm>
              <a:off x="0" y="6286500"/>
              <a:ext cx="12192000" cy="571500"/>
            </a:xfrm>
            <a:prstGeom prst="rect">
              <a:avLst/>
            </a:prstGeom>
            <a:solidFill>
              <a:srgbClr val="FFFFFF"/>
            </a:solidFill>
            <a:ln>
              <a:noFill/>
            </a:ln>
          </p:spPr>
        </p:sp>
        <p:sp>
          <p:nvSpPr>
            <p:cNvPr id="18" name="Line 18"/>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6" name="Group 26"/>
            <p:cNvGrpSpPr/>
            <p:nvPr/>
          </p:nvGrpSpPr>
          <p:grpSpPr>
            <a:xfrm>
              <a:off x="451866" y="6468428"/>
              <a:ext cx="9789078" cy="205359"/>
              <a:chOff x="451866" y="6468428"/>
              <a:chExt cx="9789078" cy="205359"/>
            </a:xfrm>
          </p:grpSpPr>
          <p:sp>
            <p:nvSpPr>
              <p:cNvPr id="19" name="TextBox 19"/>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0" name="TextBox 20"/>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1" name="TextBox 21"/>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2" name="TextBox 22"/>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3" name="TextBox 23"/>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4" name="TextBox 24"/>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5" name="TextBox 25"/>
              <p:cNvSpPr txBox="1"/>
              <p:nvPr/>
            </p:nvSpPr>
            <p:spPr>
              <a:xfrm>
                <a:off x="953871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7 实施验证</a:t>
                </a:r>
              </a:p>
            </p:txBody>
          </p:sp>
        </p:grpSp>
        <p:sp>
          <p:nvSpPr>
            <p:cNvPr id="27" name="TextBox 27"/>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58 / 70</a:t>
              </a:r>
            </a:p>
          </p:txBody>
        </p:sp>
      </p:grpSp>
    </p:spTree>
  </p:cSld>
  <p:clrMapOvr>
    <a:masterClrMapping/>
  </p:clrMapOvr>
  <p:transition xmlns:p14="http://schemas.microsoft.com/office/powerpoint/2010/main" p14:dur="400">
    <p:fade/>
  </p:transition>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392799" cy="1038035"/>
            <a:chOff x="441198" y="428625"/>
            <a:chExt cx="6392799" cy="1038035"/>
          </a:xfrm>
        </p:grpSpPr>
        <p:sp>
          <p:nvSpPr>
            <p:cNvPr id="2" name="TextBox 2"/>
            <p:cNvSpPr txBox="1"/>
            <p:nvPr/>
          </p:nvSpPr>
          <p:spPr>
            <a:xfrm>
              <a:off x="449580" y="428625"/>
              <a:ext cx="337737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第三篇·验落地 / 7.1 依赖与建设顺序</a:t>
              </a:r>
            </a:p>
          </p:txBody>
        </p:sp>
        <p:sp>
          <p:nvSpPr>
            <p:cNvPr id="3" name="TextBox 3"/>
            <p:cNvSpPr txBox="1"/>
            <p:nvPr/>
          </p:nvSpPr>
          <p:spPr>
            <a:xfrm>
              <a:off x="441198" y="850583"/>
              <a:ext cx="6392799"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先做深关键路径，再接上三个环节</a:t>
              </a:r>
            </a:p>
          </p:txBody>
        </p:sp>
      </p:grpSp>
      <p:grpSp>
        <p:nvGrpSpPr>
          <p:cNvPr id="26" name="Group 26"/>
          <p:cNvGrpSpPr/>
          <p:nvPr/>
        </p:nvGrpSpPr>
        <p:grpSpPr>
          <a:xfrm>
            <a:off x="762000" y="2400300"/>
            <a:ext cx="10715625" cy="1948434"/>
            <a:chOff x="762000" y="2400300"/>
            <a:chExt cx="10715625" cy="1948434"/>
          </a:xfrm>
        </p:grpSpPr>
        <p:sp>
          <p:nvSpPr>
            <p:cNvPr id="5" name="Line 5"/>
            <p:cNvSpPr/>
            <p:nvPr/>
          </p:nvSpPr>
          <p:spPr>
            <a:xfrm>
              <a:off x="1619250" y="2733675"/>
              <a:ext cx="8953500" cy="1"/>
            </a:xfrm>
            <a:prstGeom prst="line">
              <a:avLst/>
            </a:prstGeom>
            <a:noFill/>
            <a:ln w="38100">
              <a:solidFill>
                <a:schemeClr val="accent1"/>
              </a:solidFill>
              <a:tailEnd type="triangle" w="lg" len="lg"/>
            </a:ln>
          </p:spPr>
        </p:sp>
        <p:grpSp>
          <p:nvGrpSpPr>
            <p:cNvPr id="10" name="Group 10"/>
            <p:cNvGrpSpPr/>
            <p:nvPr/>
          </p:nvGrpSpPr>
          <p:grpSpPr>
            <a:xfrm>
              <a:off x="1285875" y="2400300"/>
              <a:ext cx="9525000" cy="666750"/>
              <a:chOff x="1285875" y="2400300"/>
              <a:chExt cx="9525000" cy="666750"/>
            </a:xfrm>
          </p:grpSpPr>
          <p:sp>
            <p:nvSpPr>
              <p:cNvPr id="6" name="Ellipse 6"/>
              <p:cNvSpPr/>
              <p:nvPr/>
            </p:nvSpPr>
            <p:spPr>
              <a:xfrm>
                <a:off x="1285875" y="2400300"/>
                <a:ext cx="666750" cy="666750"/>
              </a:xfrm>
              <a:prstGeom prst="ellipse">
                <a:avLst/>
              </a:prstGeom>
              <a:solidFill>
                <a:schemeClr val="accent1"/>
              </a:solidFill>
              <a:ln>
                <a:noFill/>
              </a:ln>
            </p:spPr>
          </p:sp>
          <p:sp>
            <p:nvSpPr>
              <p:cNvPr id="7" name="Ellipse 7"/>
              <p:cNvSpPr/>
              <p:nvPr/>
            </p:nvSpPr>
            <p:spPr>
              <a:xfrm>
                <a:off x="4238625" y="2400300"/>
                <a:ext cx="666750" cy="666750"/>
              </a:xfrm>
              <a:prstGeom prst="ellipse">
                <a:avLst/>
              </a:prstGeom>
              <a:solidFill>
                <a:schemeClr val="accent1"/>
              </a:solidFill>
              <a:ln>
                <a:noFill/>
              </a:ln>
            </p:spPr>
          </p:sp>
          <p:sp>
            <p:nvSpPr>
              <p:cNvPr id="8" name="Ellipse 8"/>
              <p:cNvSpPr/>
              <p:nvPr/>
            </p:nvSpPr>
            <p:spPr>
              <a:xfrm>
                <a:off x="7191375" y="2400300"/>
                <a:ext cx="666750" cy="666750"/>
              </a:xfrm>
              <a:prstGeom prst="ellipse">
                <a:avLst/>
              </a:prstGeom>
              <a:solidFill>
                <a:schemeClr val="accent1"/>
              </a:solidFill>
              <a:ln>
                <a:noFill/>
              </a:ln>
            </p:spPr>
          </p:sp>
          <p:sp>
            <p:nvSpPr>
              <p:cNvPr id="9" name="Ellipse 9"/>
              <p:cNvSpPr/>
              <p:nvPr/>
            </p:nvSpPr>
            <p:spPr>
              <a:xfrm>
                <a:off x="10144125" y="2400300"/>
                <a:ext cx="666750" cy="666750"/>
              </a:xfrm>
              <a:prstGeom prst="ellipse">
                <a:avLst/>
              </a:prstGeom>
              <a:solidFill>
                <a:schemeClr val="accent1"/>
              </a:solidFill>
              <a:ln>
                <a:noFill/>
              </a:ln>
            </p:spPr>
          </p:sp>
        </p:grpSp>
        <p:grpSp>
          <p:nvGrpSpPr>
            <p:cNvPr id="15" name="Group 15"/>
            <p:cNvGrpSpPr/>
            <p:nvPr/>
          </p:nvGrpSpPr>
          <p:grpSpPr>
            <a:xfrm>
              <a:off x="1530839" y="2611755"/>
              <a:ext cx="9035072" cy="410718"/>
              <a:chOff x="1530839" y="2611755"/>
              <a:chExt cx="9035072" cy="410718"/>
            </a:xfrm>
          </p:grpSpPr>
          <p:sp>
            <p:nvSpPr>
              <p:cNvPr id="11" name="TextBox 11"/>
              <p:cNvSpPr txBox="1"/>
              <p:nvPr/>
            </p:nvSpPr>
            <p:spPr>
              <a:xfrm>
                <a:off x="1530839" y="2611755"/>
                <a:ext cx="176822"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1</a:t>
                </a:r>
              </a:p>
            </p:txBody>
          </p:sp>
          <p:sp>
            <p:nvSpPr>
              <p:cNvPr id="12" name="TextBox 12"/>
              <p:cNvSpPr txBox="1"/>
              <p:nvPr/>
            </p:nvSpPr>
            <p:spPr>
              <a:xfrm>
                <a:off x="4483589" y="2611755"/>
                <a:ext cx="176822"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2</a:t>
                </a:r>
              </a:p>
            </p:txBody>
          </p:sp>
          <p:sp>
            <p:nvSpPr>
              <p:cNvPr id="13" name="TextBox 13"/>
              <p:cNvSpPr txBox="1"/>
              <p:nvPr/>
            </p:nvSpPr>
            <p:spPr>
              <a:xfrm>
                <a:off x="7436339" y="2611755"/>
                <a:ext cx="176822"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3</a:t>
                </a:r>
              </a:p>
            </p:txBody>
          </p:sp>
          <p:sp>
            <p:nvSpPr>
              <p:cNvPr id="14" name="TextBox 14"/>
              <p:cNvSpPr txBox="1"/>
              <p:nvPr/>
            </p:nvSpPr>
            <p:spPr>
              <a:xfrm>
                <a:off x="10389089" y="2611755"/>
                <a:ext cx="176822"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4</a:t>
                </a:r>
              </a:p>
            </p:txBody>
          </p:sp>
        </p:grpSp>
        <p:grpSp>
          <p:nvGrpSpPr>
            <p:cNvPr id="20" name="Group 20"/>
            <p:cNvGrpSpPr/>
            <p:nvPr/>
          </p:nvGrpSpPr>
          <p:grpSpPr>
            <a:xfrm>
              <a:off x="901827" y="3402330"/>
              <a:ext cx="10575798" cy="410718"/>
              <a:chOff x="901827" y="3402330"/>
              <a:chExt cx="10575798" cy="410718"/>
            </a:xfrm>
          </p:grpSpPr>
          <p:sp>
            <p:nvSpPr>
              <p:cNvPr id="16" name="TextBox 16"/>
              <p:cNvSpPr txBox="1"/>
              <p:nvPr/>
            </p:nvSpPr>
            <p:spPr>
              <a:xfrm>
                <a:off x="901827" y="3402330"/>
                <a:ext cx="1434846" cy="410718"/>
              </a:xfrm>
              <a:prstGeom prst="rect">
                <a:avLst/>
              </a:prstGeom>
              <a:noFill/>
              <a:ln>
                <a:noFill/>
              </a:ln>
            </p:spPr>
            <p:txBody>
              <a:bodyPr wrap="none" lIns="0" tIns="0" rIns="0" bIns="0" anchor="t" anchorCtr="0">
                <a:spAutoFit/>
              </a:bodyPr>
              <a:lstStyle/>
              <a:p>
                <a:pPr algn="ctr"/>
                <a:r>
                  <a:rPr lang="zh-CN" sz="2100" b="1" dirty="0">
                    <a:solidFill>
                      <a:schemeClr val="dk1"/>
                    </a:solidFill>
                    <a:latin typeface="+mn-lt"/>
                    <a:ea typeface="+mn-ea"/>
                    <a:cs typeface="+mn-cs"/>
                  </a:rPr>
                  <a:t>关键审核点</a:t>
                </a:r>
              </a:p>
            </p:txBody>
          </p:sp>
          <p:sp>
            <p:nvSpPr>
              <p:cNvPr id="17" name="TextBox 17"/>
              <p:cNvSpPr txBox="1"/>
              <p:nvPr/>
            </p:nvSpPr>
            <p:spPr>
              <a:xfrm>
                <a:off x="3713226" y="3402330"/>
                <a:ext cx="1717548" cy="410718"/>
              </a:xfrm>
              <a:prstGeom prst="rect">
                <a:avLst/>
              </a:prstGeom>
              <a:noFill/>
              <a:ln>
                <a:noFill/>
              </a:ln>
            </p:spPr>
            <p:txBody>
              <a:bodyPr wrap="none" lIns="0" tIns="0" rIns="0" bIns="0" anchor="t" anchorCtr="0">
                <a:spAutoFit/>
              </a:bodyPr>
              <a:lstStyle/>
              <a:p>
                <a:pPr algn="ctr"/>
                <a:r>
                  <a:rPr lang="zh-CN" sz="2100" b="1" dirty="0">
                    <a:solidFill>
                      <a:schemeClr val="dk1"/>
                    </a:solidFill>
                    <a:latin typeface="+mn-lt"/>
                    <a:ea typeface="+mn-ea"/>
                    <a:cs typeface="+mn-cs"/>
                  </a:rPr>
                  <a:t>正式审核闭环</a:t>
                </a:r>
              </a:p>
            </p:txBody>
          </p:sp>
          <p:sp>
            <p:nvSpPr>
              <p:cNvPr id="18" name="TextBox 18"/>
              <p:cNvSpPr txBox="1"/>
              <p:nvPr/>
            </p:nvSpPr>
            <p:spPr>
              <a:xfrm>
                <a:off x="6665976" y="3402330"/>
                <a:ext cx="1717548" cy="410718"/>
              </a:xfrm>
              <a:prstGeom prst="rect">
                <a:avLst/>
              </a:prstGeom>
              <a:noFill/>
              <a:ln>
                <a:noFill/>
              </a:ln>
            </p:spPr>
            <p:txBody>
              <a:bodyPr wrap="none" lIns="0" tIns="0" rIns="0" bIns="0" anchor="t" anchorCtr="0">
                <a:spAutoFit/>
              </a:bodyPr>
              <a:lstStyle/>
              <a:p>
                <a:pPr algn="ctr"/>
                <a:r>
                  <a:rPr lang="zh-CN" sz="2100" b="1" dirty="0">
                    <a:solidFill>
                      <a:schemeClr val="dk1"/>
                    </a:solidFill>
                    <a:latin typeface="+mn-lt"/>
                    <a:ea typeface="+mn-ea"/>
                    <a:cs typeface="+mn-cs"/>
                  </a:rPr>
                  <a:t>接自检与巡检</a:t>
                </a:r>
              </a:p>
            </p:txBody>
          </p:sp>
          <p:sp>
            <p:nvSpPr>
              <p:cNvPr id="19" name="TextBox 19"/>
              <p:cNvSpPr txBox="1"/>
              <p:nvPr/>
            </p:nvSpPr>
            <p:spPr>
              <a:xfrm>
                <a:off x="9477375" y="3402330"/>
                <a:ext cx="2000250" cy="410718"/>
              </a:xfrm>
              <a:prstGeom prst="rect">
                <a:avLst/>
              </a:prstGeom>
              <a:noFill/>
              <a:ln>
                <a:noFill/>
              </a:ln>
            </p:spPr>
            <p:txBody>
              <a:bodyPr wrap="none" lIns="0" tIns="0" rIns="0" bIns="0" anchor="t" anchorCtr="0">
                <a:spAutoFit/>
              </a:bodyPr>
              <a:lstStyle/>
              <a:p>
                <a:pPr algn="ctr"/>
                <a:r>
                  <a:rPr lang="zh-CN" sz="2100" b="1" dirty="0">
                    <a:solidFill>
                      <a:schemeClr val="dk1"/>
                    </a:solidFill>
                    <a:latin typeface="+mn-lt"/>
                    <a:ea typeface="+mn-ea"/>
                    <a:cs typeface="+mn-cs"/>
                  </a:rPr>
                  <a:t>小范围真实试用</a:t>
                </a:r>
              </a:p>
            </p:txBody>
          </p:sp>
        </p:grpSp>
        <p:grpSp>
          <p:nvGrpSpPr>
            <p:cNvPr id="25" name="Group 25"/>
            <p:cNvGrpSpPr/>
            <p:nvPr/>
          </p:nvGrpSpPr>
          <p:grpSpPr>
            <a:xfrm>
              <a:off x="762000" y="3996690"/>
              <a:ext cx="10693908" cy="352044"/>
              <a:chOff x="762000" y="3996690"/>
              <a:chExt cx="10693908" cy="352044"/>
            </a:xfrm>
          </p:grpSpPr>
          <p:sp>
            <p:nvSpPr>
              <p:cNvPr id="21" name="TextBox 21"/>
              <p:cNvSpPr txBox="1"/>
              <p:nvPr/>
            </p:nvSpPr>
            <p:spPr>
              <a:xfrm>
                <a:off x="762000" y="3996690"/>
                <a:ext cx="1714500" cy="352044"/>
              </a:xfrm>
              <a:prstGeom prst="rect">
                <a:avLst/>
              </a:prstGeom>
              <a:noFill/>
              <a:ln>
                <a:noFill/>
              </a:ln>
            </p:spPr>
            <p:txBody>
              <a:bodyPr wrap="none" lIns="0" tIns="0" rIns="0" bIns="0" anchor="t" anchorCtr="0">
                <a:spAutoFit/>
              </a:bodyPr>
              <a:lstStyle/>
              <a:p>
                <a:pPr algn="ctr"/>
                <a:r>
                  <a:rPr lang="zh-CN" sz="1800" dirty="0">
                    <a:solidFill>
                      <a:schemeClr val="accent5"/>
                    </a:solidFill>
                    <a:latin typeface="+mn-lt"/>
                    <a:ea typeface="+mn-ea"/>
                    <a:cs typeface="+mn-cs"/>
                  </a:rPr>
                  <a:t>质量与失败出口</a:t>
                </a:r>
              </a:p>
            </p:txBody>
          </p:sp>
          <p:sp>
            <p:nvSpPr>
              <p:cNvPr id="22" name="TextBox 22"/>
              <p:cNvSpPr txBox="1"/>
              <p:nvPr/>
            </p:nvSpPr>
            <p:spPr>
              <a:xfrm>
                <a:off x="3593592" y="3996690"/>
                <a:ext cx="1956816" cy="352044"/>
              </a:xfrm>
              <a:prstGeom prst="rect">
                <a:avLst/>
              </a:prstGeom>
              <a:noFill/>
              <a:ln>
                <a:noFill/>
              </a:ln>
            </p:spPr>
            <p:txBody>
              <a:bodyPr wrap="none" lIns="0" tIns="0" rIns="0" bIns="0" anchor="t" anchorCtr="0">
                <a:spAutoFit/>
              </a:bodyPr>
              <a:lstStyle/>
              <a:p>
                <a:pPr algn="ctr"/>
                <a:r>
                  <a:rPr lang="zh-CN" sz="1800" dirty="0">
                    <a:solidFill>
                      <a:schemeClr val="accent5"/>
                    </a:solidFill>
                    <a:latin typeface="+mn-lt"/>
                    <a:ea typeface="+mn-ea"/>
                    <a:cs typeface="+mn-cs"/>
                  </a:rPr>
                  <a:t>提交、修改、复核</a:t>
                </a:r>
              </a:p>
            </p:txBody>
          </p:sp>
          <p:sp>
            <p:nvSpPr>
              <p:cNvPr id="23" name="TextBox 23"/>
              <p:cNvSpPr txBox="1"/>
              <p:nvPr/>
            </p:nvSpPr>
            <p:spPr>
              <a:xfrm>
                <a:off x="6667500" y="3996690"/>
                <a:ext cx="1714500" cy="352044"/>
              </a:xfrm>
              <a:prstGeom prst="rect">
                <a:avLst/>
              </a:prstGeom>
              <a:noFill/>
              <a:ln>
                <a:noFill/>
              </a:ln>
            </p:spPr>
            <p:txBody>
              <a:bodyPr wrap="none" lIns="0" tIns="0" rIns="0" bIns="0" anchor="t" anchorCtr="0">
                <a:spAutoFit/>
              </a:bodyPr>
              <a:lstStyle/>
              <a:p>
                <a:pPr algn="ctr"/>
                <a:r>
                  <a:rPr lang="zh-CN" sz="1800" dirty="0">
                    <a:solidFill>
                      <a:schemeClr val="accent5"/>
                    </a:solidFill>
                    <a:latin typeface="+mn-lt"/>
                    <a:ea typeface="+mn-ea"/>
                    <a:cs typeface="+mn-cs"/>
                  </a:rPr>
                  <a:t>复用与变化重查</a:t>
                </a:r>
              </a:p>
            </p:txBody>
          </p:sp>
          <p:sp>
            <p:nvSpPr>
              <p:cNvPr id="24" name="TextBox 24"/>
              <p:cNvSpPr txBox="1"/>
              <p:nvPr/>
            </p:nvSpPr>
            <p:spPr>
              <a:xfrm>
                <a:off x="9499092" y="3996690"/>
                <a:ext cx="1956816" cy="352044"/>
              </a:xfrm>
              <a:prstGeom prst="rect">
                <a:avLst/>
              </a:prstGeom>
              <a:noFill/>
              <a:ln>
                <a:noFill/>
              </a:ln>
            </p:spPr>
            <p:txBody>
              <a:bodyPr wrap="none" lIns="0" tIns="0" rIns="0" bIns="0" anchor="t" anchorCtr="0">
                <a:spAutoFit/>
              </a:bodyPr>
              <a:lstStyle/>
              <a:p>
                <a:pPr algn="ctr"/>
                <a:r>
                  <a:rPr lang="zh-CN" sz="1800" dirty="0">
                    <a:solidFill>
                      <a:schemeClr val="accent5"/>
                    </a:solidFill>
                    <a:latin typeface="+mn-lt"/>
                    <a:ea typeface="+mn-ea"/>
                    <a:cs typeface="+mn-cs"/>
                  </a:rPr>
                  <a:t>总投入与处理收益</a:t>
                </a:r>
              </a:p>
            </p:txBody>
          </p:sp>
        </p:grpSp>
      </p:grpSp>
      <p:grpSp>
        <p:nvGrpSpPr>
          <p:cNvPr id="30" name="Group 30"/>
          <p:cNvGrpSpPr/>
          <p:nvPr/>
        </p:nvGrpSpPr>
        <p:grpSpPr>
          <a:xfrm>
            <a:off x="457200" y="5229225"/>
            <a:ext cx="11277600" cy="942975"/>
            <a:chOff x="457200" y="5229225"/>
            <a:chExt cx="11277600" cy="942975"/>
          </a:xfrm>
        </p:grpSpPr>
        <p:sp>
          <p:nvSpPr>
            <p:cNvPr id="27" name="Rectangle 27"/>
            <p:cNvSpPr/>
            <p:nvPr/>
          </p:nvSpPr>
          <p:spPr>
            <a:xfrm>
              <a:off x="457200" y="5229225"/>
              <a:ext cx="11277600" cy="942975"/>
            </a:xfrm>
            <a:prstGeom prst="roundRect">
              <a:avLst>
                <a:gd name="adj" fmla="val 12121"/>
              </a:avLst>
            </a:prstGeom>
            <a:solidFill>
              <a:schemeClr val="lt2"/>
            </a:solidFill>
            <a:ln>
              <a:noFill/>
            </a:ln>
          </p:spPr>
        </p:sp>
        <p:sp>
          <p:nvSpPr>
            <p:cNvPr id="28" name="TextBox 28"/>
            <p:cNvSpPr txBox="1"/>
            <p:nvPr/>
          </p:nvSpPr>
          <p:spPr>
            <a:xfrm>
              <a:off x="732282" y="5393055"/>
              <a:ext cx="652348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每一步看通过证据：质量、版本、流程与人工承接。</a:t>
              </a:r>
            </a:p>
          </p:txBody>
        </p:sp>
        <p:sp>
          <p:nvSpPr>
            <p:cNvPr id="29" name="TextBox 29"/>
            <p:cNvSpPr txBox="1"/>
            <p:nvPr/>
          </p:nvSpPr>
          <p:spPr>
            <a:xfrm>
              <a:off x="735330" y="5838825"/>
              <a:ext cx="688086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首版三个环节都保留；没有实际基线时，不先承诺上线周数或固定提升比例。</a:t>
              </a:r>
            </a:p>
          </p:txBody>
        </p:sp>
      </p:grpSp>
      <p:grpSp>
        <p:nvGrpSpPr>
          <p:cNvPr id="42" name="Group 42"/>
          <p:cNvGrpSpPr/>
          <p:nvPr/>
        </p:nvGrpSpPr>
        <p:grpSpPr>
          <a:xfrm>
            <a:off x="0" y="6286500"/>
            <a:ext cx="12192000" cy="571500"/>
            <a:chOff x="0" y="6286500"/>
            <a:chExt cx="12192000" cy="571500"/>
          </a:xfrm>
        </p:grpSpPr>
        <p:sp>
          <p:nvSpPr>
            <p:cNvPr id="31" name="Rectangle 31"/>
            <p:cNvSpPr/>
            <p:nvPr/>
          </p:nvSpPr>
          <p:spPr>
            <a:xfrm>
              <a:off x="0" y="6286500"/>
              <a:ext cx="12192000" cy="571500"/>
            </a:xfrm>
            <a:prstGeom prst="rect">
              <a:avLst/>
            </a:prstGeom>
            <a:solidFill>
              <a:srgbClr val="FFFFFF"/>
            </a:solidFill>
            <a:ln>
              <a:noFill/>
            </a:ln>
          </p:spPr>
        </p:sp>
        <p:sp>
          <p:nvSpPr>
            <p:cNvPr id="32" name="Line 32"/>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40" name="Group 40"/>
            <p:cNvGrpSpPr/>
            <p:nvPr/>
          </p:nvGrpSpPr>
          <p:grpSpPr>
            <a:xfrm>
              <a:off x="451866" y="6468428"/>
              <a:ext cx="9789078" cy="205359"/>
              <a:chOff x="451866" y="6468428"/>
              <a:chExt cx="9789078" cy="205359"/>
            </a:xfrm>
          </p:grpSpPr>
          <p:sp>
            <p:nvSpPr>
              <p:cNvPr id="33" name="TextBox 33"/>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34" name="TextBox 34"/>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35" name="TextBox 35"/>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36" name="TextBox 36"/>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37" name="TextBox 37"/>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38" name="TextBox 38"/>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39" name="TextBox 39"/>
              <p:cNvSpPr txBox="1"/>
              <p:nvPr/>
            </p:nvSpPr>
            <p:spPr>
              <a:xfrm>
                <a:off x="953871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7 实施验证</a:t>
                </a:r>
              </a:p>
            </p:txBody>
          </p:sp>
        </p:grpSp>
        <p:sp>
          <p:nvSpPr>
            <p:cNvPr id="41" name="TextBox 41"/>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59 / 70</a:t>
              </a:r>
            </a:p>
          </p:txBody>
        </p:sp>
      </p:grpSp>
    </p:spTree>
  </p:cSld>
  <p:clrMapOvr>
    <a:masterClrMapping/>
  </p:clrMapOvr>
  <p:transition xmlns:p14="http://schemas.microsoft.com/office/powerpoint/2010/main" p14:dur="400">
    <p:fade/>
  </p:transition>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921040" cy="1038035"/>
            <a:chOff x="441198" y="428625"/>
            <a:chExt cx="5921040" cy="1038035"/>
          </a:xfrm>
        </p:grpSpPr>
        <p:sp>
          <p:nvSpPr>
            <p:cNvPr id="2" name="TextBox 2"/>
            <p:cNvSpPr txBox="1"/>
            <p:nvPr/>
          </p:nvSpPr>
          <p:spPr>
            <a:xfrm>
              <a:off x="449580" y="428625"/>
              <a:ext cx="357930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第三篇·验落地 / 7.2 质量与总投入验证</a:t>
              </a:r>
            </a:p>
          </p:txBody>
        </p:sp>
        <p:sp>
          <p:nvSpPr>
            <p:cNvPr id="3" name="TextBox 3"/>
            <p:cNvSpPr txBox="1"/>
            <p:nvPr/>
          </p:nvSpPr>
          <p:spPr>
            <a:xfrm>
              <a:off x="441198" y="850583"/>
              <a:ext cx="592104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不只测“65℃拖地”这个显眼错误</a:t>
              </a:r>
            </a:p>
          </p:txBody>
        </p:sp>
      </p:grpSp>
      <p:grpSp>
        <p:nvGrpSpPr>
          <p:cNvPr id="8" name="Group 8"/>
          <p:cNvGrpSpPr/>
          <p:nvPr/>
        </p:nvGrpSpPr>
        <p:grpSpPr>
          <a:xfrm>
            <a:off x="457200" y="1847850"/>
            <a:ext cx="5353050" cy="1619250"/>
            <a:chOff x="457200" y="1847850"/>
            <a:chExt cx="5353050" cy="1619250"/>
          </a:xfrm>
        </p:grpSpPr>
        <p:sp>
          <p:nvSpPr>
            <p:cNvPr id="5" name="Rectangle 5"/>
            <p:cNvSpPr/>
            <p:nvPr/>
          </p:nvSpPr>
          <p:spPr>
            <a:xfrm>
              <a:off x="457200" y="1847850"/>
              <a:ext cx="5353050" cy="1619250"/>
            </a:xfrm>
            <a:prstGeom prst="roundRect">
              <a:avLst>
                <a:gd name="adj" fmla="val 7059"/>
              </a:avLst>
            </a:prstGeom>
            <a:solidFill>
              <a:schemeClr val="lt2"/>
            </a:solidFill>
            <a:ln>
              <a:noFill/>
            </a:ln>
          </p:spPr>
        </p:sp>
        <p:sp>
          <p:nvSpPr>
            <p:cNvPr id="6" name="TextBox 6"/>
            <p:cNvSpPr txBox="1"/>
            <p:nvPr/>
          </p:nvSpPr>
          <p:spPr>
            <a:xfrm>
              <a:off x="714756" y="2063115"/>
              <a:ext cx="1750847"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正常 / 应有支持</a:t>
              </a:r>
            </a:p>
          </p:txBody>
        </p:sp>
        <p:sp>
          <p:nvSpPr>
            <p:cNvPr id="7" name="TextBox 7"/>
            <p:cNvSpPr txBox="1"/>
            <p:nvPr/>
          </p:nvSpPr>
          <p:spPr>
            <a:xfrm>
              <a:off x="711708" y="2607945"/>
              <a:ext cx="3465271"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基站支持65℃热水洗拖布</a:t>
              </a:r>
            </a:p>
          </p:txBody>
        </p:sp>
      </p:grpSp>
      <p:grpSp>
        <p:nvGrpSpPr>
          <p:cNvPr id="12" name="Group 12"/>
          <p:cNvGrpSpPr/>
          <p:nvPr/>
        </p:nvGrpSpPr>
        <p:grpSpPr>
          <a:xfrm>
            <a:off x="6381750" y="1847850"/>
            <a:ext cx="5353050" cy="1619250"/>
            <a:chOff x="6381750" y="1847850"/>
            <a:chExt cx="5353050" cy="1619250"/>
          </a:xfrm>
        </p:grpSpPr>
        <p:sp>
          <p:nvSpPr>
            <p:cNvPr id="9" name="Rectangle 9"/>
            <p:cNvSpPr/>
            <p:nvPr/>
          </p:nvSpPr>
          <p:spPr>
            <a:xfrm>
              <a:off x="6381750" y="1847850"/>
              <a:ext cx="5353050" cy="1619250"/>
            </a:xfrm>
            <a:prstGeom prst="roundRect">
              <a:avLst>
                <a:gd name="adj" fmla="val 7059"/>
              </a:avLst>
            </a:prstGeom>
            <a:solidFill>
              <a:srgbClr val="FFFFFF"/>
            </a:solidFill>
            <a:ln>
              <a:noFill/>
            </a:ln>
          </p:spPr>
        </p:sp>
        <p:sp>
          <p:nvSpPr>
            <p:cNvPr id="10" name="TextBox 10"/>
            <p:cNvSpPr txBox="1"/>
            <p:nvPr/>
          </p:nvSpPr>
          <p:spPr>
            <a:xfrm>
              <a:off x="6639306" y="2063115"/>
              <a:ext cx="2720111"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问题 / 应识别对象不一致</a:t>
              </a:r>
            </a:p>
          </p:txBody>
        </p:sp>
        <p:sp>
          <p:nvSpPr>
            <p:cNvPr id="11" name="TextBox 11"/>
            <p:cNvSpPr txBox="1"/>
            <p:nvPr/>
          </p:nvSpPr>
          <p:spPr>
            <a:xfrm>
              <a:off x="6636258" y="2607945"/>
              <a:ext cx="2496007"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65℃热水直接拖地</a:t>
              </a:r>
            </a:p>
          </p:txBody>
        </p:sp>
      </p:grpSp>
      <p:grpSp>
        <p:nvGrpSpPr>
          <p:cNvPr id="16" name="Group 16"/>
          <p:cNvGrpSpPr/>
          <p:nvPr/>
        </p:nvGrpSpPr>
        <p:grpSpPr>
          <a:xfrm>
            <a:off x="457200" y="3790950"/>
            <a:ext cx="5353050" cy="1619250"/>
            <a:chOff x="457200" y="3790950"/>
            <a:chExt cx="5353050" cy="1619250"/>
          </a:xfrm>
        </p:grpSpPr>
        <p:sp>
          <p:nvSpPr>
            <p:cNvPr id="13" name="Rectangle 13"/>
            <p:cNvSpPr/>
            <p:nvPr/>
          </p:nvSpPr>
          <p:spPr>
            <a:xfrm>
              <a:off x="457200" y="3790950"/>
              <a:ext cx="5353050" cy="1619250"/>
            </a:xfrm>
            <a:prstGeom prst="roundRect">
              <a:avLst>
                <a:gd name="adj" fmla="val 7059"/>
              </a:avLst>
            </a:prstGeom>
            <a:solidFill>
              <a:srgbClr val="FFFFFF"/>
            </a:solidFill>
            <a:ln>
              <a:noFill/>
            </a:ln>
          </p:spPr>
        </p:sp>
        <p:sp>
          <p:nvSpPr>
            <p:cNvPr id="14" name="TextBox 14"/>
            <p:cNvSpPr txBox="1"/>
            <p:nvPr/>
          </p:nvSpPr>
          <p:spPr>
            <a:xfrm>
              <a:off x="714756" y="4006215"/>
              <a:ext cx="2720111"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边界 / 看全文或交人确认</a:t>
              </a:r>
            </a:p>
          </p:txBody>
        </p:sp>
        <p:sp>
          <p:nvSpPr>
            <p:cNvPr id="15" name="TextBox 15"/>
            <p:cNvSpPr txBox="1"/>
            <p:nvPr/>
          </p:nvSpPr>
          <p:spPr>
            <a:xfrm>
              <a:off x="711708" y="4551045"/>
              <a:ext cx="2496007"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65℃热水深度清洁</a:t>
              </a:r>
            </a:p>
          </p:txBody>
        </p:sp>
      </p:grpSp>
      <p:grpSp>
        <p:nvGrpSpPr>
          <p:cNvPr id="20" name="Group 20"/>
          <p:cNvGrpSpPr/>
          <p:nvPr/>
        </p:nvGrpSpPr>
        <p:grpSpPr>
          <a:xfrm>
            <a:off x="6381750" y="3790950"/>
            <a:ext cx="5353050" cy="1619250"/>
            <a:chOff x="6381750" y="3790950"/>
            <a:chExt cx="5353050" cy="1619250"/>
          </a:xfrm>
        </p:grpSpPr>
        <p:sp>
          <p:nvSpPr>
            <p:cNvPr id="17" name="Rectangle 17"/>
            <p:cNvSpPr/>
            <p:nvPr/>
          </p:nvSpPr>
          <p:spPr>
            <a:xfrm>
              <a:off x="6381750" y="3790950"/>
              <a:ext cx="5353050" cy="1619250"/>
            </a:xfrm>
            <a:prstGeom prst="roundRect">
              <a:avLst>
                <a:gd name="adj" fmla="val 7059"/>
              </a:avLst>
            </a:prstGeom>
            <a:solidFill>
              <a:srgbClr val="FFFFFF"/>
            </a:solidFill>
            <a:ln>
              <a:noFill/>
            </a:ln>
          </p:spPr>
        </p:sp>
        <p:sp>
          <p:nvSpPr>
            <p:cNvPr id="18" name="TextBox 18"/>
            <p:cNvSpPr txBox="1"/>
            <p:nvPr/>
          </p:nvSpPr>
          <p:spPr>
            <a:xfrm>
              <a:off x="6639306" y="4006215"/>
              <a:ext cx="2477795"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异常 / 显式未完成范围</a:t>
              </a:r>
            </a:p>
          </p:txBody>
        </p:sp>
        <p:sp>
          <p:nvSpPr>
            <p:cNvPr id="19" name="TextBox 19"/>
            <p:cNvSpPr txBox="1"/>
            <p:nvPr/>
          </p:nvSpPr>
          <p:spPr>
            <a:xfrm>
              <a:off x="6636258" y="4551045"/>
              <a:ext cx="4224528"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缺资料、资料变化、执行超时</a:t>
              </a:r>
            </a:p>
          </p:txBody>
        </p:sp>
      </p:grpSp>
      <p:grpSp>
        <p:nvGrpSpPr>
          <p:cNvPr id="22" name="Group 22"/>
          <p:cNvGrpSpPr/>
          <p:nvPr/>
        </p:nvGrpSpPr>
        <p:grpSpPr>
          <a:xfrm>
            <a:off x="448056" y="5815965"/>
            <a:ext cx="8499348" cy="352044"/>
            <a:chOff x="448056" y="5815965"/>
            <a:chExt cx="8499348" cy="352044"/>
          </a:xfrm>
        </p:grpSpPr>
        <p:sp>
          <p:nvSpPr>
            <p:cNvPr id="21" name="TextBox 21"/>
            <p:cNvSpPr txBox="1"/>
            <p:nvPr/>
          </p:nvSpPr>
          <p:spPr>
            <a:xfrm>
              <a:off x="448056" y="5815965"/>
              <a:ext cx="8499348"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参考判断由业务确认；调试与独立验证分开；修改后回看代表样例和相似模板。</a:t>
              </a:r>
            </a:p>
          </p:txBody>
        </p:sp>
      </p:grpSp>
      <p:grpSp>
        <p:nvGrpSpPr>
          <p:cNvPr id="34" name="Group 34"/>
          <p:cNvGrpSpPr/>
          <p:nvPr/>
        </p:nvGrpSpPr>
        <p:grpSpPr>
          <a:xfrm>
            <a:off x="0" y="6286500"/>
            <a:ext cx="12192000" cy="571500"/>
            <a:chOff x="0" y="6286500"/>
            <a:chExt cx="12192000" cy="571500"/>
          </a:xfrm>
        </p:grpSpPr>
        <p:sp>
          <p:nvSpPr>
            <p:cNvPr id="23" name="Rectangle 23"/>
            <p:cNvSpPr/>
            <p:nvPr/>
          </p:nvSpPr>
          <p:spPr>
            <a:xfrm>
              <a:off x="0" y="6286500"/>
              <a:ext cx="12192000" cy="571500"/>
            </a:xfrm>
            <a:prstGeom prst="rect">
              <a:avLst/>
            </a:prstGeom>
            <a:solidFill>
              <a:srgbClr val="FFFFFF"/>
            </a:solidFill>
            <a:ln>
              <a:noFill/>
            </a:ln>
          </p:spPr>
        </p:sp>
        <p:sp>
          <p:nvSpPr>
            <p:cNvPr id="24" name="Line 24"/>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32" name="Group 32"/>
            <p:cNvGrpSpPr/>
            <p:nvPr/>
          </p:nvGrpSpPr>
          <p:grpSpPr>
            <a:xfrm>
              <a:off x="451866" y="6468428"/>
              <a:ext cx="9789078" cy="205359"/>
              <a:chOff x="451866" y="6468428"/>
              <a:chExt cx="9789078" cy="205359"/>
            </a:xfrm>
          </p:grpSpPr>
          <p:sp>
            <p:nvSpPr>
              <p:cNvPr id="25" name="TextBox 25"/>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6" name="TextBox 26"/>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7" name="TextBox 27"/>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8" name="TextBox 28"/>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9" name="TextBox 29"/>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30" name="TextBox 30"/>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31" name="TextBox 31"/>
              <p:cNvSpPr txBox="1"/>
              <p:nvPr/>
            </p:nvSpPr>
            <p:spPr>
              <a:xfrm>
                <a:off x="953871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7 实施验证</a:t>
                </a:r>
              </a:p>
            </p:txBody>
          </p:sp>
        </p:grpSp>
        <p:sp>
          <p:nvSpPr>
            <p:cNvPr id="33" name="TextBox 33"/>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60 / 70</a:t>
              </a:r>
            </a:p>
          </p:txBody>
        </p:sp>
      </p:grpSp>
    </p:spTree>
  </p:cSld>
  <p:clrMapOvr>
    <a:masterClrMapping/>
  </p:clrMapOvr>
  <p:transition xmlns:p14="http://schemas.microsoft.com/office/powerpoint/2010/main" p14:dur="400">
    <p:fade/>
  </p:transition>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544693" cy="1038035"/>
            <a:chOff x="441198" y="428625"/>
            <a:chExt cx="5544693" cy="1038035"/>
          </a:xfrm>
        </p:grpSpPr>
        <p:sp>
          <p:nvSpPr>
            <p:cNvPr id="2" name="TextBox 2"/>
            <p:cNvSpPr txBox="1"/>
            <p:nvPr/>
          </p:nvSpPr>
          <p:spPr>
            <a:xfrm>
              <a:off x="449580" y="428625"/>
              <a:ext cx="357930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第三篇·验落地 / 7.2 质量与总投入验证</a:t>
              </a:r>
            </a:p>
          </p:txBody>
        </p:sp>
        <p:sp>
          <p:nvSpPr>
            <p:cNvPr id="3" name="TextBox 3"/>
            <p:cNvSpPr txBox="1"/>
            <p:nvPr/>
          </p:nvSpPr>
          <p:spPr>
            <a:xfrm>
              <a:off x="441198" y="850583"/>
              <a:ext cx="554469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验证的对象，是整项审核工作</a:t>
              </a:r>
            </a:p>
          </p:txBody>
        </p:sp>
      </p:grpSp>
      <p:grpSp>
        <p:nvGrpSpPr>
          <p:cNvPr id="11" name="Group 11"/>
          <p:cNvGrpSpPr/>
          <p:nvPr/>
        </p:nvGrpSpPr>
        <p:grpSpPr>
          <a:xfrm>
            <a:off x="446532" y="2059305"/>
            <a:ext cx="7936992" cy="3420618"/>
            <a:chOff x="446532" y="2059305"/>
            <a:chExt cx="7936992" cy="3420618"/>
          </a:xfrm>
        </p:grpSpPr>
        <p:grpSp>
          <p:nvGrpSpPr>
            <p:cNvPr id="10" name="Group 10"/>
            <p:cNvGrpSpPr/>
            <p:nvPr/>
          </p:nvGrpSpPr>
          <p:grpSpPr>
            <a:xfrm>
              <a:off x="446532" y="2059305"/>
              <a:ext cx="7936992" cy="3420618"/>
              <a:chOff x="446532" y="2059305"/>
              <a:chExt cx="7936992" cy="3420618"/>
            </a:xfrm>
          </p:grpSpPr>
          <p:sp>
            <p:nvSpPr>
              <p:cNvPr id="5" name="TextBox 5"/>
              <p:cNvSpPr txBox="1"/>
              <p:nvPr/>
            </p:nvSpPr>
            <p:spPr>
              <a:xfrm>
                <a:off x="446532" y="2059305"/>
                <a:ext cx="7936992"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质量</a:t>
                </a:r>
                <a:r>
                  <a:rPr lang="zh-CN" sz="2100" dirty="0">
                    <a:solidFill>
                      <a:schemeClr val="dk1"/>
                    </a:solidFill>
                    <a:latin typeface="+mn-lt"/>
                    <a:ea typeface="+mn-ea"/>
                    <a:cs typeface="+mn-cs"/>
                  </a:rPr>
                  <a:t xml:space="preserve">　漏报、误报、引用是否适用，信息不足是否被混成无问题</a:t>
                </a:r>
              </a:p>
            </p:txBody>
          </p:sp>
          <p:sp>
            <p:nvSpPr>
              <p:cNvPr id="6" name="TextBox 6"/>
              <p:cNvSpPr txBox="1"/>
              <p:nvPr/>
            </p:nvSpPr>
            <p:spPr>
              <a:xfrm>
                <a:off x="446532" y="2811780"/>
                <a:ext cx="7654290"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人工</a:t>
                </a:r>
                <a:r>
                  <a:rPr lang="zh-CN" sz="2100" dirty="0">
                    <a:solidFill>
                      <a:schemeClr val="dk1"/>
                    </a:solidFill>
                    <a:latin typeface="+mn-lt"/>
                    <a:ea typeface="+mn-ea"/>
                    <a:cs typeface="+mn-cs"/>
                  </a:rPr>
                  <a:t xml:space="preserve">　作者＋审核人员总投入；等待业务回复的时间另行记录</a:t>
                </a:r>
              </a:p>
            </p:txBody>
          </p:sp>
          <p:sp>
            <p:nvSpPr>
              <p:cNvPr id="7" name="TextBox 7"/>
              <p:cNvSpPr txBox="1"/>
              <p:nvPr/>
            </p:nvSpPr>
            <p:spPr>
              <a:xfrm>
                <a:off x="446532" y="3564255"/>
                <a:ext cx="7516673"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版本</a:t>
                </a:r>
                <a:r>
                  <a:rPr lang="zh-CN" sz="2100" dirty="0">
                    <a:solidFill>
                      <a:schemeClr val="dk1"/>
                    </a:solidFill>
                    <a:latin typeface="+mn-lt"/>
                    <a:ea typeface="+mn-ea"/>
                    <a:cs typeface="+mn-cs"/>
                  </a:rPr>
                  <a:t xml:space="preserve">　V2结果是否误用到V3，结论能否对应实际使用版本</a:t>
                </a:r>
              </a:p>
            </p:txBody>
          </p:sp>
          <p:sp>
            <p:nvSpPr>
              <p:cNvPr id="8" name="TextBox 8"/>
              <p:cNvSpPr txBox="1"/>
              <p:nvPr/>
            </p:nvSpPr>
            <p:spPr>
              <a:xfrm>
                <a:off x="446532" y="4316730"/>
                <a:ext cx="7936992"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巡检</a:t>
                </a:r>
                <a:r>
                  <a:rPr lang="zh-CN" sz="2100" dirty="0">
                    <a:solidFill>
                      <a:schemeClr val="dk1"/>
                    </a:solidFill>
                    <a:latin typeface="+mn-lt"/>
                    <a:ea typeface="+mn-ea"/>
                    <a:cs typeface="+mn-cs"/>
                  </a:rPr>
                  <a:t xml:space="preserve">　未知范围有没有跟进，问题有没有人接收并完成实际更新</a:t>
                </a:r>
              </a:p>
            </p:txBody>
          </p:sp>
          <p:sp>
            <p:nvSpPr>
              <p:cNvPr id="9" name="TextBox 9"/>
              <p:cNvSpPr txBox="1"/>
              <p:nvPr/>
            </p:nvSpPr>
            <p:spPr>
              <a:xfrm>
                <a:off x="446532" y="5069205"/>
                <a:ext cx="708888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运行</a:t>
                </a:r>
                <a:r>
                  <a:rPr lang="zh-CN" sz="2100" dirty="0">
                    <a:solidFill>
                      <a:schemeClr val="dk1"/>
                    </a:solidFill>
                    <a:latin typeface="+mn-lt"/>
                    <a:ea typeface="+mn-ea"/>
                    <a:cs typeface="+mn-cs"/>
                  </a:rPr>
                  <a:t xml:space="preserve">　成本、时延、重试和人工接管，能否满足试用安排</a:t>
                </a:r>
              </a:p>
            </p:txBody>
          </p:sp>
        </p:grpSp>
      </p:grpSp>
      <p:grpSp>
        <p:nvGrpSpPr>
          <p:cNvPr id="13" name="Group 13"/>
          <p:cNvGrpSpPr/>
          <p:nvPr/>
        </p:nvGrpSpPr>
        <p:grpSpPr>
          <a:xfrm>
            <a:off x="448056" y="5873115"/>
            <a:ext cx="8499348" cy="352044"/>
            <a:chOff x="448056" y="5873115"/>
            <a:chExt cx="8499348" cy="352044"/>
          </a:xfrm>
        </p:grpSpPr>
        <p:sp>
          <p:nvSpPr>
            <p:cNvPr id="12" name="TextBox 12"/>
            <p:cNvSpPr txBox="1"/>
            <p:nvPr/>
          </p:nvSpPr>
          <p:spPr>
            <a:xfrm>
              <a:off x="448056" y="5873115"/>
              <a:ext cx="8499348"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阶段门槛由业务基线、可接受风险和资源共同决定，不套用别人的通用准确率。</a:t>
              </a:r>
            </a:p>
          </p:txBody>
        </p:sp>
      </p:grpSp>
      <p:grpSp>
        <p:nvGrpSpPr>
          <p:cNvPr id="25" name="Group 25"/>
          <p:cNvGrpSpPr/>
          <p:nvPr/>
        </p:nvGrpSpPr>
        <p:grpSpPr>
          <a:xfrm>
            <a:off x="0" y="6286500"/>
            <a:ext cx="12192000" cy="571500"/>
            <a:chOff x="0" y="6286500"/>
            <a:chExt cx="12192000" cy="571500"/>
          </a:xfrm>
        </p:grpSpPr>
        <p:sp>
          <p:nvSpPr>
            <p:cNvPr id="14" name="Rectangle 14"/>
            <p:cNvSpPr/>
            <p:nvPr/>
          </p:nvSpPr>
          <p:spPr>
            <a:xfrm>
              <a:off x="0" y="6286500"/>
              <a:ext cx="12192000" cy="571500"/>
            </a:xfrm>
            <a:prstGeom prst="rect">
              <a:avLst/>
            </a:prstGeom>
            <a:solidFill>
              <a:srgbClr val="FFFFFF"/>
            </a:solidFill>
            <a:ln>
              <a:noFill/>
            </a:ln>
          </p:spPr>
        </p:sp>
        <p:sp>
          <p:nvSpPr>
            <p:cNvPr id="15" name="Line 15"/>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3" name="Group 23"/>
            <p:cNvGrpSpPr/>
            <p:nvPr/>
          </p:nvGrpSpPr>
          <p:grpSpPr>
            <a:xfrm>
              <a:off x="451866" y="6468428"/>
              <a:ext cx="9789078" cy="205359"/>
              <a:chOff x="451866" y="6468428"/>
              <a:chExt cx="9789078" cy="205359"/>
            </a:xfrm>
          </p:grpSpPr>
          <p:sp>
            <p:nvSpPr>
              <p:cNvPr id="16" name="TextBox 16"/>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17" name="TextBox 17"/>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18" name="TextBox 18"/>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19" name="TextBox 19"/>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0" name="TextBox 20"/>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1" name="TextBox 21"/>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2" name="TextBox 22"/>
              <p:cNvSpPr txBox="1"/>
              <p:nvPr/>
            </p:nvSpPr>
            <p:spPr>
              <a:xfrm>
                <a:off x="953871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7 实施验证</a:t>
                </a:r>
              </a:p>
            </p:txBody>
          </p:sp>
        </p:grpSp>
        <p:sp>
          <p:nvSpPr>
            <p:cNvPr id="24" name="TextBox 24"/>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61 / 70</a:t>
              </a:r>
            </a:p>
          </p:txBody>
        </p:sp>
      </p:grpSp>
    </p:spTree>
  </p:cSld>
  <p:clrMapOvr>
    <a:masterClrMapping/>
  </p:clrMapOvr>
  <p:transition xmlns:p14="http://schemas.microsoft.com/office/powerpoint/2010/main" p14:dur="400">
    <p:fade/>
  </p:transition>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8041305" cy="1038035"/>
            <a:chOff x="441198" y="428625"/>
            <a:chExt cx="8041305" cy="1038035"/>
          </a:xfrm>
        </p:grpSpPr>
        <p:sp>
          <p:nvSpPr>
            <p:cNvPr id="2" name="TextBox 2"/>
            <p:cNvSpPr txBox="1"/>
            <p:nvPr/>
          </p:nvSpPr>
          <p:spPr>
            <a:xfrm>
              <a:off x="449580" y="428625"/>
              <a:ext cx="4619244"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第三篇·验落地 / 7.2 质量与总投入验证 · 课堂计算</a:t>
              </a:r>
            </a:p>
          </p:txBody>
        </p:sp>
        <p:sp>
          <p:nvSpPr>
            <p:cNvPr id="3" name="TextBox 3"/>
            <p:cNvSpPr txBox="1"/>
            <p:nvPr/>
          </p:nvSpPr>
          <p:spPr>
            <a:xfrm>
              <a:off x="441198" y="850583"/>
              <a:ext cx="8041305"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查资料从100降到60分钟，就值得扩大吗？</a:t>
              </a:r>
            </a:p>
          </p:txBody>
        </p:sp>
      </p:grpSp>
      <p:grpSp>
        <p:nvGrpSpPr>
          <p:cNvPr id="7" name="Group 7"/>
          <p:cNvGrpSpPr/>
          <p:nvPr/>
        </p:nvGrpSpPr>
        <p:grpSpPr>
          <a:xfrm>
            <a:off x="446532" y="2117408"/>
            <a:ext cx="10472384" cy="616077"/>
            <a:chOff x="446532" y="2117408"/>
            <a:chExt cx="10472384" cy="616077"/>
          </a:xfrm>
        </p:grpSpPr>
        <p:sp>
          <p:nvSpPr>
            <p:cNvPr id="5" name="TextBox 5"/>
            <p:cNvSpPr txBox="1"/>
            <p:nvPr/>
          </p:nvSpPr>
          <p:spPr>
            <a:xfrm>
              <a:off x="446532" y="2145030"/>
              <a:ext cx="2848356"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作者准备、自检与修改</a:t>
              </a:r>
            </a:p>
          </p:txBody>
        </p:sp>
        <p:sp>
          <p:nvSpPr>
            <p:cNvPr id="6" name="TextBox 6"/>
            <p:cNvSpPr txBox="1"/>
            <p:nvPr/>
          </p:nvSpPr>
          <p:spPr>
            <a:xfrm>
              <a:off x="8413623" y="2117408"/>
              <a:ext cx="2505293" cy="616077"/>
            </a:xfrm>
            <a:prstGeom prst="rect">
              <a:avLst/>
            </a:prstGeom>
            <a:noFill/>
            <a:ln>
              <a:noFill/>
            </a:ln>
          </p:spPr>
          <p:txBody>
            <a:bodyPr wrap="none" lIns="0" tIns="0" rIns="0" bIns="0" anchor="t" anchorCtr="0">
              <a:spAutoFit/>
            </a:bodyPr>
            <a:lstStyle/>
            <a:p>
              <a:pPr algn="l"/>
              <a:r>
                <a:rPr lang="zh-CN" sz="3150" b="1" dirty="0">
                  <a:solidFill>
                    <a:schemeClr val="accent3"/>
                  </a:solidFill>
                  <a:latin typeface="+mn-lt"/>
                  <a:ea typeface="+mn-ea"/>
                  <a:cs typeface="+mn-cs"/>
                </a:rPr>
                <a:t>60 → 80 分钟</a:t>
              </a:r>
            </a:p>
          </p:txBody>
        </p:sp>
      </p:grpSp>
      <p:grpSp>
        <p:nvGrpSpPr>
          <p:cNvPr id="10" name="Group 10"/>
          <p:cNvGrpSpPr/>
          <p:nvPr/>
        </p:nvGrpSpPr>
        <p:grpSpPr>
          <a:xfrm>
            <a:off x="446532" y="3384232"/>
            <a:ext cx="10717275" cy="616077"/>
            <a:chOff x="446532" y="3384232"/>
            <a:chExt cx="10717275" cy="616077"/>
          </a:xfrm>
        </p:grpSpPr>
        <p:sp>
          <p:nvSpPr>
            <p:cNvPr id="8" name="TextBox 8"/>
            <p:cNvSpPr txBox="1"/>
            <p:nvPr/>
          </p:nvSpPr>
          <p:spPr>
            <a:xfrm>
              <a:off x="446532" y="3411855"/>
              <a:ext cx="2848356"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审核人员查资料与核对</a:t>
              </a:r>
            </a:p>
          </p:txBody>
        </p:sp>
        <p:sp>
          <p:nvSpPr>
            <p:cNvPr id="9" name="TextBox 9"/>
            <p:cNvSpPr txBox="1"/>
            <p:nvPr/>
          </p:nvSpPr>
          <p:spPr>
            <a:xfrm>
              <a:off x="8413623" y="3384232"/>
              <a:ext cx="2750184" cy="616077"/>
            </a:xfrm>
            <a:prstGeom prst="rect">
              <a:avLst/>
            </a:prstGeom>
            <a:noFill/>
            <a:ln>
              <a:noFill/>
            </a:ln>
          </p:spPr>
          <p:txBody>
            <a:bodyPr wrap="none" lIns="0" tIns="0" rIns="0" bIns="0" anchor="t" anchorCtr="0">
              <a:spAutoFit/>
            </a:bodyPr>
            <a:lstStyle/>
            <a:p>
              <a:pPr algn="l"/>
              <a:r>
                <a:rPr lang="zh-CN" sz="3150" b="1" dirty="0">
                  <a:solidFill>
                    <a:schemeClr val="accent3"/>
                  </a:solidFill>
                  <a:latin typeface="+mn-lt"/>
                  <a:ea typeface="+mn-ea"/>
                  <a:cs typeface="+mn-cs"/>
                </a:rPr>
                <a:t>100 → 60 分钟</a:t>
              </a:r>
            </a:p>
          </p:txBody>
        </p:sp>
      </p:grpSp>
      <p:grpSp>
        <p:nvGrpSpPr>
          <p:cNvPr id="13" name="Group 13"/>
          <p:cNvGrpSpPr/>
          <p:nvPr/>
        </p:nvGrpSpPr>
        <p:grpSpPr>
          <a:xfrm>
            <a:off x="446532" y="4651058"/>
            <a:ext cx="10472384" cy="616077"/>
            <a:chOff x="446532" y="4651058"/>
            <a:chExt cx="10472384" cy="616077"/>
          </a:xfrm>
        </p:grpSpPr>
        <p:sp>
          <p:nvSpPr>
            <p:cNvPr id="11" name="TextBox 11"/>
            <p:cNvSpPr txBox="1"/>
            <p:nvPr/>
          </p:nvSpPr>
          <p:spPr>
            <a:xfrm>
              <a:off x="446532" y="4678680"/>
              <a:ext cx="2282952"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沟通、纠错与复核</a:t>
              </a:r>
            </a:p>
          </p:txBody>
        </p:sp>
        <p:sp>
          <p:nvSpPr>
            <p:cNvPr id="12" name="TextBox 12"/>
            <p:cNvSpPr txBox="1"/>
            <p:nvPr/>
          </p:nvSpPr>
          <p:spPr>
            <a:xfrm>
              <a:off x="8413623" y="4651058"/>
              <a:ext cx="2505293" cy="616077"/>
            </a:xfrm>
            <a:prstGeom prst="rect">
              <a:avLst/>
            </a:prstGeom>
            <a:noFill/>
            <a:ln>
              <a:noFill/>
            </a:ln>
          </p:spPr>
          <p:txBody>
            <a:bodyPr wrap="none" lIns="0" tIns="0" rIns="0" bIns="0" anchor="t" anchorCtr="0">
              <a:spAutoFit/>
            </a:bodyPr>
            <a:lstStyle/>
            <a:p>
              <a:pPr algn="l"/>
              <a:r>
                <a:rPr lang="zh-CN" sz="3150" b="1" dirty="0">
                  <a:solidFill>
                    <a:schemeClr val="accent3"/>
                  </a:solidFill>
                  <a:latin typeface="+mn-lt"/>
                  <a:ea typeface="+mn-ea"/>
                  <a:cs typeface="+mn-cs"/>
                </a:rPr>
                <a:t>40 → 65 分钟</a:t>
              </a:r>
            </a:p>
          </p:txBody>
        </p:sp>
      </p:grpSp>
      <p:grpSp>
        <p:nvGrpSpPr>
          <p:cNvPr id="15" name="Group 15"/>
          <p:cNvGrpSpPr/>
          <p:nvPr/>
        </p:nvGrpSpPr>
        <p:grpSpPr>
          <a:xfrm>
            <a:off x="446532" y="5802630"/>
            <a:ext cx="7682560" cy="410718"/>
            <a:chOff x="446532" y="5802630"/>
            <a:chExt cx="7682560" cy="410718"/>
          </a:xfrm>
        </p:grpSpPr>
        <p:sp>
          <p:nvSpPr>
            <p:cNvPr id="14" name="TextBox 14"/>
            <p:cNvSpPr txBox="1"/>
            <p:nvPr/>
          </p:nvSpPr>
          <p:spPr>
            <a:xfrm>
              <a:off x="446532" y="5802630"/>
              <a:ext cx="7682560" cy="410718"/>
            </a:xfrm>
            <a:prstGeom prst="rect">
              <a:avLst/>
            </a:prstGeom>
            <a:noFill/>
            <a:ln>
              <a:noFill/>
            </a:ln>
          </p:spPr>
          <p:txBody>
            <a:bodyPr wrap="none" lIns="0" tIns="0" rIns="0" bIns="0" anchor="t" anchorCtr="0">
              <a:spAutoFit/>
            </a:bodyPr>
            <a:lstStyle/>
            <a:p>
              <a:pPr algn="l"/>
              <a:r>
                <a:rPr lang="zh-CN" sz="2100" dirty="0">
                  <a:solidFill>
                    <a:srgbClr val="E8F2EF"/>
                  </a:solidFill>
                  <a:latin typeface="+mn-lt"/>
                  <a:ea typeface="+mn-ea"/>
                  <a:cs typeface="+mn-cs"/>
                </a:rPr>
                <a:t>各处理10篇难度可比文案：先算总人工，再说还缺什么证据。</a:t>
              </a:r>
            </a:p>
          </p:txBody>
        </p:sp>
      </p:grpSp>
      <p:grpSp>
        <p:nvGrpSpPr>
          <p:cNvPr id="27" name="Group 27"/>
          <p:cNvGrpSpPr/>
          <p:nvPr/>
        </p:nvGrpSpPr>
        <p:grpSpPr>
          <a:xfrm>
            <a:off x="0" y="6286500"/>
            <a:ext cx="12192000" cy="571500"/>
            <a:chOff x="0" y="6286500"/>
            <a:chExt cx="12192000" cy="571500"/>
          </a:xfrm>
        </p:grpSpPr>
        <p:sp>
          <p:nvSpPr>
            <p:cNvPr id="16" name="Rectangle 16"/>
            <p:cNvSpPr/>
            <p:nvPr/>
          </p:nvSpPr>
          <p:spPr>
            <a:xfrm>
              <a:off x="0" y="6286500"/>
              <a:ext cx="12192000" cy="571500"/>
            </a:xfrm>
            <a:prstGeom prst="rect">
              <a:avLst/>
            </a:prstGeom>
            <a:solidFill>
              <a:srgbClr val="FFFFFF"/>
            </a:solidFill>
            <a:ln>
              <a:noFill/>
            </a:ln>
          </p:spPr>
        </p:sp>
        <p:sp>
          <p:nvSpPr>
            <p:cNvPr id="17" name="Line 17"/>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5" name="Group 25"/>
            <p:cNvGrpSpPr/>
            <p:nvPr/>
          </p:nvGrpSpPr>
          <p:grpSpPr>
            <a:xfrm>
              <a:off x="451866" y="6468428"/>
              <a:ext cx="9789078" cy="205359"/>
              <a:chOff x="451866" y="6468428"/>
              <a:chExt cx="9789078" cy="205359"/>
            </a:xfrm>
          </p:grpSpPr>
          <p:sp>
            <p:nvSpPr>
              <p:cNvPr id="18" name="TextBox 18"/>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19" name="TextBox 19"/>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0" name="TextBox 20"/>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1" name="TextBox 21"/>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2" name="TextBox 22"/>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3" name="TextBox 23"/>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4" name="TextBox 24"/>
              <p:cNvSpPr txBox="1"/>
              <p:nvPr/>
            </p:nvSpPr>
            <p:spPr>
              <a:xfrm>
                <a:off x="953871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7 实施验证</a:t>
                </a:r>
              </a:p>
            </p:txBody>
          </p:sp>
        </p:grpSp>
        <p:sp>
          <p:nvSpPr>
            <p:cNvPr id="26" name="TextBox 26"/>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62 / 70</a:t>
              </a:r>
            </a:p>
          </p:txBody>
        </p:sp>
      </p:grpSp>
    </p:spTree>
  </p:cSld>
  <p:clrMapOvr>
    <a:masterClrMapping/>
  </p:clrMapOvr>
  <p:transition xmlns:p14="http://schemas.microsoft.com/office/powerpoint/2010/main" p14:dur="400">
    <p:fade/>
  </p:transition>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968746" cy="1038035"/>
            <a:chOff x="441198" y="428625"/>
            <a:chExt cx="5968746" cy="1038035"/>
          </a:xfrm>
        </p:grpSpPr>
        <p:sp>
          <p:nvSpPr>
            <p:cNvPr id="2" name="TextBox 2"/>
            <p:cNvSpPr txBox="1"/>
            <p:nvPr/>
          </p:nvSpPr>
          <p:spPr>
            <a:xfrm>
              <a:off x="449580" y="428625"/>
              <a:ext cx="4619244"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第三篇·验落地 / 7.2 质量与总投入验证 · 结果揭示</a:t>
              </a:r>
            </a:p>
          </p:txBody>
        </p:sp>
        <p:sp>
          <p:nvSpPr>
            <p:cNvPr id="3" name="TextBox 3"/>
            <p:cNvSpPr txBox="1"/>
            <p:nvPr/>
          </p:nvSpPr>
          <p:spPr>
            <a:xfrm>
              <a:off x="441198" y="850583"/>
              <a:ext cx="5968746"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局部变快，还不能宣布整体提效</a:t>
              </a:r>
            </a:p>
          </p:txBody>
        </p:sp>
      </p:grpSp>
      <p:grpSp>
        <p:nvGrpSpPr>
          <p:cNvPr id="7" name="Group 7"/>
          <p:cNvGrpSpPr/>
          <p:nvPr/>
        </p:nvGrpSpPr>
        <p:grpSpPr>
          <a:xfrm>
            <a:off x="438150" y="2164080"/>
            <a:ext cx="7900705" cy="1276350"/>
            <a:chOff x="438150" y="2164080"/>
            <a:chExt cx="7900705" cy="1276350"/>
          </a:xfrm>
        </p:grpSpPr>
        <p:sp>
          <p:nvSpPr>
            <p:cNvPr id="5" name="TextBox 5"/>
            <p:cNvSpPr txBox="1"/>
            <p:nvPr/>
          </p:nvSpPr>
          <p:spPr>
            <a:xfrm>
              <a:off x="438150" y="2164080"/>
              <a:ext cx="4189579" cy="1276350"/>
            </a:xfrm>
            <a:prstGeom prst="rect">
              <a:avLst/>
            </a:prstGeom>
            <a:noFill/>
            <a:ln>
              <a:noFill/>
            </a:ln>
          </p:spPr>
          <p:txBody>
            <a:bodyPr wrap="none" lIns="0" tIns="0" rIns="0" bIns="0" anchor="t" anchorCtr="0">
              <a:spAutoFit/>
            </a:bodyPr>
            <a:lstStyle/>
            <a:p>
              <a:pPr algn="l"/>
              <a:r>
                <a:rPr lang="zh-CN" sz="6600" b="1" dirty="0">
                  <a:solidFill>
                    <a:schemeClr val="dk1"/>
                  </a:solidFill>
                  <a:latin typeface="+mn-lt"/>
                  <a:ea typeface="+mn-ea"/>
                  <a:cs typeface="+mn-cs"/>
                </a:rPr>
                <a:t>200 → 205</a:t>
              </a:r>
            </a:p>
          </p:txBody>
        </p:sp>
        <p:sp>
          <p:nvSpPr>
            <p:cNvPr id="6" name="TextBox 6"/>
            <p:cNvSpPr txBox="1"/>
            <p:nvPr/>
          </p:nvSpPr>
          <p:spPr>
            <a:xfrm>
              <a:off x="6365748" y="2498408"/>
              <a:ext cx="1973107"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mn-lt"/>
                  <a:ea typeface="+mn-ea"/>
                  <a:cs typeface="+mn-cs"/>
                </a:rPr>
                <a:t>增加5分钟</a:t>
              </a:r>
            </a:p>
          </p:txBody>
        </p:sp>
      </p:grpSp>
      <p:grpSp>
        <p:nvGrpSpPr>
          <p:cNvPr id="9" name="Group 9"/>
          <p:cNvGrpSpPr/>
          <p:nvPr/>
        </p:nvGrpSpPr>
        <p:grpSpPr>
          <a:xfrm>
            <a:off x="446532" y="3764280"/>
            <a:ext cx="6961670" cy="410718"/>
            <a:chOff x="446532" y="3764280"/>
            <a:chExt cx="6961670" cy="410718"/>
          </a:xfrm>
        </p:grpSpPr>
        <p:sp>
          <p:nvSpPr>
            <p:cNvPr id="8" name="TextBox 8"/>
            <p:cNvSpPr txBox="1"/>
            <p:nvPr/>
          </p:nvSpPr>
          <p:spPr>
            <a:xfrm>
              <a:off x="446532" y="3764280"/>
              <a:ext cx="696167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作者 +20　查资料 −40　沟通与复核 +25　＝ 总人工 +5</a:t>
              </a:r>
            </a:p>
          </p:txBody>
        </p:sp>
      </p:grpSp>
      <p:grpSp>
        <p:nvGrpSpPr>
          <p:cNvPr id="14" name="Group 14"/>
          <p:cNvGrpSpPr/>
          <p:nvPr/>
        </p:nvGrpSpPr>
        <p:grpSpPr>
          <a:xfrm>
            <a:off x="457200" y="4638675"/>
            <a:ext cx="11277600" cy="1524000"/>
            <a:chOff x="457200" y="4638675"/>
            <a:chExt cx="11277600" cy="1524000"/>
          </a:xfrm>
        </p:grpSpPr>
        <p:sp>
          <p:nvSpPr>
            <p:cNvPr id="10" name="Rectangle 10"/>
            <p:cNvSpPr/>
            <p:nvPr/>
          </p:nvSpPr>
          <p:spPr>
            <a:xfrm>
              <a:off x="457200" y="4638675"/>
              <a:ext cx="11277600" cy="1524000"/>
            </a:xfrm>
            <a:prstGeom prst="roundRect">
              <a:avLst>
                <a:gd name="adj" fmla="val 7500"/>
              </a:avLst>
            </a:prstGeom>
            <a:solidFill>
              <a:schemeClr val="lt2"/>
            </a:solidFill>
            <a:ln>
              <a:noFill/>
            </a:ln>
          </p:spPr>
        </p:sp>
        <p:sp>
          <p:nvSpPr>
            <p:cNvPr id="11" name="TextBox 11"/>
            <p:cNvSpPr txBox="1"/>
            <p:nvPr/>
          </p:nvSpPr>
          <p:spPr>
            <a:xfrm>
              <a:off x="730758" y="4827270"/>
              <a:ext cx="810158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先查原因：反馈不清？误报多？版本没接上？学习成本？</a:t>
              </a:r>
            </a:p>
          </p:txBody>
        </p:sp>
        <p:sp>
          <p:nvSpPr>
            <p:cNvPr id="12" name="TextBox 12"/>
            <p:cNvSpPr txBox="1"/>
            <p:nvPr/>
          </p:nvSpPr>
          <p:spPr>
            <a:xfrm>
              <a:off x="732282" y="5412105"/>
              <a:ext cx="793699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同时核对质量、等待与任务可比性，再决定是否接受成本取舍。</a:t>
              </a:r>
            </a:p>
          </p:txBody>
        </p:sp>
        <p:sp>
          <p:nvSpPr>
            <p:cNvPr id="13" name="TextBox 13"/>
            <p:cNvSpPr txBox="1"/>
            <p:nvPr/>
          </p:nvSpPr>
          <p:spPr>
            <a:xfrm>
              <a:off x="735330" y="5857875"/>
              <a:ext cx="768858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同一个人刚做完同一题再做一遍变快，不能全归因工具；没有收益证据就不急于扩大。</a:t>
              </a:r>
            </a:p>
          </p:txBody>
        </p:sp>
      </p:grpSp>
      <p:grpSp>
        <p:nvGrpSpPr>
          <p:cNvPr id="26" name="Group 26"/>
          <p:cNvGrpSpPr/>
          <p:nvPr/>
        </p:nvGrpSpPr>
        <p:grpSpPr>
          <a:xfrm>
            <a:off x="0" y="6286500"/>
            <a:ext cx="12192000" cy="571500"/>
            <a:chOff x="0" y="6286500"/>
            <a:chExt cx="12192000" cy="571500"/>
          </a:xfrm>
        </p:grpSpPr>
        <p:sp>
          <p:nvSpPr>
            <p:cNvPr id="15" name="Rectangle 15"/>
            <p:cNvSpPr/>
            <p:nvPr/>
          </p:nvSpPr>
          <p:spPr>
            <a:xfrm>
              <a:off x="0" y="6286500"/>
              <a:ext cx="12192000" cy="571500"/>
            </a:xfrm>
            <a:prstGeom prst="rect">
              <a:avLst/>
            </a:prstGeom>
            <a:solidFill>
              <a:srgbClr val="FFFFFF"/>
            </a:solidFill>
            <a:ln>
              <a:noFill/>
            </a:ln>
          </p:spPr>
        </p:sp>
        <p:sp>
          <p:nvSpPr>
            <p:cNvPr id="16" name="Line 16"/>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4" name="Group 24"/>
            <p:cNvGrpSpPr/>
            <p:nvPr/>
          </p:nvGrpSpPr>
          <p:grpSpPr>
            <a:xfrm>
              <a:off x="451866" y="6468428"/>
              <a:ext cx="9789078" cy="205359"/>
              <a:chOff x="451866" y="6468428"/>
              <a:chExt cx="9789078" cy="205359"/>
            </a:xfrm>
          </p:grpSpPr>
          <p:sp>
            <p:nvSpPr>
              <p:cNvPr id="17" name="TextBox 17"/>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18" name="TextBox 18"/>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19" name="TextBox 19"/>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0" name="TextBox 20"/>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1" name="TextBox 21"/>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2" name="TextBox 22"/>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3" name="TextBox 23"/>
              <p:cNvSpPr txBox="1"/>
              <p:nvPr/>
            </p:nvSpPr>
            <p:spPr>
              <a:xfrm>
                <a:off x="953871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7 实施验证</a:t>
                </a:r>
              </a:p>
            </p:txBody>
          </p:sp>
        </p:grpSp>
        <p:sp>
          <p:nvSpPr>
            <p:cNvPr id="25" name="TextBox 25"/>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63 / 70</a:t>
              </a:r>
            </a:p>
          </p:txBody>
        </p:sp>
      </p:grpSp>
    </p:spTree>
  </p:cSld>
  <p:clrMapOvr>
    <a:masterClrMapping/>
  </p:clrMapOvr>
  <p:transition xmlns:p14="http://schemas.microsoft.com/office/powerpoint/2010/main" p14:dur="400">
    <p:fade/>
  </p:transition>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968746" cy="1038035"/>
            <a:chOff x="441198" y="428625"/>
            <a:chExt cx="5968746" cy="1038035"/>
          </a:xfrm>
        </p:grpSpPr>
        <p:sp>
          <p:nvSpPr>
            <p:cNvPr id="2" name="TextBox 2"/>
            <p:cNvSpPr txBox="1"/>
            <p:nvPr/>
          </p:nvSpPr>
          <p:spPr>
            <a:xfrm>
              <a:off x="449580" y="428625"/>
              <a:ext cx="317544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第三篇·验落地 / 7.3 决策与下一步</a:t>
              </a:r>
            </a:p>
          </p:txBody>
        </p:sp>
        <p:sp>
          <p:nvSpPr>
            <p:cNvPr id="3" name="TextBox 3"/>
            <p:cNvSpPr txBox="1"/>
            <p:nvPr/>
          </p:nvSpPr>
          <p:spPr>
            <a:xfrm>
              <a:off x="441198" y="850583"/>
              <a:ext cx="5968746"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试用结论，要能决定下一步动作</a:t>
              </a:r>
            </a:p>
          </p:txBody>
        </p:sp>
      </p:grpSp>
      <p:grpSp>
        <p:nvGrpSpPr>
          <p:cNvPr id="8" name="Group 8"/>
          <p:cNvGrpSpPr/>
          <p:nvPr/>
        </p:nvGrpSpPr>
        <p:grpSpPr>
          <a:xfrm>
            <a:off x="457200" y="1809750"/>
            <a:ext cx="2857500" cy="3619500"/>
            <a:chOff x="457200" y="1809750"/>
            <a:chExt cx="2857500" cy="3619500"/>
          </a:xfrm>
        </p:grpSpPr>
        <p:sp>
          <p:nvSpPr>
            <p:cNvPr id="5" name="Rectangle 5"/>
            <p:cNvSpPr/>
            <p:nvPr/>
          </p:nvSpPr>
          <p:spPr>
            <a:xfrm>
              <a:off x="457200" y="1809750"/>
              <a:ext cx="2857500" cy="3619500"/>
            </a:xfrm>
            <a:prstGeom prst="roundRect">
              <a:avLst>
                <a:gd name="adj" fmla="val 4000"/>
              </a:avLst>
            </a:prstGeom>
            <a:solidFill>
              <a:srgbClr val="102F30"/>
            </a:solidFill>
            <a:ln>
              <a:noFill/>
            </a:ln>
          </p:spPr>
        </p:sp>
        <p:sp>
          <p:nvSpPr>
            <p:cNvPr id="6" name="TextBox 6"/>
            <p:cNvSpPr txBox="1"/>
            <p:nvPr/>
          </p:nvSpPr>
          <p:spPr>
            <a:xfrm>
              <a:off x="730758" y="2141220"/>
              <a:ext cx="1962912"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回看真实证据</a:t>
              </a:r>
            </a:p>
          </p:txBody>
        </p:sp>
        <p:sp>
          <p:nvSpPr>
            <p:cNvPr id="7" name="TextBox 7"/>
            <p:cNvSpPr txBox="1"/>
            <p:nvPr/>
          </p:nvSpPr>
          <p:spPr>
            <a:xfrm>
              <a:off x="732282" y="2926080"/>
              <a:ext cx="2421636" cy="1515618"/>
            </a:xfrm>
            <a:prstGeom prst="rect">
              <a:avLst/>
            </a:prstGeom>
            <a:noFill/>
            <a:ln>
              <a:noFill/>
            </a:ln>
          </p:spPr>
          <p:txBody>
            <a:bodyPr wrap="none" lIns="0" tIns="0" rIns="0" bIns="0" anchor="t" anchorCtr="0">
              <a:spAutoFit/>
            </a:bodyPr>
            <a:lstStyle/>
            <a:p>
              <a:pPr algn="l">
                <a:lnSpc>
                  <a:spcPts val="4350"/>
                </a:lnSpc>
              </a:pPr>
              <a:r>
                <a:rPr lang="zh-CN" sz="2100" dirty="0">
                  <a:solidFill>
                    <a:srgbClr val="E8F2EF"/>
                  </a:solidFill>
                  <a:latin typeface="+mn-lt"/>
                  <a:ea typeface="+mn-ea"/>
                  <a:cs typeface="+mn-cs"/>
                </a:rPr>
                <a:t>质量是否满足要求</a:t>
              </a:r>
              <a:br/>
              <a:r>
                <a:rPr lang="zh-CN" sz="2100" dirty="0">
                  <a:solidFill>
                    <a:srgbClr val="E8F2EF"/>
                  </a:solidFill>
                  <a:latin typeface="+mn-lt"/>
                  <a:ea typeface="+mn-ea"/>
                  <a:cs typeface="+mn-cs"/>
                </a:rPr>
                <a:t>流程与责任是否稳定</a:t>
              </a:r>
              <a:br/>
              <a:r>
                <a:rPr lang="zh-CN" sz="2100" dirty="0">
                  <a:solidFill>
                    <a:srgbClr val="E8F2EF"/>
                  </a:solidFill>
                  <a:latin typeface="+mn-lt"/>
                  <a:ea typeface="+mn-ea"/>
                  <a:cs typeface="+mn-cs"/>
                </a:rPr>
                <a:t>收益是否可确认</a:t>
              </a:r>
            </a:p>
          </p:txBody>
        </p:sp>
      </p:grpSp>
      <p:grpSp>
        <p:nvGrpSpPr>
          <p:cNvPr id="12" name="Group 12"/>
          <p:cNvGrpSpPr/>
          <p:nvPr/>
        </p:nvGrpSpPr>
        <p:grpSpPr>
          <a:xfrm>
            <a:off x="3314700" y="2002155"/>
            <a:ext cx="6713969" cy="813054"/>
            <a:chOff x="3314700" y="2002155"/>
            <a:chExt cx="6713969" cy="813054"/>
          </a:xfrm>
        </p:grpSpPr>
        <p:sp>
          <p:nvSpPr>
            <p:cNvPr id="9" name="Line 9"/>
            <p:cNvSpPr/>
            <p:nvPr/>
          </p:nvSpPr>
          <p:spPr>
            <a:xfrm>
              <a:off x="3314700" y="2305050"/>
              <a:ext cx="714375" cy="9525"/>
            </a:xfrm>
            <a:custGeom>
              <a:avLst/>
              <a:gdLst/>
              <a:ahLst/>
              <a:cxnLst/>
              <a:rect l="l" t="t" r="r" b="b"/>
              <a:pathLst>
                <a:path w="714375" h="9525">
                  <a:moveTo>
                    <a:pt x="0" y="0"/>
                  </a:moveTo>
                  <a:lnTo>
                    <a:pt x="714375" y="0"/>
                  </a:lnTo>
                </a:path>
              </a:pathLst>
            </a:custGeom>
            <a:noFill/>
            <a:ln w="28575">
              <a:solidFill>
                <a:schemeClr val="accent1"/>
              </a:solidFill>
            </a:ln>
          </p:spPr>
        </p:sp>
        <p:sp>
          <p:nvSpPr>
            <p:cNvPr id="10" name="TextBox 10"/>
            <p:cNvSpPr txBox="1"/>
            <p:nvPr/>
          </p:nvSpPr>
          <p:spPr>
            <a:xfrm>
              <a:off x="4294632" y="2002155"/>
              <a:ext cx="5734037"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稳定且有收益 → 逐步扩大相似商品与人员范围</a:t>
              </a:r>
            </a:p>
          </p:txBody>
        </p:sp>
        <p:sp>
          <p:nvSpPr>
            <p:cNvPr id="11" name="TextBox 11"/>
            <p:cNvSpPr txBox="1"/>
            <p:nvPr/>
          </p:nvSpPr>
          <p:spPr>
            <a:xfrm>
              <a:off x="4296156" y="2463165"/>
              <a:ext cx="3895344"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保留质量、处理时效和人工承接记录</a:t>
              </a:r>
            </a:p>
          </p:txBody>
        </p:sp>
      </p:grpSp>
      <p:grpSp>
        <p:nvGrpSpPr>
          <p:cNvPr id="16" name="Group 16"/>
          <p:cNvGrpSpPr/>
          <p:nvPr/>
        </p:nvGrpSpPr>
        <p:grpSpPr>
          <a:xfrm>
            <a:off x="3314700" y="3316605"/>
            <a:ext cx="6713969" cy="813054"/>
            <a:chOff x="3314700" y="3316605"/>
            <a:chExt cx="6713969" cy="813054"/>
          </a:xfrm>
        </p:grpSpPr>
        <p:sp>
          <p:nvSpPr>
            <p:cNvPr id="13" name="Line 13"/>
            <p:cNvSpPr/>
            <p:nvPr/>
          </p:nvSpPr>
          <p:spPr>
            <a:xfrm>
              <a:off x="3314700" y="3619500"/>
              <a:ext cx="714375" cy="9525"/>
            </a:xfrm>
            <a:custGeom>
              <a:avLst/>
              <a:gdLst/>
              <a:ahLst/>
              <a:cxnLst/>
              <a:rect l="l" t="t" r="r" b="b"/>
              <a:pathLst>
                <a:path w="714375" h="9525">
                  <a:moveTo>
                    <a:pt x="0" y="0"/>
                  </a:moveTo>
                  <a:lnTo>
                    <a:pt x="714375" y="0"/>
                  </a:lnTo>
                </a:path>
              </a:pathLst>
            </a:custGeom>
            <a:noFill/>
            <a:ln w="28575">
              <a:solidFill>
                <a:schemeClr val="accent6"/>
              </a:solidFill>
            </a:ln>
          </p:spPr>
        </p:sp>
        <p:sp>
          <p:nvSpPr>
            <p:cNvPr id="14" name="TextBox 14"/>
            <p:cNvSpPr txBox="1"/>
            <p:nvPr/>
          </p:nvSpPr>
          <p:spPr>
            <a:xfrm>
              <a:off x="4294632" y="3316605"/>
              <a:ext cx="5734037"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误报、资料、版本有问题 → 定位、修复、回归</a:t>
              </a:r>
            </a:p>
          </p:txBody>
        </p:sp>
        <p:sp>
          <p:nvSpPr>
            <p:cNvPr id="15" name="TextBox 15"/>
            <p:cNvSpPr txBox="1"/>
            <p:nvPr/>
          </p:nvSpPr>
          <p:spPr>
            <a:xfrm>
              <a:off x="4296156" y="3777615"/>
              <a:ext cx="5349240"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分清取资料、理解原文、引用定位和用户处理环节</a:t>
              </a:r>
            </a:p>
          </p:txBody>
        </p:sp>
      </p:grpSp>
      <p:grpSp>
        <p:nvGrpSpPr>
          <p:cNvPr id="20" name="Group 20"/>
          <p:cNvGrpSpPr/>
          <p:nvPr/>
        </p:nvGrpSpPr>
        <p:grpSpPr>
          <a:xfrm>
            <a:off x="3314700" y="4631055"/>
            <a:ext cx="7279373" cy="813054"/>
            <a:chOff x="3314700" y="4631055"/>
            <a:chExt cx="7279373" cy="813054"/>
          </a:xfrm>
        </p:grpSpPr>
        <p:sp>
          <p:nvSpPr>
            <p:cNvPr id="17" name="Line 17"/>
            <p:cNvSpPr/>
            <p:nvPr/>
          </p:nvSpPr>
          <p:spPr>
            <a:xfrm>
              <a:off x="3314700" y="4933950"/>
              <a:ext cx="714375" cy="9525"/>
            </a:xfrm>
            <a:custGeom>
              <a:avLst/>
              <a:gdLst/>
              <a:ahLst/>
              <a:cxnLst/>
              <a:rect l="l" t="t" r="r" b="b"/>
              <a:pathLst>
                <a:path w="714375" h="9525">
                  <a:moveTo>
                    <a:pt x="0" y="0"/>
                  </a:moveTo>
                  <a:lnTo>
                    <a:pt x="714375" y="0"/>
                  </a:lnTo>
                </a:path>
              </a:pathLst>
            </a:custGeom>
            <a:noFill/>
            <a:ln w="28575">
              <a:solidFill>
                <a:schemeClr val="accent2"/>
              </a:solidFill>
            </a:ln>
          </p:spPr>
        </p:sp>
        <p:sp>
          <p:nvSpPr>
            <p:cNvPr id="18" name="TextBox 18"/>
            <p:cNvSpPr txBox="1"/>
            <p:nvPr/>
          </p:nvSpPr>
          <p:spPr>
            <a:xfrm>
              <a:off x="4294632" y="4631055"/>
              <a:ext cx="6299441"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关键错误不可控或无人处理 → 收缩，必要时回人工</a:t>
              </a:r>
            </a:p>
          </p:txBody>
        </p:sp>
        <p:sp>
          <p:nvSpPr>
            <p:cNvPr id="19" name="TextBox 19"/>
            <p:cNvSpPr txBox="1"/>
            <p:nvPr/>
          </p:nvSpPr>
          <p:spPr>
            <a:xfrm>
              <a:off x="4296156" y="5092065"/>
              <a:ext cx="559155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记录调整理由；不能把无人接收的列表当作完成闭环</a:t>
              </a:r>
            </a:p>
          </p:txBody>
        </p:sp>
      </p:grpSp>
      <p:grpSp>
        <p:nvGrpSpPr>
          <p:cNvPr id="32" name="Group 32"/>
          <p:cNvGrpSpPr/>
          <p:nvPr/>
        </p:nvGrpSpPr>
        <p:grpSpPr>
          <a:xfrm>
            <a:off x="0" y="6286500"/>
            <a:ext cx="12192000" cy="571500"/>
            <a:chOff x="0" y="6286500"/>
            <a:chExt cx="12192000" cy="571500"/>
          </a:xfrm>
        </p:grpSpPr>
        <p:sp>
          <p:nvSpPr>
            <p:cNvPr id="21" name="Rectangle 21"/>
            <p:cNvSpPr/>
            <p:nvPr/>
          </p:nvSpPr>
          <p:spPr>
            <a:xfrm>
              <a:off x="0" y="6286500"/>
              <a:ext cx="12192000" cy="571500"/>
            </a:xfrm>
            <a:prstGeom prst="rect">
              <a:avLst/>
            </a:prstGeom>
            <a:solidFill>
              <a:srgbClr val="FFFFFF"/>
            </a:solidFill>
            <a:ln>
              <a:noFill/>
            </a:ln>
          </p:spPr>
        </p:sp>
        <p:sp>
          <p:nvSpPr>
            <p:cNvPr id="22" name="Line 22"/>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30" name="Group 30"/>
            <p:cNvGrpSpPr/>
            <p:nvPr/>
          </p:nvGrpSpPr>
          <p:grpSpPr>
            <a:xfrm>
              <a:off x="451866" y="6468428"/>
              <a:ext cx="9789078" cy="205359"/>
              <a:chOff x="451866" y="6468428"/>
              <a:chExt cx="9789078" cy="205359"/>
            </a:xfrm>
          </p:grpSpPr>
          <p:sp>
            <p:nvSpPr>
              <p:cNvPr id="23" name="TextBox 23"/>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4" name="TextBox 24"/>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5" name="TextBox 25"/>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6" name="TextBox 26"/>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7" name="TextBox 27"/>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8" name="TextBox 28"/>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9" name="TextBox 29"/>
              <p:cNvSpPr txBox="1"/>
              <p:nvPr/>
            </p:nvSpPr>
            <p:spPr>
              <a:xfrm>
                <a:off x="953871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7 实施验证</a:t>
                </a:r>
              </a:p>
            </p:txBody>
          </p:sp>
        </p:grpSp>
        <p:sp>
          <p:nvSpPr>
            <p:cNvPr id="31" name="TextBox 31"/>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64 / 70</a:t>
              </a:r>
            </a:p>
          </p:txBody>
        </p:sp>
      </p:grpSp>
    </p:spTree>
  </p:cSld>
  <p:clrMapOvr>
    <a:masterClrMapping/>
  </p:clrMapOvr>
  <p:transition xmlns:p14="http://schemas.microsoft.com/office/powerpoint/2010/main" p14:dur="400">
    <p:fade/>
  </p:transition>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664958" cy="1038035"/>
            <a:chOff x="441198" y="428625"/>
            <a:chExt cx="7664958" cy="1038035"/>
          </a:xfrm>
        </p:grpSpPr>
        <p:sp>
          <p:nvSpPr>
            <p:cNvPr id="2" name="TextBox 2"/>
            <p:cNvSpPr txBox="1"/>
            <p:nvPr/>
          </p:nvSpPr>
          <p:spPr>
            <a:xfrm>
              <a:off x="449580" y="428625"/>
              <a:ext cx="3175445"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第三篇·验落地 / 7.3 决策与下一步</a:t>
              </a:r>
            </a:p>
          </p:txBody>
        </p:sp>
        <p:sp>
          <p:nvSpPr>
            <p:cNvPr id="3" name="TextBox 3"/>
            <p:cNvSpPr txBox="1"/>
            <p:nvPr/>
          </p:nvSpPr>
          <p:spPr>
            <a:xfrm>
              <a:off x="441198" y="850583"/>
              <a:ext cx="7664958"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自动完成一条检查，不等于自动发布整篇</a:t>
              </a:r>
            </a:p>
          </p:txBody>
        </p:sp>
      </p:grpSp>
      <p:grpSp>
        <p:nvGrpSpPr>
          <p:cNvPr id="14" name="Group 14"/>
          <p:cNvGrpSpPr/>
          <p:nvPr/>
        </p:nvGrpSpPr>
        <p:grpSpPr>
          <a:xfrm>
            <a:off x="457200" y="1866900"/>
            <a:ext cx="11277600" cy="2286000"/>
            <a:chOff x="457200" y="1866900"/>
            <a:chExt cx="11277600" cy="2286000"/>
          </a:xfrm>
        </p:grpSpPr>
        <p:sp>
          <p:nvSpPr>
            <p:cNvPr id="5" name="Rectangle 5"/>
            <p:cNvSpPr/>
            <p:nvPr/>
          </p:nvSpPr>
          <p:spPr>
            <a:xfrm>
              <a:off x="457200" y="3200400"/>
              <a:ext cx="3276600" cy="952500"/>
            </a:xfrm>
            <a:prstGeom prst="roundRect">
              <a:avLst>
                <a:gd name="adj" fmla="val 12000"/>
              </a:avLst>
            </a:prstGeom>
            <a:solidFill>
              <a:schemeClr val="lt2"/>
            </a:solidFill>
            <a:ln>
              <a:noFill/>
            </a:ln>
          </p:spPr>
        </p:sp>
        <p:sp>
          <p:nvSpPr>
            <p:cNvPr id="6" name="Rectangle 6"/>
            <p:cNvSpPr/>
            <p:nvPr/>
          </p:nvSpPr>
          <p:spPr>
            <a:xfrm>
              <a:off x="4457700" y="2533650"/>
              <a:ext cx="3276600" cy="952500"/>
            </a:xfrm>
            <a:prstGeom prst="roundRect">
              <a:avLst>
                <a:gd name="adj" fmla="val 12000"/>
              </a:avLst>
            </a:prstGeom>
            <a:solidFill>
              <a:schemeClr val="lt2"/>
            </a:solidFill>
            <a:ln>
              <a:noFill/>
            </a:ln>
          </p:spPr>
        </p:sp>
        <p:sp>
          <p:nvSpPr>
            <p:cNvPr id="7" name="Rectangle 7"/>
            <p:cNvSpPr/>
            <p:nvPr/>
          </p:nvSpPr>
          <p:spPr>
            <a:xfrm>
              <a:off x="8458200" y="1866900"/>
              <a:ext cx="3276600" cy="952500"/>
            </a:xfrm>
            <a:prstGeom prst="roundRect">
              <a:avLst>
                <a:gd name="adj" fmla="val 12000"/>
              </a:avLst>
            </a:prstGeom>
            <a:solidFill>
              <a:schemeClr val="accent1"/>
            </a:solidFill>
            <a:ln>
              <a:noFill/>
            </a:ln>
          </p:spPr>
        </p:sp>
        <p:grpSp>
          <p:nvGrpSpPr>
            <p:cNvPr id="11" name="Group 11"/>
            <p:cNvGrpSpPr/>
            <p:nvPr/>
          </p:nvGrpSpPr>
          <p:grpSpPr>
            <a:xfrm>
              <a:off x="713232" y="2211705"/>
              <a:ext cx="10849356" cy="1744218"/>
              <a:chOff x="713232" y="2211705"/>
              <a:chExt cx="10849356" cy="1744218"/>
            </a:xfrm>
          </p:grpSpPr>
          <p:sp>
            <p:nvSpPr>
              <p:cNvPr id="8" name="TextBox 8"/>
              <p:cNvSpPr txBox="1"/>
              <p:nvPr/>
            </p:nvSpPr>
            <p:spPr>
              <a:xfrm>
                <a:off x="713232" y="3545205"/>
                <a:ext cx="2565654"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边界明确的自动检查</a:t>
                </a:r>
              </a:p>
            </p:txBody>
          </p:sp>
          <p:sp>
            <p:nvSpPr>
              <p:cNvPr id="9" name="TextBox 9"/>
              <p:cNvSpPr txBox="1"/>
              <p:nvPr/>
            </p:nvSpPr>
            <p:spPr>
              <a:xfrm>
                <a:off x="4713732" y="2878455"/>
                <a:ext cx="3131058"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稳定辅助，人工正式决定</a:t>
                </a:r>
              </a:p>
            </p:txBody>
          </p:sp>
          <p:sp>
            <p:nvSpPr>
              <p:cNvPr id="10" name="TextBox 10"/>
              <p:cNvSpPr txBox="1"/>
              <p:nvPr/>
            </p:nvSpPr>
            <p:spPr>
              <a:xfrm>
                <a:off x="8714232" y="2211705"/>
                <a:ext cx="2848356" cy="410718"/>
              </a:xfrm>
              <a:prstGeom prst="rect">
                <a:avLst/>
              </a:prstGeom>
              <a:noFill/>
              <a:ln>
                <a:noFill/>
              </a:ln>
            </p:spPr>
            <p:txBody>
              <a:bodyPr wrap="none" lIns="0" tIns="0" rIns="0" bIns="0" anchor="t" anchorCtr="0">
                <a:spAutoFit/>
              </a:bodyPr>
              <a:lstStyle/>
              <a:p>
                <a:pPr algn="l"/>
                <a:r>
                  <a:rPr lang="zh-CN" sz="2100" b="1" dirty="0">
                    <a:solidFill>
                      <a:srgbClr val="FFFFFF"/>
                    </a:solidFill>
                    <a:latin typeface="+mn-lt"/>
                    <a:ea typeface="+mn-ea"/>
                    <a:cs typeface="+mn-cs"/>
                  </a:rPr>
                  <a:t>评估限定场景自动决定</a:t>
                </a:r>
              </a:p>
            </p:txBody>
          </p:sp>
        </p:grpSp>
        <p:sp>
          <p:nvSpPr>
            <p:cNvPr id="12" name="Line 12"/>
            <p:cNvSpPr/>
            <p:nvPr/>
          </p:nvSpPr>
          <p:spPr>
            <a:xfrm>
              <a:off x="3752850" y="3009900"/>
              <a:ext cx="685800" cy="666750"/>
            </a:xfrm>
            <a:custGeom>
              <a:avLst/>
              <a:gdLst/>
              <a:ahLst/>
              <a:cxnLst/>
              <a:rect l="l" t="t" r="r" b="b"/>
              <a:pathLst>
                <a:path w="685800" h="666750">
                  <a:moveTo>
                    <a:pt x="0" y="666750"/>
                  </a:moveTo>
                  <a:lnTo>
                    <a:pt x="685800" y="0"/>
                  </a:lnTo>
                </a:path>
              </a:pathLst>
            </a:custGeom>
            <a:noFill/>
            <a:ln w="28575">
              <a:solidFill>
                <a:schemeClr val="accent1"/>
              </a:solidFill>
              <a:prstDash val="lgDash"/>
            </a:ln>
          </p:spPr>
        </p:sp>
        <p:sp>
          <p:nvSpPr>
            <p:cNvPr id="13" name="Line 13"/>
            <p:cNvSpPr/>
            <p:nvPr/>
          </p:nvSpPr>
          <p:spPr>
            <a:xfrm>
              <a:off x="7753350" y="2343150"/>
              <a:ext cx="685800" cy="666750"/>
            </a:xfrm>
            <a:custGeom>
              <a:avLst/>
              <a:gdLst/>
              <a:ahLst/>
              <a:cxnLst/>
              <a:rect l="l" t="t" r="r" b="b"/>
              <a:pathLst>
                <a:path w="685800" h="666750">
                  <a:moveTo>
                    <a:pt x="0" y="666750"/>
                  </a:moveTo>
                  <a:lnTo>
                    <a:pt x="685800" y="0"/>
                  </a:lnTo>
                </a:path>
              </a:pathLst>
            </a:custGeom>
            <a:noFill/>
            <a:ln w="28575">
              <a:solidFill>
                <a:schemeClr val="accent1"/>
              </a:solidFill>
              <a:prstDash val="lgDash"/>
            </a:ln>
          </p:spPr>
        </p:sp>
      </p:grpSp>
      <p:grpSp>
        <p:nvGrpSpPr>
          <p:cNvPr id="18" name="Group 18"/>
          <p:cNvGrpSpPr/>
          <p:nvPr/>
        </p:nvGrpSpPr>
        <p:grpSpPr>
          <a:xfrm>
            <a:off x="445008" y="4789170"/>
            <a:ext cx="8433244" cy="1381125"/>
            <a:chOff x="445008" y="4789170"/>
            <a:chExt cx="8433244" cy="1381125"/>
          </a:xfrm>
        </p:grpSpPr>
        <p:sp>
          <p:nvSpPr>
            <p:cNvPr id="15" name="TextBox 15"/>
            <p:cNvSpPr txBox="1"/>
            <p:nvPr/>
          </p:nvSpPr>
          <p:spPr>
            <a:xfrm>
              <a:off x="445008" y="4789170"/>
              <a:ext cx="5516880"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进入下一阶段，需要额外证据与授权：</a:t>
              </a:r>
            </a:p>
          </p:txBody>
        </p:sp>
        <p:sp>
          <p:nvSpPr>
            <p:cNvPr id="16" name="TextBox 16"/>
            <p:cNvSpPr txBox="1"/>
            <p:nvPr/>
          </p:nvSpPr>
          <p:spPr>
            <a:xfrm>
              <a:off x="446532" y="5393055"/>
              <a:ext cx="843172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完整覆盖 · 有效依据 · 质量证据 · 处置权限 · 异常承接 · 恢复人工</a:t>
              </a:r>
            </a:p>
          </p:txBody>
        </p:sp>
        <p:sp>
          <p:nvSpPr>
            <p:cNvPr id="17" name="TextBox 17"/>
            <p:cNvSpPr txBox="1"/>
            <p:nvPr/>
          </p:nvSpPr>
          <p:spPr>
            <a:xfrm>
              <a:off x="449580" y="5876925"/>
              <a:ext cx="789051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系统未发现问题，不能直接连接自动发布。阶段先后是方案演进示意，未承诺上线时间。</a:t>
              </a:r>
            </a:p>
          </p:txBody>
        </p:sp>
      </p:grpSp>
      <p:grpSp>
        <p:nvGrpSpPr>
          <p:cNvPr id="30" name="Group 30"/>
          <p:cNvGrpSpPr/>
          <p:nvPr/>
        </p:nvGrpSpPr>
        <p:grpSpPr>
          <a:xfrm>
            <a:off x="0" y="6286500"/>
            <a:ext cx="12192000" cy="571500"/>
            <a:chOff x="0" y="6286500"/>
            <a:chExt cx="12192000" cy="571500"/>
          </a:xfrm>
        </p:grpSpPr>
        <p:sp>
          <p:nvSpPr>
            <p:cNvPr id="19" name="Rectangle 19"/>
            <p:cNvSpPr/>
            <p:nvPr/>
          </p:nvSpPr>
          <p:spPr>
            <a:xfrm>
              <a:off x="0" y="6286500"/>
              <a:ext cx="12192000" cy="571500"/>
            </a:xfrm>
            <a:prstGeom prst="rect">
              <a:avLst/>
            </a:prstGeom>
            <a:solidFill>
              <a:srgbClr val="FFFFFF"/>
            </a:solidFill>
            <a:ln>
              <a:noFill/>
            </a:ln>
          </p:spPr>
        </p:sp>
        <p:sp>
          <p:nvSpPr>
            <p:cNvPr id="20" name="Line 20"/>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8" name="Group 28"/>
            <p:cNvGrpSpPr/>
            <p:nvPr/>
          </p:nvGrpSpPr>
          <p:grpSpPr>
            <a:xfrm>
              <a:off x="451866" y="6468428"/>
              <a:ext cx="9789078" cy="205359"/>
              <a:chOff x="451866" y="6468428"/>
              <a:chExt cx="9789078" cy="205359"/>
            </a:xfrm>
          </p:grpSpPr>
          <p:sp>
            <p:nvSpPr>
              <p:cNvPr id="21" name="TextBox 21"/>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22" name="TextBox 22"/>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23" name="TextBox 23"/>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24" name="TextBox 24"/>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5" name="TextBox 25"/>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6" name="TextBox 26"/>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7" name="TextBox 27"/>
              <p:cNvSpPr txBox="1"/>
              <p:nvPr/>
            </p:nvSpPr>
            <p:spPr>
              <a:xfrm>
                <a:off x="953871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7 实施验证</a:t>
                </a:r>
              </a:p>
            </p:txBody>
          </p:sp>
        </p:grpSp>
        <p:sp>
          <p:nvSpPr>
            <p:cNvPr id="29" name="TextBox 29"/>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65 / 70</a:t>
              </a:r>
            </a:p>
          </p:txBody>
        </p:sp>
      </p:grpSp>
    </p:spTree>
  </p:cSld>
  <p:clrMapOvr>
    <a:masterClrMapping/>
  </p:clrMapOvr>
  <p:transition xmlns:p14="http://schemas.microsoft.com/office/powerpoint/2010/main" p14:dur="400">
    <p:fade/>
  </p:transition>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240905" cy="1038035"/>
            <a:chOff x="441198" y="428625"/>
            <a:chExt cx="7240905" cy="1038035"/>
          </a:xfrm>
        </p:grpSpPr>
        <p:sp>
          <p:nvSpPr>
            <p:cNvPr id="2" name="TextBox 2"/>
            <p:cNvSpPr txBox="1"/>
            <p:nvPr/>
          </p:nvSpPr>
          <p:spPr>
            <a:xfrm>
              <a:off x="449580" y="428625"/>
              <a:ext cx="4215384"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第三篇·验落地 / 7.3 决策与下一步 · 原型复盘</a:t>
              </a:r>
            </a:p>
          </p:txBody>
        </p:sp>
        <p:sp>
          <p:nvSpPr>
            <p:cNvPr id="3" name="TextBox 3"/>
            <p:cNvSpPr txBox="1"/>
            <p:nvPr/>
          </p:nvSpPr>
          <p:spPr>
            <a:xfrm>
              <a:off x="441198" y="850583"/>
              <a:ext cx="7240905"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用原型走一遍：我们到底省了哪一步？</a:t>
              </a:r>
            </a:p>
          </p:txBody>
        </p:sp>
      </p:grpSp>
      <p:grpSp>
        <p:nvGrpSpPr>
          <p:cNvPr id="11" name="Group 11"/>
          <p:cNvGrpSpPr/>
          <p:nvPr/>
        </p:nvGrpSpPr>
        <p:grpSpPr>
          <a:xfrm>
            <a:off x="446532" y="2049780"/>
            <a:ext cx="6786982" cy="3344418"/>
            <a:chOff x="446532" y="2049780"/>
            <a:chExt cx="6786982" cy="3344418"/>
          </a:xfrm>
        </p:grpSpPr>
        <p:grpSp>
          <p:nvGrpSpPr>
            <p:cNvPr id="10" name="Group 10"/>
            <p:cNvGrpSpPr/>
            <p:nvPr/>
          </p:nvGrpSpPr>
          <p:grpSpPr>
            <a:xfrm>
              <a:off x="446532" y="2049780"/>
              <a:ext cx="6786982" cy="3344418"/>
              <a:chOff x="446532" y="2049780"/>
              <a:chExt cx="6786982" cy="3344418"/>
            </a:xfrm>
          </p:grpSpPr>
          <p:sp>
            <p:nvSpPr>
              <p:cNvPr id="5" name="TextBox 5"/>
              <p:cNvSpPr txBox="1"/>
              <p:nvPr/>
            </p:nvSpPr>
            <p:spPr>
              <a:xfrm>
                <a:off x="446532" y="2049780"/>
                <a:ext cx="618957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01 V1自检 → 观察原句定位、依据与未完成范围</a:t>
                </a:r>
              </a:p>
            </p:txBody>
          </p:sp>
          <p:sp>
            <p:nvSpPr>
              <p:cNvPr id="6" name="TextBox 6"/>
              <p:cNvSpPr txBox="1"/>
              <p:nvPr/>
            </p:nvSpPr>
            <p:spPr>
              <a:xfrm>
                <a:off x="446532" y="2783205"/>
                <a:ext cx="678698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02 V2带问题提交 → 观察作者说明如何进入正式审核</a:t>
                </a:r>
              </a:p>
            </p:txBody>
          </p:sp>
          <p:sp>
            <p:nvSpPr>
              <p:cNvPr id="7" name="TextBox 7"/>
              <p:cNvSpPr txBox="1"/>
              <p:nvPr/>
            </p:nvSpPr>
            <p:spPr>
              <a:xfrm>
                <a:off x="446532" y="3516630"/>
                <a:ext cx="648827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03 人工确认、V3复核 → 观察检查与正式决定分离</a:t>
                </a:r>
              </a:p>
            </p:txBody>
          </p:sp>
          <p:sp>
            <p:nvSpPr>
              <p:cNvPr id="8" name="TextBox 8"/>
              <p:cNvSpPr txBox="1"/>
              <p:nvPr/>
            </p:nvSpPr>
            <p:spPr>
              <a:xfrm>
                <a:off x="446532" y="4250055"/>
                <a:ext cx="639626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04 赠品事件巡检 → 观察范围待确认与实际使用更新</a:t>
                </a:r>
              </a:p>
            </p:txBody>
          </p:sp>
          <p:sp>
            <p:nvSpPr>
              <p:cNvPr id="9" name="TextBox 9"/>
              <p:cNvSpPr txBox="1"/>
              <p:nvPr/>
            </p:nvSpPr>
            <p:spPr>
              <a:xfrm>
                <a:off x="446532" y="4983480"/>
                <a:ext cx="589087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05 V2结果迟到 → 观察旧结果始终绑定原版本</a:t>
                </a:r>
              </a:p>
            </p:txBody>
          </p:sp>
        </p:grpSp>
      </p:grpSp>
      <p:grpSp>
        <p:nvGrpSpPr>
          <p:cNvPr id="13" name="Group 13"/>
          <p:cNvGrpSpPr/>
          <p:nvPr/>
        </p:nvGrpSpPr>
        <p:grpSpPr>
          <a:xfrm>
            <a:off x="448056" y="5749290"/>
            <a:ext cx="9795739" cy="352044"/>
            <a:chOff x="448056" y="5749290"/>
            <a:chExt cx="9795739" cy="352044"/>
          </a:xfrm>
        </p:grpSpPr>
        <p:sp>
          <p:nvSpPr>
            <p:cNvPr id="12" name="TextBox 12"/>
            <p:cNvSpPr txBox="1"/>
            <p:nvPr/>
          </p:nvSpPr>
          <p:spPr>
            <a:xfrm>
              <a:off x="448056" y="5749290"/>
              <a:ext cx="9795739"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配套“第一次课_课堂演示原型.html”可本地打开；预设结果不是模型能力或上线效果证明。</a:t>
              </a:r>
            </a:p>
          </p:txBody>
        </p:sp>
      </p:grpSp>
      <p:grpSp>
        <p:nvGrpSpPr>
          <p:cNvPr id="25" name="Group 25"/>
          <p:cNvGrpSpPr/>
          <p:nvPr/>
        </p:nvGrpSpPr>
        <p:grpSpPr>
          <a:xfrm>
            <a:off x="0" y="6286500"/>
            <a:ext cx="12192000" cy="571500"/>
            <a:chOff x="0" y="6286500"/>
            <a:chExt cx="12192000" cy="571500"/>
          </a:xfrm>
        </p:grpSpPr>
        <p:sp>
          <p:nvSpPr>
            <p:cNvPr id="14" name="Rectangle 14"/>
            <p:cNvSpPr/>
            <p:nvPr/>
          </p:nvSpPr>
          <p:spPr>
            <a:xfrm>
              <a:off x="0" y="6286500"/>
              <a:ext cx="12192000" cy="571500"/>
            </a:xfrm>
            <a:prstGeom prst="rect">
              <a:avLst/>
            </a:prstGeom>
            <a:solidFill>
              <a:srgbClr val="FFFFFF"/>
            </a:solidFill>
            <a:ln>
              <a:noFill/>
            </a:ln>
          </p:spPr>
        </p:sp>
        <p:sp>
          <p:nvSpPr>
            <p:cNvPr id="15" name="Line 15"/>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3" name="Group 23"/>
            <p:cNvGrpSpPr/>
            <p:nvPr/>
          </p:nvGrpSpPr>
          <p:grpSpPr>
            <a:xfrm>
              <a:off x="451866" y="6468428"/>
              <a:ext cx="9789078" cy="205359"/>
              <a:chOff x="451866" y="6468428"/>
              <a:chExt cx="9789078" cy="205359"/>
            </a:xfrm>
          </p:grpSpPr>
          <p:sp>
            <p:nvSpPr>
              <p:cNvPr id="16" name="TextBox 16"/>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17" name="TextBox 17"/>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18" name="TextBox 18"/>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19" name="TextBox 19"/>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0" name="TextBox 20"/>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1" name="TextBox 21"/>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2" name="TextBox 22"/>
              <p:cNvSpPr txBox="1"/>
              <p:nvPr/>
            </p:nvSpPr>
            <p:spPr>
              <a:xfrm>
                <a:off x="953871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7 实施验证</a:t>
                </a:r>
              </a:p>
            </p:txBody>
          </p:sp>
        </p:grpSp>
        <p:sp>
          <p:nvSpPr>
            <p:cNvPr id="24" name="TextBox 24"/>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66 / 70</a:t>
              </a:r>
            </a:p>
          </p:txBody>
        </p:sp>
      </p:grpSp>
    </p:spTree>
  </p:cSld>
  <p:clrMapOvr>
    <a:masterClrMapping/>
  </p:clrMapOvr>
  <p:transition xmlns:p14="http://schemas.microsoft.com/office/powerpoint/2010/main" p14:dur="400">
    <p:fade/>
  </p:transition>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4696587" cy="1038035"/>
            <a:chOff x="441198" y="428625"/>
            <a:chExt cx="4696587" cy="1038035"/>
          </a:xfrm>
        </p:grpSpPr>
        <p:sp>
          <p:nvSpPr>
            <p:cNvPr id="2" name="TextBox 2"/>
            <p:cNvSpPr txBox="1"/>
            <p:nvPr/>
          </p:nvSpPr>
          <p:spPr>
            <a:xfrm>
              <a:off x="449580" y="428625"/>
              <a:ext cx="4215384"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第三篇·验落地 / 7.3 决策与下一步 · 课后产物</a:t>
              </a:r>
            </a:p>
          </p:txBody>
        </p:sp>
        <p:sp>
          <p:nvSpPr>
            <p:cNvPr id="3" name="TextBox 3"/>
            <p:cNvSpPr txBox="1"/>
            <p:nvPr/>
          </p:nvSpPr>
          <p:spPr>
            <a:xfrm>
              <a:off x="441198" y="850583"/>
              <a:ext cx="4696587"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把方案收成一页实施安排</a:t>
              </a:r>
            </a:p>
          </p:txBody>
        </p:sp>
      </p:grpSp>
      <p:grpSp>
        <p:nvGrpSpPr>
          <p:cNvPr id="11" name="Group 11"/>
          <p:cNvGrpSpPr/>
          <p:nvPr/>
        </p:nvGrpSpPr>
        <p:grpSpPr>
          <a:xfrm>
            <a:off x="457200" y="1809750"/>
            <a:ext cx="11277600" cy="3333750"/>
            <a:chOff x="457200" y="1809750"/>
            <a:chExt cx="11277600" cy="3333750"/>
          </a:xfrm>
        </p:grpSpPr>
        <p:sp>
          <p:nvSpPr>
            <p:cNvPr id="5" name="Rectangle 5"/>
            <p:cNvSpPr/>
            <p:nvPr/>
          </p:nvSpPr>
          <p:spPr>
            <a:xfrm>
              <a:off x="457200" y="1809750"/>
              <a:ext cx="11277600" cy="3333750"/>
            </a:xfrm>
            <a:prstGeom prst="roundRect">
              <a:avLst>
                <a:gd name="adj" fmla="val 3429"/>
              </a:avLst>
            </a:prstGeom>
            <a:solidFill>
              <a:srgbClr val="FFFFFF"/>
            </a:solidFill>
            <a:ln>
              <a:noFill/>
            </a:ln>
          </p:spPr>
        </p:sp>
        <p:sp>
          <p:nvSpPr>
            <p:cNvPr id="6" name="TextBox 6"/>
            <p:cNvSpPr txBox="1"/>
            <p:nvPr/>
          </p:nvSpPr>
          <p:spPr>
            <a:xfrm>
              <a:off x="732282" y="2059305"/>
              <a:ext cx="6923505"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选择一个关键审核点：温度对象 / 价格条件 / 赠品权益</a:t>
              </a:r>
            </a:p>
          </p:txBody>
        </p:sp>
        <p:sp>
          <p:nvSpPr>
            <p:cNvPr id="7" name="TextBox 7"/>
            <p:cNvSpPr txBox="1"/>
            <p:nvPr/>
          </p:nvSpPr>
          <p:spPr>
            <a:xfrm>
              <a:off x="732282" y="2764155"/>
              <a:ext cx="426186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先做什么？　写出最小路径和边界</a:t>
              </a:r>
            </a:p>
          </p:txBody>
        </p:sp>
        <p:sp>
          <p:nvSpPr>
            <p:cNvPr id="8" name="TextBox 8"/>
            <p:cNvSpPr txBox="1"/>
            <p:nvPr/>
          </p:nvSpPr>
          <p:spPr>
            <a:xfrm>
              <a:off x="732282" y="3373755"/>
              <a:ext cx="680618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谁负责？　　资料、实现、复核、实际处理都有承接人</a:t>
              </a:r>
            </a:p>
          </p:txBody>
        </p:sp>
        <p:sp>
          <p:nvSpPr>
            <p:cNvPr id="9" name="TextBox 9"/>
            <p:cNvSpPr txBox="1"/>
            <p:nvPr/>
          </p:nvSpPr>
          <p:spPr>
            <a:xfrm>
              <a:off x="732282" y="3983355"/>
              <a:ext cx="624078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依赖什么？　有效依据、上下文、版本与使用关联</a:t>
              </a:r>
            </a:p>
          </p:txBody>
        </p:sp>
        <p:sp>
          <p:nvSpPr>
            <p:cNvPr id="10" name="TextBox 10"/>
            <p:cNvSpPr txBox="1"/>
            <p:nvPr/>
          </p:nvSpPr>
          <p:spPr>
            <a:xfrm>
              <a:off x="732282" y="4592955"/>
              <a:ext cx="717369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看什么证据？正常 / 问题 / 无法确认样例，及下一步条件</a:t>
              </a:r>
            </a:p>
          </p:txBody>
        </p:sp>
      </p:grpSp>
      <p:grpSp>
        <p:nvGrpSpPr>
          <p:cNvPr id="13" name="Group 13"/>
          <p:cNvGrpSpPr/>
          <p:nvPr/>
        </p:nvGrpSpPr>
        <p:grpSpPr>
          <a:xfrm>
            <a:off x="446532" y="5716905"/>
            <a:ext cx="8219694" cy="410718"/>
            <a:chOff x="446532" y="5716905"/>
            <a:chExt cx="8219694" cy="410718"/>
          </a:xfrm>
        </p:grpSpPr>
        <p:sp>
          <p:nvSpPr>
            <p:cNvPr id="12" name="TextBox 12"/>
            <p:cNvSpPr txBox="1"/>
            <p:nvPr/>
          </p:nvSpPr>
          <p:spPr>
            <a:xfrm>
              <a:off x="446532" y="5716905"/>
              <a:ext cx="8219694"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下一课继续深化资料接入、规则配置、页面状态与验证后的取舍。</a:t>
              </a:r>
            </a:p>
          </p:txBody>
        </p:sp>
      </p:grpSp>
      <p:grpSp>
        <p:nvGrpSpPr>
          <p:cNvPr id="25" name="Group 25"/>
          <p:cNvGrpSpPr/>
          <p:nvPr/>
        </p:nvGrpSpPr>
        <p:grpSpPr>
          <a:xfrm>
            <a:off x="0" y="6286500"/>
            <a:ext cx="12192000" cy="571500"/>
            <a:chOff x="0" y="6286500"/>
            <a:chExt cx="12192000" cy="571500"/>
          </a:xfrm>
        </p:grpSpPr>
        <p:sp>
          <p:nvSpPr>
            <p:cNvPr id="14" name="Rectangle 14"/>
            <p:cNvSpPr/>
            <p:nvPr/>
          </p:nvSpPr>
          <p:spPr>
            <a:xfrm>
              <a:off x="0" y="6286500"/>
              <a:ext cx="12192000" cy="571500"/>
            </a:xfrm>
            <a:prstGeom prst="rect">
              <a:avLst/>
            </a:prstGeom>
            <a:solidFill>
              <a:srgbClr val="FFFFFF"/>
            </a:solidFill>
            <a:ln>
              <a:noFill/>
            </a:ln>
          </p:spPr>
        </p:sp>
        <p:sp>
          <p:nvSpPr>
            <p:cNvPr id="15" name="Line 15"/>
            <p:cNvSpPr/>
            <p:nvPr/>
          </p:nvSpPr>
          <p:spPr>
            <a:xfrm>
              <a:off x="457200" y="6286500"/>
              <a:ext cx="11277600" cy="9525"/>
            </a:xfrm>
            <a:custGeom>
              <a:avLst/>
              <a:gdLst/>
              <a:ahLst/>
              <a:cxnLst/>
              <a:rect l="l" t="t" r="r" b="b"/>
              <a:pathLst>
                <a:path w="11277600" h="9525">
                  <a:moveTo>
                    <a:pt x="0" y="0"/>
                  </a:moveTo>
                  <a:lnTo>
                    <a:pt x="11277600" y="0"/>
                  </a:lnTo>
                </a:path>
              </a:pathLst>
            </a:custGeom>
            <a:noFill/>
            <a:ln w="9525">
              <a:solidFill>
                <a:schemeClr val="accent6"/>
              </a:solidFill>
            </a:ln>
          </p:spPr>
        </p:sp>
        <p:grpSp>
          <p:nvGrpSpPr>
            <p:cNvPr id="23" name="Group 23"/>
            <p:cNvGrpSpPr/>
            <p:nvPr/>
          </p:nvGrpSpPr>
          <p:grpSpPr>
            <a:xfrm>
              <a:off x="451866" y="6468428"/>
              <a:ext cx="9789078" cy="205359"/>
              <a:chOff x="451866" y="6468428"/>
              <a:chExt cx="9789078" cy="205359"/>
            </a:xfrm>
          </p:grpSpPr>
          <p:sp>
            <p:nvSpPr>
              <p:cNvPr id="16" name="TextBox 16"/>
              <p:cNvSpPr txBox="1"/>
              <p:nvPr/>
            </p:nvSpPr>
            <p:spPr>
              <a:xfrm>
                <a:off x="4518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1 业务背景</a:t>
                </a:r>
              </a:p>
            </p:txBody>
          </p:sp>
          <p:sp>
            <p:nvSpPr>
              <p:cNvPr id="17" name="TextBox 17"/>
              <p:cNvSpPr txBox="1"/>
              <p:nvPr/>
            </p:nvSpPr>
            <p:spPr>
              <a:xfrm>
                <a:off x="19663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 目标范围</a:t>
                </a:r>
              </a:p>
            </p:txBody>
          </p:sp>
          <p:sp>
            <p:nvSpPr>
              <p:cNvPr id="18" name="TextBox 18"/>
              <p:cNvSpPr txBox="1"/>
              <p:nvPr/>
            </p:nvSpPr>
            <p:spPr>
              <a:xfrm>
                <a:off x="348081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 三段流程</a:t>
                </a:r>
              </a:p>
            </p:txBody>
          </p:sp>
          <p:sp>
            <p:nvSpPr>
              <p:cNvPr id="19" name="TextBox 19"/>
              <p:cNvSpPr txBox="1"/>
              <p:nvPr/>
            </p:nvSpPr>
            <p:spPr>
              <a:xfrm>
                <a:off x="4995291" y="6468428"/>
                <a:ext cx="55486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4 审核点</a:t>
                </a:r>
              </a:p>
            </p:txBody>
          </p:sp>
          <p:sp>
            <p:nvSpPr>
              <p:cNvPr id="20" name="TextBox 20"/>
              <p:cNvSpPr txBox="1"/>
              <p:nvPr/>
            </p:nvSpPr>
            <p:spPr>
              <a:xfrm>
                <a:off x="6509766"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5 能力分工</a:t>
                </a:r>
              </a:p>
            </p:txBody>
          </p:sp>
          <p:sp>
            <p:nvSpPr>
              <p:cNvPr id="21" name="TextBox 21"/>
              <p:cNvSpPr txBox="1"/>
              <p:nvPr/>
            </p:nvSpPr>
            <p:spPr>
              <a:xfrm>
                <a:off x="8024241" y="6468428"/>
                <a:ext cx="69622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6 产品方案</a:t>
                </a:r>
              </a:p>
            </p:txBody>
          </p:sp>
          <p:sp>
            <p:nvSpPr>
              <p:cNvPr id="22" name="TextBox 22"/>
              <p:cNvSpPr txBox="1"/>
              <p:nvPr/>
            </p:nvSpPr>
            <p:spPr>
              <a:xfrm>
                <a:off x="9538716" y="6468428"/>
                <a:ext cx="702228"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7 实施验证</a:t>
                </a:r>
              </a:p>
            </p:txBody>
          </p:sp>
        </p:grpSp>
        <p:sp>
          <p:nvSpPr>
            <p:cNvPr id="24" name="TextBox 24"/>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67 / 70</a:t>
              </a:r>
            </a:p>
          </p:txBody>
        </p:sp>
      </p:grpSp>
    </p:spTree>
  </p:cSld>
  <p:clrMapOvr>
    <a:masterClrMapping/>
  </p:clrMapOvr>
  <p:transition xmlns:p14="http://schemas.microsoft.com/office/powerpoint/2010/main" p14:dur="400">
    <p:fade/>
  </p:transition>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365531" cy="1038035"/>
            <a:chOff x="441198" y="428625"/>
            <a:chExt cx="5365531" cy="1038035"/>
          </a:xfrm>
        </p:grpSpPr>
        <p:sp>
          <p:nvSpPr>
            <p:cNvPr id="2" name="TextBox 2"/>
            <p:cNvSpPr txBox="1"/>
            <p:nvPr/>
          </p:nvSpPr>
          <p:spPr>
            <a:xfrm>
              <a:off x="449580" y="428625"/>
              <a:ext cx="2488882"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第三篇·验落地 / 第7章小结</a:t>
              </a:r>
            </a:p>
          </p:txBody>
        </p:sp>
        <p:sp>
          <p:nvSpPr>
            <p:cNvPr id="3" name="TextBox 3"/>
            <p:cNvSpPr txBox="1"/>
            <p:nvPr/>
          </p:nvSpPr>
          <p:spPr>
            <a:xfrm>
              <a:off x="441198" y="850583"/>
              <a:ext cx="5365531"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产物⑦：一页实施与验证安排</a:t>
              </a:r>
            </a:p>
          </p:txBody>
        </p:sp>
      </p:grpSp>
      <p:grpSp>
        <p:nvGrpSpPr>
          <p:cNvPr id="13" name="Group 13"/>
          <p:cNvGrpSpPr/>
          <p:nvPr/>
        </p:nvGrpSpPr>
        <p:grpSpPr>
          <a:xfrm>
            <a:off x="457200" y="1714500"/>
            <a:ext cx="11277600" cy="3524250"/>
            <a:chOff x="457200" y="1714500"/>
            <a:chExt cx="11277600" cy="3524250"/>
          </a:xfrm>
        </p:grpSpPr>
        <p:sp>
          <p:nvSpPr>
            <p:cNvPr id="5" name="Rectangle 5"/>
            <p:cNvSpPr/>
            <p:nvPr/>
          </p:nvSpPr>
          <p:spPr>
            <a:xfrm>
              <a:off x="457200" y="1714500"/>
              <a:ext cx="11277600" cy="3524250"/>
            </a:xfrm>
            <a:prstGeom prst="roundRect">
              <a:avLst>
                <a:gd name="adj" fmla="val 3243"/>
              </a:avLst>
            </a:prstGeom>
            <a:solidFill>
              <a:srgbClr val="FFFFFF"/>
            </a:solidFill>
            <a:ln>
              <a:noFill/>
            </a:ln>
          </p:spPr>
        </p:sp>
        <p:sp>
          <p:nvSpPr>
            <p:cNvPr id="6" name="TextBox 6"/>
            <p:cNvSpPr txBox="1"/>
            <p:nvPr/>
          </p:nvSpPr>
          <p:spPr>
            <a:xfrm>
              <a:off x="714756" y="1939290"/>
              <a:ext cx="662391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教学示例 / 从R01温度对象核对开始，把七章串成一条路径</a:t>
              </a:r>
            </a:p>
          </p:txBody>
        </p:sp>
        <p:grpSp>
          <p:nvGrpSpPr>
            <p:cNvPr id="11" name="Group 11"/>
            <p:cNvGrpSpPr/>
            <p:nvPr/>
          </p:nvGrpSpPr>
          <p:grpSpPr>
            <a:xfrm>
              <a:off x="713232" y="2440305"/>
              <a:ext cx="8502396" cy="2410968"/>
              <a:chOff x="713232" y="2440305"/>
              <a:chExt cx="8502396" cy="2410968"/>
            </a:xfrm>
          </p:grpSpPr>
          <p:sp>
            <p:nvSpPr>
              <p:cNvPr id="7" name="TextBox 7"/>
              <p:cNvSpPr txBox="1"/>
              <p:nvPr/>
            </p:nvSpPr>
            <p:spPr>
              <a:xfrm>
                <a:off x="713232" y="2440305"/>
                <a:ext cx="806420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先做：有效资料 → 检查可用 → 正式审核闭环 → 自检与巡检复用。</a:t>
                </a:r>
              </a:p>
            </p:txBody>
          </p:sp>
          <p:sp>
            <p:nvSpPr>
              <p:cNvPr id="8" name="TextBox 8"/>
              <p:cNvSpPr txBox="1"/>
              <p:nvPr/>
            </p:nvSpPr>
            <p:spPr>
              <a:xfrm>
                <a:off x="713232" y="3107055"/>
                <a:ext cx="821969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谁负责：业务确认依据，产品组织路径，审核与内容负责人承接。</a:t>
                </a:r>
              </a:p>
            </p:txBody>
          </p:sp>
          <p:sp>
            <p:nvSpPr>
              <p:cNvPr id="9" name="TextBox 9"/>
              <p:cNvSpPr txBox="1"/>
              <p:nvPr/>
            </p:nvSpPr>
            <p:spPr>
              <a:xfrm>
                <a:off x="713232" y="3773805"/>
                <a:ext cx="768309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依赖：正文、SKU与活动、资料版本、内容关联和维护人。</a:t>
                </a:r>
              </a:p>
            </p:txBody>
          </p:sp>
          <p:sp>
            <p:nvSpPr>
              <p:cNvPr id="10" name="TextBox 10"/>
              <p:cNvSpPr txBox="1"/>
              <p:nvPr/>
            </p:nvSpPr>
            <p:spPr>
              <a:xfrm>
                <a:off x="713232" y="4440555"/>
                <a:ext cx="850239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验什么：正常、问题、边界、失败样例；版本与处置；总人工投入。</a:t>
                </a:r>
              </a:p>
            </p:txBody>
          </p:sp>
        </p:grpSp>
        <p:sp>
          <p:nvSpPr>
            <p:cNvPr id="12" name="TextBox 12"/>
            <p:cNvSpPr txBox="1"/>
            <p:nvPr/>
          </p:nvSpPr>
          <p:spPr>
            <a:xfrm>
              <a:off x="716280" y="4905375"/>
              <a:ext cx="6961632"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例如：基站65℃洗拖布 / 65℃直接拖地 / 65℃深度清洁 / 资料缺失或执行超时。</a:t>
              </a:r>
            </a:p>
          </p:txBody>
        </p:sp>
      </p:grpSp>
      <p:grpSp>
        <p:nvGrpSpPr>
          <p:cNvPr id="16" name="Group 16"/>
          <p:cNvGrpSpPr/>
          <p:nvPr/>
        </p:nvGrpSpPr>
        <p:grpSpPr>
          <a:xfrm>
            <a:off x="457200" y="5572125"/>
            <a:ext cx="11277600" cy="600075"/>
            <a:chOff x="457200" y="5572125"/>
            <a:chExt cx="11277600" cy="600075"/>
          </a:xfrm>
        </p:grpSpPr>
        <p:sp>
          <p:nvSpPr>
            <p:cNvPr id="14" name="Rectangle 14"/>
            <p:cNvSpPr/>
            <p:nvPr/>
          </p:nvSpPr>
          <p:spPr>
            <a:xfrm>
              <a:off x="457200" y="5572125"/>
              <a:ext cx="11277600" cy="600075"/>
            </a:xfrm>
            <a:prstGeom prst="roundRect">
              <a:avLst>
                <a:gd name="adj" fmla="val 19048"/>
              </a:avLst>
            </a:prstGeom>
            <a:solidFill>
              <a:schemeClr val="accent1"/>
            </a:solidFill>
            <a:ln>
              <a:noFill/>
            </a:ln>
          </p:spPr>
        </p:sp>
        <p:sp>
          <p:nvSpPr>
            <p:cNvPr id="15" name="TextBox 15"/>
            <p:cNvSpPr txBox="1"/>
            <p:nvPr/>
          </p:nvSpPr>
          <p:spPr>
            <a:xfrm>
              <a:off x="713232" y="5735955"/>
              <a:ext cx="9350502"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质量、流程、承接与收益证据稳定后再扩；有问题先定位、修复或缩范围。</a:t>
              </a:r>
            </a:p>
          </p:txBody>
        </p:sp>
      </p:grpSp>
      <p:sp>
        <p:nvSpPr>
          <p:cNvPr id="17" name="TextBox 17"/>
          <p:cNvSpPr txBox="1"/>
          <p:nvPr/>
        </p:nvSpPr>
        <p:spPr>
          <a:xfrm>
            <a:off x="451866" y="6468428"/>
            <a:ext cx="316279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全课回收：为什么做 → 具体怎样做 → 怎样证明有效</a:t>
            </a:r>
          </a:p>
        </p:txBody>
      </p:sp>
      <p:sp>
        <p:nvSpPr>
          <p:cNvPr id="18" name="TextBox 18"/>
          <p:cNvSpPr txBox="1"/>
          <p:nvPr/>
        </p:nvSpPr>
        <p:spPr>
          <a:xfrm>
            <a:off x="11255940" y="64684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68 / 70</a:t>
            </a:r>
          </a:p>
        </p:txBody>
      </p:sp>
    </p:spTree>
  </p:cSld>
  <p:clrMapOvr>
    <a:masterClrMapping/>
  </p:clrMapOvr>
  <p:transition xmlns:p14="http://schemas.microsoft.com/office/powerpoint/2010/main" p14:dur="400">
    <p:fade/>
  </p:transition>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816852" cy="1038035"/>
            <a:chOff x="441198" y="428625"/>
            <a:chExt cx="6816852" cy="1038035"/>
          </a:xfrm>
        </p:grpSpPr>
        <p:sp>
          <p:nvSpPr>
            <p:cNvPr id="2" name="TextBox 2"/>
            <p:cNvSpPr txBox="1"/>
            <p:nvPr/>
          </p:nvSpPr>
          <p:spPr>
            <a:xfrm>
              <a:off x="449580" y="428625"/>
              <a:ext cx="183261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参考范围与教学改编</a:t>
              </a:r>
            </a:p>
          </p:txBody>
        </p:sp>
        <p:sp>
          <p:nvSpPr>
            <p:cNvPr id="3" name="TextBox 3"/>
            <p:cNvSpPr txBox="1"/>
            <p:nvPr/>
          </p:nvSpPr>
          <p:spPr>
            <a:xfrm>
              <a:off x="441198" y="850583"/>
              <a:ext cx="681685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参考方法，案例与判断边界另行设计</a:t>
              </a:r>
            </a:p>
          </p:txBody>
        </p:sp>
      </p:grpSp>
      <p:grpSp>
        <p:nvGrpSpPr>
          <p:cNvPr id="7" name="Group 7"/>
          <p:cNvGrpSpPr/>
          <p:nvPr/>
        </p:nvGrpSpPr>
        <p:grpSpPr>
          <a:xfrm>
            <a:off x="445008" y="1950720"/>
            <a:ext cx="7655814" cy="909828"/>
            <a:chOff x="445008" y="1950720"/>
            <a:chExt cx="7655814" cy="909828"/>
          </a:xfrm>
        </p:grpSpPr>
        <p:sp>
          <p:nvSpPr>
            <p:cNvPr id="5" name="TextBox 5"/>
            <p:cNvSpPr txBox="1"/>
            <p:nvPr/>
          </p:nvSpPr>
          <p:spPr>
            <a:xfrm>
              <a:off x="445008" y="1950720"/>
              <a:ext cx="5465917"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亚慧 / 营销审核两天原文＋两份PDF</a:t>
              </a:r>
            </a:p>
          </p:txBody>
        </p:sp>
        <p:sp>
          <p:nvSpPr>
            <p:cNvPr id="6" name="TextBox 6"/>
            <p:cNvSpPr txBox="1"/>
            <p:nvPr/>
          </p:nvSpPr>
          <p:spPr>
            <a:xfrm>
              <a:off x="446532" y="2449830"/>
              <a:ext cx="765429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三环节、审核点、架构、人工复核，以及业务数据和验证方法</a:t>
              </a:r>
            </a:p>
          </p:txBody>
        </p:sp>
      </p:grpSp>
      <p:grpSp>
        <p:nvGrpSpPr>
          <p:cNvPr id="10" name="Group 10"/>
          <p:cNvGrpSpPr/>
          <p:nvPr/>
        </p:nvGrpSpPr>
        <p:grpSpPr>
          <a:xfrm>
            <a:off x="445008" y="3322320"/>
            <a:ext cx="7090410" cy="909828"/>
            <a:chOff x="445008" y="3322320"/>
            <a:chExt cx="7090410" cy="909828"/>
          </a:xfrm>
        </p:grpSpPr>
        <p:sp>
          <p:nvSpPr>
            <p:cNvPr id="8" name="TextBox 8"/>
            <p:cNvSpPr txBox="1"/>
            <p:nvPr/>
          </p:nvSpPr>
          <p:spPr>
            <a:xfrm>
              <a:off x="445008" y="3322320"/>
              <a:ext cx="6230097"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知乎 / 企业内部降本增效、需求与测试课程</a:t>
              </a:r>
            </a:p>
          </p:txBody>
        </p:sp>
        <p:sp>
          <p:nvSpPr>
            <p:cNvPr id="9" name="TextBox 9"/>
            <p:cNvSpPr txBox="1"/>
            <p:nvPr/>
          </p:nvSpPr>
          <p:spPr>
            <a:xfrm>
              <a:off x="446532" y="3821430"/>
              <a:ext cx="708888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业务任务、能力分工、分阶段推进、事实核对与独立验证</a:t>
              </a:r>
            </a:p>
          </p:txBody>
        </p:sp>
      </p:grpSp>
      <p:grpSp>
        <p:nvGrpSpPr>
          <p:cNvPr id="13" name="Group 13"/>
          <p:cNvGrpSpPr/>
          <p:nvPr/>
        </p:nvGrpSpPr>
        <p:grpSpPr>
          <a:xfrm>
            <a:off x="445008" y="4693920"/>
            <a:ext cx="8580730" cy="909828"/>
            <a:chOff x="445008" y="4693920"/>
            <a:chExt cx="8580730" cy="909828"/>
          </a:xfrm>
        </p:grpSpPr>
        <p:sp>
          <p:nvSpPr>
            <p:cNvPr id="11" name="TextBox 11"/>
            <p:cNvSpPr txBox="1"/>
            <p:nvPr/>
          </p:nvSpPr>
          <p:spPr>
            <a:xfrm>
              <a:off x="445008" y="4693920"/>
              <a:ext cx="5743693"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飞书 / 电商智能客服Agent PRD rev24</a:t>
              </a:r>
            </a:p>
          </p:txBody>
        </p:sp>
        <p:sp>
          <p:nvSpPr>
            <p:cNvPr id="12" name="TextBox 12"/>
            <p:cNvSpPr txBox="1"/>
            <p:nvPr/>
          </p:nvSpPr>
          <p:spPr>
            <a:xfrm>
              <a:off x="446532" y="5193030"/>
              <a:ext cx="857920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人工协作、异常承接与迭代完整性；作为参考，不改成PRD交付课</a:t>
              </a:r>
            </a:p>
          </p:txBody>
        </p:sp>
      </p:grpSp>
      <p:grpSp>
        <p:nvGrpSpPr>
          <p:cNvPr id="15" name="Group 15"/>
          <p:cNvGrpSpPr/>
          <p:nvPr/>
        </p:nvGrpSpPr>
        <p:grpSpPr>
          <a:xfrm>
            <a:off x="449580" y="5934075"/>
            <a:ext cx="8997696" cy="293370"/>
            <a:chOff x="449580" y="5934075"/>
            <a:chExt cx="8997696" cy="293370"/>
          </a:xfrm>
        </p:grpSpPr>
        <p:sp>
          <p:nvSpPr>
            <p:cNvPr id="14" name="TextBox 14"/>
            <p:cNvSpPr txBox="1"/>
            <p:nvPr/>
          </p:nvSpPr>
          <p:spPr>
            <a:xfrm>
              <a:off x="449580" y="5934075"/>
              <a:ext cx="8997696"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P1品牌、人物、资料、生成图片与计时均为教学模拟；不声称真实效果，不提供现行法律判断。</a:t>
              </a:r>
            </a:p>
          </p:txBody>
        </p:sp>
      </p:grpSp>
      <p:sp>
        <p:nvSpPr>
          <p:cNvPr id="16" name="TextBox 16"/>
          <p:cNvSpPr txBox="1"/>
          <p:nvPr/>
        </p:nvSpPr>
        <p:spPr>
          <a:xfrm>
            <a:off x="9538526" y="6430328"/>
            <a:ext cx="220160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69 / 70 · 精确参考定位见讲师备注</a:t>
            </a:r>
          </a:p>
        </p:txBody>
      </p:sp>
    </p:spTree>
  </p:cSld>
  <p:clrMapOvr>
    <a:masterClrMapping/>
  </p:clrMapOvr>
  <p:transition xmlns:p14="http://schemas.microsoft.com/office/powerpoint/2010/main" p14:dur="400">
    <p:fade/>
  </p:transition>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590550" y="1139190"/>
            <a:ext cx="7962900" cy="2628900"/>
            <a:chOff x="590550" y="1139190"/>
            <a:chExt cx="7962900" cy="2628900"/>
          </a:xfrm>
        </p:grpSpPr>
        <p:sp>
          <p:nvSpPr>
            <p:cNvPr id="2" name="TextBox 2"/>
            <p:cNvSpPr txBox="1"/>
            <p:nvPr/>
          </p:nvSpPr>
          <p:spPr>
            <a:xfrm>
              <a:off x="600456" y="1139190"/>
              <a:ext cx="3931691" cy="352044"/>
            </a:xfrm>
            <a:prstGeom prst="rect">
              <a:avLst/>
            </a:prstGeom>
            <a:noFill/>
            <a:ln>
              <a:noFill/>
            </a:ln>
          </p:spPr>
          <p:txBody>
            <a:bodyPr wrap="none" lIns="0" tIns="0" rIns="0" bIns="0" anchor="t" anchorCtr="0">
              <a:spAutoFit/>
            </a:bodyPr>
            <a:lstStyle/>
            <a:p>
              <a:pPr algn="l"/>
              <a:r>
                <a:rPr lang="zh-CN" sz="1800" dirty="0">
                  <a:solidFill>
                    <a:schemeClr val="accent3"/>
                  </a:solidFill>
                  <a:latin typeface="+mn-lt"/>
                  <a:ea typeface="+mn-ea"/>
                  <a:cs typeface="+mn-cs"/>
                </a:rPr>
                <a:t>第一次课 / 把项目方案落回审核工作</a:t>
              </a:r>
            </a:p>
          </p:txBody>
        </p:sp>
        <p:sp>
          <p:nvSpPr>
            <p:cNvPr id="3" name="TextBox 3"/>
            <p:cNvSpPr txBox="1"/>
            <p:nvPr/>
          </p:nvSpPr>
          <p:spPr>
            <a:xfrm>
              <a:off x="590550" y="1986915"/>
              <a:ext cx="7962900" cy="1781175"/>
            </a:xfrm>
            <a:prstGeom prst="rect">
              <a:avLst/>
            </a:prstGeom>
            <a:noFill/>
            <a:ln>
              <a:noFill/>
            </a:ln>
          </p:spPr>
          <p:txBody>
            <a:bodyPr wrap="none" lIns="0" tIns="0" rIns="0" bIns="0" anchor="t" anchorCtr="0">
              <a:spAutoFit/>
            </a:bodyPr>
            <a:lstStyle/>
            <a:p>
              <a:pPr algn="l">
                <a:lnSpc>
                  <a:spcPts val="6675"/>
                </a:lnSpc>
              </a:pPr>
              <a:r>
                <a:rPr lang="zh-CN" sz="4800" b="1" dirty="0">
                  <a:solidFill>
                    <a:srgbClr val="FFFFFF"/>
                  </a:solidFill>
                  <a:latin typeface="+mn-lt"/>
                  <a:ea typeface="+mn-ea"/>
                  <a:cs typeface="+mn-cs"/>
                </a:rPr>
                <a:t>把依据、修改、责任接起来，</a:t>
              </a:r>
              <a:br/>
              <a:r>
                <a:rPr lang="zh-CN" sz="4800" b="1" dirty="0">
                  <a:solidFill>
                    <a:srgbClr val="FFFFFF"/>
                  </a:solidFill>
                  <a:latin typeface="+mn-lt"/>
                  <a:ea typeface="+mn-ea"/>
                  <a:cs typeface="+mn-cs"/>
                </a:rPr>
                <a:t>再证明它真的省力。</a:t>
              </a:r>
            </a:p>
          </p:txBody>
        </p:sp>
      </p:grpSp>
      <p:grpSp>
        <p:nvGrpSpPr>
          <p:cNvPr id="10" name="Group 10"/>
          <p:cNvGrpSpPr/>
          <p:nvPr/>
        </p:nvGrpSpPr>
        <p:grpSpPr>
          <a:xfrm>
            <a:off x="598932" y="4257675"/>
            <a:ext cx="10983468" cy="1336548"/>
            <a:chOff x="598932" y="4257675"/>
            <a:chExt cx="10983468" cy="1336548"/>
          </a:xfrm>
        </p:grpSpPr>
        <p:sp>
          <p:nvSpPr>
            <p:cNvPr id="5" name="Line 5"/>
            <p:cNvSpPr/>
            <p:nvPr/>
          </p:nvSpPr>
          <p:spPr>
            <a:xfrm>
              <a:off x="609600" y="4257675"/>
              <a:ext cx="10972800" cy="9525"/>
            </a:xfrm>
            <a:custGeom>
              <a:avLst/>
              <a:gdLst/>
              <a:ahLst/>
              <a:cxnLst/>
              <a:rect l="l" t="t" r="r" b="b"/>
              <a:pathLst>
                <a:path w="10972800" h="9525">
                  <a:moveTo>
                    <a:pt x="0" y="0"/>
                  </a:moveTo>
                  <a:lnTo>
                    <a:pt x="10972800" y="0"/>
                  </a:lnTo>
                </a:path>
              </a:pathLst>
            </a:custGeom>
            <a:noFill/>
            <a:ln w="19050">
              <a:solidFill>
                <a:srgbClr val="617673"/>
              </a:solidFill>
            </a:ln>
          </p:spPr>
        </p:sp>
        <p:sp>
          <p:nvSpPr>
            <p:cNvPr id="6" name="TextBox 6"/>
            <p:cNvSpPr txBox="1"/>
            <p:nvPr/>
          </p:nvSpPr>
          <p:spPr>
            <a:xfrm>
              <a:off x="598932" y="4631055"/>
              <a:ext cx="2565654" cy="410718"/>
            </a:xfrm>
            <a:prstGeom prst="rect">
              <a:avLst/>
            </a:prstGeom>
            <a:noFill/>
            <a:ln>
              <a:noFill/>
            </a:ln>
          </p:spPr>
          <p:txBody>
            <a:bodyPr wrap="none" lIns="0" tIns="0" rIns="0" bIns="0" anchor="t" anchorCtr="0">
              <a:spAutoFit/>
            </a:bodyPr>
            <a:lstStyle/>
            <a:p>
              <a:pPr algn="l"/>
              <a:r>
                <a:rPr lang="zh-CN" sz="2100" dirty="0">
                  <a:solidFill>
                    <a:srgbClr val="E8F2EF"/>
                  </a:solidFill>
                  <a:latin typeface="+mn-lt"/>
                  <a:ea typeface="+mn-ea"/>
                  <a:cs typeface="+mn-cs"/>
                </a:rPr>
                <a:t>首版：三段审核提效</a:t>
              </a:r>
            </a:p>
          </p:txBody>
        </p:sp>
        <p:sp>
          <p:nvSpPr>
            <p:cNvPr id="7" name="TextBox 7"/>
            <p:cNvSpPr txBox="1"/>
            <p:nvPr/>
          </p:nvSpPr>
          <p:spPr>
            <a:xfrm>
              <a:off x="598932" y="5183505"/>
              <a:ext cx="3696462" cy="410718"/>
            </a:xfrm>
            <a:prstGeom prst="rect">
              <a:avLst/>
            </a:prstGeom>
            <a:noFill/>
            <a:ln>
              <a:noFill/>
            </a:ln>
          </p:spPr>
          <p:txBody>
            <a:bodyPr wrap="none" lIns="0" tIns="0" rIns="0" bIns="0" anchor="t" anchorCtr="0">
              <a:spAutoFit/>
            </a:bodyPr>
            <a:lstStyle/>
            <a:p>
              <a:pPr algn="l"/>
              <a:r>
                <a:rPr lang="zh-CN" sz="2100" dirty="0">
                  <a:solidFill>
                    <a:srgbClr val="E8F2EF"/>
                  </a:solidFill>
                  <a:latin typeface="+mn-lt"/>
                  <a:ea typeface="+mn-ea"/>
                  <a:cs typeface="+mn-cs"/>
                </a:rPr>
                <a:t>落地：具体审核点与人工闭环</a:t>
              </a:r>
            </a:p>
          </p:txBody>
        </p:sp>
        <p:sp>
          <p:nvSpPr>
            <p:cNvPr id="8" name="TextBox 8"/>
            <p:cNvSpPr txBox="1"/>
            <p:nvPr/>
          </p:nvSpPr>
          <p:spPr>
            <a:xfrm>
              <a:off x="6942582" y="4631055"/>
              <a:ext cx="2565654" cy="410718"/>
            </a:xfrm>
            <a:prstGeom prst="rect">
              <a:avLst/>
            </a:prstGeom>
            <a:noFill/>
            <a:ln>
              <a:noFill/>
            </a:ln>
          </p:spPr>
          <p:txBody>
            <a:bodyPr wrap="none" lIns="0" tIns="0" rIns="0" bIns="0" anchor="t" anchorCtr="0">
              <a:spAutoFit/>
            </a:bodyPr>
            <a:lstStyle/>
            <a:p>
              <a:pPr algn="l"/>
              <a:r>
                <a:rPr lang="zh-CN" sz="2100" dirty="0">
                  <a:solidFill>
                    <a:srgbClr val="E8F2EF"/>
                  </a:solidFill>
                  <a:latin typeface="+mn-lt"/>
                  <a:ea typeface="+mn-ea"/>
                  <a:cs typeface="+mn-cs"/>
                </a:rPr>
                <a:t>验证：质量与总投入</a:t>
              </a:r>
            </a:p>
          </p:txBody>
        </p:sp>
        <p:sp>
          <p:nvSpPr>
            <p:cNvPr id="9" name="TextBox 9"/>
            <p:cNvSpPr txBox="1"/>
            <p:nvPr/>
          </p:nvSpPr>
          <p:spPr>
            <a:xfrm>
              <a:off x="6942582" y="5183505"/>
              <a:ext cx="2565654" cy="410718"/>
            </a:xfrm>
            <a:prstGeom prst="rect">
              <a:avLst/>
            </a:prstGeom>
            <a:noFill/>
            <a:ln>
              <a:noFill/>
            </a:ln>
          </p:spPr>
          <p:txBody>
            <a:bodyPr wrap="none" lIns="0" tIns="0" rIns="0" bIns="0" anchor="t" anchorCtr="0">
              <a:spAutoFit/>
            </a:bodyPr>
            <a:lstStyle/>
            <a:p>
              <a:pPr algn="l"/>
              <a:r>
                <a:rPr lang="zh-CN" sz="2100" b="1" dirty="0">
                  <a:solidFill>
                    <a:schemeClr val="accent3"/>
                  </a:solidFill>
                  <a:latin typeface="+mn-lt"/>
                  <a:ea typeface="+mn-ea"/>
                  <a:cs typeface="+mn-cs"/>
                </a:rPr>
                <a:t>带走：一页实施安排</a:t>
              </a:r>
            </a:p>
          </p:txBody>
        </p:sp>
      </p:grpSp>
      <p:sp>
        <p:nvSpPr>
          <p:cNvPr id="11" name="TextBox 11"/>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rgbClr val="E8F2EF"/>
                </a:solidFill>
                <a:latin typeface="+mn-lt"/>
                <a:ea typeface="+mn-ea"/>
                <a:cs typeface="+mn-cs"/>
              </a:rPr>
              <a:t>70 / 70</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lesson1_classroom">
  <a:themeElements>
    <a:clrScheme name="lesson1_classroom">
      <a:dk1>
        <a:srgbClr val="17302F"/>
      </a:dk1>
      <a:lt1>
        <a:srgbClr val="F7F8F4"/>
      </a:lt1>
      <a:dk2>
        <a:srgbClr val="1F497D"/>
      </a:dk2>
      <a:lt2>
        <a:srgbClr val="E8F2EF"/>
      </a:lt2>
      <a:accent1>
        <a:srgbClr val="126B63"/>
      </a:accent1>
      <a:accent2>
        <a:srgbClr val="D85C3D"/>
      </a:accent2>
      <a:accent3>
        <a:srgbClr val="DBAB4A"/>
      </a:accent3>
      <a:accent4>
        <a:srgbClr val="126B63"/>
      </a:accent4>
      <a:accent5>
        <a:srgbClr val="617673"/>
      </a:accent5>
      <a:accent6>
        <a:srgbClr val="D3DFDA"/>
      </a:accent6>
      <a:hlink>
        <a:srgbClr val="D85C3D"/>
      </a:hlink>
      <a:folHlink>
        <a:srgbClr val="DBAB4A"/>
      </a:folHlink>
    </a:clrScheme>
    <a:fontScheme name="lesson1_classroom">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esson1_classroo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lesson1_classroom">
  <a:themeElements>
    <a:clrScheme name="lesson1_classroom">
      <a:dk1>
        <a:srgbClr val="17302F"/>
      </a:dk1>
      <a:lt1>
        <a:srgbClr val="F7F8F4"/>
      </a:lt1>
      <a:dk2>
        <a:srgbClr val="1F497D"/>
      </a:dk2>
      <a:lt2>
        <a:srgbClr val="E8F2EF"/>
      </a:lt2>
      <a:accent1>
        <a:srgbClr val="126B63"/>
      </a:accent1>
      <a:accent2>
        <a:srgbClr val="D85C3D"/>
      </a:accent2>
      <a:accent3>
        <a:srgbClr val="DBAB4A"/>
      </a:accent3>
      <a:accent4>
        <a:srgbClr val="126B63"/>
      </a:accent4>
      <a:accent5>
        <a:srgbClr val="617673"/>
      </a:accent5>
      <a:accent6>
        <a:srgbClr val="D3DFDA"/>
      </a:accent6>
      <a:hlink>
        <a:srgbClr val="D85C3D"/>
      </a:hlink>
      <a:folHlink>
        <a:srgbClr val="DBAB4A"/>
      </a:folHlink>
    </a:clrScheme>
    <a:fontScheme name="lesson1_classroom">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esson1_classroo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70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2026-10-18T05:53:20Z</dcterms:created>
  <dcterms:modified xsi:type="dcterms:W3CDTF">2026-10-18T05:53:20Z</dcterms:modified>
  <cp:category/>
  <cp:contentStatus/>
</cp:coreProperties>
</file>