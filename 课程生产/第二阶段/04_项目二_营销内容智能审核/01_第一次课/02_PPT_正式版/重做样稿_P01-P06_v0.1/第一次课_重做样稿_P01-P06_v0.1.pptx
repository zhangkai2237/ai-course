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节课我们做一个电商营销内容审核项目，案例是净小伴P1标准版扫拖机器人，面向养宠家庭写日常推广文案。配图只是帮助大家进入使用情境，品牌、人物、商品资料和图片都是教学模拟。我们的第一版定位是审核提效，希望让作者和审核员少做一些重复劳动，正式审核决定和后续处置仍由人承担。</a:t>
            </a:r>
          </a:p>
          <a:p>
            <a:pPr/>
            <a:endParaRPr lang="zh-CN" dirty="0"/>
          </a:p>
          <a:p>
            <a:pPr/>
            <a:r>
              <a:rPr lang="zh-CN" dirty="0"/>
              <a:t>项目覆盖三个环节：作者提交之前的事前自检，审核员处理稿件时的事中审核，以及内容使用后的事后巡检。今天会从业务背景开始，经过目标和方案，走到产品页面、实施安排与验证办法。先记住这条业务主线，三个环节具体怎样衔接，后面会结合文案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严格沿讲义的七节推进。第一节看业务背景，先弄清企业原来的审核怎么做，哪些动作反复出现。第二节定义项目目标，明确第一版要让谁少做什么，以及范围到哪里。第三节设计业务方案，把自检、正式审核和巡检接成闭环。</a:t>
            </a:r>
          </a:p>
          <a:p>
            <a:pPr/>
            <a:endParaRPr lang="zh-CN" dirty="0"/>
          </a:p>
          <a:p>
            <a:pPr/>
            <a:r>
              <a:rPr lang="zh-CN" dirty="0"/>
              <a:t>第四节是审核体系，把一条业务要求转成能执行的具体审核点。第五节选择方案，确定规则、模型和人工怎样分工、怎样交接。第六节把流程落实到系统与产品方案，包括架构、页面、版本和状态。最后一节讨论落地与验证，确定先做什么，用哪些证据判断是否提效。整堂课安排一百八十分钟，包含两次各十分钟休息。讲义与PPT使用相同的七节名称，大家可以逐节对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回到企业原有的日常工作。小周按计划给P1写一篇推广，自己检查后，把正文和相关资料交给小林。小周负责写稿、自查和修改；小林需要读懂原句，找到相应依据，判断表述是否准确，再把问题反馈给小周，收到新稿后还要复核。</a:t>
            </a:r>
          </a:p>
          <a:p>
            <a:pPr/>
            <a:endParaRPr lang="zh-CN" dirty="0"/>
          </a:p>
          <a:p>
            <a:pPr/>
            <a:r>
              <a:rPr lang="zh-CN" dirty="0"/>
              <a:t>小林不能只凭自己的产品常识判断。商品事实要由产品负责人确认，价格和赠品条件要找活动负责人，配送承诺要由履约负责人确认。资料缺失，或者两份资料说法冲突，都需要回到相应责任人，先把业务事实弄清楚。审核员的工作，是让文案和已确认的事实对应起来，并说明怎样修改。</a:t>
            </a:r>
          </a:p>
          <a:p>
            <a:pPr/>
            <a:endParaRPr lang="zh-CN" dirty="0"/>
          </a:p>
          <a:p>
            <a:pPr/>
            <a:r>
              <a:rPr lang="zh-CN" dirty="0"/>
              <a:t>定稿之后，内容负责人还要维护实际使用的版本和位置。否则后续即使发现条件变化，也未必知道应该找谁、修改哪一份内容。大家可以先用自己的工作经验对照一下：你们公司的角色叫什么名字，哪些职责由同一个人兼任？称呼和人数可以变化，但人工阅读、资料对照和责任人确认这三件事仍然要有人承担。下面把这些角色连成一条实际流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图展示一篇需要修改的文案怎样走完一轮审核。第一步，作者撰写并自查，形成初稿；第二步，提交正文和相关资料；第三步，审核员对照原句与依据逐项核对。发现问题后，第四步给出反馈，说明哪里有问题，以及需要怎样修改。第五步由作者修改并提交新版本，第六步由审核员逐项复核，确认之前的问题是否已解决，最后才按既定权限定稿并按计划使用。</a:t>
            </a:r>
          </a:p>
          <a:p>
            <a:pPr/>
            <a:endParaRPr lang="zh-CN" dirty="0"/>
          </a:p>
          <a:p>
            <a:pPr/>
            <a:r>
              <a:rPr lang="zh-CN" dirty="0"/>
              <a:t>这里的反馈、修改和复核可能不止一轮。只要还有未解决的问题，就继续反馈和修改，不能因为作者提交了新版本，就默认问题消失。反过来，如果核对后没有待处理事项，也不需要人为增加修改环节，可以按企业既定权限定稿。</a:t>
            </a:r>
          </a:p>
          <a:p>
            <a:pPr/>
            <a:endParaRPr lang="zh-CN" dirty="0"/>
          </a:p>
          <a:p>
            <a:pPr/>
            <a:r>
              <a:rPr lang="zh-CN" dirty="0"/>
              <a:t>还要留意，审核通过必须对应明确版本。内容负责人需要知道，哪个版本正在什么位置使用。比如作者后续重新改了一句，原先通过的结论并不会自然覆盖这个新版本。我们先把流程讲清楚，后面再考虑用什么产品能力来承接。接下来只拿价格这一句话，看看小林在“对照核对”这个步骤里，到底做了哪些动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小林看到的原句是：“本次活动到手一千七百九十九元，人人同价！”大家先想一想，如果你是审核员，仅凭这一句话，能不能判断它准确？需要核实的至少包括：什么人能享受这个价格，以及满足什么条件才能拿到。</a:t>
            </a:r>
          </a:p>
          <a:p>
            <a:pPr/>
            <a:endParaRPr lang="zh-CN" dirty="0"/>
          </a:p>
          <a:p>
            <a:pPr/>
            <a:r>
              <a:rPr lang="zh-CN" dirty="0"/>
              <a:t>现在找到本次活动的当前资料。案例给定活动价是两千三百九十九元，先领取并使用四百元活动券，得到一千九百九十九元；新会员还需要再领取并使用两百元专享券，才能达到一千七百九十九元，而且这些条件只在本次活动适用期内有效。这里的金额、资料编号和条件都是教学给定。</a:t>
            </a:r>
          </a:p>
          <a:p>
            <a:pPr/>
            <a:endParaRPr lang="zh-CN" dirty="0"/>
          </a:p>
          <a:p>
            <a:pPr/>
            <a:r>
              <a:rPr lang="zh-CN" dirty="0"/>
              <a:t>所以，小林不是扫一眼价格数字就完成了。他先读原句，再找到当前活动资料，然后逐一核对价格、用户资格，以及两类优惠券的领取和使用要求，最后回到正文给出修改意见。数字可能算得对，适用人群和条件仍可能被写大。</a:t>
            </a:r>
          </a:p>
          <a:p>
            <a:pPr/>
            <a:endParaRPr lang="zh-CN" dirty="0"/>
          </a:p>
          <a:p>
            <a:pPr/>
            <a:r>
              <a:rPr lang="zh-CN" dirty="0"/>
              <a:t>如果只写“价格不对”或者“补一下条件”，作者仍然不知道应该补到什么程度。可执行的意见是：补齐新会员资格、两类券的领取与使用条件，并删除“人人同价”。请大家把这个过程再复述一次，注意把找资料和解释意见这两部分劳动也算进去。我们这里只完成了价格这一个例子的核对，并不代表商品功能、赠品、配送等其余审核项已经完成，更不代表整篇通过。下一页看这些动作在日常工作中怎样变成痛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从前面的具体动作归纳痛点。第一处是查找资料：小林一会儿看正文，一会儿翻商品、活动和配送资料。没有明显错误的句子，也需要核实，才能负责任地确认。可以请大家回忆一下，自己审核一份材料时，需要打开多少份资料，哪些查找会在下一篇文案里重复。</a:t>
            </a:r>
          </a:p>
          <a:p>
            <a:pPr/>
            <a:endParaRPr lang="zh-CN" dirty="0"/>
          </a:p>
          <a:p>
            <a:pPr/>
            <a:r>
              <a:rPr lang="zh-CN" dirty="0"/>
              <a:t>第二处是解释往返。小林写“价格补条件”，小周改成“领券一千七百九十九”，看起来改过了，但仍然没有说清新会员资格和两类券。于是又要解释、修改、重提。这里的耗时来自双方没有接到同一套完整条件。</a:t>
            </a:r>
          </a:p>
          <a:p>
            <a:pPr/>
            <a:endParaRPr lang="zh-CN" dirty="0"/>
          </a:p>
          <a:p>
            <a:pPr/>
            <a:r>
              <a:rPr lang="zh-CN" dirty="0"/>
              <a:t>第三处是版本复核。作者回复“已修改”，审核员仍要把旧意见、新版本原句和当前依据重新对应起来。既要确认原问题已经解决，也要检查这一版的其他改动。不能把有修改记录直接等同于通过。</a:t>
            </a:r>
          </a:p>
          <a:p>
            <a:pPr/>
            <a:endParaRPr lang="zh-CN" dirty="0"/>
          </a:p>
          <a:p>
            <a:pPr/>
            <a:r>
              <a:rPr lang="zh-CN" dirty="0"/>
              <a:t>第四处发生在内容使用以后。活动负责人确认赠品名额用完，需要找到这次活动中相关的在用内容，以及负责维护的人。停用的历史内容、别的活动、只讲商品功能的内容，不能一律要求修改。找到正确对象和责任人，本身就是工作。</a:t>
            </a:r>
          </a:p>
          <a:p>
            <a:pPr/>
            <a:endParaRPr lang="zh-CN" dirty="0"/>
          </a:p>
          <a:p>
            <a:pPr/>
            <a:r>
              <a:rPr lang="zh-CN" dirty="0"/>
              <a:t>大家可以选择其中一处，说出它在自己业务里的具体表现，以及应该记录谁的投入。后面判断是否提效，要同时看作者和审核员的总投入，不能只看某一个操作快了几秒。明确这些真实劳动之后，第二节再定义希望减少什么，以及第一版具体做到哪里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1_rebuild_sampl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rebuild_sampl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2f2531b2fd9189c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3400" y="495300"/>
            <a:ext cx="11201400" cy="561975"/>
            <a:chOff x="533400" y="495300"/>
            <a:chExt cx="11201400" cy="561975"/>
          </a:xfrm>
        </p:grpSpPr>
        <p:sp>
          <p:nvSpPr>
            <p:cNvPr id="2" name="Rectangle 2"/>
            <p:cNvSpPr/>
            <p:nvPr/>
          </p:nvSpPr>
          <p:spPr>
            <a:xfrm>
              <a:off x="533400" y="495300"/>
              <a:ext cx="571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4380" y="561975"/>
              <a:ext cx="2596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AI产品项目实战 / 第一次课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0477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1491615"/>
            <a:ext cx="3695700" cy="1733550"/>
            <a:chOff x="514350" y="1491615"/>
            <a:chExt cx="3695700" cy="1733550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491615"/>
              <a:ext cx="3695700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电商营销内容</a:t>
              </a:r>
              <a:br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审核提效项目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3162300"/>
            <a:ext cx="2952750" cy="462534"/>
            <a:chOff x="533400" y="3162300"/>
            <a:chExt cx="2952750" cy="462534"/>
          </a:xfrm>
        </p:grpSpPr>
        <p:sp>
          <p:nvSpPr>
            <p:cNvPr id="8" name="Rectangle 8"/>
            <p:cNvSpPr/>
            <p:nvPr/>
          </p:nvSpPr>
          <p:spPr>
            <a:xfrm>
              <a:off x="533400" y="3162300"/>
              <a:ext cx="2952750" cy="4572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4756" y="3272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首版定位：审核提效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2732" y="3844290"/>
            <a:ext cx="4827270" cy="892683"/>
            <a:chOff x="522732" y="3844290"/>
            <a:chExt cx="4827270" cy="892683"/>
          </a:xfrm>
        </p:grpSpPr>
        <p:sp>
          <p:nvSpPr>
            <p:cNvPr id="11" name="TextBox 11"/>
            <p:cNvSpPr txBox="1"/>
            <p:nvPr/>
          </p:nvSpPr>
          <p:spPr>
            <a:xfrm>
              <a:off x="524256" y="3844290"/>
              <a:ext cx="42556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净小伴 P1标准版 · 常规营销文案审核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732" y="432625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从业务背景，走到产品方案与落地验证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05600" y="1276350"/>
            <a:ext cx="5029200" cy="3836670"/>
            <a:chOff x="6705600" y="1276350"/>
            <a:chExt cx="5029200" cy="3836670"/>
          </a:xfrm>
        </p:grpSpPr>
        <p:sp>
          <p:nvSpPr>
            <p:cNvPr id="14" name="Rectangle 14"/>
            <p:cNvSpPr/>
            <p:nvPr/>
          </p:nvSpPr>
          <p:spPr>
            <a:xfrm>
              <a:off x="6705600" y="1276350"/>
              <a:ext cx="5029200" cy="3562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0" y="1428750"/>
              <a:ext cx="4876800" cy="3251168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6850380" y="4819650"/>
              <a:ext cx="3268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P1扫拖机器人 · 养宠家庭推广场景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5780" y="5200650"/>
            <a:ext cx="11209020" cy="933450"/>
            <a:chOff x="525780" y="5200650"/>
            <a:chExt cx="11209020" cy="933450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52006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首版覆盖三个环节，正式决定与处置由人承担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714500" y="5838825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5562600"/>
              <a:ext cx="33337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67225" y="5562600"/>
              <a:ext cx="33337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401050" y="5562600"/>
              <a:ext cx="333375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52856" y="5739765"/>
              <a:ext cx="8152486" cy="352044"/>
              <a:chOff x="752856" y="5739765"/>
              <a:chExt cx="8152486" cy="35204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52856" y="57397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86681" y="57397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620506" y="5739765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351407" y="5707380"/>
              <a:ext cx="9019794" cy="410718"/>
              <a:chOff x="1351407" y="5707380"/>
              <a:chExt cx="9019794" cy="410718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351407" y="57073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事前自检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85232" y="57073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事中审核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219057" y="57073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事后巡检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28066" y="6458902"/>
            <a:ext cx="11212068" cy="205359"/>
            <a:chOff x="528066" y="6458902"/>
            <a:chExt cx="112120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28066" y="64589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教学模拟：品牌、人物、商品资料与配图。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73980" y="64589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5843016" cy="1338834"/>
            <a:chOff x="515112" y="457200"/>
            <a:chExt cx="5843016" cy="1338834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2682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课程地图 / 七节讲义逐节对应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本次课的七节内容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439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从业务背景出发，逐步形成可实施、可验证的项目方案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1914525"/>
            <a:ext cx="11201400" cy="4048125"/>
            <a:chOff x="533400" y="1914525"/>
            <a:chExt cx="11201400" cy="4048125"/>
          </a:xfrm>
        </p:grpSpPr>
        <p:sp>
          <p:nvSpPr>
            <p:cNvPr id="6" name="Line 6"/>
            <p:cNvSpPr/>
            <p:nvPr/>
          </p:nvSpPr>
          <p:spPr>
            <a:xfrm>
              <a:off x="723900" y="2105025"/>
              <a:ext cx="9525" cy="3543300"/>
            </a:xfrm>
            <a:custGeom>
              <a:avLst/>
              <a:gdLst/>
              <a:ahLst/>
              <a:cxnLst/>
              <a:rect l="l" t="t" r="r" b="b"/>
              <a:pathLst>
                <a:path w="9525" h="3543300">
                  <a:moveTo>
                    <a:pt x="0" y="0"/>
                  </a:moveTo>
                  <a:lnTo>
                    <a:pt x="0" y="35433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33400" y="1914525"/>
              <a:ext cx="381000" cy="3924300"/>
              <a:chOff x="533400" y="1914525"/>
              <a:chExt cx="381000" cy="39243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533400" y="19145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533400" y="25050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533400" y="30956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533400" y="36861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533400" y="42767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533400" y="486727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533400" y="5457825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accent1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605219" y="2009775"/>
              <a:ext cx="237363" cy="3836670"/>
              <a:chOff x="605219" y="2009775"/>
              <a:chExt cx="237363" cy="383667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05219" y="20097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05219" y="26003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05219" y="31908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5219" y="37814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05219" y="43719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5219" y="496252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5219" y="55530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07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170432" y="1973580"/>
              <a:ext cx="2000250" cy="3954018"/>
              <a:chOff x="1170432" y="1973580"/>
              <a:chExt cx="2000250" cy="395401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170432" y="19735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业务背景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70432" y="25641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项目目标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70432" y="31546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业务方案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70432" y="374523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审核体系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0432" y="433578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方案选择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0432" y="4926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系统与产品方案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70432" y="551688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落地与验证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991356" y="2005965"/>
              <a:ext cx="4622292" cy="3895344"/>
              <a:chOff x="3991356" y="2005965"/>
              <a:chExt cx="4622292" cy="3895344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3991356" y="200596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原来的审核怎么做，哪些动作在重复？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991356" y="259651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第一版要让谁少做什么，范围到哪里？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91356" y="318706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自检、正式审核、巡检怎样接成闭环？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991356" y="377761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一条业务要求，怎样定义成具体审核点？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991356" y="4368165"/>
                <a:ext cx="38953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规则、模型、人工怎样分工与交接？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991356" y="4958715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流程怎样落实到架构、页面、版本与状态？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991356" y="5549265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先做什么，用哪些证据判断是否提效？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181100" y="2409825"/>
              <a:ext cx="10553700" cy="3552825"/>
              <a:chOff x="1181100" y="2409825"/>
              <a:chExt cx="10553700" cy="3552825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1181100" y="24098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1181100" y="30003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1181100" y="35909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1181100" y="41814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1181100" y="47720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1181100" y="536257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1181100" y="5953125"/>
                <a:ext cx="1055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3700" h="9525">
                    <a:moveTo>
                      <a:pt x="0" y="0"/>
                    </a:moveTo>
                    <a:lnTo>
                      <a:pt x="105537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  <p:grpSp>
        <p:nvGrpSpPr>
          <p:cNvPr id="49" name="Group 49"/>
          <p:cNvGrpSpPr/>
          <p:nvPr/>
        </p:nvGrpSpPr>
        <p:grpSpPr>
          <a:xfrm>
            <a:off x="525780" y="6172200"/>
            <a:ext cx="5447157" cy="293370"/>
            <a:chOff x="525780" y="6172200"/>
            <a:chExt cx="5447157" cy="293370"/>
          </a:xfrm>
        </p:grpSpPr>
        <p:sp>
          <p:nvSpPr>
            <p:cNvPr id="48" name="TextBox 48"/>
            <p:cNvSpPr txBox="1"/>
            <p:nvPr/>
          </p:nvSpPr>
          <p:spPr>
            <a:xfrm>
              <a:off x="525780" y="6172200"/>
              <a:ext cx="5447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180分钟，含两次各10分钟休息 · 章节名称与完整版讲义一致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6497002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第一次课 / 电商营销内容审核提效项目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8422538" cy="1384173"/>
            <a:chOff x="515112" y="457200"/>
            <a:chExt cx="8422538" cy="1384173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1.1 原有审核方式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企业原来是怎样审核营销内容的？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732" y="1430655"/>
              <a:ext cx="84149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小周按日常计划写P1推广，小林人工阅读，逐句对照业务资料。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1208" y="2158365"/>
            <a:ext cx="2679192" cy="1923669"/>
            <a:chOff x="521208" y="2158365"/>
            <a:chExt cx="2679192" cy="1923669"/>
          </a:xfrm>
        </p:grpSpPr>
        <p:sp>
          <p:nvSpPr>
            <p:cNvPr id="6" name="TextBox 6"/>
            <p:cNvSpPr txBox="1"/>
            <p:nvPr/>
          </p:nvSpPr>
          <p:spPr>
            <a:xfrm>
              <a:off x="524256" y="215836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内容作者 / 小周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25527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1208" y="27508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写稿、自查、修改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3329940"/>
              <a:ext cx="2075688" cy="75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整理正文及相关资料</a:t>
              </a:r>
              <a:br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收到意见后修改重提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43300" y="2095500"/>
            <a:ext cx="3619500" cy="3067050"/>
            <a:chOff x="3543300" y="2095500"/>
            <a:chExt cx="3619500" cy="3067050"/>
          </a:xfrm>
        </p:grpSpPr>
        <p:sp>
          <p:nvSpPr>
            <p:cNvPr id="11" name="Rectangle 11"/>
            <p:cNvSpPr/>
            <p:nvPr/>
          </p:nvSpPr>
          <p:spPr>
            <a:xfrm>
              <a:off x="3543300" y="2095500"/>
              <a:ext cx="3619500" cy="3067050"/>
            </a:xfrm>
            <a:prstGeom prst="roundRect">
              <a:avLst>
                <a:gd name="adj" fmla="val 248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00856" y="2253615"/>
              <a:ext cx="150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小林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97808" y="2760345"/>
              <a:ext cx="2589276" cy="9837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读原句 → 找依据</a:t>
              </a:r>
              <a:br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 → 反馈 → 复核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0856" y="3958590"/>
              <a:ext cx="27614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判断表述是否有据可依</a:t>
              </a:r>
              <a:br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说明问题，并核对修改结果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52182" y="2158365"/>
            <a:ext cx="4182618" cy="2907030"/>
            <a:chOff x="7552182" y="2158365"/>
            <a:chExt cx="4182618" cy="2907030"/>
          </a:xfrm>
        </p:grpSpPr>
        <p:sp>
          <p:nvSpPr>
            <p:cNvPr id="16" name="TextBox 16"/>
            <p:cNvSpPr txBox="1"/>
            <p:nvPr/>
          </p:nvSpPr>
          <p:spPr>
            <a:xfrm>
              <a:off x="7553706" y="21583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业务资料负责人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562850" y="2552700"/>
              <a:ext cx="4171950" cy="9525"/>
            </a:xfrm>
            <a:custGeom>
              <a:avLst/>
              <a:gdLst/>
              <a:ahLst/>
              <a:cxnLst/>
              <a:rect l="l" t="t" r="r" b="b"/>
              <a:pathLst>
                <a:path w="4171950" h="9525">
                  <a:moveTo>
                    <a:pt x="0" y="0"/>
                  </a:moveTo>
                  <a:lnTo>
                    <a:pt x="4171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27832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产品负责人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11106" y="2815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确认商品事实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2182" y="34309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活动负责人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11106" y="3463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确认价格赠品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2182" y="40786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履约负责人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11106" y="4110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确认配送承诺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5230" y="47720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缺少或冲突的事实，回到责任人确认。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2732" y="5467350"/>
            <a:ext cx="11212068" cy="864870"/>
            <a:chOff x="522732" y="5467350"/>
            <a:chExt cx="11212068" cy="864870"/>
          </a:xfrm>
        </p:grpSpPr>
        <p:sp>
          <p:nvSpPr>
            <p:cNvPr id="26" name="Line 26"/>
            <p:cNvSpPr/>
            <p:nvPr/>
          </p:nvSpPr>
          <p:spPr>
            <a:xfrm>
              <a:off x="533400" y="54673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2732" y="56311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定稿之后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19706" y="56635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内容负责人维护实际使用的版本和位置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780" y="60388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原有审核的基础：人工阅读、资料对照、责任人确认。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528066" y="6497002"/>
              <a:ext cx="2908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 / 净小伴P1标准版 · 常规营销文案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112" y="457200"/>
            <a:ext cx="7790688" cy="1357884"/>
            <a:chOff x="515112" y="457200"/>
            <a:chExt cx="7790688" cy="1357884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1.2 现有审核流程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一篇文案，怎样走完现有审核流程？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4256" y="1463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以下展示需要修改的一轮：从作者提交，到审核复核，再到定稿使用。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2171700"/>
            <a:ext cx="11201400" cy="1703070"/>
            <a:chOff x="533400" y="2171700"/>
            <a:chExt cx="11201400" cy="1703070"/>
          </a:xfrm>
        </p:grpSpPr>
        <p:sp>
          <p:nvSpPr>
            <p:cNvPr id="6" name="Line 6"/>
            <p:cNvSpPr/>
            <p:nvPr/>
          </p:nvSpPr>
          <p:spPr>
            <a:xfrm>
              <a:off x="1257300" y="29718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33400" y="2562225"/>
              <a:ext cx="11201400" cy="819150"/>
              <a:chOff x="533400" y="2562225"/>
              <a:chExt cx="11201400" cy="8191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216217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79095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41972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04850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677275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0306050" y="2562225"/>
                <a:ext cx="1428750" cy="819150"/>
              </a:xfrm>
              <a:prstGeom prst="roundRect">
                <a:avLst>
                  <a:gd name="adj" fmla="val 9302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811054" y="2171700"/>
              <a:ext cx="10747057" cy="293370"/>
              <a:chOff x="811054" y="2171700"/>
              <a:chExt cx="10747057" cy="29337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11054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/ 作者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439829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/ 作者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967639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/ 审核员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96414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 / 审核员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326154" y="2171700"/>
                <a:ext cx="8734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05 / 作者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53964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06 / 审核员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482739" y="217170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07 / 责任人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71703" y="2840355"/>
              <a:ext cx="10924794" cy="410718"/>
              <a:chOff x="671703" y="2840355"/>
              <a:chExt cx="10924794" cy="41071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67170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撰写自查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30047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提交材料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92925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对照核对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55802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反馈意见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18680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修改重提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815578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逐项复核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44353" y="2840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定稿使用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36295" y="3581400"/>
              <a:ext cx="10696575" cy="293370"/>
              <a:chOff x="836295" y="3581400"/>
              <a:chExt cx="10696575" cy="29337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36295" y="35814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形成初稿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36410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正文与资料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99288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原句与依据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62165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指出怎么改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5043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提交新版本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879205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确认已解决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507980" y="358140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按计划使用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3790950" y="4305300"/>
            <a:ext cx="6315075" cy="822198"/>
            <a:chOff x="3790950" y="4305300"/>
            <a:chExt cx="6315075" cy="822198"/>
          </a:xfrm>
        </p:grpSpPr>
        <p:sp>
          <p:nvSpPr>
            <p:cNvPr id="40" name="Rectangle 40"/>
            <p:cNvSpPr/>
            <p:nvPr/>
          </p:nvSpPr>
          <p:spPr>
            <a:xfrm>
              <a:off x="3790950" y="4305300"/>
              <a:ext cx="6315075" cy="781050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69080" y="4448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修改与复核回路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66032" y="471678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问题未解决，继续反馈、修改与复核。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4256" y="5391150"/>
            <a:ext cx="11210544" cy="919734"/>
            <a:chOff x="524256" y="5391150"/>
            <a:chExt cx="11210544" cy="919734"/>
          </a:xfrm>
        </p:grpSpPr>
        <p:sp>
          <p:nvSpPr>
            <p:cNvPr id="44" name="Line 44"/>
            <p:cNvSpPr/>
            <p:nvPr/>
          </p:nvSpPr>
          <p:spPr>
            <a:xfrm>
              <a:off x="533400" y="53911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4256" y="555879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没有待处理事项时，可按既定权限定稿；通过结论必须对应明确版本。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4256" y="59588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内容负责人继续维护：哪个版本，正在什么位置使用。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528066" y="64970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 / 日常审核流程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5852160" cy="1058418"/>
            <a:chOff x="515112" y="457200"/>
            <a:chExt cx="5852160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5414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1.3 人工核对动作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跟着小林，走一次人工核对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21208" y="1752600"/>
            <a:ext cx="3574542" cy="1941195"/>
            <a:chOff x="521208" y="1752600"/>
            <a:chExt cx="3574542" cy="1941195"/>
          </a:xfrm>
        </p:grpSpPr>
        <p:sp>
          <p:nvSpPr>
            <p:cNvPr id="5" name="TextBox 5"/>
            <p:cNvSpPr txBox="1"/>
            <p:nvPr/>
          </p:nvSpPr>
          <p:spPr>
            <a:xfrm>
              <a:off x="525780" y="17526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待审原句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1208" y="2188845"/>
              <a:ext cx="334289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“本次活动到手1799元，</a:t>
              </a:r>
              <a:br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人人同价！”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318135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5780" y="34004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要核实：什么人、满足什么条件？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0" y="1666875"/>
            <a:ext cx="6972300" cy="2133600"/>
            <a:chOff x="4762500" y="1666875"/>
            <a:chExt cx="6972300" cy="2133600"/>
          </a:xfrm>
        </p:grpSpPr>
        <p:sp>
          <p:nvSpPr>
            <p:cNvPr id="10" name="Rectangle 10"/>
            <p:cNvSpPr/>
            <p:nvPr/>
          </p:nvSpPr>
          <p:spPr>
            <a:xfrm>
              <a:off x="4762500" y="1666875"/>
              <a:ext cx="6972300" cy="21336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983480" y="1809750"/>
              <a:ext cx="42074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当前活动资料 / F-PROMO-01 v1 · 教学给定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80432" y="2192655"/>
              <a:ext cx="35112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2399元 → 1999元 → 1799元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81956" y="2634615"/>
              <a:ext cx="478459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先领取并使用400元活动券，享1999元；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新会员再领取并使用200元专享券，享1799元。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83480" y="34480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仅本次活动适用期内有效。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2732" y="4229100"/>
            <a:ext cx="11212068" cy="881634"/>
            <a:chOff x="522732" y="4229100"/>
            <a:chExt cx="11212068" cy="881634"/>
          </a:xfrm>
        </p:grpSpPr>
        <p:sp>
          <p:nvSpPr>
            <p:cNvPr id="16" name="Line 16"/>
            <p:cNvSpPr/>
            <p:nvPr/>
          </p:nvSpPr>
          <p:spPr>
            <a:xfrm>
              <a:off x="1733550" y="4429125"/>
              <a:ext cx="8505825" cy="9525"/>
            </a:xfrm>
            <a:custGeom>
              <a:avLst/>
              <a:gdLst/>
              <a:ahLst/>
              <a:cxnLst/>
              <a:rect l="l" t="t" r="r" b="b"/>
              <a:pathLst>
                <a:path w="8505825" h="9525">
                  <a:moveTo>
                    <a:pt x="0" y="0"/>
                  </a:moveTo>
                  <a:lnTo>
                    <a:pt x="8505825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33400" y="4229100"/>
              <a:ext cx="11201400" cy="400050"/>
              <a:chOff x="533400" y="4229100"/>
              <a:chExt cx="11201400" cy="4000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" y="4229100"/>
                <a:ext cx="20574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333750" y="4229100"/>
                <a:ext cx="24003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419850" y="4229100"/>
                <a:ext cx="24003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9639300" y="4229100"/>
                <a:ext cx="2095500" cy="4000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522732" y="4297680"/>
              <a:ext cx="10390914" cy="410718"/>
              <a:chOff x="522732" y="4297680"/>
              <a:chExt cx="10390914" cy="410718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22732" y="4297680"/>
                <a:ext cx="12850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读原句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323082" y="4297680"/>
                <a:ext cx="185041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找当前资料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09182" y="4297680"/>
                <a:ext cx="15677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核对条件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628632" y="4297680"/>
                <a:ext cx="12850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 写反馈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24256" y="47586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读完一句话，还要完成资料定位、条件比对与修改说明。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5295900"/>
            <a:ext cx="8198743" cy="1074420"/>
            <a:chOff x="533400" y="5295900"/>
            <a:chExt cx="8198743" cy="1074420"/>
          </a:xfrm>
        </p:grpSpPr>
        <p:sp>
          <p:nvSpPr>
            <p:cNvPr id="29" name="Rectangle 29"/>
            <p:cNvSpPr/>
            <p:nvPr/>
          </p:nvSpPr>
          <p:spPr>
            <a:xfrm>
              <a:off x="533400" y="5295900"/>
              <a:ext cx="57150" cy="971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4380" y="54102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可执行的审核意见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726430"/>
              <a:ext cx="79808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补齐新会员资格、两类券的领取与使用条件，删除“人人同价”。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4380" y="607695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这里只演示价格核对，不代表其余审核项或整篇已完成。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528066" y="6497002"/>
              <a:ext cx="2858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 / 所有价格与活动条件均为案例设定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5112" y="457200"/>
            <a:ext cx="7790688" cy="1058418"/>
            <a:chOff x="515112" y="457200"/>
            <a:chExt cx="7790688" cy="1058418"/>
          </a:xfrm>
        </p:grpSpPr>
        <p:sp>
          <p:nvSpPr>
            <p:cNvPr id="2" name="TextBox 2"/>
            <p:cNvSpPr txBox="1"/>
            <p:nvPr/>
          </p:nvSpPr>
          <p:spPr>
            <a:xfrm>
              <a:off x="525780" y="457200"/>
              <a:ext cx="3137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第一节 · 业务背景 / 1.4 痛点归纳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112" y="811530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审核提效需求，来自哪些具体痛点？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4256" y="1783080"/>
            <a:ext cx="11210544" cy="755904"/>
            <a:chOff x="524256" y="1783080"/>
            <a:chExt cx="11210544" cy="755904"/>
          </a:xfrm>
        </p:grpSpPr>
        <p:sp>
          <p:nvSpPr>
            <p:cNvPr id="5" name="TextBox 5"/>
            <p:cNvSpPr txBox="1"/>
            <p:nvPr/>
          </p:nvSpPr>
          <p:spPr>
            <a:xfrm>
              <a:off x="524256" y="18059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56132" y="17830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查找资料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24606" y="18154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一会儿看正文，一会儿翻商品、活动和配送资料。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324606" y="21869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没有明显错误的句子，也需要找到依据后才能确认。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25146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24256" y="2792730"/>
            <a:ext cx="11210544" cy="755904"/>
            <a:chOff x="524256" y="2792730"/>
            <a:chExt cx="11210544" cy="755904"/>
          </a:xfrm>
        </p:grpSpPr>
        <p:sp>
          <p:nvSpPr>
            <p:cNvPr id="11" name="TextBox 11"/>
            <p:cNvSpPr txBox="1"/>
            <p:nvPr/>
          </p:nvSpPr>
          <p:spPr>
            <a:xfrm>
              <a:off x="524256" y="28155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6132" y="27927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解释往返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24606" y="2825115"/>
              <a:ext cx="5518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“价格补条件” → 作者改成“领券1799” → 还要再改。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24606" y="31965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作者没收到完整条件，仍漏了新会员资格与两类券。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3524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24256" y="3802380"/>
            <a:ext cx="11210544" cy="755904"/>
            <a:chOff x="524256" y="3802380"/>
            <a:chExt cx="11210544" cy="755904"/>
          </a:xfrm>
        </p:grpSpPr>
        <p:sp>
          <p:nvSpPr>
            <p:cNvPr id="17" name="TextBox 17"/>
            <p:cNvSpPr txBox="1"/>
            <p:nvPr/>
          </p:nvSpPr>
          <p:spPr>
            <a:xfrm>
              <a:off x="524256" y="382524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6132" y="38023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版本复核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24606" y="3834765"/>
              <a:ext cx="634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作者说“已修改”，小林还要重新找旧意见、新原句和依据。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24606" y="42062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确认原问题已解决，还要核对这一版的其他改动。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33400" y="45339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24256" y="4812030"/>
            <a:ext cx="11210544" cy="755904"/>
            <a:chOff x="524256" y="4812030"/>
            <a:chExt cx="11210544" cy="755904"/>
          </a:xfrm>
        </p:grpSpPr>
        <p:sp>
          <p:nvSpPr>
            <p:cNvPr id="23" name="TextBox 23"/>
            <p:cNvSpPr txBox="1"/>
            <p:nvPr/>
          </p:nvSpPr>
          <p:spPr>
            <a:xfrm>
              <a:off x="524256" y="4834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6132" y="48120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后续维护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24606" y="484441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活动负责人确认赠品名额用完，还得找到相关在用内容和维护人。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4606" y="521589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停用内容、其他活动、只讲功能的内容，不能一律修改。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55435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22732" y="5840730"/>
            <a:ext cx="7088886" cy="605790"/>
            <a:chOff x="522732" y="5840730"/>
            <a:chExt cx="7088886" cy="605790"/>
          </a:xfrm>
        </p:grpSpPr>
        <p:sp>
          <p:nvSpPr>
            <p:cNvPr id="29" name="TextBox 29"/>
            <p:cNvSpPr txBox="1"/>
            <p:nvPr/>
          </p:nvSpPr>
          <p:spPr>
            <a:xfrm>
              <a:off x="522732" y="5840730"/>
              <a:ext cx="70888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下一节：明确希望减少哪些劳动，以及第一版做到哪里。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5780" y="615315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记录作者与审核员双方的总投入，再判断是否提效。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8066" y="6497002"/>
            <a:ext cx="11212068" cy="205359"/>
            <a:chOff x="528066" y="6497002"/>
            <a:chExt cx="112120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28066" y="6497002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教学模拟 / 痛点来自具体工作片段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739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sson1_rebuild_sample">
  <a:themeElements>
    <a:clrScheme name="lesson1_rebuild_sample">
      <a:dk1>
        <a:srgbClr val="172C4D"/>
      </a:dk1>
      <a:lt1>
        <a:srgbClr val="F7F9FC"/>
      </a:lt1>
      <a:dk2>
        <a:srgbClr val="1F497D"/>
      </a:dk2>
      <a:lt2>
        <a:srgbClr val="EAF0FB"/>
      </a:lt2>
      <a:accent1>
        <a:srgbClr val="2457D6"/>
      </a:accent1>
      <a:accent2>
        <a:srgbClr val="EAA45B"/>
      </a:accent2>
      <a:accent3>
        <a:srgbClr val="D6E2FA"/>
      </a:accent3>
      <a:accent4>
        <a:srgbClr val="2457D6"/>
      </a:accent4>
      <a:accent5>
        <a:srgbClr val="61718A"/>
      </a:accent5>
      <a:accent6>
        <a:srgbClr val="D8E0EC"/>
      </a:accent6>
      <a:hlink>
        <a:srgbClr val="EAA45B"/>
      </a:hlink>
      <a:folHlink>
        <a:srgbClr val="D6E2FA"/>
      </a:folHlink>
    </a:clrScheme>
    <a:fontScheme name="lesson1_rebuild_sampl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rebuild_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rebuild_sample">
  <a:themeElements>
    <a:clrScheme name="lesson1_rebuild_sample">
      <a:dk1>
        <a:srgbClr val="172C4D"/>
      </a:dk1>
      <a:lt1>
        <a:srgbClr val="F7F9FC"/>
      </a:lt1>
      <a:dk2>
        <a:srgbClr val="1F497D"/>
      </a:dk2>
      <a:lt2>
        <a:srgbClr val="EAF0FB"/>
      </a:lt2>
      <a:accent1>
        <a:srgbClr val="2457D6"/>
      </a:accent1>
      <a:accent2>
        <a:srgbClr val="EAA45B"/>
      </a:accent2>
      <a:accent3>
        <a:srgbClr val="D6E2FA"/>
      </a:accent3>
      <a:accent4>
        <a:srgbClr val="2457D6"/>
      </a:accent4>
      <a:accent5>
        <a:srgbClr val="61718A"/>
      </a:accent5>
      <a:accent6>
        <a:srgbClr val="D8E0EC"/>
      </a:accent6>
      <a:hlink>
        <a:srgbClr val="EAA45B"/>
      </a:hlink>
      <a:folHlink>
        <a:srgbClr val="D6E2FA"/>
      </a:folHlink>
    </a:clrScheme>
    <a:fontScheme name="lesson1_rebuild_sampl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rebuild_samp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2026-10-18T09:58:35Z</dcterms:created>
  <dcterms:modified xsi:type="dcterms:W3CDTF">2026-10-18T09:58:35Z</dcterms:modified>
  <cp:category/>
  <cp:contentStatus/>
</cp:coreProperties>
</file>