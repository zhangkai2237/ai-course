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77"/>
  </p:notesMasterIdLst>
  <p:sldIdLst>
    <p:sldId id="256" r:id="rId78"/>
    <p:sldId id="257" r:id="rId79"/>
    <p:sldId id="258" r:id="rId80"/>
    <p:sldId id="259" r:id="rId81"/>
    <p:sldId id="260" r:id="rId82"/>
    <p:sldId id="261" r:id="rId83"/>
    <p:sldId id="262" r:id="rId84"/>
    <p:sldId id="263" r:id="rId85"/>
    <p:sldId id="264" r:id="rId86"/>
    <p:sldId id="265" r:id="rId8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7" Type="http://schemas.openxmlformats.org/officeDocument/2006/relationships/notesMaster" Target="notesMasters/notesMaster1.xml" />
<Relationship Id="rId78" Type="http://schemas.openxmlformats.org/officeDocument/2006/relationships/slide" Target="slides/slide71.xml" /><Relationship Id="rId79" Type="http://schemas.openxmlformats.org/officeDocument/2006/relationships/slide" Target="slides/slide72.xml" /><Relationship Id="rId80" Type="http://schemas.openxmlformats.org/officeDocument/2006/relationships/slide" Target="slides/slide73.xml" /><Relationship Id="rId81" Type="http://schemas.openxmlformats.org/officeDocument/2006/relationships/slide" Target="slides/slide74.xml" /><Relationship Id="rId82" Type="http://schemas.openxmlformats.org/officeDocument/2006/relationships/slide" Target="slides/slide75.xml" /><Relationship Id="rId83" Type="http://schemas.openxmlformats.org/officeDocument/2006/relationships/slide" Target="slides/slide76.xml" /><Relationship Id="rId84" Type="http://schemas.openxmlformats.org/officeDocument/2006/relationships/slide" Target="slides/slide77.xml" /><Relationship Id="rId85" Type="http://schemas.openxmlformats.org/officeDocument/2006/relationships/slide" Target="slides/slide78.xml" /><Relationship Id="rId86" Type="http://schemas.openxmlformats.org/officeDocument/2006/relationships/slide" Target="slides/slide79.xml" /><Relationship Id="rId87" Type="http://schemas.openxmlformats.org/officeDocument/2006/relationships/slide" Target="slides/slide80.xml" />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7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1.xml" /></Relationships>
</file>

<file path=ppt/notesSlides/_rels/notesSlide7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2.xml" /></Relationships>
</file>

<file path=ppt/notesSlides/_rels/notesSlide7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3.xml" /></Relationships>
</file>

<file path=ppt/notesSlides/_rels/notesSlide7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4.xml" /></Relationships>
</file>

<file path=ppt/notesSlides/_rels/notesSlide7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5.xml" /></Relationships>
</file>

<file path=ppt/notesSlides/_rels/notesSlide7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6.xml" /></Relationships>
</file>

<file path=ppt/notesSlides/_rels/notesSlide7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7.xml" /></Relationships>
</file>

<file path=ppt/notesSlides/_rels/notesSlide7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8.xml" /></Relationships>
</file>

<file path=ppt/notesSlides/_rels/notesSlide7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9.xml" /></Relationships>
</file>

<file path=ppt/notesSlides/_rels/notesSlide8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0.xml" /></Relationship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前六节已经把业务目标、审核点、能力分工和产品流程接起来。最后一节说明先准备什么、按什么顺序实现，以及用什么证据判断是否继续投入。首版的目标仍是三段审核提效，课堂方案需要通过真实材料和工作验证。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实施之前，先检查依据、样例、内容关联和人工承接是否准备好。有效材料要由对应业务负责人确认，验证样例也要有人的参考判断；内容登记决定巡检范围，接入安排与角色责任决定问题是否有人处理。依赖缺失就补齐或缩小范围，不能把准备工作默认算作已经完成。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步用功能、价格和赠品样例验证关键审核点，明确资料、判断、定位和失败出口。第二步做深正式审核，走完提交、退回、修改、复核和定稿，再复用能力接上自检与人工发起巡检。最后选择资料完整、有人承接的小范围真实工作试用，保留人工正式审核；这只是首版内部建设顺序，不代表删除自检或巡检。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不能只展示一个明显错误被发现，还要检查正常表达是否被误报，模糊表达是否被擅自补充含义，缺资料或执行失败是否明确表示未完成。没有相关主张时，也不能强迫作者补写无关内容。样例由业务确认，调试与独立验证材料分开，避免记住熟悉答案就以为场景已经可靠，修改后还要回归代表样例。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验证要同时看问题质量、总人工、版本关系、巡检处理和运行代价。作者准备、自检和修改，审核员核对、纠错和复核都算劳动，等待时间单独记录；范围不明项也要跟进。试用前和业务约定要求及退出条件，结合任务难度、资料完整度和人员熟悉程度比较，不能直接套用其他项目的阈值。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下面用课堂数据判断：两组各处理十篇可比文案，作者准备、自检与修改从六十分钟增加到八十分钟，审核查资料从一百分钟减少到六十分钟，沟通纠错和复核从四十分钟增加到六十五分钟。请先算两组总人工，再讨论还缺哪些证据。数字只用于课堂计算，既不是实测效果，也不是推荐验收样本量。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原流程总人工两百分钟，辅助流程两百零五分钟，所以不能只凭查资料变快宣布提效。需要分析增加的作者劳动、沟通和复核来自哪里，同时检查质量是否改善、等待是否减少、任务是否可比。没有收益证据就不急于扩大；如果质量收益足以接受成本增加，也必须由业务明确取舍，不能偷偷更改项目目标。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质量满足约定要求、流程与承接稳定且收益可确认时，可以逐步扩大相似商品与人员范围。有问题要先区分出在资料、理解、条件比较、定位引用还是用户处理，修复后回归，不能一律归因模型。关键错误不可控或问题无人处理时缩小范围，必要时回到人工流程，并留下调整理由。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首版先验证审核提效，自动完成某条检查与自动作出整篇通过或拦截决定是不同阶段。后续可以从边界明确的场景评估，但需要完整覆盖、有效依据、质量证据、处置权限、异常承接和恢复人工方式，并得到明确授权。不能直接把系统没有发现问题接成自动发布。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课从企业原有审核出发，明确首版目标，串起自检、正式审核和巡检，再把审核要求变成审核点，组合执行能力，落实到产品操作，最后安排实施与验证。课后把方案收成一页，写清先做什么、谁负责、依赖什么、用哪些证据决定下一步。这是项目方案课的成果，不要求提交完整的产品需求文档，后续再深化接入、配置、页面状态和验证后的取舍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esson1_classroom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esson1_classroom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1.xml" /></Relationships>
</file>

<file path=ppt/slides/_rels/slide7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2.xml" /></Relationships>
</file>

<file path=ppt/slides/_rels/slide7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3.xml" /></Relationships>
</file>

<file path=ppt/slides/_rels/slide7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4.xml" /></Relationships>
</file>

<file path=ppt/slides/_rels/slide7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5.xml" /></Relationships>
</file>

<file path=ppt/slides/_rels/slide7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6.xml" /></Relationships>
</file>

<file path=ppt/slides/_rels/slide7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7.xml" /></Relationships>
</file>

<file path=ppt/slides/_rels/slide7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8.xml" /></Relationships>
</file>

<file path=ppt/slides/_rels/slide7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9.xml" /></Relationships>
</file>

<file path=ppt/slides/_rels/slide8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80.xml" /></Relationships>
</file>

<file path=ppt/slides/slide7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10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38150" y="523875"/>
            <a:ext cx="3268980" cy="1443990"/>
            <a:chOff x="438150" y="523875"/>
            <a:chExt cx="3268980" cy="1443990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523875"/>
              <a:ext cx="20850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第一次课 / 第七节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38150" y="1034415"/>
              <a:ext cx="326898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落地与验证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41198" y="2231708"/>
            <a:ext cx="3659886" cy="1993201"/>
            <a:chOff x="441198" y="2231708"/>
            <a:chExt cx="3659886" cy="1993201"/>
          </a:xfrm>
        </p:grpSpPr>
        <p:sp>
          <p:nvSpPr>
            <p:cNvPr id="5" name="TextBox 5"/>
            <p:cNvSpPr txBox="1"/>
            <p:nvPr/>
          </p:nvSpPr>
          <p:spPr>
            <a:xfrm>
              <a:off x="441198" y="2231708"/>
              <a:ext cx="2832354" cy="1225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800"/>
                </a:lnSpc>
              </a:pPr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先跑通项目，
再证明它省力。</a:t>
              </a:r>
              <a:br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8056" y="3872865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输入：业务流程与产品方案。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295900" y="2095500"/>
            <a:ext cx="3976459" cy="2381250"/>
            <a:chOff x="5295900" y="2095500"/>
            <a:chExt cx="3976459" cy="2381250"/>
          </a:xfrm>
        </p:grpSpPr>
        <p:sp>
          <p:nvSpPr>
            <p:cNvPr id="8" name="Line 8"/>
            <p:cNvSpPr/>
            <p:nvPr/>
          </p:nvSpPr>
          <p:spPr>
            <a:xfrm>
              <a:off x="5295900" y="2095500"/>
              <a:ext cx="9525" cy="2381250"/>
            </a:xfrm>
            <a:custGeom>
              <a:avLst/>
              <a:gdLst/>
              <a:ahLst/>
              <a:cxnLst/>
              <a:rect l="l" t="t" r="r" b="b"/>
              <a:pathLst>
                <a:path w="9525" h="2381250">
                  <a:moveTo>
                    <a:pt x="0" y="0"/>
                  </a:moveTo>
                  <a:lnTo>
                    <a:pt x="0" y="2381250"/>
                  </a:lnTo>
                </a:path>
              </a:pathLst>
            </a:custGeom>
            <a:noFill/>
            <a:ln w="9525">
              <a:solidFill>
                <a:srgbClr val="61767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590032" y="2240280"/>
              <a:ext cx="31169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7.1 准备条件与建设顺序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90032" y="3097530"/>
              <a:ext cx="36823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7.2 质量、流程与总投入验证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90032" y="3954780"/>
              <a:ext cx="33996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7.3 决定扩大、修复或收缩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5048250"/>
            <a:ext cx="11277600" cy="952500"/>
            <a:chOff x="457200" y="5048250"/>
            <a:chExt cx="11277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457200" y="5048250"/>
              <a:ext cx="11277600" cy="952500"/>
            </a:xfrm>
            <a:prstGeom prst="roundRect">
              <a:avLst>
                <a:gd name="adj" fmla="val 12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6280" y="52673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本节重点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3232" y="5583555"/>
              <a:ext cx="65234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形成实施与验证安排，说明凭什么进入下一步。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51866" y="6468428"/>
            <a:ext cx="16079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F2EF"/>
                </a:solidFill>
                <a:latin typeface="+mn-lt"/>
                <a:ea typeface="+mn-ea"/>
                <a:cs typeface="+mn-cs"/>
              </a:rPr>
              <a:t>方案 → 试用 → 验证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55940" y="6468428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E8F2EF"/>
                </a:solidFill>
                <a:latin typeface="+mn-lt"/>
                <a:ea typeface="+mn-ea"/>
                <a:cs typeface="+mn-cs"/>
              </a:rPr>
              <a:t>49</a:t>
            </a:r>
          </a:p>
        </p:txBody>
      </p:sp>
    </p:spTree>
  </p:cSld>
  <p:clrMapOvr>
    <a:masterClrMapping/>
  </p:clrMapOvr>
  <p:transition p14:dur="400">
    <p:fade/>
  </p:transition>
</p:sld>
</file>

<file path=ppt/slides/slide7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816852" cy="1038035"/>
            <a:chOff x="441198" y="428625"/>
            <a:chExt cx="6816852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3773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第七节 / 7.1 实施前提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81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开发前，先确认四类依赖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45008" y="2093595"/>
            <a:ext cx="4290060" cy="1424178"/>
            <a:chOff x="445008" y="2093595"/>
            <a:chExt cx="4290060" cy="1424178"/>
          </a:xfrm>
        </p:grpSpPr>
        <p:sp>
          <p:nvSpPr>
            <p:cNvPr id="5" name="TextBox 5"/>
            <p:cNvSpPr txBox="1"/>
            <p:nvPr/>
          </p:nvSpPr>
          <p:spPr>
            <a:xfrm>
              <a:off x="445008" y="209359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有效资料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6532" y="2678430"/>
              <a:ext cx="4288536" cy="8393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业务负责人确认范围与版本。
缺资料：补齐或缩小范围。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369558" y="2093595"/>
            <a:ext cx="4556760" cy="1424178"/>
            <a:chOff x="6369558" y="2093595"/>
            <a:chExt cx="4556760" cy="1424178"/>
          </a:xfrm>
        </p:grpSpPr>
        <p:sp>
          <p:nvSpPr>
            <p:cNvPr id="8" name="TextBox 8"/>
            <p:cNvSpPr txBox="1"/>
            <p:nvPr/>
          </p:nvSpPr>
          <p:spPr>
            <a:xfrm>
              <a:off x="6369558" y="2093595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原文与参考判断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371082" y="2678430"/>
              <a:ext cx="4555236" cy="8393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业务与审核员确认样例和理由。
争议待确认，模型自评不能当答案。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45008" y="4150995"/>
            <a:ext cx="4730115" cy="1424178"/>
            <a:chOff x="445008" y="4150995"/>
            <a:chExt cx="4730115" cy="1424178"/>
          </a:xfrm>
        </p:grpSpPr>
        <p:sp>
          <p:nvSpPr>
            <p:cNvPr id="11" name="TextBox 11"/>
            <p:cNvSpPr txBox="1"/>
            <p:nvPr/>
          </p:nvSpPr>
          <p:spPr>
            <a:xfrm>
              <a:off x="445008" y="4150995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内容关联与使用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6532" y="4735830"/>
              <a:ext cx="4728591" cy="8393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内容负责人登记商品、活动和维护人。
状态不明：先核实或缩小范围。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369558" y="4150995"/>
            <a:ext cx="4290060" cy="1424178"/>
            <a:chOff x="6369558" y="4150995"/>
            <a:chExt cx="4290060" cy="1424178"/>
          </a:xfrm>
        </p:grpSpPr>
        <p:sp>
          <p:nvSpPr>
            <p:cNvPr id="14" name="TextBox 14"/>
            <p:cNvSpPr txBox="1"/>
            <p:nvPr/>
          </p:nvSpPr>
          <p:spPr>
            <a:xfrm>
              <a:off x="6369558" y="4150995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接入与人工承接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71082" y="4735830"/>
              <a:ext cx="4288536" cy="8393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产品、实现与业务约定接入和记录。
明确复核、处理与暂停权限。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17" name="Rectangle 17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451866" y="6468428"/>
              <a:ext cx="9789078" cy="205359"/>
              <a:chOff x="451866" y="6468428"/>
              <a:chExt cx="9789078" cy="205359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4808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995291" y="6468428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0242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538716" y="6468428"/>
                <a:ext cx="702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392799" cy="1038035"/>
            <a:chOff x="441198" y="428625"/>
            <a:chExt cx="6392799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3773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第七节 / 7.1 建设顺序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3927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先跑关键路径，再接完整业务环节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2400300"/>
            <a:ext cx="10715625" cy="1948434"/>
            <a:chOff x="762000" y="2400300"/>
            <a:chExt cx="10715625" cy="1948434"/>
          </a:xfrm>
        </p:grpSpPr>
        <p:sp>
          <p:nvSpPr>
            <p:cNvPr id="5" name="Line 5"/>
            <p:cNvSpPr/>
            <p:nvPr/>
          </p:nvSpPr>
          <p:spPr>
            <a:xfrm>
              <a:off x="1619250" y="2733675"/>
              <a:ext cx="8953500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285875" y="2400300"/>
              <a:ext cx="9525000" cy="666750"/>
              <a:chOff x="1285875" y="2400300"/>
              <a:chExt cx="9525000" cy="66675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28587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423862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719137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014412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1530839" y="2611755"/>
              <a:ext cx="9035072" cy="410718"/>
              <a:chOff x="1530839" y="2611755"/>
              <a:chExt cx="9035072" cy="410718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153083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48358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43633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38908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901827" y="3402330"/>
              <a:ext cx="10575798" cy="410718"/>
              <a:chOff x="901827" y="3402330"/>
              <a:chExt cx="10575798" cy="410718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901827" y="3402330"/>
                <a:ext cx="14348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关键审核点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713226" y="3402330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正式审核闭环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665976" y="3402330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接自检与巡检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477375" y="3402330"/>
                <a:ext cx="200025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小范围真实试用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62000" y="3996690"/>
              <a:ext cx="10693908" cy="352044"/>
              <a:chOff x="762000" y="3996690"/>
              <a:chExt cx="10693908" cy="352044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762000" y="39966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质量与失败出口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593592" y="39966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提交、修改、复核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667500" y="39966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复用与变化重查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499092" y="39966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总投入与处理收益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457200" y="5229225"/>
            <a:ext cx="11277600" cy="942975"/>
            <a:chOff x="457200" y="5229225"/>
            <a:chExt cx="11277600" cy="942975"/>
          </a:xfrm>
        </p:grpSpPr>
        <p:sp>
          <p:nvSpPr>
            <p:cNvPr id="27" name="Rectangle 27"/>
            <p:cNvSpPr/>
            <p:nvPr/>
          </p:nvSpPr>
          <p:spPr>
            <a:xfrm>
              <a:off x="457200" y="5229225"/>
              <a:ext cx="11277600" cy="942975"/>
            </a:xfrm>
            <a:prstGeom prst="roundRect">
              <a:avLst>
                <a:gd name="adj" fmla="val 121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32282" y="5393055"/>
              <a:ext cx="65234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每一步都看质量、版本、流程和人工承接是否可用。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5330" y="5838825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三个环节都在首版范围；先有阶段通过证据，再确定投入与扩展。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1" name="Rectangle 31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451866" y="6468428"/>
              <a:ext cx="9789078" cy="205359"/>
              <a:chOff x="451866" y="6468428"/>
              <a:chExt cx="9789078" cy="205359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4808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995291" y="6468428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0242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538716" y="6468428"/>
                <a:ext cx="702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5921040" cy="1038035"/>
            <a:chOff x="441198" y="428625"/>
            <a:chExt cx="5921040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579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第七节 / 7.2 代表样例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59210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四类样例，验证关键审核点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7200" y="1847850"/>
            <a:ext cx="5353050" cy="1619250"/>
            <a:chOff x="457200" y="1847850"/>
            <a:chExt cx="5353050" cy="1619250"/>
          </a:xfrm>
        </p:grpSpPr>
        <p:sp>
          <p:nvSpPr>
            <p:cNvPr id="5" name="Rectangle 5"/>
            <p:cNvSpPr/>
            <p:nvPr/>
          </p:nvSpPr>
          <p:spPr>
            <a:xfrm>
              <a:off x="457200" y="1847850"/>
              <a:ext cx="5353050" cy="1619250"/>
            </a:xfrm>
            <a:prstGeom prst="roundRect">
              <a:avLst>
                <a:gd name="adj" fmla="val 705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4756" y="2063115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正常 / 不应误报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11708" y="2607945"/>
              <a:ext cx="346527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基站65℃热水洗拖布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381750" y="1847850"/>
            <a:ext cx="5353050" cy="1619250"/>
            <a:chOff x="6381750" y="1847850"/>
            <a:chExt cx="5353050" cy="1619250"/>
          </a:xfrm>
        </p:grpSpPr>
        <p:sp>
          <p:nvSpPr>
            <p:cNvPr id="9" name="Rectangle 9"/>
            <p:cNvSpPr/>
            <p:nvPr/>
          </p:nvSpPr>
          <p:spPr>
            <a:xfrm>
              <a:off x="6381750" y="1847850"/>
              <a:ext cx="5353050" cy="161925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39306" y="2063115"/>
              <a:ext cx="27201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问题 / 对象不一致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36258" y="2607945"/>
              <a:ext cx="24960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65℃直接拖地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3790950"/>
            <a:ext cx="5353050" cy="1619250"/>
            <a:chOff x="457200" y="3790950"/>
            <a:chExt cx="5353050" cy="1619250"/>
          </a:xfrm>
        </p:grpSpPr>
        <p:sp>
          <p:nvSpPr>
            <p:cNvPr id="13" name="Rectangle 13"/>
            <p:cNvSpPr/>
            <p:nvPr/>
          </p:nvSpPr>
          <p:spPr>
            <a:xfrm>
              <a:off x="457200" y="3790950"/>
              <a:ext cx="5353050" cy="161925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4756" y="4006215"/>
              <a:ext cx="27201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边界 / 结合全文确认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1708" y="4551045"/>
              <a:ext cx="24960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65℃深度清洁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381750" y="3790950"/>
            <a:ext cx="5353050" cy="1619250"/>
            <a:chOff x="6381750" y="3790950"/>
            <a:chExt cx="5353050" cy="1619250"/>
          </a:xfrm>
        </p:grpSpPr>
        <p:sp>
          <p:nvSpPr>
            <p:cNvPr id="17" name="Rectangle 17"/>
            <p:cNvSpPr/>
            <p:nvPr/>
          </p:nvSpPr>
          <p:spPr>
            <a:xfrm>
              <a:off x="6381750" y="3790950"/>
              <a:ext cx="5353050" cy="161925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39306" y="4006215"/>
              <a:ext cx="24777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异常 / 说明未完成范围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36258" y="4551045"/>
              <a:ext cx="4224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缺资料、资料变化、超时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48056" y="5815965"/>
            <a:ext cx="8499348" cy="352044"/>
            <a:chOff x="448056" y="5815965"/>
            <a:chExt cx="8499348" cy="352044"/>
          </a:xfrm>
        </p:grpSpPr>
        <p:sp>
          <p:nvSpPr>
            <p:cNvPr id="21" name="TextBox 21"/>
            <p:cNvSpPr txBox="1"/>
            <p:nvPr/>
          </p:nvSpPr>
          <p:spPr>
            <a:xfrm>
              <a:off x="448056" y="5815965"/>
              <a:ext cx="84993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参考判断由业务确认；调试与独立验证分开；修改后回看代表样例。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23" name="Rectangle 23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451866" y="6468428"/>
              <a:ext cx="9789078" cy="205359"/>
              <a:chOff x="451866" y="6468428"/>
              <a:chExt cx="9789078" cy="205359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4808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995291" y="6468428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0242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9538716" y="6468428"/>
                <a:ext cx="702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5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5544693" cy="1038035"/>
            <a:chOff x="441198" y="428625"/>
            <a:chExt cx="5544693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579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第七节 / 7.2 验证证据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554469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验证的是整项审核工作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46532" y="2059305"/>
            <a:ext cx="7936992" cy="3420618"/>
            <a:chOff x="446532" y="2059305"/>
            <a:chExt cx="7936992" cy="3420618"/>
          </a:xfrm>
        </p:grpSpPr>
        <p:grpSp>
          <p:nvGrpSpPr>
            <p:cNvPr id="10" name="Group 10"/>
            <p:cNvGrpSpPr/>
            <p:nvPr/>
          </p:nvGrpSpPr>
          <p:grpSpPr>
            <a:xfrm>
              <a:off x="446532" y="2059305"/>
              <a:ext cx="7936992" cy="3420618"/>
              <a:chOff x="446532" y="2059305"/>
              <a:chExt cx="7936992" cy="3420618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446532" y="2059305"/>
                <a:ext cx="793699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质量　漏报、误报、依据适用，能否区分信息不足与失败</a:t>
                </a: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/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446532" y="2811780"/>
                <a:ext cx="765429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人工　作者＋审核员的总投入；等待业务回复另记</a:t>
                </a: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/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446532" y="3564255"/>
                <a:ext cx="751667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版本　检查与正式结论，能否绑定正确正文和依据</a:t>
                </a: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/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446532" y="4316730"/>
                <a:ext cx="793699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巡检　已知范围有无覆盖，问题有无承接并实际更新</a:t>
                </a: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/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446532" y="5069205"/>
                <a:ext cx="708888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运行　调用成本、等待、重试与人工接管是否可接受</a:t>
                </a: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/>
                </a:r>
              </a:p>
            </p:txBody>
          </p:sp>
        </p:grpSp>
      </p:grpSp>
      <p:grpSp>
        <p:nvGrpSpPr>
          <p:cNvPr id="13" name="Group 13"/>
          <p:cNvGrpSpPr/>
          <p:nvPr/>
        </p:nvGrpSpPr>
        <p:grpSpPr>
          <a:xfrm>
            <a:off x="448056" y="5873115"/>
            <a:ext cx="8499348" cy="352044"/>
            <a:chOff x="448056" y="5873115"/>
            <a:chExt cx="8499348" cy="352044"/>
          </a:xfrm>
        </p:grpSpPr>
        <p:sp>
          <p:nvSpPr>
            <p:cNvPr id="12" name="TextBox 12"/>
            <p:cNvSpPr txBox="1"/>
            <p:nvPr/>
          </p:nvSpPr>
          <p:spPr>
            <a:xfrm>
              <a:off x="448056" y="5873115"/>
              <a:ext cx="84993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试用前约定质量要求、关键错误、成本范围与退出条件，具体门槛结合业务基线。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14" name="Rectangle 14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451866" y="6468428"/>
              <a:ext cx="9789078" cy="205359"/>
              <a:chOff x="451866" y="6468428"/>
              <a:chExt cx="9789078" cy="205359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4808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995291" y="6468428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0242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538716" y="6468428"/>
                <a:ext cx="702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10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8041305" cy="1038035"/>
            <a:chOff x="441198" y="428625"/>
            <a:chExt cx="8041305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46192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第七节 / 7.2 课堂计算（教学数据）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804130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查资料从100降到60分钟，就提效了吗？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46532" y="2117408"/>
            <a:ext cx="10472384" cy="616077"/>
            <a:chOff x="446532" y="2117408"/>
            <a:chExt cx="10472384" cy="616077"/>
          </a:xfrm>
        </p:grpSpPr>
        <p:sp>
          <p:nvSpPr>
            <p:cNvPr id="5" name="TextBox 5"/>
            <p:cNvSpPr txBox="1"/>
            <p:nvPr/>
          </p:nvSpPr>
          <p:spPr>
            <a:xfrm>
              <a:off x="446532" y="2145030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作者准备、自检与修改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413623" y="2117408"/>
              <a:ext cx="250529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60 → 80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46532" y="3384232"/>
            <a:ext cx="10717275" cy="616077"/>
            <a:chOff x="446532" y="3384232"/>
            <a:chExt cx="10717275" cy="616077"/>
          </a:xfrm>
        </p:grpSpPr>
        <p:sp>
          <p:nvSpPr>
            <p:cNvPr id="8" name="TextBox 8"/>
            <p:cNvSpPr txBox="1"/>
            <p:nvPr/>
          </p:nvSpPr>
          <p:spPr>
            <a:xfrm>
              <a:off x="446532" y="341185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审核人员查资料与核对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13623" y="3384232"/>
              <a:ext cx="275018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100 → 60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46532" y="4651058"/>
            <a:ext cx="10472384" cy="616077"/>
            <a:chOff x="446532" y="4651058"/>
            <a:chExt cx="10472384" cy="616077"/>
          </a:xfrm>
        </p:grpSpPr>
        <p:sp>
          <p:nvSpPr>
            <p:cNvPr id="11" name="TextBox 11"/>
            <p:cNvSpPr txBox="1"/>
            <p:nvPr/>
          </p:nvSpPr>
          <p:spPr>
            <a:xfrm>
              <a:off x="446532" y="4678680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沟通、纠错与复核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13623" y="4651058"/>
              <a:ext cx="250529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40 → 65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46532" y="5802630"/>
            <a:ext cx="7682560" cy="410718"/>
            <a:chOff x="446532" y="5802630"/>
            <a:chExt cx="7682560" cy="410718"/>
          </a:xfrm>
        </p:grpSpPr>
        <p:sp>
          <p:nvSpPr>
            <p:cNvPr id="14" name="TextBox 14"/>
            <p:cNvSpPr txBox="1"/>
            <p:nvPr/>
          </p:nvSpPr>
          <p:spPr>
            <a:xfrm>
              <a:off x="446532" y="5802630"/>
              <a:ext cx="76825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单位：分钟。两组各10篇可比文案，课堂示例非实测。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16" name="Rectangle 16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451866" y="6468428"/>
              <a:ext cx="9789078" cy="205359"/>
              <a:chOff x="451866" y="6468428"/>
              <a:chExt cx="9789078" cy="205359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4808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995291" y="6468428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0242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538716" y="6468428"/>
                <a:ext cx="702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7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5968746" cy="1038035"/>
            <a:chOff x="441198" y="428625"/>
            <a:chExt cx="5968746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46192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第七节 / 7.2 课堂计算结果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59687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局部变快，还不能宣布整体提效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38150" y="2164080"/>
            <a:ext cx="7900705" cy="1276350"/>
            <a:chOff x="438150" y="2164080"/>
            <a:chExt cx="7900705" cy="1276350"/>
          </a:xfrm>
        </p:grpSpPr>
        <p:sp>
          <p:nvSpPr>
            <p:cNvPr id="5" name="TextBox 5"/>
            <p:cNvSpPr txBox="1"/>
            <p:nvPr/>
          </p:nvSpPr>
          <p:spPr>
            <a:xfrm>
              <a:off x="438150" y="2164080"/>
              <a:ext cx="4189579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200 → 205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365748" y="2498408"/>
              <a:ext cx="197310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多5分钟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46532" y="3764280"/>
            <a:ext cx="6961670" cy="410718"/>
            <a:chOff x="446532" y="3764280"/>
            <a:chExt cx="6961670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446532" y="3764280"/>
              <a:ext cx="69616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作者＋20　查资料－40　沟通复核＋25　＝总人工＋5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" y="4638675"/>
            <a:ext cx="11277600" cy="1524000"/>
            <a:chOff x="457200" y="4638675"/>
            <a:chExt cx="11277600" cy="1524000"/>
          </a:xfrm>
        </p:grpSpPr>
        <p:sp>
          <p:nvSpPr>
            <p:cNvPr id="10" name="Rectangle 10"/>
            <p:cNvSpPr/>
            <p:nvPr/>
          </p:nvSpPr>
          <p:spPr>
            <a:xfrm>
              <a:off x="457200" y="4638675"/>
              <a:ext cx="11277600" cy="1524000"/>
            </a:xfrm>
            <a:prstGeom prst="roundRect">
              <a:avLst>
                <a:gd name="adj" fmla="val 7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30758" y="4827270"/>
              <a:ext cx="81015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先查原因：反馈不清、误报、版本衔接或学习成本？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2282" y="5412105"/>
              <a:ext cx="79369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同时核对质量、等待与任务可比性，再判断投入是否值得。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5330" y="5857875"/>
              <a:ext cx="76885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课堂数据非实测；同人重复熟悉题目变快，不能全部归因工具。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15" name="Rectangle 15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451866" y="6468428"/>
              <a:ext cx="9789078" cy="205359"/>
              <a:chOff x="451866" y="6468428"/>
              <a:chExt cx="9789078" cy="205359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4808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995291" y="6468428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0242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538716" y="6468428"/>
                <a:ext cx="702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5968746" cy="1038035"/>
            <a:chOff x="441198" y="428625"/>
            <a:chExt cx="5968746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175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第七节 / 7.3 试用决策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59687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验证结论，要能决定下一步动作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7200" y="1809750"/>
            <a:ext cx="2857500" cy="3619500"/>
            <a:chOff x="457200" y="1809750"/>
            <a:chExt cx="2857500" cy="3619500"/>
          </a:xfrm>
        </p:grpSpPr>
        <p:sp>
          <p:nvSpPr>
            <p:cNvPr id="5" name="Rectangle 5"/>
            <p:cNvSpPr/>
            <p:nvPr/>
          </p:nvSpPr>
          <p:spPr>
            <a:xfrm>
              <a:off x="457200" y="1809750"/>
              <a:ext cx="2857500" cy="3619500"/>
            </a:xfrm>
            <a:prstGeom prst="roundRect">
              <a:avLst>
                <a:gd name="adj" fmla="val 4000"/>
              </a:avLst>
            </a:prstGeom>
            <a:solidFill>
              <a:srgbClr val="102F30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0758" y="214122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回看真实证据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32282" y="2926080"/>
              <a:ext cx="2421636" cy="1515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zh-CN" sz="21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质量是否满足要求
流程与承接是否稳定
收益能否确认</a:t>
              </a:r>
              <a:br/>
              <a:r>
                <a:rPr lang="zh-CN" sz="21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/>
              </a:r>
              <a:br/>
              <a:r>
                <a:rPr lang="zh-CN" sz="21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314700" y="2002155"/>
            <a:ext cx="6713969" cy="813054"/>
            <a:chOff x="3314700" y="2002155"/>
            <a:chExt cx="6713969" cy="813054"/>
          </a:xfrm>
        </p:grpSpPr>
        <p:sp>
          <p:nvSpPr>
            <p:cNvPr id="9" name="Line 9"/>
            <p:cNvSpPr/>
            <p:nvPr/>
          </p:nvSpPr>
          <p:spPr>
            <a:xfrm>
              <a:off x="3314700" y="2305050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294632" y="2002155"/>
              <a:ext cx="57340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稳定且有收益 → 逐步扩大相似范围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96156" y="2463165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保留质量、时效和人工承接记录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314700" y="3316605"/>
            <a:ext cx="6713969" cy="813054"/>
            <a:chOff x="3314700" y="3316605"/>
            <a:chExt cx="6713969" cy="813054"/>
          </a:xfrm>
        </p:grpSpPr>
        <p:sp>
          <p:nvSpPr>
            <p:cNvPr id="13" name="Line 13"/>
            <p:cNvSpPr/>
            <p:nvPr/>
          </p:nvSpPr>
          <p:spPr>
            <a:xfrm>
              <a:off x="3314700" y="3619500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294632" y="3316605"/>
              <a:ext cx="57340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资料、判断或版本有问题 → 定位、修复、回归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96156" y="3777615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区分取资料、理解、比较、引用定位与用户处理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314700" y="4631055"/>
            <a:ext cx="7279373" cy="813054"/>
            <a:chOff x="3314700" y="4631055"/>
            <a:chExt cx="7279373" cy="813054"/>
          </a:xfrm>
        </p:grpSpPr>
        <p:sp>
          <p:nvSpPr>
            <p:cNvPr id="17" name="Line 17"/>
            <p:cNvSpPr/>
            <p:nvPr/>
          </p:nvSpPr>
          <p:spPr>
            <a:xfrm>
              <a:off x="3314700" y="4933950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294632" y="4631055"/>
              <a:ext cx="629944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关键错误不可控或无人承接 → 收缩或回人工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96156" y="5092065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保留记录并说明调整理由，恢复后再验证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21" name="Rectangle 21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451866" y="6468428"/>
              <a:ext cx="9789078" cy="205359"/>
              <a:chOff x="451866" y="6468428"/>
              <a:chExt cx="9789078" cy="205359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4808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995291" y="6468428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0242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538716" y="6468428"/>
                <a:ext cx="702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9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7664958" cy="1038035"/>
            <a:chOff x="441198" y="428625"/>
            <a:chExt cx="7664958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175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第七节 / 7.3 后续演进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766495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先证明辅助有效，再评估限定场景自动审核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" y="1866900"/>
            <a:ext cx="11277600" cy="2286000"/>
            <a:chOff x="457200" y="1866900"/>
            <a:chExt cx="11277600" cy="2286000"/>
          </a:xfrm>
        </p:grpSpPr>
        <p:sp>
          <p:nvSpPr>
            <p:cNvPr id="5" name="Rectangle 5"/>
            <p:cNvSpPr/>
            <p:nvPr/>
          </p:nvSpPr>
          <p:spPr>
            <a:xfrm>
              <a:off x="457200" y="3200400"/>
              <a:ext cx="3276600" cy="952500"/>
            </a:xfrm>
            <a:prstGeom prst="roundRect">
              <a:avLst>
                <a:gd name="adj" fmla="val 12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457700" y="2533650"/>
              <a:ext cx="3276600" cy="952500"/>
            </a:xfrm>
            <a:prstGeom prst="roundRect">
              <a:avLst>
                <a:gd name="adj" fmla="val 12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458200" y="1866900"/>
              <a:ext cx="3276600" cy="952500"/>
            </a:xfrm>
            <a:prstGeom prst="roundRect">
              <a:avLst>
                <a:gd name="adj" fmla="val 12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13232" y="2211705"/>
              <a:ext cx="10849356" cy="1744218"/>
              <a:chOff x="713232" y="2211705"/>
              <a:chExt cx="10849356" cy="1744218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713232" y="3545205"/>
                <a:ext cx="256565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边界明确的自动检查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4713732" y="2878455"/>
                <a:ext cx="313105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辅助审核，人工决定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714232" y="2211705"/>
                <a:ext cx="284835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限定场景自动决定</a:t>
                </a:r>
              </a:p>
            </p:txBody>
          </p:sp>
        </p:grpSp>
        <p:sp>
          <p:nvSpPr>
            <p:cNvPr id="12" name="Line 12"/>
            <p:cNvSpPr/>
            <p:nvPr/>
          </p:nvSpPr>
          <p:spPr>
            <a:xfrm>
              <a:off x="3752850" y="3009900"/>
              <a:ext cx="685800" cy="666750"/>
            </a:xfrm>
            <a:custGeom>
              <a:avLst/>
              <a:gdLst/>
              <a:ahLst/>
              <a:cxnLst/>
              <a:rect l="l" t="t" r="r" b="b"/>
              <a:pathLst>
                <a:path w="685800" h="666750">
                  <a:moveTo>
                    <a:pt x="0" y="666750"/>
                  </a:moveTo>
                  <a:lnTo>
                    <a:pt x="6858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lgDash"/>
            </a:ln>
          </p:spPr>
        </p:sp>
        <p:sp>
          <p:nvSpPr>
            <p:cNvPr id="13" name="Line 13"/>
            <p:cNvSpPr/>
            <p:nvPr/>
          </p:nvSpPr>
          <p:spPr>
            <a:xfrm>
              <a:off x="7753350" y="2343150"/>
              <a:ext cx="685800" cy="666750"/>
            </a:xfrm>
            <a:custGeom>
              <a:avLst/>
              <a:gdLst/>
              <a:ahLst/>
              <a:cxnLst/>
              <a:rect l="l" t="t" r="r" b="b"/>
              <a:pathLst>
                <a:path w="685800" h="666750">
                  <a:moveTo>
                    <a:pt x="0" y="666750"/>
                  </a:moveTo>
                  <a:lnTo>
                    <a:pt x="6858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lgDash"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445008" y="4789170"/>
            <a:ext cx="8433244" cy="1381125"/>
            <a:chOff x="445008" y="4789170"/>
            <a:chExt cx="8433244" cy="1381125"/>
          </a:xfrm>
        </p:grpSpPr>
        <p:sp>
          <p:nvSpPr>
            <p:cNvPr id="15" name="TextBox 15"/>
            <p:cNvSpPr txBox="1"/>
            <p:nvPr/>
          </p:nvSpPr>
          <p:spPr>
            <a:xfrm>
              <a:off x="445008" y="4789170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自动决定需要额外证据与明确授权：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6532" y="5393055"/>
              <a:ext cx="84317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完整覆盖 · 有效依据 · 质量证据 · 处置权限 · 异常承接 · 恢复人工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9580" y="5876925"/>
              <a:ext cx="7890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系统未发现问题，不能直接连接自动发布；此处是演进方向，尚未实施。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19" name="Rectangle 19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451866" y="6468428"/>
              <a:ext cx="9789078" cy="205359"/>
              <a:chOff x="451866" y="6468428"/>
              <a:chExt cx="9789078" cy="205359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4808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995291" y="6468428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0242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538716" y="6468428"/>
                <a:ext cx="702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80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5365531" cy="1038035"/>
            <a:chOff x="441198" y="428625"/>
            <a:chExt cx="5365531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第七节 / 全课收束与课后产物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536553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一页实施与验证安排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57200" y="1714500"/>
            <a:ext cx="11277600" cy="3524250"/>
            <a:chOff x="457200" y="1714500"/>
            <a:chExt cx="11277600" cy="3524250"/>
          </a:xfrm>
        </p:grpSpPr>
        <p:sp>
          <p:nvSpPr>
            <p:cNvPr id="5" name="Rectangle 5"/>
            <p:cNvSpPr/>
            <p:nvPr/>
          </p:nvSpPr>
          <p:spPr>
            <a:xfrm>
              <a:off x="457200" y="1714500"/>
              <a:ext cx="11277600" cy="352425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4756" y="1939290"/>
              <a:ext cx="66239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从R01温度对象核对开始，串起第一节到第七节。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713232" y="2440305"/>
              <a:ext cx="8502396" cy="2410968"/>
              <a:chOff x="713232" y="2440305"/>
              <a:chExt cx="8502396" cy="2410968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713232" y="2440305"/>
                <a:ext cx="806420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先做：有效资料 → 检查可用 → 正式审核闭环 → 自检与巡检。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13232" y="3107055"/>
                <a:ext cx="821969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谁做：业务确认依据，产品组织路径，审核与内容负责人承接。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13232" y="3773805"/>
                <a:ext cx="768309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依赖：正文版本、SKU与活动、有效资料、使用关联和维护人。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13232" y="4440555"/>
                <a:ext cx="850239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验什么：正常、问题、边界、失败；版本与处置；总人工投入。</a:t>
                </a:r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716280" y="4905375"/>
              <a:ext cx="69616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本课案例与方案为教学设计；课后写清最小路径、负责人、依赖和下一步证据。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5572125"/>
            <a:ext cx="11277600" cy="600075"/>
            <a:chOff x="457200" y="5572125"/>
            <a:chExt cx="11277600" cy="600075"/>
          </a:xfrm>
        </p:grpSpPr>
        <p:sp>
          <p:nvSpPr>
            <p:cNvPr id="14" name="Rectangle 14"/>
            <p:cNvSpPr/>
            <p:nvPr/>
          </p:nvSpPr>
          <p:spPr>
            <a:xfrm>
              <a:off x="457200" y="5572125"/>
              <a:ext cx="11277600" cy="600075"/>
            </a:xfrm>
            <a:prstGeom prst="roundRect">
              <a:avLst>
                <a:gd name="adj" fmla="val 1904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13232" y="5735955"/>
              <a:ext cx="935050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质量、流程、承接和收益稳定后再扩；有问题先定位、修复或缩范围。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51866" y="6468428"/>
            <a:ext cx="316279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全课回收：为什么做 → 具体怎样做 → 怎样证明有效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55940" y="6468428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58</a:t>
            </a:r>
          </a:p>
        </p:txBody>
      </p: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lesson1_classroom">
  <a:themeElements>
    <a:clrScheme name="lesson1_classroom">
      <a:dk1>
        <a:srgbClr val="17302F"/>
      </a:dk1>
      <a:lt1>
        <a:srgbClr val="F7F8F4"/>
      </a:lt1>
      <a:dk2>
        <a:srgbClr val="1F497D"/>
      </a:dk2>
      <a:lt2>
        <a:srgbClr val="E8F2EF"/>
      </a:lt2>
      <a:accent1>
        <a:srgbClr val="126B63"/>
      </a:accent1>
      <a:accent2>
        <a:srgbClr val="D85C3D"/>
      </a:accent2>
      <a:accent3>
        <a:srgbClr val="DBAB4A"/>
      </a:accent3>
      <a:accent4>
        <a:srgbClr val="126B63"/>
      </a:accent4>
      <a:accent5>
        <a:srgbClr val="617673"/>
      </a:accent5>
      <a:accent6>
        <a:srgbClr val="D3DFDA"/>
      </a:accent6>
      <a:hlink>
        <a:srgbClr val="D85C3D"/>
      </a:hlink>
      <a:folHlink>
        <a:srgbClr val="DBAB4A"/>
      </a:folHlink>
    </a:clrScheme>
    <a:fontScheme name="lesson1_classroo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class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esson1_classroom">
  <a:themeElements>
    <a:clrScheme name="lesson1_classroom">
      <a:dk1>
        <a:srgbClr val="17302F"/>
      </a:dk1>
      <a:lt1>
        <a:srgbClr val="F7F8F4"/>
      </a:lt1>
      <a:dk2>
        <a:srgbClr val="1F497D"/>
      </a:dk2>
      <a:lt2>
        <a:srgbClr val="E8F2EF"/>
      </a:lt2>
      <a:accent1>
        <a:srgbClr val="126B63"/>
      </a:accent1>
      <a:accent2>
        <a:srgbClr val="D85C3D"/>
      </a:accent2>
      <a:accent3>
        <a:srgbClr val="DBAB4A"/>
      </a:accent3>
      <a:accent4>
        <a:srgbClr val="126B63"/>
      </a:accent4>
      <a:accent5>
        <a:srgbClr val="617673"/>
      </a:accent5>
      <a:accent6>
        <a:srgbClr val="D3DFDA"/>
      </a:accent6>
      <a:hlink>
        <a:srgbClr val="D85C3D"/>
      </a:hlink>
      <a:folHlink>
        <a:srgbClr val="DBAB4A"/>
      </a:folHlink>
    </a:clrScheme>
    <a:fontScheme name="lesson1_classroo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class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2026-10-18T05:53:20Z</dcterms:created>
  <dcterms:modified xsi:type="dcterms:W3CDTF">2026-10-18T05:53:20Z</dcterms:modified>
  <cp:category/>
  <cp:contentStatus/>
</cp:coreProperties>
</file>