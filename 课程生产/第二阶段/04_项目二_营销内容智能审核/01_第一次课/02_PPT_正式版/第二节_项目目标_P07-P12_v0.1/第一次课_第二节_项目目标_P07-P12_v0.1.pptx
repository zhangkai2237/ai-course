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节已经把企业原来的审核方式、流程和痛点讲清楚了。现在进入第二节，项目目标。我们用大约十五分钟回答一个问题：第一版到底要让谁少做什么？接下来先明确三个具体目标，再限定首版范围、责任和验证方向，最后收成一份能够指导方案的项目定义。下一节才沿这份定义，把自检、正式审核和巡检的流程分别走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业务说“做个智能审核”，团队很容易马上开始列功能，比如上传文案、生成结果和导出报告。但功能做好以后，谁的哪项工作会改善，还没有说清楚。如果小林拿到工具结果之后，仍然得重新找出处、确认资料是否适用，再把含糊意见解释给小周，原来的工作可能没有少，反而多了一遍检查工具结果的工作。我们先把希望改变的工作说清楚。</a:t>
            </a:r>
          </a:p>
          <a:p>
            <a:pPr/>
            <a:endParaRPr lang="zh-CN" dirty="0"/>
          </a:p>
          <a:p>
            <a:pPr/>
            <a:r>
              <a:rPr lang="zh-CN" dirty="0"/>
              <a:t>第一个目标，让适用依据来到待核对的原句旁边。小林核对一千七百九十九元时，能直接看到本次活动的价格、用户资格以及用券条件，希望减少反复打开资料、定位段落和整理条件的劳动。这里仍然要判断依据是否正确、是否适用，看到引用不等于可以直接相信。</a:t>
            </a:r>
          </a:p>
          <a:p>
            <a:pPr/>
            <a:endParaRPr lang="zh-CN" dirty="0"/>
          </a:p>
          <a:p>
            <a:pPr/>
            <a:r>
              <a:rPr lang="zh-CN" dirty="0"/>
              <a:t>第二个目标，让意见具体，修改与复核接得上。上一节的“领券一千七百九十九”仍缺少新会员资格和两类券的领取使用条件。如果反馈能把这些条件说清楚，作者就更容易一次改到位。新版本提交后，审核员能把原来的意见与现在的修改对应起来，也能看到其他改动，希望减少重复解释与重新拼接信息。</a:t>
            </a:r>
          </a:p>
          <a:p>
            <a:pPr/>
            <a:endParaRPr lang="zh-CN" dirty="0"/>
          </a:p>
          <a:p>
            <a:pPr/>
            <a:r>
              <a:rPr lang="zh-CN" dirty="0"/>
              <a:t>第三个目标，条件变化后找到真正需要复查的在用内容。比如活动负责人确认赠品名额用完，要先按本次活动和使用状态找范围，再核对内容表达是否受影响，最后交明确的负责人处理。停用历史稿、其他活动和仅介绍功能的内容不能一律修改。这样希望减少范围定位和找维护人的劳动，并让后续处理有人承接。注意这三个都是期望改善，是否真正省力仍然要通过试用验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明确以后，首版要收敛到可以落地和验证的范围。我们先从P1和少量资料齐全的商品开始，处理绑定单个SKU和活动的营销文案文本，主要核对功能事实、价格与赠品条件，以及配送承诺是否有依据。这里先不把材料范围无限扩大。</a:t>
            </a:r>
          </a:p>
          <a:p>
            <a:pPr/>
            <a:endParaRPr lang="zh-CN" dirty="0"/>
          </a:p>
          <a:p>
            <a:pPr/>
            <a:r>
              <a:rPr lang="zh-CN" dirty="0"/>
              <a:t>三个环节都保留。作者提交前可以自检，正式审核时可以查看依据、确认问题、退回和复核，条件变化后由负责人选择范围、发起巡检并推动处理。实施时先做深正式审核，再复用能力接到自检和巡检，这是首版内部的建设顺序，三个环节仍然都属于首版。系统主要辅助定位问题、展示依据，并衔接修改复核和后续处理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保留给人的责任。正式审核决定由审核员作出，修改、暂停等内容处置由内容负责人确认。缺资料、执行失败或者存在争议时，要交给对应责任人确认。系统没有发现已覆盖检查项的问题，并不代表整篇审核已经完成。</a:t>
            </a:r>
          </a:p>
          <a:p>
            <a:pPr/>
            <a:endParaRPr lang="zh-CN" dirty="0"/>
          </a:p>
          <a:p>
            <a:pPr/>
            <a:r>
              <a:rPr lang="zh-CN" dirty="0"/>
              <a:t>这些能力还有前提。商品事实要由产品负责人确认，活动权益要由活动负责人确认，配送资料要由履约负责人确认。文案还要关联商品、活动、版本和使用状态，后面才能定位适用依据、归属结论以及找回在用内容。如果这些资料或关联不齐，应该先补齐，或者缩小试用范围。接下来判断这套辅助方式是否值得做，不能只看它生成结果有多快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从三个视角判断。先看问题和依据是否可靠：真实问题有没有漏掉，正常表达有没有被误报，引用的资料是不是适用。比如一千七百九十九元引用了另一场活动，或者把“最后再说一下”这样的正常表达也提示成问题，都可能增加人工核实和纠错的工作。问题质量和效率不能分开判断。</a:t>
            </a:r>
          </a:p>
          <a:p>
            <a:pPr/>
            <a:endParaRPr lang="zh-CN" dirty="0"/>
          </a:p>
          <a:p>
            <a:pPr/>
            <a:r>
              <a:rPr lang="zh-CN" dirty="0"/>
              <a:t>再看双方的总投入。作者自检、读反馈和修改的时间，要和审核员确认、纠错和复核的时间加起来看。某一个角色变快，不代表整个工作变少。等待业务回复的时间另行记录，便于分清人工投入与流转等待。我们也需要平衡任务难度和人员熟悉程度，避免一组全是熟悉的简单稿，另一组全是陌生复杂稿。</a:t>
            </a:r>
          </a:p>
          <a:p>
            <a:pPr/>
            <a:endParaRPr lang="zh-CN" dirty="0"/>
          </a:p>
          <a:p>
            <a:pPr/>
            <a:r>
              <a:rPr lang="zh-CN" dirty="0"/>
              <a:t>最后看问题有没有真正处理完成。作者是否按依据改对，审核员是否确认解决，巡检发现的在用内容是否已经实际更新，都需要核对。点击“已处理”不能代替处理结果。</a:t>
            </a:r>
          </a:p>
          <a:p>
            <a:pPr/>
            <a:endParaRPr lang="zh-CN" dirty="0"/>
          </a:p>
          <a:p>
            <a:pPr/>
            <a:r>
              <a:rPr lang="zh-CN" dirty="0"/>
              <a:t>所以，工具出结果快只是局部信息。现在没有实际业务基线，我们先记录原流程，再用可比任务做小范围对照，不直接承诺固定的节省比例，也不套用一个通用准确率门槛。具体样本、统计口径和接受条件会在第七节落地验证里展开。下面先用一个情境，看看大家会怎样判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大家先看这个教学情境，花大约一分钟做判断。接入自检以后，小周提交前多花了时间，正式退回减少，小林复核也更快。现在能不能直接宣布项目提效？请给出判断，并说出你最想补看的证据。可以从双方总投入、等待变化、审核质量以及任务是否可比这几个方向考虑。</a:t>
            </a:r>
          </a:p>
          <a:p>
            <a:pPr/>
            <a:endParaRPr lang="zh-CN" dirty="0"/>
          </a:p>
          <a:p>
            <a:pPr/>
            <a:r>
              <a:rPr lang="zh-CN" dirty="0"/>
              <a:t>如果有同学说小周变慢了，所以工具没价值，可以追问：前面多做一点，是否可能换来后面少改几轮？如果有人说审核员变快了，所以项目成功，可以继续追问：小周增加的投入有没有抵消这部分节省，纠正误报的时间有没有算进去？</a:t>
            </a:r>
          </a:p>
          <a:p>
            <a:pPr/>
            <a:endParaRPr lang="zh-CN" dirty="0"/>
          </a:p>
          <a:p>
            <a:pPr/>
            <a:r>
              <a:rPr lang="zh-CN" dirty="0"/>
              <a:t>参考判断是，目前还不能直接宣布成功，也不能仅凭作者提交前变慢就认定无效。需要看两个人的总投入、等待时间及审核质量，确认任务具备可比性。工作前移可能有效，但要用完整证据支持；如果误报和漏检都没有核对，暂时无法完整判断业务价值。本页没有量化实测数据，不能从这些方向性的描述推算节省比例。带着这些判断条件，我们把首版定义收起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这就是第二节要形成的产物，一份能够指导下一步方案的首版项目定义。它先说清服务对象：内容作者、审核员以及相关业务负责人；再限定场景：单个SKU营销文案的自检、正式审核与历史内容巡检。</a:t>
            </a:r>
          </a:p>
          <a:p>
            <a:pPr/>
            <a:endParaRPr lang="zh-CN" dirty="0"/>
          </a:p>
          <a:p>
            <a:pPr/>
            <a:r>
              <a:rPr lang="zh-CN" dirty="0"/>
              <a:t>辅助方式要依赖经过确认且适用的商品、活动和配送资料，用这些资料定位问题、展示依据，衔接修改复核及后续处理。希望改善的是重复查找、沟通和复核这些具体劳动。正式审核和内容处置决定仍由人承担。试用先放在资料齐全的少量商品中，用问题质量、双方总人工投入以及处理效果来验证价值。</a:t>
            </a:r>
          </a:p>
          <a:p>
            <a:pPr/>
            <a:endParaRPr lang="zh-CN" dirty="0"/>
          </a:p>
          <a:p>
            <a:pPr/>
            <a:r>
              <a:rPr lang="zh-CN" dirty="0"/>
              <a:t>请大家对照这段话，看看一个实施团队是否已经能知道服务谁、覆盖什么、保留哪些责任，以及怎样判断值不值得继续。它现在是一份项目定义，后面还需要把角色、材料、动作和状态一步步展开。</a:t>
            </a:r>
          </a:p>
          <a:p>
            <a:pPr/>
            <a:endParaRPr lang="zh-CN" dirty="0"/>
          </a:p>
          <a:p>
            <a:pPr/>
            <a:r>
              <a:rPr lang="zh-CN" dirty="0"/>
              <a:t>后续可以评估限定场景自动审核，但要另行明确检查覆盖、资料有效性、质量证据、处置权限和人工兜底，不能从首版辅助提效直接跳到自动批准。下一节我们按这份定义，把三个环节分别走一遍：谁发起，带什么材料，看到什么结果，以及下一步由谁接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1_section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section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581025"/>
            <a:ext cx="10835640" cy="476250"/>
            <a:chOff x="678180" y="581025"/>
            <a:chExt cx="10835640" cy="476250"/>
          </a:xfrm>
        </p:grpSpPr>
        <p:sp>
          <p:nvSpPr>
            <p:cNvPr id="2" name="TextBox 2"/>
            <p:cNvSpPr txBox="1"/>
            <p:nvPr/>
          </p:nvSpPr>
          <p:spPr>
            <a:xfrm>
              <a:off x="678180" y="581025"/>
              <a:ext cx="3494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AI产品项目实战 / 第一次课 · 第二节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670667" y="581025"/>
              <a:ext cx="843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约15分钟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47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6750" y="1872615"/>
            <a:ext cx="4146804" cy="933450"/>
            <a:chOff x="666750" y="1872615"/>
            <a:chExt cx="4146804" cy="933450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1872615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90750" y="18726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项目目标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97608" y="3274695"/>
            <a:ext cx="4547616" cy="959739"/>
            <a:chOff x="2197608" y="3274695"/>
            <a:chExt cx="4547616" cy="959739"/>
          </a:xfrm>
        </p:grpSpPr>
        <p:sp>
          <p:nvSpPr>
            <p:cNvPr id="9" name="TextBox 9"/>
            <p:cNvSpPr txBox="1"/>
            <p:nvPr/>
          </p:nvSpPr>
          <p:spPr>
            <a:xfrm>
              <a:off x="2197608" y="3274695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第一版，到底要让谁少做什么？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00656" y="3882390"/>
              <a:ext cx="34834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三个目标 · 首版范围 · 验证方向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180" y="5105400"/>
            <a:ext cx="10828020" cy="872109"/>
            <a:chOff x="678180" y="5105400"/>
            <a:chExt cx="10828020" cy="872109"/>
          </a:xfrm>
        </p:grpSpPr>
        <p:sp>
          <p:nvSpPr>
            <p:cNvPr id="12" name="TextBox 12"/>
            <p:cNvSpPr txBox="1"/>
            <p:nvPr/>
          </p:nvSpPr>
          <p:spPr>
            <a:xfrm>
              <a:off x="678180" y="51054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承接与下一步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695450" y="5743575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" y="5495925"/>
              <a:ext cx="253365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838700" y="5495925"/>
              <a:ext cx="25336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972550" y="5495925"/>
              <a:ext cx="253365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89228" y="562546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业务背景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33647" y="5625465"/>
              <a:ext cx="1343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项目目标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75978" y="562546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业务方案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0466" y="6477952"/>
            <a:ext cx="10831068" cy="205359"/>
            <a:chOff x="680466" y="6477952"/>
            <a:chExt cx="108310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680466" y="6477952"/>
              <a:ext cx="3184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电商营销内容审核提效项目 / 净小伴P1教学案例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45380" y="6477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6896542" cy="1357884"/>
            <a:chOff x="515112" y="457200"/>
            <a:chExt cx="6896542" cy="1357884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2.1 工作目标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89654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把“智能审核”变成三个具体目标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63040"/>
              <a:ext cx="65850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业务说“做个智能审核”，还要问：谁的工作，具体怎样改善？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2925" y="2076450"/>
            <a:ext cx="7837246" cy="1150620"/>
            <a:chOff x="542925" y="2076450"/>
            <a:chExt cx="7837246" cy="1150620"/>
          </a:xfrm>
        </p:grpSpPr>
        <p:sp>
          <p:nvSpPr>
            <p:cNvPr id="6" name="Ellipse 6"/>
            <p:cNvSpPr/>
            <p:nvPr/>
          </p:nvSpPr>
          <p:spPr>
            <a:xfrm>
              <a:off x="542925" y="20764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05269" y="21964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4732" y="215455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让适用依据来到待核对的原句旁边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6256" y="2577465"/>
              <a:ext cx="70939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小林核对1799元时，直接看到本次活动的价格、资格和用券条件。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7780" y="29337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减少查找与定位；依据是否正确、适用，仍需确认。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2925" y="3438525"/>
            <a:ext cx="8031099" cy="1150620"/>
            <a:chOff x="542925" y="3438525"/>
            <a:chExt cx="8031099" cy="1150620"/>
          </a:xfrm>
        </p:grpSpPr>
        <p:sp>
          <p:nvSpPr>
            <p:cNvPr id="12" name="Ellipse 12"/>
            <p:cNvSpPr/>
            <p:nvPr/>
          </p:nvSpPr>
          <p:spPr>
            <a:xfrm>
              <a:off x="542925" y="3438525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5269" y="35585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4732" y="3516630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让意见更具体，让修改与复核接得上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6256" y="393954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说清新会员与两类券条件；新稿能对照旧意见，也能看见其他改动。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7780" y="42957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减少作者与审核员反复解释，以及复核时重新拼接信息。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42925" y="4800600"/>
            <a:ext cx="9000363" cy="1150620"/>
            <a:chOff x="542925" y="4800600"/>
            <a:chExt cx="9000363" cy="1150620"/>
          </a:xfrm>
        </p:grpSpPr>
        <p:sp>
          <p:nvSpPr>
            <p:cNvPr id="18" name="Ellipse 18"/>
            <p:cNvSpPr/>
            <p:nvPr/>
          </p:nvSpPr>
          <p:spPr>
            <a:xfrm>
              <a:off x="542925" y="480060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5269" y="49206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4732" y="487870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条件变化后，找对需要复查的在用内容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86256" y="5301615"/>
              <a:ext cx="8257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赠品条件变了，按本次活动、使用状态和内容表达确认范围，交负责人处理。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7780" y="565785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减少范围定位和找维护人的劳动，让后续处理有人承接。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5780" y="6096000"/>
            <a:ext cx="5063490" cy="293370"/>
            <a:chOff x="525780" y="6096000"/>
            <a:chExt cx="5063490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525780" y="609600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这些是首版期望改善，是否真正省力，要通过试用验证。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28066" y="6497002"/>
              <a:ext cx="3848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 / 对应完整版讲义第二节：业务诉求与三个改进目标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6336792" cy="1058418"/>
            <a:chOff x="515112" y="457200"/>
            <a:chExt cx="6336792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7433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2.2 首版范围与责任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第一版做到哪里，谁来负责？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714500"/>
            <a:ext cx="7086600" cy="3409950"/>
            <a:chOff x="533400" y="1714500"/>
            <a:chExt cx="7086600" cy="3409950"/>
          </a:xfrm>
        </p:grpSpPr>
        <p:sp>
          <p:nvSpPr>
            <p:cNvPr id="5" name="Rectangle 5"/>
            <p:cNvSpPr/>
            <p:nvPr/>
          </p:nvSpPr>
          <p:spPr>
            <a:xfrm>
              <a:off x="533400" y="1714500"/>
              <a:ext cx="7086600" cy="3409950"/>
            </a:xfrm>
            <a:prstGeom prst="roundRect">
              <a:avLst>
                <a:gd name="adj" fmla="val 2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2856" y="1863090"/>
              <a:ext cx="4690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首版覆盖 / 先选P1及少量资料齐全的商品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1332" y="2297430"/>
              <a:ext cx="44219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每份文案文本，绑定单SKU与活动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272986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核对功能事实、价格赠品条件、配送依据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619250" y="36099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62000" y="3314700"/>
              <a:ext cx="6629400" cy="590550"/>
              <a:chOff x="762000" y="3314700"/>
              <a:chExt cx="6629400" cy="5905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3314700"/>
                <a:ext cx="1924050" cy="59055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000375" y="3314700"/>
                <a:ext cx="1924050" cy="59055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238750" y="3314700"/>
                <a:ext cx="2152650" cy="590550"/>
              </a:xfrm>
              <a:prstGeom prst="roundRect">
                <a:avLst>
                  <a:gd name="adj" fmla="val 9677"/>
                </a:avLst>
              </a:pr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147953" y="3478530"/>
              <a:ext cx="6025896" cy="410718"/>
              <a:chOff x="1147953" y="3478530"/>
              <a:chExt cx="6025896" cy="41071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147953" y="34785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事前自检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86328" y="34785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正式审核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456301" y="34785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人工发起巡检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54380" y="411480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负责人选范围发起巡检；先做深正式审核，再接自检与巡检。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856" y="4539615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系统辅助定位问题、展示依据，衔接修改复核与处理。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009382" y="1863090"/>
            <a:ext cx="3725418" cy="3097530"/>
            <a:chOff x="8009382" y="1863090"/>
            <a:chExt cx="3725418" cy="3097530"/>
          </a:xfrm>
        </p:grpSpPr>
        <p:sp>
          <p:nvSpPr>
            <p:cNvPr id="21" name="TextBox 21"/>
            <p:cNvSpPr txBox="1"/>
            <p:nvPr/>
          </p:nvSpPr>
          <p:spPr>
            <a:xfrm>
              <a:off x="8010906" y="18630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人工保留的责任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020050" y="22288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09382" y="24212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正式审核决定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10906" y="28346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由审核员作出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09382" y="33356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修改、暂停等内容处置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10906" y="37490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由内容负责人确认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12430" y="4352925"/>
              <a:ext cx="2491740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缺资料、执行失败或有争议，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交对应责任人确认。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4256" y="5362575"/>
            <a:ext cx="11210544" cy="1055370"/>
            <a:chOff x="524256" y="5362575"/>
            <a:chExt cx="11210544" cy="1055370"/>
          </a:xfrm>
        </p:grpSpPr>
        <p:sp>
          <p:nvSpPr>
            <p:cNvPr id="29" name="Line 29"/>
            <p:cNvSpPr/>
            <p:nvPr/>
          </p:nvSpPr>
          <p:spPr>
            <a:xfrm>
              <a:off x="533400" y="5362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4256" y="5501640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前提：业务负责人确认适用资料；文案关联商品、活动、版本和使用状态。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5780" y="58483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资料或关联不齐，先补齐或缩小试用范围。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5780" y="61245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系统未发现已覆盖项的问题，仍不代表整篇审核完成。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528066" y="6497002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 / 对应完整版讲义第二节：首版范围与责任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5852160" cy="1058418"/>
            <a:chOff x="515112" y="457200"/>
            <a:chExt cx="5852160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2.3 提效判断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怎样证明审核真的更省力？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2732" y="1885950"/>
            <a:ext cx="10623804" cy="2343150"/>
            <a:chOff x="522732" y="1885950"/>
            <a:chExt cx="10623804" cy="2343150"/>
          </a:xfrm>
        </p:grpSpPr>
        <p:sp>
          <p:nvSpPr>
            <p:cNvPr id="5" name="Line 5"/>
            <p:cNvSpPr/>
            <p:nvPr/>
          </p:nvSpPr>
          <p:spPr>
            <a:xfrm>
              <a:off x="704850" y="2076450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522732" y="1885950"/>
              <a:ext cx="2565654" cy="2148459"/>
              <a:chOff x="522732" y="1885950"/>
              <a:chExt cx="2565654" cy="2148459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533400" y="18859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60749" y="19812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22732" y="2430780"/>
                <a:ext cx="25656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问题和依据可靠吗？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24256" y="2939415"/>
                <a:ext cx="2304288" cy="10949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真实问题有没有漏？</a:t>
                </a:r>
                <a:br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正常表达有没有误报？</a:t>
                </a:r>
                <a:br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引用资料是否适用？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057650" y="1885950"/>
              <a:ext cx="4133850" cy="2343150"/>
              <a:chOff x="4057650" y="1885950"/>
              <a:chExt cx="4133850" cy="23431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057650" y="1905000"/>
                <a:ext cx="4133850" cy="2324100"/>
              </a:xfrm>
              <a:prstGeom prst="roundRect">
                <a:avLst>
                  <a:gd name="adj" fmla="val 327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133850" y="18859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261199" y="19812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275582" y="2430780"/>
                <a:ext cx="28483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双方总投入减少了吗？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277106" y="293941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作者：自检、读反馈、修改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77106" y="331089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审核员：确认、纠错、复核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4286250" y="3705225"/>
                <a:ext cx="3676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76650" h="9525">
                    <a:moveTo>
                      <a:pt x="0" y="0"/>
                    </a:moveTo>
                    <a:lnTo>
                      <a:pt x="367665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277106" y="38442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双方加起来算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580882" y="1885950"/>
              <a:ext cx="2565654" cy="2148459"/>
              <a:chOff x="8580882" y="1885950"/>
              <a:chExt cx="2565654" cy="2148459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8591550" y="188595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718899" y="198120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80882" y="2430780"/>
                <a:ext cx="25656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问题处理完成了吗？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82406" y="2939415"/>
                <a:ext cx="2532888" cy="10949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925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文案是否真正改对？</a:t>
                </a:r>
                <a:br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复核是否确认解决？</a:t>
                </a:r>
                <a:br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巡检内容是否实际更新？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522732" y="4659630"/>
            <a:ext cx="6278118" cy="1644015"/>
            <a:chOff x="522732" y="4659630"/>
            <a:chExt cx="6278118" cy="1644015"/>
          </a:xfrm>
        </p:grpSpPr>
        <p:sp>
          <p:nvSpPr>
            <p:cNvPr id="26" name="TextBox 26"/>
            <p:cNvSpPr txBox="1"/>
            <p:nvPr/>
          </p:nvSpPr>
          <p:spPr>
            <a:xfrm>
              <a:off x="522732" y="465963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工具出结果快，只是一个局部。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4256" y="51396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先记录原有流程，再用可比任务做小范围对照。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780" y="556260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等待业务回复时间另记；同时平衡任务难度与人员熟悉程度。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780" y="601027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没有业务基线，先收集证据，不承诺固定节省比例或通用准确率门槛。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528066" y="6497002"/>
              <a:ext cx="4272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对应完整版讲义第二节：怎样判断提效 / 具体验证设计在第七节展开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6411910" cy="1058418"/>
            <a:chOff x="515112" y="457200"/>
            <a:chExt cx="6411910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690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课堂讨论 · 约1分钟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4119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这就能宣布“项目提效”了吗？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1208" y="1910715"/>
            <a:ext cx="3901440" cy="2195322"/>
            <a:chOff x="521208" y="1910715"/>
            <a:chExt cx="3901440" cy="2195322"/>
          </a:xfrm>
        </p:grpSpPr>
        <p:sp>
          <p:nvSpPr>
            <p:cNvPr id="5" name="TextBox 5"/>
            <p:cNvSpPr txBox="1"/>
            <p:nvPr/>
          </p:nvSpPr>
          <p:spPr>
            <a:xfrm>
              <a:off x="524256" y="191071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接入自检后，出现了这些变化：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208" y="2455545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小周提交前，多花了时间。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1208" y="304609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正式退回减少了。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1208" y="363664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小林复核更快了。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96250" y="1924050"/>
            <a:ext cx="3638550" cy="2190750"/>
            <a:chOff x="8096250" y="1924050"/>
            <a:chExt cx="3638550" cy="2190750"/>
          </a:xfrm>
        </p:grpSpPr>
        <p:sp>
          <p:nvSpPr>
            <p:cNvPr id="10" name="Rectangle 10"/>
            <p:cNvSpPr/>
            <p:nvPr/>
          </p:nvSpPr>
          <p:spPr>
            <a:xfrm>
              <a:off x="8096250" y="1924050"/>
              <a:ext cx="3638550" cy="2190750"/>
            </a:xfrm>
            <a:prstGeom prst="roundRect">
              <a:avLst>
                <a:gd name="adj" fmla="val 3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24850" y="2162175"/>
              <a:ext cx="57150" cy="276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42782" y="21736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还缺哪些证据？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5706" y="27584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两个人的总投入是多少？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5706" y="3158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等待时间是否变化？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5706" y="35585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质量和任务可比性呢？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1208" y="4686300"/>
            <a:ext cx="11213592" cy="1234059"/>
            <a:chOff x="521208" y="4686300"/>
            <a:chExt cx="11213592" cy="1234059"/>
          </a:xfrm>
        </p:grpSpPr>
        <p:sp>
          <p:nvSpPr>
            <p:cNvPr id="17" name="Line 17"/>
            <p:cNvSpPr/>
            <p:nvPr/>
          </p:nvSpPr>
          <p:spPr>
            <a:xfrm>
              <a:off x="533400" y="46863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1208" y="496062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工作前移以后，总工作量发生了什么？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4256" y="556831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请给出判断，并说出你最想补看的证据。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528066" y="6497002"/>
              <a:ext cx="43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教学讨论情境 / 本页没有量化实测数据 · 教师参考答案见PPT备注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7661910" cy="1393698"/>
            <a:chOff x="515112" y="457200"/>
            <a:chExt cx="7661910" cy="139369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27241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第二节 · 项目目标 / 本节产物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把目标收成一份首版项目定义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732" y="1440180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在资料齐全的小范围中辅助审核，用实际工作效果验证价值。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2019300"/>
            <a:ext cx="11201400" cy="2743200"/>
            <a:chOff x="533400" y="2019300"/>
            <a:chExt cx="11201400" cy="2743200"/>
          </a:xfrm>
        </p:grpSpPr>
        <p:sp>
          <p:nvSpPr>
            <p:cNvPr id="6" name="Rectangle 6"/>
            <p:cNvSpPr/>
            <p:nvPr/>
          </p:nvSpPr>
          <p:spPr>
            <a:xfrm>
              <a:off x="533400" y="2019300"/>
              <a:ext cx="11201400" cy="2743200"/>
            </a:xfrm>
            <a:prstGeom prst="roundRect">
              <a:avLst>
                <a:gd name="adj" fmla="val 2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2019300"/>
              <a:ext cx="57150" cy="2743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1332" y="2221230"/>
              <a:ext cx="8555736" cy="2410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面向内容作者、审核员及相关业务负责人，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在单SKU文案的自检、正式审核与历史内容巡检中，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依据已确认且适用的商品、活动和配送资料，辅助定位问题、展示依据，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衔接修改复核及后续处理，减少重复查找、沟通和复核。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由人作正式审核与内容处置决定；先在资料齐全的少量商品中试用，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用问题质量、总人工投入和处理效果验证价值。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5780" y="5010150"/>
            <a:ext cx="6111240" cy="579120"/>
            <a:chOff x="525780" y="5010150"/>
            <a:chExt cx="6111240" cy="57912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5010150"/>
              <a:ext cx="611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后续另设检查覆盖、资料有效性、质量证据、处置权限与人工兜底条件，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再评估限定场景自动审核。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2732" y="5705475"/>
            <a:ext cx="6982166" cy="688848"/>
            <a:chOff x="522732" y="5705475"/>
            <a:chExt cx="6982166" cy="688848"/>
          </a:xfrm>
        </p:grpSpPr>
        <p:sp>
          <p:nvSpPr>
            <p:cNvPr id="12" name="TextBox 12"/>
            <p:cNvSpPr txBox="1"/>
            <p:nvPr/>
          </p:nvSpPr>
          <p:spPr>
            <a:xfrm>
              <a:off x="525780" y="5705475"/>
              <a:ext cx="4922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下一节 · 业务方案 / 按这份定义，把三个环节分别走通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732" y="5983605"/>
              <a:ext cx="69821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谁发起 → 带什么材料 → 看到什么结果 → 下一步由谁接手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528066" y="6497002"/>
              <a:ext cx="314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 / 对应完整版讲义第二节：首版项目定义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sson1_section2">
  <a:themeElements>
    <a:clrScheme name="lesson1_section2">
      <a:dk1>
        <a:srgbClr val="172C4D"/>
      </a:dk1>
      <a:lt1>
        <a:srgbClr val="F7F9FC"/>
      </a:lt1>
      <a:dk2>
        <a:srgbClr val="1F497D"/>
      </a:dk2>
      <a:lt2>
        <a:srgbClr val="EAF0FB"/>
      </a:lt2>
      <a:accent1>
        <a:srgbClr val="2457D6"/>
      </a:accent1>
      <a:accent2>
        <a:srgbClr val="EAA45B"/>
      </a:accent2>
      <a:accent3>
        <a:srgbClr val="D6E2FA"/>
      </a:accent3>
      <a:accent4>
        <a:srgbClr val="2457D6"/>
      </a:accent4>
      <a:accent5>
        <a:srgbClr val="61718A"/>
      </a:accent5>
      <a:accent6>
        <a:srgbClr val="D8E0EC"/>
      </a:accent6>
      <a:hlink>
        <a:srgbClr val="EAA45B"/>
      </a:hlink>
      <a:folHlink>
        <a:srgbClr val="D6E2FA"/>
      </a:folHlink>
    </a:clrScheme>
    <a:fontScheme name="lesson1_section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section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section2">
  <a:themeElements>
    <a:clrScheme name="lesson1_section2">
      <a:dk1>
        <a:srgbClr val="172C4D"/>
      </a:dk1>
      <a:lt1>
        <a:srgbClr val="F7F9FC"/>
      </a:lt1>
      <a:dk2>
        <a:srgbClr val="1F497D"/>
      </a:dk2>
      <a:lt2>
        <a:srgbClr val="EAF0FB"/>
      </a:lt2>
      <a:accent1>
        <a:srgbClr val="2457D6"/>
      </a:accent1>
      <a:accent2>
        <a:srgbClr val="EAA45B"/>
      </a:accent2>
      <a:accent3>
        <a:srgbClr val="D6E2FA"/>
      </a:accent3>
      <a:accent4>
        <a:srgbClr val="2457D6"/>
      </a:accent4>
      <a:accent5>
        <a:srgbClr val="61718A"/>
      </a:accent5>
      <a:accent6>
        <a:srgbClr val="D8E0EC"/>
      </a:accent6>
      <a:hlink>
        <a:srgbClr val="EAA45B"/>
      </a:hlink>
      <a:folHlink>
        <a:srgbClr val="D6E2FA"/>
      </a:folHlink>
    </a:clrScheme>
    <a:fontScheme name="lesson1_section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section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2026-10-18T10:07:38Z</dcterms:created>
  <dcterms:modified xsi:type="dcterms:W3CDTF">2026-10-18T10:07:38Z</dcterms:modified>
  <cp:category/>
  <cp:contentStatus/>
</cp:coreProperties>
</file>