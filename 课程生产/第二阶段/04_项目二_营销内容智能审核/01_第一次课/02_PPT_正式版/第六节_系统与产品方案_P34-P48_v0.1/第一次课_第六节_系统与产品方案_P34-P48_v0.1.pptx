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77"/>
  </p:notesMasterIdLst>
  <p:sldIdLst>
    <p:sldId id="256" r:id="rId78"/>
    <p:sldId id="257" r:id="rId79"/>
    <p:sldId id="258" r:id="rId80"/>
    <p:sldId id="259" r:id="rId81"/>
    <p:sldId id="260" r:id="rId82"/>
    <p:sldId id="261" r:id="rId83"/>
    <p:sldId id="262" r:id="rId84"/>
    <p:sldId id="263" r:id="rId85"/>
    <p:sldId id="264" r:id="rId86"/>
    <p:sldId id="265" r:id="rId87"/>
    <p:sldId id="266" r:id="rId88"/>
    <p:sldId id="267" r:id="rId89"/>
    <p:sldId id="268" r:id="rId90"/>
    <p:sldId id="269" r:id="rId91"/>
    <p:sldId id="270" r:id="rId9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7" Type="http://schemas.openxmlformats.org/officeDocument/2006/relationships/notesMaster" Target="notesMasters/notesMaster1.xml" />
<Relationship Id="rId78" Type="http://schemas.openxmlformats.org/officeDocument/2006/relationships/slide" Target="slides/slide71.xml" /><Relationship Id="rId79" Type="http://schemas.openxmlformats.org/officeDocument/2006/relationships/slide" Target="slides/slide72.xml" /><Relationship Id="rId80" Type="http://schemas.openxmlformats.org/officeDocument/2006/relationships/slide" Target="slides/slide73.xml" /><Relationship Id="rId81" Type="http://schemas.openxmlformats.org/officeDocument/2006/relationships/slide" Target="slides/slide74.xml" /><Relationship Id="rId82" Type="http://schemas.openxmlformats.org/officeDocument/2006/relationships/slide" Target="slides/slide75.xml" /><Relationship Id="rId83" Type="http://schemas.openxmlformats.org/officeDocument/2006/relationships/slide" Target="slides/slide76.xml" /><Relationship Id="rId84" Type="http://schemas.openxmlformats.org/officeDocument/2006/relationships/slide" Target="slides/slide77.xml" /><Relationship Id="rId85" Type="http://schemas.openxmlformats.org/officeDocument/2006/relationships/slide" Target="slides/slide78.xml" /><Relationship Id="rId86" Type="http://schemas.openxmlformats.org/officeDocument/2006/relationships/slide" Target="slides/slide79.xml" /><Relationship Id="rId87" Type="http://schemas.openxmlformats.org/officeDocument/2006/relationships/slide" Target="slides/slide80.xml" /><Relationship Id="rId88" Type="http://schemas.openxmlformats.org/officeDocument/2006/relationships/slide" Target="slides/slide81.xml" /><Relationship Id="rId89" Type="http://schemas.openxmlformats.org/officeDocument/2006/relationships/slide" Target="slides/slide82.xml" /><Relationship Id="rId90" Type="http://schemas.openxmlformats.org/officeDocument/2006/relationships/slide" Target="slides/slide83.xml" /><Relationship Id="rId91" Type="http://schemas.openxmlformats.org/officeDocument/2006/relationships/slide" Target="slides/slide84.xml" /><Relationship Id="rId92" Type="http://schemas.openxmlformats.org/officeDocument/2006/relationships/slide" Target="slides/slide85.xml" 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_rels/notesSlide7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6.xml" /></Relationships>
</file>

<file path=ppt/notesSlides/_rels/notesSlide7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7.xml" /></Relationships>
</file>

<file path=ppt/notesSlides/_rels/notesSlide7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8.xml" /></Relationships>
</file>

<file path=ppt/notesSlides/_rels/notesSlide7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9.xml" /></Relationships>
</file>

<file path=ppt/notesSlides/_rels/notesSlide8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0.xml" /></Relationships>
</file>

<file path=ppt/notesSlides/_rels/notesSlide8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1.xml" /></Relationships>
</file>

<file path=ppt/notesSlides/_rels/notesSlide8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2.xml" /></Relationships>
</file>

<file path=ppt/notesSlides/_rels/notesSlide8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3.xml" /></Relationships>
</file>

<file path=ppt/notesSlides/_rels/notesSlide8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4.xml" /></Relationships>
</file>

<file path=ppt/notesSlides/_rels/notesSlide8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5.xml" /></Relationship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前面已经明确三个业务环节，以及每条审核点怎样执行。这一节把它们接到用户能完成的任务上：从哪里进入、看到什么、执行哪些操作，之后状态怎样变化、下一步交给谁。页面介绍预留截图区域，讲解围绕真实任务展开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用三层职责看整个系统。业务应用层让人提交、修改、确认和跟踪，审核能力层组织适用检查并返回可核对结果，模型与资料层提供语言能力和有效依据。亚慧参考课中的审核规则引擎，可以在这里理解为组织审核点和执行结果的模块；这并不要求首版建设三个独立系统或复杂拖拽画布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小周保存初稿并选择商品和活动后发起检查，系统保留发起时正文、上下文和依据版本。检查完成后展示问题位置、依据和各项执行状态，作者可以修改、补资料或说明异议。保存修改稿形成新版本，再检查时建立新的关联记录；旧记录保留，缺资料的检查不能被其他完成项掩盖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正式提交需要明确本次审的是哪个正文版本，由谁负责。小林查看原句、依据、作者说明和未完成项，确认问题后可以请求补资料或退回修改；小周修改为新版本重新提交，再逐条复核。通过结论只对应实际提交且确认过的版本，后续使用还要登记位置与维护人；既有检查能否复用取决于正文、业务上下文和各项依据是否仍有效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活动负责人确认赠品名额已用完后，先登记变化事件、依据、生效条件和责任人，再核对本活动仍在使用的内容并建立批次。使用状态不明的内容单列待核，不能悄悄排除。发现问题后交给内容负责人，经过修改与相应复核，最终确认实际使用位置已经更新；旧审核记录继续保留，检查运行结束不等于处置完成。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先贴内容编辑与自检页面。围绕小周的任务讲解当前正文版本、商品活动关联、可用资料、问题定位和未完成检查。作者可以修改、补资料或说明异议，正式提交另形成审核任务，旧版本结果要明确标识。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列表页帮助小林优先找到需要自己处理的任务，查看稿件、作者、提交版本、审核人、等待原因和最近处理时间。系统检查状态与人工审核状态需要分开，检查已完成仍可能是人工待审。页面支持进入详情，具备权限的角色再进行分派。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详情页围绕原文、问题和依据的关联展开，点击问题定位原句，也能由原句回到问题，依据展开后显示来源和版本。审核员确认问题或记录不成立的原因，请求补资料或退回修改，复核时对照新版本与上一轮意见。问题合并展示后仍要保留未完成项，正式决定由有权限的人作出。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巡检页面先说明为什么查、依据从什么时候起适用以及本次范围，接着区分检查完成情况、范围待核和问题处理状态。发现问题要找到内容负责人，跟踪认领、修改和复核，最后核验实际使用位置已更新。仅内部文档修改不能作为实际使用内容处理完成的证据。</a:t>
            </a: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管理页承接第四节的审核点和业务资料维护，不在这里重复定义方法。重点展示适用范围、有效时间、当前版本与历史，审核点经过确认和样例验证后启用，资料由对应负责人确认。变更后识别受影响任务和在用内容，为重新检查提供入口。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页面上的按钮要对应角色职责。作者编辑并说明异议，审核员确认问题、复核和作出正式决定，资料负责人确认有效事实与变更，内容负责人维护使用状态并核验实际更新。每个动作保留对应记录和责任人，提出异议并不直接产生正式通过结论。</a:t>
            </a: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三类记录回答不同问题。检查记录说明查了哪个版本以及哪些完成，问题处理记录说明提示是否成立、怎样修改和是否复核解决，正式审核记录说明谁对哪个提交版本作出了决定。页面不能只用一个绿色图标代表全部完成，实际使用的位置与版本还需要另行关联和核验。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学员先判断，作者保存新稿后旧请求才返回，这条结果应该放在哪里。结果继续关联发起时的旧版本，页面提示当前已有新稿，不能覆盖新正文或直接拿来批准新版本。只有正文、商品活动、资料、标准和配置等相关条件满足有效性要求时才能按约定复用，依赖关系不确定就重新检查全文，正式结论对应实际提交的版本。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看主流程之外的出口。缺资料要显示缺项和受影响检查，交对应人员补齐；部分检查失败时保留其他完成项，失败项重试或人工补核，不能计为通过。巡检范围不明或无人接收时保留待核和待承接状态，交负责人协调，重复点击也不能产生重复正式流转，资料冲突则带原句与版本依据交人确认。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节的产品方案应能沿一篇稿件完整解释，从哪里提交、使用什么依据、谁看见什么结果，怎样修改和确认，以及实际使用后怎样巡检和更新。系统分工、页面操作、状态记录、版本关联与异常承接要相互对应。下一节再讨论建设先后与验证证据，判断这套方案是否真的提升审核效率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5.xml" /></Relationships>
</file>

<file path=ppt/slides/_rels/slide7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ab1cf2a5a388c868.jpg" />
  <Relationship Id="rId3" Type="http://schemas.openxmlformats.org/officeDocument/2006/relationships/notesSlide" Target="../notesSlides/notesSlide76.xml" /></Relationships>
</file>

<file path=ppt/slides/_rels/slide7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ab1cf2a5a388c868.jpg" />
  <Relationship Id="rId3" Type="http://schemas.openxmlformats.org/officeDocument/2006/relationships/notesSlide" Target="../notesSlides/notesSlide77.xml" /></Relationships>
</file>

<file path=ppt/slides/_rels/slide7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ab1cf2a5a388c868.jpg" />
  <Relationship Id="rId3" Type="http://schemas.openxmlformats.org/officeDocument/2006/relationships/notesSlide" Target="../notesSlides/notesSlide78.xml" /></Relationships>
</file>

<file path=ppt/slides/_rels/slide7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ab1cf2a5a388c868.jpg" />
  <Relationship Id="rId3" Type="http://schemas.openxmlformats.org/officeDocument/2006/relationships/notesSlide" Target="../notesSlides/notesSlide79.xml" /></Relationships>
</file>

<file path=ppt/slides/_rels/slide8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ab1cf2a5a388c868.jpg" />
  <Relationship Id="rId3" Type="http://schemas.openxmlformats.org/officeDocument/2006/relationships/notesSlide" Target="../notesSlides/notesSlide80.xml" /></Relationships>
</file>

<file path=ppt/slides/_rels/slide8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1.xml" /></Relationships>
</file>

<file path=ppt/slides/_rels/slide8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2.xml" /></Relationships>
</file>

<file path=ppt/slides/_rels/slide8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3.xml" /></Relationships>
</file>

<file path=ppt/slides/_rels/slide8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4.xml" /></Relationships>
</file>

<file path=ppt/slides/_rels/slide8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5.xml" /></Relationships>
</file>

<file path=ppt/slides/slide7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38150" y="523875"/>
            <a:ext cx="2622804" cy="1443990"/>
            <a:chOff x="438150" y="523875"/>
            <a:chExt cx="2622804" cy="1443990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238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第一次课 / 第六节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150" y="103441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产品方案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1198" y="2231708"/>
            <a:ext cx="3453917" cy="1993201"/>
            <a:chOff x="441198" y="2231708"/>
            <a:chExt cx="3453917" cy="1993201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231708"/>
              <a:ext cx="2832354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让用户操作，
接上系统处理。</a:t>
              </a:r>
              <a:br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872865"/>
              <a:ext cx="34470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输入：三段流程与审核执行链。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95900" y="2095500"/>
            <a:ext cx="4259161" cy="2381250"/>
            <a:chOff x="5295900" y="2095500"/>
            <a:chExt cx="4259161" cy="2381250"/>
          </a:xfrm>
        </p:grpSpPr>
        <p:sp>
          <p:nvSpPr>
            <p:cNvPr id="8" name="Line 8"/>
            <p:cNvSpPr/>
            <p:nvPr/>
          </p:nvSpPr>
          <p:spPr>
            <a:xfrm>
              <a:off x="5295900" y="209550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6176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90032" y="22402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6.1 系统分层与业务流程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0032" y="309753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6.2 页面任务与角色权限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0032" y="3954780"/>
              <a:ext cx="39650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6.3 状态、版本与异常承接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048250"/>
            <a:ext cx="11277600" cy="952500"/>
            <a:chOff x="457200" y="5048250"/>
            <a:chExt cx="11277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457200" y="5048250"/>
              <a:ext cx="11277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6280" y="5267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本节重点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32" y="5583555"/>
              <a:ext cx="70888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沿一篇文案，讲清谁操作、系统做什么、结果交给谁。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1866" y="6468428"/>
            <a:ext cx="16079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流程 → 页面 → 状态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34</a:t>
            </a:r>
          </a:p>
        </p:txBody>
      </p:sp>
    </p:spTree>
  </p:cSld>
  <p:clrMapOvr>
    <a:masterClrMapping/>
  </p:clrMapOvr>
  <p:transition p14:dur="400">
    <p:fade/>
  </p:transition>
</p:sld>
</file>

<file path=ppt/slides/slide7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5120640" cy="1038035"/>
            <a:chOff x="441198" y="428625"/>
            <a:chExt cx="512064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系统分层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系统分三层，职责先讲清楚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790700"/>
            <a:ext cx="11277600" cy="1028700"/>
            <a:chOff x="457200" y="1790700"/>
            <a:chExt cx="11277600" cy="1028700"/>
          </a:xfrm>
        </p:grpSpPr>
        <p:sp>
          <p:nvSpPr>
            <p:cNvPr id="5" name="Rectangle 5"/>
            <p:cNvSpPr/>
            <p:nvPr/>
          </p:nvSpPr>
          <p:spPr>
            <a:xfrm>
              <a:off x="457200" y="179070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0758" y="19507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业务应用层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99332" y="1983105"/>
              <a:ext cx="46717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自检 / 正式审核 / 巡检 / 权限与记录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00856" y="24155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承接提交、修改、确认和处理跟踪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3171825"/>
            <a:ext cx="11277600" cy="1028700"/>
            <a:chOff x="457200" y="3171825"/>
            <a:chExt cx="11277600" cy="1028700"/>
          </a:xfrm>
        </p:grpSpPr>
        <p:sp>
          <p:nvSpPr>
            <p:cNvPr id="10" name="Rectangle 10"/>
            <p:cNvSpPr/>
            <p:nvPr/>
          </p:nvSpPr>
          <p:spPr>
            <a:xfrm>
              <a:off x="457200" y="3171825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30758" y="333184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审核能力层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9332" y="3364230"/>
              <a:ext cx="4954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匹配审核点 → 执行 → 校验与合并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00856" y="3796665"/>
              <a:ext cx="4161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复用第五节的执行链，服务三个业务环节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4552950"/>
            <a:ext cx="11277600" cy="1028700"/>
            <a:chOff x="457200" y="4552950"/>
            <a:chExt cx="11277600" cy="1028700"/>
          </a:xfrm>
        </p:grpSpPr>
        <p:sp>
          <p:nvSpPr>
            <p:cNvPr id="15" name="Rectangle 15"/>
            <p:cNvSpPr/>
            <p:nvPr/>
          </p:nvSpPr>
          <p:spPr>
            <a:xfrm>
              <a:off x="457200" y="4552950"/>
              <a:ext cx="11277600" cy="10287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0758" y="47129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模型与资料层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99332" y="4745355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模型能力＋经过确认的有效业务资料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00856" y="51777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商品、活动、赠品、配送，保留所用版本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056" y="5911215"/>
            <a:ext cx="9468612" cy="352044"/>
            <a:chOff x="448056" y="5911215"/>
            <a:chExt cx="9468612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911215"/>
              <a:ext cx="946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三层是职责划分；首版可接入现有内容系统，先按明确工作流实现。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2" name="Rectangle 22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82580" cy="1038035"/>
            <a:chOff x="441198" y="428625"/>
            <a:chExt cx="6882580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自检流程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825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自检：作者点击后，系统怎样接住？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57200" y="1724025"/>
            <a:ext cx="11277600" cy="809625"/>
            <a:chOff x="457200" y="1724025"/>
            <a:chExt cx="11277600" cy="809625"/>
          </a:xfrm>
        </p:grpSpPr>
        <p:sp>
          <p:nvSpPr>
            <p:cNvPr id="5" name="Rectangle 5"/>
            <p:cNvSpPr/>
            <p:nvPr/>
          </p:nvSpPr>
          <p:spPr>
            <a:xfrm>
              <a:off x="457200" y="1724025"/>
              <a:ext cx="11277600" cy="809625"/>
            </a:xfrm>
            <a:prstGeom prst="roundRect">
              <a:avLst>
                <a:gd name="adj" fmla="val 14118"/>
              </a:avLst>
            </a:prstGeom>
            <a:solidFill>
              <a:srgbClr val="102F3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2282" y="2002155"/>
              <a:ext cx="71155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作者：保存V1，关联SKU与活动，发起检查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" y="2971800"/>
            <a:ext cx="11277600" cy="1381125"/>
            <a:chOff x="457200" y="2971800"/>
            <a:chExt cx="11277600" cy="1381125"/>
          </a:xfrm>
        </p:grpSpPr>
        <p:grpSp>
          <p:nvGrpSpPr>
            <p:cNvPr id="11" name="Group 11"/>
            <p:cNvGrpSpPr/>
            <p:nvPr/>
          </p:nvGrpSpPr>
          <p:grpSpPr>
            <a:xfrm>
              <a:off x="457200" y="2971800"/>
              <a:ext cx="11277600" cy="1381125"/>
              <a:chOff x="457200" y="2971800"/>
              <a:chExt cx="11277600" cy="1381125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457200" y="2971800"/>
                <a:ext cx="3276600" cy="1381125"/>
              </a:xfrm>
              <a:prstGeom prst="roundRect">
                <a:avLst>
                  <a:gd name="adj" fmla="val 827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4457700" y="2971800"/>
                <a:ext cx="3276600" cy="1381125"/>
              </a:xfrm>
              <a:prstGeom prst="roundRect">
                <a:avLst>
                  <a:gd name="adj" fmla="val 827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8458200" y="2971800"/>
                <a:ext cx="3276600" cy="1381125"/>
              </a:xfrm>
              <a:prstGeom prst="roundRect">
                <a:avLst>
                  <a:gd name="adj" fmla="val 8276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732282" y="3202305"/>
              <a:ext cx="10253562" cy="410718"/>
              <a:chOff x="732282" y="3202305"/>
              <a:chExt cx="10253562" cy="41071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32282" y="3202305"/>
                <a:ext cx="225256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固定输入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32782" y="3202305"/>
                <a:ext cx="2415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执行检查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733282" y="3202305"/>
                <a:ext cx="225256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 返回结果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33806" y="3787140"/>
              <a:ext cx="10684764" cy="352044"/>
              <a:chOff x="733806" y="3787140"/>
              <a:chExt cx="10684764" cy="352044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33806" y="378714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正文、上下文、依据版本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734306" y="37871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选点、执行与校验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734806" y="3787140"/>
                <a:ext cx="26837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原句、依据与未完成项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3790950" y="3648075"/>
              <a:ext cx="59055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91450" y="3648075"/>
              <a:ext cx="59055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45008" y="5065395"/>
            <a:ext cx="8987028" cy="931164"/>
            <a:chOff x="445008" y="5065395"/>
            <a:chExt cx="8987028" cy="931164"/>
          </a:xfrm>
        </p:grpSpPr>
        <p:sp>
          <p:nvSpPr>
            <p:cNvPr id="23" name="TextBox 23"/>
            <p:cNvSpPr txBox="1"/>
            <p:nvPr/>
          </p:nvSpPr>
          <p:spPr>
            <a:xfrm>
              <a:off x="445008" y="5065395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作者修改为V2，再产生关联V2的新检查记录。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056" y="5644515"/>
              <a:ext cx="89839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缺资料时明确受影响范围；保留V1历史结果，不能直接搬到V2。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6" name="Rectangle 26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正式审核流程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正式审核：围绕提交版本流转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提交V2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审核员判断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退回与重提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复核并决定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正文与依据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核对原句与证据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修改V3再提交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结论绑定V3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审核通过后，登记实际使用版本、位置和维护人。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检查结果仅在满足有效条件时复用；依据变化或依赖不清时重新检查。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1" name="Rectangle 31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3773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6.1 巡检流程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事后巡检：从业务变化到实际更新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2400300"/>
            <a:ext cx="10715625" cy="1948434"/>
            <a:chOff x="762000" y="2400300"/>
            <a:chExt cx="10715625" cy="1948434"/>
          </a:xfrm>
        </p:grpSpPr>
        <p:sp>
          <p:nvSpPr>
            <p:cNvPr id="5" name="Line 5"/>
            <p:cNvSpPr/>
            <p:nvPr/>
          </p:nvSpPr>
          <p:spPr>
            <a:xfrm>
              <a:off x="1619250" y="27336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285875" y="2400300"/>
              <a:ext cx="9525000" cy="666750"/>
              <a:chOff x="1285875" y="2400300"/>
              <a:chExt cx="9525000" cy="66675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858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42386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719137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0144125" y="2400300"/>
                <a:ext cx="666750" cy="666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530839" y="2611755"/>
              <a:ext cx="9035072" cy="410718"/>
              <a:chOff x="1530839" y="2611755"/>
              <a:chExt cx="9035072" cy="41071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5308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4835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43633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89089" y="2611755"/>
                <a:ext cx="1768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01827" y="3402330"/>
              <a:ext cx="10575798" cy="410718"/>
              <a:chOff x="901827" y="3402330"/>
              <a:chExt cx="10575798" cy="41071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01827" y="3402330"/>
                <a:ext cx="143484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确认变化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71322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建立批次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65976" y="340233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分配与处理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77375" y="340233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核验实际更新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996690"/>
              <a:ext cx="10693908" cy="352044"/>
              <a:chOff x="762000" y="3996690"/>
              <a:chExt cx="10693908" cy="3520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620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依据与生效条件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935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在用内容与待核项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7500" y="3996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修改与复核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99092" y="39966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确认使用位置更新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7200" y="5229225"/>
            <a:ext cx="11277600" cy="942975"/>
            <a:chOff x="457200" y="5229225"/>
            <a:chExt cx="11277600" cy="942975"/>
          </a:xfrm>
        </p:grpSpPr>
        <p:sp>
          <p:nvSpPr>
            <p:cNvPr id="27" name="Rectangle 27"/>
            <p:cNvSpPr/>
            <p:nvPr/>
          </p:nvSpPr>
          <p:spPr>
            <a:xfrm>
              <a:off x="457200" y="5229225"/>
              <a:ext cx="11277600" cy="942975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282" y="5393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名额用完后，巡检在用的赠品承诺；旧记录保留。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58388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C06使用状态不明要单列待核；运行结束时，未解决事项仍继续跟踪。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31" name="Rectangle 31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51866" y="6468428"/>
              <a:ext cx="9789078" cy="205359"/>
              <a:chOff x="451866" y="6468428"/>
              <a:chExt cx="9789078" cy="205359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5387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内容编辑与自检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版本与资料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问题与范围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修改与提交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作者的工作入口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自检不等于
正式审核通过。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5" name="Rectangle 1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审核任务列表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按负责人找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版本与等待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详情与分派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审核员的任务入口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检查完成、人工待审
分别显示。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5" name="Rectangle 1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审核详情与修改复核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原句与依据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确认与异议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复核与决定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核心判断工作区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复核对应新版本，
正式决定由人作出。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5" name="Rectangle 1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巡检批次与问题处理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事件与范围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待核与处理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分派与更新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内容负责人入口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运行结束后，
未解决事项
继续跟踪。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5" name="Rectangle 1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240905" cy="1038035"/>
            <a:chOff x="441198" y="428625"/>
            <a:chExt cx="7240905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页面介绍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资料与审核点管理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200" y="1685925"/>
            <a:ext cx="8077200" cy="4543425"/>
            <a:chOff x="457200" y="1685925"/>
            <a:chExt cx="8077200" cy="4543425"/>
          </a:xfrm>
        </p:grpSpPr>
        <p:sp>
          <p:nvSpPr>
            <p:cNvPr id="5" name="截图预留区（可删除后粘贴截图）"/>
            <p:cNvSpPr/>
            <p:nvPr/>
          </p:nvSpPr>
          <p:spPr>
            <a:xfrm>
              <a:off x="457200" y="1685925"/>
              <a:ext cx="8077200" cy="45434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7C9C2"/>
              </a:solidFill>
              <a:prstDash val="dash"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8885682" y="1897380"/>
            <a:ext cx="2849118" cy="3891915"/>
            <a:chOff x="8885682" y="1897380"/>
            <a:chExt cx="2849118" cy="3891915"/>
          </a:xfrm>
        </p:grpSpPr>
        <p:sp>
          <p:nvSpPr>
            <p:cNvPr id="7" name="TextBox 7"/>
            <p:cNvSpPr txBox="1"/>
            <p:nvPr/>
          </p:nvSpPr>
          <p:spPr>
            <a:xfrm>
              <a:off x="8885682" y="18973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页面任务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87206" y="255841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范围与版本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7206" y="318706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启用与变更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87206" y="38157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受影响内容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896350" y="44386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887206" y="46920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标准与资料入口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88730" y="5153025"/>
              <a:ext cx="15392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启用与变更，
留确认人和历史。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5" name="Rectangle 1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392799" cy="1038035"/>
            <a:chOff x="441198" y="428625"/>
            <a:chExt cx="6392799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6.2 角色与权限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谁操作，谁确认，谁负责下一步？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5008" y="1998345"/>
            <a:ext cx="2932176" cy="3491103"/>
            <a:chOff x="445008" y="1998345"/>
            <a:chExt cx="2932176" cy="3491103"/>
          </a:xfrm>
        </p:grpSpPr>
        <p:sp>
          <p:nvSpPr>
            <p:cNvPr id="5" name="TextBox 5"/>
            <p:cNvSpPr txBox="1"/>
            <p:nvPr/>
          </p:nvSpPr>
          <p:spPr>
            <a:xfrm>
              <a:off x="445008" y="1998345"/>
              <a:ext cx="293217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角色与可执行动作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532" y="2678430"/>
              <a:ext cx="2421636" cy="2811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作者：编辑提交
审核员：判断复核
资料：确认与变更
内容：核验更新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67450" y="1857375"/>
            <a:ext cx="5467350" cy="3857625"/>
            <a:chOff x="6267450" y="1857375"/>
            <a:chExt cx="5467350" cy="3857625"/>
          </a:xfrm>
        </p:grpSpPr>
        <p:sp>
          <p:nvSpPr>
            <p:cNvPr id="8" name="Rectangle 8"/>
            <p:cNvSpPr/>
            <p:nvPr/>
          </p:nvSpPr>
          <p:spPr>
            <a:xfrm>
              <a:off x="6267450" y="1857375"/>
              <a:ext cx="5467350" cy="3857625"/>
            </a:xfrm>
            <a:prstGeom prst="roundRect">
              <a:avLst>
                <a:gd name="adj" fmla="val 29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21958" y="199834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操作留下什么记录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23482" y="2678430"/>
              <a:ext cx="4021836" cy="22109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作者：正文与处理说明
审核员：判断与正式结论
资料负责人：版本与依据
内容负责人：位置与核验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8056" y="5958840"/>
            <a:ext cx="8499348" cy="352044"/>
            <a:chOff x="448056" y="5958840"/>
            <a:chExt cx="8499348" cy="352044"/>
          </a:xfrm>
        </p:grpSpPr>
        <p:sp>
          <p:nvSpPr>
            <p:cNvPr id="12" name="TextBox 12"/>
            <p:cNvSpPr txBox="1"/>
            <p:nvPr/>
          </p:nvSpPr>
          <p:spPr>
            <a:xfrm>
              <a:off x="448056" y="5958840"/>
              <a:ext cx="84993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权限按职责设置；作者提出异议后，由有权限的角色确认与决定。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14" name="Rectangle 14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089011" cy="1038035"/>
            <a:chOff x="441198" y="428625"/>
            <a:chExt cx="8089011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781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6.3 状态与记录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检查完成、问题解决、审核通过，分别记录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885950"/>
            <a:ext cx="3505200" cy="2552700"/>
            <a:chOff x="457200" y="1885950"/>
            <a:chExt cx="3505200" cy="2552700"/>
          </a:xfrm>
        </p:grpSpPr>
        <p:sp>
          <p:nvSpPr>
            <p:cNvPr id="5" name="Rectangle 5"/>
            <p:cNvSpPr/>
            <p:nvPr/>
          </p:nvSpPr>
          <p:spPr>
            <a:xfrm>
              <a:off x="4572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1708" y="21221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检查记录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13232" y="2802255"/>
              <a:ext cx="24216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正文和依据版本
查了什么、范围多大
已完成、失败或待补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343400" y="1885950"/>
            <a:ext cx="3505200" cy="2552700"/>
            <a:chOff x="4343400" y="1885950"/>
            <a:chExt cx="3505200" cy="2552700"/>
          </a:xfrm>
        </p:grpSpPr>
        <p:sp>
          <p:nvSpPr>
            <p:cNvPr id="9" name="Rectangle 9"/>
            <p:cNvSpPr/>
            <p:nvPr/>
          </p:nvSpPr>
          <p:spPr>
            <a:xfrm>
              <a:off x="43434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979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问题处理记录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99432" y="2802255"/>
              <a:ext cx="21549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提示是否成立
作者怎样修改
复核是否确认解决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29600" y="1885950"/>
            <a:ext cx="3505200" cy="2552700"/>
            <a:chOff x="8229600" y="1885950"/>
            <a:chExt cx="3505200" cy="2552700"/>
          </a:xfrm>
        </p:grpSpPr>
        <p:sp>
          <p:nvSpPr>
            <p:cNvPr id="13" name="Rectangle 13"/>
            <p:cNvSpPr/>
            <p:nvPr/>
          </p:nvSpPr>
          <p:spPr>
            <a:xfrm>
              <a:off x="8229600" y="1885950"/>
              <a:ext cx="3505200" cy="2552700"/>
            </a:xfrm>
            <a:prstGeom prst="roundRect">
              <a:avLst>
                <a:gd name="adj" fmla="val 44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84108" y="2122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正式审核记录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5632" y="2802255"/>
              <a:ext cx="2688336" cy="13251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实际提交哪个版本
审核要求是否完成
谁作出什么决定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532" y="5097780"/>
            <a:ext cx="8668817" cy="908304"/>
            <a:chOff x="446532" y="5097780"/>
            <a:chExt cx="8668817" cy="908304"/>
          </a:xfrm>
        </p:grpSpPr>
        <p:sp>
          <p:nvSpPr>
            <p:cNvPr id="17" name="TextBox 17"/>
            <p:cNvSpPr txBox="1"/>
            <p:nvPr/>
          </p:nvSpPr>
          <p:spPr>
            <a:xfrm>
              <a:off x="446532" y="5097780"/>
              <a:ext cx="86688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检查完成 / 人工待审 → 退回修改 → 新版复核 → 正式决定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8056" y="565404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实际使用另关联通过版本、使用位置与维护人，更新后需要核验。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0" name="Rectangle 20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339797" cy="1038035"/>
            <a:chOff x="441198" y="428625"/>
            <a:chExt cx="7339797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46192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6.3 版本与结果有效性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33979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V3已保存，V2结果返回，该怎样处理？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24434" y="2198370"/>
            <a:ext cx="11417655" cy="1521714"/>
            <a:chOff x="424434" y="2198370"/>
            <a:chExt cx="11417655" cy="1521714"/>
          </a:xfrm>
        </p:grpSpPr>
        <p:sp>
          <p:nvSpPr>
            <p:cNvPr id="5" name="Line 5"/>
            <p:cNvSpPr/>
            <p:nvPr/>
          </p:nvSpPr>
          <p:spPr>
            <a:xfrm>
              <a:off x="1524000" y="285750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62075" y="26955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5934075" y="26955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506075" y="26955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631911" y="2198370"/>
              <a:ext cx="10928177" cy="469392"/>
              <a:chOff x="631911" y="2198370"/>
              <a:chExt cx="10928177" cy="46939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631911" y="2198370"/>
                <a:ext cx="178417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发起V2检查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691847" y="2198370"/>
                <a:ext cx="280830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保存V3新稿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775911" y="2198370"/>
                <a:ext cx="178417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V2结果返回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24434" y="3368040"/>
              <a:ext cx="11417655" cy="352044"/>
              <a:chOff x="424434" y="3368040"/>
              <a:chExt cx="11417655" cy="35204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424434" y="33680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固定正文和依据版本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996434" y="33680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提示待有效检查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93910" y="3368040"/>
                <a:ext cx="23481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继续关联原来的V2</a:t>
                </a:r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457200" y="4581525"/>
            <a:ext cx="11277600" cy="1504950"/>
            <a:chOff x="457200" y="4581525"/>
            <a:chExt cx="11277600" cy="1504950"/>
          </a:xfrm>
        </p:grpSpPr>
        <p:sp>
          <p:nvSpPr>
            <p:cNvPr id="18" name="Rectangle 18"/>
            <p:cNvSpPr/>
            <p:nvPr/>
          </p:nvSpPr>
          <p:spPr>
            <a:xfrm>
              <a:off x="457200" y="4581525"/>
              <a:ext cx="11277600" cy="1504950"/>
            </a:xfrm>
            <a:prstGeom prst="roundRect">
              <a:avLst>
                <a:gd name="adj" fmla="val 75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0758" y="4760595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V2结果归档，V3待有效检查。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2282" y="534543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按条件复用或重查；不确定时全文重查。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5330" y="579120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正式结论绑定实际提交版本；不能用旧结果直接确认新稿。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3" name="Rectangle 23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8578792" cy="1038035"/>
            <a:chOff x="441198" y="428625"/>
            <a:chExt cx="857879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579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6.3 异常与承接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85787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异常发生后，页面要说明下一步谁做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828800"/>
            <a:ext cx="11277600" cy="1066800"/>
            <a:chOff x="457200" y="1828800"/>
            <a:chExt cx="11277600" cy="1066800"/>
          </a:xfrm>
        </p:grpSpPr>
        <p:sp>
          <p:nvSpPr>
            <p:cNvPr id="5" name="Rectangle 5"/>
            <p:cNvSpPr/>
            <p:nvPr/>
          </p:nvSpPr>
          <p:spPr>
            <a:xfrm>
              <a:off x="457200" y="1828800"/>
              <a:ext cx="11277600" cy="10668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13232" y="20116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缺资料或
关联错误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513582" y="2011680"/>
              <a:ext cx="48696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受影响项待补 → 资料负责人承接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515106" y="24917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标明缺项与范围，补齐后重新核对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3190875"/>
            <a:ext cx="11277600" cy="1066800"/>
            <a:chOff x="457200" y="3190875"/>
            <a:chExt cx="11277600" cy="1066800"/>
          </a:xfrm>
        </p:grpSpPr>
        <p:sp>
          <p:nvSpPr>
            <p:cNvPr id="10" name="Rectangle 10"/>
            <p:cNvSpPr/>
            <p:nvPr/>
          </p:nvSpPr>
          <p:spPr>
            <a:xfrm>
              <a:off x="457200" y="3190875"/>
              <a:ext cx="11277600" cy="1066800"/>
            </a:xfrm>
            <a:prstGeom prst="roundRect">
              <a:avLst>
                <a:gd name="adj" fmla="val 10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3232" y="33737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部分检查
超时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13582" y="3373755"/>
              <a:ext cx="40215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保留完成项 → 重试或人工补核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15106" y="385381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失败不计为通过；记录重试或人工核对范围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4552950"/>
            <a:ext cx="11277600" cy="1066800"/>
            <a:chOff x="457200" y="4552950"/>
            <a:chExt cx="11277600" cy="1066800"/>
          </a:xfrm>
        </p:grpSpPr>
        <p:sp>
          <p:nvSpPr>
            <p:cNvPr id="15" name="Rectangle 15"/>
            <p:cNvSpPr/>
            <p:nvPr/>
          </p:nvSpPr>
          <p:spPr>
            <a:xfrm>
              <a:off x="457200" y="4552950"/>
              <a:ext cx="11277600" cy="1066800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3232" y="473583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状态不明或无人接收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13582" y="4735830"/>
              <a:ext cx="37388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待核、待承接 → 交负责人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15106" y="521589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问题继续跟踪；重复提交避免重复流转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8056" y="5939790"/>
            <a:ext cx="7530084" cy="352044"/>
            <a:chOff x="448056" y="5939790"/>
            <a:chExt cx="7530084" cy="352044"/>
          </a:xfrm>
        </p:grpSpPr>
        <p:sp>
          <p:nvSpPr>
            <p:cNvPr id="20" name="TextBox 20"/>
            <p:cNvSpPr txBox="1"/>
            <p:nvPr/>
          </p:nvSpPr>
          <p:spPr>
            <a:xfrm>
              <a:off x="448056" y="593979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资料冲突时带原句、依据与版本交人确认；每个异常都有状态、动作和责任人。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2" name="Rectangle 22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4808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24241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 b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7061743" cy="1038035"/>
            <a:chOff x="441198" y="428625"/>
            <a:chExt cx="7061743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第六节 / 产品方案小结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70617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让一篇文案，从提交走到实际使用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6532" y="1916430"/>
            <a:ext cx="5249418" cy="2903220"/>
            <a:chOff x="446532" y="1916430"/>
            <a:chExt cx="5249418" cy="2903220"/>
          </a:xfrm>
        </p:grpSpPr>
        <p:sp>
          <p:nvSpPr>
            <p:cNvPr id="5" name="TextBox 5"/>
            <p:cNvSpPr txBox="1"/>
            <p:nvPr/>
          </p:nvSpPr>
          <p:spPr>
            <a:xfrm>
              <a:off x="446532" y="191643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系统与流程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457200" y="2381250"/>
              <a:ext cx="5238750" cy="2438400"/>
              <a:chOff x="457200" y="2381250"/>
              <a:chExt cx="5238750" cy="2438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457200" y="2381250"/>
                <a:ext cx="5238750" cy="685800"/>
              </a:xfrm>
              <a:prstGeom prst="roundRect">
                <a:avLst>
                  <a:gd name="adj" fmla="val 13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457200" y="3257550"/>
                <a:ext cx="5238750" cy="685800"/>
              </a:xfrm>
              <a:prstGeom prst="roundRect">
                <a:avLst>
                  <a:gd name="adj" fmla="val 1388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457200" y="4133850"/>
                <a:ext cx="5238750" cy="685800"/>
              </a:xfrm>
              <a:prstGeom prst="roundRect">
                <a:avLst>
                  <a:gd name="adj" fmla="val 13889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676656" y="2615565"/>
              <a:ext cx="3895344" cy="2104644"/>
              <a:chOff x="676656" y="2615565"/>
              <a:chExt cx="3895344" cy="2104644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76656" y="2615565"/>
                <a:ext cx="34107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应用、审核能力、模型与资料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76656" y="3491865"/>
                <a:ext cx="38953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自检 → 正式审核 → 巡检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76656" y="4368165"/>
                <a:ext cx="36530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输入、处理、结果与负责人</a:t>
                </a:r>
              </a:p>
            </p:txBody>
          </p:sp>
        </p:grpSp>
        <p:sp>
          <p:nvSpPr>
            <p:cNvPr id="14" name="Line 14"/>
            <p:cNvSpPr/>
            <p:nvPr/>
          </p:nvSpPr>
          <p:spPr>
            <a:xfrm>
              <a:off x="3076575" y="30670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076575" y="39433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256782" y="1916430"/>
            <a:ext cx="4705198" cy="2994279"/>
            <a:chOff x="6256782" y="1916430"/>
            <a:chExt cx="4705198" cy="2994279"/>
          </a:xfrm>
        </p:grpSpPr>
        <p:sp>
          <p:nvSpPr>
            <p:cNvPr id="17" name="TextBox 17"/>
            <p:cNvSpPr txBox="1"/>
            <p:nvPr/>
          </p:nvSpPr>
          <p:spPr>
            <a:xfrm>
              <a:off x="6256782" y="1916430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页面与运行约束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6258306" y="2615565"/>
              <a:ext cx="4703674" cy="2295144"/>
              <a:chOff x="6258306" y="2615565"/>
              <a:chExt cx="4703674" cy="2295144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258306" y="2615565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页面：完成任务，关键操作有入口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258306" y="3263265"/>
                <a:ext cx="47036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状态：检查、问题处理、正式结论分开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258306" y="3910965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版本：结果与结论绑定对应正文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258306" y="4558665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异常：范围可见，下一步有人承接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457200" y="5572125"/>
            <a:ext cx="11277600" cy="600075"/>
            <a:chOff x="457200" y="5572125"/>
            <a:chExt cx="11277600" cy="600075"/>
          </a:xfrm>
        </p:grpSpPr>
        <p:sp>
          <p:nvSpPr>
            <p:cNvPr id="24" name="Rectangle 24"/>
            <p:cNvSpPr/>
            <p:nvPr/>
          </p:nvSpPr>
          <p:spPr>
            <a:xfrm>
              <a:off x="457200" y="5572125"/>
              <a:ext cx="11277600" cy="600075"/>
            </a:xfrm>
            <a:prstGeom prst="roundRect">
              <a:avLst>
                <a:gd name="adj" fmla="val 1904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3232" y="5735955"/>
              <a:ext cx="76542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下一节：先跑通什么，再用哪些证据验证项目效果。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51866" y="6468428"/>
            <a:ext cx="24136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6 产品方案 → 7 落地验证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48</a:t>
            </a:r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2026-10-18T05:53:20Z</dcterms:created>
  <dcterms:modified xsi:type="dcterms:W3CDTF">2026-10-18T05:53:20Z</dcterms:modified>
  <cp:category/>
  <cp:contentStatus/>
</cp:coreProperties>
</file>