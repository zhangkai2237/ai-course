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77"/>
  </p:notesMasterIdLst>
  <p:sldIdLst>
    <p:sldId id="256" r:id="rId78"/>
    <p:sldId id="257" r:id="rId79"/>
    <p:sldId id="258" r:id="rId80"/>
    <p:sldId id="259" r:id="rId81"/>
    <p:sldId id="260" r:id="rId8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7" Type="http://schemas.openxmlformats.org/officeDocument/2006/relationships/notesMaster" Target="notesMasters/notesMaster1.xml" />
<Relationship Id="rId78" Type="http://schemas.openxmlformats.org/officeDocument/2006/relationships/slide" Target="slides/slide71.xml" /><Relationship Id="rId79" Type="http://schemas.openxmlformats.org/officeDocument/2006/relationships/slide" Target="slides/slide72.xml" /><Relationship Id="rId80" Type="http://schemas.openxmlformats.org/officeDocument/2006/relationships/slide" Target="slides/slide73.xml" /><Relationship Id="rId81" Type="http://schemas.openxmlformats.org/officeDocument/2006/relationships/slide" Target="slides/slide74.xml" /><Relationship Id="rId82" Type="http://schemas.openxmlformats.org/officeDocument/2006/relationships/slide" Target="slides/slide75.xml" />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7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1.xml" /></Relationships>
</file>

<file path=ppt/notesSlides/_rels/notesSlide7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2.xml" /></Relationships>
</file>

<file path=ppt/notesSlides/_rels/notesSlide7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3.xml" /></Relationships>
</file>

<file path=ppt/notesSlides/_rels/notesSlide74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4.xml" /></Relationships>
</file>

<file path=ppt/notesSlides/_rels/notesSlide75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75.xml" /></Relationship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节重点理解三个业务环节分别负责什么。事前自检帮助作者提前准备，事中审核承担正式确认和修改复核，事后巡检在业务条件变化后维护在用内容。我们围绕谁在什么时候做、主要做什么、结果交给谁，把职责和衔接说清楚。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可以把同一篇营销文案的生命周期分成三个时机：提交之前，作者先自检和修改；正式提交以后，审核员核对、确认意见并复核修改；定稿入库、按计划使用以后，如果业务条件发生变化，再由负责人选择相关在用内容发起巡检。三个环节可共享适用资料和核对能力，但发起人、处理责任和完成条件不同。首版围绕人工审核提效，正式决定与内容处置仍由人承担。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事前自检发生在作者正式提交之前，由作者关联商品、活动和有效资料后发起系统辅助检查。结果要让作者知道原句哪里有问题、依据是什么以及下一步怎样处理，能确认的先修改，有疑义或缺资料的保留说明，带着当前稿件、依据和待确认项交给审核人员。比如价格句提示缺新会员和两类券条件，就帮助作者在提交前补充，而不是只说请规范表达。自检不要求机械接受全部提示或清零，自检完成也不等于正式审核通过。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事中审核从作者正式提交开始，审核员结合当前文案、适用资料、自检记录与作者说明，判断提示是否成立，必要时请业务负责人确认。成立的问题交作者修改，收到新版本后对照原句、意见和依据复核，再由有权限的审核人员作正式决定；作者标记已修改，不能直接等同问题解决或整篇通过。比如作者把价格改成领券一千七百九十九元，审核员仍要核对资格与两类券条件是否补齐。这个环节承担正式确认和修改复核，输出对应明确版本的审核结论，定稿后由内容负责人确认实际使用版本。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事后巡检发生在内容已进入使用以后，活动、商品或履约条件变化时，先由负责人确认变化并圈定相关在用内容，再核对当前表达是否受到影响。比如活动负责人确认赠品名额用完，需要找到本次活动仍在使用且含赠品承诺的内容，交内容负责人确认修改、补充说明或暂停，修改后还需复核并确认实际使用版本已更新。已停用、其他活动和使用状态不明的内容不能一律处理，已经取得资格订单的权益保留，系统也不自动下架。巡检检查结束不等于处置完成，原审核记录保留，新增记录说明条件变化后怎样处理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esson1_classroom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sson1_classroom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1.xml" /></Relationships>
</file>

<file path=ppt/slides/_rels/slide7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2.xml" /></Relationships>
</file>

<file path=ppt/slides/_rels/slide73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3.xml" /></Relationships>
</file>

<file path=ppt/slides/_rels/slide74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4.xml" /></Relationships>
</file>

<file path=ppt/slides/_rels/slide75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7.xml" />
  <Relationship Id="rId2" Type="http://schemas.openxmlformats.org/officeDocument/2006/relationships/notesSlide" Target="../notesSlides/notesSlide75.xml" /></Relationships>
</file>

<file path=ppt/slides/slide7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rgbClr val="102F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38150" y="523875"/>
            <a:ext cx="2622804" cy="1443990"/>
            <a:chOff x="438150" y="523875"/>
            <a:chExt cx="2622804" cy="1443990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523875"/>
              <a:ext cx="20850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第一次课 / 第三节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38150" y="1034415"/>
              <a:ext cx="262280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业务方案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41198" y="2231708"/>
            <a:ext cx="2832354" cy="1993201"/>
            <a:chOff x="441198" y="2231708"/>
            <a:chExt cx="2832354" cy="1993201"/>
          </a:xfrm>
        </p:grpSpPr>
        <p:sp>
          <p:nvSpPr>
            <p:cNvPr id="5" name="TextBox 5"/>
            <p:cNvSpPr txBox="1"/>
            <p:nvPr/>
          </p:nvSpPr>
          <p:spPr>
            <a:xfrm>
              <a:off x="441198" y="2231708"/>
              <a:ext cx="2832354" cy="12256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800"/>
                </a:lnSpc>
              </a:pPr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三个审核环节，</a:t>
              </a:r>
              <a:br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怎样接成闭环？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48056" y="3872865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输入：首版目标与范围。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295900" y="2095500"/>
            <a:ext cx="3976459" cy="2381250"/>
            <a:chOff x="5295900" y="2095500"/>
            <a:chExt cx="3976459" cy="2381250"/>
          </a:xfrm>
        </p:grpSpPr>
        <p:sp>
          <p:nvSpPr>
            <p:cNvPr id="8" name="Line 8"/>
            <p:cNvSpPr/>
            <p:nvPr/>
          </p:nvSpPr>
          <p:spPr>
            <a:xfrm>
              <a:off x="5295900" y="2095500"/>
              <a:ext cx="9525" cy="2381250"/>
            </a:xfrm>
            <a:custGeom>
              <a:avLst/>
              <a:gdLst/>
              <a:ahLst/>
              <a:cxnLst/>
              <a:rect l="l" t="t" r="r" b="b"/>
              <a:pathLst>
                <a:path w="9525" h="2381250">
                  <a:moveTo>
                    <a:pt x="0" y="0"/>
                  </a:moveTo>
                  <a:lnTo>
                    <a:pt x="0" y="2381250"/>
                  </a:lnTo>
                </a:path>
              </a:pathLst>
            </a:custGeom>
            <a:noFill/>
            <a:ln w="9525">
              <a:solidFill>
                <a:srgbClr val="617673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590032" y="2240280"/>
              <a:ext cx="36823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3.1 自检：提前发现与准备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90032" y="3097530"/>
              <a:ext cx="36823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3.2 审核：确认、修改与复核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90032" y="3954780"/>
              <a:ext cx="36823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3.3 巡检：变化后复查与处置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5048250"/>
            <a:ext cx="11277600" cy="952500"/>
            <a:chOff x="457200" y="5048250"/>
            <a:chExt cx="11277600" cy="952500"/>
          </a:xfrm>
        </p:grpSpPr>
        <p:sp>
          <p:nvSpPr>
            <p:cNvPr id="13" name="Rectangle 13"/>
            <p:cNvSpPr/>
            <p:nvPr/>
          </p:nvSpPr>
          <p:spPr>
            <a:xfrm>
              <a:off x="457200" y="5048250"/>
              <a:ext cx="11277600" cy="952500"/>
            </a:xfrm>
            <a:prstGeom prst="roundRect">
              <a:avLst>
                <a:gd name="adj" fmla="val 12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6280" y="52673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本节重点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3232" y="5583555"/>
              <a:ext cx="624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说清每个环节的职责、交接和完成边界。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51866" y="6468428"/>
            <a:ext cx="16079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E8F2EF"/>
                </a:solidFill>
                <a:latin typeface="+mn-lt"/>
                <a:ea typeface="+mn-ea"/>
                <a:cs typeface="+mn-cs"/>
              </a:rPr>
              <a:t>背景 → 目标 → 方案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55940" y="6468428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E8F2EF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  <p:transition p14:dur="400">
    <p:fade/>
  </p:transition>
</p:sld>
</file>

<file path=ppt/slides/slide72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16852" cy="1038035"/>
            <a:chOff x="441198" y="428625"/>
            <a:chExt cx="6816852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第三节 · 业务方案 / 三个环节总览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自检、审核、巡检，各自负责什么？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2000250"/>
            <a:ext cx="3257550" cy="2762250"/>
            <a:chOff x="457200" y="2000250"/>
            <a:chExt cx="3257550" cy="2762250"/>
          </a:xfrm>
        </p:grpSpPr>
        <p:sp>
          <p:nvSpPr>
            <p:cNvPr id="5" name="Rectangle 5"/>
            <p:cNvSpPr/>
            <p:nvPr/>
          </p:nvSpPr>
          <p:spPr>
            <a:xfrm>
              <a:off x="45720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3806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事前 / 作者触发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694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自检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228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先查、先改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带说明进入正式审核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67225" y="2000250"/>
            <a:ext cx="3257550" cy="2762250"/>
            <a:chOff x="4467225" y="2000250"/>
            <a:chExt cx="3257550" cy="2762250"/>
          </a:xfrm>
        </p:grpSpPr>
        <p:sp>
          <p:nvSpPr>
            <p:cNvPr id="10" name="Rectangle 10"/>
            <p:cNvSpPr/>
            <p:nvPr/>
          </p:nvSpPr>
          <p:spPr>
            <a:xfrm>
              <a:off x="4467225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43831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事中 / 审核人员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36973" y="2774632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正式审核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42307" y="3516630"/>
              <a:ext cx="21549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核对、退回、复核</a:t>
              </a:r>
              <a:br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作出正式审核决定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77250" y="2000250"/>
            <a:ext cx="3257550" cy="2762250"/>
            <a:chOff x="8477250" y="2000250"/>
            <a:chExt cx="3257550" cy="2762250"/>
          </a:xfrm>
        </p:grpSpPr>
        <p:sp>
          <p:nvSpPr>
            <p:cNvPr id="15" name="Rectangle 15"/>
            <p:cNvSpPr/>
            <p:nvPr/>
          </p:nvSpPr>
          <p:spPr>
            <a:xfrm>
              <a:off x="847725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53856" y="230124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事后 / 条件发生变化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4699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巡检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5233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选范围、确认、处置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跟到实际使用更新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5008" y="3381375"/>
            <a:ext cx="9514637" cy="2858262"/>
            <a:chOff x="445008" y="3381375"/>
            <a:chExt cx="9514637" cy="2858262"/>
          </a:xfrm>
        </p:grpSpPr>
        <p:sp>
          <p:nvSpPr>
            <p:cNvPr id="20" name="Line 20"/>
            <p:cNvSpPr/>
            <p:nvPr/>
          </p:nvSpPr>
          <p:spPr>
            <a:xfrm>
              <a:off x="3771900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7781925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91606" y="5187315"/>
              <a:ext cx="39680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定稿入库 → 计划发布 → 业务条件变化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5008" y="5770245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自检提前准备，审核正式确认，巡检跟进更新。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5" name="Rectangle 25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480816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0242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5387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3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16852" cy="1038035"/>
            <a:chOff x="441198" y="428625"/>
            <a:chExt cx="6816852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第三节 · 业务方案 / 3.1 事前自检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事前自检：提交前发现问题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2000250"/>
            <a:ext cx="3257550" cy="2762250"/>
            <a:chOff x="457200" y="2000250"/>
            <a:chExt cx="3257550" cy="2762250"/>
          </a:xfrm>
        </p:grpSpPr>
        <p:sp>
          <p:nvSpPr>
            <p:cNvPr id="5" name="Rectangle 5"/>
            <p:cNvSpPr/>
            <p:nvPr/>
          </p:nvSpPr>
          <p:spPr>
            <a:xfrm>
              <a:off x="45720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3806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作者 / 提交前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694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228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绑定商品与活动
选用有效资料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67225" y="2000250"/>
            <a:ext cx="3257550" cy="2762250"/>
            <a:chOff x="4467225" y="2000250"/>
            <a:chExt cx="3257550" cy="2762250"/>
          </a:xfrm>
        </p:grpSpPr>
        <p:sp>
          <p:nvSpPr>
            <p:cNvPr id="10" name="Rectangle 10"/>
            <p:cNvSpPr/>
            <p:nvPr/>
          </p:nvSpPr>
          <p:spPr>
            <a:xfrm>
              <a:off x="4467225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43831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系统辅助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36973" y="2774632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自检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42307" y="3516630"/>
              <a:ext cx="21549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查看原句依据
修改已确认项</a:t>
              </a:r>
              <a:br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77250" y="2000250"/>
            <a:ext cx="3257550" cy="2762250"/>
            <a:chOff x="8477250" y="2000250"/>
            <a:chExt cx="3257550" cy="2762250"/>
          </a:xfrm>
        </p:grpSpPr>
        <p:sp>
          <p:nvSpPr>
            <p:cNvPr id="15" name="Rectangle 15"/>
            <p:cNvSpPr/>
            <p:nvPr/>
          </p:nvSpPr>
          <p:spPr>
            <a:xfrm>
              <a:off x="847725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53856" y="230124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提交 / 审核人员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4699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交接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5233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提交当前稿件
附依据与待确认项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5008" y="3381375"/>
            <a:ext cx="9514637" cy="2858262"/>
            <a:chOff x="445008" y="3381375"/>
            <a:chExt cx="9514637" cy="2858262"/>
          </a:xfrm>
        </p:grpSpPr>
        <p:sp>
          <p:nvSpPr>
            <p:cNvPr id="20" name="Line 20"/>
            <p:cNvSpPr/>
            <p:nvPr/>
          </p:nvSpPr>
          <p:spPr>
            <a:xfrm>
              <a:off x="3771900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7781925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91606" y="5187315"/>
              <a:ext cx="39680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自检 → 作者修改 → 带说明提交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5008" y="5770245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自检帮助提前准备；正式决定由审核人员作出。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5" name="Rectangle 25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480816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0242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5387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4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16852" cy="1038035"/>
            <a:chOff x="441198" y="428625"/>
            <a:chExt cx="6816852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第三节 · 业务方案 / 3.2 事中审核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事中审核：确认问题与修改结果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2000250"/>
            <a:ext cx="3257550" cy="2762250"/>
            <a:chOff x="457200" y="2000250"/>
            <a:chExt cx="3257550" cy="2762250"/>
          </a:xfrm>
        </p:grpSpPr>
        <p:sp>
          <p:nvSpPr>
            <p:cNvPr id="5" name="Rectangle 5"/>
            <p:cNvSpPr/>
            <p:nvPr/>
          </p:nvSpPr>
          <p:spPr>
            <a:xfrm>
              <a:off x="45720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3806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审核员 / 收件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694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228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看当前文案与资料
确认提示是否成立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67225" y="2000250"/>
            <a:ext cx="3257550" cy="2762250"/>
            <a:chOff x="4467225" y="2000250"/>
            <a:chExt cx="3257550" cy="2762250"/>
          </a:xfrm>
        </p:grpSpPr>
        <p:sp>
          <p:nvSpPr>
            <p:cNvPr id="10" name="Rectangle 10"/>
            <p:cNvSpPr/>
            <p:nvPr/>
          </p:nvSpPr>
          <p:spPr>
            <a:xfrm>
              <a:off x="4467225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43831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作者 / 收到意见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36973" y="2774632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修改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42307" y="3516630"/>
              <a:ext cx="21549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按确认意见改稿
提交新的版本</a:t>
              </a:r>
              <a:br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77250" y="2000250"/>
            <a:ext cx="3257550" cy="2762250"/>
            <a:chOff x="8477250" y="2000250"/>
            <a:chExt cx="3257550" cy="2762250"/>
          </a:xfrm>
        </p:grpSpPr>
        <p:sp>
          <p:nvSpPr>
            <p:cNvPr id="15" name="Rectangle 15"/>
            <p:cNvSpPr/>
            <p:nvPr/>
          </p:nvSpPr>
          <p:spPr>
            <a:xfrm>
              <a:off x="847725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53856" y="230124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审核员 / 收到新稿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4699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5233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核实问题是否解决
作正式审核决定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5008" y="3381375"/>
            <a:ext cx="9514637" cy="2858262"/>
            <a:chOff x="445008" y="3381375"/>
            <a:chExt cx="9514637" cy="2858262"/>
          </a:xfrm>
        </p:grpSpPr>
        <p:sp>
          <p:nvSpPr>
            <p:cNvPr id="20" name="Line 20"/>
            <p:cNvSpPr/>
            <p:nvPr/>
          </p:nvSpPr>
          <p:spPr>
            <a:xfrm>
              <a:off x="3771900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7781925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91606" y="5187315"/>
              <a:ext cx="39680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确认意见 → 修改 → 复核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5008" y="5770245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修改后需复核，正式结论对应明确版本。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5" name="Rectangle 25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480816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0242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5387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75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41198" y="428625"/>
            <a:ext cx="6816852" cy="1038035"/>
            <a:chOff x="441198" y="428625"/>
            <a:chExt cx="6816852" cy="1038035"/>
          </a:xfrm>
        </p:grpSpPr>
        <p:sp>
          <p:nvSpPr>
            <p:cNvPr id="2" name="TextBox 2"/>
            <p:cNvSpPr txBox="1"/>
            <p:nvPr/>
          </p:nvSpPr>
          <p:spPr>
            <a:xfrm>
              <a:off x="449580" y="42862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第三节 · 业务方案 / 3.3 事后巡检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441198" y="850583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事后巡检：变化后维护在用内容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57200" y="2000250"/>
            <a:ext cx="3257550" cy="2762250"/>
            <a:chOff x="457200" y="2000250"/>
            <a:chExt cx="3257550" cy="2762250"/>
          </a:xfrm>
        </p:grpSpPr>
        <p:sp>
          <p:nvSpPr>
            <p:cNvPr id="5" name="Rectangle 5"/>
            <p:cNvSpPr/>
            <p:nvPr/>
          </p:nvSpPr>
          <p:spPr>
            <a:xfrm>
              <a:off x="45720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33806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负责人 / 变化后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2694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圈定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3228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确认业务变化
找到相关在用内容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67225" y="2000250"/>
            <a:ext cx="3257550" cy="2762250"/>
            <a:chOff x="4467225" y="2000250"/>
            <a:chExt cx="3257550" cy="2762250"/>
          </a:xfrm>
        </p:grpSpPr>
        <p:sp>
          <p:nvSpPr>
            <p:cNvPr id="10" name="Rectangle 10"/>
            <p:cNvSpPr/>
            <p:nvPr/>
          </p:nvSpPr>
          <p:spPr>
            <a:xfrm>
              <a:off x="4467225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43831" y="23012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8F2EF"/>
                  </a:solidFill>
                  <a:latin typeface="+mn-lt"/>
                  <a:ea typeface="+mn-ea"/>
                  <a:cs typeface="+mn-cs"/>
                </a:rPr>
                <a:t>审核员 / 巡检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36973" y="2774632"/>
              <a:ext cx="17282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742307" y="3516630"/>
              <a:ext cx="21549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核对当前表达
确认受影响问题</a:t>
              </a:r>
              <a:br/>
              <a:r>
                <a:rPr lang="zh-CN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77250" y="2000250"/>
            <a:ext cx="3257550" cy="2762250"/>
            <a:chOff x="8477250" y="2000250"/>
            <a:chExt cx="3257550" cy="2762250"/>
          </a:xfrm>
        </p:grpSpPr>
        <p:sp>
          <p:nvSpPr>
            <p:cNvPr id="15" name="Rectangle 15"/>
            <p:cNvSpPr/>
            <p:nvPr/>
          </p:nvSpPr>
          <p:spPr>
            <a:xfrm>
              <a:off x="8477250" y="2000250"/>
              <a:ext cx="3257550" cy="2762250"/>
            </a:xfrm>
            <a:prstGeom prst="roundRect">
              <a:avLst>
                <a:gd name="adj" fmla="val 41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53856" y="2301240"/>
              <a:ext cx="2235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内容负责人 / 待处理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46998" y="2774632"/>
              <a:ext cx="8801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处置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52332" y="3516630"/>
              <a:ext cx="2421636" cy="8679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修改或暂停并复核
确认实际使用更新</a:t>
              </a:r>
              <a:br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/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45008" y="3381375"/>
            <a:ext cx="9514637" cy="2858262"/>
            <a:chOff x="445008" y="3381375"/>
            <a:chExt cx="9514637" cy="2858262"/>
          </a:xfrm>
        </p:grpSpPr>
        <p:sp>
          <p:nvSpPr>
            <p:cNvPr id="20" name="Line 20"/>
            <p:cNvSpPr/>
            <p:nvPr/>
          </p:nvSpPr>
          <p:spPr>
            <a:xfrm>
              <a:off x="3771900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7781925" y="3381375"/>
              <a:ext cx="61912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91606" y="5187315"/>
              <a:ext cx="39680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条件变化 → 选范围 → 核查与处置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45008" y="5770245"/>
              <a:ext cx="81015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巡检跟到实际更新；原审核记录继续保留。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0" y="6286500"/>
            <a:ext cx="12192000" cy="571500"/>
            <a:chOff x="0" y="6286500"/>
            <a:chExt cx="12192000" cy="571500"/>
          </a:xfrm>
        </p:grpSpPr>
        <p:sp>
          <p:nvSpPr>
            <p:cNvPr id="25" name="Rectangle 25"/>
            <p:cNvSpPr/>
            <p:nvPr/>
          </p:nvSpPr>
          <p:spPr>
            <a:xfrm>
              <a:off x="0" y="6286500"/>
              <a:ext cx="12192000" cy="571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457200" y="6286500"/>
              <a:ext cx="11277600" cy="9525"/>
            </a:xfrm>
            <a:custGeom>
              <a:avLst/>
              <a:gdLst/>
              <a:ahLst/>
              <a:cxnLst/>
              <a:rect l="l" t="t" r="r" b="b"/>
              <a:pathLst>
                <a:path w="11277600" h="9525">
                  <a:moveTo>
                    <a:pt x="0" y="0"/>
                  </a:moveTo>
                  <a:lnTo>
                    <a:pt x="112776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451866" y="6468428"/>
              <a:ext cx="9783070" cy="205359"/>
              <a:chOff x="451866" y="6468428"/>
              <a:chExt cx="9783070" cy="205359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4518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1 业务背景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9663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2 项目目标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480816" y="6468428"/>
                <a:ext cx="7022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 业务方案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995291" y="6468428"/>
                <a:ext cx="55486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4 审核点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50976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5 方案选择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024241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6 产品方案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538716" y="6468428"/>
                <a:ext cx="69622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7 落地验证</a:t>
                </a:r>
              </a:p>
            </p:txBody>
          </p:sp>
        </p:grpSp>
        <p:sp>
          <p:nvSpPr>
            <p:cNvPr id="35" name="TextBox 35"/>
            <p:cNvSpPr txBox="1"/>
            <p:nvPr/>
          </p:nvSpPr>
          <p:spPr>
            <a:xfrm>
              <a:off x="11255940" y="64684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lesson1_classroom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classroo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class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esson1_classroom">
  <a:themeElements>
    <a:clrScheme name="lesson1_classroom">
      <a:dk1>
        <a:srgbClr val="17302F"/>
      </a:dk1>
      <a:lt1>
        <a:srgbClr val="F7F8F4"/>
      </a:lt1>
      <a:dk2>
        <a:srgbClr val="1F497D"/>
      </a:dk2>
      <a:lt2>
        <a:srgbClr val="E8F2EF"/>
      </a:lt2>
      <a:accent1>
        <a:srgbClr val="126B63"/>
      </a:accent1>
      <a:accent2>
        <a:srgbClr val="D85C3D"/>
      </a:accent2>
      <a:accent3>
        <a:srgbClr val="DBAB4A"/>
      </a:accent3>
      <a:accent4>
        <a:srgbClr val="126B63"/>
      </a:accent4>
      <a:accent5>
        <a:srgbClr val="617673"/>
      </a:accent5>
      <a:accent6>
        <a:srgbClr val="D3DFDA"/>
      </a:accent6>
      <a:hlink>
        <a:srgbClr val="D85C3D"/>
      </a:hlink>
      <a:folHlink>
        <a:srgbClr val="DBAB4A"/>
      </a:folHlink>
    </a:clrScheme>
    <a:fontScheme name="lesson1_classroom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sson1_class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2026-10-18T05:53:20Z</dcterms:created>
  <dcterms:modified xsi:type="dcterms:W3CDTF">2026-10-18T05:53:20Z</dcterms:modified>
  <cp:category/>
  <cp:contentStatus/>
</cp:coreProperties>
</file>