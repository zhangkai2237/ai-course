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1_presProps.xml" ContentType="application/vnd.openxmlformats-officedocument.presentationml.presProps+xml"/>
  <Override PartName="/ppt/slideLayouts/d1_slideLayout7.xml" ContentType="application/vnd.openxmlformats-officedocument.presentationml.slideLayout+xml"/>
  <Override PartName="/ppt/slideMasters/d1_slideMaster1.xml" ContentType="application/vnd.openxmlformats-officedocument.presentationml.slideMaster+xml"/>
  <Override PartName="/ppt/slides/d1_slide1.xml" ContentType="application/vnd.openxmlformats-officedocument.presentationml.slide+xml"/>
  <Override PartName="/ppt/slides/d1_slide2.xml" ContentType="application/vnd.openxmlformats-officedocument.presentationml.slide+xml"/>
  <Override PartName="/ppt/slides/d1_slide3.xml" ContentType="application/vnd.openxmlformats-officedocument.presentationml.slide+xml"/>
  <Override PartName="/ppt/slides/d1_slide4.xml" ContentType="application/vnd.openxmlformats-officedocument.presentationml.slide+xml"/>
  <Override PartName="/ppt/slides/d1_slide5.xml" ContentType="application/vnd.openxmlformats-officedocument.presentationml.slide+xml"/>
  <Override PartName="/ppt/slides/d1_slide6.xml" ContentType="application/vnd.openxmlformats-officedocument.presentationml.slide+xml"/>
  <Override PartName="/ppt/d1_tableStyles.xml" ContentType="application/vnd.openxmlformats-officedocument.presentationml.tableStyles+xml"/>
  <Override PartName="/ppt/theme/d1_theme1.xml" ContentType="application/vnd.openxmlformats-officedocument.theme+xml"/>
  <Override PartName="/ppt/d1_viewProps.xml" ContentType="application/vnd.openxmlformats-officedocument.presentationml.viewProps+xml"/>
  <Override PartName="/ppt/theme/d1_theme2.xml" ContentType="application/vnd.openxmlformats-officedocument.theme+xml"/>
  <Override PartName="/ppt/notesMasters/d1_notesMaster1.xml" ContentType="application/vnd.openxmlformats-officedocument.presentationml.notesMaster+xml"/>
  <Override PartName="/ppt/notesSlides/d1_notesSlide1.xml" ContentType="application/vnd.openxmlformats-officedocument.presentationml.notesSlide+xml"/>
  <Override PartName="/ppt/notesSlides/d1_notesSlide2.xml" ContentType="application/vnd.openxmlformats-officedocument.presentationml.notesSlide+xml"/>
  <Override PartName="/ppt/notesSlides/d1_notesSlide3.xml" ContentType="application/vnd.openxmlformats-officedocument.presentationml.notesSlide+xml"/>
  <Override PartName="/ppt/notesSlides/d1_notesSlide4.xml" ContentType="application/vnd.openxmlformats-officedocument.presentationml.notesSlide+xml"/>
  <Override PartName="/ppt/notesSlides/d1_notesSlide5.xml" ContentType="application/vnd.openxmlformats-officedocument.presentationml.notesSlide+xml"/>
  <Override PartName="/ppt/notesSlides/d1_notesSlide6.xml" ContentType="application/vnd.openxmlformats-officedocument.presentationml.notesSlide+xml"/>
  <Default Extension="jpg" ContentType="image/jpeg"/>
  <Override PartName="/ppt/d2_presProps.xml" ContentType="application/vnd.openxmlformats-officedocument.presentationml.presProps+xml"/>
  <Override PartName="/ppt/slideLayouts/d2_slideLayout7.xml" ContentType="application/vnd.openxmlformats-officedocument.presentationml.slideLayout+xml"/>
  <Override PartName="/ppt/slideMasters/d2_slideMaster1.xml" ContentType="application/vnd.openxmlformats-officedocument.presentationml.slideMaster+xml"/>
  <Override PartName="/ppt/d2_tableStyles.xml" ContentType="application/vnd.openxmlformats-officedocument.presentationml.tableStyles+xml"/>
  <Override PartName="/ppt/theme/d2_theme1.xml" ContentType="application/vnd.openxmlformats-officedocument.theme+xml"/>
  <Override PartName="/ppt/d2_viewProps.xml" ContentType="application/vnd.openxmlformats-officedocument.presentationml.viewProps+xml"/>
  <Override PartName="/ppt/theme/d2_theme2.xml" ContentType="application/vnd.openxmlformats-officedocument.theme+xml"/>
  <Override PartName="/ppt/notesMasters/d2_notesMaster1.xml" ContentType="application/vnd.openxmlformats-officedocument.presentationml.notesMaster+xml"/>
  <Override PartName="/ppt/slides/d2_slide71.xml" ContentType="application/vnd.openxmlformats-officedocument.presentationml.slide+xml"/>
  <Override PartName="/ppt/notesSlides/d2_notesSlide71.xml" ContentType="application/vnd.openxmlformats-officedocument.presentationml.notesSlide+xml"/>
  <Override PartName="/ppt/slides/d2_slide72.xml" ContentType="application/vnd.openxmlformats-officedocument.presentationml.slide+xml"/>
  <Override PartName="/ppt/notesSlides/d2_notesSlide72.xml" ContentType="application/vnd.openxmlformats-officedocument.presentationml.notesSlide+xml"/>
  <Override PartName="/ppt/slides/d2_slide73.xml" ContentType="application/vnd.openxmlformats-officedocument.presentationml.slide+xml"/>
  <Override PartName="/ppt/notesSlides/d2_notesSlide73.xml" ContentType="application/vnd.openxmlformats-officedocument.presentationml.notesSlide+xml"/>
  <Override PartName="/ppt/slides/d2_slide74.xml" ContentType="application/vnd.openxmlformats-officedocument.presentationml.slide+xml"/>
  <Override PartName="/ppt/notesSlides/d2_notesSlide74.xml" ContentType="application/vnd.openxmlformats-officedocument.presentationml.notesSlide+xml"/>
  <Override PartName="/ppt/slides/d2_slide75.xml" ContentType="application/vnd.openxmlformats-officedocument.presentationml.slide+xml"/>
  <Override PartName="/ppt/notesSlides/d2_notesSlide75.xml" ContentType="application/vnd.openxmlformats-officedocument.presentationml.notesSlide+xml"/>
  <Override PartName="/ppt/d3_presProps.xml" ContentType="application/vnd.openxmlformats-officedocument.presentationml.presProps+xml"/>
  <Override PartName="/ppt/slideLayouts/d3_slideLayout7.xml" ContentType="application/vnd.openxmlformats-officedocument.presentationml.slideLayout+xml"/>
  <Override PartName="/ppt/slideMasters/d3_slideMaster1.xml" ContentType="application/vnd.openxmlformats-officedocument.presentationml.slideMaster+xml"/>
  <Override PartName="/ppt/d3_tableStyles.xml" ContentType="application/vnd.openxmlformats-officedocument.presentationml.tableStyles+xml"/>
  <Override PartName="/ppt/theme/d3_theme1.xml" ContentType="application/vnd.openxmlformats-officedocument.theme+xml"/>
  <Override PartName="/ppt/d3_viewProps.xml" ContentType="application/vnd.openxmlformats-officedocument.presentationml.viewProps+xml"/>
  <Override PartName="/ppt/theme/d3_theme2.xml" ContentType="application/vnd.openxmlformats-officedocument.theme+xml"/>
  <Override PartName="/ppt/notesMasters/d3_notesMaster1.xml" ContentType="application/vnd.openxmlformats-officedocument.presentationml.notesMaster+xml"/>
  <Override PartName="/ppt/slides/d3_slide71.xml" ContentType="application/vnd.openxmlformats-officedocument.presentationml.slide+xml"/>
  <Override PartName="/ppt/notesSlides/d3_notesSlide71.xml" ContentType="application/vnd.openxmlformats-officedocument.presentationml.notesSlide+xml"/>
  <Override PartName="/ppt/slides/d3_slide72.xml" ContentType="application/vnd.openxmlformats-officedocument.presentationml.slide+xml"/>
  <Override PartName="/ppt/notesSlides/d3_notesSlide72.xml" ContentType="application/vnd.openxmlformats-officedocument.presentationml.notesSlide+xml"/>
  <Override PartName="/ppt/slides/d3_slide73.xml" ContentType="application/vnd.openxmlformats-officedocument.presentationml.slide+xml"/>
  <Override PartName="/ppt/notesSlides/d3_notesSlide73.xml" ContentType="application/vnd.openxmlformats-officedocument.presentationml.notesSlide+xml"/>
  <Override PartName="/ppt/slides/d3_slide74.xml" ContentType="application/vnd.openxmlformats-officedocument.presentationml.slide+xml"/>
  <Override PartName="/ppt/notesSlides/d3_notesSlide74.xml" ContentType="application/vnd.openxmlformats-officedocument.presentationml.notesSlide+xml"/>
  <Override PartName="/ppt/slides/d3_slide75.xml" ContentType="application/vnd.openxmlformats-officedocument.presentationml.slide+xml"/>
  <Override PartName="/ppt/notesSlides/d3_notesSlide75.xml" ContentType="application/vnd.openxmlformats-officedocument.presentationml.notesSlide+xml"/>
  <Override PartName="/ppt/slides/d3_slide76.xml" ContentType="application/vnd.openxmlformats-officedocument.presentationml.slide+xml"/>
  <Override PartName="/ppt/notesSlides/d3_notesSlide76.xml" ContentType="application/vnd.openxmlformats-officedocument.presentationml.notesSlide+xml"/>
  <Override PartName="/ppt/slides/d3_slide77.xml" ContentType="application/vnd.openxmlformats-officedocument.presentationml.slide+xml"/>
  <Override PartName="/ppt/notesSlides/d3_notesSlide77.xml" ContentType="application/vnd.openxmlformats-officedocument.presentationml.notesSlide+xml"/>
  <Override PartName="/ppt/slides/d3_slide78.xml" ContentType="application/vnd.openxmlformats-officedocument.presentationml.slide+xml"/>
  <Override PartName="/ppt/notesSlides/d3_notesSlide78.xml" ContentType="application/vnd.openxmlformats-officedocument.presentationml.notesSlide+xml"/>
  <Override PartName="/ppt/slides/d3_slide79.xml" ContentType="application/vnd.openxmlformats-officedocument.presentationml.slide+xml"/>
  <Override PartName="/ppt/notesSlides/d3_notesSlide79.xml" ContentType="application/vnd.openxmlformats-officedocument.presentationml.notesSlide+xml"/>
  <Override PartName="/ppt/d4_presProps.xml" ContentType="application/vnd.openxmlformats-officedocument.presentationml.presProps+xml"/>
  <Override PartName="/ppt/slideLayouts/d4_slideLayout7.xml" ContentType="application/vnd.openxmlformats-officedocument.presentationml.slideLayout+xml"/>
  <Override PartName="/ppt/slideMasters/d4_slideMaster1.xml" ContentType="application/vnd.openxmlformats-officedocument.presentationml.slideMaster+xml"/>
  <Override PartName="/ppt/d4_tableStyles.xml" ContentType="application/vnd.openxmlformats-officedocument.presentationml.tableStyles+xml"/>
  <Override PartName="/ppt/theme/d4_theme1.xml" ContentType="application/vnd.openxmlformats-officedocument.theme+xml"/>
  <Override PartName="/ppt/d4_viewProps.xml" ContentType="application/vnd.openxmlformats-officedocument.presentationml.viewProps+xml"/>
  <Override PartName="/ppt/theme/d4_theme2.xml" ContentType="application/vnd.openxmlformats-officedocument.theme+xml"/>
  <Override PartName="/ppt/notesMasters/d4_notesMaster1.xml" ContentType="application/vnd.openxmlformats-officedocument.presentationml.notesMaster+xml"/>
  <Override PartName="/ppt/slides/d4_slide71.xml" ContentType="application/vnd.openxmlformats-officedocument.presentationml.slide+xml"/>
  <Override PartName="/ppt/notesSlides/d4_notesSlide71.xml" ContentType="application/vnd.openxmlformats-officedocument.presentationml.notesSlide+xml"/>
  <Override PartName="/ppt/slides/d4_slide72.xml" ContentType="application/vnd.openxmlformats-officedocument.presentationml.slide+xml"/>
  <Override PartName="/ppt/notesSlides/d4_notesSlide72.xml" ContentType="application/vnd.openxmlformats-officedocument.presentationml.notesSlide+xml"/>
  <Override PartName="/ppt/slides/d4_slide73.xml" ContentType="application/vnd.openxmlformats-officedocument.presentationml.slide+xml"/>
  <Override PartName="/ppt/notesSlides/d4_notesSlide73.xml" ContentType="application/vnd.openxmlformats-officedocument.presentationml.notesSlide+xml"/>
  <Override PartName="/ppt/slides/d4_slide74.xml" ContentType="application/vnd.openxmlformats-officedocument.presentationml.slide+xml"/>
  <Override PartName="/ppt/notesSlides/d4_notesSlide74.xml" ContentType="application/vnd.openxmlformats-officedocument.presentationml.notesSlide+xml"/>
  <Override PartName="/ppt/slides/d4_slide75.xml" ContentType="application/vnd.openxmlformats-officedocument.presentationml.slide+xml"/>
  <Override PartName="/ppt/notesSlides/d4_notesSlide75.xml" ContentType="application/vnd.openxmlformats-officedocument.presentationml.notesSlide+xml"/>
  <Override PartName="/ppt/slides/d4_slide76.xml" ContentType="application/vnd.openxmlformats-officedocument.presentationml.slide+xml"/>
  <Override PartName="/ppt/notesSlides/d4_notesSlide76.xml" ContentType="application/vnd.openxmlformats-officedocument.presentationml.notesSlide+xml"/>
  <Override PartName="/ppt/slides/d4_slide77.xml" ContentType="application/vnd.openxmlformats-officedocument.presentationml.slide+xml"/>
  <Override PartName="/ppt/notesSlides/d4_notesSlide77.xml" ContentType="application/vnd.openxmlformats-officedocument.presentationml.notesSlide+xml"/>
  <Override PartName="/ppt/d5_presProps.xml" ContentType="application/vnd.openxmlformats-officedocument.presentationml.presProps+xml"/>
  <Override PartName="/ppt/slideLayouts/d5_slideLayout7.xml" ContentType="application/vnd.openxmlformats-officedocument.presentationml.slideLayout+xml"/>
  <Override PartName="/ppt/slideMasters/d5_slideMaster1.xml" ContentType="application/vnd.openxmlformats-officedocument.presentationml.slideMaster+xml"/>
  <Override PartName="/ppt/d5_tableStyles.xml" ContentType="application/vnd.openxmlformats-officedocument.presentationml.tableStyles+xml"/>
  <Override PartName="/ppt/theme/d5_theme1.xml" ContentType="application/vnd.openxmlformats-officedocument.theme+xml"/>
  <Override PartName="/ppt/d5_viewProps.xml" ContentType="application/vnd.openxmlformats-officedocument.presentationml.viewProps+xml"/>
  <Override PartName="/ppt/theme/d5_theme2.xml" ContentType="application/vnd.openxmlformats-officedocument.theme+xml"/>
  <Override PartName="/ppt/notesMasters/d5_notesMaster1.xml" ContentType="application/vnd.openxmlformats-officedocument.presentationml.notesMaster+xml"/>
  <Override PartName="/ppt/slides/d5_slide71.xml" ContentType="application/vnd.openxmlformats-officedocument.presentationml.slide+xml"/>
  <Override PartName="/ppt/notesSlides/d5_notesSlide71.xml" ContentType="application/vnd.openxmlformats-officedocument.presentationml.notesSlide+xml"/>
  <Override PartName="/ppt/slides/d5_slide72.xml" ContentType="application/vnd.openxmlformats-officedocument.presentationml.slide+xml"/>
  <Override PartName="/ppt/notesSlides/d5_notesSlide72.xml" ContentType="application/vnd.openxmlformats-officedocument.presentationml.notesSlide+xml"/>
  <Override PartName="/ppt/slides/d5_slide73.xml" ContentType="application/vnd.openxmlformats-officedocument.presentationml.slide+xml"/>
  <Override PartName="/ppt/notesSlides/d5_notesSlide73.xml" ContentType="application/vnd.openxmlformats-officedocument.presentationml.notesSlide+xml"/>
  <Override PartName="/ppt/slides/d5_slide74.xml" ContentType="application/vnd.openxmlformats-officedocument.presentationml.slide+xml"/>
  <Override PartName="/ppt/notesSlides/d5_notesSlide74.xml" ContentType="application/vnd.openxmlformats-officedocument.presentationml.notesSlide+xml"/>
  <Override PartName="/ppt/slides/d5_slide75.xml" ContentType="application/vnd.openxmlformats-officedocument.presentationml.slide+xml"/>
  <Override PartName="/ppt/notesSlides/d5_notesSlide75.xml" ContentType="application/vnd.openxmlformats-officedocument.presentationml.notesSlide+xml"/>
  <Override PartName="/ppt/slides/d5_slide76.xml" ContentType="application/vnd.openxmlformats-officedocument.presentationml.slide+xml"/>
  <Override PartName="/ppt/notesSlides/d5_notesSlide76.xml" ContentType="application/vnd.openxmlformats-officedocument.presentationml.notesSlide+xml"/>
  <Override PartName="/ppt/slides/d5_slide77.xml" ContentType="application/vnd.openxmlformats-officedocument.presentationml.slide+xml"/>
  <Override PartName="/ppt/notesSlides/d5_notesSlide77.xml" ContentType="application/vnd.openxmlformats-officedocument.presentationml.notesSlide+xml"/>
  <Override PartName="/ppt/slides/d5_slide78.xml" ContentType="application/vnd.openxmlformats-officedocument.presentationml.slide+xml"/>
  <Override PartName="/ppt/notesSlides/d5_notesSlide78.xml" ContentType="application/vnd.openxmlformats-officedocument.presentationml.notesSlide+xml"/>
  <Override PartName="/ppt/slides/d5_slide79.xml" ContentType="application/vnd.openxmlformats-officedocument.presentationml.slide+xml"/>
  <Override PartName="/ppt/notesSlides/d5_notesSlide79.xml" ContentType="application/vnd.openxmlformats-officedocument.presentationml.notesSlide+xml"/>
  <Override PartName="/ppt/slides/d5_slide80.xml" ContentType="application/vnd.openxmlformats-officedocument.presentationml.slide+xml"/>
  <Override PartName="/ppt/notesSlides/d5_notesSlide80.xml" ContentType="application/vnd.openxmlformats-officedocument.presentationml.notesSlide+xml"/>
  <Override PartName="/ppt/slides/d5_slide81.xml" ContentType="application/vnd.openxmlformats-officedocument.presentationml.slide+xml"/>
  <Override PartName="/ppt/notesSlides/d5_notesSlide81.xml" ContentType="application/vnd.openxmlformats-officedocument.presentationml.notesSlide+xml"/>
  <Override PartName="/ppt/slides/d5_slide82.xml" ContentType="application/vnd.openxmlformats-officedocument.presentationml.slide+xml"/>
  <Override PartName="/ppt/notesSlides/d5_notesSlide82.xml" ContentType="application/vnd.openxmlformats-officedocument.presentationml.notesSlide+xml"/>
  <Override PartName="/ppt/slides/d5_slide83.xml" ContentType="application/vnd.openxmlformats-officedocument.presentationml.slide+xml"/>
  <Override PartName="/ppt/notesSlides/d5_notesSlide83.xml" ContentType="application/vnd.openxmlformats-officedocument.presentationml.notesSlide+xml"/>
  <Override PartName="/ppt/slides/d5_slide84.xml" ContentType="application/vnd.openxmlformats-officedocument.presentationml.slide+xml"/>
  <Override PartName="/ppt/notesSlides/d5_notesSlide84.xml" ContentType="application/vnd.openxmlformats-officedocument.presentationml.notesSlide+xml"/>
  <Override PartName="/ppt/slides/d5_slide85.xml" ContentType="application/vnd.openxmlformats-officedocument.presentationml.slide+xml"/>
  <Override PartName="/ppt/notesSlides/d5_notesSlide85.xml" ContentType="application/vnd.openxmlformats-officedocument.presentationml.notesSlide+xml"/>
  <Override PartName="/ppt/d6_presProps.xml" ContentType="application/vnd.openxmlformats-officedocument.presentationml.presProps+xml"/>
  <Override PartName="/ppt/slideLayouts/d6_slideLayout7.xml" ContentType="application/vnd.openxmlformats-officedocument.presentationml.slideLayout+xml"/>
  <Override PartName="/ppt/slideMasters/d6_slideMaster1.xml" ContentType="application/vnd.openxmlformats-officedocument.presentationml.slideMaster+xml"/>
  <Override PartName="/ppt/d6_tableStyles.xml" ContentType="application/vnd.openxmlformats-officedocument.presentationml.tableStyles+xml"/>
  <Override PartName="/ppt/theme/d6_theme1.xml" ContentType="application/vnd.openxmlformats-officedocument.theme+xml"/>
  <Override PartName="/ppt/d6_viewProps.xml" ContentType="application/vnd.openxmlformats-officedocument.presentationml.viewProps+xml"/>
  <Override PartName="/ppt/theme/d6_theme2.xml" ContentType="application/vnd.openxmlformats-officedocument.theme+xml"/>
  <Override PartName="/ppt/notesMasters/d6_notesMaster1.xml" ContentType="application/vnd.openxmlformats-officedocument.presentationml.notesMaster+xml"/>
  <Override PartName="/ppt/slides/d6_slide71.xml" ContentType="application/vnd.openxmlformats-officedocument.presentationml.slide+xml"/>
  <Override PartName="/ppt/notesSlides/d6_notesSlide71.xml" ContentType="application/vnd.openxmlformats-officedocument.presentationml.notesSlide+xml"/>
  <Override PartName="/ppt/slides/d6_slide72.xml" ContentType="application/vnd.openxmlformats-officedocument.presentationml.slide+xml"/>
  <Override PartName="/ppt/notesSlides/d6_notesSlide72.xml" ContentType="application/vnd.openxmlformats-officedocument.presentationml.notesSlide+xml"/>
  <Override PartName="/ppt/slides/d6_slide73.xml" ContentType="application/vnd.openxmlformats-officedocument.presentationml.slide+xml"/>
  <Override PartName="/ppt/notesSlides/d6_notesSlide73.xml" ContentType="application/vnd.openxmlformats-officedocument.presentationml.notesSlide+xml"/>
  <Override PartName="/ppt/slides/d6_slide74.xml" ContentType="application/vnd.openxmlformats-officedocument.presentationml.slide+xml"/>
  <Override PartName="/ppt/notesSlides/d6_notesSlide74.xml" ContentType="application/vnd.openxmlformats-officedocument.presentationml.notesSlide+xml"/>
  <Override PartName="/ppt/slides/d6_slide75.xml" ContentType="application/vnd.openxmlformats-officedocument.presentationml.slide+xml"/>
  <Override PartName="/ppt/notesSlides/d6_notesSlide75.xml" ContentType="application/vnd.openxmlformats-officedocument.presentationml.notesSlide+xml"/>
  <Override PartName="/ppt/slides/d6_slide76.xml" ContentType="application/vnd.openxmlformats-officedocument.presentationml.slide+xml"/>
  <Override PartName="/ppt/notesSlides/d6_notesSlide76.xml" ContentType="application/vnd.openxmlformats-officedocument.presentationml.notesSlide+xml"/>
  <Override PartName="/ppt/slides/d6_slide77.xml" ContentType="application/vnd.openxmlformats-officedocument.presentationml.slide+xml"/>
  <Override PartName="/ppt/notesSlides/d6_notesSlide77.xml" ContentType="application/vnd.openxmlformats-officedocument.presentationml.notesSlide+xml"/>
  <Override PartName="/ppt/slides/d6_slide78.xml" ContentType="application/vnd.openxmlformats-officedocument.presentationml.slide+xml"/>
  <Override PartName="/ppt/notesSlides/d6_notesSlide78.xml" ContentType="application/vnd.openxmlformats-officedocument.presentationml.notesSlide+xml"/>
  <Override PartName="/ppt/slides/d6_slide79.xml" ContentType="application/vnd.openxmlformats-officedocument.presentationml.slide+xml"/>
  <Override PartName="/ppt/notesSlides/d6_notesSlide79.xml" ContentType="application/vnd.openxmlformats-officedocument.presentationml.notesSlide+xml"/>
  <Override PartName="/ppt/slides/d6_slide80.xml" ContentType="application/vnd.openxmlformats-officedocument.presentationml.slide+xml"/>
  <Override PartName="/ppt/notesSlides/d6_notesSlide8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r:id="rId14" id="2147483659"/>
    <p:sldMasterId r:id="rId22" id="2147483670"/>
    <p:sldMasterId r:id="rId29" id="2147483681"/>
    <p:sldMasterId r:id="rId40" id="2147483692"/>
    <p:sldMasterId r:id="rId49" id="2147483703"/>
    <p:sldMasterId r:id="rId66" id="2147483714"/>
  </p:sldMasterIdLst>
  <p:notesMasterIdLst>
    <p:notesMasterId r:id="rId13"/>
    <p:notesMasterId r:id="rId15"/>
    <p:notesMasterId r:id="rId23"/>
    <p:notesMasterId r:id="rId30"/>
    <p:notesMasterId r:id="rId41"/>
    <p:notesMasterId r:id="rId50"/>
    <p:notesMasterId r:id="rId6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6"/>
    <p:sldId id="263" r:id="rId17"/>
    <p:sldId id="264" r:id="rId18"/>
    <p:sldId id="265" r:id="rId19"/>
    <p:sldId id="266" r:id="rId20"/>
    <p:sldId id="267" r:id="rId21"/>
    <p:sldId id="268" r:id="rId24"/>
    <p:sldId id="269" r:id="rId25"/>
    <p:sldId id="270" r:id="rId26"/>
    <p:sldId id="271" r:id="rId27"/>
    <p:sldId id="272" r:id="rId28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60"/>
    <p:sldId id="299" r:id="rId61"/>
    <p:sldId id="300" r:id="rId62"/>
    <p:sldId id="301" r:id="rId63"/>
    <p:sldId id="302" r:id="rId64"/>
    <p:sldId id="303" r:id="rId65"/>
    <p:sldId id="304" r:id="rId68"/>
    <p:sldId id="305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7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d1_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d1_tableStyles.xml><?xml version="1.0" encoding="utf-8"?>
<a:tblStyleLst xmlns:a="http://schemas.openxmlformats.org/drawingml/2006/main" def="{5C22544A-7EE6-4342-B048-85BDC9FD1C3A}"/>
</file>

<file path=ppt/d1_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d2_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d2_tableStyles.xml><?xml version="1.0" encoding="utf-8"?>
<a:tblStyleLst xmlns:a="http://schemas.openxmlformats.org/drawingml/2006/main" def="{5C22544A-7EE6-4342-B048-85BDC9FD1C3A}"/>
</file>

<file path=ppt/d2_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d3_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d3_tableStyles.xml><?xml version="1.0" encoding="utf-8"?>
<a:tblStyleLst xmlns:a="http://schemas.openxmlformats.org/drawingml/2006/main" def="{5C22544A-7EE6-4342-B048-85BDC9FD1C3A}"/>
</file>

<file path=ppt/d3_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d4_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d4_tableStyles.xml><?xml version="1.0" encoding="utf-8"?>
<a:tblStyleLst xmlns:a="http://schemas.openxmlformats.org/drawingml/2006/main" def="{5C22544A-7EE6-4342-B048-85BDC9FD1C3A}"/>
</file>

<file path=ppt/d4_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d5_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d5_tableStyles.xml><?xml version="1.0" encoding="utf-8"?>
<a:tblStyleLst xmlns:a="http://schemas.openxmlformats.org/drawingml/2006/main" def="{5C22544A-7EE6-4342-B048-85BDC9FD1C3A}"/>
</file>

<file path=ppt/d5_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d6_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d6_tableStyles.xml><?xml version="1.0" encoding="utf-8"?>
<a:tblStyleLst xmlns:a="http://schemas.openxmlformats.org/drawingml/2006/main" def="{5C22544A-7EE6-4342-B048-85BDC9FD1C3A}"/>
</file>

<file path=ppt/d6_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
<Relationship Id="rId14" Type="http://schemas.openxmlformats.org/officeDocument/2006/relationships/slideMaster" Target="slideMasters/d1_slideMaster1.xml"/><Relationship Id="rId15" Type="http://schemas.openxmlformats.org/officeDocument/2006/relationships/notesMaster" Target="notesMasters/d1_notesMaster1.xml"/><Relationship Id="rId16" Type="http://schemas.openxmlformats.org/officeDocument/2006/relationships/slide" Target="slides/d1_slide1.xml"/><Relationship Id="rId17" Type="http://schemas.openxmlformats.org/officeDocument/2006/relationships/slide" Target="slides/d1_slide2.xml"/><Relationship Id="rId18" Type="http://schemas.openxmlformats.org/officeDocument/2006/relationships/slide" Target="slides/d1_slide3.xml"/><Relationship Id="rId19" Type="http://schemas.openxmlformats.org/officeDocument/2006/relationships/slide" Target="slides/d1_slide4.xml"/><Relationship Id="rId20" Type="http://schemas.openxmlformats.org/officeDocument/2006/relationships/slide" Target="slides/d1_slide5.xml"/><Relationship Id="rId21" Type="http://schemas.openxmlformats.org/officeDocument/2006/relationships/slide" Target="slides/d1_slide6.xml"/><Relationship Id="rId22" Type="http://schemas.openxmlformats.org/officeDocument/2006/relationships/slideMaster" Target="slideMasters/d2_slideMaster1.xml"/><Relationship Id="rId23" Type="http://schemas.openxmlformats.org/officeDocument/2006/relationships/notesMaster" Target="notesMasters/d2_notesMaster1.xml"/><Relationship Id="rId24" Type="http://schemas.openxmlformats.org/officeDocument/2006/relationships/slide" Target="slides/d2_slide71.xml"/><Relationship Id="rId25" Type="http://schemas.openxmlformats.org/officeDocument/2006/relationships/slide" Target="slides/d2_slide72.xml"/><Relationship Id="rId26" Type="http://schemas.openxmlformats.org/officeDocument/2006/relationships/slide" Target="slides/d2_slide73.xml"/><Relationship Id="rId27" Type="http://schemas.openxmlformats.org/officeDocument/2006/relationships/slide" Target="slides/d2_slide74.xml"/><Relationship Id="rId28" Type="http://schemas.openxmlformats.org/officeDocument/2006/relationships/slide" Target="slides/d2_slide75.xml"/><Relationship Id="rId29" Type="http://schemas.openxmlformats.org/officeDocument/2006/relationships/slideMaster" Target="slideMasters/d3_slideMaster1.xml"/><Relationship Id="rId30" Type="http://schemas.openxmlformats.org/officeDocument/2006/relationships/notesMaster" Target="notesMasters/d3_notesMaster1.xml"/><Relationship Id="rId31" Type="http://schemas.openxmlformats.org/officeDocument/2006/relationships/slide" Target="slides/d3_slide71.xml"/><Relationship Id="rId32" Type="http://schemas.openxmlformats.org/officeDocument/2006/relationships/slide" Target="slides/d3_slide72.xml"/><Relationship Id="rId33" Type="http://schemas.openxmlformats.org/officeDocument/2006/relationships/slide" Target="slides/d3_slide73.xml"/><Relationship Id="rId34" Type="http://schemas.openxmlformats.org/officeDocument/2006/relationships/slide" Target="slides/d3_slide74.xml"/><Relationship Id="rId35" Type="http://schemas.openxmlformats.org/officeDocument/2006/relationships/slide" Target="slides/d3_slide75.xml"/><Relationship Id="rId36" Type="http://schemas.openxmlformats.org/officeDocument/2006/relationships/slide" Target="slides/d3_slide76.xml"/><Relationship Id="rId37" Type="http://schemas.openxmlformats.org/officeDocument/2006/relationships/slide" Target="slides/d3_slide77.xml"/><Relationship Id="rId38" Type="http://schemas.openxmlformats.org/officeDocument/2006/relationships/slide" Target="slides/d3_slide78.xml"/><Relationship Id="rId39" Type="http://schemas.openxmlformats.org/officeDocument/2006/relationships/slide" Target="slides/d3_slide79.xml"/><Relationship Id="rId40" Type="http://schemas.openxmlformats.org/officeDocument/2006/relationships/slideMaster" Target="slideMasters/d4_slideMaster1.xml"/><Relationship Id="rId41" Type="http://schemas.openxmlformats.org/officeDocument/2006/relationships/notesMaster" Target="notesMasters/d4_notesMaster1.xml"/><Relationship Id="rId42" Type="http://schemas.openxmlformats.org/officeDocument/2006/relationships/slide" Target="slides/d4_slide71.xml"/><Relationship Id="rId43" Type="http://schemas.openxmlformats.org/officeDocument/2006/relationships/slide" Target="slides/d4_slide72.xml"/><Relationship Id="rId44" Type="http://schemas.openxmlformats.org/officeDocument/2006/relationships/slide" Target="slides/d4_slide73.xml"/><Relationship Id="rId45" Type="http://schemas.openxmlformats.org/officeDocument/2006/relationships/slide" Target="slides/d4_slide74.xml"/><Relationship Id="rId46" Type="http://schemas.openxmlformats.org/officeDocument/2006/relationships/slide" Target="slides/d4_slide75.xml"/><Relationship Id="rId47" Type="http://schemas.openxmlformats.org/officeDocument/2006/relationships/slide" Target="slides/d4_slide76.xml"/><Relationship Id="rId48" Type="http://schemas.openxmlformats.org/officeDocument/2006/relationships/slide" Target="slides/d4_slide77.xml"/><Relationship Id="rId49" Type="http://schemas.openxmlformats.org/officeDocument/2006/relationships/slideMaster" Target="slideMasters/d5_slideMaster1.xml"/><Relationship Id="rId50" Type="http://schemas.openxmlformats.org/officeDocument/2006/relationships/notesMaster" Target="notesMasters/d5_notesMaster1.xml"/><Relationship Id="rId51" Type="http://schemas.openxmlformats.org/officeDocument/2006/relationships/slide" Target="slides/d5_slide71.xml"/><Relationship Id="rId52" Type="http://schemas.openxmlformats.org/officeDocument/2006/relationships/slide" Target="slides/d5_slide72.xml"/><Relationship Id="rId53" Type="http://schemas.openxmlformats.org/officeDocument/2006/relationships/slide" Target="slides/d5_slide73.xml"/><Relationship Id="rId54" Type="http://schemas.openxmlformats.org/officeDocument/2006/relationships/slide" Target="slides/d5_slide74.xml"/><Relationship Id="rId55" Type="http://schemas.openxmlformats.org/officeDocument/2006/relationships/slide" Target="slides/d5_slide75.xml"/><Relationship Id="rId56" Type="http://schemas.openxmlformats.org/officeDocument/2006/relationships/slide" Target="slides/d5_slide76.xml"/><Relationship Id="rId57" Type="http://schemas.openxmlformats.org/officeDocument/2006/relationships/slide" Target="slides/d5_slide77.xml"/><Relationship Id="rId58" Type="http://schemas.openxmlformats.org/officeDocument/2006/relationships/slide" Target="slides/d5_slide78.xml"/><Relationship Id="rId59" Type="http://schemas.openxmlformats.org/officeDocument/2006/relationships/slide" Target="slides/d5_slide79.xml"/><Relationship Id="rId60" Type="http://schemas.openxmlformats.org/officeDocument/2006/relationships/slide" Target="slides/d5_slide80.xml"/><Relationship Id="rId61" Type="http://schemas.openxmlformats.org/officeDocument/2006/relationships/slide" Target="slides/d5_slide81.xml"/><Relationship Id="rId62" Type="http://schemas.openxmlformats.org/officeDocument/2006/relationships/slide" Target="slides/d5_slide82.xml"/><Relationship Id="rId63" Type="http://schemas.openxmlformats.org/officeDocument/2006/relationships/slide" Target="slides/d5_slide83.xml"/><Relationship Id="rId64" Type="http://schemas.openxmlformats.org/officeDocument/2006/relationships/slide" Target="slides/d5_slide84.xml"/><Relationship Id="rId65" Type="http://schemas.openxmlformats.org/officeDocument/2006/relationships/slide" Target="slides/d5_slide85.xml"/><Relationship Id="rId66" Type="http://schemas.openxmlformats.org/officeDocument/2006/relationships/slideMaster" Target="slideMasters/d6_slideMaster1.xml"/><Relationship Id="rId67" Type="http://schemas.openxmlformats.org/officeDocument/2006/relationships/notesMaster" Target="notesMasters/d6_notesMaster1.xml"/><Relationship Id="rId68" Type="http://schemas.openxmlformats.org/officeDocument/2006/relationships/slide" Target="slides/d6_slide71.xml"/><Relationship Id="rId69" Type="http://schemas.openxmlformats.org/officeDocument/2006/relationships/slide" Target="slides/d6_slide72.xml"/><Relationship Id="rId70" Type="http://schemas.openxmlformats.org/officeDocument/2006/relationships/slide" Target="slides/d6_slide73.xml"/><Relationship Id="rId71" Type="http://schemas.openxmlformats.org/officeDocument/2006/relationships/slide" Target="slides/d6_slide74.xml"/><Relationship Id="rId72" Type="http://schemas.openxmlformats.org/officeDocument/2006/relationships/slide" Target="slides/d6_slide75.xml"/><Relationship Id="rId73" Type="http://schemas.openxmlformats.org/officeDocument/2006/relationships/slide" Target="slides/d6_slide76.xml"/><Relationship Id="rId74" Type="http://schemas.openxmlformats.org/officeDocument/2006/relationships/slide" Target="slides/d6_slide77.xml"/><Relationship Id="rId75" Type="http://schemas.openxmlformats.org/officeDocument/2006/relationships/slide" Target="slides/d6_slide78.xml"/><Relationship Id="rId76" Type="http://schemas.openxmlformats.org/officeDocument/2006/relationships/slide" Target="slides/d6_slide79.xml"/><Relationship Id="rId77" Type="http://schemas.openxmlformats.org/officeDocument/2006/relationships/slide" Target="slides/d6_slide80.xml"/></Relationships>
</file>

<file path=ppt/notesMasters/_rels/d1_notesMaster1.xml.rels><?xml version='1.0' encoding='UTF-8' standalone='yes'?>
<Relationships xmlns="http://schemas.openxmlformats.org/package/2006/relationships">
  <Relationship Id="rId1" Type="http://schemas.openxmlformats.org/officeDocument/2006/relationships/theme" Target="../theme/d1_theme2.xml"/>
</Relationships>
</file>

<file path=ppt/notesMasters/_rels/d2_notesMaster1.xml.rels><?xml version='1.0' encoding='UTF-8' standalone='yes'?>
<Relationships xmlns="http://schemas.openxmlformats.org/package/2006/relationships">
  <Relationship Id="rId1" Type="http://schemas.openxmlformats.org/officeDocument/2006/relationships/theme" Target="../theme/d2_theme2.xml"/>
</Relationships>
</file>

<file path=ppt/notesMasters/_rels/d3_notesMaster1.xml.rels><?xml version='1.0' encoding='UTF-8' standalone='yes'?>
<Relationships xmlns="http://schemas.openxmlformats.org/package/2006/relationships">
  <Relationship Id="rId1" Type="http://schemas.openxmlformats.org/officeDocument/2006/relationships/theme" Target="../theme/d3_theme2.xml"/>
</Relationships>
</file>

<file path=ppt/notesMasters/_rels/d4_notesMaster1.xml.rels><?xml version='1.0' encoding='UTF-8' standalone='yes'?>
<Relationships xmlns="http://schemas.openxmlformats.org/package/2006/relationships">
  <Relationship Id="rId1" Type="http://schemas.openxmlformats.org/officeDocument/2006/relationships/theme" Target="../theme/d4_theme2.xml"/>
</Relationships>
</file>

<file path=ppt/notesMasters/_rels/d5_notesMaster1.xml.rels><?xml version='1.0' encoding='UTF-8' standalone='yes'?>
<Relationships xmlns="http://schemas.openxmlformats.org/package/2006/relationships">
  <Relationship Id="rId1" Type="http://schemas.openxmlformats.org/officeDocument/2006/relationships/theme" Target="../theme/d5_theme2.xml"/>
</Relationships>
</file>

<file path=ppt/notesMasters/_rels/d6_notesMaster1.xml.rels><?xml version='1.0' encoding='UTF-8' standalone='yes'?>
<Relationships xmlns="http://schemas.openxmlformats.org/package/2006/relationships">
  <Relationship Id="rId1" Type="http://schemas.openxmlformats.org/officeDocument/2006/relationships/theme" Target="../theme/d6_theme2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d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Masters/d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Masters/d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Masters/d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Masters/d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Masters/d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d1_notesSlide1.xml.rels><?xml version='1.0' encoding='UTF-8' standalone='yes'?>
<Relationships xmlns="http://schemas.openxmlformats.org/package/2006/relationships">
  <Relationship Id="rId1" Type="http://schemas.openxmlformats.org/officeDocument/2006/relationships/notesMaster" Target="../notesMasters/d1_notesMaster1.xml"/>
  <Relationship Id="rId2" Type="http://schemas.openxmlformats.org/officeDocument/2006/relationships/slide" Target="../slides/d1_slide1.xml"/>
</Relationships>
</file>

<file path=ppt/notesSlides/_rels/d1_notesSlide2.xml.rels><?xml version='1.0' encoding='UTF-8' standalone='yes'?>
<Relationships xmlns="http://schemas.openxmlformats.org/package/2006/relationships">
  <Relationship Id="rId1" Type="http://schemas.openxmlformats.org/officeDocument/2006/relationships/notesMaster" Target="../notesMasters/d1_notesMaster1.xml"/>
  <Relationship Id="rId2" Type="http://schemas.openxmlformats.org/officeDocument/2006/relationships/slide" Target="../slides/d1_slide2.xml"/>
</Relationships>
</file>

<file path=ppt/notesSlides/_rels/d1_notesSlide3.xml.rels><?xml version='1.0' encoding='UTF-8' standalone='yes'?>
<Relationships xmlns="http://schemas.openxmlformats.org/package/2006/relationships">
  <Relationship Id="rId1" Type="http://schemas.openxmlformats.org/officeDocument/2006/relationships/notesMaster" Target="../notesMasters/d1_notesMaster1.xml"/>
  <Relationship Id="rId2" Type="http://schemas.openxmlformats.org/officeDocument/2006/relationships/slide" Target="../slides/d1_slide3.xml"/>
</Relationships>
</file>

<file path=ppt/notesSlides/_rels/d1_notesSlide4.xml.rels><?xml version='1.0' encoding='UTF-8' standalone='yes'?>
<Relationships xmlns="http://schemas.openxmlformats.org/package/2006/relationships">
  <Relationship Id="rId1" Type="http://schemas.openxmlformats.org/officeDocument/2006/relationships/notesMaster" Target="../notesMasters/d1_notesMaster1.xml"/>
  <Relationship Id="rId2" Type="http://schemas.openxmlformats.org/officeDocument/2006/relationships/slide" Target="../slides/d1_slide4.xml"/>
</Relationships>
</file>

<file path=ppt/notesSlides/_rels/d1_notesSlide5.xml.rels><?xml version='1.0' encoding='UTF-8' standalone='yes'?>
<Relationships xmlns="http://schemas.openxmlformats.org/package/2006/relationships">
  <Relationship Id="rId1" Type="http://schemas.openxmlformats.org/officeDocument/2006/relationships/notesMaster" Target="../notesMasters/d1_notesMaster1.xml"/>
  <Relationship Id="rId2" Type="http://schemas.openxmlformats.org/officeDocument/2006/relationships/slide" Target="../slides/d1_slide5.xml"/>
</Relationships>
</file>

<file path=ppt/notesSlides/_rels/d1_notesSlide6.xml.rels><?xml version='1.0' encoding='UTF-8' standalone='yes'?>
<Relationships xmlns="http://schemas.openxmlformats.org/package/2006/relationships">
  <Relationship Id="rId1" Type="http://schemas.openxmlformats.org/officeDocument/2006/relationships/notesMaster" Target="../notesMasters/d1_notesMaster1.xml"/>
  <Relationship Id="rId2" Type="http://schemas.openxmlformats.org/officeDocument/2006/relationships/slide" Target="../slides/d1_slide6.xml"/>
</Relationships>
</file>

<file path=ppt/notesSlides/_rels/d2_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2_notesMaster1.xml"/><Relationship Id="rId2" Type="http://schemas.openxmlformats.org/officeDocument/2006/relationships/slide" Target="../slides/d2_slide71.xml"/></Relationships>
</file>

<file path=ppt/notesSlides/_rels/d2_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2_notesMaster1.xml"/><Relationship Id="rId2" Type="http://schemas.openxmlformats.org/officeDocument/2006/relationships/slide" Target="../slides/d2_slide72.xml"/></Relationships>
</file>

<file path=ppt/notesSlides/_rels/d2_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2_notesMaster1.xml"/><Relationship Id="rId2" Type="http://schemas.openxmlformats.org/officeDocument/2006/relationships/slide" Target="../slides/d2_slide73.xml"/></Relationships>
</file>

<file path=ppt/notesSlides/_rels/d2_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2_notesMaster1.xml"/><Relationship Id="rId2" Type="http://schemas.openxmlformats.org/officeDocument/2006/relationships/slide" Target="../slides/d2_slide74.xml"/></Relationships>
</file>

<file path=ppt/notesSlides/_rels/d2_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2_notesMaster1.xml"/><Relationship Id="rId2" Type="http://schemas.openxmlformats.org/officeDocument/2006/relationships/slide" Target="../slides/d2_slide75.xml"/></Relationships>
</file>

<file path=ppt/notesSlides/_rels/d3_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1.xml"/></Relationships>
</file>

<file path=ppt/notesSlides/_rels/d3_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2.xml"/></Relationships>
</file>

<file path=ppt/notesSlides/_rels/d3_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3.xml"/></Relationships>
</file>

<file path=ppt/notesSlides/_rels/d3_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4.xml"/></Relationships>
</file>

<file path=ppt/notesSlides/_rels/d3_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5.xml"/></Relationships>
</file>

<file path=ppt/notesSlides/_rels/d3_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6.xml"/></Relationships>
</file>

<file path=ppt/notesSlides/_rels/d3_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7.xml"/></Relationships>
</file>

<file path=ppt/notesSlides/_rels/d3_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8.xml"/></Relationships>
</file>

<file path=ppt/notesSlides/_rels/d3_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3_notesMaster1.xml"/><Relationship Id="rId2" Type="http://schemas.openxmlformats.org/officeDocument/2006/relationships/slide" Target="../slides/d3_slide79.xml"/></Relationships>
</file>

<file path=ppt/notesSlides/_rels/d4_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4_notesMaster1.xml"/><Relationship Id="rId2" Type="http://schemas.openxmlformats.org/officeDocument/2006/relationships/slide" Target="../slides/d4_slide71.xml"/></Relationships>
</file>

<file path=ppt/notesSlides/_rels/d4_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4_notesMaster1.xml"/><Relationship Id="rId2" Type="http://schemas.openxmlformats.org/officeDocument/2006/relationships/slide" Target="../slides/d4_slide72.xml"/></Relationships>
</file>

<file path=ppt/notesSlides/_rels/d4_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4_notesMaster1.xml"/><Relationship Id="rId2" Type="http://schemas.openxmlformats.org/officeDocument/2006/relationships/slide" Target="../slides/d4_slide73.xml"/></Relationships>
</file>

<file path=ppt/notesSlides/_rels/d4_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4_notesMaster1.xml"/><Relationship Id="rId2" Type="http://schemas.openxmlformats.org/officeDocument/2006/relationships/slide" Target="../slides/d4_slide74.xml"/></Relationships>
</file>

<file path=ppt/notesSlides/_rels/d4_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4_notesMaster1.xml"/><Relationship Id="rId2" Type="http://schemas.openxmlformats.org/officeDocument/2006/relationships/slide" Target="../slides/d4_slide75.xml"/></Relationships>
</file>

<file path=ppt/notesSlides/_rels/d4_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4_notesMaster1.xml"/><Relationship Id="rId2" Type="http://schemas.openxmlformats.org/officeDocument/2006/relationships/slide" Target="../slides/d4_slide76.xml"/></Relationships>
</file>

<file path=ppt/notesSlides/_rels/d4_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4_notesMaster1.xml"/><Relationship Id="rId2" Type="http://schemas.openxmlformats.org/officeDocument/2006/relationships/slide" Target="../slides/d4_slide77.xml"/></Relationships>
</file>

<file path=ppt/notesSlides/_rels/d5_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1.xml"/></Relationships>
</file>

<file path=ppt/notesSlides/_rels/d5_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2.xml"/></Relationships>
</file>

<file path=ppt/notesSlides/_rels/d5_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3.xml"/></Relationships>
</file>

<file path=ppt/notesSlides/_rels/d5_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4.xml"/></Relationships>
</file>

<file path=ppt/notesSlides/_rels/d5_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5.xml"/></Relationships>
</file>

<file path=ppt/notesSlides/_rels/d5_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6.xml"/></Relationships>
</file>

<file path=ppt/notesSlides/_rels/d5_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7.xml"/></Relationships>
</file>

<file path=ppt/notesSlides/_rels/d5_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8.xml"/></Relationships>
</file>

<file path=ppt/notesSlides/_rels/d5_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79.xml"/></Relationships>
</file>

<file path=ppt/notesSlides/_rels/d5_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80.xml"/></Relationships>
</file>

<file path=ppt/notesSlides/_rels/d5_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81.xml"/></Relationships>
</file>

<file path=ppt/notesSlides/_rels/d5_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82.xml"/></Relationships>
</file>

<file path=ppt/notesSlides/_rels/d5_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83.xml"/></Relationships>
</file>

<file path=ppt/notesSlides/_rels/d5_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84.xml"/></Relationships>
</file>

<file path=ppt/notesSlides/_rels/d5_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5_notesMaster1.xml"/><Relationship Id="rId2" Type="http://schemas.openxmlformats.org/officeDocument/2006/relationships/slide" Target="../slides/d5_slide85.xml"/></Relationships>
</file>

<file path=ppt/notesSlides/_rels/d6_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1.xml"/></Relationships>
</file>

<file path=ppt/notesSlides/_rels/d6_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2.xml"/></Relationships>
</file>

<file path=ppt/notesSlides/_rels/d6_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3.xml"/></Relationships>
</file>

<file path=ppt/notesSlides/_rels/d6_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4.xml"/></Relationships>
</file>

<file path=ppt/notesSlides/_rels/d6_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5.xml"/></Relationships>
</file>

<file path=ppt/notesSlides/_rels/d6_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6.xml"/></Relationships>
</file>

<file path=ppt/notesSlides/_rels/d6_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7.xml"/></Relationships>
</file>

<file path=ppt/notesSlides/_rels/d6_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8.xml"/></Relationships>
</file>

<file path=ppt/notesSlides/_rels/d6_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79.xml"/></Relationships>
</file>

<file path=ppt/notesSlides/_rels/d6_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d6_notesMaster1.xml"/><Relationship Id="rId2" Type="http://schemas.openxmlformats.org/officeDocument/2006/relationships/slide" Target="../slides/d6_slide8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d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节已经把企业原来的审核方式、流程和痛点讲清楚了。现在进入第二节，项目目标。我们用大约十五分钟回答一个问题：第一版到底要让谁少做什么？接下来先明确三个具体目标，再限定首版范围、责任和验证方向，最后收成一份能够指导方案的项目定义。下一节才沿这份定义，把自检、正式审核和巡检的流程分别走通。</a:t>
            </a:r>
          </a:p>
        </p:txBody>
      </p:sp>
    </p:spTree>
  </p:cSld>
  <p:clrMapOvr>
    <a:masterClrMapping/>
  </p:clrMapOvr>
</p:notes>
</file>

<file path=ppt/notesSlides/d1_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业务说“做个智能审核”，团队很容易马上开始列功能，比如上传文案、生成结果和导出报告。但功能做好以后，谁的哪项工作会改善，还没有说清楚。如果小林拿到工具结果之后，仍然得重新找出处、确认资料是否适用，再把含糊意见解释给小周，原来的工作可能没有少，反而多了一遍检查工具结果的工作。我们先把希望改变的工作说清楚。</a:t>
            </a:r>
          </a:p>
          <a:p>
            <a:pPr/>
            <a:endParaRPr lang="zh-CN" dirty="0"/>
          </a:p>
          <a:p>
            <a:pPr/>
            <a:r>
              <a:rPr lang="zh-CN" dirty="0"/>
              <a:t>第一个目标，让适用依据来到待核对的原句旁边。小林核对一千七百九十九元时，能直接看到本次活动的价格、用户资格以及用券条件，希望减少反复打开资料、定位段落和整理条件的劳动。这里仍然要判断依据是否正确、是否适用，看到引用不等于可以直接相信。</a:t>
            </a:r>
          </a:p>
          <a:p>
            <a:pPr/>
            <a:endParaRPr lang="zh-CN" dirty="0"/>
          </a:p>
          <a:p>
            <a:pPr/>
            <a:r>
              <a:rPr lang="zh-CN" dirty="0"/>
              <a:t>第二个目标，让意见具体，修改与复核接得上。上一节的“领券一千七百九十九”仍缺少新会员资格和两类券的领取使用条件。如果反馈能把这些条件说清楚，作者就更容易一次改到位。新版本提交后，审核员能把原来的意见与现在的修改对应起来，也能看到其他改动，希望减少重复解释与重新拼接信息。</a:t>
            </a:r>
          </a:p>
          <a:p>
            <a:pPr/>
            <a:endParaRPr lang="zh-CN" dirty="0"/>
          </a:p>
          <a:p>
            <a:pPr/>
            <a:r>
              <a:rPr lang="zh-CN" dirty="0"/>
              <a:t>第三个目标，条件变化后找到真正需要复查的在用内容。比如活动负责人确认赠品名额用完，要先按本次活动和使用状态找范围，再核对内容表达是否受影响，最后交明确的负责人处理。停用历史稿、其他活动和仅介绍功能的内容不能一律修改。这样希望减少范围定位和找维护人的劳动，并让后续处理有人承接。注意这三个都是期望改善，是否真正省力仍然要通过试用验证。</a:t>
            </a:r>
          </a:p>
        </p:txBody>
      </p:sp>
    </p:spTree>
  </p:cSld>
  <p:clrMapOvr>
    <a:masterClrMapping/>
  </p:clrMapOvr>
</p:notes>
</file>

<file path=ppt/notesSlides/d1_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明确以后，首版要收敛到可以落地和验证的范围。我们先从P1和少量资料齐全的商品开始，处理绑定单个SKU和活动的营销文案文本，主要核对功能事实、价格与赠品条件，以及配送承诺是否有依据。这里先不把材料范围无限扩大。</a:t>
            </a:r>
          </a:p>
          <a:p>
            <a:pPr/>
            <a:endParaRPr lang="zh-CN" dirty="0"/>
          </a:p>
          <a:p>
            <a:pPr/>
            <a:r>
              <a:rPr lang="zh-CN" dirty="0"/>
              <a:t>三个环节都保留。作者提交前可以自检，正式审核时可以查看依据、确认问题、退回和复核，条件变化后由负责人选择范围、发起巡检并推动处理。实施时先做深正式审核，再复用能力接到自检和巡检，这是首版内部的建设顺序，三个环节仍然都属于首版。系统主要辅助定位问题、展示依据，并衔接修改复核和后续处理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保留给人的责任。正式审核决定由审核员作出，修改、暂停等内容处置由内容负责人确认。缺资料、执行失败或者存在争议时，要交给对应责任人确认。系统没有发现已覆盖检查项的问题，并不代表整篇审核已经完成。</a:t>
            </a:r>
          </a:p>
          <a:p>
            <a:pPr/>
            <a:endParaRPr lang="zh-CN" dirty="0"/>
          </a:p>
          <a:p>
            <a:pPr/>
            <a:r>
              <a:rPr lang="zh-CN" dirty="0"/>
              <a:t>这些能力还有前提。商品事实要由产品负责人确认，活动权益要由活动负责人确认，配送资料要由履约负责人确认。文案还要关联商品、活动、版本和使用状态，后面才能定位适用依据、归属结论以及找回在用内容。如果这些资料或关联不齐，应该先补齐，或者缩小试用范围。接下来判断这套辅助方式是否值得做，不能只看它生成结果有多快。</a:t>
            </a:r>
          </a:p>
        </p:txBody>
      </p:sp>
    </p:spTree>
  </p:cSld>
  <p:clrMapOvr>
    <a:masterClrMapping/>
  </p:clrMapOvr>
</p:notes>
</file>

<file path=ppt/notesSlides/d1_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从三个视角判断。先看问题和依据是否可靠：真实问题有没有漏掉，正常表达有没有被误报，引用的资料是不是适用。比如一千七百九十九元引用了另一场活动，或者把“最后再说一下”这样的正常表达也提示成问题，都可能增加人工核实和纠错的工作。问题质量和效率不能分开判断。</a:t>
            </a:r>
          </a:p>
          <a:p>
            <a:pPr/>
            <a:endParaRPr lang="zh-CN" dirty="0"/>
          </a:p>
          <a:p>
            <a:pPr/>
            <a:r>
              <a:rPr lang="zh-CN" dirty="0"/>
              <a:t>再看双方的总投入。作者自检、读反馈和修改的时间，要和审核员确认、纠错和复核的时间加起来看。某一个角色变快，不代表整个工作变少。等待业务回复的时间另行记录，便于分清人工投入与流转等待。我们也需要平衡任务难度和人员熟悉程度，避免一组全是熟悉的简单稿，另一组全是陌生复杂稿。</a:t>
            </a:r>
          </a:p>
          <a:p>
            <a:pPr/>
            <a:endParaRPr lang="zh-CN" dirty="0"/>
          </a:p>
          <a:p>
            <a:pPr/>
            <a:r>
              <a:rPr lang="zh-CN" dirty="0"/>
              <a:t>最后看问题有没有真正处理完成。作者是否按依据改对，审核员是否确认解决，巡检发现的在用内容是否已经实际更新，都需要核对。点击“已处理”不能代替处理结果。</a:t>
            </a:r>
          </a:p>
          <a:p>
            <a:pPr/>
            <a:endParaRPr lang="zh-CN" dirty="0"/>
          </a:p>
          <a:p>
            <a:pPr/>
            <a:r>
              <a:rPr lang="zh-CN" dirty="0"/>
              <a:t>所以，工具出结果快只是局部信息。现在没有实际业务基线，我们先记录原流程，再用可比任务做小范围对照，不直接承诺固定的节省比例，也不套用一个通用准确率门槛。具体样本、统计口径和接受条件会在第七节落地验证里展开。下面先用一个情境，看看大家会怎样判断。</a:t>
            </a:r>
          </a:p>
        </p:txBody>
      </p:sp>
    </p:spTree>
  </p:cSld>
  <p:clrMapOvr>
    <a:masterClrMapping/>
  </p:clrMapOvr>
</p:notes>
</file>

<file path=ppt/notesSlides/d1_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大家先看这个教学情境，花大约一分钟做判断。接入自检以后，小周提交前多花了时间，正式退回减少，小林复核也更快。现在能不能直接宣布项目提效？请给出判断，并说出你最想补看的证据。可以从双方总投入、等待变化、审核质量以及任务是否可比这几个方向考虑。</a:t>
            </a:r>
          </a:p>
          <a:p>
            <a:pPr/>
            <a:endParaRPr lang="zh-CN" dirty="0"/>
          </a:p>
          <a:p>
            <a:pPr/>
            <a:r>
              <a:rPr lang="zh-CN" dirty="0"/>
              <a:t>如果有同学说小周变慢了，所以工具没价值，可以追问：前面多做一点，是否可能换来后面少改几轮？如果有人说审核员变快了，所以项目成功，可以继续追问：小周增加的投入有没有抵消这部分节省，纠正误报的时间有没有算进去？</a:t>
            </a:r>
          </a:p>
          <a:p>
            <a:pPr/>
            <a:endParaRPr lang="zh-CN" dirty="0"/>
          </a:p>
          <a:p>
            <a:pPr/>
            <a:r>
              <a:rPr lang="zh-CN" dirty="0"/>
              <a:t>参考判断是，目前还不能直接宣布成功，也不能仅凭作者提交前变慢就认定无效。需要看两个人的总投入、等待时间及审核质量，确认任务具备可比性。工作前移可能有效，但要用完整证据支持；如果误报和漏检都没有核对，暂时无法完整判断业务价值。本页没有量化实测数据，不能从这些方向性的描述推算节省比例。带着这些判断条件，我们把首版定义收起来。</a:t>
            </a:r>
          </a:p>
        </p:txBody>
      </p:sp>
    </p:spTree>
  </p:cSld>
  <p:clrMapOvr>
    <a:masterClrMapping/>
  </p:clrMapOvr>
</p:notes>
</file>

<file path=ppt/notesSlides/d1_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这就是第二节要形成的产物，一份能够指导下一步方案的首版项目定义。它先说清服务对象：内容作者、审核员以及相关业务负责人；再限定场景：单个SKU营销文案的自检、正式审核与历史内容巡检。</a:t>
            </a:r>
          </a:p>
          <a:p>
            <a:pPr/>
            <a:endParaRPr lang="zh-CN" dirty="0"/>
          </a:p>
          <a:p>
            <a:pPr/>
            <a:r>
              <a:rPr lang="zh-CN" dirty="0"/>
              <a:t>辅助方式要依赖经过确认且适用的商品、活动和配送资料，用这些资料定位问题、展示依据，衔接修改复核及后续处理。希望改善的是重复查找、沟通和复核这些具体劳动。正式审核和内容处置决定仍由人承担。试用先放在资料齐全的少量商品中，用问题质量、双方总人工投入以及处理效果来验证价值。</a:t>
            </a:r>
          </a:p>
          <a:p>
            <a:pPr/>
            <a:endParaRPr lang="zh-CN" dirty="0"/>
          </a:p>
          <a:p>
            <a:pPr/>
            <a:r>
              <a:rPr lang="zh-CN" dirty="0"/>
              <a:t>请大家对照这段话，看看一个实施团队是否已经能知道服务谁、覆盖什么、保留哪些责任，以及怎样判断值不值得继续。它现在是一份项目定义，后面还需要把角色、材料、动作和状态一步步展开。</a:t>
            </a:r>
          </a:p>
          <a:p>
            <a:pPr/>
            <a:endParaRPr lang="zh-CN" dirty="0"/>
          </a:p>
          <a:p>
            <a:pPr/>
            <a:r>
              <a:rPr lang="zh-CN" dirty="0"/>
              <a:t>后续可以评估限定场景自动审核，但要另行明确检查覆盖、资料有效性、质量证据、处置权限和人工兜底，不能从首版辅助提效直接跳到自动批准。下一节我们按这份定义，把三个环节分别走一遍：谁发起，带什么材料，看到什么结果，以及下一步由谁接手。</a:t>
            </a:r>
          </a:p>
        </p:txBody>
      </p:sp>
    </p:spTree>
  </p:cSld>
  <p:clrMapOvr>
    <a:masterClrMapping/>
  </p:clrMapOvr>
</p:notes>
</file>

<file path=ppt/notesSlides/d2_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节重点理解三个业务环节分别负责什么。事前自检帮助作者提前准备，事中审核承担正式确认和修改复核，事后巡检在业务条件变化后维护在用内容。我们围绕谁在什么时候做、主要做什么、结果交给谁，把职责和衔接说清楚。</a:t>
            </a:r>
          </a:p>
        </p:txBody>
      </p:sp>
    </p:spTree>
  </p:cSld>
  <p:clrMapOvr>
    <a:masterClrMapping/>
  </p:clrMapOvr>
</p:notes>
</file>

<file path=ppt/notesSlides/d2_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以把同一篇营销文案的生命周期分成三个时机：提交之前，作者先自检和修改；正式提交以后，审核员核对、确认意见并复核修改；定稿入库、按计划使用以后，如果业务条件发生变化，再由负责人选择相关在用内容发起巡检。三个环节可共享适用资料和核对能力，但发起人、处理责任和完成条件不同。首版围绕人工审核提效，正式决定与内容处置仍由人承担。</a:t>
            </a:r>
          </a:p>
        </p:txBody>
      </p:sp>
    </p:spTree>
  </p:cSld>
  <p:clrMapOvr>
    <a:masterClrMapping/>
  </p:clrMapOvr>
</p:notes>
</file>

<file path=ppt/notesSlides/d2_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事前自检发生在作者正式提交之前，由作者关联商品、活动和有效资料后发起系统辅助检查。结果要让作者知道原句哪里有问题、依据是什么以及下一步怎样处理，能确认的先修改，有疑义或缺资料的保留说明，带着当前稿件、依据和待确认项交给审核人员。比如价格句提示缺新会员和两类券条件，就帮助作者在提交前补充，而不是只说请规范表达。自检不要求机械接受全部提示或清零，自检完成也不等于正式审核通过。</a:t>
            </a:r>
          </a:p>
        </p:txBody>
      </p:sp>
    </p:spTree>
  </p:cSld>
  <p:clrMapOvr>
    <a:masterClrMapping/>
  </p:clrMapOvr>
</p:notes>
</file>

<file path=ppt/notesSlides/d2_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事中审核从作者正式提交开始，审核员结合当前文案、适用资料、自检记录与作者说明，判断提示是否成立，必要时请业务负责人确认。成立的问题交作者修改，收到新版本后对照原句、意见和依据复核，再由有权限的审核人员作正式决定；作者标记已修改，不能直接等同问题解决或整篇通过。比如作者把价格改成领券一千七百九十九元，审核员仍要核对资格与两类券条件是否补齐。这个环节承担正式确认和修改复核，输出对应明确版本的审核结论，定稿后由内容负责人确认实际使用版本。</a:t>
            </a:r>
          </a:p>
        </p:txBody>
      </p:sp>
    </p:spTree>
  </p:cSld>
  <p:clrMapOvr>
    <a:masterClrMapping/>
  </p:clrMapOvr>
</p:notes>
</file>

<file path=ppt/notesSlides/d2_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事后巡检发生在内容已进入使用以后，活动、商品或履约条件变化时，先由负责人确认变化并圈定相关在用内容，再核对当前表达是否受到影响。比如活动负责人确认赠品名额用完，需要找到本次活动仍在使用且含赠品承诺的内容，交内容负责人确认修改、补充说明或暂停，修改后还需复核并确认实际使用版本已更新。已停用、其他活动和使用状态不明的内容不能一律处理，已经取得资格订单的权益保留，系统也不自动下架。巡检检查结束不等于处置完成，原审核记录保留，新增记录说明条件变化后怎样处理。</a:t>
            </a:r>
          </a:p>
        </p:txBody>
      </p:sp>
    </p:spTree>
  </p:cSld>
  <p:clrMapOvr>
    <a:masterClrMapping/>
  </p:clrMapOvr>
</p:notes>
</file>

<file path=ppt/notesSlides/d3_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节说明了自检、正式审核和巡检分别负责什么，现在把它们共用的检查任务定义清楚。第四节沿同一个温度案例，说明审核点是什么、怎样从业务要求生成、如何确认和维护，以及系统怎样取得适用标准与业务资料再执行检查。审核点与样例来自本课案例，管理和调用路径是结合本次讨论补充的首版设计建议。</a:t>
            </a:r>
          </a:p>
        </p:txBody>
      </p:sp>
    </p:spTree>
  </p:cSld>
  <p:clrMapOvr>
    <a:masterClrMapping/>
  </p:clrMapOvr>
</p:notes>
</file>

<file path=ppt/notesSlides/d3_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分清三类信息。审核要求提出方向，例如商品宣传真实准确；审核点把方向变成具体任务，例如文案中温度描述的功能是否与当前商品资料一致；业务资料提供这次核对所需的事实，例如P1的六十五摄氏度用于基站热水洗拖布。审核方法可以跨商品复用，事实资料要随商品、活动与适用时间选择。审核点是一份业务检查规范或配置，不一定是单独接口，不能把判断方法与某个商品参数写成不可维护的一整段。</a:t>
            </a:r>
          </a:p>
        </p:txBody>
      </p:sp>
    </p:spTree>
  </p:cSld>
  <p:clrMapOvr>
    <a:masterClrMapping/>
  </p:clrMapOvr>
</p:notes>
</file>

<file path=ppt/notesSlides/d3_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生成审核点，先从业务要求中找出具体可以核对的主张，例如吸力、温度、避障能力，再选择其中一个问题写出判断任务。以温度为例，需要识别数值描述的是哪个动作和对象，再与当前资料比较，随后补齐适用条件、例外和处理责任。AI可以根据经过确认的要求与资料辅助起草候选审核点，但业务负责人需要确认标准，再用正常、错误和边界样例试跑验证，之后才启用。首版先定义已选范围内的任务，逐步补齐，不要求一开始穷尽全部审核要求。</a:t>
            </a:r>
          </a:p>
        </p:txBody>
      </p:sp>
    </p:spTree>
  </p:cSld>
  <p:clrMapOvr>
    <a:masterClrMapping/>
  </p:clrMapOvr>
</p:notes>
</file>

<file path=ppt/notesSlides/d3_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卡是业务、产品、研发和测试共同理解任务的依据。它需要说清查什么、什么时候适用、依赖哪些输入和资料、怎样判断、例外缺项怎么处理，以及谁承接结果。案例中没有温度表达时，本温度项不适用，但商品功能仍可能需要其他检查；对象不清或资料冲突时要确认，不能补出作者没有说的意思。这里的编号和版本是本项目教学设计，具体执行用规则、模型还是人工，在第五节选择。</a:t>
            </a:r>
          </a:p>
        </p:txBody>
      </p:sp>
    </p:spTree>
  </p:cSld>
  <p:clrMapOvr>
    <a:masterClrMapping/>
  </p:clrMapOvr>
</p:notes>
</file>

<file path=ppt/notesSlides/d3_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审核点写出来以后，要用样例检查不同角色是否理解一致。六十五摄氏度直接拖地与给定资料的功能对象不一致，基站支持六十五摄氏度热水洗拖布有资料支持；六十五摄氏度热水深度清洁需要结合全文，仍不清楚时交人工确认；不写温度值的热水洗拖布表达对本温度项不适用。样例的预期判断先经业务确认，再比较系统结果，正常、错误、待确认和不适用都要覆盖，发现误报或遗漏后修改审核点并回归验证。</a:t>
            </a:r>
          </a:p>
        </p:txBody>
      </p:sp>
    </p:spTree>
  </p:cSld>
  <p:clrMapOvr>
    <a:masterClrMapping/>
  </p:clrMapOvr>
</p:notes>
</file>

<file path=ppt/notesSlides/d3_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版建议把审核点库与业务资料库分开管理。审核人员和产品整理候选要求，由对应业务负责人确认标准及依据，用样例试跑之后再审核启用，系统只选择已启用且符合范围和生效条件的版本。审核点记录编号、版本、状态、负责人、适用范围与生效时间，变更形成新版本并重新验证，停用版本退出后续选择，但历史任务保留原来引用。商品、活动和配送资料由各自负责人确认，按SKU、活动和适用时间管理版本；事实更新和判断标准更新分别处理，不覆盖过去的执行证据。</a:t>
            </a:r>
          </a:p>
        </p:txBody>
      </p:sp>
    </p:spTree>
  </p:cSld>
  <p:clrMapOvr>
    <a:masterClrMapping/>
  </p:clrMapOvr>
</p:notes>
</file>

<file path=ppt/notesSlides/d3_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先取得任务上下文，包含商品SKU、活动、内容类型、审核环节和适用时间，这些信息可由作者选择或业务系统带入，不能靠模型猜一个不确定的商品或活动。业务场景关联审核方案，方案关联已启用的审核点，保留约定的必查项，再逐项判断是否适用；不能只检索几个相似审核点就宣称全部覆盖。资料通过SKU、活动、资料类型和适用时间关联，选择本次审核有效的版本，巡检还需要已确认的业务变化与使用状态。少量资料可以直接提供，较长资料可在限定范围内检索相关段落；缺项、过期或冲突交责任人确认，不一律取全库最新资料。</a:t>
            </a:r>
          </a:p>
        </p:txBody>
      </p:sp>
    </p:spTree>
  </p:cSld>
  <p:clrMapOvr>
    <a:masterClrMapping/>
  </p:clrMapOvr>
</p:notes>
</file>

<file path=ppt/notesSlides/d3_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把一次模型执行拆成明确输入和输出：输入包括当前完整文案、本次适用的R01审核点、绑定商品与适用资料，系统把它们组织成检查任务交给模型。模型按温度与功能对象一致性的标准，比较文案中的直接拖地与资料中的基站洗拖布，返回问题原句、检查结论、引用依据和建议，执行记录关联文案、审核点和资料版本；这里是教学预期结果，不是实测模型输出。输出字段可约定成固定结构，系统还要校验结果可用、引用存在并属于本次资料，审核人员再确认提示和处理，结构完整不保证判断一定正确。缺资料或语义不明确返回待确认，执行失败单独处理；其他审核点可能由程序执行，具体分工在第五节展开。</a:t>
            </a:r>
          </a:p>
        </p:txBody>
      </p:sp>
    </p:spTree>
  </p:cSld>
  <p:clrMapOvr>
    <a:masterClrMapping/>
  </p:clrMapOvr>
</p:notes>
</file>

<file path=ppt/notesSlides/d3_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把检查结果接到实际动作。有资料支持就保留依据，不能扩大成整篇正式通过；与依据不一致则修改或确认新的有效依据；缺条件则补充后复核；信息不足就列明缺项与责任人；不适用则说明理由，不强迫补写无关内容。超时、资料读取失败或返回不可用属于执行未可靠完成，要重试或交人工补核，不能显示成未发现问题。至此我们定义了任务、验证了样例、安排了管理和调用路径，下一节再选择规则、模型与人工怎样分工。</a:t>
            </a:r>
          </a:p>
        </p:txBody>
      </p:sp>
    </p:spTree>
  </p:cSld>
  <p:clrMapOvr>
    <a:masterClrMapping/>
  </p:clrMapOvr>
</p:notes>
</file>

<file path=ppt/notesSlides/d4_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节把业务要求定义成审核点，并说明标准和资料怎样管理与匹配。第五节简要比较规则程序、模型和人工的适用场景，重点沿一条价格检查看系统怎样组织输入、选择执行链、调用、校验和交接。首版仍然服务审核提效，正式审核与内容处置由有权限的人决定。</a:t>
            </a:r>
          </a:p>
        </p:txBody>
      </p:sp>
    </p:spTree>
  </p:cSld>
  <p:clrMapOvr>
    <a:masterClrMapping/>
  </p:clrMapOvr>
</p:notes>
</file>

<file path=ppt/notesSlides/d4_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项目的混合审核，是把规则与程序校验、模型语义判断和人工复核按任务组合。程序适合资料关联、适用时间、金额计算和引用来源这些明确条件，模型辅助理解自由表达中的对象、资格与条件范围，人负责确认事实、处理争议并承担正式决定。这个划分是首版待验证的选择，并非绝对能力边界，也不要求一条审核点只用一种办法。若整理资料和清单已经解决主要问题，可以先采用较简单的方式，组合本身不保证提效。</a:t>
            </a:r>
          </a:p>
        </p:txBody>
      </p:sp>
    </p:spTree>
  </p:cSld>
  <p:clrMapOvr>
    <a:masterClrMapping/>
  </p:clrMapOvr>
</p:notes>
</file>

<file path=ppt/notesSlides/d4_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先读取当前文案、商品活动等上下文，以及第四节选出的适用审核点和有效资料。每条审核点关联经过确认的执行配置，配置说明需要哪些输入、调用程序还是模型、步骤怎样衔接、输出什么以及失败交给谁，首版可以采用明确的预设工作流。执行后校验原句定位、引用来源、返回结构和完成状态，合并同一业务问题的结果，再交审核人员确认、交作者修改并复核。这里是本项目的方案设计，不意味着已经运行，也不需要先做一个让模型自由选择所有步骤的复杂系统。</a:t>
            </a:r>
          </a:p>
        </p:txBody>
      </p:sp>
    </p:spTree>
  </p:cSld>
  <p:clrMapOvr>
    <a:masterClrMapping/>
  </p:clrMapOvr>
</p:notes>
</file>

<file path=ppt/notesSlides/d4_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新会员领券一千七百九十九元这句话演示。程序先取得绑定活动的有效方案，核算两千三百九十九减四百得到一千九百九十九元，新会员再减两百得到一千七百九十九元；模型结合完整文案识别宣传价格、人群和两类券的领取使用条件，不能把资料写过的条件当成文案已经写明。模型返回后，程序校验引用和原句是否属于本次材料，审核员确认问题，必要时交活动负责人解释，作者修改后再复核。条件可以在同篇文案其他位置清楚交代，金额计算成立与条件缺失可以同时成立，合并后保留相应问题。</a:t>
            </a:r>
          </a:p>
        </p:txBody>
      </p:sp>
    </p:spTree>
  </p:cSld>
  <p:clrMapOvr>
    <a:masterClrMapping/>
  </p:clrMapOvr>
</p:notes>
</file>

<file path=ppt/notesSlides/d4_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模型调用需要当前完整文案、适用审核点、有效资料以及必要的业务上下文，系统记录文案、审核点、资料和调用配置的版本。要求模型按约定结构返回问题原句或位置、检查结论、依据引用、处理建议，以及无法完成的部分，程序先检查字段可用、原句确实存在、引用来自本次允许资料，并保留每项执行状态。结构合规和引用存在并不能证明语义结论一定正确，仍需人工核实并通过样例验证。依赖资料或前一步提取的检查按依赖顺序串联，独立项可以并行；任何单项失败都不能悄悄并入通过。</a:t>
            </a:r>
          </a:p>
        </p:txBody>
      </p:sp>
    </p:spTree>
  </p:cSld>
  <p:clrMapOvr>
    <a:masterClrMapping/>
  </p:clrMapOvr>
</p:notes>
</file>

<file path=ppt/notesSlides/d4_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失败分支必须提前定义。缺有效资料就补齐或交对应业务负责人确认，不能用常识补全；返回了原文不存在的句子，或者引用来自其他活动，就不能直接当作可靠发现，需要重新定位或获取适用资料，仍无法解决时交人核实。若程序与模型对同一事实判断冲突，带原句、依据和判断路径交人确认，不能简单投票；金额正确但条件缺失属于不同维度，可以同时保留。超时或结果不可用要明确标记未完成，按约定重试或人工补核，其他检查完成也不能覆盖失败项，正式审核和内容处置仍由有权限的人作出。</a:t>
            </a:r>
          </a:p>
        </p:txBody>
      </p:sp>
    </p:spTree>
  </p:cSld>
  <p:clrMapOvr>
    <a:masterClrMapping/>
  </p:clrMapOvr>
</p:notes>
</file>

<file path=ppt/notesSlides/d4_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节最后保留一条可解释的执行链：准备阶段读取任务、审核点和有效资料，系统根据已确认配置组织执行；执行阶段由程序与模型分别完成适合的步骤，回传可核对的原句、依据、结论和状态；处理阶段由审核员确认与复核，异常重试或人工接手，正式决定和处置由人承担。判断组合是否有价值，还要验证问题质量、遗漏误报、处理成本与总人工投入。下一节再把这些调用和交接落实到系统架构、用户页面和任务状态，按全课安排可在此休息十分钟。</a:t>
            </a:r>
          </a:p>
        </p:txBody>
      </p:sp>
    </p:spTree>
  </p:cSld>
  <p:clrMapOvr>
    <a:masterClrMapping/>
  </p:clrMapOvr>
</p:notes>
</file>

<file path=ppt/notesSlides/d5_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面已经明确三个业务环节，以及每条审核点怎样执行。这一节把它们接到用户能完成的任务上：从哪里进入、看到什么、执行哪些操作，之后状态怎样变化、下一步交给谁。页面介绍预留截图区域，讲解围绕真实任务展开。</a:t>
            </a:r>
          </a:p>
        </p:txBody>
      </p:sp>
    </p:spTree>
  </p:cSld>
  <p:clrMapOvr>
    <a:masterClrMapping/>
  </p:clrMapOvr>
</p:notes>
</file>

<file path=ppt/notesSlides/d5_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用三层职责看整个系统。业务应用层让人提交、修改、确认和跟踪，审核能力层组织适用检查并返回可核对结果，模型与资料层提供语言能力和有效依据。亚慧参考课中的审核规则引擎，可以在这里理解为组织审核点和执行结果的模块；这并不要求首版建设三个独立系统或复杂拖拽画布。</a:t>
            </a:r>
          </a:p>
        </p:txBody>
      </p:sp>
    </p:spTree>
  </p:cSld>
  <p:clrMapOvr>
    <a:masterClrMapping/>
  </p:clrMapOvr>
</p:notes>
</file>

<file path=ppt/notesSlides/d5_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小周保存初稿并选择商品和活动后发起检查，系统保留发起时正文、上下文和依据版本。检查完成后展示问题位置、依据和各项执行状态，作者可以修改、补资料或说明异议。保存修改稿形成新版本，再检查时建立新的关联记录；旧记录保留，缺资料的检查不能被其他完成项掩盖。</a:t>
            </a:r>
          </a:p>
        </p:txBody>
      </p:sp>
    </p:spTree>
  </p:cSld>
  <p:clrMapOvr>
    <a:masterClrMapping/>
  </p:clrMapOvr>
</p:notes>
</file>

<file path=ppt/notesSlides/d5_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正式提交需要明确本次审的是哪个正文版本，由谁负责。小林查看原句、依据、作者说明和未完成项，确认问题后可以请求补资料或退回修改；小周修改为新版本重新提交，再逐条复核。通过结论只对应实际提交且确认过的版本，后续使用还要登记位置与维护人；既有检查能否复用取决于正文、业务上下文和各项依据是否仍有效。</a:t>
            </a:r>
          </a:p>
        </p:txBody>
      </p:sp>
    </p:spTree>
  </p:cSld>
  <p:clrMapOvr>
    <a:masterClrMapping/>
  </p:clrMapOvr>
</p:notes>
</file>

<file path=ppt/notesSlides/d5_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活动负责人确认赠品名额已用完后，先登记变化事件、依据、生效条件和责任人，再核对本活动仍在使用的内容并建立批次。使用状态不明的内容单列待核，不能悄悄排除。发现问题后交给内容负责人，经过修改与相应复核，最终确认实际使用位置已经更新；旧审核记录继续保留，检查运行结束不等于处置完成。</a:t>
            </a:r>
          </a:p>
        </p:txBody>
      </p:sp>
    </p:spTree>
  </p:cSld>
  <p:clrMapOvr>
    <a:masterClrMapping/>
  </p:clrMapOvr>
</p:notes>
</file>

<file path=ppt/notesSlides/d5_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先贴内容编辑与自检页面。围绕小周的任务讲解当前正文版本、商品活动关联、可用资料、问题定位和未完成检查。作者可以修改、补资料或说明异议，正式提交另形成审核任务，旧版本结果要明确标识。</a:t>
            </a:r>
          </a:p>
        </p:txBody>
      </p:sp>
    </p:spTree>
  </p:cSld>
  <p:clrMapOvr>
    <a:masterClrMapping/>
  </p:clrMapOvr>
</p:notes>
</file>

<file path=ppt/notesSlides/d5_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列表页帮助小林优先找到需要自己处理的任务，查看稿件、作者、提交版本、审核人、等待原因和最近处理时间。系统检查状态与人工审核状态需要分开，检查已完成仍可能是人工待审。页面支持进入详情，具备权限的角色再进行分派。</a:t>
            </a:r>
          </a:p>
        </p:txBody>
      </p:sp>
    </p:spTree>
  </p:cSld>
  <p:clrMapOvr>
    <a:masterClrMapping/>
  </p:clrMapOvr>
</p:notes>
</file>

<file path=ppt/notesSlides/d5_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详情页围绕原文、问题和依据的关联展开，点击问题定位原句，也能由原句回到问题，依据展开后显示来源和版本。审核员确认问题或记录不成立的原因，请求补资料或退回修改，复核时对照新版本与上一轮意见。问题合并展示后仍要保留未完成项，正式决定由有权限的人作出。</a:t>
            </a:r>
          </a:p>
        </p:txBody>
      </p:sp>
    </p:spTree>
  </p:cSld>
  <p:clrMapOvr>
    <a:masterClrMapping/>
  </p:clrMapOvr>
</p:notes>
</file>

<file path=ppt/notesSlides/d5_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巡检页面先说明为什么查、依据从什么时候起适用以及本次范围，接着区分检查完成情况、范围待核和问题处理状态。发现问题要找到内容负责人，跟踪认领、修改和复核，最后核验实际使用位置已更新。仅内部文档修改不能作为实际使用内容处理完成的证据。</a:t>
            </a:r>
          </a:p>
        </p:txBody>
      </p:sp>
    </p:spTree>
  </p:cSld>
  <p:clrMapOvr>
    <a:masterClrMapping/>
  </p:clrMapOvr>
</p:notes>
</file>

<file path=ppt/notesSlides/d5_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管理页承接第四节的审核点和业务资料维护，不在这里重复定义方法。重点展示适用范围、有效时间、当前版本与历史，审核点经过确认和样例验证后启用，资料由对应负责人确认。变更后识别受影响任务和在用内容，为重新检查提供入口。</a:t>
            </a:r>
          </a:p>
        </p:txBody>
      </p:sp>
    </p:spTree>
  </p:cSld>
  <p:clrMapOvr>
    <a:masterClrMapping/>
  </p:clrMapOvr>
</p:notes>
</file>

<file path=ppt/notesSlides/d5_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页面上的按钮要对应角色职责。作者编辑并说明异议，审核员确认问题、复核和作出正式决定，资料负责人确认有效事实与变更，内容负责人维护使用状态并核验实际更新。每个动作保留对应记录和责任人，提出异议并不直接产生正式通过结论。</a:t>
            </a:r>
          </a:p>
        </p:txBody>
      </p:sp>
    </p:spTree>
  </p:cSld>
  <p:clrMapOvr>
    <a:masterClrMapping/>
  </p:clrMapOvr>
</p:notes>
</file>

<file path=ppt/notesSlides/d5_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三类记录回答不同问题。检查记录说明查了哪个版本以及哪些完成，问题处理记录说明提示是否成立、怎样修改和是否复核解决，正式审核记录说明谁对哪个提交版本作出了决定。页面不能只用一个绿色图标代表全部完成，实际使用的位置与版本还需要另行关联和核验。</a:t>
            </a:r>
          </a:p>
        </p:txBody>
      </p:sp>
    </p:spTree>
  </p:cSld>
  <p:clrMapOvr>
    <a:masterClrMapping/>
  </p:clrMapOvr>
</p:notes>
</file>

<file path=ppt/notesSlides/d5_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学员先判断，作者保存新稿后旧请求才返回，这条结果应该放在哪里。结果继续关联发起时的旧版本，页面提示当前已有新稿，不能覆盖新正文或直接拿来批准新版本。只有正文、商品活动、资料、标准和配置等相关条件满足有效性要求时才能按约定复用，依赖关系不确定就重新检查全文，正式结论对应实际提交的版本。</a:t>
            </a:r>
          </a:p>
        </p:txBody>
      </p:sp>
    </p:spTree>
  </p:cSld>
  <p:clrMapOvr>
    <a:masterClrMapping/>
  </p:clrMapOvr>
</p:notes>
</file>

<file path=ppt/notesSlides/d5_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看主流程之外的出口。缺资料要显示缺项和受影响检查，交对应人员补齐；部分检查失败时保留其他完成项，失败项重试或人工补核，不能计为通过。巡检范围不明或无人接收时保留待核和待承接状态，交负责人协调，重复点击也不能产生重复正式流转，资料冲突则带原句与版本依据交人确认。</a:t>
            </a:r>
          </a:p>
        </p:txBody>
      </p:sp>
    </p:spTree>
  </p:cSld>
  <p:clrMapOvr>
    <a:masterClrMapping/>
  </p:clrMapOvr>
</p:notes>
</file>

<file path=ppt/notesSlides/d5_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节的产品方案应能沿一篇稿件完整解释，从哪里提交、使用什么依据、谁看见什么结果，怎样修改和确认，以及实际使用后怎样巡检和更新。系统分工、页面操作、状态记录、版本关联与异常承接要相互对应。下一节再讨论建设先后与验证证据，判断这套方案是否真的提升审核效率。</a:t>
            </a:r>
          </a:p>
        </p:txBody>
      </p:sp>
    </p:spTree>
  </p:cSld>
  <p:clrMapOvr>
    <a:masterClrMapping/>
  </p:clrMapOvr>
</p:notes>
</file>

<file path=ppt/notesSlides/d6_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六节已经把业务目标、审核点、能力分工和产品流程接起来。最后一节说明先准备什么、按什么顺序实现，以及用什么证据判断是否继续投入。首版的目标仍是三段审核提效，课堂方案需要通过真实材料和工作验证。</a:t>
            </a:r>
          </a:p>
        </p:txBody>
      </p:sp>
    </p:spTree>
  </p:cSld>
  <p:clrMapOvr>
    <a:masterClrMapping/>
  </p:clrMapOvr>
</p:notes>
</file>

<file path=ppt/notesSlides/d6_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施之前，先检查依据、样例、内容关联和人工承接是否准备好。有效材料要由对应业务负责人确认，验证样例也要有人的参考判断；内容登记决定巡检范围，接入安排与角色责任决定问题是否有人处理。依赖缺失就补齐或缩小范围，不能把准备工作默认算作已经完成。</a:t>
            </a:r>
          </a:p>
        </p:txBody>
      </p:sp>
    </p:spTree>
  </p:cSld>
  <p:clrMapOvr>
    <a:masterClrMapping/>
  </p:clrMapOvr>
</p:notes>
</file>

<file path=ppt/notesSlides/d6_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步用功能、价格和赠品样例验证关键审核点，明确资料、判断、定位和失败出口。第二步做深正式审核，走完提交、退回、修改、复核和定稿，再复用能力接上自检与人工发起巡检。最后选择资料完整、有人承接的小范围真实工作试用，保留人工正式审核；这只是首版内部建设顺序，不代表删除自检或巡检。</a:t>
            </a:r>
          </a:p>
        </p:txBody>
      </p:sp>
    </p:spTree>
  </p:cSld>
  <p:clrMapOvr>
    <a:masterClrMapping/>
  </p:clrMapOvr>
</p:notes>
</file>

<file path=ppt/notesSlides/d6_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能只展示一个明显错误被发现，还要检查正常表达是否被误报，模糊表达是否被擅自补充含义，缺资料或执行失败是否明确表示未完成。没有相关主张时，也不能强迫作者补写无关内容。样例由业务确认，调试与独立验证材料分开，避免记住熟悉答案就以为场景已经可靠，修改后还要回归代表样例。</a:t>
            </a:r>
          </a:p>
        </p:txBody>
      </p:sp>
    </p:spTree>
  </p:cSld>
  <p:clrMapOvr>
    <a:masterClrMapping/>
  </p:clrMapOvr>
</p:notes>
</file>

<file path=ppt/notesSlides/d6_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验证要同时看问题质量、总人工、版本关系、巡检处理和运行代价。作者准备、自检和修改，审核员核对、纠错和复核都算劳动，等待时间单独记录；范围不明项也要跟进。试用前和业务约定要求及退出条件，结合任务难度、资料完整度和人员熟悉程度比较，不能直接套用其他项目的阈值。</a:t>
            </a:r>
          </a:p>
        </p:txBody>
      </p:sp>
    </p:spTree>
  </p:cSld>
  <p:clrMapOvr>
    <a:masterClrMapping/>
  </p:clrMapOvr>
</p:notes>
</file>

<file path=ppt/notesSlides/d6_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用课堂数据判断：两组各处理十篇可比文案，作者准备、自检与修改从六十分钟增加到八十分钟，审核查资料从一百分钟减少到六十分钟，沟通纠错和复核从四十分钟增加到六十五分钟。请先算两组总人工，再讨论还缺哪些证据。数字只用于课堂计算，既不是实测效果，也不是推荐验收样本量。</a:t>
            </a:r>
          </a:p>
        </p:txBody>
      </p:sp>
    </p:spTree>
  </p:cSld>
  <p:clrMapOvr>
    <a:masterClrMapping/>
  </p:clrMapOvr>
</p:notes>
</file>

<file path=ppt/notesSlides/d6_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原流程总人工两百分钟，辅助流程两百零五分钟，所以不能只凭查资料变快宣布提效。需要分析增加的作者劳动、沟通和复核来自哪里，同时检查质量是否改善、等待是否减少、任务是否可比。没有收益证据就不急于扩大；如果质量收益足以接受成本增加，也必须由业务明确取舍，不能偷偷更改项目目标。</a:t>
            </a:r>
          </a:p>
        </p:txBody>
      </p:sp>
    </p:spTree>
  </p:cSld>
  <p:clrMapOvr>
    <a:masterClrMapping/>
  </p:clrMapOvr>
</p:notes>
</file>

<file path=ppt/notesSlides/d6_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质量满足约定要求、流程与承接稳定且收益可确认时，可以逐步扩大相似商品与人员范围。有问题要先区分出在资料、理解、条件比较、定位引用还是用户处理，修复后回归，不能一律归因模型。关键错误不可控或问题无人处理时缩小范围，必要时回到人工流程，并留下调整理由。</a:t>
            </a:r>
          </a:p>
        </p:txBody>
      </p:sp>
    </p:spTree>
  </p:cSld>
  <p:clrMapOvr>
    <a:masterClrMapping/>
  </p:clrMapOvr>
</p:notes>
</file>

<file path=ppt/notesSlides/d6_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版先验证审核提效，自动完成某条检查与自动作出整篇通过或拦截决定是不同阶段。后续可以从边界明确的场景评估，但需要完整覆盖、有效依据、质量证据、处置权限、异常承接和恢复人工方式，并得到明确授权。不能直接把系统没有发现问题接成自动发布。</a:t>
            </a:r>
          </a:p>
        </p:txBody>
      </p:sp>
    </p:spTree>
  </p:cSld>
  <p:clrMapOvr>
    <a:masterClrMapping/>
  </p:clrMapOvr>
</p:notes>
</file>

<file path=ppt/notesSlides/d6_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课从企业原有审核出发，明确首版目标，串起自检、正式审核和巡检，再把审核要求变成审核点，组合执行能力，落实到产品操作，最后安排实施与验证。课后把方案收成一页，写清先做什么、谁负责、依赖什么、用哪些证据决定下一步。这是项目方案课的成果，不要求提交完整的产品需求文档，后续再深化接入、配置、页面状态和验证后的取舍。</a:t>
            </a:r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节课我们做一个电商营销内容审核项目，案例是净小伴P1标准版扫拖机器人，面向养宠家庭写日常推广文案。配图只是帮助大家进入使用情境，品牌、人物、商品资料和图片都是教学模拟。我们的第一版定位是审核提效，希望让作者和审核员少做一些重复劳动，正式审核决定和后续处置仍由人承担。</a:t>
            </a:r>
          </a:p>
          <a:p>
            <a:pPr/>
            <a:endParaRPr lang="zh-CN" dirty="0"/>
          </a:p>
          <a:p>
            <a:pPr/>
            <a:r>
              <a:rPr lang="zh-CN" dirty="0"/>
              <a:t>项目覆盖三个环节：作者提交之前的事前自检，审核员处理稿件时的事中审核，以及内容使用后的事后巡检。今天会从业务背景开始，经过目标和方案，走到产品页面、实施安排与验证办法。先记住这条业务主线，三个环节具体怎样衔接，后面会结合文案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严格沿讲义的七节推进。第一节看业务背景，先弄清企业原来的审核怎么做，哪些动作反复出现。第二节定义项目目标，明确第一版要让谁少做什么，以及范围到哪里。第三节设计业务方案，把自检、正式审核和巡检接成闭环。</a:t>
            </a:r>
          </a:p>
          <a:p>
            <a:pPr/>
            <a:endParaRPr lang="zh-CN" dirty="0"/>
          </a:p>
          <a:p>
            <a:pPr/>
            <a:r>
              <a:rPr lang="zh-CN" dirty="0"/>
              <a:t>第四节是审核体系，把一条业务要求转成能执行的具体审核点。第五节选择方案，确定规则、模型和人工怎样分工、怎样交接。第六节把流程落实到系统与产品方案，包括架构、页面、版本和状态。最后一节讨论落地与验证，确定先做什么，用哪些证据判断是否提效。整堂课安排一百八十分钟，包含两次各十分钟休息。讲义与PPT使用相同的七节名称，大家可以逐节对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回到企业原有的日常工作。小周按计划给P1写一篇推广，自己检查后，把正文和相关资料交给小林。小周负责写稿、自查和修改；小林需要读懂原句，找到相应依据，判断表述是否准确，再把问题反馈给小周，收到新稿后还要复核。</a:t>
            </a:r>
          </a:p>
          <a:p>
            <a:pPr/>
            <a:endParaRPr lang="zh-CN" dirty="0"/>
          </a:p>
          <a:p>
            <a:pPr/>
            <a:r>
              <a:rPr lang="zh-CN" dirty="0"/>
              <a:t>小林不能只凭自己的产品常识判断。商品事实要由产品负责人确认，价格和赠品条件要找活动负责人，配送承诺要由履约负责人确认。资料缺失，或者两份资料说法冲突，都需要回到相应责任人，先把业务事实弄清楚。审核员的工作，是让文案和已确认的事实对应起来，并说明怎样修改。</a:t>
            </a:r>
          </a:p>
          <a:p>
            <a:pPr/>
            <a:endParaRPr lang="zh-CN" dirty="0"/>
          </a:p>
          <a:p>
            <a:pPr/>
            <a:r>
              <a:rPr lang="zh-CN" dirty="0"/>
              <a:t>定稿之后，内容负责人还要维护实际使用的版本和位置。否则后续即使发现条件变化，也未必知道应该找谁、修改哪一份内容。大家可以先用自己的工作经验对照一下：你们公司的角色叫什么名字，哪些职责由同一个人兼任？称呼和人数可以变化，但人工阅读、资料对照和责任人确认这三件事仍然要有人承担。下面把这些角色连成一条实际流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图展示一篇需要修改的文案怎样走完一轮审核。第一步，作者撰写并自查，形成初稿；第二步，提交正文和相关资料；第三步，审核员对照原句与依据逐项核对。发现问题后，第四步给出反馈，说明哪里有问题，以及需要怎样修改。第五步由作者修改并提交新版本，第六步由审核员逐项复核，确认之前的问题是否已解决，最后才按既定权限定稿并按计划使用。</a:t>
            </a:r>
          </a:p>
          <a:p>
            <a:pPr/>
            <a:endParaRPr lang="zh-CN" dirty="0"/>
          </a:p>
          <a:p>
            <a:pPr/>
            <a:r>
              <a:rPr lang="zh-CN" dirty="0"/>
              <a:t>这里的反馈、修改和复核可能不止一轮。只要还有未解决的问题，就继续反馈和修改，不能因为作者提交了新版本，就默认问题消失。反过来，如果核对后没有待处理事项，也不需要人为增加修改环节，可以按企业既定权限定稿。</a:t>
            </a:r>
          </a:p>
          <a:p>
            <a:pPr/>
            <a:endParaRPr lang="zh-CN" dirty="0"/>
          </a:p>
          <a:p>
            <a:pPr/>
            <a:r>
              <a:rPr lang="zh-CN" dirty="0"/>
              <a:t>还要留意，审核通过必须对应明确版本。内容负责人需要知道，哪个版本正在什么位置使用。比如作者后续重新改了一句，原先通过的结论并不会自然覆盖这个新版本。我们先把流程讲清楚，后面再考虑用什么产品能力来承接。接下来只拿价格这一句话，看看小林在“对照核对”这个步骤里，到底做了哪些动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小林看到的原句是：“本次活动到手一千七百九十九元，人人同价！”大家先想一想，如果你是审核员，仅凭这一句话，能不能判断它准确？需要核实的至少包括：什么人能享受这个价格，以及满足什么条件才能拿到。</a:t>
            </a:r>
          </a:p>
          <a:p>
            <a:pPr/>
            <a:endParaRPr lang="zh-CN" dirty="0"/>
          </a:p>
          <a:p>
            <a:pPr/>
            <a:r>
              <a:rPr lang="zh-CN" dirty="0"/>
              <a:t>现在找到本次活动的当前资料。案例给定活动价是两千三百九十九元，先领取并使用四百元活动券，得到一千九百九十九元；新会员还需要再领取并使用两百元专享券，才能达到一千七百九十九元，而且这些条件只在本次活动适用期内有效。这里的金额、资料编号和条件都是教学给定。</a:t>
            </a:r>
          </a:p>
          <a:p>
            <a:pPr/>
            <a:endParaRPr lang="zh-CN" dirty="0"/>
          </a:p>
          <a:p>
            <a:pPr/>
            <a:r>
              <a:rPr lang="zh-CN" dirty="0"/>
              <a:t>所以，小林不是扫一眼价格数字就完成了。他先读原句，再找到当前活动资料，然后逐一核对价格、用户资格，以及两类优惠券的领取和使用要求，最后回到正文给出修改意见。数字可能算得对，适用人群和条件仍可能被写大。</a:t>
            </a:r>
          </a:p>
          <a:p>
            <a:pPr/>
            <a:endParaRPr lang="zh-CN" dirty="0"/>
          </a:p>
          <a:p>
            <a:pPr/>
            <a:r>
              <a:rPr lang="zh-CN" dirty="0"/>
              <a:t>如果只写“价格不对”或者“补一下条件”，作者仍然不知道应该补到什么程度。可执行的意见是：补齐新会员资格、两类券的领取与使用条件，并删除“人人同价”。请大家把这个过程再复述一次，注意把找资料和解释意见这两部分劳动也算进去。我们这里只完成了价格这一个例子的核对，并不代表商品功能、赠品、配送等其余审核项已经完成，更不代表整篇通过。下一页看这些动作在日常工作中怎样变成痛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从前面的具体动作归纳痛点。第一处是查找资料：小林一会儿看正文，一会儿翻商品、活动和配送资料。没有明显错误的句子，也需要核实，才能负责任地确认。可以请大家回忆一下，自己审核一份材料时，需要打开多少份资料，哪些查找会在下一篇文案里重复。</a:t>
            </a:r>
          </a:p>
          <a:p>
            <a:pPr/>
            <a:endParaRPr lang="zh-CN" dirty="0"/>
          </a:p>
          <a:p>
            <a:pPr/>
            <a:r>
              <a:rPr lang="zh-CN" dirty="0"/>
              <a:t>第二处是解释往返。小林写“价格补条件”，小周改成“领券一千七百九十九”，看起来改过了，但仍然没有说清新会员资格和两类券。于是又要解释、修改、重提。这里的耗时来自双方没有接到同一套完整条件。</a:t>
            </a:r>
          </a:p>
          <a:p>
            <a:pPr/>
            <a:endParaRPr lang="zh-CN" dirty="0"/>
          </a:p>
          <a:p>
            <a:pPr/>
            <a:r>
              <a:rPr lang="zh-CN" dirty="0"/>
              <a:t>第三处是版本复核。作者回复“已修改”，审核员仍要把旧意见、新版本原句和当前依据重新对应起来。既要确认原问题已经解决，也要检查这一版的其他改动。不能把有修改记录直接等同于通过。</a:t>
            </a:r>
          </a:p>
          <a:p>
            <a:pPr/>
            <a:endParaRPr lang="zh-CN" dirty="0"/>
          </a:p>
          <a:p>
            <a:pPr/>
            <a:r>
              <a:rPr lang="zh-CN" dirty="0"/>
              <a:t>第四处发生在内容使用以后。活动负责人确认赠品名额用完，需要找到这次活动中相关的在用内容，以及负责维护的人。停用的历史内容、别的活动、只讲商品功能的内容，不能一律要求修改。找到正确对象和责任人，本身就是工作。</a:t>
            </a:r>
          </a:p>
          <a:p>
            <a:pPr/>
            <a:endParaRPr lang="zh-CN" dirty="0"/>
          </a:p>
          <a:p>
            <a:pPr/>
            <a:r>
              <a:rPr lang="zh-CN" dirty="0"/>
              <a:t>大家可以选择其中一处，说出它在自己业务里的具体表现，以及应该记录谁的投入。后面判断是否提效，要同时看作者和审核员的总投入，不能只看某一个操作快了几秒。明确这些真实劳动之后，第二节再定义希望减少什么，以及第一版具体做到哪里。</a:t>
            </a:r>
          </a:p>
        </p:txBody>
      </p:sp>
    </p:spTree>
  </p:cSld>
  <p:clrMapOvr>
    <a:masterClrMapping/>
  </p:clrMapOvr>
</p:notes>
</file>

<file path=ppt/slideLayouts/_rels/d1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d1_slideMaster1.xml"/></Relationships>
</file>

<file path=ppt/slideLayouts/_rels/d2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d2_slideMaster1.xml"/></Relationships>
</file>

<file path=ppt/slideLayouts/_rels/d3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d3_slideMaster1.xml"/></Relationships>
</file>

<file path=ppt/slideLayouts/_rels/d4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d4_slideMaster1.xml"/></Relationships>
</file>

<file path=ppt/slideLayouts/_rels/d5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d5_slideMaster1.xml"/></Relationships>
</file>

<file path=ppt/slideLayouts/_rels/d6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d6_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d1_slideLayout7.xml><?xml version="1.0" encoding="utf-8"?>
<p:sldLayout xmlns:a="http://schemas.openxmlformats.org/drawingml/2006/main" xmlns:p="http://schemas.openxmlformats.org/presentationml/2006/main" type="blank" preserve="1">
  <p:cSld name="lesson1_section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d2_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d3_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d4_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d5_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d6_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1_rebuild_sampl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d1_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d1_slideLayout7.xml"/><Relationship Id="rId12" Type="http://schemas.openxmlformats.org/officeDocument/2006/relationships/theme" Target="../theme/d1_theme1.xml"/></Relationships>
</file>

<file path=ppt/slideMasters/_rels/d2_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d2_slideLayout7.xml"/><Relationship Id="rId12" Type="http://schemas.openxmlformats.org/officeDocument/2006/relationships/theme" Target="../theme/d2_theme1.xml"/></Relationships>
</file>

<file path=ppt/slideMasters/_rels/d3_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d3_slideLayout7.xml"/><Relationship Id="rId12" Type="http://schemas.openxmlformats.org/officeDocument/2006/relationships/theme" Target="../theme/d3_theme1.xml"/></Relationships>
</file>

<file path=ppt/slideMasters/_rels/d4_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d4_slideLayout7.xml"/><Relationship Id="rId12" Type="http://schemas.openxmlformats.org/officeDocument/2006/relationships/theme" Target="../theme/d4_theme1.xml"/></Relationships>
</file>

<file path=ppt/slideMasters/_rels/d5_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d5_slideLayout7.xml"/><Relationship Id="rId12" Type="http://schemas.openxmlformats.org/officeDocument/2006/relationships/theme" Target="../theme/d5_theme1.xml"/></Relationships>
</file>

<file path=ppt/slideMasters/_rels/d6_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d6_slideLayout7.xml"/><Relationship Id="rId12" Type="http://schemas.openxmlformats.org/officeDocument/2006/relationships/theme" Target="../theme/d6_theme1.xml"/></Relationships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d1_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section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d2_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d3_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d4_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d5_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d6_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rebuild_sampl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d1_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1_slideLayout7.xml"/>
  <Relationship Id="rId2" Type="http://schemas.openxmlformats.org/officeDocument/2006/relationships/notesSlide" Target="../notesSlides/d1_notesSlide1.xml"/>
</Relationships>
</file>

<file path=ppt/slides/_rels/d1_slide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1_slideLayout7.xml"/>
  <Relationship Id="rId2" Type="http://schemas.openxmlformats.org/officeDocument/2006/relationships/notesSlide" Target="../notesSlides/d1_notesSlide2.xml"/>
</Relationships>
</file>

<file path=ppt/slides/_rels/d1_slide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1_slideLayout7.xml"/>
  <Relationship Id="rId2" Type="http://schemas.openxmlformats.org/officeDocument/2006/relationships/notesSlide" Target="../notesSlides/d1_notesSlide3.xml"/>
</Relationships>
</file>

<file path=ppt/slides/_rels/d1_slide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1_slideLayout7.xml"/>
  <Relationship Id="rId2" Type="http://schemas.openxmlformats.org/officeDocument/2006/relationships/notesSlide" Target="../notesSlides/d1_notesSlide4.xml"/>
</Relationships>
</file>

<file path=ppt/slides/_rels/d1_slide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1_slideLayout7.xml"/>
  <Relationship Id="rId2" Type="http://schemas.openxmlformats.org/officeDocument/2006/relationships/notesSlide" Target="../notesSlides/d1_notesSlide5.xml"/>
</Relationships>
</file>

<file path=ppt/slides/_rels/d1_slide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1_slideLayout7.xml"/>
  <Relationship Id="rId2" Type="http://schemas.openxmlformats.org/officeDocument/2006/relationships/notesSlide" Target="../notesSlides/d1_notesSlide6.xml"/>
</Relationships>
</file>

<file path=ppt/slides/_rels/d2_slide7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2_slideLayout7.xml"/>
  <Relationship Id="rId2" Type="http://schemas.openxmlformats.org/officeDocument/2006/relationships/notesSlide" Target="../notesSlides/d2_notesSlide71.xml"/></Relationships>
</file>

<file path=ppt/slides/_rels/d2_slide7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2_slideLayout7.xml"/>
  <Relationship Id="rId2" Type="http://schemas.openxmlformats.org/officeDocument/2006/relationships/notesSlide" Target="../notesSlides/d2_notesSlide72.xml"/></Relationships>
</file>

<file path=ppt/slides/_rels/d2_slide7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2_slideLayout7.xml"/>
  <Relationship Id="rId2" Type="http://schemas.openxmlformats.org/officeDocument/2006/relationships/notesSlide" Target="../notesSlides/d2_notesSlide73.xml"/></Relationships>
</file>

<file path=ppt/slides/_rels/d2_slide7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2_slideLayout7.xml"/>
  <Relationship Id="rId2" Type="http://schemas.openxmlformats.org/officeDocument/2006/relationships/notesSlide" Target="../notesSlides/d2_notesSlide74.xml"/></Relationships>
</file>

<file path=ppt/slides/_rels/d2_slide7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2_slideLayout7.xml"/>
  <Relationship Id="rId2" Type="http://schemas.openxmlformats.org/officeDocument/2006/relationships/notesSlide" Target="../notesSlides/d2_notesSlide75.xml"/></Relationships>
</file>

<file path=ppt/slides/_rels/d3_slide7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1.xml"/></Relationships>
</file>

<file path=ppt/slides/_rels/d3_slide7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2.xml"/></Relationships>
</file>

<file path=ppt/slides/_rels/d3_slide7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3.xml"/></Relationships>
</file>

<file path=ppt/slides/_rels/d3_slide7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4.xml"/></Relationships>
</file>

<file path=ppt/slides/_rels/d3_slide7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5.xml"/></Relationships>
</file>

<file path=ppt/slides/_rels/d3_slide7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6.xml"/></Relationships>
</file>

<file path=ppt/slides/_rels/d3_slide7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7.xml"/></Relationships>
</file>

<file path=ppt/slides/_rels/d3_slide7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8.xml"/></Relationships>
</file>

<file path=ppt/slides/_rels/d3_slide7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3_slideLayout7.xml"/>
  <Relationship Id="rId2" Type="http://schemas.openxmlformats.org/officeDocument/2006/relationships/notesSlide" Target="../notesSlides/d3_notesSlide79.xml"/></Relationships>
</file>

<file path=ppt/slides/_rels/d4_slide7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4_slideLayout7.xml"/>
  <Relationship Id="rId2" Type="http://schemas.openxmlformats.org/officeDocument/2006/relationships/notesSlide" Target="../notesSlides/d4_notesSlide71.xml"/></Relationships>
</file>

<file path=ppt/slides/_rels/d4_slide7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4_slideLayout7.xml"/>
  <Relationship Id="rId2" Type="http://schemas.openxmlformats.org/officeDocument/2006/relationships/notesSlide" Target="../notesSlides/d4_notesSlide72.xml"/></Relationships>
</file>

<file path=ppt/slides/_rels/d4_slide7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4_slideLayout7.xml"/>
  <Relationship Id="rId2" Type="http://schemas.openxmlformats.org/officeDocument/2006/relationships/notesSlide" Target="../notesSlides/d4_notesSlide73.xml"/></Relationships>
</file>

<file path=ppt/slides/_rels/d4_slide7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4_slideLayout7.xml"/>
  <Relationship Id="rId2" Type="http://schemas.openxmlformats.org/officeDocument/2006/relationships/notesSlide" Target="../notesSlides/d4_notesSlide74.xml"/></Relationships>
</file>

<file path=ppt/slides/_rels/d4_slide7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4_slideLayout7.xml"/>
  <Relationship Id="rId2" Type="http://schemas.openxmlformats.org/officeDocument/2006/relationships/notesSlide" Target="../notesSlides/d4_notesSlide75.xml"/></Relationships>
</file>

<file path=ppt/slides/_rels/d4_slide7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4_slideLayout7.xml"/>
  <Relationship Id="rId2" Type="http://schemas.openxmlformats.org/officeDocument/2006/relationships/notesSlide" Target="../notesSlides/d4_notesSlide76.xml"/></Relationships>
</file>

<file path=ppt/slides/_rels/d4_slide7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4_slideLayout7.xml"/>
  <Relationship Id="rId2" Type="http://schemas.openxmlformats.org/officeDocument/2006/relationships/notesSlide" Target="../notesSlides/d4_notesSlide77.xml"/></Relationships>
</file>

<file path=ppt/slides/_rels/d5_slide7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71.xml"/></Relationships>
</file>

<file path=ppt/slides/_rels/d5_slide7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72.xml"/></Relationships>
</file>

<file path=ppt/slides/_rels/d5_slide7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73.xml"/></Relationships>
</file>

<file path=ppt/slides/_rels/d5_slide7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74.xml"/></Relationships>
</file>

<file path=ppt/slides/_rels/d5_slide7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75.xml"/></Relationships>
</file>

<file path=ppt/slides/_rels/d5_slide7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image" Target="../media/d5_image_ab1cf2a5a388c868.jpg"/>
  <Relationship Id="rId3" Type="http://schemas.openxmlformats.org/officeDocument/2006/relationships/notesSlide" Target="../notesSlides/d5_notesSlide76.xml"/></Relationships>
</file>

<file path=ppt/slides/_rels/d5_slide7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image" Target="../media/d5_image_ab1cf2a5a388c868.jpg"/>
  <Relationship Id="rId3" Type="http://schemas.openxmlformats.org/officeDocument/2006/relationships/notesSlide" Target="../notesSlides/d5_notesSlide77.xml"/></Relationships>
</file>

<file path=ppt/slides/_rels/d5_slide7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image" Target="../media/d5_image_ab1cf2a5a388c868.jpg"/>
  <Relationship Id="rId3" Type="http://schemas.openxmlformats.org/officeDocument/2006/relationships/notesSlide" Target="../notesSlides/d5_notesSlide78.xml"/></Relationships>
</file>

<file path=ppt/slides/_rels/d5_slide7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image" Target="../media/d5_image_ab1cf2a5a388c868.jpg"/>
  <Relationship Id="rId3" Type="http://schemas.openxmlformats.org/officeDocument/2006/relationships/notesSlide" Target="../notesSlides/d5_notesSlide79.xml"/></Relationships>
</file>

<file path=ppt/slides/_rels/d5_slide8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image" Target="../media/d5_image_ab1cf2a5a388c868.jpg"/>
  <Relationship Id="rId3" Type="http://schemas.openxmlformats.org/officeDocument/2006/relationships/notesSlide" Target="../notesSlides/d5_notesSlide80.xml"/></Relationships>
</file>

<file path=ppt/slides/_rels/d5_slide8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81.xml"/></Relationships>
</file>

<file path=ppt/slides/_rels/d5_slide8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82.xml"/></Relationships>
</file>

<file path=ppt/slides/_rels/d5_slide8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83.xml"/></Relationships>
</file>

<file path=ppt/slides/_rels/d5_slide8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84.xml"/></Relationships>
</file>

<file path=ppt/slides/_rels/d5_slide8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5_slideLayout7.xml"/>
  <Relationship Id="rId2" Type="http://schemas.openxmlformats.org/officeDocument/2006/relationships/notesSlide" Target="../notesSlides/d5_notesSlide85.xml"/></Relationships>
</file>

<file path=ppt/slides/_rels/d6_slide7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1.xml"/></Relationships>
</file>

<file path=ppt/slides/_rels/d6_slide7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2.xml"/></Relationships>
</file>

<file path=ppt/slides/_rels/d6_slide7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3.xml"/></Relationships>
</file>

<file path=ppt/slides/_rels/d6_slide7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4.xml"/></Relationships>
</file>

<file path=ppt/slides/_rels/d6_slide7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5.xml"/></Relationships>
</file>

<file path=ppt/slides/_rels/d6_slide7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6.xml"/></Relationships>
</file>

<file path=ppt/slides/_rels/d6_slide7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7.xml"/></Relationships>
</file>

<file path=ppt/slides/_rels/d6_slide7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8.xml"/></Relationships>
</file>

<file path=ppt/slides/_rels/d6_slide7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79.xml"/></Relationships>
</file>

<file path=ppt/slides/_rels/d6_slide8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d6_slideLayout7.xml"/>
  <Relationship Id="rId2" Type="http://schemas.openxmlformats.org/officeDocument/2006/relationships/notesSlide" Target="../notesSlides/d6_notesSlide80.xml"/></Relationships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2f2531b2fd9189c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d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581025"/>
            <a:ext cx="10835640" cy="476250"/>
            <a:chOff x="678180" y="581025"/>
            <a:chExt cx="10835640" cy="476250"/>
          </a:xfrm>
        </p:grpSpPr>
        <p:sp>
          <p:nvSpPr>
            <p:cNvPr id="2" name="TextBox 2"/>
            <p:cNvSpPr txBox="1"/>
            <p:nvPr/>
          </p:nvSpPr>
          <p:spPr>
            <a:xfrm>
              <a:off x="678180" y="581025"/>
              <a:ext cx="3494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AI产品项目实战 / 第一次课 · 第二节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477500" y="581025"/>
              <a:ext cx="11906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约15分钟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47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6750" y="1872615"/>
            <a:ext cx="4146804" cy="933450"/>
            <a:chOff x="666750" y="1872615"/>
            <a:chExt cx="4146804" cy="933450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187261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90750" y="18726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项目目标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97608" y="3274695"/>
            <a:ext cx="4547616" cy="959739"/>
            <a:chOff x="2197608" y="3274695"/>
            <a:chExt cx="4547616" cy="959739"/>
          </a:xfrm>
        </p:grpSpPr>
        <p:sp>
          <p:nvSpPr>
            <p:cNvPr id="9" name="TextBox 9"/>
            <p:cNvSpPr txBox="1"/>
            <p:nvPr/>
          </p:nvSpPr>
          <p:spPr>
            <a:xfrm>
              <a:off x="2197608" y="3274695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第一版，到底要让谁少做什么？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00656" y="3882390"/>
              <a:ext cx="34834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三个目标 · 首版范围 · 验证方向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180" y="5105400"/>
            <a:ext cx="10828020" cy="872109"/>
            <a:chOff x="678180" y="5105400"/>
            <a:chExt cx="10828020" cy="872109"/>
          </a:xfrm>
        </p:grpSpPr>
        <p:sp>
          <p:nvSpPr>
            <p:cNvPr id="12" name="TextBox 12"/>
            <p:cNvSpPr txBox="1"/>
            <p:nvPr/>
          </p:nvSpPr>
          <p:spPr>
            <a:xfrm>
              <a:off x="678180" y="51054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承接与下一步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695450" y="5743575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" y="5495925"/>
              <a:ext cx="253365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838700" y="5495925"/>
              <a:ext cx="25336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972550" y="5495925"/>
              <a:ext cx="253365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89228" y="562546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业务背景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33647" y="5625465"/>
              <a:ext cx="1343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项目目标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75978" y="562546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业务方案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0466" y="6477952"/>
            <a:ext cx="10831068" cy="205359"/>
            <a:chOff x="680466" y="6477952"/>
            <a:chExt cx="108310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80466" y="6477952"/>
              <a:ext cx="3184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电商营销内容审核提效项目 / 净小伴P1教学案例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45380" y="6477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d1_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6896542" cy="1357884"/>
            <a:chOff x="515112" y="457200"/>
            <a:chExt cx="6896542" cy="1357884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2.1 工作目标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89654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把“智能审核”变成三个具体目标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63040"/>
              <a:ext cx="65850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业务说“做个智能审核”，还要问：谁的工作，具体怎样改善？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2925" y="2076450"/>
            <a:ext cx="7837246" cy="1150620"/>
            <a:chOff x="542925" y="2076450"/>
            <a:chExt cx="7837246" cy="1150620"/>
          </a:xfrm>
        </p:grpSpPr>
        <p:sp>
          <p:nvSpPr>
            <p:cNvPr id="6" name="Ellipse 6"/>
            <p:cNvSpPr/>
            <p:nvPr/>
          </p:nvSpPr>
          <p:spPr>
            <a:xfrm>
              <a:off x="542925" y="20764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05269" y="21964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4732" y="215455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让适用依据来到待核对的原句旁边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6256" y="2577465"/>
              <a:ext cx="70939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小林核对1799元时，直接看到本次活动的价格、资格和用券条件。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7780" y="29337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减少查找与定位；依据是否正确、适用，仍需确认。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2925" y="3438525"/>
            <a:ext cx="8031099" cy="1150620"/>
            <a:chOff x="542925" y="3438525"/>
            <a:chExt cx="8031099" cy="1150620"/>
          </a:xfrm>
        </p:grpSpPr>
        <p:sp>
          <p:nvSpPr>
            <p:cNvPr id="12" name="Ellipse 12"/>
            <p:cNvSpPr/>
            <p:nvPr/>
          </p:nvSpPr>
          <p:spPr>
            <a:xfrm>
              <a:off x="542925" y="3438525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5269" y="35585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4732" y="351663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让意见更具体，让修改与复核接得上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6256" y="393954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说清新会员与两类券条件；新稿能对照旧意见，也能看见其他改动。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7780" y="42957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减少作者与审核员反复解释，以及复核时重新拼接信息。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42925" y="4800600"/>
            <a:ext cx="9000363" cy="1150620"/>
            <a:chOff x="542925" y="4800600"/>
            <a:chExt cx="9000363" cy="1150620"/>
          </a:xfrm>
        </p:grpSpPr>
        <p:sp>
          <p:nvSpPr>
            <p:cNvPr id="18" name="Ellipse 18"/>
            <p:cNvSpPr/>
            <p:nvPr/>
          </p:nvSpPr>
          <p:spPr>
            <a:xfrm>
              <a:off x="542925" y="480060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5269" y="49206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4732" y="487870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条件变化后，找对需要复查的在用内容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6256" y="5301615"/>
              <a:ext cx="8257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赠品条件变了，按本次活动、使用状态和内容表达确认范围，交负责人处理。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7780" y="565785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减少范围定位和找维护人的劳动，让后续处理有人承接。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5780" y="6096000"/>
            <a:ext cx="5063490" cy="293370"/>
            <a:chOff x="525780" y="6096000"/>
            <a:chExt cx="5063490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525780" y="600075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这些是首版期望改善，是否真正省力，要通过试用验证。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29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0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2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3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4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2 项目目标</a:t>
                </a:r>
              </a:p>
            </p:txBody>
          </p:sp>
          <p:sp>
            <p:nvSpPr>
              <p:cNvPr id="35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6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7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8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39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0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d1_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6336792" cy="1058418"/>
            <a:chOff x="515112" y="457200"/>
            <a:chExt cx="6336792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7433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2.2 首版范围与责任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第一版做到哪里，谁来负责？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714500"/>
            <a:ext cx="7086600" cy="3409950"/>
            <a:chOff x="533400" y="1714500"/>
            <a:chExt cx="7086600" cy="3409950"/>
          </a:xfrm>
        </p:grpSpPr>
        <p:sp>
          <p:nvSpPr>
            <p:cNvPr id="5" name="Rectangle 5"/>
            <p:cNvSpPr/>
            <p:nvPr/>
          </p:nvSpPr>
          <p:spPr>
            <a:xfrm>
              <a:off x="533400" y="1714500"/>
              <a:ext cx="7086600" cy="3409950"/>
            </a:xfrm>
            <a:prstGeom prst="roundRect">
              <a:avLst>
                <a:gd name="adj" fmla="val 2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2856" y="1863090"/>
              <a:ext cx="4690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首版覆盖 / 先选P1及少量资料齐全的商品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1332" y="2297430"/>
              <a:ext cx="44219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每份文案文本，绑定单SKU与活动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272986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核对功能事实、价格赠品条件、配送依据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619250" y="36099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62000" y="3314700"/>
              <a:ext cx="6629400" cy="590550"/>
              <a:chOff x="762000" y="3314700"/>
              <a:chExt cx="6629400" cy="5905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3314700"/>
                <a:ext cx="1924050" cy="59055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000375" y="3314700"/>
                <a:ext cx="1924050" cy="59055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238750" y="3314700"/>
                <a:ext cx="2152650" cy="59055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147953" y="3478530"/>
              <a:ext cx="6025896" cy="410718"/>
              <a:chOff x="1147953" y="3478530"/>
              <a:chExt cx="6025896" cy="41071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147953" y="34785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事前自检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86328" y="34785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正式审核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456301" y="34785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人工发起巡检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54380" y="411480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负责人选范围发起巡检；先做深正式审核，再接自检与巡检。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856" y="4539615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系统辅助定位问题、展示依据，衔接修改复核与处理。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009382" y="1863090"/>
            <a:ext cx="3725418" cy="3097530"/>
            <a:chOff x="8009382" y="1863090"/>
            <a:chExt cx="3725418" cy="3097530"/>
          </a:xfrm>
        </p:grpSpPr>
        <p:sp>
          <p:nvSpPr>
            <p:cNvPr id="21" name="TextBox 21"/>
            <p:cNvSpPr txBox="1"/>
            <p:nvPr/>
          </p:nvSpPr>
          <p:spPr>
            <a:xfrm>
              <a:off x="8010906" y="1863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人工保留的责任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020050" y="22288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09382" y="24212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正式审核决定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10906" y="2834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由审核员作出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09382" y="33356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修改、暂停等内容处置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10906" y="37490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由内容负责人确认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12430" y="4352925"/>
              <a:ext cx="2491740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缺资料、执行失败或有争议，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交对应责任人确认。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4256" y="5362575"/>
            <a:ext cx="11210544" cy="1055370"/>
            <a:chOff x="524256" y="5362575"/>
            <a:chExt cx="11210544" cy="1055370"/>
          </a:xfrm>
        </p:grpSpPr>
        <p:sp>
          <p:nvSpPr>
            <p:cNvPr id="29" name="Line 29"/>
            <p:cNvSpPr/>
            <p:nvPr/>
          </p:nvSpPr>
          <p:spPr>
            <a:xfrm>
              <a:off x="533400" y="5362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4256" y="5501640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前提：业务负责人确认适用资料；文案关联商品、活动、版本和使用状态。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5780" y="5848350"/>
              <a:ext cx="10668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资料或关联不齐，先补齐或缩小试用范围；已查项无问题，不等于整篇审核完成。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5780" y="61245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3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2 项目目标</a:t>
                </a:r>
              </a:p>
            </p:txBody>
          </p:sp>
          <p:sp>
            <p:nvSpPr>
              <p:cNvPr id="4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d1_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5852160" cy="1058418"/>
            <a:chOff x="515112" y="457200"/>
            <a:chExt cx="5852160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2.3 提效判断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怎样证明审核真的更省力？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2732" y="1885950"/>
            <a:ext cx="10623804" cy="2343150"/>
            <a:chOff x="522732" y="1885950"/>
            <a:chExt cx="10623804" cy="2343150"/>
          </a:xfrm>
        </p:grpSpPr>
        <p:sp>
          <p:nvSpPr>
            <p:cNvPr id="5" name="Line 5"/>
            <p:cNvSpPr/>
            <p:nvPr/>
          </p:nvSpPr>
          <p:spPr>
            <a:xfrm>
              <a:off x="704850" y="2076450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522732" y="1885950"/>
              <a:ext cx="2565654" cy="2148459"/>
              <a:chOff x="522732" y="1885950"/>
              <a:chExt cx="2565654" cy="2148459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533400" y="18859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60749" y="19812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22732" y="2430780"/>
                <a:ext cx="25656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问题和依据可靠吗？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24256" y="2939415"/>
                <a:ext cx="2304288" cy="10949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真实问题有没有漏？</a:t>
                </a:r>
                <a:br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正常表达有没有误报？</a:t>
                </a:r>
                <a:br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引用资料是否适用？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057650" y="1885950"/>
              <a:ext cx="4133850" cy="2343150"/>
              <a:chOff x="4057650" y="1885950"/>
              <a:chExt cx="4133850" cy="23431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057650" y="1905000"/>
                <a:ext cx="4133850" cy="2324100"/>
              </a:xfrm>
              <a:prstGeom prst="roundRect">
                <a:avLst>
                  <a:gd name="adj" fmla="val 327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133850" y="18859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261199" y="19812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275582" y="2430780"/>
                <a:ext cx="28483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双方总投入减少了吗？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277106" y="293941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作者：自检、读反馈、修改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77106" y="331089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审核员：确认、纠错、复核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4286250" y="3705225"/>
                <a:ext cx="3676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76650" h="9525">
                    <a:moveTo>
                      <a:pt x="0" y="0"/>
                    </a:moveTo>
                    <a:lnTo>
                      <a:pt x="367665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277106" y="38442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双方加起来算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580882" y="1885950"/>
              <a:ext cx="2565654" cy="2148459"/>
              <a:chOff x="8580882" y="1885950"/>
              <a:chExt cx="2565654" cy="2148459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8591550" y="18859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718899" y="19812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80882" y="2430780"/>
                <a:ext cx="25656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问题处理完成了吗？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82406" y="2939415"/>
                <a:ext cx="2532888" cy="10949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文案是否真正改对？</a:t>
                </a:r>
                <a:br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复核是否确认解决？</a:t>
                </a:r>
                <a:br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巡检内容是否实际更新？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522732" y="4659630"/>
            <a:ext cx="6278118" cy="1644015"/>
            <a:chOff x="522732" y="4659630"/>
            <a:chExt cx="6278118" cy="1644015"/>
          </a:xfrm>
        </p:grpSpPr>
        <p:sp>
          <p:nvSpPr>
            <p:cNvPr id="26" name="TextBox 26"/>
            <p:cNvSpPr txBox="1"/>
            <p:nvPr/>
          </p:nvSpPr>
          <p:spPr>
            <a:xfrm>
              <a:off x="522732" y="465963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工具出结果快，只是一个局部。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4256" y="51396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先记录原有流程，再用可比任务做小范围对照。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780" y="556260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等待业务回复时间另记；同时平衡任务难度与人员熟悉程度。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780" y="601027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没有业务基线，先收集证据，不承诺固定节省比例或通用准确率门槛。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34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5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7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8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9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2 项目目标</a:t>
                </a:r>
              </a:p>
            </p:txBody>
          </p:sp>
          <p:sp>
            <p:nvSpPr>
              <p:cNvPr id="40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1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2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3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4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d1_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6411910" cy="1058418"/>
            <a:chOff x="515112" y="457200"/>
            <a:chExt cx="6411910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690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课堂讨论 · 约1分钟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4119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这就能宣布“项目提效”了吗？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1208" y="1910715"/>
            <a:ext cx="3901440" cy="2195322"/>
            <a:chOff x="521208" y="1910715"/>
            <a:chExt cx="3901440" cy="2195322"/>
          </a:xfrm>
        </p:grpSpPr>
        <p:sp>
          <p:nvSpPr>
            <p:cNvPr id="5" name="TextBox 5"/>
            <p:cNvSpPr txBox="1"/>
            <p:nvPr/>
          </p:nvSpPr>
          <p:spPr>
            <a:xfrm>
              <a:off x="524256" y="191071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接入自检后，出现了这些变化：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208" y="2455545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小周提交前，多花了时间。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1208" y="304609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正式退回减少了。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1208" y="363664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小林复核更快了。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96250" y="1924050"/>
            <a:ext cx="3638550" cy="2190750"/>
            <a:chOff x="8096250" y="1924050"/>
            <a:chExt cx="3638550" cy="2190750"/>
          </a:xfrm>
        </p:grpSpPr>
        <p:sp>
          <p:nvSpPr>
            <p:cNvPr id="10" name="Rectangle 10"/>
            <p:cNvSpPr/>
            <p:nvPr/>
          </p:nvSpPr>
          <p:spPr>
            <a:xfrm>
              <a:off x="8096250" y="1924050"/>
              <a:ext cx="3638550" cy="2190750"/>
            </a:xfrm>
            <a:prstGeom prst="roundRect">
              <a:avLst>
                <a:gd name="adj" fmla="val 3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24850" y="2162175"/>
              <a:ext cx="57150" cy="276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42782" y="21736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还缺哪些证据？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5706" y="27584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两个人的总投入是多少？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5706" y="3158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等待时间是否变化？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5706" y="35585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质量和任务可比性呢？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1208" y="4686300"/>
            <a:ext cx="11213592" cy="1234059"/>
            <a:chOff x="521208" y="4686300"/>
            <a:chExt cx="11213592" cy="1234059"/>
          </a:xfrm>
        </p:grpSpPr>
        <p:sp>
          <p:nvSpPr>
            <p:cNvPr id="17" name="Line 17"/>
            <p:cNvSpPr/>
            <p:nvPr/>
          </p:nvSpPr>
          <p:spPr>
            <a:xfrm>
              <a:off x="533400" y="46863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1208" y="49606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工作前移以后，总工作量发生了什么？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4256" y="556831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请给出判断，并说出你最想补看的证据。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24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5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7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8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29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2 项目目标</a:t>
                </a:r>
              </a:p>
            </p:txBody>
          </p:sp>
          <p:sp>
            <p:nvSpPr>
              <p:cNvPr id="30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1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2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3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34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35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d1_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7661910" cy="1393698"/>
            <a:chOff x="515112" y="457200"/>
            <a:chExt cx="7661910" cy="139369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27241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本节产物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把目标收成一份首版项目定义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732" y="1440180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在资料齐全的小范围中辅助审核，用实际工作效果验证价值。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2019300"/>
            <a:ext cx="11201400" cy="2743200"/>
            <a:chOff x="533400" y="2019300"/>
            <a:chExt cx="11201400" cy="2743200"/>
          </a:xfrm>
        </p:grpSpPr>
        <p:sp>
          <p:nvSpPr>
            <p:cNvPr id="6" name="Rectangle 6"/>
            <p:cNvSpPr/>
            <p:nvPr/>
          </p:nvSpPr>
          <p:spPr>
            <a:xfrm>
              <a:off x="533400" y="2019300"/>
              <a:ext cx="11201400" cy="2743200"/>
            </a:xfrm>
            <a:prstGeom prst="roundRect">
              <a:avLst>
                <a:gd name="adj" fmla="val 2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2019300"/>
              <a:ext cx="57150" cy="274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1332" y="2221230"/>
              <a:ext cx="8555736" cy="2410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面向内容作者、审核员及相关业务负责人，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在单SKU文案的自检、正式审核与历史内容巡检中，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依据已确认且适用的商品、活动和配送资料，辅助定位问题、展示依据，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衔接修改复核及后续处理，减少重复查找、沟通和复核。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由人作正式审核与内容处置决定；先在资料齐全的少量商品中试用，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用问题质量、总人工投入和处理效果验证价值。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5780" y="5010150"/>
            <a:ext cx="6111240" cy="579120"/>
            <a:chOff x="525780" y="5010150"/>
            <a:chExt cx="6111240" cy="57912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5010150"/>
              <a:ext cx="611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后续另设检查覆盖、资料有效性、质量证据、处置权限与人工兜底条件，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再评估限定场景自动审核。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2732" y="5705475"/>
            <a:ext cx="6982166" cy="688848"/>
            <a:chOff x="522732" y="5705475"/>
            <a:chExt cx="6982166" cy="688848"/>
          </a:xfrm>
        </p:grpSpPr>
        <p:sp>
          <p:nvSpPr>
            <p:cNvPr id="12" name="TextBox 12"/>
            <p:cNvSpPr txBox="1"/>
            <p:nvPr/>
          </p:nvSpPr>
          <p:spPr>
            <a:xfrm>
              <a:off x="525780" y="5619750"/>
              <a:ext cx="4922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下一节 · 业务方案 / 按这份定义，把三个环节分别走通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732" y="5905500"/>
              <a:ext cx="104775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谁发起 → 带什么材料 → 看到什么结果 → 下一步由谁接手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18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9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1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2 项目目标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29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d2_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2622804" cy="1443990"/>
            <a:chOff x="438150" y="523875"/>
            <a:chExt cx="2622804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第三节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业务方案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2832354" cy="1993201"/>
            <a:chOff x="441198" y="2231708"/>
            <a:chExt cx="2832354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三个审核环节，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怎样接成闭环？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输入：首版目标与范围。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3976459" cy="2381250"/>
            <a:chOff x="5295900" y="2095500"/>
            <a:chExt cx="3976459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3.1 自检：提前发现与准备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3.2 审核：确认、修改与复核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3.3 巡检：变化后复查与处置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说清每个环节的职责、交接和完成边界。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背景 → 目标 → 方案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p14:dur="400">
    <p:fade/>
  </p:transition>
</p:sld>
</file>

<file path=ppt/slides/d2_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三个环节总览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自检、审核、巡检，各自负责什么？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事前 / 作者触发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先查、先改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带说明进入正式审核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事中 / 审核人员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正式审核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核对、退回、复核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作出正式审核决定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事后 / 条件发生变化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巡检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选范围、确认、处置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跟到实际使用更新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定稿入库 → 计划发布 → 业务条件变化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自检提前准备，审核正式确认，巡检跟进更新。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3 业务方案</a:t>
                </a:r>
              </a:p>
            </p:txBody>
          </p:sp>
          <p:sp>
            <p:nvSpPr>
              <p:cNvPr id="4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2_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3.1 事前自检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事前自检：提交前发现问题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作者 / 提交前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绑定商品与活动
选用有效资料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系统辅助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查看原句依据
修改已确认项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提交 / 审核人员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提交当前稿件
附依据与待确认项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自检 → 作者修改 → 带说明提交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自检帮助提前准备；正式决定由审核人员作出。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3 业务方案</a:t>
                </a:r>
              </a:p>
            </p:txBody>
          </p:sp>
          <p:sp>
            <p:nvSpPr>
              <p:cNvPr id="4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2_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3.2 事中审核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事中审核：确认问题与修改结果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收件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看当前文案与资料
确认提示是否成立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作者 / 收到意见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按确认意见改稿
提交新的版本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收到新稿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核实问题是否解决
作正式审核决定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确认意见 → 修改 → 复核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修改后需复核，正式结论对应明确版本。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3 业务方案</a:t>
                </a:r>
              </a:p>
            </p:txBody>
          </p:sp>
          <p:sp>
            <p:nvSpPr>
              <p:cNvPr id="4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2_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3.3 事后巡检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事后巡检：变化后维护在用内容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负责人 / 变化后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圈定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确认业务变化
找到相关在用内容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审核员 / 巡检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核对当前表达
确认受影响问题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内容负责人 / 待处理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修改或暂停并复核
确认实际使用更新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条件变化 → 选范围 → 核查与处置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巡检跟到实际更新；原审核记录继续保留。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3 业务方案</a:t>
                </a:r>
              </a:p>
            </p:txBody>
          </p:sp>
          <p:sp>
            <p:nvSpPr>
              <p:cNvPr id="4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3_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2622804" cy="1443990"/>
            <a:chOff x="438150" y="523875"/>
            <a:chExt cx="2622804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第四节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审核体系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2832354" cy="1993201"/>
            <a:chOff x="441198" y="2231708"/>
            <a:chExt cx="2832354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怎样定义审核点
并管理和调用？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输入：具体检查任务。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3976459" cy="2381250"/>
            <a:chOff x="5295900" y="2095500"/>
            <a:chExt cx="3976459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 审核点是什么、怎样生成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4.2 怎样确认、启用与更新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4.3 系统怎样选用并执行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本节完成标志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定义一条审核点，讲清管理与系统调用的路径。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定义 → 管理 → 调用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p14:dur="400">
    <p:fade/>
  </p:transition>
</p:sld>
</file>

<file path=ppt/slides/d3_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89011" cy="1038035"/>
            <a:chOff x="441198" y="428625"/>
            <a:chExt cx="808901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4.1 三类信息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审核要求、审核点、业务资料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85950"/>
            <a:ext cx="3505200" cy="2552700"/>
            <a:chOff x="457200" y="1885950"/>
            <a:chExt cx="3505200" cy="2552700"/>
          </a:xfrm>
        </p:grpSpPr>
        <p:sp>
          <p:nvSpPr>
            <p:cNvPr id="5" name="Rectangle 5"/>
            <p:cNvSpPr/>
            <p:nvPr/>
          </p:nvSpPr>
          <p:spPr>
            <a:xfrm>
              <a:off x="4572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1708" y="2122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审核要求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802255"/>
              <a:ext cx="24216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提出业务方向
商品宣传真实准确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885950"/>
            <a:ext cx="3505200" cy="2552700"/>
            <a:chOff x="4343400" y="1885950"/>
            <a:chExt cx="3505200" cy="2552700"/>
          </a:xfrm>
        </p:grpSpPr>
        <p:sp>
          <p:nvSpPr>
            <p:cNvPr id="9" name="Rectangle 9"/>
            <p:cNvSpPr/>
            <p:nvPr/>
          </p:nvSpPr>
          <p:spPr>
            <a:xfrm>
              <a:off x="43434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979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9432" y="2802255"/>
              <a:ext cx="21549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定义检查任务
查温度对应的功能
是否与资料一致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0" y="1885950"/>
            <a:ext cx="3505200" cy="2552700"/>
            <a:chOff x="8229600" y="1885950"/>
            <a:chExt cx="35052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82296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41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业务资料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5632" y="2802255"/>
              <a:ext cx="26883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提供当前事实
P1的65℃用于
基站热水洗拖布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532" y="5097780"/>
            <a:ext cx="8668817" cy="908304"/>
            <a:chOff x="446532" y="5097780"/>
            <a:chExt cx="8668817" cy="90830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5097780"/>
              <a:ext cx="86688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同一审核点可复用；不同商品与活动，关联各自有效资料。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654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业务负责人确认审核标准与事实，系统按适用条件选用。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2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3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5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6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7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8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9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4 审核体系</a:t>
                </a:r>
              </a:p>
            </p:txBody>
          </p:sp>
          <p:sp>
            <p:nvSpPr>
              <p:cNvPr id="40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1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2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3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3_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4.2 从要求生成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把业务要求，拆成能判断的任务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 / 给出要求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商品宣传真实准确
明确希望控制的问题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产品与审核员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找出具体主张
温度描述什么功能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确认 / 审核点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形成温度对象核对
补齐适用条件与边界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业务要求 → 具体主张 → 可判断任务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AI可辅助起草，业务确认并通过样例验证后启用。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4 审核体系</a:t>
                </a:r>
              </a:p>
            </p:txBody>
          </p:sp>
          <p:sp>
            <p:nvSpPr>
              <p:cNvPr id="4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3_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703418" cy="1038035"/>
            <a:chOff x="441198" y="428625"/>
            <a:chExt cx="6703418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审核点卡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7034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一条审核点，至少说清六件事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733550"/>
            <a:ext cx="11277600" cy="3536823"/>
            <a:chOff x="457200" y="1733550"/>
            <a:chExt cx="11277600" cy="3536823"/>
          </a:xfrm>
        </p:grpSpPr>
        <p:sp>
          <p:nvSpPr>
            <p:cNvPr id="5" name="Rectangle 5"/>
            <p:cNvSpPr/>
            <p:nvPr/>
          </p:nvSpPr>
          <p:spPr>
            <a:xfrm>
              <a:off x="457200" y="1733550"/>
              <a:ext cx="11277600" cy="3476625"/>
            </a:xfrm>
            <a:prstGeom prst="roundRect">
              <a:avLst>
                <a:gd name="adj" fmla="val 32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4756" y="1958340"/>
              <a:ext cx="435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R01 v1 / 温度与功能对象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13232" y="2430780"/>
              <a:ext cx="7371588" cy="2839593"/>
              <a:chOff x="713232" y="2430780"/>
              <a:chExt cx="7371588" cy="2839593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13232" y="2430780"/>
                <a:ext cx="624078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查什么：文案中温度描述的功能对象。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13232" y="2916555"/>
                <a:ext cx="512917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何时查：P1文案出现温度表达。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13232" y="3402330"/>
                <a:ext cx="652348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依什么：绑定SKU、完整文案、有效商品资料。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13232" y="3888105"/>
                <a:ext cx="67072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怎样判：识别功能对象，再与商品资料比较。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13232" y="4373880"/>
                <a:ext cx="73715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边界：无温度不适用；对象不清或资料冲突需确认。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13232" y="4859655"/>
                <a:ext cx="708888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谁处理：作者修改，产品负责人确认，审核员复核。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15" name="Rectangle 15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3232" y="573595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审核点说明判断方法，业务资料提供当前事实。</a:t>
              </a:r>
            </a:p>
          </p:txBody>
        </p:sp>
      </p:grpSp>
      <p:grpSp>
        <p:nvGrpSpPr>
          <p:cNvPr id="18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9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1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4 审核体系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29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3_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551524" cy="1038035"/>
            <a:chOff x="441198" y="428625"/>
            <a:chExt cx="7551524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4.2 样例验证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5515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用四类样例，验证边界是否清楚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200" y="1809750"/>
            <a:ext cx="11277600" cy="857250"/>
            <a:chOff x="457200" y="1809750"/>
            <a:chExt cx="11277600" cy="857250"/>
          </a:xfrm>
        </p:grpSpPr>
        <p:sp>
          <p:nvSpPr>
            <p:cNvPr id="5" name="Rectangle 5"/>
            <p:cNvSpPr/>
            <p:nvPr/>
          </p:nvSpPr>
          <p:spPr>
            <a:xfrm>
              <a:off x="457200" y="1809750"/>
              <a:ext cx="11277600" cy="8572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3232" y="2087880"/>
              <a:ext cx="97740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输入：完整文案＋SKU＋有效商品资料；对象不清或依据冲突，交人确认。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6532" y="3116580"/>
            <a:ext cx="5647106" cy="410718"/>
            <a:chOff x="446532" y="3116580"/>
            <a:chExt cx="5647106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446532" y="3116580"/>
              <a:ext cx="5647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“65℃热水直接拖地” → 对象不一致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3869055"/>
            <a:ext cx="5647106" cy="410718"/>
            <a:chOff x="446532" y="3869055"/>
            <a:chExt cx="5647106" cy="410718"/>
          </a:xfrm>
        </p:grpSpPr>
        <p:sp>
          <p:nvSpPr>
            <p:cNvPr id="10" name="TextBox 10"/>
            <p:cNvSpPr txBox="1"/>
            <p:nvPr/>
          </p:nvSpPr>
          <p:spPr>
            <a:xfrm>
              <a:off x="446532" y="3869055"/>
              <a:ext cx="5647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“基站65℃热水洗拖布” → 有依据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532" y="4621530"/>
            <a:ext cx="6495212" cy="410718"/>
            <a:chOff x="446532" y="4621530"/>
            <a:chExt cx="6495212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446532" y="4621530"/>
              <a:ext cx="64952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“65℃深度清洁” → 看全文，仍不清则确认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6532" y="5374005"/>
            <a:ext cx="7159562" cy="739140"/>
            <a:chOff x="446532" y="5374005"/>
            <a:chExt cx="7159562" cy="739140"/>
          </a:xfrm>
        </p:grpSpPr>
        <p:sp>
          <p:nvSpPr>
            <p:cNvPr id="14" name="TextBox 14"/>
            <p:cNvSpPr txBox="1"/>
            <p:nvPr/>
          </p:nvSpPr>
          <p:spPr>
            <a:xfrm>
              <a:off x="446532" y="5374005"/>
              <a:ext cx="71595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“基站热水洗拖布” → 未提温度，本项不适用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9580" y="5819775"/>
              <a:ext cx="5598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仍可进行对应的商品功能核对，不能因为没写65℃就要求补写。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6" name="Group 26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29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0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2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3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4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5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6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4 审核体系</a:t>
                </a:r>
              </a:p>
            </p:txBody>
          </p:sp>
          <p:sp>
            <p:nvSpPr>
              <p:cNvPr id="37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8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39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0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3_slide7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4.3 管理与更新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审核点和业务资料怎样管理？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业务起草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确认与试跑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审核后启用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变更与停用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审核员整理要求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业务确认＋样例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绑定场景与版本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新版本重测发布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编号、版本、状态、负责人、范围、生效时间。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资料按SKU、活动与时间维护；变更新建版本，历史引用保留。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43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44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6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7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8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9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50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4 审核体系</a:t>
                </a:r>
              </a:p>
            </p:txBody>
          </p:sp>
          <p:sp>
            <p:nvSpPr>
              <p:cNvPr id="51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52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53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54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3_slide7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120640" cy="1038035"/>
            <a:chOff x="441198" y="428625"/>
            <a:chExt cx="51206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4.4 匹配标准与资料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怎样匹配标准与资料？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790700"/>
            <a:ext cx="11277600" cy="1028700"/>
            <a:chOff x="457200" y="1790700"/>
            <a:chExt cx="11277600" cy="1028700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19507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任务上下文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99332" y="19831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SKU＋活动＋场景＋环节＋时间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856" y="2415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作者选择或系统带入，缺项补齐。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71825"/>
            <a:ext cx="11277600" cy="1028700"/>
            <a:chOff x="457200" y="3171825"/>
            <a:chExt cx="112776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71825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33318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3364230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 → 审核方案 → 启用审核点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856" y="379666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保留必查项，逐项判断是否适用。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28700"/>
            <a:chOff x="457200" y="4552950"/>
            <a:chExt cx="11277600" cy="10287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58" y="47129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业务资料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332" y="47453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SKU关联商品资料，活动关联权益方案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856" y="5177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按适用时间取有效资料；缺失或冲突交人确认。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11215"/>
            <a:ext cx="9468612" cy="352044"/>
            <a:chOff x="448056" y="5911215"/>
            <a:chExt cx="9468612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11215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先限定资料范围，再定位相关段落；少量资料直接提供，长文档可做范围内检索。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4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5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7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8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9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0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1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4 审核体系</a:t>
                </a:r>
              </a:p>
            </p:txBody>
          </p:sp>
          <p:sp>
            <p:nvSpPr>
              <p:cNvPr id="42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3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4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3_slide7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513064" cy="1038035"/>
            <a:chOff x="441198" y="428625"/>
            <a:chExt cx="8513064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4.4 调用示例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5130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系统怎样把审核点交给AI执行？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200" y="1809750"/>
            <a:ext cx="11277600" cy="876300"/>
            <a:chOff x="457200" y="1809750"/>
            <a:chExt cx="11277600" cy="876300"/>
          </a:xfrm>
        </p:grpSpPr>
        <p:sp>
          <p:nvSpPr>
            <p:cNvPr id="5" name="Rectangle 5"/>
            <p:cNvSpPr/>
            <p:nvPr/>
          </p:nvSpPr>
          <p:spPr>
            <a:xfrm>
              <a:off x="457200" y="1809750"/>
              <a:ext cx="112776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2074545"/>
              <a:ext cx="38691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“65℃热水直接拖地”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5008" y="3215640"/>
            <a:ext cx="3980688" cy="1426083"/>
            <a:chOff x="445008" y="3215640"/>
            <a:chExt cx="3980688" cy="1426083"/>
          </a:xfrm>
        </p:grpSpPr>
        <p:sp>
          <p:nvSpPr>
            <p:cNvPr id="8" name="TextBox 8"/>
            <p:cNvSpPr txBox="1"/>
            <p:nvPr/>
          </p:nvSpPr>
          <p:spPr>
            <a:xfrm>
              <a:off x="448056" y="3215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008" y="367474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R01 v1：对象一致性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6532" y="42310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识别功能对象，再对照资料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74308" y="3215640"/>
            <a:ext cx="4263390" cy="1426083"/>
            <a:chOff x="6274308" y="3215640"/>
            <a:chExt cx="4263390" cy="1426083"/>
          </a:xfrm>
        </p:grpSpPr>
        <p:sp>
          <p:nvSpPr>
            <p:cNvPr id="12" name="TextBox 12"/>
            <p:cNvSpPr txBox="1"/>
            <p:nvPr/>
          </p:nvSpPr>
          <p:spPr>
            <a:xfrm>
              <a:off x="6277356" y="3215640"/>
              <a:ext cx="2479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资料 / F-PROD-01 v1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4308" y="3674745"/>
              <a:ext cx="3491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65℃用于基站热水洗拖布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5832" y="423100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示例结论：功能对象不一致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5238750"/>
            <a:ext cx="11277600" cy="904875"/>
            <a:chOff x="457200" y="5238750"/>
            <a:chExt cx="11277600" cy="904875"/>
          </a:xfrm>
        </p:grpSpPr>
        <p:sp>
          <p:nvSpPr>
            <p:cNvPr id="16" name="Rectangle 16"/>
            <p:cNvSpPr/>
            <p:nvPr/>
          </p:nvSpPr>
          <p:spPr>
            <a:xfrm>
              <a:off x="457200" y="5238750"/>
              <a:ext cx="11277600" cy="904875"/>
            </a:xfrm>
            <a:prstGeom prst="roundRect">
              <a:avLst>
                <a:gd name="adj" fmla="val 1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2282" y="53930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输出原句、结论、依据、建议和所用版本。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5819775"/>
              <a:ext cx="5689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缺资料则待确认；执行失败则重试或人工补核。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2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3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5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6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7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8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9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4 审核体系</a:t>
                </a:r>
              </a:p>
            </p:txBody>
          </p:sp>
          <p:sp>
            <p:nvSpPr>
              <p:cNvPr id="40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1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2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3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3_slide7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82580" cy="1038035"/>
            <a:chOff x="441198" y="428625"/>
            <a:chExt cx="688258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4.5 结果与处理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825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检查结果要接到具体处理动作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2068830"/>
            <a:ext cx="5435079" cy="3687318"/>
            <a:chOff x="446532" y="2068830"/>
            <a:chExt cx="5435079" cy="3687318"/>
          </a:xfrm>
        </p:grpSpPr>
        <p:grpSp>
          <p:nvGrpSpPr>
            <p:cNvPr id="10" name="Group 10"/>
            <p:cNvGrpSpPr/>
            <p:nvPr/>
          </p:nvGrpSpPr>
          <p:grpSpPr>
            <a:xfrm>
              <a:off x="446532" y="2068830"/>
              <a:ext cx="5435079" cy="3687318"/>
              <a:chOff x="446532" y="2068830"/>
              <a:chExt cx="5435079" cy="368731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46532" y="2068830"/>
                <a:ext cx="543507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有资料支持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保留依据，不扩大成整篇通过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46532" y="2887980"/>
                <a:ext cx="48696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与依据不一致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修改文案或确认新依据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6532" y="3707130"/>
                <a:ext cx="402156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表达缺条件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补充条件，再复核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46532" y="4526280"/>
                <a:ext cx="515237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信息不足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说明缺项，补资料或人工确认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46532" y="5345430"/>
                <a:ext cx="48696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本项不适用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不强迫作者补写无关内容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8696325" y="1866900"/>
            <a:ext cx="3038475" cy="4038600"/>
            <a:chOff x="8696325" y="1866900"/>
            <a:chExt cx="3038475" cy="4038600"/>
          </a:xfrm>
        </p:grpSpPr>
        <p:sp>
          <p:nvSpPr>
            <p:cNvPr id="12" name="Rectangle 12"/>
            <p:cNvSpPr/>
            <p:nvPr/>
          </p:nvSpPr>
          <p:spPr>
            <a:xfrm>
              <a:off x="8696325" y="1866900"/>
              <a:ext cx="3038475" cy="4038600"/>
            </a:xfrm>
            <a:prstGeom prst="roundRect">
              <a:avLst>
                <a:gd name="adj" fmla="val 3762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69883" y="21316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技术失败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71407" y="2859405"/>
              <a:ext cx="1928241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超时或读取失败
返回结果不可用</a:t>
              </a:r>
              <a:br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71407" y="414528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未可靠完成
重试或人工补核</a:t>
              </a:r>
              <a:br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72931" y="53587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不能默认为无问题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7" name="Group 27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0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1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3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4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5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6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7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4 审核体系</a:t>
                </a:r>
              </a:p>
            </p:txBody>
          </p:sp>
          <p:sp>
            <p:nvSpPr>
              <p:cNvPr id="38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9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0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1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4_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2622804" cy="1443990"/>
            <a:chOff x="438150" y="523875"/>
            <a:chExt cx="2622804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第五节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方案选择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2832354" cy="1993201"/>
            <a:chOff x="441198" y="2231708"/>
            <a:chExt cx="2832354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系统怎样分工，
并组织调用？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输入：审核点与资料。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3976459" cy="2381250"/>
            <a:chOff x="5295900" y="2095500"/>
            <a:chExt cx="3976459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5.1 不同方式的适用场景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5.2 系统怎样编排与调用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5.3 结果校验、失败与交接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讲清输入、执行、校验和人工承接的完整流程。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分工 → 调用 → 交接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27</a:t>
            </a:r>
          </a:p>
        </p:txBody>
      </p:sp>
    </p:spTree>
  </p:cSld>
  <p:clrMapOvr>
    <a:masterClrMapping/>
  </p:clrMapOvr>
  <p:transition p14:dur="400">
    <p:fade/>
  </p:transition>
</p:sld>
</file>

<file path=ppt/slides/d4_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89011" cy="1038035"/>
            <a:chOff x="441198" y="428625"/>
            <a:chExt cx="808901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5.1 方式与适用场景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规则、模型、人工，各负责什么？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85950"/>
            <a:ext cx="3505200" cy="2552700"/>
            <a:chOff x="457200" y="1885950"/>
            <a:chExt cx="3505200" cy="2552700"/>
          </a:xfrm>
        </p:grpSpPr>
        <p:sp>
          <p:nvSpPr>
            <p:cNvPr id="5" name="Rectangle 5"/>
            <p:cNvSpPr/>
            <p:nvPr/>
          </p:nvSpPr>
          <p:spPr>
            <a:xfrm>
              <a:off x="4572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1708" y="2122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规则程序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802255"/>
              <a:ext cx="24216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条件明确、便于核对
资料与适用时间
金额计算、引用校验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885950"/>
            <a:ext cx="3505200" cy="2552700"/>
            <a:chOff x="4343400" y="1885950"/>
            <a:chExt cx="3505200" cy="2552700"/>
          </a:xfrm>
        </p:grpSpPr>
        <p:sp>
          <p:nvSpPr>
            <p:cNvPr id="9" name="Rectangle 9"/>
            <p:cNvSpPr/>
            <p:nvPr/>
          </p:nvSpPr>
          <p:spPr>
            <a:xfrm>
              <a:off x="43434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979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模型辅助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9432" y="2802255"/>
              <a:ext cx="21549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理解自然语言
识别对象与条件
结合上下文比较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0" y="1885950"/>
            <a:ext cx="3505200" cy="2552700"/>
            <a:chOff x="8229600" y="1885950"/>
            <a:chExt cx="35052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82296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41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人工确认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5632" y="2802255"/>
              <a:ext cx="26883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确认业务事实
处理冲突与争议
正式决定和处置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532" y="5097780"/>
            <a:ext cx="8668817" cy="908304"/>
            <a:chOff x="446532" y="5097780"/>
            <a:chExt cx="8668817" cy="90830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5097780"/>
              <a:ext cx="86688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混合审核：按任务组合；一条审核点可由多种能力接力。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654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按输入特点、可核对性与维护成本选择，组合效果还需验证。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2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3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5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6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7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8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9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0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5 方案选择</a:t>
                </a:r>
              </a:p>
            </p:txBody>
          </p:sp>
          <p:sp>
            <p:nvSpPr>
              <p:cNvPr id="41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2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3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4_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5.2 系统调用总流程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按审核点，组织系统执行链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读取任务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按点执行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校验与合并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人工接手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上下文＋审核点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读取已确认配置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原句与引用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确认、修改与复核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每条审核点都有执行方式、输入、输出和失败出口。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先匹配有效标准与资料，再读取执行配置；执行记录关联任务和各项版本。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43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44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6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7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8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9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50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51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5 方案选择</a:t>
                </a:r>
              </a:p>
            </p:txBody>
          </p:sp>
          <p:sp>
            <p:nvSpPr>
              <p:cNvPr id="52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53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54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4_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5.2 价格审核接力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一条价格审核点，怎样分工接力？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程序 / 备料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取有效活动资料
核算优惠路径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模型 / 理解文案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识别人群与条件
对照资料找缺项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程序校验 / 人工确认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校验原句与引用
人工确认修改意见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备料 → 语义核对 → 校验交接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金额成立，还要检查人群与两类券条件。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5 方案选择</a:t>
                </a:r>
              </a:p>
            </p:txBody>
          </p:sp>
          <p:sp>
            <p:nvSpPr>
              <p:cNvPr id="4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4_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120640" cy="1038035"/>
            <a:chOff x="441198" y="428625"/>
            <a:chExt cx="51206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5.2 模型输入与输出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调用的输入输出怎样接？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790700"/>
            <a:ext cx="11277600" cy="1028700"/>
            <a:chOff x="457200" y="1790700"/>
            <a:chExt cx="11277600" cy="1028700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19507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组织输入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99332" y="19831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当前文案＋审核点＋适用业务资料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856" y="2415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记录文案、标准和资料版本。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71825"/>
            <a:ext cx="11277600" cy="1028700"/>
            <a:chOff x="457200" y="3171825"/>
            <a:chExt cx="112776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71825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33318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3364230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提取主张、对照依据，返回固定结构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856" y="379666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原句、结论、依据、建议及未完成项。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28700"/>
            <a:chOff x="457200" y="4552950"/>
            <a:chExt cx="11277600" cy="10287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58" y="47129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332" y="47453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校验结构、原句定位、引用来源与状态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856" y="5177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字段齐全不代表结论正确；结果仍需人工核实。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11215"/>
            <a:ext cx="9468612" cy="352044"/>
            <a:chOff x="448056" y="5911215"/>
            <a:chExt cx="9468612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11215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有依赖的步骤先串行，独立检查可并行；汇总结果时单独保留失败和未完成项。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4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5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7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8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9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0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1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2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5 方案选择</a:t>
                </a:r>
              </a:p>
            </p:txBody>
          </p:sp>
          <p:sp>
            <p:nvSpPr>
              <p:cNvPr id="43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4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4_slide7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82580" cy="1038035"/>
            <a:chOff x="441198" y="428625"/>
            <a:chExt cx="688258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5.3 异常分支与承接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825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调用失败或结果冲突，怎样处理？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2068830"/>
            <a:ext cx="5435079" cy="3687318"/>
            <a:chOff x="446532" y="2068830"/>
            <a:chExt cx="5435079" cy="3687318"/>
          </a:xfrm>
        </p:grpSpPr>
        <p:grpSp>
          <p:nvGrpSpPr>
            <p:cNvPr id="10" name="Group 10"/>
            <p:cNvGrpSpPr/>
            <p:nvPr/>
          </p:nvGrpSpPr>
          <p:grpSpPr>
            <a:xfrm>
              <a:off x="446532" y="2068830"/>
              <a:ext cx="5435079" cy="3687318"/>
              <a:chOff x="446532" y="2068830"/>
              <a:chExt cx="5435079" cy="368731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46532" y="2068830"/>
                <a:ext cx="543507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资料缺失 → 补齐资料或交业务确认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46532" y="2887980"/>
                <a:ext cx="48696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原句不存在 → 重查或人工核实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6532" y="3707130"/>
                <a:ext cx="402156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引用越界 → 重取有效资料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46532" y="4526280"/>
                <a:ext cx="515237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同一事实冲突 → 带依据交人确认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46532" y="5345430"/>
                <a:ext cx="48696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执行失败 → 标记未完成，重试或补核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8696325" y="1866900"/>
            <a:ext cx="3038475" cy="4038600"/>
            <a:chOff x="8696325" y="1866900"/>
            <a:chExt cx="3038475" cy="4038600"/>
          </a:xfrm>
        </p:grpSpPr>
        <p:sp>
          <p:nvSpPr>
            <p:cNvPr id="12" name="Rectangle 12"/>
            <p:cNvSpPr/>
            <p:nvPr/>
          </p:nvSpPr>
          <p:spPr>
            <a:xfrm>
              <a:off x="8696325" y="1866900"/>
              <a:ext cx="3038475" cy="4038600"/>
            </a:xfrm>
            <a:prstGeom prst="roundRect">
              <a:avLst>
                <a:gd name="adj" fmla="val 3762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69883" y="21316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人工承接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71407" y="2859405"/>
              <a:ext cx="1928241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资料有争议
交业务确认</a:t>
              </a:r>
              <a:br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71407" y="414528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正式审核与处置
由有权限者决定</a:t>
              </a:r>
              <a:br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72931" y="53587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失败项不计为通过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7" name="Group 27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0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1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3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4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5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6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7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8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5 方案选择</a:t>
                </a:r>
              </a:p>
            </p:txBody>
          </p:sp>
          <p:sp>
            <p:nvSpPr>
              <p:cNvPr id="39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0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1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4_slide7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703418" cy="1038035"/>
            <a:chOff x="441198" y="428625"/>
            <a:chExt cx="6703418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执行流程小结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7034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本节产物：执行与交接流程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809750"/>
            <a:ext cx="11277600" cy="2743200"/>
            <a:chOff x="457200" y="1809750"/>
            <a:chExt cx="11277600" cy="2743200"/>
          </a:xfrm>
        </p:grpSpPr>
        <p:sp>
          <p:nvSpPr>
            <p:cNvPr id="5" name="Line 5"/>
            <p:cNvSpPr/>
            <p:nvPr/>
          </p:nvSpPr>
          <p:spPr>
            <a:xfrm>
              <a:off x="2381250" y="2238375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457200" y="1809750"/>
              <a:ext cx="11277600" cy="2743200"/>
              <a:chOff x="457200" y="1809750"/>
              <a:chExt cx="11277600" cy="27432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457200" y="1809750"/>
                <a:ext cx="3486150" cy="27432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4352925" y="1809750"/>
                <a:ext cx="3486150" cy="27432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248650" y="1809750"/>
                <a:ext cx="3486150" cy="27432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673608" y="2065020"/>
              <a:ext cx="9108186" cy="469392"/>
              <a:chOff x="673608" y="2065020"/>
              <a:chExt cx="9108186" cy="469392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73608" y="20650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准备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569333" y="20650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执行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465058" y="20650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处理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76656" y="2739390"/>
              <a:ext cx="10475214" cy="1418844"/>
              <a:chOff x="676656" y="2739390"/>
              <a:chExt cx="10475214" cy="141884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76656" y="27393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输入：任务与审核点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76656" y="32727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资料：范围与有效版本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76656" y="38061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系统按配置组织任务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72381" y="27393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按点配置执行链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72381" y="32727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程序校验＋模型理解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572381" y="38061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回传原句、依据、状态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68106" y="27393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审核员确认并复核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468106" y="32727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异常交重试或人工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68106" y="38061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正式决定与处置由人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46532" y="4907280"/>
            <a:ext cx="6367996" cy="410718"/>
            <a:chOff x="446532" y="4907280"/>
            <a:chExt cx="6367996" cy="410718"/>
          </a:xfrm>
        </p:grpSpPr>
        <p:sp>
          <p:nvSpPr>
            <p:cNvPr id="25" name="TextBox 25"/>
            <p:cNvSpPr txBox="1"/>
            <p:nvPr/>
          </p:nvSpPr>
          <p:spPr>
            <a:xfrm>
              <a:off x="446532" y="4907280"/>
              <a:ext cx="63679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按审核点分工接力，保留依据与执行版本。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27" name="Rectangle 27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3232" y="573595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下一节：把调用流程落实到架构、页面与状态。</a:t>
              </a:r>
            </a:p>
          </p:txBody>
        </p:sp>
      </p:grpSp>
      <p:grpSp>
        <p:nvGrpSpPr>
          <p:cNvPr id="30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1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3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4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5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6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7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8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5 方案选择</a:t>
                </a:r>
              </a:p>
            </p:txBody>
          </p:sp>
          <p:sp>
            <p:nvSpPr>
              <p:cNvPr id="39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0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1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2622804" cy="1443990"/>
            <a:chOff x="438150" y="523875"/>
            <a:chExt cx="2622804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第六节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产品方案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3453917" cy="1993201"/>
            <a:chOff x="441198" y="2231708"/>
            <a:chExt cx="3453917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让用户操作，
接上系统处理。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34470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输入：三段流程与审核执行链。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4259161" cy="2381250"/>
            <a:chOff x="5295900" y="2095500"/>
            <a:chExt cx="4259161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6.1 系统分层与业务流程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6.2 页面任务与角色权限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9650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6.3 状态、版本与异常承接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70888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沿一篇文案，讲清谁操作、系统做什么、结果交给谁。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流程 → 页面 → 状态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34</a:t>
            </a:r>
          </a:p>
        </p:txBody>
      </p:sp>
    </p:spTree>
  </p:cSld>
  <p:clrMapOvr>
    <a:masterClrMapping/>
  </p:clrMapOvr>
  <p:transition p14:dur="400">
    <p:fade/>
  </p:transition>
</p:sld>
</file>

<file path=ppt/slides/d5_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120640" cy="1038035"/>
            <a:chOff x="441198" y="428625"/>
            <a:chExt cx="51206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系统分层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系统分三层，职责先讲清楚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790700"/>
            <a:ext cx="11277600" cy="1028700"/>
            <a:chOff x="457200" y="1790700"/>
            <a:chExt cx="11277600" cy="1028700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19507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业务应用层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99332" y="19831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自检 / 正式审核 / 巡检 / 权限与记录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856" y="2415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承接提交、修改、确认和处理跟踪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71825"/>
            <a:ext cx="11277600" cy="1028700"/>
            <a:chOff x="457200" y="3171825"/>
            <a:chExt cx="112776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71825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33318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审核能力层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3364230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匹配审核点 → 执行 → 校验与合并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856" y="379666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复用第五节的执行链，服务三个业务环节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28700"/>
            <a:chOff x="457200" y="4552950"/>
            <a:chExt cx="11277600" cy="10287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58" y="47129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模型与资料层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332" y="47453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模型能力＋经过确认的有效业务资料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856" y="5177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商品、活动、赠品、配送，保留所用版本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11215"/>
            <a:ext cx="9468612" cy="352044"/>
            <a:chOff x="448056" y="5911215"/>
            <a:chExt cx="9468612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11215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三层是职责划分；首版可接入现有内容系统，先按明确工作流实现。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4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5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7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8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9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0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1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2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3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44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82580" cy="1038035"/>
            <a:chOff x="441198" y="428625"/>
            <a:chExt cx="688258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自检流程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825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自检：作者点击后，系统怎样接住？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200" y="1724025"/>
            <a:ext cx="11277600" cy="809625"/>
            <a:chOff x="457200" y="1724025"/>
            <a:chExt cx="11277600" cy="809625"/>
          </a:xfrm>
        </p:grpSpPr>
        <p:sp>
          <p:nvSpPr>
            <p:cNvPr id="5" name="Rectangle 5"/>
            <p:cNvSpPr/>
            <p:nvPr/>
          </p:nvSpPr>
          <p:spPr>
            <a:xfrm>
              <a:off x="457200" y="1724025"/>
              <a:ext cx="11277600" cy="809625"/>
            </a:xfrm>
            <a:prstGeom prst="roundRect">
              <a:avLst>
                <a:gd name="adj" fmla="val 14118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2282" y="2002155"/>
              <a:ext cx="71155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作者：保存V1，关联SKU与活动，发起检查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" y="2971800"/>
            <a:ext cx="11277600" cy="1381125"/>
            <a:chOff x="457200" y="2971800"/>
            <a:chExt cx="11277600" cy="1381125"/>
          </a:xfrm>
        </p:grpSpPr>
        <p:grpSp>
          <p:nvGrpSpPr>
            <p:cNvPr id="11" name="Group 11"/>
            <p:cNvGrpSpPr/>
            <p:nvPr/>
          </p:nvGrpSpPr>
          <p:grpSpPr>
            <a:xfrm>
              <a:off x="457200" y="2971800"/>
              <a:ext cx="11277600" cy="1381125"/>
              <a:chOff x="457200" y="2971800"/>
              <a:chExt cx="11277600" cy="138112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4572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44577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4582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732282" y="3202305"/>
              <a:ext cx="10253562" cy="410718"/>
              <a:chOff x="732282" y="3202305"/>
              <a:chExt cx="10253562" cy="41071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32282" y="3202305"/>
                <a:ext cx="22525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固定输入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32782" y="3202305"/>
                <a:ext cx="2415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执行检查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33282" y="3202305"/>
                <a:ext cx="22525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 返回结果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33806" y="3787140"/>
              <a:ext cx="10684764" cy="352044"/>
              <a:chOff x="733806" y="3787140"/>
              <a:chExt cx="10684764" cy="35204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33806" y="37871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正文、上下文、依据版本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734306" y="37871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选点、执行与校验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734806" y="37871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原句、依据与未完成项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3790950" y="3648075"/>
              <a:ext cx="5905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91450" y="3648075"/>
              <a:ext cx="5905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45008" y="5065395"/>
            <a:ext cx="8987028" cy="931164"/>
            <a:chOff x="445008" y="5065395"/>
            <a:chExt cx="8987028" cy="931164"/>
          </a:xfrm>
        </p:grpSpPr>
        <p:sp>
          <p:nvSpPr>
            <p:cNvPr id="23" name="TextBox 23"/>
            <p:cNvSpPr txBox="1"/>
            <p:nvPr/>
          </p:nvSpPr>
          <p:spPr>
            <a:xfrm>
              <a:off x="445008" y="5065395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作者修改为V2，再产生关联V2的新检查记录。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056" y="5644515"/>
              <a:ext cx="89839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缺资料时明确受影响范围；保留V1历史结果，不能直接搬到V2。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8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9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1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2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3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4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5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6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7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48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9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正式审核流程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正式审核：围绕提交版本流转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提交V2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审核员判断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退回与重提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复核并决定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正文与依据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核对原句与证据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修改V3再提交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结论绑定V3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审核通过后，登记实际使用版本、位置和维护人。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检查结果仅在满足有效条件时复用；依据变化或依赖不清时重新检查。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43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44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6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7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8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9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50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51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52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53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54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巡检流程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事后巡检：从业务变化到实际更新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确认变化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建立批次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分配与处理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核验实际更新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依据与生效条件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在用内容与待核项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修改与复核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确认使用位置更新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名额用完后，巡检在用的赠品承诺；旧记录保留。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C06使用状态不明要单列待核；运行结束时，未解决事项仍继续跟踪。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43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44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6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7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8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9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50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51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52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53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54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7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内容编辑与自检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版本与资料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问题与范围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修改与提交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作者的工作入口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自检不等于
正式审核通过。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2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3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3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7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审核任务列表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按负责人找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版本与等待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详情与分派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审核员的任务入口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检查与人工审核，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分别显示状态。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2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3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3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7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审核详情与修改复核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原句与依据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确认与异议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复核与决定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核心判断工作区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复核对应新版本，
正式决定由人作出。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2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3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3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7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巡检批次与问题处理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事件与范围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待核与处理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分派与更新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内容负责人入口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运行结束后，
未解决事项
继续跟踪。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2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3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3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8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资料与审核点管理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范围与版本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启用与变更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受影响内容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标准与资料入口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启用与变更，
留确认人和历史。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2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3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3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8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角色与权限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谁操作，谁确认，谁负责下一步？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5008" y="1998345"/>
            <a:ext cx="2932176" cy="3491103"/>
            <a:chOff x="445008" y="1998345"/>
            <a:chExt cx="2932176" cy="3491103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199834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角色与可执行动作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532" y="2678430"/>
              <a:ext cx="2421636" cy="2811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作者：编辑提交
审核员：判断复核
资料：确认与变更
内容：核验更新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67450" y="1857375"/>
            <a:ext cx="5467350" cy="3857625"/>
            <a:chOff x="6267450" y="1857375"/>
            <a:chExt cx="5467350" cy="3857625"/>
          </a:xfrm>
        </p:grpSpPr>
        <p:sp>
          <p:nvSpPr>
            <p:cNvPr id="8" name="Rectangle 8"/>
            <p:cNvSpPr/>
            <p:nvPr/>
          </p:nvSpPr>
          <p:spPr>
            <a:xfrm>
              <a:off x="6267450" y="1857375"/>
              <a:ext cx="5467350" cy="3857625"/>
            </a:xfrm>
            <a:prstGeom prst="roundRect">
              <a:avLst>
                <a:gd name="adj" fmla="val 29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21958" y="199834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操作留下什么记录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23482" y="2678430"/>
              <a:ext cx="4021836" cy="22109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作者：正文与处理说明
审核员：判断与正式结论
资料负责人：版本与依据
内容负责人：位置与核验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8056" y="5958840"/>
            <a:ext cx="8499348" cy="352044"/>
            <a:chOff x="448056" y="5958840"/>
            <a:chExt cx="849934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48056" y="5958840"/>
              <a:ext cx="8499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权限按职责设置；作者提出异议后，由有权限的角色确认与决定。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3" name="Group 23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26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7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0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1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2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3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4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5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36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37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8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89011" cy="1038035"/>
            <a:chOff x="441198" y="428625"/>
            <a:chExt cx="808901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6.3 状态与记录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检查完成、问题解决、审核通过，分别记录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85950"/>
            <a:ext cx="3505200" cy="2552700"/>
            <a:chOff x="457200" y="1885950"/>
            <a:chExt cx="3505200" cy="2552700"/>
          </a:xfrm>
        </p:grpSpPr>
        <p:sp>
          <p:nvSpPr>
            <p:cNvPr id="5" name="Rectangle 5"/>
            <p:cNvSpPr/>
            <p:nvPr/>
          </p:nvSpPr>
          <p:spPr>
            <a:xfrm>
              <a:off x="4572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1708" y="2122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检查记录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802255"/>
              <a:ext cx="24216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正文和依据版本
查了什么、范围多大
已完成、失败或待补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885950"/>
            <a:ext cx="3505200" cy="2552700"/>
            <a:chOff x="4343400" y="1885950"/>
            <a:chExt cx="3505200" cy="2552700"/>
          </a:xfrm>
        </p:grpSpPr>
        <p:sp>
          <p:nvSpPr>
            <p:cNvPr id="9" name="Rectangle 9"/>
            <p:cNvSpPr/>
            <p:nvPr/>
          </p:nvSpPr>
          <p:spPr>
            <a:xfrm>
              <a:off x="43434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979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问题处理记录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9432" y="2802255"/>
              <a:ext cx="21549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提示是否成立
作者怎样修改
复核是否确认解决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0" y="1885950"/>
            <a:ext cx="3505200" cy="2552700"/>
            <a:chOff x="8229600" y="1885950"/>
            <a:chExt cx="35052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82296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41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正式审核记录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5632" y="2802255"/>
              <a:ext cx="26883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实际提交哪个版本
审核要求是否完成
谁作出什么决定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532" y="5097780"/>
            <a:ext cx="8668817" cy="908304"/>
            <a:chOff x="446532" y="5097780"/>
            <a:chExt cx="8668817" cy="90830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5097780"/>
              <a:ext cx="86688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检查完成 / 人工待审 → 退回修改 → 新版复核 → 正式决定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654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实际使用另关联通过版本、使用位置与维护人，更新后需要核验。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2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3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5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6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7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8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9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0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1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42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3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8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339797" cy="1038035"/>
            <a:chOff x="441198" y="428625"/>
            <a:chExt cx="7339797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6.3 版本与结果有效性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33979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V3已保存，V2结果返回，该怎样处理？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24434" y="2198370"/>
            <a:ext cx="11417655" cy="1521714"/>
            <a:chOff x="424434" y="2198370"/>
            <a:chExt cx="11417655" cy="1521714"/>
          </a:xfrm>
        </p:grpSpPr>
        <p:sp>
          <p:nvSpPr>
            <p:cNvPr id="5" name="Line 5"/>
            <p:cNvSpPr/>
            <p:nvPr/>
          </p:nvSpPr>
          <p:spPr>
            <a:xfrm>
              <a:off x="1524000" y="28575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62075" y="2695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934075" y="26955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506075" y="2695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31911" y="2198370"/>
              <a:ext cx="10928177" cy="469392"/>
              <a:chOff x="631911" y="2198370"/>
              <a:chExt cx="10928177" cy="46939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31911" y="2198370"/>
                <a:ext cx="178417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发起V2检查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691847" y="2198370"/>
                <a:ext cx="280830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保存V3新稿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775911" y="2198370"/>
                <a:ext cx="178417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V2结果返回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24434" y="3368040"/>
              <a:ext cx="11417655" cy="352044"/>
              <a:chOff x="424434" y="3368040"/>
              <a:chExt cx="11417655" cy="35204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424434" y="33680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固定正文和依据版本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996434" y="33680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提示待有效检查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93910" y="3368040"/>
                <a:ext cx="23481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继续关联原来的V2</a:t>
                </a:r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457200" y="4581525"/>
            <a:ext cx="11277600" cy="1504950"/>
            <a:chOff x="457200" y="4581525"/>
            <a:chExt cx="11277600" cy="1504950"/>
          </a:xfrm>
        </p:grpSpPr>
        <p:sp>
          <p:nvSpPr>
            <p:cNvPr id="18" name="Rectangle 18"/>
            <p:cNvSpPr/>
            <p:nvPr/>
          </p:nvSpPr>
          <p:spPr>
            <a:xfrm>
              <a:off x="457200" y="4581525"/>
              <a:ext cx="1127760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0758" y="4760595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V2结果归档，V3待有效检查。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2282" y="534543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按条件复用或重查；不确定时全文重查。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330" y="579120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正式结论绑定实际提交版本；不能用旧结果直接确认新稿。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2" name="Group 32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5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6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8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9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0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1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2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3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4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45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6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8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578792" cy="1038035"/>
            <a:chOff x="441198" y="428625"/>
            <a:chExt cx="857879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6.3 异常与承接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5787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异常发生后，页面要说明下一步谁做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828800"/>
            <a:ext cx="11277600" cy="1066800"/>
            <a:chOff x="457200" y="1828800"/>
            <a:chExt cx="11277600" cy="1066800"/>
          </a:xfrm>
        </p:grpSpPr>
        <p:sp>
          <p:nvSpPr>
            <p:cNvPr id="5" name="Rectangle 5"/>
            <p:cNvSpPr/>
            <p:nvPr/>
          </p:nvSpPr>
          <p:spPr>
            <a:xfrm>
              <a:off x="457200" y="1828800"/>
              <a:ext cx="11277600" cy="10668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3232" y="20116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缺资料或
关联错误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13582" y="2011680"/>
              <a:ext cx="48696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受影响项待补 → 资料负责人承接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515106" y="24917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标明缺项与范围，补齐后重新核对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90875"/>
            <a:ext cx="11277600" cy="1066800"/>
            <a:chOff x="457200" y="3190875"/>
            <a:chExt cx="11277600" cy="10668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90875"/>
              <a:ext cx="11277600" cy="1066800"/>
            </a:xfrm>
            <a:prstGeom prst="roundRect">
              <a:avLst>
                <a:gd name="adj" fmla="val 10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3232" y="33737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部分检查
超时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13582" y="3373755"/>
              <a:ext cx="402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保留完成项 → 重试或人工补核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15106" y="385381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失败不计为通过；记录重试或人工核对范围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66800"/>
            <a:chOff x="457200" y="4552950"/>
            <a:chExt cx="112776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668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3232" y="47358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状态不明或无人接收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3582" y="4735830"/>
              <a:ext cx="37388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待核、待承接 → 交负责人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15106" y="52158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问题继续跟踪；重复提交避免重复流转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39790"/>
            <a:ext cx="7530084" cy="352044"/>
            <a:chOff x="448056" y="5939790"/>
            <a:chExt cx="7530084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3979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资料冲突带依据交人确认；异常要有状态、动作和责任人。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grpSp>
        <p:nvGrpSpPr>
          <p:cNvPr id="34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5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7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8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9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0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1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2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3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44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5_slide8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061743" cy="1038035"/>
            <a:chOff x="441198" y="428625"/>
            <a:chExt cx="7061743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产品方案小结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0617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让一篇文案，从提交走到实际使用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6532" y="1916430"/>
            <a:ext cx="5249418" cy="2903220"/>
            <a:chOff x="446532" y="1916430"/>
            <a:chExt cx="5249418" cy="2903220"/>
          </a:xfrm>
        </p:grpSpPr>
        <p:sp>
          <p:nvSpPr>
            <p:cNvPr id="5" name="TextBox 5"/>
            <p:cNvSpPr txBox="1"/>
            <p:nvPr/>
          </p:nvSpPr>
          <p:spPr>
            <a:xfrm>
              <a:off x="446532" y="19164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系统与流程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457200" y="2381250"/>
              <a:ext cx="5238750" cy="2438400"/>
              <a:chOff x="457200" y="2381250"/>
              <a:chExt cx="5238750" cy="2438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457200" y="2381250"/>
                <a:ext cx="523875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457200" y="3257550"/>
                <a:ext cx="523875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457200" y="4133850"/>
                <a:ext cx="523875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676656" y="2615565"/>
              <a:ext cx="3895344" cy="2104644"/>
              <a:chOff x="676656" y="2615565"/>
              <a:chExt cx="3895344" cy="2104644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76656" y="2615565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应用、审核能力、模型与资料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6656" y="3491865"/>
                <a:ext cx="38953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自检 → 正式审核 → 巡检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6656" y="4368165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输入、处理、结果与负责人</a:t>
                </a:r>
              </a:p>
            </p:txBody>
          </p:sp>
        </p:grpSp>
        <p:sp>
          <p:nvSpPr>
            <p:cNvPr id="14" name="Line 14"/>
            <p:cNvSpPr/>
            <p:nvPr/>
          </p:nvSpPr>
          <p:spPr>
            <a:xfrm>
              <a:off x="3076575" y="3067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076575" y="394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256782" y="1916430"/>
            <a:ext cx="4705198" cy="2994279"/>
            <a:chOff x="6256782" y="1916430"/>
            <a:chExt cx="4705198" cy="2994279"/>
          </a:xfrm>
        </p:grpSpPr>
        <p:sp>
          <p:nvSpPr>
            <p:cNvPr id="17" name="TextBox 17"/>
            <p:cNvSpPr txBox="1"/>
            <p:nvPr/>
          </p:nvSpPr>
          <p:spPr>
            <a:xfrm>
              <a:off x="6256782" y="191643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页面与运行约束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258306" y="2615565"/>
              <a:ext cx="4703674" cy="2295144"/>
              <a:chOff x="6258306" y="2615565"/>
              <a:chExt cx="4703674" cy="2295144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58306" y="261556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页面：完成任务，关键操作有入口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58306" y="3263265"/>
                <a:ext cx="47036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状态：检查、问题处理、正式结论分开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58306" y="391096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版本：结果与结论绑定对应正文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258306" y="4558665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异常：范围可见，下一步有人承接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24" name="Rectangle 24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3232" y="5735955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下一节：先跑通什么，再用哪些证据验证项目效果。</a:t>
              </a:r>
            </a:p>
          </p:txBody>
        </p:sp>
      </p:grpSp>
      <p:grpSp>
        <p:nvGrpSpPr>
          <p:cNvPr id="2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6 产品方案</a:t>
                </a:r>
              </a:p>
            </p:txBody>
          </p:sp>
          <p:sp>
            <p:nvSpPr>
              <p:cNvPr id="3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3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3268980" cy="1443990"/>
            <a:chOff x="438150" y="523875"/>
            <a:chExt cx="3268980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第七节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32689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落地与验证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3659886" cy="1993201"/>
            <a:chOff x="441198" y="2231708"/>
            <a:chExt cx="3659886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先跑通项目，
再证明它省力。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输入：业务流程与产品方案。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3976459" cy="2381250"/>
            <a:chOff x="5295900" y="2095500"/>
            <a:chExt cx="3976459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1169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7.1 准备条件与建设顺序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7.2 质量、流程与总投入验证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3996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7.3 决定扩大、修复或收缩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形成实施与验证安排，说明凭什么进入下一步。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方案 → 试用 →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49</a:t>
            </a:r>
          </a:p>
        </p:txBody>
      </p:sp>
    </p:spTree>
  </p:cSld>
  <p:clrMapOvr>
    <a:masterClrMapping/>
  </p:clrMapOvr>
  <p:transition p14:dur="400">
    <p:fade/>
  </p:transition>
</p:sld>
</file>

<file path=ppt/slides/d6_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7.1 实施前提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开发前，先确认四类依赖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5008" y="2093595"/>
            <a:ext cx="4290060" cy="1424178"/>
            <a:chOff x="445008" y="2093595"/>
            <a:chExt cx="4290060" cy="1424178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20935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有效资料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532" y="2678430"/>
              <a:ext cx="4288536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业务负责人确认范围与版本。
缺资料：补齐或缩小范围。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69558" y="2093595"/>
            <a:ext cx="4556760" cy="1424178"/>
            <a:chOff x="6369558" y="2093595"/>
            <a:chExt cx="4556760" cy="1424178"/>
          </a:xfrm>
        </p:grpSpPr>
        <p:sp>
          <p:nvSpPr>
            <p:cNvPr id="8" name="TextBox 8"/>
            <p:cNvSpPr txBox="1"/>
            <p:nvPr/>
          </p:nvSpPr>
          <p:spPr>
            <a:xfrm>
              <a:off x="6369558" y="209359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原文与参考判断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71082" y="2678430"/>
              <a:ext cx="4555236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业务与审核员确认样例和理由。
争议待确认，模型自评不能当答案。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5008" y="4150995"/>
            <a:ext cx="4730115" cy="1424178"/>
            <a:chOff x="445008" y="4150995"/>
            <a:chExt cx="4730115" cy="1424178"/>
          </a:xfrm>
        </p:grpSpPr>
        <p:sp>
          <p:nvSpPr>
            <p:cNvPr id="11" name="TextBox 11"/>
            <p:cNvSpPr txBox="1"/>
            <p:nvPr/>
          </p:nvSpPr>
          <p:spPr>
            <a:xfrm>
              <a:off x="445008" y="415099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内容关联与使用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532" y="4735830"/>
              <a:ext cx="4728591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内容负责人登记商品、活动和维护人。
状态不明：先核实或缩小范围。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69558" y="4150995"/>
            <a:ext cx="4290060" cy="1424178"/>
            <a:chOff x="6369558" y="4150995"/>
            <a:chExt cx="4290060" cy="1424178"/>
          </a:xfrm>
        </p:grpSpPr>
        <p:sp>
          <p:nvSpPr>
            <p:cNvPr id="14" name="TextBox 14"/>
            <p:cNvSpPr txBox="1"/>
            <p:nvPr/>
          </p:nvSpPr>
          <p:spPr>
            <a:xfrm>
              <a:off x="6369558" y="415099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接入与人工承接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1082" y="4735830"/>
              <a:ext cx="4288536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产品、实现与业务约定接入和记录。
明确复核、处理与暂停权限。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6" name="Group 26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29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0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2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3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4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5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6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7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8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39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40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7.1 建设顺序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先跑关键路径，再接完整业务环节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关键审核点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正式审核闭环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接自检与巡检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小范围真实试用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质量与失败出口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提交、修改、复核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复用与变化重查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总投入与处理收益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每一步都看质量、版本、流程和人工承接是否可用。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三个环节都在首版范围；先有阶段通过证据，再确定投入与扩展。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43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44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6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7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8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9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50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51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52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53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54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921040" cy="1038035"/>
            <a:chOff x="441198" y="428625"/>
            <a:chExt cx="59210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7.2 代表样例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9210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四类样例，验证关键审核点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47850"/>
            <a:ext cx="5353050" cy="1619250"/>
            <a:chOff x="457200" y="1847850"/>
            <a:chExt cx="5353050" cy="1619250"/>
          </a:xfrm>
        </p:grpSpPr>
        <p:sp>
          <p:nvSpPr>
            <p:cNvPr id="5" name="Rectangle 5"/>
            <p:cNvSpPr/>
            <p:nvPr/>
          </p:nvSpPr>
          <p:spPr>
            <a:xfrm>
              <a:off x="457200" y="1847850"/>
              <a:ext cx="5353050" cy="1619250"/>
            </a:xfrm>
            <a:prstGeom prst="roundRect">
              <a:avLst>
                <a:gd name="adj" fmla="val 70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4756" y="206311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正常 / 不应误报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1708" y="2607945"/>
              <a:ext cx="34652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基站65℃热水洗拖布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81750" y="1847850"/>
            <a:ext cx="5353050" cy="1619250"/>
            <a:chOff x="6381750" y="1847850"/>
            <a:chExt cx="5353050" cy="1619250"/>
          </a:xfrm>
        </p:grpSpPr>
        <p:sp>
          <p:nvSpPr>
            <p:cNvPr id="9" name="Rectangle 9"/>
            <p:cNvSpPr/>
            <p:nvPr/>
          </p:nvSpPr>
          <p:spPr>
            <a:xfrm>
              <a:off x="6381750" y="1847850"/>
              <a:ext cx="53530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39306" y="2063115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/ 对象不一致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36258" y="2607945"/>
              <a:ext cx="24960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65℃直接拖地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3790950"/>
            <a:ext cx="5353050" cy="1619250"/>
            <a:chOff x="457200" y="3790950"/>
            <a:chExt cx="5353050" cy="1619250"/>
          </a:xfrm>
        </p:grpSpPr>
        <p:sp>
          <p:nvSpPr>
            <p:cNvPr id="13" name="Rectangle 13"/>
            <p:cNvSpPr/>
            <p:nvPr/>
          </p:nvSpPr>
          <p:spPr>
            <a:xfrm>
              <a:off x="457200" y="3790950"/>
              <a:ext cx="53530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4756" y="4006215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 / 结合全文确认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708" y="4551045"/>
              <a:ext cx="24960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65℃深度清洁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1750" y="3790950"/>
            <a:ext cx="5353050" cy="1619250"/>
            <a:chOff x="6381750" y="3790950"/>
            <a:chExt cx="5353050" cy="1619250"/>
          </a:xfrm>
        </p:grpSpPr>
        <p:sp>
          <p:nvSpPr>
            <p:cNvPr id="17" name="Rectangle 17"/>
            <p:cNvSpPr/>
            <p:nvPr/>
          </p:nvSpPr>
          <p:spPr>
            <a:xfrm>
              <a:off x="6381750" y="3790950"/>
              <a:ext cx="53530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39306" y="4006215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异常 / 说明未完成范围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36258" y="455104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缺资料、资料变化、超时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8056" y="5815965"/>
            <a:ext cx="8499348" cy="352044"/>
            <a:chOff x="448056" y="5815965"/>
            <a:chExt cx="8499348" cy="352044"/>
          </a:xfrm>
        </p:grpSpPr>
        <p:sp>
          <p:nvSpPr>
            <p:cNvPr id="21" name="TextBox 21"/>
            <p:cNvSpPr txBox="1"/>
            <p:nvPr/>
          </p:nvSpPr>
          <p:spPr>
            <a:xfrm>
              <a:off x="448056" y="5815965"/>
              <a:ext cx="8499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参考判断由业务确认；调试与独立验证分开；修改后回看代表样例。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2" name="Group 32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35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6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8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9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40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1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2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3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4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5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46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544693" cy="1038035"/>
            <a:chOff x="441198" y="428625"/>
            <a:chExt cx="5544693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7.2 验证证据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验证的是整项审核工作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2059305"/>
            <a:ext cx="7936992" cy="3420618"/>
            <a:chOff x="446532" y="2059305"/>
            <a:chExt cx="7936992" cy="3420618"/>
          </a:xfrm>
        </p:grpSpPr>
        <p:grpSp>
          <p:nvGrpSpPr>
            <p:cNvPr id="10" name="Group 10"/>
            <p:cNvGrpSpPr/>
            <p:nvPr/>
          </p:nvGrpSpPr>
          <p:grpSpPr>
            <a:xfrm>
              <a:off x="446532" y="2059305"/>
              <a:ext cx="7936992" cy="3420618"/>
              <a:chOff x="446532" y="2059305"/>
              <a:chExt cx="7936992" cy="342061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46532" y="2059305"/>
                <a:ext cx="79369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质量　漏报、误报、依据适用，能否区分信息不足与失败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46532" y="2811780"/>
                <a:ext cx="76542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人工　作者＋审核员的总投入；等待业务回复另记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6532" y="3564255"/>
                <a:ext cx="751667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版本　检查与正式结论，能否绑定正确正文和依据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46532" y="4316730"/>
                <a:ext cx="79369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巡检　已知范围有无覆盖，问题有无承接并实际更新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46532" y="5069205"/>
                <a:ext cx="708888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运行　调用成本、等待、重试与人工接管是否可接受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448056" y="5873115"/>
            <a:ext cx="8499348" cy="352044"/>
            <a:chOff x="448056" y="5873115"/>
            <a:chExt cx="849934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48056" y="5873115"/>
              <a:ext cx="8499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试用前约定质量要求、关键错误、成本范围与退出条件，具体门槛结合业务基线。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3" name="Group 23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26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7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0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1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2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3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4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5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36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37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7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41305" cy="1038035"/>
            <a:chOff x="441198" y="428625"/>
            <a:chExt cx="80413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第七节 / 7.2 课堂计算（教学数据）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413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查资料从100降到60分钟，就提效了吗？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6532" y="2117408"/>
            <a:ext cx="10472384" cy="616077"/>
            <a:chOff x="446532" y="2117408"/>
            <a:chExt cx="10472384" cy="616077"/>
          </a:xfrm>
        </p:grpSpPr>
        <p:sp>
          <p:nvSpPr>
            <p:cNvPr id="5" name="TextBox 5"/>
            <p:cNvSpPr txBox="1"/>
            <p:nvPr/>
          </p:nvSpPr>
          <p:spPr>
            <a:xfrm>
              <a:off x="446532" y="214503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作者准备、自检与修改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13623" y="2117408"/>
              <a:ext cx="25052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60 → 80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6532" y="3384232"/>
            <a:ext cx="10717275" cy="616077"/>
            <a:chOff x="446532" y="3384232"/>
            <a:chExt cx="10717275" cy="616077"/>
          </a:xfrm>
        </p:grpSpPr>
        <p:sp>
          <p:nvSpPr>
            <p:cNvPr id="8" name="TextBox 8"/>
            <p:cNvSpPr txBox="1"/>
            <p:nvPr/>
          </p:nvSpPr>
          <p:spPr>
            <a:xfrm>
              <a:off x="446532" y="34118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审核人员查资料与核对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13623" y="3384232"/>
              <a:ext cx="27501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 → 60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532" y="4651058"/>
            <a:ext cx="10472384" cy="616077"/>
            <a:chOff x="446532" y="4651058"/>
            <a:chExt cx="10472384" cy="616077"/>
          </a:xfrm>
        </p:grpSpPr>
        <p:sp>
          <p:nvSpPr>
            <p:cNvPr id="11" name="TextBox 11"/>
            <p:cNvSpPr txBox="1"/>
            <p:nvPr/>
          </p:nvSpPr>
          <p:spPr>
            <a:xfrm>
              <a:off x="446532" y="467868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沟通、纠错与复核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13623" y="4651058"/>
              <a:ext cx="25052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40 → 65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6532" y="5802630"/>
            <a:ext cx="7682560" cy="410718"/>
            <a:chOff x="446532" y="5802630"/>
            <a:chExt cx="7682560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446532" y="5802630"/>
              <a:ext cx="7682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单位：分钟。两组各10篇可比文案，课堂示例非实测。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5" name="Group 25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28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9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1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2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3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4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5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6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7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38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39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7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968746" cy="1038035"/>
            <a:chOff x="441198" y="428625"/>
            <a:chExt cx="5968746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7.2 课堂计算结果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局部变快，还不能宣布整体提效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8150" y="2164080"/>
            <a:ext cx="7900705" cy="1276350"/>
            <a:chOff x="438150" y="2164080"/>
            <a:chExt cx="7900705" cy="1276350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2164080"/>
              <a:ext cx="4189579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 → 205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5748" y="2498408"/>
              <a:ext cx="197310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多5分钟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6532" y="3764280"/>
            <a:ext cx="6961670" cy="410718"/>
            <a:chOff x="446532" y="3764280"/>
            <a:chExt cx="6961670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446532" y="3764280"/>
              <a:ext cx="69616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作者＋20　查资料－40　沟通复核＋25　＝总人工＋5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4638675"/>
            <a:ext cx="11277600" cy="1524000"/>
            <a:chOff x="457200" y="4638675"/>
            <a:chExt cx="11277600" cy="1524000"/>
          </a:xfrm>
        </p:grpSpPr>
        <p:sp>
          <p:nvSpPr>
            <p:cNvPr id="10" name="Rectangle 10"/>
            <p:cNvSpPr/>
            <p:nvPr/>
          </p:nvSpPr>
          <p:spPr>
            <a:xfrm>
              <a:off x="457200" y="4638675"/>
              <a:ext cx="11277600" cy="1524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4827270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先查原因：反馈不清、误报、版本衔接或学习成本？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2282" y="5412105"/>
              <a:ext cx="7936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同时核对质量、等待与任务可比性，再判断投入是否值得。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585787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课堂数据非实测；同人重复熟悉题目变快，不能全部归因工具。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2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3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3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3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7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968746" cy="1038035"/>
            <a:chOff x="441198" y="428625"/>
            <a:chExt cx="5968746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7.3 试用决策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验证结论，要能决定下一步动作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09750"/>
            <a:ext cx="2857500" cy="3619500"/>
            <a:chOff x="457200" y="1809750"/>
            <a:chExt cx="2857500" cy="3619500"/>
          </a:xfrm>
        </p:grpSpPr>
        <p:sp>
          <p:nvSpPr>
            <p:cNvPr id="5" name="Rectangle 5"/>
            <p:cNvSpPr/>
            <p:nvPr/>
          </p:nvSpPr>
          <p:spPr>
            <a:xfrm>
              <a:off x="457200" y="1809750"/>
              <a:ext cx="2857500" cy="3619500"/>
            </a:xfrm>
            <a:prstGeom prst="roundRect">
              <a:avLst>
                <a:gd name="adj" fmla="val 4000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21412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回看真实证据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2282" y="2926080"/>
              <a:ext cx="2421636" cy="1515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质量是否满足要求
流程与承接是否稳定
收益能否确认</a:t>
              </a:r>
              <a:br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14700" y="2002155"/>
            <a:ext cx="6713969" cy="813054"/>
            <a:chOff x="3314700" y="2002155"/>
            <a:chExt cx="6713969" cy="813054"/>
          </a:xfrm>
        </p:grpSpPr>
        <p:sp>
          <p:nvSpPr>
            <p:cNvPr id="9" name="Line 9"/>
            <p:cNvSpPr/>
            <p:nvPr/>
          </p:nvSpPr>
          <p:spPr>
            <a:xfrm>
              <a:off x="3314700" y="230505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94632" y="2002155"/>
              <a:ext cx="5734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稳定且有收益 → 逐步扩大相似范围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6156" y="246316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保留质量、时效和人工承接记录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14700" y="3316605"/>
            <a:ext cx="6713969" cy="813054"/>
            <a:chOff x="3314700" y="3316605"/>
            <a:chExt cx="6713969" cy="813054"/>
          </a:xfrm>
        </p:grpSpPr>
        <p:sp>
          <p:nvSpPr>
            <p:cNvPr id="13" name="Line 13"/>
            <p:cNvSpPr/>
            <p:nvPr/>
          </p:nvSpPr>
          <p:spPr>
            <a:xfrm>
              <a:off x="3314700" y="36195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294632" y="3316605"/>
              <a:ext cx="5734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资料、判断或版本有问题 → 定位、修复、回归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6156" y="377761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区分取资料、理解、比较、引用定位与用户处理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14700" y="4631055"/>
            <a:ext cx="7279373" cy="813054"/>
            <a:chOff x="3314700" y="4631055"/>
            <a:chExt cx="7279373" cy="813054"/>
          </a:xfrm>
        </p:grpSpPr>
        <p:sp>
          <p:nvSpPr>
            <p:cNvPr id="17" name="Line 17"/>
            <p:cNvSpPr/>
            <p:nvPr/>
          </p:nvSpPr>
          <p:spPr>
            <a:xfrm>
              <a:off x="3314700" y="493395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94632" y="4631055"/>
              <a:ext cx="62994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关键错误不可控或无人承接 → 收缩或回人工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96156" y="509206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保留记录并说明调整理由，恢复后再验证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0" name="Group 3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33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4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6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7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8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9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0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1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2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3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44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7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664958" cy="1038035"/>
            <a:chOff x="441198" y="428625"/>
            <a:chExt cx="7664958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7.3 后续演进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先证明辅助有效，再评估限定场景自动审核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866900"/>
            <a:ext cx="11277600" cy="2286000"/>
            <a:chOff x="457200" y="1866900"/>
            <a:chExt cx="11277600" cy="2286000"/>
          </a:xfrm>
        </p:grpSpPr>
        <p:sp>
          <p:nvSpPr>
            <p:cNvPr id="5" name="Rectangle 5"/>
            <p:cNvSpPr/>
            <p:nvPr/>
          </p:nvSpPr>
          <p:spPr>
            <a:xfrm>
              <a:off x="457200" y="320040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457700" y="253365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458200" y="186690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13232" y="2211705"/>
              <a:ext cx="10849356" cy="1744218"/>
              <a:chOff x="713232" y="2211705"/>
              <a:chExt cx="10849356" cy="17442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13232" y="3545205"/>
                <a:ext cx="25656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边界明确的自动检查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713732" y="2878455"/>
                <a:ext cx="313105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辅助审核，人工决定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14232" y="2211705"/>
                <a:ext cx="28483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限定场景自动决定</a:t>
                </a:r>
              </a:p>
            </p:txBody>
          </p:sp>
        </p:grpSp>
        <p:sp>
          <p:nvSpPr>
            <p:cNvPr id="12" name="Line 12"/>
            <p:cNvSpPr/>
            <p:nvPr/>
          </p:nvSpPr>
          <p:spPr>
            <a:xfrm>
              <a:off x="3752850" y="3009900"/>
              <a:ext cx="685800" cy="666750"/>
            </a:xfrm>
            <a:custGeom>
              <a:avLst/>
              <a:gdLst/>
              <a:ahLst/>
              <a:cxnLst/>
              <a:rect l="l" t="t" r="r" b="b"/>
              <a:pathLst>
                <a:path w="685800" h="666750">
                  <a:moveTo>
                    <a:pt x="0" y="66675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sp>
          <p:nvSpPr>
            <p:cNvPr id="13" name="Line 13"/>
            <p:cNvSpPr/>
            <p:nvPr/>
          </p:nvSpPr>
          <p:spPr>
            <a:xfrm>
              <a:off x="7753350" y="2343150"/>
              <a:ext cx="685800" cy="666750"/>
            </a:xfrm>
            <a:custGeom>
              <a:avLst/>
              <a:gdLst/>
              <a:ahLst/>
              <a:cxnLst/>
              <a:rect l="l" t="t" r="r" b="b"/>
              <a:pathLst>
                <a:path w="685800" h="666750">
                  <a:moveTo>
                    <a:pt x="0" y="66675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45008" y="4789170"/>
            <a:ext cx="8433244" cy="1381125"/>
            <a:chOff x="445008" y="4789170"/>
            <a:chExt cx="8433244" cy="1381125"/>
          </a:xfrm>
        </p:grpSpPr>
        <p:sp>
          <p:nvSpPr>
            <p:cNvPr id="15" name="TextBox 15"/>
            <p:cNvSpPr txBox="1"/>
            <p:nvPr/>
          </p:nvSpPr>
          <p:spPr>
            <a:xfrm>
              <a:off x="445008" y="478917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自动决定需要额外证据与明确授权：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532" y="5393055"/>
              <a:ext cx="84317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完整覆盖 · 有效依据 · 质量证据 · 处置权限 · 异常承接 · 恢复人工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580" y="58769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系统未发现问题，不能直接连接自动发布；此处是演进方向，尚未实施。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8" name="Group 28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2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5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36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37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38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39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0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1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42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d6_slide8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365531" cy="1038035"/>
            <a:chOff x="441198" y="428625"/>
            <a:chExt cx="536553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全课收束与课后产物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3655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一页实施与验证安排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714500"/>
            <a:ext cx="11277600" cy="3524250"/>
            <a:chOff x="457200" y="1714500"/>
            <a:chExt cx="11277600" cy="3524250"/>
          </a:xfrm>
        </p:grpSpPr>
        <p:sp>
          <p:nvSpPr>
            <p:cNvPr id="5" name="Rectangle 5"/>
            <p:cNvSpPr/>
            <p:nvPr/>
          </p:nvSpPr>
          <p:spPr>
            <a:xfrm>
              <a:off x="457200" y="1714500"/>
              <a:ext cx="11277600" cy="352425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4756" y="1939290"/>
              <a:ext cx="66239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从R01温度对象核对开始，串起第一节到第七节。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713232" y="2440305"/>
              <a:ext cx="8502396" cy="2410968"/>
              <a:chOff x="713232" y="2440305"/>
              <a:chExt cx="8502396" cy="2410968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13232" y="2440305"/>
                <a:ext cx="806420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先做：有效资料 → 检查可用 → 正式审核闭环 → 自检与巡检。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13232" y="3107055"/>
                <a:ext cx="82196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谁做：业务确认依据，产品组织路径，审核与内容负责人承接。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13232" y="3773805"/>
                <a:ext cx="76830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依赖：正文版本、SKU与活动、有效资料、使用关联和维护人。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13232" y="4440555"/>
                <a:ext cx="85023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验什么：正常、问题、边界、失败；版本与处置；总人工投入。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16280" y="4905375"/>
              <a:ext cx="6961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本课案例与方案为教学设计；课后写清最小路径、负责人、依赖和下一步证据。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14" name="Rectangle 14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3232" y="5735955"/>
              <a:ext cx="93505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质量、流程、承接和收益稳定后再扩；有问题先定位、修复或缩范围。</a:t>
              </a:r>
            </a:p>
          </p:txBody>
        </p:sp>
      </p:grpSp>
      <p:grpSp>
        <p:nvGrpSpPr>
          <p:cNvPr id="1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1 业务背景</a:t>
                </a:r>
              </a:p>
            </p:txBody>
          </p:sp>
          <p:sp>
            <p:nvSpPr>
              <p:cNvPr id="2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2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2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2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2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2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7 落地验证</a:t>
                </a:r>
              </a:p>
            </p:txBody>
          </p:sp>
        </p:grpSp>
        <p:sp>
          <p:nvSpPr>
            <p:cNvPr id="2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3400" y="495300"/>
            <a:ext cx="11201400" cy="561975"/>
            <a:chOff x="533400" y="495300"/>
            <a:chExt cx="11201400" cy="561975"/>
          </a:xfrm>
        </p:grpSpPr>
        <p:sp>
          <p:nvSpPr>
            <p:cNvPr id="2" name="Rectangle 2"/>
            <p:cNvSpPr/>
            <p:nvPr/>
          </p:nvSpPr>
          <p:spPr>
            <a:xfrm>
              <a:off x="533400" y="495300"/>
              <a:ext cx="571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4380" y="561975"/>
              <a:ext cx="2596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AI产品项目实战 / 第一次课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0477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1491615"/>
            <a:ext cx="3695700" cy="1733550"/>
            <a:chOff x="514350" y="1491615"/>
            <a:chExt cx="3695700" cy="1733550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491615"/>
              <a:ext cx="3695700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电商营销内容</a:t>
              </a:r>
              <a:br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审核提效项目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3162300"/>
            <a:ext cx="2952750" cy="462534"/>
            <a:chOff x="533400" y="3162300"/>
            <a:chExt cx="2952750" cy="462534"/>
          </a:xfrm>
        </p:grpSpPr>
        <p:sp>
          <p:nvSpPr>
            <p:cNvPr id="8" name="Rectangle 8"/>
            <p:cNvSpPr/>
            <p:nvPr/>
          </p:nvSpPr>
          <p:spPr>
            <a:xfrm>
              <a:off x="533400" y="3162300"/>
              <a:ext cx="2952750" cy="4572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4756" y="3272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首版定位：审核提效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2732" y="3844290"/>
            <a:ext cx="4827270" cy="892683"/>
            <a:chOff x="522732" y="3844290"/>
            <a:chExt cx="4827270" cy="892683"/>
          </a:xfrm>
        </p:grpSpPr>
        <p:sp>
          <p:nvSpPr>
            <p:cNvPr id="11" name="TextBox 11"/>
            <p:cNvSpPr txBox="1"/>
            <p:nvPr/>
          </p:nvSpPr>
          <p:spPr>
            <a:xfrm>
              <a:off x="524256" y="3844290"/>
              <a:ext cx="42556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净小伴 P1标准版 · 常规营销文案审核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732" y="432625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从业务背景，走到产品方案与落地验证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05600" y="1276350"/>
            <a:ext cx="5029200" cy="3836670"/>
            <a:chOff x="6705600" y="1276350"/>
            <a:chExt cx="5029200" cy="3836670"/>
          </a:xfrm>
        </p:grpSpPr>
        <p:sp>
          <p:nvSpPr>
            <p:cNvPr id="14" name="Rectangle 14"/>
            <p:cNvSpPr/>
            <p:nvPr/>
          </p:nvSpPr>
          <p:spPr>
            <a:xfrm>
              <a:off x="6705600" y="1276350"/>
              <a:ext cx="5029200" cy="3562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0" y="1428750"/>
              <a:ext cx="4876800" cy="3251168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6850380" y="4819650"/>
              <a:ext cx="326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P1扫拖机器人 · 养宠家庭推广场景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5780" y="5200650"/>
            <a:ext cx="11209020" cy="933450"/>
            <a:chOff x="525780" y="5200650"/>
            <a:chExt cx="11209020" cy="933450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52006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首版覆盖三个环节，正式决定与处置由人承担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714500" y="5838825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5562600"/>
              <a:ext cx="33337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67225" y="5562600"/>
              <a:ext cx="33337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401050" y="5562600"/>
              <a:ext cx="33337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52856" y="5739765"/>
              <a:ext cx="8152486" cy="352044"/>
              <a:chOff x="752856" y="5739765"/>
              <a:chExt cx="8152486" cy="35204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52856" y="57397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86681" y="57397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620506" y="57397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351407" y="5707380"/>
              <a:ext cx="9019794" cy="410718"/>
              <a:chOff x="1351407" y="5707380"/>
              <a:chExt cx="9019794" cy="410718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351407" y="57073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事前自检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85232" y="57073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事中审核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19057" y="57073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事后巡检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28066" y="6458902"/>
            <a:ext cx="11212068" cy="205359"/>
            <a:chOff x="528066" y="6458902"/>
            <a:chExt cx="112120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28066" y="64589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教学模拟：品牌、人物、商品资料与配图。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73980" y="64589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5843016" cy="1338834"/>
            <a:chOff x="515112" y="457200"/>
            <a:chExt cx="5843016" cy="1338834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2682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课程地图 / 七节讲义逐节对应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本次课的七节内容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439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从业务背景出发，逐步形成可实施、可验证的项目方案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1914525"/>
            <a:ext cx="11201400" cy="4048125"/>
            <a:chOff x="533400" y="1914525"/>
            <a:chExt cx="11201400" cy="4048125"/>
          </a:xfrm>
        </p:grpSpPr>
        <p:sp>
          <p:nvSpPr>
            <p:cNvPr id="6" name="Line 6"/>
            <p:cNvSpPr/>
            <p:nvPr/>
          </p:nvSpPr>
          <p:spPr>
            <a:xfrm>
              <a:off x="723900" y="2105025"/>
              <a:ext cx="9525" cy="3543300"/>
            </a:xfrm>
            <a:custGeom>
              <a:avLst/>
              <a:gdLst/>
              <a:ahLst/>
              <a:cxnLst/>
              <a:rect l="l" t="t" r="r" b="b"/>
              <a:pathLst>
                <a:path w="9525" h="3543300">
                  <a:moveTo>
                    <a:pt x="0" y="0"/>
                  </a:moveTo>
                  <a:lnTo>
                    <a:pt x="0" y="35433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33400" y="1914525"/>
              <a:ext cx="381000" cy="3924300"/>
              <a:chOff x="533400" y="1914525"/>
              <a:chExt cx="381000" cy="39243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533400" y="19145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533400" y="25050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533400" y="30956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533400" y="36861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533400" y="42767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33400" y="48672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533400" y="54578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605219" y="2009775"/>
              <a:ext cx="237363" cy="3836670"/>
              <a:chOff x="605219" y="2009775"/>
              <a:chExt cx="237363" cy="383667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05219" y="20097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05219" y="26003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05219" y="31908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5219" y="37814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05219" y="43719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5219" y="49625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5219" y="55530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07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170432" y="1973580"/>
              <a:ext cx="2000250" cy="3954018"/>
              <a:chOff x="1170432" y="1973580"/>
              <a:chExt cx="2000250" cy="395401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170432" y="19735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业务背景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70432" y="25641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项目目标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70432" y="31546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业务方案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70432" y="37452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审核体系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0432" y="43357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方案选择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0432" y="4926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系统与产品方案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70432" y="551688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落地与验证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991356" y="2005965"/>
              <a:ext cx="4622292" cy="3895344"/>
              <a:chOff x="3991356" y="2005965"/>
              <a:chExt cx="4622292" cy="3895344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3991356" y="200596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原来的审核怎么做，哪些动作在重复？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991356" y="259651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第一版要让谁少做什么，范围到哪里？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91356" y="318706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自检、正式审核、巡检怎样接成闭环？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991356" y="377761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一条业务要求，怎样定义成具体审核点？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991356" y="4368165"/>
                <a:ext cx="38953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规则、模型、人工怎样分工与交接？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991356" y="4958715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流程怎样落实到架构、页面、版本与状态？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991356" y="554926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先做什么，用哪些证据判断是否提效？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181100" y="2409825"/>
              <a:ext cx="10553700" cy="3552825"/>
              <a:chOff x="1181100" y="2409825"/>
              <a:chExt cx="10553700" cy="3552825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1181100" y="24098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1181100" y="30003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1181100" y="35909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181100" y="41814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1181100" y="47720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1181100" y="53625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1181100" y="59531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49" name="Group 49"/>
          <p:cNvGrpSpPr/>
          <p:nvPr/>
        </p:nvGrpSpPr>
        <p:grpSpPr>
          <a:xfrm>
            <a:off x="525780" y="6172200"/>
            <a:ext cx="5447157" cy="293370"/>
            <a:chOff x="525780" y="6172200"/>
            <a:chExt cx="5447157" cy="293370"/>
          </a:xfrm>
        </p:grpSpPr>
        <p:sp>
          <p:nvSpPr>
            <p:cNvPr id="48" name="TextBox 48"/>
            <p:cNvSpPr txBox="1"/>
            <p:nvPr/>
          </p:nvSpPr>
          <p:spPr>
            <a:xfrm>
              <a:off x="525780" y="6000750"/>
              <a:ext cx="5447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180分钟，含两次各10分钟休息 · 章节名称与完整版讲义一致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53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54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56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57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1 业务背景</a:t>
                </a:r>
              </a:p>
            </p:txBody>
          </p:sp>
          <p:sp>
            <p:nvSpPr>
              <p:cNvPr id="58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59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60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61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62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63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64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8422538" cy="1384173"/>
            <a:chOff x="515112" y="457200"/>
            <a:chExt cx="8422538" cy="1384173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1.1 原有审核方式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企业原来是怎样审核营销内容的？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732" y="1430655"/>
              <a:ext cx="84149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小周按日常计划写P1推广，小林人工阅读，逐句对照业务资料。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1208" y="2158365"/>
            <a:ext cx="2679192" cy="1923669"/>
            <a:chOff x="521208" y="2158365"/>
            <a:chExt cx="2679192" cy="1923669"/>
          </a:xfrm>
        </p:grpSpPr>
        <p:sp>
          <p:nvSpPr>
            <p:cNvPr id="6" name="TextBox 6"/>
            <p:cNvSpPr txBox="1"/>
            <p:nvPr/>
          </p:nvSpPr>
          <p:spPr>
            <a:xfrm>
              <a:off x="524256" y="215836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内容作者 / 小周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2552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1208" y="27508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写稿、自查、修改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3329940"/>
              <a:ext cx="2075688" cy="75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整理正文及相关资料</a:t>
              </a:r>
              <a:br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收到意见后修改重提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43300" y="2095500"/>
            <a:ext cx="3619500" cy="3067050"/>
            <a:chOff x="3543300" y="2095500"/>
            <a:chExt cx="3619500" cy="3067050"/>
          </a:xfrm>
        </p:grpSpPr>
        <p:sp>
          <p:nvSpPr>
            <p:cNvPr id="11" name="Rectangle 11"/>
            <p:cNvSpPr/>
            <p:nvPr/>
          </p:nvSpPr>
          <p:spPr>
            <a:xfrm>
              <a:off x="3543300" y="2095500"/>
              <a:ext cx="3619500" cy="3067050"/>
            </a:xfrm>
            <a:prstGeom prst="roundRect">
              <a:avLst>
                <a:gd name="adj" fmla="val 24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00856" y="2253615"/>
              <a:ext cx="150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小林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97808" y="2760345"/>
              <a:ext cx="2589276" cy="9837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读原句 → 找依据</a:t>
              </a:r>
              <a:br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核对、反馈、复核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0856" y="3958590"/>
              <a:ext cx="27614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判断表述是否有据可依</a:t>
              </a:r>
              <a:br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说明问题，并核对修改结果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52182" y="2158365"/>
            <a:ext cx="4182618" cy="2907030"/>
            <a:chOff x="7552182" y="2158365"/>
            <a:chExt cx="4182618" cy="2907030"/>
          </a:xfrm>
        </p:grpSpPr>
        <p:sp>
          <p:nvSpPr>
            <p:cNvPr id="16" name="TextBox 16"/>
            <p:cNvSpPr txBox="1"/>
            <p:nvPr/>
          </p:nvSpPr>
          <p:spPr>
            <a:xfrm>
              <a:off x="7553706" y="21583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业务资料负责人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562850" y="255270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27832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产品负责人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11106" y="2815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确认商品事实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2182" y="34309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活动负责人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11106" y="3463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确认价格赠品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2182" y="40786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履约负责人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11106" y="4110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确认配送承诺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5230" y="47720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缺少或冲突的事实，回到责任人确认。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2732" y="5467350"/>
            <a:ext cx="11212068" cy="864870"/>
            <a:chOff x="522732" y="5467350"/>
            <a:chExt cx="11212068" cy="864870"/>
          </a:xfrm>
        </p:grpSpPr>
        <p:sp>
          <p:nvSpPr>
            <p:cNvPr id="26" name="Line 26"/>
            <p:cNvSpPr/>
            <p:nvPr/>
          </p:nvSpPr>
          <p:spPr>
            <a:xfrm>
              <a:off x="533400" y="54673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2732" y="56311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定稿之后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19706" y="56635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内容负责人维护实际使用的版本和位置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780" y="60388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原有审核的基础：人工阅读、资料对照、责任人确认。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34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5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7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8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1 业务背景</a:t>
                </a:r>
              </a:p>
            </p:txBody>
          </p:sp>
          <p:sp>
            <p:nvSpPr>
              <p:cNvPr id="39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0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1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2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3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4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7790688" cy="1357884"/>
            <a:chOff x="515112" y="457200"/>
            <a:chExt cx="7790688" cy="1357884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1.2 现有审核流程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一篇文案，怎样走完现有审核流程？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63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以下展示需要修改的一轮：从作者提交，到审核复核，再到定稿使用。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2171700"/>
            <a:ext cx="11201400" cy="1703070"/>
            <a:chOff x="533400" y="2171700"/>
            <a:chExt cx="11201400" cy="1703070"/>
          </a:xfrm>
        </p:grpSpPr>
        <p:sp>
          <p:nvSpPr>
            <p:cNvPr id="6" name="Line 6"/>
            <p:cNvSpPr/>
            <p:nvPr/>
          </p:nvSpPr>
          <p:spPr>
            <a:xfrm>
              <a:off x="1257300" y="29718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33400" y="2562225"/>
              <a:ext cx="11201400" cy="819150"/>
              <a:chOff x="533400" y="2562225"/>
              <a:chExt cx="11201400" cy="8191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216217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79095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41972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04850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67727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030605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811054" y="2171700"/>
              <a:ext cx="10747057" cy="293370"/>
              <a:chOff x="811054" y="2171700"/>
              <a:chExt cx="10747057" cy="29337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11054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/ 作者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39829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/ 作者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967639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/ 审核员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96414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 / 审核员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326154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 / 作者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53964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 / 审核员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482739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07 / 责任人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71703" y="2840355"/>
              <a:ext cx="10924794" cy="410718"/>
              <a:chOff x="671703" y="2840355"/>
              <a:chExt cx="10924794" cy="41071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7170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撰写自查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30047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提交材料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92925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对照核对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55802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反馈意见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18680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修改重提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81557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逐项复核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4435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定稿使用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6295" y="3581400"/>
              <a:ext cx="10696575" cy="293370"/>
              <a:chOff x="836295" y="3581400"/>
              <a:chExt cx="10696575" cy="29337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36295" y="35814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形成初稿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36410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正文与资料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9288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原句与依据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62165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指出怎么改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5043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提交新版本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87920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确认已解决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50798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按计划使用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3790950" y="4305300"/>
            <a:ext cx="6315075" cy="822198"/>
            <a:chOff x="3790950" y="4305300"/>
            <a:chExt cx="6315075" cy="822198"/>
          </a:xfrm>
        </p:grpSpPr>
        <p:sp>
          <p:nvSpPr>
            <p:cNvPr id="40" name="Rectangle 40"/>
            <p:cNvSpPr/>
            <p:nvPr/>
          </p:nvSpPr>
          <p:spPr>
            <a:xfrm>
              <a:off x="3790950" y="4305300"/>
              <a:ext cx="6315075" cy="781050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69080" y="4448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修改与复核回路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66032" y="471678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问题未解决，继续反馈、修改与复核。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4256" y="5391150"/>
            <a:ext cx="11210544" cy="919734"/>
            <a:chOff x="524256" y="5391150"/>
            <a:chExt cx="11210544" cy="919734"/>
          </a:xfrm>
        </p:grpSpPr>
        <p:sp>
          <p:nvSpPr>
            <p:cNvPr id="44" name="Line 44"/>
            <p:cNvSpPr/>
            <p:nvPr/>
          </p:nvSpPr>
          <p:spPr>
            <a:xfrm>
              <a:off x="533400" y="53911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4256" y="555879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没有待处理事项时，可按既定权限定稿；通过结论必须对应明确版本。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4256" y="59588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内容负责人继续维护：哪个版本，正在什么位置使用。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5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52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54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55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1 业务背景</a:t>
                </a:r>
              </a:p>
            </p:txBody>
          </p:sp>
          <p:sp>
            <p:nvSpPr>
              <p:cNvPr id="56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57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58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59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60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61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62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5852160" cy="1058418"/>
            <a:chOff x="515112" y="457200"/>
            <a:chExt cx="5852160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1.3 人工核对动作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跟着小林，走一次人工核对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1208" y="1752600"/>
            <a:ext cx="3574542" cy="1941195"/>
            <a:chOff x="521208" y="1752600"/>
            <a:chExt cx="3574542" cy="1941195"/>
          </a:xfrm>
        </p:grpSpPr>
        <p:sp>
          <p:nvSpPr>
            <p:cNvPr id="5" name="TextBox 5"/>
            <p:cNvSpPr txBox="1"/>
            <p:nvPr/>
          </p:nvSpPr>
          <p:spPr>
            <a:xfrm>
              <a:off x="525780" y="17526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待审原句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208" y="2188845"/>
              <a:ext cx="334289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“到手1799元，</a:t>
              </a:r>
              <a:br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人人同价！”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318135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5780" y="34004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要核实：什么人、满足什么条件？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0" y="1666875"/>
            <a:ext cx="6972300" cy="2133600"/>
            <a:chOff x="4762500" y="1666875"/>
            <a:chExt cx="6972300" cy="2133600"/>
          </a:xfrm>
        </p:grpSpPr>
        <p:sp>
          <p:nvSpPr>
            <p:cNvPr id="10" name="Rectangle 10"/>
            <p:cNvSpPr/>
            <p:nvPr/>
          </p:nvSpPr>
          <p:spPr>
            <a:xfrm>
              <a:off x="4762500" y="1666875"/>
              <a:ext cx="6972300" cy="21336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983480" y="1809750"/>
              <a:ext cx="42074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当前活动资料 / F-PROMO-01 v1 · 教学给定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80432" y="2192655"/>
              <a:ext cx="35112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2399 → 1999 → 1799元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81956" y="2634615"/>
              <a:ext cx="478459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先领取并使用400元活动券，享1999元；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新会员再领取并使用200元专享券，享1799元。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83480" y="34480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仅本次活动适用期内有效。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2732" y="4229100"/>
            <a:ext cx="11212068" cy="881634"/>
            <a:chOff x="522732" y="4229100"/>
            <a:chExt cx="11212068" cy="881634"/>
          </a:xfrm>
        </p:grpSpPr>
        <p:sp>
          <p:nvSpPr>
            <p:cNvPr id="16" name="Line 16"/>
            <p:cNvSpPr/>
            <p:nvPr/>
          </p:nvSpPr>
          <p:spPr>
            <a:xfrm>
              <a:off x="1733550" y="4429125"/>
              <a:ext cx="8505825" cy="9525"/>
            </a:xfrm>
            <a:custGeom>
              <a:avLst/>
              <a:gdLst/>
              <a:ahLst/>
              <a:cxnLst/>
              <a:rect l="l" t="t" r="r" b="b"/>
              <a:pathLst>
                <a:path w="8505825" h="9525">
                  <a:moveTo>
                    <a:pt x="0" y="0"/>
                  </a:moveTo>
                  <a:lnTo>
                    <a:pt x="8505825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33400" y="4229100"/>
              <a:ext cx="11201400" cy="400050"/>
              <a:chOff x="533400" y="4229100"/>
              <a:chExt cx="11201400" cy="4000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" y="4229100"/>
                <a:ext cx="20574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333750" y="4229100"/>
                <a:ext cx="24003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419850" y="4229100"/>
                <a:ext cx="24003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9639300" y="4229100"/>
                <a:ext cx="20955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522732" y="4297680"/>
              <a:ext cx="10390914" cy="410718"/>
              <a:chOff x="522732" y="4297680"/>
              <a:chExt cx="10390914" cy="410718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22732" y="4297680"/>
                <a:ext cx="12850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读原句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323082" y="4297680"/>
                <a:ext cx="185041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找当前资料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09182" y="4297680"/>
                <a:ext cx="15677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核对条件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628632" y="4297680"/>
                <a:ext cx="12850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 写反馈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24256" y="47586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读完一句话，还要完成资料定位、条件比对与修改说明。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5295900"/>
            <a:ext cx="8198743" cy="1074420"/>
            <a:chOff x="533400" y="5295900"/>
            <a:chExt cx="8198743" cy="1074420"/>
          </a:xfrm>
        </p:grpSpPr>
        <p:sp>
          <p:nvSpPr>
            <p:cNvPr id="29" name="Rectangle 29"/>
            <p:cNvSpPr/>
            <p:nvPr/>
          </p:nvSpPr>
          <p:spPr>
            <a:xfrm>
              <a:off x="533400" y="5295900"/>
              <a:ext cx="57150" cy="971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4380" y="54102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可执行的审核意见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726430"/>
              <a:ext cx="79808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补齐新会员资格、两类券的领取与使用条件，删除“人人同价”。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4380" y="60293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这里只演示价格核对，不代表其余审核项或整篇已完成。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37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8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41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1 业务背景</a:t>
                </a:r>
              </a:p>
            </p:txBody>
          </p:sp>
          <p:sp>
            <p:nvSpPr>
              <p:cNvPr id="42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3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4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5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6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8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7790688" cy="1058418"/>
            <a:chOff x="515112" y="457200"/>
            <a:chExt cx="7790688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1.4 痛点归纳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审核提效需求，来自哪些具体痛点？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256" y="1783080"/>
            <a:ext cx="11210544" cy="755904"/>
            <a:chOff x="524256" y="1783080"/>
            <a:chExt cx="11210544" cy="755904"/>
          </a:xfrm>
        </p:grpSpPr>
        <p:sp>
          <p:nvSpPr>
            <p:cNvPr id="5" name="TextBox 5"/>
            <p:cNvSpPr txBox="1"/>
            <p:nvPr/>
          </p:nvSpPr>
          <p:spPr>
            <a:xfrm>
              <a:off x="524256" y="18059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6132" y="17830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查找资料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24606" y="18154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一会儿看正文，一会儿翻商品、活动和配送资料。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24606" y="21869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没有明显错误的句子，也需要找到依据后才能确认。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2514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24256" y="2792730"/>
            <a:ext cx="11210544" cy="755904"/>
            <a:chOff x="524256" y="2792730"/>
            <a:chExt cx="11210544" cy="755904"/>
          </a:xfrm>
        </p:grpSpPr>
        <p:sp>
          <p:nvSpPr>
            <p:cNvPr id="11" name="TextBox 11"/>
            <p:cNvSpPr txBox="1"/>
            <p:nvPr/>
          </p:nvSpPr>
          <p:spPr>
            <a:xfrm>
              <a:off x="524256" y="28155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6132" y="27927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解释往返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4606" y="2825115"/>
              <a:ext cx="5518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“价格补条件” → 作者改成“领券1799” → 还要再改。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24606" y="31965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作者没收到完整条件，仍漏了新会员资格与两类券。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3524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24256" y="3802380"/>
            <a:ext cx="11210544" cy="755904"/>
            <a:chOff x="524256" y="3802380"/>
            <a:chExt cx="11210544" cy="755904"/>
          </a:xfrm>
        </p:grpSpPr>
        <p:sp>
          <p:nvSpPr>
            <p:cNvPr id="17" name="TextBox 17"/>
            <p:cNvSpPr txBox="1"/>
            <p:nvPr/>
          </p:nvSpPr>
          <p:spPr>
            <a:xfrm>
              <a:off x="524256" y="38252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6132" y="38023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版本复核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24606" y="3834765"/>
              <a:ext cx="634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作者说“已修改”，小林还要重新找旧意见、新原句和依据。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24606" y="42062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确认原问题已解决，还要核对这一版的其他改动。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33400" y="45339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24256" y="4812030"/>
            <a:ext cx="11210544" cy="755904"/>
            <a:chOff x="524256" y="4812030"/>
            <a:chExt cx="11210544" cy="755904"/>
          </a:xfrm>
        </p:grpSpPr>
        <p:sp>
          <p:nvSpPr>
            <p:cNvPr id="23" name="TextBox 23"/>
            <p:cNvSpPr txBox="1"/>
            <p:nvPr/>
          </p:nvSpPr>
          <p:spPr>
            <a:xfrm>
              <a:off x="524256" y="4834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6132" y="48120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后续维护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24606" y="484441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活动负责人确认赠品名额用完，还得找到相关在用内容和维护人。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4606" y="52158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停用内容、其他活动、只讲功能的内容，不能一律修改。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55435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22732" y="5840730"/>
            <a:ext cx="7088886" cy="605790"/>
            <a:chOff x="522732" y="5840730"/>
            <a:chExt cx="7088886" cy="605790"/>
          </a:xfrm>
        </p:grpSpPr>
        <p:sp>
          <p:nvSpPr>
            <p:cNvPr id="29" name="TextBox 29"/>
            <p:cNvSpPr txBox="1"/>
            <p:nvPr/>
          </p:nvSpPr>
          <p:spPr>
            <a:xfrm>
              <a:off x="522732" y="5840730"/>
              <a:ext cx="70888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下一节：明确希望减少哪些劳动，以及第一版做到哪里。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5780" y="60483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记录作者与审核员双方的总投入，再判断是否提效。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grpSp>
        <p:nvGrpSpPr>
          <p:cNvPr id="35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6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8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39" name="TextBox 22"/>
              <p:cNvSpPr txBox="1"/>
              <p:nvPr/>
            </p:nvSpPr>
            <p:spPr>
              <a:xfrm>
                <a:off x="4518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1">
                    <a:latin typeface="+mn-lt"/>
                    <a:ea typeface="+mn-ea"/>
                    <a:cs typeface="+mn-cs"/>
                    <a:solidFill>
                      <a:srgbClr val="126B63"/>
                    </a:solidFill>
                  </a:rPr>
                  <a:t>1 业务背景</a:t>
                </a:r>
              </a:p>
            </p:txBody>
          </p:sp>
          <p:sp>
            <p:nvSpPr>
              <p:cNvPr id="40" name="TextBox 23"/>
              <p:cNvSpPr txBox="1"/>
              <p:nvPr/>
            </p:nvSpPr>
            <p:spPr>
              <a:xfrm>
                <a:off x="19663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2 项目目标</a:t>
                </a:r>
              </a:p>
            </p:txBody>
          </p:sp>
          <p:sp>
            <p:nvSpPr>
              <p:cNvPr id="41" name="TextBox 24"/>
              <p:cNvSpPr txBox="1"/>
              <p:nvPr/>
            </p:nvSpPr>
            <p:spPr>
              <a:xfrm>
                <a:off x="34808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3 业务方案</a:t>
                </a:r>
              </a:p>
            </p:txBody>
          </p:sp>
          <p:sp>
            <p:nvSpPr>
              <p:cNvPr id="42" name="TextBox 25"/>
              <p:cNvSpPr txBox="1"/>
              <p:nvPr/>
            </p:nvSpPr>
            <p:spPr>
              <a:xfrm>
                <a:off x="499529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0" dirty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4 审核体系</a:t>
                </a:r>
              </a:p>
            </p:txBody>
          </p:sp>
          <p:sp>
            <p:nvSpPr>
              <p:cNvPr id="43" name="TextBox 26"/>
              <p:cNvSpPr txBox="1"/>
              <p:nvPr/>
            </p:nvSpPr>
            <p:spPr>
              <a:xfrm>
                <a:off x="650976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5 方案选择</a:t>
                </a:r>
              </a:p>
            </p:txBody>
          </p:sp>
          <p:sp>
            <p:nvSpPr>
              <p:cNvPr id="44" name="TextBox 27"/>
              <p:cNvSpPr txBox="1"/>
              <p:nvPr/>
            </p:nvSpPr>
            <p:spPr>
              <a:xfrm>
                <a:off x="8024241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6 产品方案</a:t>
                </a:r>
              </a:p>
            </p:txBody>
          </p:sp>
          <p:sp>
            <p:nvSpPr>
              <p:cNvPr id="45" name="TextBox 28"/>
              <p:cNvSpPr txBox="1"/>
              <p:nvPr/>
            </p:nvSpPr>
            <p:spPr>
              <a:xfrm>
                <a:off x="9538716" y="6468428"/>
                <a:ext cx="10477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latin typeface="+mn-lt"/>
                    <a:ea typeface="+mn-ea"/>
                    <a:cs typeface="+mn-cs"/>
                    <a:solidFill>
                      <a:srgbClr val="617673"/>
                    </a:solidFill>
                  </a:rPr>
                  <a:t>7 落地验证</a:t>
                </a:r>
              </a:p>
            </p:txBody>
          </p:sp>
        </p:grpSp>
        <p:sp>
          <p:nvSpPr>
            <p:cNvPr id="46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d1_theme1.xml><?xml version="1.0" encoding="utf-8"?>
<a:theme xmlns:a="http://schemas.openxmlformats.org/drawingml/2006/main" name="lesson1_section2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section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section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1_theme2.xml><?xml version="1.0" encoding="utf-8"?>
<a:theme xmlns:a="http://schemas.openxmlformats.org/drawingml/2006/main" name="lesson1_section2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section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section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2_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2_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3_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3_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4_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4_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5_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5_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6_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d6_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lesson1_rebuild_sample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rebuild_sampl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rebuild_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rebuild_sample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rebuild_sampl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rebuild_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2026-10-18T09:58:35Z</dcterms:created>
  <dcterms:modified xsi:type="dcterms:W3CDTF">2026-10-18T09:58:35Z</dcterms:modified>
  <cp:category/>
  <cp:contentStatus/>
</cp:coreProperties>
</file>