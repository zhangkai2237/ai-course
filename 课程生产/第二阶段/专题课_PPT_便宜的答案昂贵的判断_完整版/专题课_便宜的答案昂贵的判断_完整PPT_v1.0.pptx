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开场不要先给模板。先抛出核心问题：当 AI 可以快速生成漂亮的作品集时，专业性还体现在哪里？</a:t>
            </a:r>
          </a:p>
          <a:p/>
          <a:p>
            <a:r>
              <a:rPr lang="zh-CN"/>
              <a:t>讲义来源：/Users/keivn/Project/AI-Course/课程生产/第二阶段/07_专题课_便宜的答案昂贵的判断_前五节老师讲义_v1.0.md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只展示版本 A，不提前讲评价标准。让学员说出第一印象。重点观察大家会不会被工具名称和功能数量影响。</a:t>
            </a:r>
          </a:p>
          <a:p/>
          <a:p>
            <a:r>
              <a:rPr lang="zh-CN"/>
              <a:t>讲义来源：/Users/keivn/Project/AI-Course/课程生产/第二阶段/07_专题课_便宜的答案昂贵的判断_前五节老师讲义_v1.0.md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让学员投票。多数人会选择 B，因为场景、问题和分工更完整。此时先肯定观察，不急着否定 B。</a:t>
            </a:r>
          </a:p>
          <a:p/>
          <a:p>
            <a:r>
              <a:rPr lang="zh-CN"/>
              <a:t>讲义来源：/Users/keivn/Project/AI-Course/课程生产/第二阶段/07_专题课_便宜的答案昂贵的判断_前五节老师讲义_v1.0.md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揭示版本 B 来自 AI 优化。不要说 B 是错的，而是带学员逐句判断：属于项目事实、产品判断，还是暂未确认。</a:t>
            </a:r>
          </a:p>
          <a:p/>
          <a:p>
            <a:r>
              <a:rPr lang="zh-CN"/>
              <a:t>讲义来源：/Users/keivn/Project/AI-Course/课程生产/第二阶段/07_专题课_便宜的答案昂贵的判断_前五节老师讲义_v1.0.md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四个支点是整堂课的主框架。看得准对应问题理解，选得明对应关键判断，验得过对应验证过程，说得清对应边界意识。</a:t>
            </a:r>
          </a:p>
          <a:p/>
          <a:p>
            <a:r>
              <a:rPr lang="zh-CN"/>
              <a:t>讲义来源：/Users/keivn/Project/AI-Course/课程生产/第二阶段/07_专题课_便宜的答案昂贵的判断_前五节老师讲义_v1.0.md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先让学员回答，再公布参考。最后让每个人判断自己的项目目前最弱的是哪一项。</a:t>
            </a:r>
          </a:p>
          <a:p/>
          <a:p>
            <a:r>
              <a:rPr lang="zh-CN"/>
              <a:t>讲义来源：/Users/keivn/Project/AI-Course/课程生产/第二阶段/07_专题课_便宜的答案昂贵的判断_前五节老师讲义_v1.0.md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轻量对比即可。强调 AI 产品作品集没有推翻传统结构，产品形态、流程和页面仍然是主体。</a:t>
            </a:r>
          </a:p>
          <a:p/>
          <a:p>
            <a:r>
              <a:rPr lang="zh-CN"/>
              <a:t>讲义来源：/Users/keivn/Project/AI-Course/课程生产/第二阶段/07_专题课_便宜的答案昂贵的判断_前五节老师讲义_v1.0.md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不要先让学员背八部分。先让他们理解，作品集必须回答产品、使用、设计原因和实际运行四个问题。</a:t>
            </a:r>
          </a:p>
          <a:p/>
          <a:p>
            <a:r>
              <a:rPr lang="zh-CN"/>
              <a:t>讲义来源：/Users/keivn/Project/AI-Course/课程生产/第二阶段/07_专题课_便宜的答案昂贵的判断_前五节老师讲义_v1.0.md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用一页建立八部分全貌。第一部分快速了解项目，第二三部分解释为什么做，第四五部分展示产品，第六七部分展开方案和迭代，第八部分说明结果与贡献。</a:t>
            </a:r>
          </a:p>
          <a:p/>
          <a:p>
            <a:r>
              <a:rPr lang="zh-CN"/>
              <a:t>讲义来源：/Users/keivn/Project/AI-Course/课程生产/第二阶段/07_专题课_便宜的答案昂贵的判断_前五节老师讲义_v1.0.md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项目概览只放最重要的信息。后续页面再展开业务问题、产品设计、能力分工和上线结果。</a:t>
            </a:r>
          </a:p>
          <a:p/>
          <a:p>
            <a:r>
              <a:rPr lang="zh-CN"/>
              <a:t>讲义来源：/Users/keivn/Project/AI-Course/课程生产/第二阶段/07_专题课_便宜的答案昂贵的判断_前五节老师讲义_v1.0.md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不要写行业发展史。用具体用户任务和原流程卡点说明问题，同时明确第一版不处理什么。</a:t>
            </a:r>
          </a:p>
          <a:p/>
          <a:p>
            <a:r>
              <a:rPr lang="zh-CN"/>
              <a:t>讲义来源：/Users/keivn/Project/AI-Course/课程生产/第二阶段/07_专题课_便宜的答案昂贵的判断_前五节老师讲义_v1.0.md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先明确产品形态，再展示一条核心流程。不要只写智能客服系统，也不要在概览页塞入全部异常分支。</a:t>
            </a:r>
          </a:p>
          <a:p/>
          <a:p>
            <a:r>
              <a:rPr lang="zh-CN"/>
              <a:t>讲义来源：/Users/keivn/Project/AI-Course/课程生产/第二阶段/07_专题课_便宜的答案昂贵的判断_前五节老师讲义_v1.0.md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推荐展示 2—3 张核心页面。页面旁边标注设计重点，并补充正常流程以外的关键状态。</a:t>
            </a:r>
          </a:p>
          <a:p/>
          <a:p>
            <a:r>
              <a:rPr lang="zh-CN"/>
              <a:t>讲义来源：/Users/keivn/Project/AI-Course/课程生产/第二阶段/07_专题课_便宜的答案昂贵的判断_前五节老师讲义_v1.0.md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能力分工不是术语清单。每一项都要说明负责什么和不负责什么，并能解释为什么这样划分。</a:t>
            </a:r>
          </a:p>
          <a:p/>
          <a:p>
            <a:r>
              <a:rPr lang="zh-CN"/>
              <a:t>讲义来源：/Users/keivn/Project/AI-Course/课程生产/第二阶段/07_专题课_便宜的答案昂贵的判断_前五节老师讲义_v1.0.md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所有数字使用实际统计。没有统计过就不临时估算。上线结果回答做到了什么，限制说明还有什么没有完成，贡献说明本人承担了什么。</a:t>
            </a:r>
          </a:p>
          <a:p/>
          <a:p>
            <a:r>
              <a:rPr lang="zh-CN"/>
              <a:t>讲义来源：/Users/keivn/Project/AI-Course/课程生产/第二阶段/07_专题课_便宜的答案昂贵的判断_前五节老师讲义_v1.0.md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这里不再讲为什么需要 90 秒介绍，直接从常见问题切入。</a:t>
            </a:r>
          </a:p>
          <a:p/>
          <a:p>
            <a:r>
              <a:rPr lang="zh-CN"/>
              <a:t>讲义来源：/Users/keivn/Project/AI-Course/课程生产/第二阶段/07_专题课_便宜的答案昂贵的判断_前五节老师讲义_v1.0.md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依次讲项目与问题、产品形态、关键判断、典型问题和上线范围。完整表达控制在 250—320 字。</a:t>
            </a:r>
          </a:p>
          <a:p/>
          <a:p>
            <a:r>
              <a:rPr lang="zh-CN"/>
              <a:t>讲义来源：/Users/keivn/Project/AI-Course/课程生产/第二阶段/07_专题课_便宜的答案昂贵的判断_前五节老师讲义_v1.0.md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老师完整讲一遍 90 秒示范，再让学员找出产品形态、关键判断和追问入口。逐字稿在老师讲义中。</a:t>
            </a:r>
          </a:p>
          <a:p/>
          <a:p>
            <a:r>
              <a:rPr lang="zh-CN"/>
              <a:t>讲义来源：/Users/keivn/Project/AI-Course/课程生产/第二阶段/07_专题课_便宜的答案昂贵的判断_前五节老师讲义_v1.0.md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90 秒介绍的任务不是把项目讲完。超时后优先删除背景、工具名称和并列功能，不删除关键判断和上线范围。</a:t>
            </a:r>
          </a:p>
          <a:p/>
          <a:p>
            <a:r>
              <a:rPr lang="zh-CN"/>
              <a:t>讲义来源：/Users/keivn/Project/AI-Course/课程生产/第二阶段/07_专题课_便宜的答案昂贵的判断_前五节老师讲义_v1.0.md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让学员先写五行再计时讲述。点评不要逐句改语言，只看问题、产品、取舍、迭代和范围。</a:t>
            </a:r>
          </a:p>
          <a:p/>
          <a:p>
            <a:r>
              <a:rPr lang="zh-CN"/>
              <a:t>讲义来源：/Users/keivn/Project/AI-Course/课程生产/第二阶段/07_专题课_便宜的答案昂贵的判断_前五节老师讲义_v1.0.md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90 秒介绍中的每个重点都可能成为下一轮追问入口。面试官不会因为一句话专业就直接下结论。</a:t>
            </a:r>
          </a:p>
          <a:p/>
          <a:p>
            <a:r>
              <a:rPr lang="zh-CN"/>
              <a:t>讲义来源：/Users/keivn/Project/AI-Course/课程生产/第二阶段/07_专题课_便宜的答案昂贵的判断_前五节老师讲义_v1.0.md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五层分别是事实、选择、替代、验证和边界。后一层不能推翻前一层的项目范围。</a:t>
            </a:r>
          </a:p>
          <a:p/>
          <a:p>
            <a:r>
              <a:rPr lang="zh-CN"/>
              <a:t>讲义来源：/Users/keivn/Project/AI-Course/课程生产/第二阶段/07_专题课_便宜的答案昂贵的判断_前五节老师讲义_v1.0.md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逐问展开参考回答。重点不是背答案，而是看同一套设计能否从原因讲到实现、测试、运行和限制。</a:t>
            </a:r>
          </a:p>
          <a:p/>
          <a:p>
            <a:r>
              <a:rPr lang="zh-CN"/>
              <a:t>讲义来源：/Users/keivn/Project/AI-Course/课程生产/第二阶段/07_专题课_便宜的答案昂贵的判断_前五节老师讲义_v1.0.md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回答必须回到具体产品流程。不要讲两分钟背景让面试官猜结论，也不要只有设计没有范围。</a:t>
            </a:r>
          </a:p>
          <a:p/>
          <a:p>
            <a:r>
              <a:rPr lang="zh-CN"/>
              <a:t>讲义来源：/Users/keivn/Project/AI-Course/课程生产/第二阶段/07_专题课_便宜的答案昂贵的判断_前五节老师讲义_v1.0.md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通过对比说明：成熟回答不仅观点正确，还能还原当时的选择空间和方案边界。</a:t>
            </a:r>
          </a:p>
          <a:p/>
          <a:p>
            <a:r>
              <a:rPr lang="zh-CN"/>
              <a:t>讲义来源：/Users/keivn/Project/AI-Course/课程生产/第二阶段/07_专题课_便宜的答案昂贵的判断_前五节老师讲义_v1.0.md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zh-CN"/>
              <a:t>全课回扣标题。AI 可以帮助整理结构和语言，但每一个关键判断都要能够从具体问题讲到产品选择、测试修改和结果范围。</a:t>
            </a:r>
          </a:p>
          <a:p/>
          <a:p>
            <a:r>
              <a:rPr lang="zh-CN"/>
              <a:t>讲义来源：/Users/keivn/Project/AI-Course/课程生产/第二阶段/07_专题课_便宜的答案昂贵的判断_前五节老师讲义_v1.0.md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256032" y="0"/>
            <a:ext cx="146304" cy="6858000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859536" y="603504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>
                <a:solidFill>
                  <a:srgbClr val="36D6C2"/>
                </a:solidFill>
                <a:latin typeface="Hiragino Sans GB"/>
                <a:ea typeface="Hiragino Sans GB"/>
              </a:rPr>
              <a:t>AI PRODUCT MANAGER · PORTFOLIO &amp; INTERVIEW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9536" y="1353312"/>
            <a:ext cx="9646920" cy="124358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4200" b="1">
                <a:solidFill>
                  <a:srgbClr val="F5F2E9"/>
                </a:solidFill>
                <a:latin typeface="Hiragino Sans GB"/>
                <a:ea typeface="Hiragino Sans GB"/>
              </a:rPr>
              <a:t>便宜的答案，昂贵的判断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7824" y="2743200"/>
            <a:ext cx="841248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>
                <a:solidFill>
                  <a:srgbClr val="F5F2E9"/>
                </a:solidFill>
                <a:latin typeface="Hiragino Sans GB"/>
                <a:ea typeface="Hiragino Sans GB"/>
              </a:rPr>
              <a:t>AI 产品经理如何证明自己的专业性</a:t>
            </a:r>
          </a:p>
        </p:txBody>
      </p:sp>
      <p:sp>
        <p:nvSpPr>
          <p:cNvPr id="6" name="Shape 6"/>
          <p:cNvSpPr/>
          <p:nvPr/>
        </p:nvSpPr>
        <p:spPr>
          <a:xfrm>
            <a:off x="877824" y="3401568"/>
            <a:ext cx="1938528" cy="45720"/>
          </a:xfrm>
          <a:prstGeom prst="rect">
            <a:avLst/>
          </a:prstGeom>
          <a:solidFill>
            <a:srgbClr val="FF7657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877824" y="3685032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A7B5BC"/>
                </a:solidFill>
                <a:latin typeface="Hiragino Sans GB"/>
                <a:ea typeface="Hiragino Sans GB"/>
              </a:rPr>
              <a:t>从智能客服项目复盘，到作品集打造与面试答辩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72600" y="4206240"/>
            <a:ext cx="1737360" cy="105156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c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6800" b="1">
                <a:solidFill>
                  <a:srgbClr val="36D6C2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7824" y="6126480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A7B5BC"/>
                </a:solidFill>
                <a:latin typeface="Hiragino Sans GB"/>
                <a:ea typeface="Hiragino Sans GB"/>
              </a:rPr>
              <a:t>第二阶段 · 专题课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Box 10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第一节｜AI 生成的作品集能说明什么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2" name="Shape 12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694944" y="6501384"/>
            <a:ext cx="831401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项目介绍 A</a:t>
            </a:r>
          </a:p>
        </p:txBody>
      </p:sp>
      <p:sp>
        <p:nvSpPr>
          <p:cNvPr id="15" name="Shape 15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请先判断：它专业吗？</a:t>
            </a:r>
          </a:p>
        </p:txBody>
      </p:sp>
      <p:sp>
        <p:nvSpPr>
          <p:cNvPr id="17" name="Shape 17"/>
          <p:cNvSpPr/>
          <p:nvPr/>
        </p:nvSpPr>
        <p:spPr>
          <a:xfrm>
            <a:off x="1042416" y="2103120"/>
            <a:ext cx="10104120" cy="2651760"/>
          </a:xfrm>
          <a:prstGeom prst="roundRect">
            <a:avLst/>
          </a:prstGeom>
          <a:solidFill>
            <a:srgbClr val="102B37"/>
          </a:solidFill>
          <a:ln w="1016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1271016" y="2286000"/>
            <a:ext cx="9646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36D6C2"/>
                </a:solidFill>
                <a:latin typeface="Hiragino Sans GB"/>
                <a:ea typeface="Hiragino Sans GB"/>
              </a:rPr>
              <a:t>版本 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71016" y="2688336"/>
            <a:ext cx="9646920" cy="186537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F5F2E9"/>
                </a:solidFill>
                <a:latin typeface="Hiragino Sans GB"/>
                <a:ea typeface="Hiragino Sans GB"/>
              </a:rPr>
              <a:t>我使用 Coze 搭建了一个电商智能客服，项目使用了大模型、知识库、Workflow 和 Agent，可以回答用户问题、查询订单、处理售后和推荐商品，提高客服效率和用户体验。</a:t>
            </a:r>
          </a:p>
        </p:txBody>
      </p:sp>
      <p:sp>
        <p:nvSpPr>
          <p:cNvPr id="20" name="Shape 20"/>
          <p:cNvSpPr/>
          <p:nvPr/>
        </p:nvSpPr>
        <p:spPr>
          <a:xfrm>
            <a:off x="749808" y="5074920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932688" y="519379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先不解释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03120" y="5166360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请学员只判断：这段介绍说明了什么？还缺少什么？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TextBox 23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第一节｜AI 生成的作品集能说明什么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5" name="Shape 25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6" name="Shape 26"/>
          <p:cNvSpPr/>
          <p:nvPr/>
        </p:nvSpPr>
        <p:spPr>
          <a:xfrm>
            <a:off x="694944" y="6501384"/>
            <a:ext cx="1247101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7" name="TextBox 27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项目介绍 B</a:t>
            </a:r>
          </a:p>
        </p:txBody>
      </p:sp>
      <p:sp>
        <p:nvSpPr>
          <p:cNvPr id="28" name="Shape 28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9" name="TextBox 29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哪一段更像成熟的 AI 产品经理表达？</a:t>
            </a:r>
          </a:p>
        </p:txBody>
      </p:sp>
      <p:sp>
        <p:nvSpPr>
          <p:cNvPr id="30" name="Shape 30"/>
          <p:cNvSpPr/>
          <p:nvPr/>
        </p:nvSpPr>
        <p:spPr>
          <a:xfrm>
            <a:off x="960120" y="1975104"/>
            <a:ext cx="10241280" cy="3054096"/>
          </a:xfrm>
          <a:prstGeom prst="roundRect">
            <a:avLst/>
          </a:prstGeom>
          <a:solidFill>
            <a:srgbClr val="102B37"/>
          </a:solidFill>
          <a:ln w="1016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1" name="TextBox 31"/>
          <p:cNvSpPr txBox="1"/>
          <p:nvPr/>
        </p:nvSpPr>
        <p:spPr>
          <a:xfrm>
            <a:off x="1188720" y="2157984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版本 B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88720" y="2560320"/>
            <a:ext cx="9784080" cy="226771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5F2E9"/>
                </a:solidFill>
                <a:latin typeface="Hiragino Sans GB"/>
                <a:ea typeface="Hiragino Sans GB"/>
              </a:rPr>
              <a:t>我设计了一款面向电商售后场景的智能客服，主要解决退款政策查询、订单确认和售后申请过程中信息分散、重复沟通的问题。</a:t>
            </a:r>
          </a:p>
          <a:p>
            <a:pPr algn="l"/>
            <a:endParaRPr lang="zh-CN" sz="200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5F2E9"/>
                </a:solidFill>
                <a:latin typeface="Hiragino Sans GB"/>
                <a:ea typeface="Hiragino Sans GB"/>
              </a:rPr>
              <a:t>产品将大模型、知识库、业务流程和人工客服进行分工，帮助用户完成从问题咨询到售后申请预受理的完整流程。</a:t>
            </a:r>
          </a:p>
        </p:txBody>
      </p:sp>
      <p:sp>
        <p:nvSpPr>
          <p:cNvPr id="33" name="Shape 33"/>
          <p:cNvSpPr/>
          <p:nvPr/>
        </p:nvSpPr>
        <p:spPr>
          <a:xfrm>
            <a:off x="749808" y="5257800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4" name="TextBox 34"/>
          <p:cNvSpPr txBox="1"/>
          <p:nvPr/>
        </p:nvSpPr>
        <p:spPr>
          <a:xfrm>
            <a:off x="932688" y="537667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课堂投票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103120" y="5349240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认为 A 更专业的发 A，认为 B 更专业的发 B。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TextBox 36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第一节｜AI 生成的作品集能说明什么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38" name="Shape 38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9" name="Shape 39"/>
          <p:cNvSpPr/>
          <p:nvPr/>
        </p:nvSpPr>
        <p:spPr>
          <a:xfrm>
            <a:off x="694944" y="6501384"/>
            <a:ext cx="1662801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0" name="TextBox 40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B 只是几秒钟生成的</a:t>
            </a:r>
          </a:p>
        </p:txBody>
      </p:sp>
      <p:sp>
        <p:nvSpPr>
          <p:cNvPr id="41" name="Shape 41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FF7657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2" name="TextBox 42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真正的问题：哪些来自真实项目，哪些只是合理补全？</a:t>
            </a:r>
          </a:p>
        </p:txBody>
      </p:sp>
      <p:sp>
        <p:nvSpPr>
          <p:cNvPr id="43" name="Shape 43"/>
          <p:cNvSpPr/>
          <p:nvPr/>
        </p:nvSpPr>
        <p:spPr>
          <a:xfrm>
            <a:off x="749808" y="2011680"/>
            <a:ext cx="3358896" cy="320040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44" name="TextBox 44"/>
          <p:cNvSpPr txBox="1"/>
          <p:nvPr/>
        </p:nvSpPr>
        <p:spPr>
          <a:xfrm>
            <a:off x="932688" y="2194560"/>
            <a:ext cx="299313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32688" y="2505456"/>
            <a:ext cx="299313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项目事实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32688" y="2962656"/>
            <a:ext cx="2993136" cy="21031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实际做过，可以查到</a:t>
            </a:r>
          </a:p>
          <a:p>
            <a:pPr algn="l"/>
            <a:endParaRPr lang="zh-CN" sz="150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例：已经接入订单系统</a:t>
            </a:r>
          </a:p>
        </p:txBody>
      </p:sp>
      <p:sp>
        <p:nvSpPr>
          <p:cNvPr id="47" name="Shape 47"/>
          <p:cNvSpPr/>
          <p:nvPr/>
        </p:nvSpPr>
        <p:spPr>
          <a:xfrm>
            <a:off x="4337304" y="2011680"/>
            <a:ext cx="3358896" cy="320040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48" name="TextBox 48"/>
          <p:cNvSpPr txBox="1"/>
          <p:nvPr/>
        </p:nvSpPr>
        <p:spPr>
          <a:xfrm>
            <a:off x="4520184" y="2194560"/>
            <a:ext cx="299313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520184" y="2505456"/>
            <a:ext cx="299313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产品判断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520184" y="2962656"/>
            <a:ext cx="2993136" cy="21031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候选人主动做出的选择</a:t>
            </a:r>
          </a:p>
          <a:p>
            <a:pPr algn="l"/>
            <a:endParaRPr lang="zh-CN" sz="150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例：模型不直接批准退款</a:t>
            </a:r>
          </a:p>
        </p:txBody>
      </p:sp>
      <p:sp>
        <p:nvSpPr>
          <p:cNvPr id="51" name="Shape 51"/>
          <p:cNvSpPr/>
          <p:nvPr/>
        </p:nvSpPr>
        <p:spPr>
          <a:xfrm>
            <a:off x="7924800" y="2011680"/>
            <a:ext cx="3358896" cy="320040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52" name="TextBox 52"/>
          <p:cNvSpPr txBox="1"/>
          <p:nvPr/>
        </p:nvSpPr>
        <p:spPr>
          <a:xfrm>
            <a:off x="8107680" y="2194560"/>
            <a:ext cx="299313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107680" y="2505456"/>
            <a:ext cx="299313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暂未确认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107680" y="2962656"/>
            <a:ext cx="2993136" cy="210312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听起来合理，但还不知道依据</a:t>
            </a:r>
          </a:p>
          <a:p>
            <a:pPr algn="l"/>
            <a:endParaRPr lang="zh-CN" sz="150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例：显著提升用户满意度</a:t>
            </a:r>
          </a:p>
        </p:txBody>
      </p:sp>
      <p:sp>
        <p:nvSpPr>
          <p:cNvPr id="55" name="Shape 55"/>
          <p:cNvSpPr/>
          <p:nvPr/>
        </p:nvSpPr>
        <p:spPr>
          <a:xfrm>
            <a:off x="749808" y="5449824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56" name="TextBox 56"/>
          <p:cNvSpPr txBox="1"/>
          <p:nvPr/>
        </p:nvSpPr>
        <p:spPr>
          <a:xfrm>
            <a:off x="932688" y="556869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拆解方法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103120" y="5541264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逐句追问来源、实现范围和运行情况。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8" name="TextBox 58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第二节｜专业性的四个支点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60" name="Shape 60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61" name="Shape 61"/>
          <p:cNvSpPr/>
          <p:nvPr/>
        </p:nvSpPr>
        <p:spPr>
          <a:xfrm>
            <a:off x="694944" y="6501384"/>
            <a:ext cx="2078502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62" name="TextBox 62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专业性的四个支点</a:t>
            </a:r>
          </a:p>
        </p:txBody>
      </p:sp>
      <p:sp>
        <p:nvSpPr>
          <p:cNvPr id="63" name="Shape 63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64" name="TextBox 64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后续作品集与面试共用同一套判断框架</a:t>
            </a:r>
          </a:p>
        </p:txBody>
      </p:sp>
      <p:sp>
        <p:nvSpPr>
          <p:cNvPr id="65" name="Shape 65"/>
          <p:cNvSpPr/>
          <p:nvPr/>
        </p:nvSpPr>
        <p:spPr>
          <a:xfrm>
            <a:off x="749808" y="2103120"/>
            <a:ext cx="2462022" cy="303580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66" name="TextBox 66"/>
          <p:cNvSpPr txBox="1"/>
          <p:nvPr/>
        </p:nvSpPr>
        <p:spPr>
          <a:xfrm>
            <a:off x="932688" y="2286000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932688" y="2596896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5F2E9"/>
                </a:solidFill>
                <a:latin typeface="Hiragino Sans GB"/>
                <a:ea typeface="Hiragino Sans GB"/>
              </a:rPr>
              <a:t>看得准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932688" y="3054096"/>
            <a:ext cx="2096262" cy="193852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找到具体、真实、值得解决的任务</a:t>
            </a:r>
          </a:p>
        </p:txBody>
      </p:sp>
      <p:sp>
        <p:nvSpPr>
          <p:cNvPr id="69" name="Shape 69"/>
          <p:cNvSpPr/>
          <p:nvPr/>
        </p:nvSpPr>
        <p:spPr>
          <a:xfrm>
            <a:off x="3440430" y="2103120"/>
            <a:ext cx="2462022" cy="303580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70" name="TextBox 70"/>
          <p:cNvSpPr txBox="1"/>
          <p:nvPr/>
        </p:nvSpPr>
        <p:spPr>
          <a:xfrm>
            <a:off x="3623310" y="2286000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3623310" y="2596896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5F2E9"/>
                </a:solidFill>
                <a:latin typeface="Hiragino Sans GB"/>
                <a:ea typeface="Hiragino Sans GB"/>
              </a:rPr>
              <a:t>选得明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623310" y="3054096"/>
            <a:ext cx="2096262" cy="193852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重要设计都能说明为什么</a:t>
            </a:r>
          </a:p>
        </p:txBody>
      </p:sp>
      <p:sp>
        <p:nvSpPr>
          <p:cNvPr id="73" name="Shape 73"/>
          <p:cNvSpPr/>
          <p:nvPr/>
        </p:nvSpPr>
        <p:spPr>
          <a:xfrm>
            <a:off x="6131052" y="2103120"/>
            <a:ext cx="2462022" cy="303580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74" name="TextBox 74"/>
          <p:cNvSpPr txBox="1"/>
          <p:nvPr/>
        </p:nvSpPr>
        <p:spPr>
          <a:xfrm>
            <a:off x="6313932" y="2286000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313932" y="2596896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5F2E9"/>
                </a:solidFill>
                <a:latin typeface="Hiragino Sans GB"/>
                <a:ea typeface="Hiragino Sans GB"/>
              </a:rPr>
              <a:t>验得过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6313932" y="3054096"/>
            <a:ext cx="2096262" cy="193852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失败过、修改过，也重新检查过</a:t>
            </a:r>
          </a:p>
        </p:txBody>
      </p:sp>
      <p:sp>
        <p:nvSpPr>
          <p:cNvPr id="77" name="Shape 77"/>
          <p:cNvSpPr/>
          <p:nvPr/>
        </p:nvSpPr>
        <p:spPr>
          <a:xfrm>
            <a:off x="8821674" y="2103120"/>
            <a:ext cx="2462022" cy="303580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78" name="TextBox 78"/>
          <p:cNvSpPr txBox="1"/>
          <p:nvPr/>
        </p:nvSpPr>
        <p:spPr>
          <a:xfrm>
            <a:off x="9004554" y="2286000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9004554" y="2596896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5F2E9"/>
                </a:solidFill>
                <a:latin typeface="Hiragino Sans GB"/>
                <a:ea typeface="Hiragino Sans GB"/>
              </a:rPr>
              <a:t>说得清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9004554" y="3054096"/>
            <a:ext cx="2096262" cy="193852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准确说明已经上线到什么程度</a:t>
            </a:r>
          </a:p>
        </p:txBody>
      </p:sp>
      <p:sp>
        <p:nvSpPr>
          <p:cNvPr id="81" name="Shape 81"/>
          <p:cNvSpPr/>
          <p:nvPr/>
        </p:nvSpPr>
        <p:spPr>
          <a:xfrm>
            <a:off x="749808" y="5358384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82" name="TextBox 82"/>
          <p:cNvSpPr txBox="1"/>
          <p:nvPr/>
        </p:nvSpPr>
        <p:spPr>
          <a:xfrm>
            <a:off x="932688" y="547725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统一框架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2103120" y="5449824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表达完整不等于专业。专业来自问题、取舍、验证和边界。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4" name="TextBox 84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第二节｜专业性的四个支点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06</a:t>
            </a:r>
          </a:p>
        </p:txBody>
      </p:sp>
      <p:sp>
        <p:nvSpPr>
          <p:cNvPr id="86" name="Shape 86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87" name="Shape 87"/>
          <p:cNvSpPr/>
          <p:nvPr/>
        </p:nvSpPr>
        <p:spPr>
          <a:xfrm>
            <a:off x="694944" y="6501384"/>
            <a:ext cx="2494202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88" name="TextBox 88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四句话快速判断</a:t>
            </a:r>
          </a:p>
        </p:txBody>
      </p:sp>
      <p:sp>
        <p:nvSpPr>
          <p:cNvPr id="89" name="Shape 89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90" name="TextBox 90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每句话分别对应哪一个支点？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859536" y="1920240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36D6C2"/>
                </a:solidFill>
                <a:latin typeface="Hiragino Sans GB"/>
                <a:ea typeface="Hiragino Sans GB"/>
              </a:rPr>
              <a:t>句子 1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2907792" y="1920240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用户表面问能不能退款，实际任务是确认具体订单是否符合条件。</a:t>
            </a:r>
          </a:p>
        </p:txBody>
      </p:sp>
      <p:sp>
        <p:nvSpPr>
          <p:cNvPr id="93" name="Shape 93"/>
          <p:cNvSpPr/>
          <p:nvPr/>
        </p:nvSpPr>
        <p:spPr>
          <a:xfrm>
            <a:off x="859536" y="2478024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94" name="TextBox 94"/>
          <p:cNvSpPr txBox="1"/>
          <p:nvPr/>
        </p:nvSpPr>
        <p:spPr>
          <a:xfrm>
            <a:off x="859536" y="2670048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F7657"/>
                </a:solidFill>
                <a:latin typeface="Hiragino Sans GB"/>
                <a:ea typeface="Hiragino Sans GB"/>
              </a:rPr>
              <a:t>句子 2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2907792" y="2670048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我没有让大模型直接判断退款资格，因为错误判断会影响用户权益。</a:t>
            </a:r>
          </a:p>
        </p:txBody>
      </p:sp>
      <p:sp>
        <p:nvSpPr>
          <p:cNvPr id="96" name="Shape 96"/>
          <p:cNvSpPr/>
          <p:nvPr/>
        </p:nvSpPr>
        <p:spPr>
          <a:xfrm>
            <a:off x="859536" y="3227832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97" name="TextBox 97"/>
          <p:cNvSpPr txBox="1"/>
          <p:nvPr/>
        </p:nvSpPr>
        <p:spPr>
          <a:xfrm>
            <a:off x="859536" y="3419856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0C565"/>
                </a:solidFill>
                <a:latin typeface="Hiragino Sans GB"/>
                <a:ea typeface="Hiragino Sans GB"/>
              </a:rPr>
              <a:t>句子 3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2907792" y="3419856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用户更换订单后仍沿用旧状态，我修改后重新测试了三个相关场景。</a:t>
            </a:r>
          </a:p>
        </p:txBody>
      </p:sp>
      <p:sp>
        <p:nvSpPr>
          <p:cNvPr id="99" name="Shape 99"/>
          <p:cNvSpPr/>
          <p:nvPr/>
        </p:nvSpPr>
        <p:spPr>
          <a:xfrm>
            <a:off x="859536" y="3977640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00" name="TextBox 100"/>
          <p:cNvSpPr txBox="1"/>
          <p:nvPr/>
        </p:nvSpPr>
        <p:spPr>
          <a:xfrm>
            <a:off x="859536" y="4169664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68D391"/>
                </a:solidFill>
                <a:latin typeface="Hiragino Sans GB"/>
                <a:ea typeface="Hiragino Sans GB"/>
              </a:rPr>
              <a:t>句子 4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2907792" y="4169664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产品已经上线，但当前样本不足以判断长期成本变化。</a:t>
            </a:r>
          </a:p>
        </p:txBody>
      </p:sp>
      <p:sp>
        <p:nvSpPr>
          <p:cNvPr id="102" name="Shape 102"/>
          <p:cNvSpPr/>
          <p:nvPr/>
        </p:nvSpPr>
        <p:spPr>
          <a:xfrm>
            <a:off x="859536" y="4727448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03" name="Shape 103"/>
          <p:cNvSpPr/>
          <p:nvPr/>
        </p:nvSpPr>
        <p:spPr>
          <a:xfrm>
            <a:off x="749808" y="5175504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04" name="TextBox 104"/>
          <p:cNvSpPr txBox="1"/>
          <p:nvPr/>
        </p:nvSpPr>
        <p:spPr>
          <a:xfrm>
            <a:off x="932688" y="529437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参考答案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2103120" y="5266944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看得准 · 选得明 · 验得过 · 说得清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6" name="TextBox 106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第三节｜AI 项目作品集的结构与呈现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07</a:t>
            </a:r>
          </a:p>
        </p:txBody>
      </p:sp>
      <p:sp>
        <p:nvSpPr>
          <p:cNvPr id="108" name="Shape 108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09" name="Shape 109"/>
          <p:cNvSpPr/>
          <p:nvPr/>
        </p:nvSpPr>
        <p:spPr>
          <a:xfrm>
            <a:off x="694944" y="6501384"/>
            <a:ext cx="2909902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10" name="TextBox 110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传统产品作品集与 AI 产品作品集</a:t>
            </a:r>
          </a:p>
        </p:txBody>
      </p:sp>
      <p:sp>
        <p:nvSpPr>
          <p:cNvPr id="111" name="Shape 111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12" name="TextBox 112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AI 项目保留产品设计主线，同时补充不确定性处理</a:t>
            </a:r>
          </a:p>
        </p:txBody>
      </p:sp>
      <p:sp>
        <p:nvSpPr>
          <p:cNvPr id="113" name="Shape 113"/>
          <p:cNvSpPr/>
          <p:nvPr/>
        </p:nvSpPr>
        <p:spPr>
          <a:xfrm>
            <a:off x="749808" y="1874520"/>
            <a:ext cx="5093208" cy="3474720"/>
          </a:xfrm>
          <a:prstGeom prst="roundRect">
            <a:avLst/>
          </a:prstGeom>
          <a:solidFill>
            <a:srgbClr val="102B37"/>
          </a:solidFill>
          <a:ln w="11430">
            <a:solidFill>
              <a:srgbClr val="36D6C2"/>
            </a:solidFill>
          </a:ln>
          <a:effectLst/>
        </p:spPr>
        <p:txBody>
          <a:bodyPr/>
          <a:lstStyle/>
          <a:p/>
        </p:txBody>
      </p:sp>
      <p:sp>
        <p:nvSpPr>
          <p:cNvPr id="114" name="TextBox 114"/>
          <p:cNvSpPr txBox="1"/>
          <p:nvPr/>
        </p:nvSpPr>
        <p:spPr>
          <a:xfrm>
            <a:off x="1005840" y="2084832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36D6C2"/>
                </a:solidFill>
                <a:latin typeface="Hiragino Sans GB"/>
                <a:ea typeface="Hiragino Sans GB"/>
              </a:rPr>
              <a:t>传统产品作品集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005840" y="2706624"/>
            <a:ext cx="4517136" cy="22128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业务问题与产品目标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用户流程与功能结构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页面与交互设计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系统与接口说明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上线结果与个人贡献</a:t>
            </a:r>
          </a:p>
        </p:txBody>
      </p:sp>
      <p:sp>
        <p:nvSpPr>
          <p:cNvPr id="116" name="Shape 116"/>
          <p:cNvSpPr/>
          <p:nvPr/>
        </p:nvSpPr>
        <p:spPr>
          <a:xfrm>
            <a:off x="6126480" y="1874520"/>
            <a:ext cx="5157216" cy="3474720"/>
          </a:xfrm>
          <a:prstGeom prst="roundRect">
            <a:avLst/>
          </a:prstGeom>
          <a:solidFill>
            <a:srgbClr val="102B37"/>
          </a:solidFill>
          <a:ln w="11430">
            <a:solidFill>
              <a:srgbClr val="FF7657"/>
            </a:solidFill>
          </a:ln>
          <a:effectLst/>
        </p:spPr>
        <p:txBody>
          <a:bodyPr/>
          <a:lstStyle/>
          <a:p/>
        </p:txBody>
      </p:sp>
      <p:sp>
        <p:nvSpPr>
          <p:cNvPr id="117" name="TextBox 117"/>
          <p:cNvSpPr txBox="1"/>
          <p:nvPr/>
        </p:nvSpPr>
        <p:spPr>
          <a:xfrm>
            <a:off x="6382512" y="2084832"/>
            <a:ext cx="4590288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F7657"/>
                </a:solidFill>
                <a:latin typeface="Hiragino Sans GB"/>
                <a:ea typeface="Hiragino Sans GB"/>
              </a:rPr>
              <a:t>AI 产品作品集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6382512" y="2706624"/>
            <a:ext cx="4553712" cy="221284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保留传统产品结构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增加 AI 能力分工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展示 Bad Case 与修改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说明低置信度和人工接管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持续观察模型与流程表现</a:t>
            </a:r>
          </a:p>
        </p:txBody>
      </p:sp>
      <p:sp>
        <p:nvSpPr>
          <p:cNvPr id="119" name="Shape 119"/>
          <p:cNvSpPr/>
          <p:nvPr/>
        </p:nvSpPr>
        <p:spPr>
          <a:xfrm>
            <a:off x="749808" y="5559552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20" name="TextBox 120"/>
          <p:cNvSpPr txBox="1"/>
          <p:nvPr/>
        </p:nvSpPr>
        <p:spPr>
          <a:xfrm>
            <a:off x="932688" y="567842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核心区别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2103120" y="5650992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AI 产品还要说明 AI 负责什么、不负责什么，出现不确定结果时怎么办。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2" name="TextBox 122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第三节｜AI 项目作品集的结构与呈现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08</a:t>
            </a:r>
          </a:p>
        </p:txBody>
      </p:sp>
      <p:sp>
        <p:nvSpPr>
          <p:cNvPr id="124" name="Shape 124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25" name="Shape 125"/>
          <p:cNvSpPr/>
          <p:nvPr/>
        </p:nvSpPr>
        <p:spPr>
          <a:xfrm>
            <a:off x="694944" y="6501384"/>
            <a:ext cx="3325602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26" name="TextBox 126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作品集先回答四个问题</a:t>
            </a:r>
          </a:p>
        </p:txBody>
      </p:sp>
      <p:sp>
        <p:nvSpPr>
          <p:cNvPr id="127" name="Shape 127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28" name="TextBox 128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面试官按照理解项目的顺序阅读</a:t>
            </a:r>
          </a:p>
        </p:txBody>
      </p:sp>
      <p:sp>
        <p:nvSpPr>
          <p:cNvPr id="129" name="Shape 129"/>
          <p:cNvSpPr/>
          <p:nvPr/>
        </p:nvSpPr>
        <p:spPr>
          <a:xfrm>
            <a:off x="749808" y="2176272"/>
            <a:ext cx="2462022" cy="292608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30" name="TextBox 130"/>
          <p:cNvSpPr txBox="1"/>
          <p:nvPr/>
        </p:nvSpPr>
        <p:spPr>
          <a:xfrm>
            <a:off x="932688" y="2359152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932688" y="2670048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这是什么产品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932688" y="3127248"/>
            <a:ext cx="2096262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产品定位、目标用户与 MVP</a:t>
            </a:r>
          </a:p>
        </p:txBody>
      </p:sp>
      <p:sp>
        <p:nvSpPr>
          <p:cNvPr id="133" name="Shape 133"/>
          <p:cNvSpPr/>
          <p:nvPr/>
        </p:nvSpPr>
        <p:spPr>
          <a:xfrm>
            <a:off x="3440430" y="2176272"/>
            <a:ext cx="2462022" cy="292608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34" name="TextBox 134"/>
          <p:cNvSpPr txBox="1"/>
          <p:nvPr/>
        </p:nvSpPr>
        <p:spPr>
          <a:xfrm>
            <a:off x="3623310" y="2359152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3623310" y="2670048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用户怎样使用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3623310" y="3127248"/>
            <a:ext cx="2096262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核心流程、关键页面与状态</a:t>
            </a:r>
          </a:p>
        </p:txBody>
      </p:sp>
      <p:sp>
        <p:nvSpPr>
          <p:cNvPr id="137" name="Shape 137"/>
          <p:cNvSpPr/>
          <p:nvPr/>
        </p:nvSpPr>
        <p:spPr>
          <a:xfrm>
            <a:off x="6131052" y="2176272"/>
            <a:ext cx="2462022" cy="292608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38" name="TextBox 138"/>
          <p:cNvSpPr txBox="1"/>
          <p:nvPr/>
        </p:nvSpPr>
        <p:spPr>
          <a:xfrm>
            <a:off x="6313932" y="2359152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6313932" y="2670048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为什么这样设计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6313932" y="3127248"/>
            <a:ext cx="2096262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能力分工与关键产品决策</a:t>
            </a:r>
          </a:p>
        </p:txBody>
      </p:sp>
      <p:sp>
        <p:nvSpPr>
          <p:cNvPr id="141" name="Shape 141"/>
          <p:cNvSpPr/>
          <p:nvPr/>
        </p:nvSpPr>
        <p:spPr>
          <a:xfrm>
            <a:off x="8821674" y="2176272"/>
            <a:ext cx="2462022" cy="292608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42" name="TextBox 142"/>
          <p:cNvSpPr txBox="1"/>
          <p:nvPr/>
        </p:nvSpPr>
        <p:spPr>
          <a:xfrm>
            <a:off x="9004554" y="2359152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9004554" y="2670048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实际运行怎样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9004554" y="3127248"/>
            <a:ext cx="2096262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修改过程、上线结果与限制</a:t>
            </a:r>
          </a:p>
        </p:txBody>
      </p:sp>
      <p:sp>
        <p:nvSpPr>
          <p:cNvPr id="145" name="Shape 145"/>
          <p:cNvSpPr/>
          <p:nvPr/>
        </p:nvSpPr>
        <p:spPr>
          <a:xfrm>
            <a:off x="749808" y="5394960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46" name="TextBox 146"/>
          <p:cNvSpPr txBox="1"/>
          <p:nvPr/>
        </p:nvSpPr>
        <p:spPr>
          <a:xfrm>
            <a:off x="932688" y="551383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阅读逻辑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2103120" y="5486400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产品是主体，判断解释设计，结果说明项目实际进展。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8" name="TextBox 148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第三节｜AI 项目作品集的结构与呈现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09</a:t>
            </a:r>
          </a:p>
        </p:txBody>
      </p:sp>
      <p:sp>
        <p:nvSpPr>
          <p:cNvPr id="150" name="Shape 150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51" name="Shape 151"/>
          <p:cNvSpPr/>
          <p:nvPr/>
        </p:nvSpPr>
        <p:spPr>
          <a:xfrm>
            <a:off x="694944" y="6501384"/>
            <a:ext cx="3741303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52" name="TextBox 152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完整作品集的八个部分</a:t>
            </a:r>
          </a:p>
        </p:txBody>
      </p:sp>
      <p:sp>
        <p:nvSpPr>
          <p:cNvPr id="153" name="Shape 153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54" name="TextBox 154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顺序按照面试官理解项目的过程排列</a:t>
            </a:r>
          </a:p>
        </p:txBody>
      </p:sp>
      <p:sp>
        <p:nvSpPr>
          <p:cNvPr id="155" name="Shape 155"/>
          <p:cNvSpPr/>
          <p:nvPr/>
        </p:nvSpPr>
        <p:spPr>
          <a:xfrm>
            <a:off x="768096" y="1901952"/>
            <a:ext cx="2505456" cy="14173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56" name="TextBox 156"/>
          <p:cNvSpPr txBox="1"/>
          <p:nvPr/>
        </p:nvSpPr>
        <p:spPr>
          <a:xfrm>
            <a:off x="950976" y="2084832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57" name="TextBox 157"/>
          <p:cNvSpPr txBox="1"/>
          <p:nvPr/>
        </p:nvSpPr>
        <p:spPr>
          <a:xfrm>
            <a:off x="950976" y="2395728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1">
                <a:solidFill>
                  <a:srgbClr val="F5F2E9"/>
                </a:solidFill>
                <a:latin typeface="Hiragino Sans GB"/>
                <a:ea typeface="Hiragino Sans GB"/>
              </a:rPr>
              <a:t>项目概览</a:t>
            </a:r>
          </a:p>
        </p:txBody>
      </p:sp>
      <p:sp>
        <p:nvSpPr>
          <p:cNvPr id="158" name="TextBox 158"/>
          <p:cNvSpPr txBox="1"/>
          <p:nvPr/>
        </p:nvSpPr>
        <p:spPr>
          <a:xfrm>
            <a:off x="950976" y="2852928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30" b="0">
                <a:solidFill>
                  <a:srgbClr val="A7B5BC"/>
                </a:solidFill>
                <a:latin typeface="Hiragino Sans GB"/>
                <a:ea typeface="Hiragino Sans GB"/>
              </a:rPr>
              <a:t>项目全貌</a:t>
            </a:r>
          </a:p>
        </p:txBody>
      </p:sp>
      <p:sp>
        <p:nvSpPr>
          <p:cNvPr id="159" name="Arrow 159"/>
          <p:cNvSpPr/>
          <p:nvPr/>
        </p:nvSpPr>
        <p:spPr>
          <a:xfrm>
            <a:off x="3255264" y="2537460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" name="Shape 160"/>
          <p:cNvSpPr/>
          <p:nvPr/>
        </p:nvSpPr>
        <p:spPr>
          <a:xfrm>
            <a:off x="3438144" y="1901952"/>
            <a:ext cx="2505456" cy="14173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61" name="TextBox 161"/>
          <p:cNvSpPr txBox="1"/>
          <p:nvPr/>
        </p:nvSpPr>
        <p:spPr>
          <a:xfrm>
            <a:off x="3621024" y="2084832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62" name="TextBox 162"/>
          <p:cNvSpPr txBox="1"/>
          <p:nvPr/>
        </p:nvSpPr>
        <p:spPr>
          <a:xfrm>
            <a:off x="3621024" y="2395728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1">
                <a:solidFill>
                  <a:srgbClr val="F5F2E9"/>
                </a:solidFill>
                <a:latin typeface="Hiragino Sans GB"/>
                <a:ea typeface="Hiragino Sans GB"/>
              </a:rPr>
              <a:t>业务问题</a:t>
            </a:r>
          </a:p>
        </p:txBody>
      </p:sp>
      <p:sp>
        <p:nvSpPr>
          <p:cNvPr id="163" name="TextBox 163"/>
          <p:cNvSpPr txBox="1"/>
          <p:nvPr/>
        </p:nvSpPr>
        <p:spPr>
          <a:xfrm>
            <a:off x="3621024" y="2852928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30" b="0">
                <a:solidFill>
                  <a:srgbClr val="A7B5BC"/>
                </a:solidFill>
                <a:latin typeface="Hiragino Sans GB"/>
                <a:ea typeface="Hiragino Sans GB"/>
              </a:rPr>
              <a:t>为什么做</a:t>
            </a:r>
          </a:p>
        </p:txBody>
      </p:sp>
      <p:sp>
        <p:nvSpPr>
          <p:cNvPr id="164" name="Arrow 164"/>
          <p:cNvSpPr/>
          <p:nvPr/>
        </p:nvSpPr>
        <p:spPr>
          <a:xfrm>
            <a:off x="5925312" y="2537460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" name="Shape 165"/>
          <p:cNvSpPr/>
          <p:nvPr/>
        </p:nvSpPr>
        <p:spPr>
          <a:xfrm>
            <a:off x="6108192" y="1901952"/>
            <a:ext cx="2505456" cy="14173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66" name="TextBox 166"/>
          <p:cNvSpPr txBox="1"/>
          <p:nvPr/>
        </p:nvSpPr>
        <p:spPr>
          <a:xfrm>
            <a:off x="6291072" y="2084832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67" name="TextBox 167"/>
          <p:cNvSpPr txBox="1"/>
          <p:nvPr/>
        </p:nvSpPr>
        <p:spPr>
          <a:xfrm>
            <a:off x="6291072" y="2395728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1">
                <a:solidFill>
                  <a:srgbClr val="F5F2E9"/>
                </a:solidFill>
                <a:latin typeface="Hiragino Sans GB"/>
                <a:ea typeface="Hiragino Sans GB"/>
              </a:rPr>
              <a:t>定位与 MVP</a:t>
            </a:r>
          </a:p>
        </p:txBody>
      </p:sp>
      <p:sp>
        <p:nvSpPr>
          <p:cNvPr id="168" name="TextBox 168"/>
          <p:cNvSpPr txBox="1"/>
          <p:nvPr/>
        </p:nvSpPr>
        <p:spPr>
          <a:xfrm>
            <a:off x="6291072" y="2852928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30" b="0">
                <a:solidFill>
                  <a:srgbClr val="A7B5BC"/>
                </a:solidFill>
                <a:latin typeface="Hiragino Sans GB"/>
                <a:ea typeface="Hiragino Sans GB"/>
              </a:rPr>
              <a:t>第一版边界</a:t>
            </a:r>
          </a:p>
        </p:txBody>
      </p:sp>
      <p:sp>
        <p:nvSpPr>
          <p:cNvPr id="169" name="Arrow 169"/>
          <p:cNvSpPr/>
          <p:nvPr/>
        </p:nvSpPr>
        <p:spPr>
          <a:xfrm>
            <a:off x="8595360" y="2537460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" name="Shape 170"/>
          <p:cNvSpPr/>
          <p:nvPr/>
        </p:nvSpPr>
        <p:spPr>
          <a:xfrm>
            <a:off x="8778240" y="1901952"/>
            <a:ext cx="2505456" cy="14173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71" name="TextBox 171"/>
          <p:cNvSpPr txBox="1"/>
          <p:nvPr/>
        </p:nvSpPr>
        <p:spPr>
          <a:xfrm>
            <a:off x="8961120" y="2084832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172" name="TextBox 172"/>
          <p:cNvSpPr txBox="1"/>
          <p:nvPr/>
        </p:nvSpPr>
        <p:spPr>
          <a:xfrm>
            <a:off x="8961120" y="2395728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1">
                <a:solidFill>
                  <a:srgbClr val="F5F2E9"/>
                </a:solidFill>
                <a:latin typeface="Hiragino Sans GB"/>
                <a:ea typeface="Hiragino Sans GB"/>
              </a:rPr>
              <a:t>产品形态</a:t>
            </a:r>
          </a:p>
        </p:txBody>
      </p:sp>
      <p:sp>
        <p:nvSpPr>
          <p:cNvPr id="173" name="TextBox 173"/>
          <p:cNvSpPr txBox="1"/>
          <p:nvPr/>
        </p:nvSpPr>
        <p:spPr>
          <a:xfrm>
            <a:off x="8961120" y="2852928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30" b="0">
                <a:solidFill>
                  <a:srgbClr val="A7B5BC"/>
                </a:solidFill>
                <a:latin typeface="Hiragino Sans GB"/>
                <a:ea typeface="Hiragino Sans GB"/>
              </a:rPr>
              <a:t>怎样完成任务</a:t>
            </a:r>
          </a:p>
        </p:txBody>
      </p:sp>
      <p:sp>
        <p:nvSpPr>
          <p:cNvPr id="174" name="Shape 174"/>
          <p:cNvSpPr/>
          <p:nvPr/>
        </p:nvSpPr>
        <p:spPr>
          <a:xfrm>
            <a:off x="768096" y="3803904"/>
            <a:ext cx="2505456" cy="14173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75" name="TextBox 175"/>
          <p:cNvSpPr txBox="1"/>
          <p:nvPr/>
        </p:nvSpPr>
        <p:spPr>
          <a:xfrm>
            <a:off x="950976" y="3986784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176" name="TextBox 176"/>
          <p:cNvSpPr txBox="1"/>
          <p:nvPr/>
        </p:nvSpPr>
        <p:spPr>
          <a:xfrm>
            <a:off x="950976" y="4297680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1">
                <a:solidFill>
                  <a:srgbClr val="F5F2E9"/>
                </a:solidFill>
                <a:latin typeface="Hiragino Sans GB"/>
                <a:ea typeface="Hiragino Sans GB"/>
              </a:rPr>
              <a:t>页面与状态</a:t>
            </a:r>
          </a:p>
        </p:txBody>
      </p:sp>
      <p:sp>
        <p:nvSpPr>
          <p:cNvPr id="177" name="TextBox 177"/>
          <p:cNvSpPr txBox="1"/>
          <p:nvPr/>
        </p:nvSpPr>
        <p:spPr>
          <a:xfrm>
            <a:off x="950976" y="4754880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30" b="0">
                <a:solidFill>
                  <a:srgbClr val="A7B5BC"/>
                </a:solidFill>
                <a:latin typeface="Hiragino Sans GB"/>
                <a:ea typeface="Hiragino Sans GB"/>
              </a:rPr>
              <a:t>产品怎样使用</a:t>
            </a:r>
          </a:p>
        </p:txBody>
      </p:sp>
      <p:sp>
        <p:nvSpPr>
          <p:cNvPr id="178" name="Arrow 178"/>
          <p:cNvSpPr/>
          <p:nvPr/>
        </p:nvSpPr>
        <p:spPr>
          <a:xfrm>
            <a:off x="3255264" y="4439412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" name="Shape 179"/>
          <p:cNvSpPr/>
          <p:nvPr/>
        </p:nvSpPr>
        <p:spPr>
          <a:xfrm>
            <a:off x="3438144" y="3803904"/>
            <a:ext cx="2505456" cy="14173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80" name="TextBox 180"/>
          <p:cNvSpPr txBox="1"/>
          <p:nvPr/>
        </p:nvSpPr>
        <p:spPr>
          <a:xfrm>
            <a:off x="3621024" y="3986784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181" name="TextBox 181"/>
          <p:cNvSpPr txBox="1"/>
          <p:nvPr/>
        </p:nvSpPr>
        <p:spPr>
          <a:xfrm>
            <a:off x="3621024" y="4297680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1">
                <a:solidFill>
                  <a:srgbClr val="F5F2E9"/>
                </a:solidFill>
                <a:latin typeface="Hiragino Sans GB"/>
                <a:ea typeface="Hiragino Sans GB"/>
              </a:rPr>
              <a:t>能力分工</a:t>
            </a:r>
          </a:p>
        </p:txBody>
      </p:sp>
      <p:sp>
        <p:nvSpPr>
          <p:cNvPr id="182" name="TextBox 182"/>
          <p:cNvSpPr txBox="1"/>
          <p:nvPr/>
        </p:nvSpPr>
        <p:spPr>
          <a:xfrm>
            <a:off x="3621024" y="4754880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30" b="0">
                <a:solidFill>
                  <a:srgbClr val="A7B5BC"/>
                </a:solidFill>
                <a:latin typeface="Hiragino Sans GB"/>
                <a:ea typeface="Hiragino Sans GB"/>
              </a:rPr>
              <a:t>谁负责什么</a:t>
            </a:r>
          </a:p>
        </p:txBody>
      </p:sp>
      <p:sp>
        <p:nvSpPr>
          <p:cNvPr id="183" name="Arrow 183"/>
          <p:cNvSpPr/>
          <p:nvPr/>
        </p:nvSpPr>
        <p:spPr>
          <a:xfrm>
            <a:off x="5925312" y="4439412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84" name="Shape 184"/>
          <p:cNvSpPr/>
          <p:nvPr/>
        </p:nvSpPr>
        <p:spPr>
          <a:xfrm>
            <a:off x="6108192" y="3803904"/>
            <a:ext cx="2505456" cy="14173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85" name="TextBox 185"/>
          <p:cNvSpPr txBox="1"/>
          <p:nvPr/>
        </p:nvSpPr>
        <p:spPr>
          <a:xfrm>
            <a:off x="6291072" y="3986784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186" name="TextBox 186"/>
          <p:cNvSpPr txBox="1"/>
          <p:nvPr/>
        </p:nvSpPr>
        <p:spPr>
          <a:xfrm>
            <a:off x="6291072" y="4297680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1">
                <a:solidFill>
                  <a:srgbClr val="F5F2E9"/>
                </a:solidFill>
                <a:latin typeface="Hiragino Sans GB"/>
                <a:ea typeface="Hiragino Sans GB"/>
              </a:rPr>
              <a:t>决策与迭代</a:t>
            </a:r>
          </a:p>
        </p:txBody>
      </p:sp>
      <p:sp>
        <p:nvSpPr>
          <p:cNvPr id="187" name="TextBox 187"/>
          <p:cNvSpPr txBox="1"/>
          <p:nvPr/>
        </p:nvSpPr>
        <p:spPr>
          <a:xfrm>
            <a:off x="6291072" y="4754880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30" b="0">
                <a:solidFill>
                  <a:srgbClr val="A7B5BC"/>
                </a:solidFill>
                <a:latin typeface="Hiragino Sans GB"/>
                <a:ea typeface="Hiragino Sans GB"/>
              </a:rPr>
              <a:t>为什么这样设计</a:t>
            </a:r>
          </a:p>
        </p:txBody>
      </p:sp>
      <p:sp>
        <p:nvSpPr>
          <p:cNvPr id="188" name="Arrow 188"/>
          <p:cNvSpPr/>
          <p:nvPr/>
        </p:nvSpPr>
        <p:spPr>
          <a:xfrm>
            <a:off x="8595360" y="4439412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" name="Shape 189"/>
          <p:cNvSpPr/>
          <p:nvPr/>
        </p:nvSpPr>
        <p:spPr>
          <a:xfrm>
            <a:off x="8778240" y="3803904"/>
            <a:ext cx="2505456" cy="14173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190" name="TextBox 190"/>
          <p:cNvSpPr txBox="1"/>
          <p:nvPr/>
        </p:nvSpPr>
        <p:spPr>
          <a:xfrm>
            <a:off x="8961120" y="3986784"/>
            <a:ext cx="213969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191" name="TextBox 191"/>
          <p:cNvSpPr txBox="1"/>
          <p:nvPr/>
        </p:nvSpPr>
        <p:spPr>
          <a:xfrm>
            <a:off x="8961120" y="4297680"/>
            <a:ext cx="213969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1">
                <a:solidFill>
                  <a:srgbClr val="F5F2E9"/>
                </a:solidFill>
                <a:latin typeface="Hiragino Sans GB"/>
                <a:ea typeface="Hiragino Sans GB"/>
              </a:rPr>
              <a:t>结果与贡献</a:t>
            </a:r>
          </a:p>
        </p:txBody>
      </p:sp>
      <p:sp>
        <p:nvSpPr>
          <p:cNvPr id="192" name="TextBox 192"/>
          <p:cNvSpPr txBox="1"/>
          <p:nvPr/>
        </p:nvSpPr>
        <p:spPr>
          <a:xfrm>
            <a:off x="8961120" y="4754880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30" b="0">
                <a:solidFill>
                  <a:srgbClr val="A7B5BC"/>
                </a:solidFill>
                <a:latin typeface="Hiragino Sans GB"/>
                <a:ea typeface="Hiragino Sans GB"/>
              </a:rPr>
              <a:t>运行情况与个人工作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3" name="TextBox 193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第三节｜AI 项目作品集的结构与呈现</a:t>
            </a:r>
          </a:p>
        </p:txBody>
      </p:sp>
      <p:sp>
        <p:nvSpPr>
          <p:cNvPr id="194" name="TextBox 194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10</a:t>
            </a:r>
          </a:p>
        </p:txBody>
      </p:sp>
      <p:sp>
        <p:nvSpPr>
          <p:cNvPr id="195" name="Shape 195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96" name="Shape 196"/>
          <p:cNvSpPr/>
          <p:nvPr/>
        </p:nvSpPr>
        <p:spPr>
          <a:xfrm>
            <a:off x="694944" y="6501384"/>
            <a:ext cx="4157003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97" name="TextBox 197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第一页项目概览</a:t>
            </a:r>
          </a:p>
        </p:txBody>
      </p:sp>
      <p:sp>
        <p:nvSpPr>
          <p:cNvPr id="198" name="Shape 198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199" name="TextBox 199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两分钟内让人看懂产品、范围和个人角色</a:t>
            </a:r>
          </a:p>
        </p:txBody>
      </p:sp>
      <p:sp>
        <p:nvSpPr>
          <p:cNvPr id="200" name="Shape 200"/>
          <p:cNvSpPr/>
          <p:nvPr/>
        </p:nvSpPr>
        <p:spPr>
          <a:xfrm>
            <a:off x="749808" y="1847088"/>
            <a:ext cx="6656832" cy="3611880"/>
          </a:xfrm>
          <a:prstGeom prst="roundRect">
            <a:avLst/>
          </a:prstGeom>
          <a:solidFill>
            <a:srgbClr val="102B37"/>
          </a:solidFill>
          <a:ln w="10160">
            <a:solidFill>
              <a:srgbClr val="36D6C2"/>
            </a:solidFill>
          </a:ln>
          <a:effectLst/>
        </p:spPr>
        <p:txBody>
          <a:bodyPr/>
          <a:lstStyle/>
          <a:p/>
        </p:txBody>
      </p:sp>
      <p:sp>
        <p:nvSpPr>
          <p:cNvPr id="201" name="TextBox 201"/>
          <p:cNvSpPr txBox="1"/>
          <p:nvPr/>
        </p:nvSpPr>
        <p:spPr>
          <a:xfrm>
            <a:off x="1005840" y="2066544"/>
            <a:ext cx="61722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5F2E9"/>
                </a:solidFill>
                <a:latin typeface="Hiragino Sans GB"/>
                <a:ea typeface="Hiragino Sans GB"/>
              </a:rPr>
              <a:t>电商售后智能服务与业务办理助手</a:t>
            </a:r>
          </a:p>
        </p:txBody>
      </p:sp>
      <p:sp>
        <p:nvSpPr>
          <p:cNvPr id="202" name="TextBox 202"/>
          <p:cNvSpPr txBox="1"/>
          <p:nvPr/>
        </p:nvSpPr>
        <p:spPr>
          <a:xfrm>
            <a:off x="1005840" y="2651760"/>
            <a:ext cx="6071616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A7B5BC"/>
                </a:solidFill>
                <a:latin typeface="Hiragino Sans GB"/>
                <a:ea typeface="Hiragino Sans GB"/>
              </a:rPr>
              <a:t>面向电商售后用户，通过对话助手、人工客服工作台和订单系统连接，帮助用户完成政策查询、订单确认和售后申请预受理。</a:t>
            </a:r>
          </a:p>
        </p:txBody>
      </p:sp>
      <p:sp>
        <p:nvSpPr>
          <p:cNvPr id="203" name="TextBox 203"/>
          <p:cNvSpPr txBox="1"/>
          <p:nvPr/>
        </p:nvSpPr>
        <p:spPr>
          <a:xfrm>
            <a:off x="1005840" y="3675888"/>
            <a:ext cx="59893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>
                <a:solidFill>
                  <a:srgbClr val="FF7657"/>
                </a:solidFill>
                <a:latin typeface="Hiragino Sans GB"/>
                <a:ea typeface="Hiragino Sans GB"/>
              </a:rPr>
              <a:t>核心流程</a:t>
            </a:r>
          </a:p>
        </p:txBody>
      </p:sp>
      <p:sp>
        <p:nvSpPr>
          <p:cNvPr id="204" name="TextBox 204"/>
          <p:cNvSpPr txBox="1"/>
          <p:nvPr/>
        </p:nvSpPr>
        <p:spPr>
          <a:xfrm>
            <a:off x="1005840" y="4096512"/>
            <a:ext cx="6016752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>
                <a:solidFill>
                  <a:srgbClr val="F5F2E9"/>
                </a:solidFill>
                <a:latin typeface="Hiragino Sans GB"/>
                <a:ea typeface="Hiragino Sans GB"/>
              </a:rPr>
              <a:t>提出诉求  确认订单  补齐信息  检查条件  用户确认  预受理或转人工</a:t>
            </a:r>
          </a:p>
        </p:txBody>
      </p:sp>
      <p:sp>
        <p:nvSpPr>
          <p:cNvPr id="205" name="Shape 205"/>
          <p:cNvSpPr/>
          <p:nvPr/>
        </p:nvSpPr>
        <p:spPr>
          <a:xfrm>
            <a:off x="7662672" y="1847088"/>
            <a:ext cx="3621024" cy="3611880"/>
          </a:xfrm>
          <a:prstGeom prst="roundRect">
            <a:avLst/>
          </a:prstGeom>
          <a:solidFill>
            <a:srgbClr val="133843"/>
          </a:solidFill>
          <a:ln w="1016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206" name="TextBox 206"/>
          <p:cNvSpPr txBox="1"/>
          <p:nvPr/>
        </p:nvSpPr>
        <p:spPr>
          <a:xfrm>
            <a:off x="7918704" y="2084832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36D6C2"/>
                </a:solidFill>
                <a:latin typeface="Hiragino Sans GB"/>
                <a:ea typeface="Hiragino Sans GB"/>
              </a:rPr>
              <a:t>个人角色</a:t>
            </a:r>
          </a:p>
        </p:txBody>
      </p:sp>
      <p:sp>
        <p:nvSpPr>
          <p:cNvPr id="207" name="TextBox 207"/>
          <p:cNvSpPr txBox="1"/>
          <p:nvPr/>
        </p:nvSpPr>
        <p:spPr>
          <a:xfrm>
            <a:off x="7918704" y="2670048"/>
            <a:ext cx="3054096" cy="23042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F5F2E9"/>
                </a:solidFill>
                <a:latin typeface="Hiragino Sans GB"/>
                <a:ea typeface="Hiragino Sans GB"/>
              </a:rPr>
              <a:t>业务流程梳理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F5F2E9"/>
                </a:solidFill>
                <a:latin typeface="Hiragino Sans GB"/>
                <a:ea typeface="Hiragino Sans GB"/>
              </a:rPr>
              <a:t>MVP 范围定义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F5F2E9"/>
                </a:solidFill>
                <a:latin typeface="Hiragino Sans GB"/>
                <a:ea typeface="Hiragino Sans GB"/>
              </a:rPr>
              <a:t>核心交互设计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F5F2E9"/>
                </a:solidFill>
                <a:latin typeface="Hiragino Sans GB"/>
                <a:ea typeface="Hiragino Sans GB"/>
              </a:rPr>
              <a:t>AI 能力分工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F5F2E9"/>
                </a:solidFill>
                <a:latin typeface="Hiragino Sans GB"/>
                <a:ea typeface="Hiragino Sans GB"/>
              </a:rPr>
              <a:t>测试用例设计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F5F2E9"/>
                </a:solidFill>
                <a:latin typeface="Hiragino Sans GB"/>
                <a:ea typeface="Hiragino Sans GB"/>
              </a:rPr>
              <a:t>上线问题分析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8" name="TextBox 208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第三节｜AI 项目作品集的结构与呈现</a:t>
            </a:r>
          </a:p>
        </p:txBody>
      </p:sp>
      <p:sp>
        <p:nvSpPr>
          <p:cNvPr id="209" name="TextBox 209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11</a:t>
            </a:r>
          </a:p>
        </p:txBody>
      </p:sp>
      <p:sp>
        <p:nvSpPr>
          <p:cNvPr id="210" name="Shape 210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11" name="Shape 211"/>
          <p:cNvSpPr/>
          <p:nvPr/>
        </p:nvSpPr>
        <p:spPr>
          <a:xfrm>
            <a:off x="694944" y="6501384"/>
            <a:ext cx="4572703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12" name="TextBox 212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业务问题、产品目标与 MVP</a:t>
            </a:r>
          </a:p>
        </p:txBody>
      </p:sp>
      <p:sp>
        <p:nvSpPr>
          <p:cNvPr id="213" name="Shape 213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14" name="TextBox 214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先把为什么做和第一版做到哪里讲清楚</a:t>
            </a:r>
          </a:p>
        </p:txBody>
      </p:sp>
      <p:sp>
        <p:nvSpPr>
          <p:cNvPr id="215" name="Shape 215"/>
          <p:cNvSpPr/>
          <p:nvPr/>
        </p:nvSpPr>
        <p:spPr>
          <a:xfrm>
            <a:off x="749808" y="1883664"/>
            <a:ext cx="5093208" cy="3547872"/>
          </a:xfrm>
          <a:prstGeom prst="roundRect">
            <a:avLst/>
          </a:prstGeom>
          <a:solidFill>
            <a:srgbClr val="102B37"/>
          </a:solidFill>
          <a:ln w="10160">
            <a:solidFill>
              <a:srgbClr val="36D6C2"/>
            </a:solidFill>
          </a:ln>
          <a:effectLst/>
        </p:spPr>
        <p:txBody>
          <a:bodyPr/>
          <a:lstStyle/>
          <a:p/>
        </p:txBody>
      </p:sp>
      <p:sp>
        <p:nvSpPr>
          <p:cNvPr id="216" name="TextBox 216"/>
          <p:cNvSpPr txBox="1"/>
          <p:nvPr/>
        </p:nvSpPr>
        <p:spPr>
          <a:xfrm>
            <a:off x="1005840" y="2103120"/>
            <a:ext cx="4590288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36D6C2"/>
                </a:solidFill>
                <a:latin typeface="Hiragino Sans GB"/>
                <a:ea typeface="Hiragino Sans GB"/>
              </a:rPr>
              <a:t>业务问题与产品目标</a:t>
            </a:r>
          </a:p>
        </p:txBody>
      </p:sp>
      <p:sp>
        <p:nvSpPr>
          <p:cNvPr id="217" name="TextBox 217"/>
          <p:cNvSpPr txBox="1"/>
          <p:nvPr/>
        </p:nvSpPr>
        <p:spPr>
          <a:xfrm>
            <a:off x="1005840" y="2706624"/>
            <a:ext cx="4553712" cy="23042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F5F2E9"/>
                </a:solidFill>
                <a:latin typeface="Hiragino Sans GB"/>
                <a:ea typeface="Hiragino Sans GB"/>
              </a:rPr>
              <a:t>FAQ 只能解释统一规则，无法根据订单状态继续办理。</a:t>
            </a:r>
          </a:p>
          <a:p>
            <a:pPr algn="l"/>
            <a:endParaRPr lang="zh-CN" sz="155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F5F2E9"/>
                </a:solidFill>
                <a:latin typeface="Hiragino Sans GB"/>
                <a:ea typeface="Hiragino Sans GB"/>
              </a:rPr>
              <a:t>人工客服需要重复询问订单、商品和售后原因。</a:t>
            </a:r>
          </a:p>
          <a:p>
            <a:pPr algn="l"/>
            <a:endParaRPr lang="zh-CN" sz="155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F5F2E9"/>
                </a:solidFill>
                <a:latin typeface="Hiragino Sans GB"/>
                <a:ea typeface="Hiragino Sans GB"/>
              </a:rPr>
              <a:t>目标：让用户完成低风险售后问题的查询与预受理。</a:t>
            </a:r>
          </a:p>
        </p:txBody>
      </p:sp>
      <p:sp>
        <p:nvSpPr>
          <p:cNvPr id="218" name="Shape 218"/>
          <p:cNvSpPr/>
          <p:nvPr/>
        </p:nvSpPr>
        <p:spPr>
          <a:xfrm>
            <a:off x="6126480" y="1883664"/>
            <a:ext cx="5157216" cy="3547872"/>
          </a:xfrm>
          <a:prstGeom prst="roundRect">
            <a:avLst/>
          </a:prstGeom>
          <a:solidFill>
            <a:srgbClr val="102B37"/>
          </a:solidFill>
          <a:ln w="10160">
            <a:solidFill>
              <a:srgbClr val="FF7657"/>
            </a:solidFill>
          </a:ln>
          <a:effectLst/>
        </p:spPr>
        <p:txBody>
          <a:bodyPr/>
          <a:lstStyle/>
          <a:p/>
        </p:txBody>
      </p:sp>
      <p:sp>
        <p:nvSpPr>
          <p:cNvPr id="219" name="TextBox 219"/>
          <p:cNvSpPr txBox="1"/>
          <p:nvPr/>
        </p:nvSpPr>
        <p:spPr>
          <a:xfrm>
            <a:off x="6382512" y="2103120"/>
            <a:ext cx="4590288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FF7657"/>
                </a:solidFill>
                <a:latin typeface="Hiragino Sans GB"/>
                <a:ea typeface="Hiragino Sans GB"/>
              </a:rPr>
              <a:t>第一版边界</a:t>
            </a:r>
          </a:p>
        </p:txBody>
      </p:sp>
      <p:sp>
        <p:nvSpPr>
          <p:cNvPr id="220" name="TextBox 220"/>
          <p:cNvSpPr txBox="1"/>
          <p:nvPr/>
        </p:nvSpPr>
        <p:spPr>
          <a:xfrm>
            <a:off x="6382512" y="2706624"/>
            <a:ext cx="4572000" cy="23042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F5F2E9"/>
                </a:solidFill>
                <a:latin typeface="Hiragino Sans GB"/>
                <a:ea typeface="Hiragino Sans GB"/>
              </a:rPr>
              <a:t>本期完成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F5F2E9"/>
                </a:solidFill>
                <a:latin typeface="Hiragino Sans GB"/>
                <a:ea typeface="Hiragino Sans GB"/>
              </a:rPr>
              <a:t>政策查询、订单确认、信息补齐、预受理</a:t>
            </a:r>
          </a:p>
          <a:p>
            <a:pPr algn="l"/>
            <a:endParaRPr lang="zh-CN" sz="155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F5F2E9"/>
                </a:solidFill>
                <a:latin typeface="Hiragino Sans GB"/>
                <a:ea typeface="Hiragino Sans GB"/>
              </a:rPr>
              <a:t>本期暂不处理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F5F2E9"/>
                </a:solidFill>
                <a:latin typeface="Hiragino Sans GB"/>
                <a:ea typeface="Hiragino Sans GB"/>
              </a:rPr>
              <a:t>自动批准退款、高额赔偿、复杂投诉判责、特殊承诺</a:t>
            </a:r>
          </a:p>
        </p:txBody>
      </p:sp>
      <p:sp>
        <p:nvSpPr>
          <p:cNvPr id="221" name="Shape 221"/>
          <p:cNvSpPr/>
          <p:nvPr/>
        </p:nvSpPr>
        <p:spPr>
          <a:xfrm>
            <a:off x="749808" y="5605272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222" name="TextBox 222"/>
          <p:cNvSpPr txBox="1"/>
          <p:nvPr/>
        </p:nvSpPr>
        <p:spPr>
          <a:xfrm>
            <a:off x="932688" y="572414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写法原则</a:t>
            </a:r>
          </a:p>
        </p:txBody>
      </p:sp>
      <p:sp>
        <p:nvSpPr>
          <p:cNvPr id="223" name="TextBox 223"/>
          <p:cNvSpPr txBox="1"/>
          <p:nvPr/>
        </p:nvSpPr>
        <p:spPr>
          <a:xfrm>
            <a:off x="2103120" y="5696712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业务问题说明为什么做，MVP 说明第一版做到哪一步。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4" name="TextBox 224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第三节｜AI 项目作品集的结构与呈现</a:t>
            </a:r>
          </a:p>
        </p:txBody>
      </p:sp>
      <p:sp>
        <p:nvSpPr>
          <p:cNvPr id="225" name="TextBox 225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12</a:t>
            </a:r>
          </a:p>
        </p:txBody>
      </p:sp>
      <p:sp>
        <p:nvSpPr>
          <p:cNvPr id="226" name="Shape 226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27" name="Shape 227"/>
          <p:cNvSpPr/>
          <p:nvPr/>
        </p:nvSpPr>
        <p:spPr>
          <a:xfrm>
            <a:off x="694944" y="6501384"/>
            <a:ext cx="4988404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28" name="TextBox 228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产品形态与核心流程</a:t>
            </a:r>
          </a:p>
        </p:txBody>
      </p:sp>
      <p:sp>
        <p:nvSpPr>
          <p:cNvPr id="229" name="Shape 229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30" name="TextBox 230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作品集的视觉中心</a:t>
            </a:r>
          </a:p>
        </p:txBody>
      </p:sp>
      <p:sp>
        <p:nvSpPr>
          <p:cNvPr id="231" name="TextBox 231"/>
          <p:cNvSpPr txBox="1"/>
          <p:nvPr/>
        </p:nvSpPr>
        <p:spPr>
          <a:xfrm>
            <a:off x="841248" y="1883664"/>
            <a:ext cx="1042416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c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36D6C2"/>
                </a:solidFill>
                <a:latin typeface="Hiragino Sans GB"/>
                <a:ea typeface="Hiragino Sans GB"/>
              </a:rPr>
              <a:t>产品形态：用户端对话助手 ＋ 人工客服工作台 ＋ 订单与售后系统连接</a:t>
            </a:r>
          </a:p>
        </p:txBody>
      </p:sp>
      <p:sp>
        <p:nvSpPr>
          <p:cNvPr id="232" name="Shape 232"/>
          <p:cNvSpPr/>
          <p:nvPr/>
        </p:nvSpPr>
        <p:spPr>
          <a:xfrm>
            <a:off x="768096" y="2651760"/>
            <a:ext cx="1971446" cy="217627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233" name="TextBox 233"/>
          <p:cNvSpPr txBox="1"/>
          <p:nvPr/>
        </p:nvSpPr>
        <p:spPr>
          <a:xfrm>
            <a:off x="950976" y="2834640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234" name="TextBox 234"/>
          <p:cNvSpPr txBox="1"/>
          <p:nvPr/>
        </p:nvSpPr>
        <p:spPr>
          <a:xfrm>
            <a:off x="950976" y="3145536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F5F2E9"/>
                </a:solidFill>
                <a:latin typeface="Hiragino Sans GB"/>
                <a:ea typeface="Hiragino Sans GB"/>
              </a:rPr>
              <a:t>提出诉求</a:t>
            </a:r>
          </a:p>
        </p:txBody>
      </p:sp>
      <p:sp>
        <p:nvSpPr>
          <p:cNvPr id="235" name="TextBox 235"/>
          <p:cNvSpPr txBox="1"/>
          <p:nvPr/>
        </p:nvSpPr>
        <p:spPr>
          <a:xfrm>
            <a:off x="950976" y="3602736"/>
            <a:ext cx="1605686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70" b="0">
                <a:solidFill>
                  <a:srgbClr val="A7B5BC"/>
                </a:solidFill>
                <a:latin typeface="Hiragino Sans GB"/>
                <a:ea typeface="Hiragino Sans GB"/>
              </a:rPr>
              <a:t>政策咨询或业务办理</a:t>
            </a:r>
          </a:p>
        </p:txBody>
      </p:sp>
      <p:sp>
        <p:nvSpPr>
          <p:cNvPr id="236" name="Arrow 236"/>
          <p:cNvSpPr/>
          <p:nvPr/>
        </p:nvSpPr>
        <p:spPr>
          <a:xfrm>
            <a:off x="2721254" y="3666744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237" name="Shape 237"/>
          <p:cNvSpPr/>
          <p:nvPr/>
        </p:nvSpPr>
        <p:spPr>
          <a:xfrm>
            <a:off x="2904134" y="2651760"/>
            <a:ext cx="1971446" cy="217627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238" name="TextBox 238"/>
          <p:cNvSpPr txBox="1"/>
          <p:nvPr/>
        </p:nvSpPr>
        <p:spPr>
          <a:xfrm>
            <a:off x="3087014" y="2834640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239" name="TextBox 239"/>
          <p:cNvSpPr txBox="1"/>
          <p:nvPr/>
        </p:nvSpPr>
        <p:spPr>
          <a:xfrm>
            <a:off x="3087014" y="3145536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F5F2E9"/>
                </a:solidFill>
                <a:latin typeface="Hiragino Sans GB"/>
                <a:ea typeface="Hiragino Sans GB"/>
              </a:rPr>
              <a:t>确认订单</a:t>
            </a:r>
          </a:p>
        </p:txBody>
      </p:sp>
      <p:sp>
        <p:nvSpPr>
          <p:cNvPr id="240" name="TextBox 240"/>
          <p:cNvSpPr txBox="1"/>
          <p:nvPr/>
        </p:nvSpPr>
        <p:spPr>
          <a:xfrm>
            <a:off x="3087014" y="3602736"/>
            <a:ext cx="1605686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70" b="0">
                <a:solidFill>
                  <a:srgbClr val="A7B5BC"/>
                </a:solidFill>
                <a:latin typeface="Hiragino Sans GB"/>
                <a:ea typeface="Hiragino Sans GB"/>
              </a:rPr>
              <a:t>选择订单与商品</a:t>
            </a:r>
          </a:p>
        </p:txBody>
      </p:sp>
      <p:sp>
        <p:nvSpPr>
          <p:cNvPr id="241" name="Arrow 241"/>
          <p:cNvSpPr/>
          <p:nvPr/>
        </p:nvSpPr>
        <p:spPr>
          <a:xfrm>
            <a:off x="4857293" y="3666744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242" name="Shape 242"/>
          <p:cNvSpPr/>
          <p:nvPr/>
        </p:nvSpPr>
        <p:spPr>
          <a:xfrm>
            <a:off x="5040173" y="2651760"/>
            <a:ext cx="1971446" cy="217627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243" name="TextBox 243"/>
          <p:cNvSpPr txBox="1"/>
          <p:nvPr/>
        </p:nvSpPr>
        <p:spPr>
          <a:xfrm>
            <a:off x="5223053" y="2834640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44" name="TextBox 244"/>
          <p:cNvSpPr txBox="1"/>
          <p:nvPr/>
        </p:nvSpPr>
        <p:spPr>
          <a:xfrm>
            <a:off x="5223053" y="3145536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F5F2E9"/>
                </a:solidFill>
                <a:latin typeface="Hiragino Sans GB"/>
                <a:ea typeface="Hiragino Sans GB"/>
              </a:rPr>
              <a:t>补齐信息</a:t>
            </a:r>
          </a:p>
        </p:txBody>
      </p:sp>
      <p:sp>
        <p:nvSpPr>
          <p:cNvPr id="245" name="TextBox 245"/>
          <p:cNvSpPr txBox="1"/>
          <p:nvPr/>
        </p:nvSpPr>
        <p:spPr>
          <a:xfrm>
            <a:off x="5223053" y="3602736"/>
            <a:ext cx="1605686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70" b="0">
                <a:solidFill>
                  <a:srgbClr val="A7B5BC"/>
                </a:solidFill>
                <a:latin typeface="Hiragino Sans GB"/>
                <a:ea typeface="Hiragino Sans GB"/>
              </a:rPr>
              <a:t>售后原因与必要字段</a:t>
            </a:r>
          </a:p>
        </p:txBody>
      </p:sp>
      <p:sp>
        <p:nvSpPr>
          <p:cNvPr id="246" name="Arrow 246"/>
          <p:cNvSpPr/>
          <p:nvPr/>
        </p:nvSpPr>
        <p:spPr>
          <a:xfrm>
            <a:off x="6993331" y="3666744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247" name="Shape 247"/>
          <p:cNvSpPr/>
          <p:nvPr/>
        </p:nvSpPr>
        <p:spPr>
          <a:xfrm>
            <a:off x="7176211" y="2651760"/>
            <a:ext cx="1971446" cy="217627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248" name="TextBox 248"/>
          <p:cNvSpPr txBox="1"/>
          <p:nvPr/>
        </p:nvSpPr>
        <p:spPr>
          <a:xfrm>
            <a:off x="7359091" y="2834640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249" name="TextBox 249"/>
          <p:cNvSpPr txBox="1"/>
          <p:nvPr/>
        </p:nvSpPr>
        <p:spPr>
          <a:xfrm>
            <a:off x="7359091" y="3145536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F5F2E9"/>
                </a:solidFill>
                <a:latin typeface="Hiragino Sans GB"/>
                <a:ea typeface="Hiragino Sans GB"/>
              </a:rPr>
              <a:t>检查条件</a:t>
            </a:r>
          </a:p>
        </p:txBody>
      </p:sp>
      <p:sp>
        <p:nvSpPr>
          <p:cNvPr id="250" name="TextBox 250"/>
          <p:cNvSpPr txBox="1"/>
          <p:nvPr/>
        </p:nvSpPr>
        <p:spPr>
          <a:xfrm>
            <a:off x="7359091" y="3602736"/>
            <a:ext cx="1605686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70" b="0">
                <a:solidFill>
                  <a:srgbClr val="A7B5BC"/>
                </a:solidFill>
                <a:latin typeface="Hiragino Sans GB"/>
                <a:ea typeface="Hiragino Sans GB"/>
              </a:rPr>
              <a:t>规则与接口返回</a:t>
            </a:r>
          </a:p>
        </p:txBody>
      </p:sp>
      <p:sp>
        <p:nvSpPr>
          <p:cNvPr id="251" name="Arrow 251"/>
          <p:cNvSpPr/>
          <p:nvPr/>
        </p:nvSpPr>
        <p:spPr>
          <a:xfrm>
            <a:off x="9129370" y="3666744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252" name="Shape 252"/>
          <p:cNvSpPr/>
          <p:nvPr/>
        </p:nvSpPr>
        <p:spPr>
          <a:xfrm>
            <a:off x="9312250" y="2651760"/>
            <a:ext cx="1971446" cy="217627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253" name="TextBox 253"/>
          <p:cNvSpPr txBox="1"/>
          <p:nvPr/>
        </p:nvSpPr>
        <p:spPr>
          <a:xfrm>
            <a:off x="9495130" y="2834640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254" name="TextBox 254"/>
          <p:cNvSpPr txBox="1"/>
          <p:nvPr/>
        </p:nvSpPr>
        <p:spPr>
          <a:xfrm>
            <a:off x="9495130" y="3145536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F5F2E9"/>
                </a:solidFill>
                <a:latin typeface="Hiragino Sans GB"/>
                <a:ea typeface="Hiragino Sans GB"/>
              </a:rPr>
              <a:t>确认结果</a:t>
            </a:r>
          </a:p>
        </p:txBody>
      </p:sp>
      <p:sp>
        <p:nvSpPr>
          <p:cNvPr id="255" name="TextBox 255"/>
          <p:cNvSpPr txBox="1"/>
          <p:nvPr/>
        </p:nvSpPr>
        <p:spPr>
          <a:xfrm>
            <a:off x="9495130" y="3602736"/>
            <a:ext cx="1605686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70" b="0">
                <a:solidFill>
                  <a:srgbClr val="A7B5BC"/>
                </a:solidFill>
                <a:latin typeface="Hiragino Sans GB"/>
                <a:ea typeface="Hiragino Sans GB"/>
              </a:rPr>
              <a:t>预受理或转人工</a:t>
            </a:r>
          </a:p>
        </p:txBody>
      </p:sp>
      <p:sp>
        <p:nvSpPr>
          <p:cNvPr id="256" name="Shape 256"/>
          <p:cNvSpPr/>
          <p:nvPr/>
        </p:nvSpPr>
        <p:spPr>
          <a:xfrm>
            <a:off x="749808" y="5285232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257" name="TextBox 257"/>
          <p:cNvSpPr txBox="1"/>
          <p:nvPr/>
        </p:nvSpPr>
        <p:spPr>
          <a:xfrm>
            <a:off x="932688" y="540410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展示重点</a:t>
            </a:r>
          </a:p>
        </p:txBody>
      </p:sp>
      <p:sp>
        <p:nvSpPr>
          <p:cNvPr id="258" name="TextBox 258"/>
          <p:cNvSpPr txBox="1"/>
          <p:nvPr/>
        </p:nvSpPr>
        <p:spPr>
          <a:xfrm>
            <a:off x="2103120" y="5376672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主流程控制在 6—8 步，复杂异常分支放到后续页面。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9" name="TextBox 259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第三节｜AI 项目作品集的结构与呈现</a:t>
            </a:r>
          </a:p>
        </p:txBody>
      </p:sp>
      <p:sp>
        <p:nvSpPr>
          <p:cNvPr id="260" name="TextBox 260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13</a:t>
            </a:r>
          </a:p>
        </p:txBody>
      </p:sp>
      <p:sp>
        <p:nvSpPr>
          <p:cNvPr id="261" name="Shape 261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62" name="Shape 262"/>
          <p:cNvSpPr/>
          <p:nvPr/>
        </p:nvSpPr>
        <p:spPr>
          <a:xfrm>
            <a:off x="694944" y="6501384"/>
            <a:ext cx="5404104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63" name="TextBox 263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核心页面与关键状态</a:t>
            </a:r>
          </a:p>
        </p:txBody>
      </p:sp>
      <p:sp>
        <p:nvSpPr>
          <p:cNvPr id="264" name="Shape 264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65" name="TextBox 265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既展示用户怎样完成任务，也展示异常时怎样处理</a:t>
            </a:r>
          </a:p>
        </p:txBody>
      </p:sp>
      <p:sp>
        <p:nvSpPr>
          <p:cNvPr id="266" name="Shape 266"/>
          <p:cNvSpPr/>
          <p:nvPr/>
        </p:nvSpPr>
        <p:spPr>
          <a:xfrm>
            <a:off x="749808" y="1901952"/>
            <a:ext cx="3358896" cy="30175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267" name="TextBox 267"/>
          <p:cNvSpPr txBox="1"/>
          <p:nvPr/>
        </p:nvSpPr>
        <p:spPr>
          <a:xfrm>
            <a:off x="932688" y="2084832"/>
            <a:ext cx="299313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268" name="TextBox 268"/>
          <p:cNvSpPr txBox="1"/>
          <p:nvPr/>
        </p:nvSpPr>
        <p:spPr>
          <a:xfrm>
            <a:off x="932688" y="2395728"/>
            <a:ext cx="299313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用户对话页面</a:t>
            </a:r>
          </a:p>
        </p:txBody>
      </p:sp>
      <p:sp>
        <p:nvSpPr>
          <p:cNvPr id="269" name="TextBox 269"/>
          <p:cNvSpPr txBox="1"/>
          <p:nvPr/>
        </p:nvSpPr>
        <p:spPr>
          <a:xfrm>
            <a:off x="932688" y="2852928"/>
            <a:ext cx="2993136" cy="19202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当前任务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已确认信息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待补充内容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允许修改选择</a:t>
            </a:r>
          </a:p>
        </p:txBody>
      </p:sp>
      <p:sp>
        <p:nvSpPr>
          <p:cNvPr id="270" name="Shape 270"/>
          <p:cNvSpPr/>
          <p:nvPr/>
        </p:nvSpPr>
        <p:spPr>
          <a:xfrm>
            <a:off x="4337304" y="1901952"/>
            <a:ext cx="3358896" cy="30175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271" name="TextBox 271"/>
          <p:cNvSpPr txBox="1"/>
          <p:nvPr/>
        </p:nvSpPr>
        <p:spPr>
          <a:xfrm>
            <a:off x="4520184" y="2084832"/>
            <a:ext cx="299313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272" name="TextBox 272"/>
          <p:cNvSpPr txBox="1"/>
          <p:nvPr/>
        </p:nvSpPr>
        <p:spPr>
          <a:xfrm>
            <a:off x="4520184" y="2395728"/>
            <a:ext cx="299313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订单确认页面</a:t>
            </a:r>
          </a:p>
        </p:txBody>
      </p:sp>
      <p:sp>
        <p:nvSpPr>
          <p:cNvPr id="273" name="TextBox 273"/>
          <p:cNvSpPr txBox="1"/>
          <p:nvPr/>
        </p:nvSpPr>
        <p:spPr>
          <a:xfrm>
            <a:off x="4520184" y="2852928"/>
            <a:ext cx="2993136" cy="19202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订单、商品、时间与金额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用户明确选择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更换订单后旧状态失效</a:t>
            </a:r>
          </a:p>
        </p:txBody>
      </p:sp>
      <p:sp>
        <p:nvSpPr>
          <p:cNvPr id="274" name="Shape 274"/>
          <p:cNvSpPr/>
          <p:nvPr/>
        </p:nvSpPr>
        <p:spPr>
          <a:xfrm>
            <a:off x="7924800" y="1901952"/>
            <a:ext cx="3358896" cy="30175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275" name="TextBox 275"/>
          <p:cNvSpPr txBox="1"/>
          <p:nvPr/>
        </p:nvSpPr>
        <p:spPr>
          <a:xfrm>
            <a:off x="8107680" y="2084832"/>
            <a:ext cx="299313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276" name="TextBox 276"/>
          <p:cNvSpPr txBox="1"/>
          <p:nvPr/>
        </p:nvSpPr>
        <p:spPr>
          <a:xfrm>
            <a:off x="8107680" y="2395728"/>
            <a:ext cx="299313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人工客服工作台</a:t>
            </a:r>
          </a:p>
        </p:txBody>
      </p:sp>
      <p:sp>
        <p:nvSpPr>
          <p:cNvPr id="277" name="TextBox 277"/>
          <p:cNvSpPr txBox="1"/>
          <p:nvPr/>
        </p:nvSpPr>
        <p:spPr>
          <a:xfrm>
            <a:off x="8107680" y="2852928"/>
            <a:ext cx="2993136" cy="19202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用户诉求摘要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订单与售后信息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转交原因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人工继续处理</a:t>
            </a:r>
          </a:p>
        </p:txBody>
      </p:sp>
      <p:sp>
        <p:nvSpPr>
          <p:cNvPr id="278" name="TextBox 278"/>
          <p:cNvSpPr txBox="1"/>
          <p:nvPr/>
        </p:nvSpPr>
        <p:spPr>
          <a:xfrm>
            <a:off x="859536" y="5184648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c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68D391"/>
                </a:solidFill>
                <a:latin typeface="Hiragino Sans GB"/>
                <a:ea typeface="Hiragino Sans GB"/>
              </a:rPr>
              <a:t>关键状态：信息不完整 · 用户改口 · 找不到订单 · 接口失败 · 低置信度 · 超权限请求 · 转人工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9" name="TextBox 279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第三节｜AI 项目作品集的结构与呈现</a:t>
            </a:r>
          </a:p>
        </p:txBody>
      </p:sp>
      <p:sp>
        <p:nvSpPr>
          <p:cNvPr id="280" name="TextBox 280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14</a:t>
            </a:r>
          </a:p>
        </p:txBody>
      </p:sp>
      <p:sp>
        <p:nvSpPr>
          <p:cNvPr id="281" name="Shape 281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82" name="Shape 282"/>
          <p:cNvSpPr/>
          <p:nvPr/>
        </p:nvSpPr>
        <p:spPr>
          <a:xfrm>
            <a:off x="694944" y="6501384"/>
            <a:ext cx="5819804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83" name="TextBox 283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AI 方案、能力分工与关键判断</a:t>
            </a:r>
          </a:p>
        </p:txBody>
      </p:sp>
      <p:sp>
        <p:nvSpPr>
          <p:cNvPr id="284" name="Shape 284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85" name="TextBox 285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解释页面上的关键动作分别由谁完成</a:t>
            </a:r>
          </a:p>
        </p:txBody>
      </p:sp>
      <p:sp>
        <p:nvSpPr>
          <p:cNvPr id="286" name="TextBox 286"/>
          <p:cNvSpPr txBox="1"/>
          <p:nvPr/>
        </p:nvSpPr>
        <p:spPr>
          <a:xfrm>
            <a:off x="859536" y="1847088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36D6C2"/>
                </a:solidFill>
                <a:latin typeface="Hiragino Sans GB"/>
                <a:ea typeface="Hiragino Sans GB"/>
              </a:rPr>
              <a:t>大模型</a:t>
            </a:r>
          </a:p>
        </p:txBody>
      </p:sp>
      <p:sp>
        <p:nvSpPr>
          <p:cNvPr id="287" name="TextBox 287"/>
          <p:cNvSpPr txBox="1"/>
          <p:nvPr/>
        </p:nvSpPr>
        <p:spPr>
          <a:xfrm>
            <a:off x="2907792" y="1847088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理解表达、识别任务、提取信息；不直接批准退款</a:t>
            </a:r>
          </a:p>
        </p:txBody>
      </p:sp>
      <p:sp>
        <p:nvSpPr>
          <p:cNvPr id="288" name="Shape 288"/>
          <p:cNvSpPr/>
          <p:nvPr/>
        </p:nvSpPr>
        <p:spPr>
          <a:xfrm>
            <a:off x="859536" y="2404872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89" name="TextBox 289"/>
          <p:cNvSpPr txBox="1"/>
          <p:nvPr/>
        </p:nvSpPr>
        <p:spPr>
          <a:xfrm>
            <a:off x="859536" y="2487168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0C565"/>
                </a:solidFill>
                <a:latin typeface="Hiragino Sans GB"/>
                <a:ea typeface="Hiragino Sans GB"/>
              </a:rPr>
              <a:t>知识库</a:t>
            </a:r>
          </a:p>
        </p:txBody>
      </p:sp>
      <p:sp>
        <p:nvSpPr>
          <p:cNvPr id="290" name="TextBox 290"/>
          <p:cNvSpPr txBox="1"/>
          <p:nvPr/>
        </p:nvSpPr>
        <p:spPr>
          <a:xfrm>
            <a:off x="2907792" y="2487168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提供政策和商品说明；不提供实时订单状态</a:t>
            </a:r>
          </a:p>
        </p:txBody>
      </p:sp>
      <p:sp>
        <p:nvSpPr>
          <p:cNvPr id="291" name="Shape 291"/>
          <p:cNvSpPr/>
          <p:nvPr/>
        </p:nvSpPr>
        <p:spPr>
          <a:xfrm>
            <a:off x="859536" y="3044952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92" name="TextBox 292"/>
          <p:cNvSpPr txBox="1"/>
          <p:nvPr/>
        </p:nvSpPr>
        <p:spPr>
          <a:xfrm>
            <a:off x="859536" y="3127248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F7657"/>
                </a:solidFill>
                <a:latin typeface="Hiragino Sans GB"/>
                <a:ea typeface="Hiragino Sans GB"/>
              </a:rPr>
              <a:t>Workflow</a:t>
            </a:r>
          </a:p>
        </p:txBody>
      </p:sp>
      <p:sp>
        <p:nvSpPr>
          <p:cNvPr id="293" name="TextBox 293"/>
          <p:cNvSpPr txBox="1"/>
          <p:nvPr/>
        </p:nvSpPr>
        <p:spPr>
          <a:xfrm>
            <a:off x="2907792" y="3127248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控制补问、确认、提交和异常分支；不自由生成业务规则</a:t>
            </a:r>
          </a:p>
        </p:txBody>
      </p:sp>
      <p:sp>
        <p:nvSpPr>
          <p:cNvPr id="294" name="Shape 294"/>
          <p:cNvSpPr/>
          <p:nvPr/>
        </p:nvSpPr>
        <p:spPr>
          <a:xfrm>
            <a:off x="859536" y="3685032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95" name="TextBox 295"/>
          <p:cNvSpPr txBox="1"/>
          <p:nvPr/>
        </p:nvSpPr>
        <p:spPr>
          <a:xfrm>
            <a:off x="859536" y="3767328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68D391"/>
                </a:solidFill>
                <a:latin typeface="Hiragino Sans GB"/>
                <a:ea typeface="Hiragino Sans GB"/>
              </a:rPr>
              <a:t>确定性规则</a:t>
            </a:r>
          </a:p>
        </p:txBody>
      </p:sp>
      <p:sp>
        <p:nvSpPr>
          <p:cNvPr id="296" name="TextBox 296"/>
          <p:cNvSpPr txBox="1"/>
          <p:nvPr/>
        </p:nvSpPr>
        <p:spPr>
          <a:xfrm>
            <a:off x="2907792" y="3767328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检查时间、金额、字段和资格条件；不理解复杂自然语言</a:t>
            </a:r>
          </a:p>
        </p:txBody>
      </p:sp>
      <p:sp>
        <p:nvSpPr>
          <p:cNvPr id="297" name="Shape 297"/>
          <p:cNvSpPr/>
          <p:nvPr/>
        </p:nvSpPr>
        <p:spPr>
          <a:xfrm>
            <a:off x="859536" y="4325112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298" name="TextBox 298"/>
          <p:cNvSpPr txBox="1"/>
          <p:nvPr/>
        </p:nvSpPr>
        <p:spPr>
          <a:xfrm>
            <a:off x="859536" y="4407408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36D6C2"/>
                </a:solidFill>
                <a:latin typeface="Hiragino Sans GB"/>
                <a:ea typeface="Hiragino Sans GB"/>
              </a:rPr>
              <a:t>人工客服</a:t>
            </a:r>
          </a:p>
        </p:txBody>
      </p:sp>
      <p:sp>
        <p:nvSpPr>
          <p:cNvPr id="299" name="TextBox 299"/>
          <p:cNvSpPr txBox="1"/>
          <p:nvPr/>
        </p:nvSpPr>
        <p:spPr>
          <a:xfrm>
            <a:off x="2907792" y="4407408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处理复杂、高风险和超权限问题；不重复询问已确认信息</a:t>
            </a:r>
          </a:p>
        </p:txBody>
      </p:sp>
      <p:sp>
        <p:nvSpPr>
          <p:cNvPr id="300" name="Shape 300"/>
          <p:cNvSpPr/>
          <p:nvPr/>
        </p:nvSpPr>
        <p:spPr>
          <a:xfrm>
            <a:off x="859536" y="4965192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01" name="Shape 301"/>
          <p:cNvSpPr/>
          <p:nvPr/>
        </p:nvSpPr>
        <p:spPr>
          <a:xfrm>
            <a:off x="749808" y="5248656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02" name="TextBox 302"/>
          <p:cNvSpPr txBox="1"/>
          <p:nvPr/>
        </p:nvSpPr>
        <p:spPr>
          <a:xfrm>
            <a:off x="932688" y="536752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关键判断</a:t>
            </a:r>
          </a:p>
        </p:txBody>
      </p:sp>
      <p:sp>
        <p:nvSpPr>
          <p:cNvPr id="303" name="TextBox 303"/>
          <p:cNvSpPr txBox="1"/>
          <p:nvPr/>
        </p:nvSpPr>
        <p:spPr>
          <a:xfrm>
            <a:off x="2103120" y="5340096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让能力分工对应到具体页面和流程，而不是堆一张技术架构图。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4" name="TextBox 304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第三节｜AI 项目作品集的结构与呈现</a:t>
            </a:r>
          </a:p>
        </p:txBody>
      </p:sp>
      <p:sp>
        <p:nvSpPr>
          <p:cNvPr id="305" name="TextBox 305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15</a:t>
            </a:r>
          </a:p>
        </p:txBody>
      </p:sp>
      <p:sp>
        <p:nvSpPr>
          <p:cNvPr id="306" name="Shape 306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07" name="Shape 307"/>
          <p:cNvSpPr/>
          <p:nvPr/>
        </p:nvSpPr>
        <p:spPr>
          <a:xfrm>
            <a:off x="694944" y="6501384"/>
            <a:ext cx="6235505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08" name="TextBox 308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上线结果、当前限制与个人贡献</a:t>
            </a:r>
          </a:p>
        </p:txBody>
      </p:sp>
      <p:sp>
        <p:nvSpPr>
          <p:cNvPr id="309" name="Shape 309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10" name="TextBox 310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准确交代项目进展，不把上线等同于长期价值</a:t>
            </a:r>
          </a:p>
        </p:txBody>
      </p:sp>
      <p:sp>
        <p:nvSpPr>
          <p:cNvPr id="311" name="Shape 311"/>
          <p:cNvSpPr/>
          <p:nvPr/>
        </p:nvSpPr>
        <p:spPr>
          <a:xfrm>
            <a:off x="749808" y="1920240"/>
            <a:ext cx="3358896" cy="295351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12" name="TextBox 312"/>
          <p:cNvSpPr txBox="1"/>
          <p:nvPr/>
        </p:nvSpPr>
        <p:spPr>
          <a:xfrm>
            <a:off x="932688" y="2103120"/>
            <a:ext cx="299313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313" name="TextBox 313"/>
          <p:cNvSpPr txBox="1"/>
          <p:nvPr/>
        </p:nvSpPr>
        <p:spPr>
          <a:xfrm>
            <a:off x="932688" y="2414016"/>
            <a:ext cx="299313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上线结果</a:t>
            </a:r>
          </a:p>
        </p:txBody>
      </p:sp>
      <p:sp>
        <p:nvSpPr>
          <p:cNvPr id="314" name="TextBox 314"/>
          <p:cNvSpPr txBox="1"/>
          <p:nvPr/>
        </p:nvSpPr>
        <p:spPr>
          <a:xfrm>
            <a:off x="932688" y="2871216"/>
            <a:ext cx="2993136" cy="18562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已经接入真实订单和售后系统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上线政策查询、订单确认、信息补齐和预受理</a:t>
            </a:r>
          </a:p>
        </p:txBody>
      </p:sp>
      <p:sp>
        <p:nvSpPr>
          <p:cNvPr id="315" name="Shape 315"/>
          <p:cNvSpPr/>
          <p:nvPr/>
        </p:nvSpPr>
        <p:spPr>
          <a:xfrm>
            <a:off x="4337304" y="1920240"/>
            <a:ext cx="3358896" cy="295351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16" name="TextBox 316"/>
          <p:cNvSpPr txBox="1"/>
          <p:nvPr/>
        </p:nvSpPr>
        <p:spPr>
          <a:xfrm>
            <a:off x="4520184" y="2103120"/>
            <a:ext cx="299313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317" name="TextBox 317"/>
          <p:cNvSpPr txBox="1"/>
          <p:nvPr/>
        </p:nvSpPr>
        <p:spPr>
          <a:xfrm>
            <a:off x="4520184" y="2414016"/>
            <a:ext cx="299313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当前限制</a:t>
            </a:r>
          </a:p>
        </p:txBody>
      </p:sp>
      <p:sp>
        <p:nvSpPr>
          <p:cNvPr id="318" name="TextBox 318"/>
          <p:cNvSpPr txBox="1"/>
          <p:nvPr/>
        </p:nvSpPr>
        <p:spPr>
          <a:xfrm>
            <a:off x="4520184" y="2871216"/>
            <a:ext cx="2993136" cy="18562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上线周期和样本规模有限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暂时不能判断长期成本和满意度变化</a:t>
            </a:r>
          </a:p>
        </p:txBody>
      </p:sp>
      <p:sp>
        <p:nvSpPr>
          <p:cNvPr id="319" name="Shape 319"/>
          <p:cNvSpPr/>
          <p:nvPr/>
        </p:nvSpPr>
        <p:spPr>
          <a:xfrm>
            <a:off x="7924800" y="1920240"/>
            <a:ext cx="3358896" cy="295351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20" name="TextBox 320"/>
          <p:cNvSpPr txBox="1"/>
          <p:nvPr/>
        </p:nvSpPr>
        <p:spPr>
          <a:xfrm>
            <a:off x="8107680" y="2103120"/>
            <a:ext cx="299313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321" name="TextBox 321"/>
          <p:cNvSpPr txBox="1"/>
          <p:nvPr/>
        </p:nvSpPr>
        <p:spPr>
          <a:xfrm>
            <a:off x="8107680" y="2414016"/>
            <a:ext cx="299313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个人贡献</a:t>
            </a:r>
          </a:p>
        </p:txBody>
      </p:sp>
      <p:sp>
        <p:nvSpPr>
          <p:cNvPr id="322" name="TextBox 322"/>
          <p:cNvSpPr txBox="1"/>
          <p:nvPr/>
        </p:nvSpPr>
        <p:spPr>
          <a:xfrm>
            <a:off x="8107680" y="2871216"/>
            <a:ext cx="2993136" cy="18562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流程、MVP、核心交互、能力分工、测试设计与问题分析</a:t>
            </a:r>
          </a:p>
        </p:txBody>
      </p:sp>
      <p:sp>
        <p:nvSpPr>
          <p:cNvPr id="323" name="Shape 323"/>
          <p:cNvSpPr/>
          <p:nvPr/>
        </p:nvSpPr>
        <p:spPr>
          <a:xfrm>
            <a:off x="749808" y="5230368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24" name="TextBox 324"/>
          <p:cNvSpPr txBox="1"/>
          <p:nvPr/>
        </p:nvSpPr>
        <p:spPr>
          <a:xfrm>
            <a:off x="932688" y="53492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课堂练习</a:t>
            </a:r>
          </a:p>
        </p:txBody>
      </p:sp>
      <p:sp>
        <p:nvSpPr>
          <p:cNvPr id="325" name="TextBox 325"/>
          <p:cNvSpPr txBox="1"/>
          <p:nvPr/>
        </p:nvSpPr>
        <p:spPr>
          <a:xfrm>
            <a:off x="2103120" y="5321808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按照八部分，每部分先写一句话。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6" name="TextBox 326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第四节｜90 秒项目介绍</a:t>
            </a:r>
          </a:p>
        </p:txBody>
      </p:sp>
      <p:sp>
        <p:nvSpPr>
          <p:cNvPr id="327" name="TextBox 327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16</a:t>
            </a:r>
          </a:p>
        </p:txBody>
      </p:sp>
      <p:sp>
        <p:nvSpPr>
          <p:cNvPr id="328" name="Shape 328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29" name="Shape 329"/>
          <p:cNvSpPr/>
          <p:nvPr/>
        </p:nvSpPr>
        <p:spPr>
          <a:xfrm>
            <a:off x="694944" y="6501384"/>
            <a:ext cx="6651205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30" name="TextBox 330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90 秒介绍的四个常见问题</a:t>
            </a:r>
          </a:p>
        </p:txBody>
      </p:sp>
      <p:sp>
        <p:nvSpPr>
          <p:cNvPr id="331" name="Shape 331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32" name="TextBox 332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项目介绍要建立主线，不是把作品集快速念一遍</a:t>
            </a:r>
          </a:p>
        </p:txBody>
      </p:sp>
      <p:sp>
        <p:nvSpPr>
          <p:cNvPr id="333" name="Shape 333"/>
          <p:cNvSpPr/>
          <p:nvPr/>
        </p:nvSpPr>
        <p:spPr>
          <a:xfrm>
            <a:off x="749808" y="2029968"/>
            <a:ext cx="2462022" cy="30175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34" name="TextBox 334"/>
          <p:cNvSpPr txBox="1"/>
          <p:nvPr/>
        </p:nvSpPr>
        <p:spPr>
          <a:xfrm>
            <a:off x="932688" y="2212848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335" name="TextBox 335"/>
          <p:cNvSpPr txBox="1"/>
          <p:nvPr/>
        </p:nvSpPr>
        <p:spPr>
          <a:xfrm>
            <a:off x="932688" y="2523744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5F2E9"/>
                </a:solidFill>
                <a:latin typeface="Hiragino Sans GB"/>
                <a:ea typeface="Hiragino Sans GB"/>
              </a:rPr>
              <a:t>从行业背景讲起</a:t>
            </a:r>
          </a:p>
        </p:txBody>
      </p:sp>
      <p:sp>
        <p:nvSpPr>
          <p:cNvPr id="336" name="TextBox 336"/>
          <p:cNvSpPr txBox="1"/>
          <p:nvPr/>
        </p:nvSpPr>
        <p:spPr>
          <a:xfrm>
            <a:off x="932688" y="2980944"/>
            <a:ext cx="2096262" cy="19202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讲了很久，仍不知道候选人做了什么</a:t>
            </a:r>
          </a:p>
        </p:txBody>
      </p:sp>
      <p:sp>
        <p:nvSpPr>
          <p:cNvPr id="337" name="Shape 337"/>
          <p:cNvSpPr/>
          <p:nvPr/>
        </p:nvSpPr>
        <p:spPr>
          <a:xfrm>
            <a:off x="3440430" y="2029968"/>
            <a:ext cx="2462022" cy="30175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38" name="TextBox 338"/>
          <p:cNvSpPr txBox="1"/>
          <p:nvPr/>
        </p:nvSpPr>
        <p:spPr>
          <a:xfrm>
            <a:off x="3623310" y="2212848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339" name="TextBox 339"/>
          <p:cNvSpPr txBox="1"/>
          <p:nvPr/>
        </p:nvSpPr>
        <p:spPr>
          <a:xfrm>
            <a:off x="3623310" y="2523744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5F2E9"/>
                </a:solidFill>
                <a:latin typeface="Hiragino Sans GB"/>
                <a:ea typeface="Hiragino Sans GB"/>
              </a:rPr>
              <a:t>罗列工具名称</a:t>
            </a:r>
          </a:p>
        </p:txBody>
      </p:sp>
      <p:sp>
        <p:nvSpPr>
          <p:cNvPr id="340" name="TextBox 340"/>
          <p:cNvSpPr txBox="1"/>
          <p:nvPr/>
        </p:nvSpPr>
        <p:spPr>
          <a:xfrm>
            <a:off x="3623310" y="2980944"/>
            <a:ext cx="2096262" cy="19202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只说明实现方式，没有说明产品任务</a:t>
            </a:r>
          </a:p>
        </p:txBody>
      </p:sp>
      <p:sp>
        <p:nvSpPr>
          <p:cNvPr id="341" name="Shape 341"/>
          <p:cNvSpPr/>
          <p:nvPr/>
        </p:nvSpPr>
        <p:spPr>
          <a:xfrm>
            <a:off x="6131052" y="2029968"/>
            <a:ext cx="2462022" cy="30175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42" name="TextBox 342"/>
          <p:cNvSpPr txBox="1"/>
          <p:nvPr/>
        </p:nvSpPr>
        <p:spPr>
          <a:xfrm>
            <a:off x="6313932" y="2212848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343" name="TextBox 343"/>
          <p:cNvSpPr txBox="1"/>
          <p:nvPr/>
        </p:nvSpPr>
        <p:spPr>
          <a:xfrm>
            <a:off x="6313932" y="2523744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5F2E9"/>
                </a:solidFill>
                <a:latin typeface="Hiragino Sans GB"/>
                <a:ea typeface="Hiragino Sans GB"/>
              </a:rPr>
              <a:t>逐项介绍功能</a:t>
            </a:r>
          </a:p>
        </p:txBody>
      </p:sp>
      <p:sp>
        <p:nvSpPr>
          <p:cNvPr id="344" name="TextBox 344"/>
          <p:cNvSpPr txBox="1"/>
          <p:nvPr/>
        </p:nvSpPr>
        <p:spPr>
          <a:xfrm>
            <a:off x="6313932" y="2980944"/>
            <a:ext cx="2096262" cy="19202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听不出用户怎样完成任务</a:t>
            </a:r>
          </a:p>
        </p:txBody>
      </p:sp>
      <p:sp>
        <p:nvSpPr>
          <p:cNvPr id="345" name="Shape 345"/>
          <p:cNvSpPr/>
          <p:nvPr/>
        </p:nvSpPr>
        <p:spPr>
          <a:xfrm>
            <a:off x="8821674" y="2029968"/>
            <a:ext cx="2462022" cy="3017520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46" name="TextBox 346"/>
          <p:cNvSpPr txBox="1"/>
          <p:nvPr/>
        </p:nvSpPr>
        <p:spPr>
          <a:xfrm>
            <a:off x="9004554" y="2212848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347" name="TextBox 347"/>
          <p:cNvSpPr txBox="1"/>
          <p:nvPr/>
        </p:nvSpPr>
        <p:spPr>
          <a:xfrm>
            <a:off x="9004554" y="2523744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5F2E9"/>
                </a:solidFill>
                <a:latin typeface="Hiragino Sans GB"/>
                <a:ea typeface="Hiragino Sans GB"/>
              </a:rPr>
              <a:t>只讲最终结果</a:t>
            </a:r>
          </a:p>
        </p:txBody>
      </p:sp>
      <p:sp>
        <p:nvSpPr>
          <p:cNvPr id="348" name="TextBox 348"/>
          <p:cNvSpPr txBox="1"/>
          <p:nvPr/>
        </p:nvSpPr>
        <p:spPr>
          <a:xfrm>
            <a:off x="9004554" y="2980944"/>
            <a:ext cx="2096262" cy="19202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范围、取舍和结果口径都不清楚</a:t>
            </a:r>
          </a:p>
        </p:txBody>
      </p:sp>
      <p:sp>
        <p:nvSpPr>
          <p:cNvPr id="349" name="Shape 349"/>
          <p:cNvSpPr/>
          <p:nvPr/>
        </p:nvSpPr>
        <p:spPr>
          <a:xfrm>
            <a:off x="749808" y="5413248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50" name="TextBox 350"/>
          <p:cNvSpPr txBox="1"/>
          <p:nvPr/>
        </p:nvSpPr>
        <p:spPr>
          <a:xfrm>
            <a:off x="932688" y="55321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目标</a:t>
            </a:r>
          </a:p>
        </p:txBody>
      </p:sp>
      <p:sp>
        <p:nvSpPr>
          <p:cNvPr id="351" name="TextBox 351"/>
          <p:cNvSpPr txBox="1"/>
          <p:nvPr/>
        </p:nvSpPr>
        <p:spPr>
          <a:xfrm>
            <a:off x="2103120" y="5504688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让面试官迅速听懂项目主线，并愿意沿着关键节点继续追问。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2" name="TextBox 352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第四节｜90 秒项目介绍</a:t>
            </a:r>
          </a:p>
        </p:txBody>
      </p:sp>
      <p:sp>
        <p:nvSpPr>
          <p:cNvPr id="353" name="TextBox 353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17</a:t>
            </a:r>
          </a:p>
        </p:txBody>
      </p:sp>
      <p:sp>
        <p:nvSpPr>
          <p:cNvPr id="354" name="Shape 354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55" name="Shape 355"/>
          <p:cNvSpPr/>
          <p:nvPr/>
        </p:nvSpPr>
        <p:spPr>
          <a:xfrm>
            <a:off x="694944" y="6501384"/>
            <a:ext cx="7066905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56" name="TextBox 356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五段式表达结构</a:t>
            </a:r>
          </a:p>
        </p:txBody>
      </p:sp>
      <p:sp>
        <p:nvSpPr>
          <p:cNvPr id="357" name="Shape 357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58" name="TextBox 358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每一段只保留一个重点</a:t>
            </a:r>
          </a:p>
        </p:txBody>
      </p:sp>
      <p:sp>
        <p:nvSpPr>
          <p:cNvPr id="359" name="Shape 359"/>
          <p:cNvSpPr/>
          <p:nvPr/>
        </p:nvSpPr>
        <p:spPr>
          <a:xfrm>
            <a:off x="768096" y="2212848"/>
            <a:ext cx="1971446" cy="248716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60" name="TextBox 360"/>
          <p:cNvSpPr txBox="1"/>
          <p:nvPr/>
        </p:nvSpPr>
        <p:spPr>
          <a:xfrm>
            <a:off x="950976" y="2395728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361" name="TextBox 361"/>
          <p:cNvSpPr txBox="1"/>
          <p:nvPr/>
        </p:nvSpPr>
        <p:spPr>
          <a:xfrm>
            <a:off x="950976" y="2706624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F5F2E9"/>
                </a:solidFill>
                <a:latin typeface="Hiragino Sans GB"/>
                <a:ea typeface="Hiragino Sans GB"/>
              </a:rPr>
              <a:t>15 秒</a:t>
            </a:r>
          </a:p>
        </p:txBody>
      </p:sp>
      <p:sp>
        <p:nvSpPr>
          <p:cNvPr id="362" name="TextBox 362"/>
          <p:cNvSpPr txBox="1"/>
          <p:nvPr/>
        </p:nvSpPr>
        <p:spPr>
          <a:xfrm>
            <a:off x="950976" y="3163824"/>
            <a:ext cx="1605686" cy="13898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A7B5BC"/>
                </a:solidFill>
                <a:latin typeface="Hiragino Sans GB"/>
                <a:ea typeface="Hiragino Sans GB"/>
              </a:rPr>
              <a:t>项目与问题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A7B5BC"/>
                </a:solidFill>
                <a:latin typeface="Hiragino Sans GB"/>
                <a:ea typeface="Hiragino Sans GB"/>
              </a:rPr>
              <a:t>为什么做</a:t>
            </a:r>
          </a:p>
        </p:txBody>
      </p:sp>
      <p:sp>
        <p:nvSpPr>
          <p:cNvPr id="363" name="Arrow 363"/>
          <p:cNvSpPr/>
          <p:nvPr/>
        </p:nvSpPr>
        <p:spPr>
          <a:xfrm>
            <a:off x="2721254" y="3383280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364" name="Shape 364"/>
          <p:cNvSpPr/>
          <p:nvPr/>
        </p:nvSpPr>
        <p:spPr>
          <a:xfrm>
            <a:off x="2904134" y="2212848"/>
            <a:ext cx="1971446" cy="248716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65" name="TextBox 365"/>
          <p:cNvSpPr txBox="1"/>
          <p:nvPr/>
        </p:nvSpPr>
        <p:spPr>
          <a:xfrm>
            <a:off x="3087014" y="2395728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366" name="TextBox 366"/>
          <p:cNvSpPr txBox="1"/>
          <p:nvPr/>
        </p:nvSpPr>
        <p:spPr>
          <a:xfrm>
            <a:off x="3087014" y="2706624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F5F2E9"/>
                </a:solidFill>
                <a:latin typeface="Hiragino Sans GB"/>
                <a:ea typeface="Hiragino Sans GB"/>
              </a:rPr>
              <a:t>20 秒</a:t>
            </a:r>
          </a:p>
        </p:txBody>
      </p:sp>
      <p:sp>
        <p:nvSpPr>
          <p:cNvPr id="367" name="TextBox 367"/>
          <p:cNvSpPr txBox="1"/>
          <p:nvPr/>
        </p:nvSpPr>
        <p:spPr>
          <a:xfrm>
            <a:off x="3087014" y="3163824"/>
            <a:ext cx="1605686" cy="13898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A7B5BC"/>
                </a:solidFill>
                <a:latin typeface="Hiragino Sans GB"/>
                <a:ea typeface="Hiragino Sans GB"/>
              </a:rPr>
              <a:t>产品形态与流程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A7B5BC"/>
                </a:solidFill>
                <a:latin typeface="Hiragino Sans GB"/>
                <a:ea typeface="Hiragino Sans GB"/>
              </a:rPr>
              <a:t>做成什么</a:t>
            </a:r>
          </a:p>
        </p:txBody>
      </p:sp>
      <p:sp>
        <p:nvSpPr>
          <p:cNvPr id="368" name="Arrow 368"/>
          <p:cNvSpPr/>
          <p:nvPr/>
        </p:nvSpPr>
        <p:spPr>
          <a:xfrm>
            <a:off x="4857293" y="3383280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369" name="Shape 369"/>
          <p:cNvSpPr/>
          <p:nvPr/>
        </p:nvSpPr>
        <p:spPr>
          <a:xfrm>
            <a:off x="5040173" y="2212848"/>
            <a:ext cx="1971446" cy="248716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70" name="TextBox 370"/>
          <p:cNvSpPr txBox="1"/>
          <p:nvPr/>
        </p:nvSpPr>
        <p:spPr>
          <a:xfrm>
            <a:off x="5223053" y="2395728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371" name="TextBox 371"/>
          <p:cNvSpPr txBox="1"/>
          <p:nvPr/>
        </p:nvSpPr>
        <p:spPr>
          <a:xfrm>
            <a:off x="5223053" y="2706624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F5F2E9"/>
                </a:solidFill>
                <a:latin typeface="Hiragino Sans GB"/>
                <a:ea typeface="Hiragino Sans GB"/>
              </a:rPr>
              <a:t>20 秒</a:t>
            </a:r>
          </a:p>
        </p:txBody>
      </p:sp>
      <p:sp>
        <p:nvSpPr>
          <p:cNvPr id="372" name="TextBox 372"/>
          <p:cNvSpPr txBox="1"/>
          <p:nvPr/>
        </p:nvSpPr>
        <p:spPr>
          <a:xfrm>
            <a:off x="5223053" y="3163824"/>
            <a:ext cx="1605686" cy="13898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A7B5BC"/>
                </a:solidFill>
                <a:latin typeface="Hiragino Sans GB"/>
                <a:ea typeface="Hiragino Sans GB"/>
              </a:rPr>
              <a:t>关键产品判断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A7B5BC"/>
                </a:solidFill>
                <a:latin typeface="Hiragino Sans GB"/>
                <a:ea typeface="Hiragino Sans GB"/>
              </a:rPr>
              <a:t>为什么这样做</a:t>
            </a:r>
          </a:p>
        </p:txBody>
      </p:sp>
      <p:sp>
        <p:nvSpPr>
          <p:cNvPr id="373" name="Arrow 373"/>
          <p:cNvSpPr/>
          <p:nvPr/>
        </p:nvSpPr>
        <p:spPr>
          <a:xfrm>
            <a:off x="6993331" y="3383280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374" name="Shape 374"/>
          <p:cNvSpPr/>
          <p:nvPr/>
        </p:nvSpPr>
        <p:spPr>
          <a:xfrm>
            <a:off x="7176211" y="2212848"/>
            <a:ext cx="1971446" cy="248716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75" name="TextBox 375"/>
          <p:cNvSpPr txBox="1"/>
          <p:nvPr/>
        </p:nvSpPr>
        <p:spPr>
          <a:xfrm>
            <a:off x="7359091" y="2395728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376" name="TextBox 376"/>
          <p:cNvSpPr txBox="1"/>
          <p:nvPr/>
        </p:nvSpPr>
        <p:spPr>
          <a:xfrm>
            <a:off x="7359091" y="2706624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F5F2E9"/>
                </a:solidFill>
                <a:latin typeface="Hiragino Sans GB"/>
                <a:ea typeface="Hiragino Sans GB"/>
              </a:rPr>
              <a:t>20 秒</a:t>
            </a:r>
          </a:p>
        </p:txBody>
      </p:sp>
      <p:sp>
        <p:nvSpPr>
          <p:cNvPr id="377" name="TextBox 377"/>
          <p:cNvSpPr txBox="1"/>
          <p:nvPr/>
        </p:nvSpPr>
        <p:spPr>
          <a:xfrm>
            <a:off x="7359091" y="3163824"/>
            <a:ext cx="1605686" cy="13898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A7B5BC"/>
                </a:solidFill>
                <a:latin typeface="Hiragino Sans GB"/>
                <a:ea typeface="Hiragino Sans GB"/>
              </a:rPr>
              <a:t>问题与修改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A7B5BC"/>
                </a:solidFill>
                <a:latin typeface="Hiragino Sans GB"/>
                <a:ea typeface="Hiragino Sans GB"/>
              </a:rPr>
              <a:t>怎样迭代</a:t>
            </a:r>
          </a:p>
        </p:txBody>
      </p:sp>
      <p:sp>
        <p:nvSpPr>
          <p:cNvPr id="378" name="Arrow 378"/>
          <p:cNvSpPr/>
          <p:nvPr/>
        </p:nvSpPr>
        <p:spPr>
          <a:xfrm>
            <a:off x="9129370" y="3383280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379" name="Shape 379"/>
          <p:cNvSpPr/>
          <p:nvPr/>
        </p:nvSpPr>
        <p:spPr>
          <a:xfrm>
            <a:off x="9312250" y="2212848"/>
            <a:ext cx="1971446" cy="2487168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80" name="TextBox 380"/>
          <p:cNvSpPr txBox="1"/>
          <p:nvPr/>
        </p:nvSpPr>
        <p:spPr>
          <a:xfrm>
            <a:off x="9495130" y="2395728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381" name="TextBox 381"/>
          <p:cNvSpPr txBox="1"/>
          <p:nvPr/>
        </p:nvSpPr>
        <p:spPr>
          <a:xfrm>
            <a:off x="9495130" y="2706624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F5F2E9"/>
                </a:solidFill>
                <a:latin typeface="Hiragino Sans GB"/>
                <a:ea typeface="Hiragino Sans GB"/>
              </a:rPr>
              <a:t>15 秒</a:t>
            </a:r>
          </a:p>
        </p:txBody>
      </p:sp>
      <p:sp>
        <p:nvSpPr>
          <p:cNvPr id="382" name="TextBox 382"/>
          <p:cNvSpPr txBox="1"/>
          <p:nvPr/>
        </p:nvSpPr>
        <p:spPr>
          <a:xfrm>
            <a:off x="9495130" y="3163824"/>
            <a:ext cx="1605686" cy="138988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A7B5BC"/>
                </a:solidFill>
                <a:latin typeface="Hiragino Sans GB"/>
                <a:ea typeface="Hiragino Sans GB"/>
              </a:rPr>
              <a:t>上线、贡献与限制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A7B5BC"/>
                </a:solidFill>
                <a:latin typeface="Hiragino Sans GB"/>
                <a:ea typeface="Hiragino Sans GB"/>
              </a:rPr>
              <a:t>做到什么程度</a:t>
            </a:r>
          </a:p>
        </p:txBody>
      </p:sp>
      <p:sp>
        <p:nvSpPr>
          <p:cNvPr id="383" name="Shape 383"/>
          <p:cNvSpPr/>
          <p:nvPr/>
        </p:nvSpPr>
        <p:spPr>
          <a:xfrm>
            <a:off x="749808" y="5175504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384" name="TextBox 384"/>
          <p:cNvSpPr txBox="1"/>
          <p:nvPr/>
        </p:nvSpPr>
        <p:spPr>
          <a:xfrm>
            <a:off x="932688" y="529437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使用方法</a:t>
            </a:r>
          </a:p>
        </p:txBody>
      </p:sp>
      <p:sp>
        <p:nvSpPr>
          <p:cNvPr id="385" name="TextBox 385"/>
          <p:cNvSpPr txBox="1"/>
          <p:nvPr/>
        </p:nvSpPr>
        <p:spPr>
          <a:xfrm>
            <a:off x="2103120" y="5266944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结构帮助检查主线，不要求逐字背诵。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6" name="TextBox 386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第四节｜90 秒项目介绍</a:t>
            </a:r>
          </a:p>
        </p:txBody>
      </p:sp>
      <p:sp>
        <p:nvSpPr>
          <p:cNvPr id="387" name="TextBox 387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18</a:t>
            </a:r>
          </a:p>
        </p:txBody>
      </p:sp>
      <p:sp>
        <p:nvSpPr>
          <p:cNvPr id="388" name="Shape 388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89" name="Shape 389"/>
          <p:cNvSpPr/>
          <p:nvPr/>
        </p:nvSpPr>
        <p:spPr>
          <a:xfrm>
            <a:off x="694944" y="6501384"/>
            <a:ext cx="7482606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90" name="TextBox 390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智能客服项目示范</a:t>
            </a:r>
          </a:p>
        </p:txBody>
      </p:sp>
      <p:sp>
        <p:nvSpPr>
          <p:cNvPr id="391" name="Shape 391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92" name="TextBox 392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一条清楚的项目故事</a:t>
            </a:r>
          </a:p>
        </p:txBody>
      </p:sp>
      <p:sp>
        <p:nvSpPr>
          <p:cNvPr id="393" name="TextBox 393"/>
          <p:cNvSpPr txBox="1"/>
          <p:nvPr/>
        </p:nvSpPr>
        <p:spPr>
          <a:xfrm>
            <a:off x="859536" y="1828800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36D6C2"/>
                </a:solidFill>
                <a:latin typeface="Hiragino Sans GB"/>
                <a:ea typeface="Hiragino Sans GB"/>
              </a:rPr>
              <a:t>项目与问题</a:t>
            </a:r>
          </a:p>
        </p:txBody>
      </p:sp>
      <p:sp>
        <p:nvSpPr>
          <p:cNvPr id="394" name="TextBox 394"/>
          <p:cNvSpPr txBox="1"/>
          <p:nvPr/>
        </p:nvSpPr>
        <p:spPr>
          <a:xfrm>
            <a:off x="2907792" y="1828800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电商售后智能服务，优先解决低风险售后问题。</a:t>
            </a:r>
          </a:p>
        </p:txBody>
      </p:sp>
      <p:sp>
        <p:nvSpPr>
          <p:cNvPr id="395" name="Shape 395"/>
          <p:cNvSpPr/>
          <p:nvPr/>
        </p:nvSpPr>
        <p:spPr>
          <a:xfrm>
            <a:off x="859536" y="2386584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96" name="TextBox 396"/>
          <p:cNvSpPr txBox="1"/>
          <p:nvPr/>
        </p:nvSpPr>
        <p:spPr>
          <a:xfrm>
            <a:off x="859536" y="2487168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36D6C2"/>
                </a:solidFill>
                <a:latin typeface="Hiragino Sans GB"/>
                <a:ea typeface="Hiragino Sans GB"/>
              </a:rPr>
              <a:t>产品与流程</a:t>
            </a:r>
          </a:p>
        </p:txBody>
      </p:sp>
      <p:sp>
        <p:nvSpPr>
          <p:cNvPr id="397" name="TextBox 397"/>
          <p:cNvSpPr txBox="1"/>
          <p:nvPr/>
        </p:nvSpPr>
        <p:spPr>
          <a:xfrm>
            <a:off x="2907792" y="2487168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对话助手连接人工工作台及订单系统，完成预受理或转人工。</a:t>
            </a:r>
          </a:p>
        </p:txBody>
      </p:sp>
      <p:sp>
        <p:nvSpPr>
          <p:cNvPr id="398" name="Shape 398"/>
          <p:cNvSpPr/>
          <p:nvPr/>
        </p:nvSpPr>
        <p:spPr>
          <a:xfrm>
            <a:off x="859536" y="3044952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399" name="TextBox 399"/>
          <p:cNvSpPr txBox="1"/>
          <p:nvPr/>
        </p:nvSpPr>
        <p:spPr>
          <a:xfrm>
            <a:off x="859536" y="3145536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0C565"/>
                </a:solidFill>
                <a:latin typeface="Hiragino Sans GB"/>
                <a:ea typeface="Hiragino Sans GB"/>
              </a:rPr>
              <a:t>关键判断</a:t>
            </a:r>
          </a:p>
        </p:txBody>
      </p:sp>
      <p:sp>
        <p:nvSpPr>
          <p:cNvPr id="400" name="TextBox 400"/>
          <p:cNvSpPr txBox="1"/>
          <p:nvPr/>
        </p:nvSpPr>
        <p:spPr>
          <a:xfrm>
            <a:off x="2907792" y="3145536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大模型理解表达，确定性规则判断退款资格。</a:t>
            </a:r>
          </a:p>
        </p:txBody>
      </p:sp>
      <p:sp>
        <p:nvSpPr>
          <p:cNvPr id="401" name="Shape 401"/>
          <p:cNvSpPr/>
          <p:nvPr/>
        </p:nvSpPr>
        <p:spPr>
          <a:xfrm>
            <a:off x="859536" y="3703320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02" name="TextBox 402"/>
          <p:cNvSpPr txBox="1"/>
          <p:nvPr/>
        </p:nvSpPr>
        <p:spPr>
          <a:xfrm>
            <a:off x="859536" y="3803904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F7657"/>
                </a:solidFill>
                <a:latin typeface="Hiragino Sans GB"/>
                <a:ea typeface="Hiragino Sans GB"/>
              </a:rPr>
              <a:t>问题与修改</a:t>
            </a:r>
          </a:p>
        </p:txBody>
      </p:sp>
      <p:sp>
        <p:nvSpPr>
          <p:cNvPr id="403" name="TextBox 403"/>
          <p:cNvSpPr txBox="1"/>
          <p:nvPr/>
        </p:nvSpPr>
        <p:spPr>
          <a:xfrm>
            <a:off x="2907792" y="3803904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更换订单后旧状态未失效，增加状态清空并重新检查。</a:t>
            </a:r>
          </a:p>
        </p:txBody>
      </p:sp>
      <p:sp>
        <p:nvSpPr>
          <p:cNvPr id="404" name="Shape 404"/>
          <p:cNvSpPr/>
          <p:nvPr/>
        </p:nvSpPr>
        <p:spPr>
          <a:xfrm>
            <a:off x="859536" y="4361688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05" name="TextBox 405"/>
          <p:cNvSpPr txBox="1"/>
          <p:nvPr/>
        </p:nvSpPr>
        <p:spPr>
          <a:xfrm>
            <a:off x="859536" y="4462272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68D391"/>
                </a:solidFill>
                <a:latin typeface="Hiragino Sans GB"/>
                <a:ea typeface="Hiragino Sans GB"/>
              </a:rPr>
              <a:t>上线与限制</a:t>
            </a:r>
          </a:p>
        </p:txBody>
      </p:sp>
      <p:sp>
        <p:nvSpPr>
          <p:cNvPr id="406" name="TextBox 406"/>
          <p:cNvSpPr txBox="1"/>
          <p:nvPr/>
        </p:nvSpPr>
        <p:spPr>
          <a:xfrm>
            <a:off x="2907792" y="4462272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核心流程已在真实环境运行，长期价值仍需更多样本。</a:t>
            </a:r>
          </a:p>
        </p:txBody>
      </p:sp>
      <p:sp>
        <p:nvSpPr>
          <p:cNvPr id="407" name="Shape 407"/>
          <p:cNvSpPr/>
          <p:nvPr/>
        </p:nvSpPr>
        <p:spPr>
          <a:xfrm>
            <a:off x="859536" y="5020056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08" name="Shape 408"/>
          <p:cNvSpPr/>
          <p:nvPr/>
        </p:nvSpPr>
        <p:spPr>
          <a:xfrm>
            <a:off x="749808" y="5248656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409" name="TextBox 409"/>
          <p:cNvSpPr txBox="1"/>
          <p:nvPr/>
        </p:nvSpPr>
        <p:spPr>
          <a:xfrm>
            <a:off x="932688" y="536752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追问入口</a:t>
            </a:r>
          </a:p>
        </p:txBody>
      </p:sp>
      <p:sp>
        <p:nvSpPr>
          <p:cNvPr id="410" name="TextBox 410"/>
          <p:cNvSpPr txBox="1"/>
          <p:nvPr/>
        </p:nvSpPr>
        <p:spPr>
          <a:xfrm>
            <a:off x="2103120" y="5340096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为什么这样分工？状态问题怎样定位？上线后观察什么？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1" name="TextBox 411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第四节｜90 秒项目介绍</a:t>
            </a:r>
          </a:p>
        </p:txBody>
      </p:sp>
      <p:sp>
        <p:nvSpPr>
          <p:cNvPr id="412" name="TextBox 412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19</a:t>
            </a:r>
          </a:p>
        </p:txBody>
      </p:sp>
      <p:sp>
        <p:nvSpPr>
          <p:cNvPr id="413" name="Shape 413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14" name="Shape 414"/>
          <p:cNvSpPr/>
          <p:nvPr/>
        </p:nvSpPr>
        <p:spPr>
          <a:xfrm>
            <a:off x="694944" y="6501384"/>
            <a:ext cx="7898306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15" name="TextBox 415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90 秒里保留什么、删掉什么</a:t>
            </a:r>
          </a:p>
        </p:txBody>
      </p:sp>
      <p:sp>
        <p:nvSpPr>
          <p:cNvPr id="416" name="Shape 416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17" name="TextBox 417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开场只保留能够建立项目主线的内容</a:t>
            </a:r>
          </a:p>
        </p:txBody>
      </p:sp>
      <p:sp>
        <p:nvSpPr>
          <p:cNvPr id="418" name="Shape 418"/>
          <p:cNvSpPr/>
          <p:nvPr/>
        </p:nvSpPr>
        <p:spPr>
          <a:xfrm>
            <a:off x="749808" y="1920240"/>
            <a:ext cx="5093208" cy="3429000"/>
          </a:xfrm>
          <a:prstGeom prst="roundRect">
            <a:avLst/>
          </a:prstGeom>
          <a:solidFill>
            <a:srgbClr val="102B37"/>
          </a:solidFill>
          <a:ln w="11430">
            <a:solidFill>
              <a:srgbClr val="36D6C2"/>
            </a:solidFill>
          </a:ln>
          <a:effectLst/>
        </p:spPr>
        <p:txBody>
          <a:bodyPr/>
          <a:lstStyle/>
          <a:p/>
        </p:txBody>
      </p:sp>
      <p:sp>
        <p:nvSpPr>
          <p:cNvPr id="419" name="TextBox 419"/>
          <p:cNvSpPr txBox="1"/>
          <p:nvPr/>
        </p:nvSpPr>
        <p:spPr>
          <a:xfrm>
            <a:off x="1005840" y="2139696"/>
            <a:ext cx="4590288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36D6C2"/>
                </a:solidFill>
                <a:latin typeface="Hiragino Sans GB"/>
                <a:ea typeface="Hiragino Sans GB"/>
              </a:rPr>
              <a:t>建议保留</a:t>
            </a:r>
          </a:p>
        </p:txBody>
      </p:sp>
      <p:sp>
        <p:nvSpPr>
          <p:cNvPr id="420" name="TextBox 420"/>
          <p:cNvSpPr txBox="1"/>
          <p:nvPr/>
        </p:nvSpPr>
        <p:spPr>
          <a:xfrm>
            <a:off x="1005840" y="2724912"/>
            <a:ext cx="4498848" cy="226771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具体业务问题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一条核心用户流程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一个关键产品判断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一个典型问题与修改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当前上线范围与个人贡献</a:t>
            </a:r>
          </a:p>
        </p:txBody>
      </p:sp>
      <p:sp>
        <p:nvSpPr>
          <p:cNvPr id="421" name="Shape 421"/>
          <p:cNvSpPr/>
          <p:nvPr/>
        </p:nvSpPr>
        <p:spPr>
          <a:xfrm>
            <a:off x="6126480" y="1920240"/>
            <a:ext cx="5157216" cy="3429000"/>
          </a:xfrm>
          <a:prstGeom prst="roundRect">
            <a:avLst/>
          </a:prstGeom>
          <a:solidFill>
            <a:srgbClr val="102B37"/>
          </a:solidFill>
          <a:ln w="11430">
            <a:solidFill>
              <a:srgbClr val="FF7657"/>
            </a:solidFill>
          </a:ln>
          <a:effectLst/>
        </p:spPr>
        <p:txBody>
          <a:bodyPr/>
          <a:lstStyle/>
          <a:p/>
        </p:txBody>
      </p:sp>
      <p:sp>
        <p:nvSpPr>
          <p:cNvPr id="422" name="TextBox 422"/>
          <p:cNvSpPr txBox="1"/>
          <p:nvPr/>
        </p:nvSpPr>
        <p:spPr>
          <a:xfrm>
            <a:off x="6382512" y="2139696"/>
            <a:ext cx="4590288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FF7657"/>
                </a:solidFill>
                <a:latin typeface="Hiragino Sans GB"/>
                <a:ea typeface="Hiragino Sans GB"/>
              </a:rPr>
              <a:t>删掉或后置</a:t>
            </a:r>
          </a:p>
        </p:txBody>
      </p:sp>
      <p:sp>
        <p:nvSpPr>
          <p:cNvPr id="423" name="TextBox 423"/>
          <p:cNvSpPr txBox="1"/>
          <p:nvPr/>
        </p:nvSpPr>
        <p:spPr>
          <a:xfrm>
            <a:off x="6382512" y="2724912"/>
            <a:ext cx="4535424" cy="226771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宏观行业背景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完整功能清单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所有工具和模型名称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每一个页面细节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没有统计支持的效果描述</a:t>
            </a:r>
          </a:p>
        </p:txBody>
      </p:sp>
      <p:sp>
        <p:nvSpPr>
          <p:cNvPr id="424" name="Shape 424"/>
          <p:cNvSpPr/>
          <p:nvPr/>
        </p:nvSpPr>
        <p:spPr>
          <a:xfrm>
            <a:off x="749808" y="5559552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425" name="TextBox 425"/>
          <p:cNvSpPr txBox="1"/>
          <p:nvPr/>
        </p:nvSpPr>
        <p:spPr>
          <a:xfrm>
            <a:off x="932688" y="567842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判断标准</a:t>
            </a:r>
          </a:p>
        </p:txBody>
      </p:sp>
      <p:sp>
        <p:nvSpPr>
          <p:cNvPr id="426" name="TextBox 426"/>
          <p:cNvSpPr txBox="1"/>
          <p:nvPr/>
        </p:nvSpPr>
        <p:spPr>
          <a:xfrm>
            <a:off x="2103120" y="5650992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能够进入后续追问的内容，不需要全部塞进开场。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27" name="TextBox 427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第四节｜90 秒项目介绍</a:t>
            </a:r>
          </a:p>
        </p:txBody>
      </p:sp>
      <p:sp>
        <p:nvSpPr>
          <p:cNvPr id="428" name="TextBox 428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20</a:t>
            </a:r>
          </a:p>
        </p:txBody>
      </p:sp>
      <p:sp>
        <p:nvSpPr>
          <p:cNvPr id="429" name="Shape 429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30" name="Shape 430"/>
          <p:cNvSpPr/>
          <p:nvPr/>
        </p:nvSpPr>
        <p:spPr>
          <a:xfrm>
            <a:off x="694944" y="6501384"/>
            <a:ext cx="8314006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31" name="TextBox 431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五行提纲与点评标准</a:t>
            </a:r>
          </a:p>
        </p:txBody>
      </p:sp>
      <p:sp>
        <p:nvSpPr>
          <p:cNvPr id="432" name="Shape 432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33" name="TextBox 433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先写提纲，再连成完整表达</a:t>
            </a:r>
          </a:p>
        </p:txBody>
      </p:sp>
      <p:sp>
        <p:nvSpPr>
          <p:cNvPr id="434" name="Shape 434"/>
          <p:cNvSpPr/>
          <p:nvPr/>
        </p:nvSpPr>
        <p:spPr>
          <a:xfrm>
            <a:off x="749808" y="1828800"/>
            <a:ext cx="6537960" cy="3703320"/>
          </a:xfrm>
          <a:prstGeom prst="roundRect">
            <a:avLst/>
          </a:prstGeom>
          <a:solidFill>
            <a:srgbClr val="102B37"/>
          </a:solidFill>
          <a:ln w="10160">
            <a:solidFill>
              <a:srgbClr val="36D6C2"/>
            </a:solidFill>
          </a:ln>
          <a:effectLst/>
        </p:spPr>
        <p:txBody>
          <a:bodyPr/>
          <a:lstStyle/>
          <a:p/>
        </p:txBody>
      </p:sp>
      <p:sp>
        <p:nvSpPr>
          <p:cNvPr id="435" name="TextBox 435"/>
          <p:cNvSpPr txBox="1"/>
          <p:nvPr/>
        </p:nvSpPr>
        <p:spPr>
          <a:xfrm>
            <a:off x="1005840" y="2066544"/>
            <a:ext cx="601675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36D6C2"/>
                </a:solidFill>
                <a:latin typeface="Hiragino Sans GB"/>
                <a:ea typeface="Hiragino Sans GB"/>
              </a:rPr>
              <a:t>学员先写五行</a:t>
            </a:r>
          </a:p>
        </p:txBody>
      </p:sp>
      <p:sp>
        <p:nvSpPr>
          <p:cNvPr id="436" name="TextBox 436"/>
          <p:cNvSpPr txBox="1"/>
          <p:nvPr/>
        </p:nvSpPr>
        <p:spPr>
          <a:xfrm>
            <a:off x="1005840" y="2651760"/>
            <a:ext cx="5925312" cy="254203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30" b="0">
                <a:solidFill>
                  <a:srgbClr val="F5F2E9"/>
                </a:solidFill>
                <a:latin typeface="Hiragino Sans GB"/>
                <a:ea typeface="Hiragino Sans GB"/>
              </a:rPr>
              <a:t>1  我做的是______，主要解决______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30" b="0">
                <a:solidFill>
                  <a:srgbClr val="F5F2E9"/>
                </a:solidFill>
                <a:latin typeface="Hiragino Sans GB"/>
                <a:ea typeface="Hiragino Sans GB"/>
              </a:rPr>
              <a:t>2  产品由______组成，用户通过______完成任务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30" b="0">
                <a:solidFill>
                  <a:srgbClr val="F5F2E9"/>
                </a:solidFill>
                <a:latin typeface="Hiragino Sans GB"/>
                <a:ea typeface="Hiragino Sans GB"/>
              </a:rPr>
              <a:t>3  我决定______，没有选择______，因为______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30" b="0">
                <a:solidFill>
                  <a:srgbClr val="F5F2E9"/>
                </a:solidFill>
                <a:latin typeface="Hiragino Sans GB"/>
                <a:ea typeface="Hiragino Sans GB"/>
              </a:rPr>
              <a:t>4  我们发现______，后来调整了______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30" b="0">
                <a:solidFill>
                  <a:srgbClr val="F5F2E9"/>
                </a:solidFill>
                <a:latin typeface="Hiragino Sans GB"/>
                <a:ea typeface="Hiragino Sans GB"/>
              </a:rPr>
              <a:t>5  目前已经上线______，当前限制是______</a:t>
            </a:r>
          </a:p>
        </p:txBody>
      </p:sp>
      <p:sp>
        <p:nvSpPr>
          <p:cNvPr id="437" name="Shape 437"/>
          <p:cNvSpPr/>
          <p:nvPr/>
        </p:nvSpPr>
        <p:spPr>
          <a:xfrm>
            <a:off x="7516368" y="1828800"/>
            <a:ext cx="3767328" cy="3703320"/>
          </a:xfrm>
          <a:prstGeom prst="roundRect">
            <a:avLst/>
          </a:prstGeom>
          <a:solidFill>
            <a:srgbClr val="133843"/>
          </a:solidFill>
          <a:ln w="10160">
            <a:solidFill>
              <a:srgbClr val="FF7657"/>
            </a:solidFill>
          </a:ln>
          <a:effectLst/>
        </p:spPr>
        <p:txBody>
          <a:bodyPr/>
          <a:lstStyle/>
          <a:p/>
        </p:txBody>
      </p:sp>
      <p:sp>
        <p:nvSpPr>
          <p:cNvPr id="438" name="TextBox 438"/>
          <p:cNvSpPr txBox="1"/>
          <p:nvPr/>
        </p:nvSpPr>
        <p:spPr>
          <a:xfrm>
            <a:off x="7772400" y="2066544"/>
            <a:ext cx="3255264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F7657"/>
                </a:solidFill>
                <a:latin typeface="Hiragino Sans GB"/>
                <a:ea typeface="Hiragino Sans GB"/>
              </a:rPr>
              <a:t>老师只看五项</a:t>
            </a:r>
          </a:p>
        </p:txBody>
      </p:sp>
      <p:sp>
        <p:nvSpPr>
          <p:cNvPr id="439" name="TextBox 439"/>
          <p:cNvSpPr txBox="1"/>
          <p:nvPr/>
        </p:nvSpPr>
        <p:spPr>
          <a:xfrm>
            <a:off x="7772400" y="2670048"/>
            <a:ext cx="3163824" cy="239572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问题是否具体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产品是否可见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取舍是否明确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迭代是否真实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范围是否准确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40" name="TextBox 440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第五节｜项目面试的追问逻辑</a:t>
            </a:r>
          </a:p>
        </p:txBody>
      </p:sp>
      <p:sp>
        <p:nvSpPr>
          <p:cNvPr id="441" name="TextBox 441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21</a:t>
            </a:r>
          </a:p>
        </p:txBody>
      </p:sp>
      <p:sp>
        <p:nvSpPr>
          <p:cNvPr id="442" name="Shape 442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43" name="Shape 443"/>
          <p:cNvSpPr/>
          <p:nvPr/>
        </p:nvSpPr>
        <p:spPr>
          <a:xfrm>
            <a:off x="694944" y="6501384"/>
            <a:ext cx="8729706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44" name="TextBox 444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项目介绍留下四个追问入口</a:t>
            </a:r>
          </a:p>
        </p:txBody>
      </p:sp>
      <p:sp>
        <p:nvSpPr>
          <p:cNvPr id="445" name="Shape 445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46" name="TextBox 446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面试不是随机题库，而是连续核对</a:t>
            </a:r>
          </a:p>
        </p:txBody>
      </p:sp>
      <p:sp>
        <p:nvSpPr>
          <p:cNvPr id="447" name="Shape 447"/>
          <p:cNvSpPr/>
          <p:nvPr/>
        </p:nvSpPr>
        <p:spPr>
          <a:xfrm>
            <a:off x="749808" y="2103120"/>
            <a:ext cx="2462022" cy="290779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448" name="TextBox 448"/>
          <p:cNvSpPr txBox="1"/>
          <p:nvPr/>
        </p:nvSpPr>
        <p:spPr>
          <a:xfrm>
            <a:off x="932688" y="2286000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449" name="TextBox 449"/>
          <p:cNvSpPr txBox="1"/>
          <p:nvPr/>
        </p:nvSpPr>
        <p:spPr>
          <a:xfrm>
            <a:off x="932688" y="2596896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业务问题</a:t>
            </a:r>
          </a:p>
        </p:txBody>
      </p:sp>
      <p:sp>
        <p:nvSpPr>
          <p:cNvPr id="450" name="TextBox 450"/>
          <p:cNvSpPr txBox="1"/>
          <p:nvPr/>
        </p:nvSpPr>
        <p:spPr>
          <a:xfrm>
            <a:off x="932688" y="3054096"/>
            <a:ext cx="2096262" cy="181051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这个问题具体怎样发生？</a:t>
            </a:r>
          </a:p>
        </p:txBody>
      </p:sp>
      <p:sp>
        <p:nvSpPr>
          <p:cNvPr id="451" name="Shape 451"/>
          <p:cNvSpPr/>
          <p:nvPr/>
        </p:nvSpPr>
        <p:spPr>
          <a:xfrm>
            <a:off x="3440430" y="2103120"/>
            <a:ext cx="2462022" cy="290779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452" name="TextBox 452"/>
          <p:cNvSpPr txBox="1"/>
          <p:nvPr/>
        </p:nvSpPr>
        <p:spPr>
          <a:xfrm>
            <a:off x="3623310" y="2286000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453" name="TextBox 453"/>
          <p:cNvSpPr txBox="1"/>
          <p:nvPr/>
        </p:nvSpPr>
        <p:spPr>
          <a:xfrm>
            <a:off x="3623310" y="2596896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关键选择</a:t>
            </a:r>
          </a:p>
        </p:txBody>
      </p:sp>
      <p:sp>
        <p:nvSpPr>
          <p:cNvPr id="454" name="TextBox 454"/>
          <p:cNvSpPr txBox="1"/>
          <p:nvPr/>
        </p:nvSpPr>
        <p:spPr>
          <a:xfrm>
            <a:off x="3623310" y="3054096"/>
            <a:ext cx="2096262" cy="181051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当时为什么这样选择？</a:t>
            </a:r>
          </a:p>
        </p:txBody>
      </p:sp>
      <p:sp>
        <p:nvSpPr>
          <p:cNvPr id="455" name="Shape 455"/>
          <p:cNvSpPr/>
          <p:nvPr/>
        </p:nvSpPr>
        <p:spPr>
          <a:xfrm>
            <a:off x="6131052" y="2103120"/>
            <a:ext cx="2462022" cy="290779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456" name="TextBox 456"/>
          <p:cNvSpPr txBox="1"/>
          <p:nvPr/>
        </p:nvSpPr>
        <p:spPr>
          <a:xfrm>
            <a:off x="6313932" y="2286000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457" name="TextBox 457"/>
          <p:cNvSpPr txBox="1"/>
          <p:nvPr/>
        </p:nvSpPr>
        <p:spPr>
          <a:xfrm>
            <a:off x="6313932" y="2596896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典型问题</a:t>
            </a:r>
          </a:p>
        </p:txBody>
      </p:sp>
      <p:sp>
        <p:nvSpPr>
          <p:cNvPr id="458" name="TextBox 458"/>
          <p:cNvSpPr txBox="1"/>
          <p:nvPr/>
        </p:nvSpPr>
        <p:spPr>
          <a:xfrm>
            <a:off x="6313932" y="3054096"/>
            <a:ext cx="2096262" cy="181051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修改后怎样确认解决？</a:t>
            </a:r>
          </a:p>
        </p:txBody>
      </p:sp>
      <p:sp>
        <p:nvSpPr>
          <p:cNvPr id="459" name="Shape 459"/>
          <p:cNvSpPr/>
          <p:nvPr/>
        </p:nvSpPr>
        <p:spPr>
          <a:xfrm>
            <a:off x="8821674" y="2103120"/>
            <a:ext cx="2462022" cy="290779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460" name="TextBox 460"/>
          <p:cNvSpPr txBox="1"/>
          <p:nvPr/>
        </p:nvSpPr>
        <p:spPr>
          <a:xfrm>
            <a:off x="9004554" y="2286000"/>
            <a:ext cx="209626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68D391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461" name="TextBox 461"/>
          <p:cNvSpPr txBox="1"/>
          <p:nvPr/>
        </p:nvSpPr>
        <p:spPr>
          <a:xfrm>
            <a:off x="9004554" y="2596896"/>
            <a:ext cx="2096262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5F2E9"/>
                </a:solidFill>
                <a:latin typeface="Hiragino Sans GB"/>
                <a:ea typeface="Hiragino Sans GB"/>
              </a:rPr>
              <a:t>上线结果</a:t>
            </a:r>
          </a:p>
        </p:txBody>
      </p:sp>
      <p:sp>
        <p:nvSpPr>
          <p:cNvPr id="462" name="TextBox 462"/>
          <p:cNvSpPr txBox="1"/>
          <p:nvPr/>
        </p:nvSpPr>
        <p:spPr>
          <a:xfrm>
            <a:off x="9004554" y="3054096"/>
            <a:ext cx="2096262" cy="181051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>
                <a:solidFill>
                  <a:srgbClr val="A7B5BC"/>
                </a:solidFill>
                <a:latin typeface="Hiragino Sans GB"/>
                <a:ea typeface="Hiragino Sans GB"/>
              </a:rPr>
              <a:t>范围、结果和个人贡献是什么？</a:t>
            </a:r>
          </a:p>
        </p:txBody>
      </p:sp>
      <p:sp>
        <p:nvSpPr>
          <p:cNvPr id="463" name="Shape 463"/>
          <p:cNvSpPr/>
          <p:nvPr/>
        </p:nvSpPr>
        <p:spPr>
          <a:xfrm>
            <a:off x="749808" y="5340096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464" name="TextBox 464"/>
          <p:cNvSpPr txBox="1"/>
          <p:nvPr/>
        </p:nvSpPr>
        <p:spPr>
          <a:xfrm>
            <a:off x="932688" y="54589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面试官观察</a:t>
            </a:r>
          </a:p>
        </p:txBody>
      </p:sp>
      <p:sp>
        <p:nvSpPr>
          <p:cNvPr id="465" name="TextBox 465"/>
          <p:cNvSpPr txBox="1"/>
          <p:nvPr/>
        </p:nvSpPr>
        <p:spPr>
          <a:xfrm>
            <a:off x="2103120" y="5431536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前后信息是否一致，选择是否合理，细节能否继续展开。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66" name="TextBox 466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第五节｜项目面试的追问逻辑</a:t>
            </a:r>
          </a:p>
        </p:txBody>
      </p:sp>
      <p:sp>
        <p:nvSpPr>
          <p:cNvPr id="467" name="TextBox 467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22</a:t>
            </a:r>
          </a:p>
        </p:txBody>
      </p:sp>
      <p:sp>
        <p:nvSpPr>
          <p:cNvPr id="468" name="Shape 468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69" name="Shape 469"/>
          <p:cNvSpPr/>
          <p:nvPr/>
        </p:nvSpPr>
        <p:spPr>
          <a:xfrm>
            <a:off x="694944" y="6501384"/>
            <a:ext cx="9145407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70" name="TextBox 470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一个项目点的五层追问</a:t>
            </a:r>
          </a:p>
        </p:txBody>
      </p:sp>
      <p:sp>
        <p:nvSpPr>
          <p:cNvPr id="471" name="Shape 471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472" name="TextBox 472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围绕同一个关键点逐层深入</a:t>
            </a:r>
          </a:p>
        </p:txBody>
      </p:sp>
      <p:sp>
        <p:nvSpPr>
          <p:cNvPr id="473" name="Shape 473"/>
          <p:cNvSpPr/>
          <p:nvPr/>
        </p:nvSpPr>
        <p:spPr>
          <a:xfrm>
            <a:off x="768096" y="2267712"/>
            <a:ext cx="1971446" cy="2523744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474" name="TextBox 474"/>
          <p:cNvSpPr txBox="1"/>
          <p:nvPr/>
        </p:nvSpPr>
        <p:spPr>
          <a:xfrm>
            <a:off x="950976" y="2450592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475" name="TextBox 475"/>
          <p:cNvSpPr txBox="1"/>
          <p:nvPr/>
        </p:nvSpPr>
        <p:spPr>
          <a:xfrm>
            <a:off x="950976" y="2761488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F5F2E9"/>
                </a:solidFill>
                <a:latin typeface="Hiragino Sans GB"/>
                <a:ea typeface="Hiragino Sans GB"/>
              </a:rPr>
              <a:t>事实层</a:t>
            </a:r>
          </a:p>
        </p:txBody>
      </p:sp>
      <p:sp>
        <p:nvSpPr>
          <p:cNvPr id="476" name="TextBox 476"/>
          <p:cNvSpPr txBox="1"/>
          <p:nvPr/>
        </p:nvSpPr>
        <p:spPr>
          <a:xfrm>
            <a:off x="950976" y="3218688"/>
            <a:ext cx="1605686" cy="142646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A7B5BC"/>
                </a:solidFill>
                <a:latin typeface="Hiragino Sans GB"/>
                <a:ea typeface="Hiragino Sans GB"/>
              </a:rPr>
              <a:t>当时具体发生了什么</a:t>
            </a:r>
          </a:p>
        </p:txBody>
      </p:sp>
      <p:sp>
        <p:nvSpPr>
          <p:cNvPr id="477" name="Arrow 477"/>
          <p:cNvSpPr/>
          <p:nvPr/>
        </p:nvSpPr>
        <p:spPr>
          <a:xfrm>
            <a:off x="2721254" y="3456432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478" name="Shape 478"/>
          <p:cNvSpPr/>
          <p:nvPr/>
        </p:nvSpPr>
        <p:spPr>
          <a:xfrm>
            <a:off x="2904134" y="2267712"/>
            <a:ext cx="1971446" cy="2523744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479" name="TextBox 479"/>
          <p:cNvSpPr txBox="1"/>
          <p:nvPr/>
        </p:nvSpPr>
        <p:spPr>
          <a:xfrm>
            <a:off x="3087014" y="2450592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480" name="TextBox 480"/>
          <p:cNvSpPr txBox="1"/>
          <p:nvPr/>
        </p:nvSpPr>
        <p:spPr>
          <a:xfrm>
            <a:off x="3087014" y="2761488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F5F2E9"/>
                </a:solidFill>
                <a:latin typeface="Hiragino Sans GB"/>
                <a:ea typeface="Hiragino Sans GB"/>
              </a:rPr>
              <a:t>选择层</a:t>
            </a:r>
          </a:p>
        </p:txBody>
      </p:sp>
      <p:sp>
        <p:nvSpPr>
          <p:cNvPr id="481" name="TextBox 481"/>
          <p:cNvSpPr txBox="1"/>
          <p:nvPr/>
        </p:nvSpPr>
        <p:spPr>
          <a:xfrm>
            <a:off x="3087014" y="3218688"/>
            <a:ext cx="1605686" cy="142646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A7B5BC"/>
                </a:solidFill>
                <a:latin typeface="Hiragino Sans GB"/>
                <a:ea typeface="Hiragino Sans GB"/>
              </a:rPr>
              <a:t>你最终决定了什么</a:t>
            </a:r>
          </a:p>
        </p:txBody>
      </p:sp>
      <p:sp>
        <p:nvSpPr>
          <p:cNvPr id="482" name="Arrow 482"/>
          <p:cNvSpPr/>
          <p:nvPr/>
        </p:nvSpPr>
        <p:spPr>
          <a:xfrm>
            <a:off x="4857293" y="3456432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483" name="Shape 483"/>
          <p:cNvSpPr/>
          <p:nvPr/>
        </p:nvSpPr>
        <p:spPr>
          <a:xfrm>
            <a:off x="5040173" y="2267712"/>
            <a:ext cx="1971446" cy="2523744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484" name="TextBox 484"/>
          <p:cNvSpPr txBox="1"/>
          <p:nvPr/>
        </p:nvSpPr>
        <p:spPr>
          <a:xfrm>
            <a:off x="5223053" y="2450592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485" name="TextBox 485"/>
          <p:cNvSpPr txBox="1"/>
          <p:nvPr/>
        </p:nvSpPr>
        <p:spPr>
          <a:xfrm>
            <a:off x="5223053" y="2761488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F5F2E9"/>
                </a:solidFill>
                <a:latin typeface="Hiragino Sans GB"/>
                <a:ea typeface="Hiragino Sans GB"/>
              </a:rPr>
              <a:t>替代层</a:t>
            </a:r>
          </a:p>
        </p:txBody>
      </p:sp>
      <p:sp>
        <p:nvSpPr>
          <p:cNvPr id="486" name="TextBox 486"/>
          <p:cNvSpPr txBox="1"/>
          <p:nvPr/>
        </p:nvSpPr>
        <p:spPr>
          <a:xfrm>
            <a:off x="5223053" y="3218688"/>
            <a:ext cx="1605686" cy="142646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A7B5BC"/>
                </a:solidFill>
                <a:latin typeface="Hiragino Sans GB"/>
                <a:ea typeface="Hiragino Sans GB"/>
              </a:rPr>
              <a:t>为什么没选其他方案</a:t>
            </a:r>
          </a:p>
        </p:txBody>
      </p:sp>
      <p:sp>
        <p:nvSpPr>
          <p:cNvPr id="487" name="Arrow 487"/>
          <p:cNvSpPr/>
          <p:nvPr/>
        </p:nvSpPr>
        <p:spPr>
          <a:xfrm>
            <a:off x="6993331" y="3456432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488" name="Shape 488"/>
          <p:cNvSpPr/>
          <p:nvPr/>
        </p:nvSpPr>
        <p:spPr>
          <a:xfrm>
            <a:off x="7176211" y="2267712"/>
            <a:ext cx="1971446" cy="2523744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489" name="TextBox 489"/>
          <p:cNvSpPr txBox="1"/>
          <p:nvPr/>
        </p:nvSpPr>
        <p:spPr>
          <a:xfrm>
            <a:off x="7359091" y="2450592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490" name="TextBox 490"/>
          <p:cNvSpPr txBox="1"/>
          <p:nvPr/>
        </p:nvSpPr>
        <p:spPr>
          <a:xfrm>
            <a:off x="7359091" y="2761488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F5F2E9"/>
                </a:solidFill>
                <a:latin typeface="Hiragino Sans GB"/>
                <a:ea typeface="Hiragino Sans GB"/>
              </a:rPr>
              <a:t>验证层</a:t>
            </a:r>
          </a:p>
        </p:txBody>
      </p:sp>
      <p:sp>
        <p:nvSpPr>
          <p:cNvPr id="491" name="TextBox 491"/>
          <p:cNvSpPr txBox="1"/>
          <p:nvPr/>
        </p:nvSpPr>
        <p:spPr>
          <a:xfrm>
            <a:off x="7359091" y="3218688"/>
            <a:ext cx="1605686" cy="142646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A7B5BC"/>
                </a:solidFill>
                <a:latin typeface="Hiragino Sans GB"/>
                <a:ea typeface="Hiragino Sans GB"/>
              </a:rPr>
              <a:t>怎样知道方案能工作</a:t>
            </a:r>
          </a:p>
        </p:txBody>
      </p:sp>
      <p:sp>
        <p:nvSpPr>
          <p:cNvPr id="492" name="Arrow 492"/>
          <p:cNvSpPr/>
          <p:nvPr/>
        </p:nvSpPr>
        <p:spPr>
          <a:xfrm>
            <a:off x="9129370" y="3456432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493" name="Shape 493"/>
          <p:cNvSpPr/>
          <p:nvPr/>
        </p:nvSpPr>
        <p:spPr>
          <a:xfrm>
            <a:off x="9312250" y="2267712"/>
            <a:ext cx="1971446" cy="2523744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494" name="TextBox 494"/>
          <p:cNvSpPr txBox="1"/>
          <p:nvPr/>
        </p:nvSpPr>
        <p:spPr>
          <a:xfrm>
            <a:off x="9495130" y="2450592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495" name="TextBox 495"/>
          <p:cNvSpPr txBox="1"/>
          <p:nvPr/>
        </p:nvSpPr>
        <p:spPr>
          <a:xfrm>
            <a:off x="9495130" y="2761488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F5F2E9"/>
                </a:solidFill>
                <a:latin typeface="Hiragino Sans GB"/>
                <a:ea typeface="Hiragino Sans GB"/>
              </a:rPr>
              <a:t>边界层</a:t>
            </a:r>
          </a:p>
        </p:txBody>
      </p:sp>
      <p:sp>
        <p:nvSpPr>
          <p:cNvPr id="496" name="TextBox 496"/>
          <p:cNvSpPr txBox="1"/>
          <p:nvPr/>
        </p:nvSpPr>
        <p:spPr>
          <a:xfrm>
            <a:off x="9495130" y="3218688"/>
            <a:ext cx="1605686" cy="142646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A7B5BC"/>
                </a:solidFill>
                <a:latin typeface="Hiragino Sans GB"/>
                <a:ea typeface="Hiragino Sans GB"/>
              </a:rPr>
              <a:t>什么情况下不成立</a:t>
            </a:r>
          </a:p>
        </p:txBody>
      </p:sp>
      <p:sp>
        <p:nvSpPr>
          <p:cNvPr id="497" name="Shape 497"/>
          <p:cNvSpPr/>
          <p:nvPr/>
        </p:nvSpPr>
        <p:spPr>
          <a:xfrm>
            <a:off x="749808" y="5248656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498" name="TextBox 498"/>
          <p:cNvSpPr txBox="1"/>
          <p:nvPr/>
        </p:nvSpPr>
        <p:spPr>
          <a:xfrm>
            <a:off x="932688" y="536752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准备方法</a:t>
            </a:r>
          </a:p>
        </p:txBody>
      </p:sp>
      <p:sp>
        <p:nvSpPr>
          <p:cNvPr id="499" name="TextBox 499"/>
          <p:cNvSpPr txBox="1"/>
          <p:nvPr/>
        </p:nvSpPr>
        <p:spPr>
          <a:xfrm>
            <a:off x="2103120" y="5340096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不要只准备标准答案，要准备一条能够向下展开的判断链。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" name="TextBox 500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第五节｜项目面试的追问逻辑</a:t>
            </a:r>
          </a:p>
        </p:txBody>
      </p:sp>
      <p:sp>
        <p:nvSpPr>
          <p:cNvPr id="501" name="TextBox 501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23</a:t>
            </a:r>
          </a:p>
        </p:txBody>
      </p:sp>
      <p:sp>
        <p:nvSpPr>
          <p:cNvPr id="502" name="Shape 502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03" name="Shape 503"/>
          <p:cNvSpPr/>
          <p:nvPr/>
        </p:nvSpPr>
        <p:spPr>
          <a:xfrm>
            <a:off x="694944" y="6501384"/>
            <a:ext cx="9561107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04" name="TextBox 504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围绕一个关键选择连续追问</a:t>
            </a:r>
          </a:p>
        </p:txBody>
      </p:sp>
      <p:sp>
        <p:nvSpPr>
          <p:cNvPr id="505" name="Shape 505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06" name="TextBox 506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示例：为什么不让大模型直接判断退款资格？</a:t>
            </a:r>
          </a:p>
        </p:txBody>
      </p:sp>
      <p:sp>
        <p:nvSpPr>
          <p:cNvPr id="507" name="TextBox 507"/>
          <p:cNvSpPr txBox="1"/>
          <p:nvPr/>
        </p:nvSpPr>
        <p:spPr>
          <a:xfrm>
            <a:off x="859536" y="1792224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36D6C2"/>
                </a:solidFill>
                <a:latin typeface="Hiragino Sans GB"/>
                <a:ea typeface="Hiragino Sans GB"/>
              </a:rPr>
              <a:t>第一问</a:t>
            </a:r>
          </a:p>
        </p:txBody>
      </p:sp>
      <p:sp>
        <p:nvSpPr>
          <p:cNvPr id="508" name="TextBox 508"/>
          <p:cNvSpPr txBox="1"/>
          <p:nvPr/>
        </p:nvSpPr>
        <p:spPr>
          <a:xfrm>
            <a:off x="2907792" y="1792224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为什么不能让大模型判断？</a:t>
            </a:r>
          </a:p>
        </p:txBody>
      </p:sp>
      <p:sp>
        <p:nvSpPr>
          <p:cNvPr id="509" name="Shape 509"/>
          <p:cNvSpPr/>
          <p:nvPr/>
        </p:nvSpPr>
        <p:spPr>
          <a:xfrm>
            <a:off x="859536" y="2350008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10" name="TextBox 510"/>
          <p:cNvSpPr txBox="1"/>
          <p:nvPr/>
        </p:nvSpPr>
        <p:spPr>
          <a:xfrm>
            <a:off x="859536" y="2377440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36D6C2"/>
                </a:solidFill>
                <a:latin typeface="Hiragino Sans GB"/>
                <a:ea typeface="Hiragino Sans GB"/>
              </a:rPr>
              <a:t>第二问</a:t>
            </a:r>
          </a:p>
        </p:txBody>
      </p:sp>
      <p:sp>
        <p:nvSpPr>
          <p:cNvPr id="511" name="TextBox 511"/>
          <p:cNvSpPr txBox="1"/>
          <p:nvPr/>
        </p:nvSpPr>
        <p:spPr>
          <a:xfrm>
            <a:off x="2907792" y="2377440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既然规则更稳定，为什么不全部使用规则？</a:t>
            </a:r>
          </a:p>
        </p:txBody>
      </p:sp>
      <p:sp>
        <p:nvSpPr>
          <p:cNvPr id="512" name="Shape 512"/>
          <p:cNvSpPr/>
          <p:nvPr/>
        </p:nvSpPr>
        <p:spPr>
          <a:xfrm>
            <a:off x="859536" y="2935224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13" name="TextBox 513"/>
          <p:cNvSpPr txBox="1"/>
          <p:nvPr/>
        </p:nvSpPr>
        <p:spPr>
          <a:xfrm>
            <a:off x="859536" y="2962656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0C565"/>
                </a:solidFill>
                <a:latin typeface="Hiragino Sans GB"/>
                <a:ea typeface="Hiragino Sans GB"/>
              </a:rPr>
              <a:t>第三问</a:t>
            </a:r>
          </a:p>
        </p:txBody>
      </p:sp>
      <p:sp>
        <p:nvSpPr>
          <p:cNvPr id="514" name="TextBox 514"/>
          <p:cNvSpPr txBox="1"/>
          <p:nvPr/>
        </p:nvSpPr>
        <p:spPr>
          <a:xfrm>
            <a:off x="2907792" y="2962656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规则具体判断哪些条件？</a:t>
            </a:r>
          </a:p>
        </p:txBody>
      </p:sp>
      <p:sp>
        <p:nvSpPr>
          <p:cNvPr id="515" name="Shape 515"/>
          <p:cNvSpPr/>
          <p:nvPr/>
        </p:nvSpPr>
        <p:spPr>
          <a:xfrm>
            <a:off x="859536" y="3520440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16" name="TextBox 516"/>
          <p:cNvSpPr txBox="1"/>
          <p:nvPr/>
        </p:nvSpPr>
        <p:spPr>
          <a:xfrm>
            <a:off x="859536" y="3547872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F7657"/>
                </a:solidFill>
                <a:latin typeface="Hiragino Sans GB"/>
                <a:ea typeface="Hiragino Sans GB"/>
              </a:rPr>
              <a:t>第四问</a:t>
            </a:r>
          </a:p>
        </p:txBody>
      </p:sp>
      <p:sp>
        <p:nvSpPr>
          <p:cNvPr id="517" name="TextBox 517"/>
          <p:cNvSpPr txBox="1"/>
          <p:nvPr/>
        </p:nvSpPr>
        <p:spPr>
          <a:xfrm>
            <a:off x="2907792" y="3547872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怎样测试这种能力分工？</a:t>
            </a:r>
          </a:p>
        </p:txBody>
      </p:sp>
      <p:sp>
        <p:nvSpPr>
          <p:cNvPr id="518" name="Shape 518"/>
          <p:cNvSpPr/>
          <p:nvPr/>
        </p:nvSpPr>
        <p:spPr>
          <a:xfrm>
            <a:off x="859536" y="4105656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19" name="TextBox 519"/>
          <p:cNvSpPr txBox="1"/>
          <p:nvPr/>
        </p:nvSpPr>
        <p:spPr>
          <a:xfrm>
            <a:off x="859536" y="4133088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FF7657"/>
                </a:solidFill>
                <a:latin typeface="Hiragino Sans GB"/>
                <a:ea typeface="Hiragino Sans GB"/>
              </a:rPr>
              <a:t>第五问</a:t>
            </a:r>
          </a:p>
        </p:txBody>
      </p:sp>
      <p:sp>
        <p:nvSpPr>
          <p:cNvPr id="520" name="TextBox 520"/>
          <p:cNvSpPr txBox="1"/>
          <p:nvPr/>
        </p:nvSpPr>
        <p:spPr>
          <a:xfrm>
            <a:off x="2907792" y="4133088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上线后出现过什么问题？</a:t>
            </a:r>
          </a:p>
        </p:txBody>
      </p:sp>
      <p:sp>
        <p:nvSpPr>
          <p:cNvPr id="521" name="Shape 521"/>
          <p:cNvSpPr/>
          <p:nvPr/>
        </p:nvSpPr>
        <p:spPr>
          <a:xfrm>
            <a:off x="859536" y="4690872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22" name="TextBox 522"/>
          <p:cNvSpPr txBox="1"/>
          <p:nvPr/>
        </p:nvSpPr>
        <p:spPr>
          <a:xfrm>
            <a:off x="859536" y="4718304"/>
            <a:ext cx="2103120" cy="40233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68D391"/>
                </a:solidFill>
                <a:latin typeface="Hiragino Sans GB"/>
                <a:ea typeface="Hiragino Sans GB"/>
              </a:rPr>
              <a:t>第六问</a:t>
            </a:r>
          </a:p>
        </p:txBody>
      </p:sp>
      <p:sp>
        <p:nvSpPr>
          <p:cNvPr id="523" name="TextBox 523"/>
          <p:cNvSpPr txBox="1"/>
          <p:nvPr/>
        </p:nvSpPr>
        <p:spPr>
          <a:xfrm>
            <a:off x="2907792" y="4718304"/>
            <a:ext cx="8101584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这种方案还有什么限制？</a:t>
            </a:r>
          </a:p>
        </p:txBody>
      </p:sp>
      <p:sp>
        <p:nvSpPr>
          <p:cNvPr id="524" name="Shape 524"/>
          <p:cNvSpPr/>
          <p:nvPr/>
        </p:nvSpPr>
        <p:spPr>
          <a:xfrm>
            <a:off x="859536" y="5276088"/>
            <a:ext cx="10222992" cy="10973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25" name="Shape 525"/>
          <p:cNvSpPr/>
          <p:nvPr/>
        </p:nvSpPr>
        <p:spPr>
          <a:xfrm>
            <a:off x="749808" y="5394960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526" name="TextBox 526"/>
          <p:cNvSpPr txBox="1"/>
          <p:nvPr/>
        </p:nvSpPr>
        <p:spPr>
          <a:xfrm>
            <a:off x="932688" y="551383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一致性</a:t>
            </a:r>
          </a:p>
        </p:txBody>
      </p:sp>
      <p:sp>
        <p:nvSpPr>
          <p:cNvPr id="527" name="TextBox 527"/>
          <p:cNvSpPr txBox="1"/>
          <p:nvPr/>
        </p:nvSpPr>
        <p:spPr>
          <a:xfrm>
            <a:off x="2103120" y="5486400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所有回答来自同一套产品设计，角色分工和上线范围不能前后变化。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28" name="TextBox 528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第五节｜项目面试的追问逻辑</a:t>
            </a:r>
          </a:p>
        </p:txBody>
      </p:sp>
      <p:sp>
        <p:nvSpPr>
          <p:cNvPr id="529" name="TextBox 529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24</a:t>
            </a:r>
          </a:p>
        </p:txBody>
      </p:sp>
      <p:sp>
        <p:nvSpPr>
          <p:cNvPr id="530" name="Shape 530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31" name="Shape 531"/>
          <p:cNvSpPr/>
          <p:nvPr/>
        </p:nvSpPr>
        <p:spPr>
          <a:xfrm>
            <a:off x="694944" y="6501384"/>
            <a:ext cx="9976807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32" name="TextBox 532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回答“为什么这样做”的五步结构</a:t>
            </a:r>
          </a:p>
        </p:txBody>
      </p:sp>
      <p:sp>
        <p:nvSpPr>
          <p:cNvPr id="533" name="Shape 533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34" name="TextBox 534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先给结论，再还原当时的选择过程</a:t>
            </a:r>
          </a:p>
        </p:txBody>
      </p:sp>
      <p:sp>
        <p:nvSpPr>
          <p:cNvPr id="535" name="Shape 535"/>
          <p:cNvSpPr/>
          <p:nvPr/>
        </p:nvSpPr>
        <p:spPr>
          <a:xfrm>
            <a:off x="768096" y="2240280"/>
            <a:ext cx="1971446" cy="254203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536" name="TextBox 536"/>
          <p:cNvSpPr txBox="1"/>
          <p:nvPr/>
        </p:nvSpPr>
        <p:spPr>
          <a:xfrm>
            <a:off x="950976" y="2423160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01</a:t>
            </a:r>
          </a:p>
        </p:txBody>
      </p:sp>
      <p:sp>
        <p:nvSpPr>
          <p:cNvPr id="537" name="TextBox 537"/>
          <p:cNvSpPr txBox="1"/>
          <p:nvPr/>
        </p:nvSpPr>
        <p:spPr>
          <a:xfrm>
            <a:off x="950976" y="2734056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F5F2E9"/>
                </a:solidFill>
                <a:latin typeface="Hiragino Sans GB"/>
                <a:ea typeface="Hiragino Sans GB"/>
              </a:rPr>
              <a:t>先给结论</a:t>
            </a:r>
          </a:p>
        </p:txBody>
      </p:sp>
      <p:sp>
        <p:nvSpPr>
          <p:cNvPr id="538" name="TextBox 538"/>
          <p:cNvSpPr txBox="1"/>
          <p:nvPr/>
        </p:nvSpPr>
        <p:spPr>
          <a:xfrm>
            <a:off x="950976" y="3191256"/>
            <a:ext cx="1605686" cy="144475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A7B5BC"/>
                </a:solidFill>
                <a:latin typeface="Hiragino Sans GB"/>
                <a:ea typeface="Hiragino Sans GB"/>
              </a:rPr>
              <a:t>最终选择是什么</a:t>
            </a:r>
          </a:p>
        </p:txBody>
      </p:sp>
      <p:sp>
        <p:nvSpPr>
          <p:cNvPr id="539" name="Arrow 539"/>
          <p:cNvSpPr/>
          <p:nvPr/>
        </p:nvSpPr>
        <p:spPr>
          <a:xfrm>
            <a:off x="2721254" y="3438144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540" name="Shape 540"/>
          <p:cNvSpPr/>
          <p:nvPr/>
        </p:nvSpPr>
        <p:spPr>
          <a:xfrm>
            <a:off x="2904134" y="2240280"/>
            <a:ext cx="1971446" cy="254203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541" name="TextBox 541"/>
          <p:cNvSpPr txBox="1"/>
          <p:nvPr/>
        </p:nvSpPr>
        <p:spPr>
          <a:xfrm>
            <a:off x="3087014" y="2423160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36D6C2"/>
                </a:solidFill>
                <a:latin typeface="Hiragino Sans GB"/>
                <a:ea typeface="Hiragino Sans GB"/>
              </a:rPr>
              <a:t>02</a:t>
            </a:r>
          </a:p>
        </p:txBody>
      </p:sp>
      <p:sp>
        <p:nvSpPr>
          <p:cNvPr id="542" name="TextBox 542"/>
          <p:cNvSpPr txBox="1"/>
          <p:nvPr/>
        </p:nvSpPr>
        <p:spPr>
          <a:xfrm>
            <a:off x="3087014" y="2734056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F5F2E9"/>
                </a:solidFill>
                <a:latin typeface="Hiragino Sans GB"/>
                <a:ea typeface="Hiragino Sans GB"/>
              </a:rPr>
              <a:t>说明约束</a:t>
            </a:r>
          </a:p>
        </p:txBody>
      </p:sp>
      <p:sp>
        <p:nvSpPr>
          <p:cNvPr id="543" name="TextBox 543"/>
          <p:cNvSpPr txBox="1"/>
          <p:nvPr/>
        </p:nvSpPr>
        <p:spPr>
          <a:xfrm>
            <a:off x="3087014" y="3191256"/>
            <a:ext cx="1605686" cy="144475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A7B5BC"/>
                </a:solidFill>
                <a:latin typeface="Hiragino Sans GB"/>
                <a:ea typeface="Hiragino Sans GB"/>
              </a:rPr>
              <a:t>用户风险、规则与范围</a:t>
            </a:r>
          </a:p>
        </p:txBody>
      </p:sp>
      <p:sp>
        <p:nvSpPr>
          <p:cNvPr id="544" name="Arrow 544"/>
          <p:cNvSpPr/>
          <p:nvPr/>
        </p:nvSpPr>
        <p:spPr>
          <a:xfrm>
            <a:off x="4857293" y="3438144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545" name="Shape 545"/>
          <p:cNvSpPr/>
          <p:nvPr/>
        </p:nvSpPr>
        <p:spPr>
          <a:xfrm>
            <a:off x="5040173" y="2240280"/>
            <a:ext cx="1971446" cy="254203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546" name="TextBox 546"/>
          <p:cNvSpPr txBox="1"/>
          <p:nvPr/>
        </p:nvSpPr>
        <p:spPr>
          <a:xfrm>
            <a:off x="5223053" y="2423160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0C565"/>
                </a:solidFill>
                <a:latin typeface="Hiragino Sans GB"/>
                <a:ea typeface="Hiragino Sans GB"/>
              </a:rPr>
              <a:t>03</a:t>
            </a:r>
          </a:p>
        </p:txBody>
      </p:sp>
      <p:sp>
        <p:nvSpPr>
          <p:cNvPr id="547" name="TextBox 547"/>
          <p:cNvSpPr txBox="1"/>
          <p:nvPr/>
        </p:nvSpPr>
        <p:spPr>
          <a:xfrm>
            <a:off x="5223053" y="2734056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F5F2E9"/>
                </a:solidFill>
                <a:latin typeface="Hiragino Sans GB"/>
                <a:ea typeface="Hiragino Sans GB"/>
              </a:rPr>
              <a:t>比较方案</a:t>
            </a:r>
          </a:p>
        </p:txBody>
      </p:sp>
      <p:sp>
        <p:nvSpPr>
          <p:cNvPr id="548" name="TextBox 548"/>
          <p:cNvSpPr txBox="1"/>
          <p:nvPr/>
        </p:nvSpPr>
        <p:spPr>
          <a:xfrm>
            <a:off x="5223053" y="3191256"/>
            <a:ext cx="1605686" cy="144475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A7B5BC"/>
                </a:solidFill>
                <a:latin typeface="Hiragino Sans GB"/>
                <a:ea typeface="Hiragino Sans GB"/>
              </a:rPr>
              <a:t>还考虑过什么</a:t>
            </a:r>
          </a:p>
        </p:txBody>
      </p:sp>
      <p:sp>
        <p:nvSpPr>
          <p:cNvPr id="549" name="Arrow 549"/>
          <p:cNvSpPr/>
          <p:nvPr/>
        </p:nvSpPr>
        <p:spPr>
          <a:xfrm>
            <a:off x="6993331" y="3438144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550" name="Shape 550"/>
          <p:cNvSpPr/>
          <p:nvPr/>
        </p:nvSpPr>
        <p:spPr>
          <a:xfrm>
            <a:off x="7176211" y="2240280"/>
            <a:ext cx="1971446" cy="254203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551" name="TextBox 551"/>
          <p:cNvSpPr txBox="1"/>
          <p:nvPr/>
        </p:nvSpPr>
        <p:spPr>
          <a:xfrm>
            <a:off x="7359091" y="2423160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FF7657"/>
                </a:solidFill>
                <a:latin typeface="Hiragino Sans GB"/>
                <a:ea typeface="Hiragino Sans GB"/>
              </a:rPr>
              <a:t>04</a:t>
            </a:r>
          </a:p>
        </p:txBody>
      </p:sp>
      <p:sp>
        <p:nvSpPr>
          <p:cNvPr id="552" name="TextBox 552"/>
          <p:cNvSpPr txBox="1"/>
          <p:nvPr/>
        </p:nvSpPr>
        <p:spPr>
          <a:xfrm>
            <a:off x="7359091" y="2734056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F5F2E9"/>
                </a:solidFill>
                <a:latin typeface="Hiragino Sans GB"/>
                <a:ea typeface="Hiragino Sans GB"/>
              </a:rPr>
              <a:t>说明落地</a:t>
            </a:r>
          </a:p>
        </p:txBody>
      </p:sp>
      <p:sp>
        <p:nvSpPr>
          <p:cNvPr id="553" name="TextBox 553"/>
          <p:cNvSpPr txBox="1"/>
          <p:nvPr/>
        </p:nvSpPr>
        <p:spPr>
          <a:xfrm>
            <a:off x="7359091" y="3191256"/>
            <a:ext cx="1605686" cy="144475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A7B5BC"/>
                </a:solidFill>
                <a:latin typeface="Hiragino Sans GB"/>
                <a:ea typeface="Hiragino Sans GB"/>
              </a:rPr>
              <a:t>怎样进入流程和页面</a:t>
            </a:r>
          </a:p>
        </p:txBody>
      </p:sp>
      <p:sp>
        <p:nvSpPr>
          <p:cNvPr id="554" name="Arrow 554"/>
          <p:cNvSpPr/>
          <p:nvPr/>
        </p:nvSpPr>
        <p:spPr>
          <a:xfrm>
            <a:off x="9129370" y="3438144"/>
            <a:ext cx="210312" cy="146304"/>
          </a:xfrm>
          <a:prstGeom prst="rightArrow">
            <a:avLst/>
          </a:prstGeom>
          <a:solidFill>
            <a:srgbClr val="36D6C2"/>
          </a:solidFill>
          <a:ln>
            <a:noFill/>
          </a:ln>
        </p:spPr>
        <p:txBody>
          <a:bodyPr/>
          <a:lstStyle/>
          <a:p/>
        </p:txBody>
      </p:sp>
      <p:sp>
        <p:nvSpPr>
          <p:cNvPr id="555" name="Shape 555"/>
          <p:cNvSpPr/>
          <p:nvPr/>
        </p:nvSpPr>
        <p:spPr>
          <a:xfrm>
            <a:off x="9312250" y="2240280"/>
            <a:ext cx="1971446" cy="2542032"/>
          </a:xfrm>
          <a:prstGeom prst="roundRect">
            <a:avLst/>
          </a:prstGeom>
          <a:solidFill>
            <a:srgbClr val="102B37"/>
          </a:solidFill>
          <a:ln w="889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556" name="TextBox 556"/>
          <p:cNvSpPr txBox="1"/>
          <p:nvPr/>
        </p:nvSpPr>
        <p:spPr>
          <a:xfrm>
            <a:off x="9495130" y="2423160"/>
            <a:ext cx="160568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68D391"/>
                </a:solidFill>
                <a:latin typeface="Hiragino Sans GB"/>
                <a:ea typeface="Hiragino Sans GB"/>
              </a:rPr>
              <a:t>05</a:t>
            </a:r>
          </a:p>
        </p:txBody>
      </p:sp>
      <p:sp>
        <p:nvSpPr>
          <p:cNvPr id="557" name="TextBox 557"/>
          <p:cNvSpPr txBox="1"/>
          <p:nvPr/>
        </p:nvSpPr>
        <p:spPr>
          <a:xfrm>
            <a:off x="9495130" y="2734056"/>
            <a:ext cx="1605686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F5F2E9"/>
                </a:solidFill>
                <a:latin typeface="Hiragino Sans GB"/>
                <a:ea typeface="Hiragino Sans GB"/>
              </a:rPr>
              <a:t>结果与限制</a:t>
            </a:r>
          </a:p>
        </p:txBody>
      </p:sp>
      <p:sp>
        <p:nvSpPr>
          <p:cNvPr id="558" name="TextBox 558"/>
          <p:cNvSpPr txBox="1"/>
          <p:nvPr/>
        </p:nvSpPr>
        <p:spPr>
          <a:xfrm>
            <a:off x="9495130" y="3191256"/>
            <a:ext cx="1605686" cy="144475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A7B5BC"/>
                </a:solidFill>
                <a:latin typeface="Hiragino Sans GB"/>
                <a:ea typeface="Hiragino Sans GB"/>
              </a:rPr>
              <a:t>做到什么程度</a:t>
            </a:r>
          </a:p>
        </p:txBody>
      </p:sp>
      <p:sp>
        <p:nvSpPr>
          <p:cNvPr id="559" name="Shape 559"/>
          <p:cNvSpPr/>
          <p:nvPr/>
        </p:nvSpPr>
        <p:spPr>
          <a:xfrm>
            <a:off x="749808" y="5266944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560" name="TextBox 560"/>
          <p:cNvSpPr txBox="1"/>
          <p:nvPr/>
        </p:nvSpPr>
        <p:spPr>
          <a:xfrm>
            <a:off x="932688" y="538581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使用边界</a:t>
            </a:r>
          </a:p>
        </p:txBody>
      </p:sp>
      <p:sp>
        <p:nvSpPr>
          <p:cNvPr id="561" name="TextBox 561"/>
          <p:cNvSpPr txBox="1"/>
          <p:nvPr/>
        </p:nvSpPr>
        <p:spPr>
          <a:xfrm>
            <a:off x="2103120" y="5358384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不是每个问题都机械回答五步，结构只负责检查是否缺少关键环节。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62" name="TextBox 562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第五节｜项目面试的追问逻辑</a:t>
            </a:r>
          </a:p>
        </p:txBody>
      </p:sp>
      <p:sp>
        <p:nvSpPr>
          <p:cNvPr id="563" name="TextBox 563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25</a:t>
            </a:r>
          </a:p>
        </p:txBody>
      </p:sp>
      <p:sp>
        <p:nvSpPr>
          <p:cNvPr id="564" name="Shape 564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65" name="Shape 565"/>
          <p:cNvSpPr/>
          <p:nvPr/>
        </p:nvSpPr>
        <p:spPr>
          <a:xfrm>
            <a:off x="694944" y="6501384"/>
            <a:ext cx="10392508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66" name="TextBox 566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普通回答与专业回答</a:t>
            </a:r>
          </a:p>
        </p:txBody>
      </p:sp>
      <p:sp>
        <p:nvSpPr>
          <p:cNvPr id="567" name="Shape 567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68" name="TextBox 568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问题：为什么退款资格不用大模型判断？</a:t>
            </a:r>
          </a:p>
        </p:txBody>
      </p:sp>
      <p:sp>
        <p:nvSpPr>
          <p:cNvPr id="569" name="Shape 569"/>
          <p:cNvSpPr/>
          <p:nvPr/>
        </p:nvSpPr>
        <p:spPr>
          <a:xfrm>
            <a:off x="749808" y="1901952"/>
            <a:ext cx="3840480" cy="3566160"/>
          </a:xfrm>
          <a:prstGeom prst="roundRect">
            <a:avLst/>
          </a:prstGeom>
          <a:solidFill>
            <a:srgbClr val="102B37"/>
          </a:solidFill>
          <a:ln w="11430">
            <a:solidFill>
              <a:srgbClr val="FF7657"/>
            </a:solidFill>
          </a:ln>
          <a:effectLst/>
        </p:spPr>
        <p:txBody>
          <a:bodyPr/>
          <a:lstStyle/>
          <a:p/>
        </p:txBody>
      </p:sp>
      <p:sp>
        <p:nvSpPr>
          <p:cNvPr id="570" name="TextBox 570"/>
          <p:cNvSpPr txBox="1"/>
          <p:nvPr/>
        </p:nvSpPr>
        <p:spPr>
          <a:xfrm>
            <a:off x="1005840" y="2139696"/>
            <a:ext cx="33375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FF7657"/>
                </a:solidFill>
                <a:latin typeface="Hiragino Sans GB"/>
                <a:ea typeface="Hiragino Sans GB"/>
              </a:rPr>
              <a:t>普通回答</a:t>
            </a:r>
          </a:p>
        </p:txBody>
      </p:sp>
      <p:sp>
        <p:nvSpPr>
          <p:cNvPr id="571" name="TextBox 571"/>
          <p:cNvSpPr txBox="1"/>
          <p:nvPr/>
        </p:nvSpPr>
        <p:spPr>
          <a:xfrm>
            <a:off x="1005840" y="2834640"/>
            <a:ext cx="3255264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F5F2E9"/>
                </a:solidFill>
                <a:latin typeface="Hiragino Sans GB"/>
                <a:ea typeface="Hiragino Sans GB"/>
              </a:rPr>
              <a:t>因为大模型可能产生幻觉，所以重要业务不能使用大模型。</a:t>
            </a:r>
          </a:p>
        </p:txBody>
      </p:sp>
      <p:sp>
        <p:nvSpPr>
          <p:cNvPr id="572" name="TextBox 572"/>
          <p:cNvSpPr txBox="1"/>
          <p:nvPr/>
        </p:nvSpPr>
        <p:spPr>
          <a:xfrm>
            <a:off x="1005840" y="4224528"/>
            <a:ext cx="3291840" cy="768096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只有正确观点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>
                <a:solidFill>
                  <a:srgbClr val="A7B5BC"/>
                </a:solidFill>
                <a:latin typeface="Hiragino Sans GB"/>
                <a:ea typeface="Hiragino Sans GB"/>
              </a:rPr>
              <a:t>没有项目约束和落地方式</a:t>
            </a:r>
          </a:p>
        </p:txBody>
      </p:sp>
      <p:sp>
        <p:nvSpPr>
          <p:cNvPr id="573" name="Shape 573"/>
          <p:cNvSpPr/>
          <p:nvPr/>
        </p:nvSpPr>
        <p:spPr>
          <a:xfrm>
            <a:off x="4846320" y="1901952"/>
            <a:ext cx="6437376" cy="3566160"/>
          </a:xfrm>
          <a:prstGeom prst="roundRect">
            <a:avLst/>
          </a:prstGeom>
          <a:solidFill>
            <a:srgbClr val="102B37"/>
          </a:solidFill>
          <a:ln w="11430">
            <a:solidFill>
              <a:srgbClr val="36D6C2"/>
            </a:solidFill>
          </a:ln>
          <a:effectLst/>
        </p:spPr>
        <p:txBody>
          <a:bodyPr/>
          <a:lstStyle/>
          <a:p/>
        </p:txBody>
      </p:sp>
      <p:sp>
        <p:nvSpPr>
          <p:cNvPr id="574" name="TextBox 574"/>
          <p:cNvSpPr txBox="1"/>
          <p:nvPr/>
        </p:nvSpPr>
        <p:spPr>
          <a:xfrm>
            <a:off x="5102352" y="2139696"/>
            <a:ext cx="59436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00" b="1">
                <a:solidFill>
                  <a:srgbClr val="36D6C2"/>
                </a:solidFill>
                <a:latin typeface="Hiragino Sans GB"/>
                <a:ea typeface="Hiragino Sans GB"/>
              </a:rPr>
              <a:t>更完整的回答</a:t>
            </a:r>
          </a:p>
        </p:txBody>
      </p:sp>
      <p:sp>
        <p:nvSpPr>
          <p:cNvPr id="575" name="TextBox 575"/>
          <p:cNvSpPr txBox="1"/>
          <p:nvPr/>
        </p:nvSpPr>
        <p:spPr>
          <a:xfrm>
            <a:off x="5102352" y="2724912"/>
            <a:ext cx="5815584" cy="226771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F5F2E9"/>
                </a:solidFill>
                <a:latin typeface="Hiragino Sans GB"/>
                <a:ea typeface="Hiragino Sans GB"/>
              </a:rPr>
              <a:t>退款影响用户权益，资格条件又能明确表达。</a:t>
            </a:r>
          </a:p>
          <a:p>
            <a:pPr algn="l"/>
            <a:endParaRPr lang="zh-CN" sz="155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F5F2E9"/>
                </a:solidFill>
                <a:latin typeface="Hiragino Sans GB"/>
                <a:ea typeface="Hiragino Sans GB"/>
              </a:rPr>
              <a:t>大模型负责理解表达和提取字段，规则检查订单状态、申请时间和商品限制。</a:t>
            </a:r>
          </a:p>
          <a:p>
            <a:pPr algn="l"/>
            <a:endParaRPr lang="zh-CN" sz="155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50" b="0">
                <a:solidFill>
                  <a:srgbClr val="F5F2E9"/>
                </a:solidFill>
                <a:latin typeface="Hiragino Sans GB"/>
                <a:ea typeface="Hiragino Sans GB"/>
              </a:rPr>
              <a:t>这套分工适合低风险售后，复杂投诉和特殊补偿仍转人工。</a:t>
            </a:r>
          </a:p>
        </p:txBody>
      </p:sp>
      <p:sp>
        <p:nvSpPr>
          <p:cNvPr id="576" name="Shape 576"/>
          <p:cNvSpPr/>
          <p:nvPr/>
        </p:nvSpPr>
        <p:spPr>
          <a:xfrm>
            <a:off x="749808" y="5605272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577" name="TextBox 577"/>
          <p:cNvSpPr txBox="1"/>
          <p:nvPr/>
        </p:nvSpPr>
        <p:spPr>
          <a:xfrm>
            <a:off x="932688" y="572414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区别</a:t>
            </a:r>
          </a:p>
        </p:txBody>
      </p:sp>
      <p:sp>
        <p:nvSpPr>
          <p:cNvPr id="578" name="TextBox 578"/>
          <p:cNvSpPr txBox="1"/>
          <p:nvPr/>
        </p:nvSpPr>
        <p:spPr>
          <a:xfrm>
            <a:off x="2103120" y="5696712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普通回答停在观点，专业回答还原约束、比较、落地方式和适用范围。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79" name="TextBox 579"/>
          <p:cNvSpPr txBox="1"/>
          <p:nvPr/>
        </p:nvSpPr>
        <p:spPr>
          <a:xfrm>
            <a:off x="694944" y="182880"/>
            <a:ext cx="9829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1">
                <a:solidFill>
                  <a:srgbClr val="36D6C2"/>
                </a:solidFill>
                <a:latin typeface="Hiragino Sans GB"/>
                <a:ea typeface="Hiragino Sans GB"/>
              </a:rPr>
              <a:t>第五节｜项目面试的追问逻辑</a:t>
            </a:r>
          </a:p>
        </p:txBody>
      </p:sp>
      <p:sp>
        <p:nvSpPr>
          <p:cNvPr id="580" name="TextBox 580"/>
          <p:cNvSpPr txBox="1"/>
          <p:nvPr/>
        </p:nvSpPr>
        <p:spPr>
          <a:xfrm>
            <a:off x="10972800" y="192024"/>
            <a:ext cx="53035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A7B5BC"/>
                </a:solidFill>
                <a:latin typeface="Hiragino Sans GB"/>
                <a:ea typeface="Hiragino Sans GB"/>
              </a:rPr>
              <a:t>26</a:t>
            </a:r>
          </a:p>
        </p:txBody>
      </p:sp>
      <p:sp>
        <p:nvSpPr>
          <p:cNvPr id="581" name="Shape 581"/>
          <p:cNvSpPr/>
          <p:nvPr/>
        </p:nvSpPr>
        <p:spPr>
          <a:xfrm>
            <a:off x="694944" y="6556248"/>
            <a:ext cx="10808208" cy="12802"/>
          </a:xfrm>
          <a:prstGeom prst="rect">
            <a:avLst/>
          </a:prstGeom>
          <a:solidFill>
            <a:srgbClr val="416A78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82" name="Shape 582"/>
          <p:cNvSpPr/>
          <p:nvPr/>
        </p:nvSpPr>
        <p:spPr>
          <a:xfrm>
            <a:off x="694944" y="6501384"/>
            <a:ext cx="10808208" cy="36576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83" name="TextBox 583"/>
          <p:cNvSpPr txBox="1"/>
          <p:nvPr/>
        </p:nvSpPr>
        <p:spPr>
          <a:xfrm>
            <a:off x="713232" y="640080"/>
            <a:ext cx="10698480" cy="585216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900" b="1">
                <a:solidFill>
                  <a:srgbClr val="F5F2E9"/>
                </a:solidFill>
                <a:latin typeface="Hiragino Sans GB"/>
                <a:ea typeface="Hiragino Sans GB"/>
              </a:rPr>
              <a:t>把一个关键判断准备到足够深</a:t>
            </a:r>
          </a:p>
        </p:txBody>
      </p:sp>
      <p:sp>
        <p:nvSpPr>
          <p:cNvPr id="584" name="Shape 584"/>
          <p:cNvSpPr/>
          <p:nvPr/>
        </p:nvSpPr>
        <p:spPr>
          <a:xfrm>
            <a:off x="713232" y="1261872"/>
            <a:ext cx="1335024" cy="41148"/>
          </a:xfrm>
          <a:prstGeom prst="rect">
            <a:avLst/>
          </a:prstGeom>
          <a:solidFill>
            <a:srgbClr val="36D6C2"/>
          </a:solidFill>
          <a:ln w="0">
            <a:noFill/>
          </a:ln>
          <a:effectLst/>
        </p:spPr>
        <p:txBody>
          <a:bodyPr/>
          <a:lstStyle/>
          <a:p/>
        </p:txBody>
      </p:sp>
      <p:sp>
        <p:nvSpPr>
          <p:cNvPr id="585" name="TextBox 585"/>
          <p:cNvSpPr txBox="1"/>
          <p:nvPr/>
        </p:nvSpPr>
        <p:spPr>
          <a:xfrm>
            <a:off x="713232" y="1371600"/>
            <a:ext cx="106527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50" b="0">
                <a:solidFill>
                  <a:srgbClr val="A7B5BC"/>
                </a:solidFill>
                <a:latin typeface="Hiragino Sans GB"/>
                <a:ea typeface="Hiragino Sans GB"/>
              </a:rPr>
              <a:t>全课练习与收束</a:t>
            </a:r>
          </a:p>
        </p:txBody>
      </p:sp>
      <p:sp>
        <p:nvSpPr>
          <p:cNvPr id="586" name="Shape 586"/>
          <p:cNvSpPr/>
          <p:nvPr/>
        </p:nvSpPr>
        <p:spPr>
          <a:xfrm>
            <a:off x="749808" y="1874520"/>
            <a:ext cx="6565392" cy="3621024"/>
          </a:xfrm>
          <a:prstGeom prst="roundRect">
            <a:avLst/>
          </a:prstGeom>
          <a:solidFill>
            <a:srgbClr val="102B37"/>
          </a:solidFill>
          <a:ln w="10160">
            <a:solidFill>
              <a:srgbClr val="36D6C2"/>
            </a:solidFill>
          </a:ln>
          <a:effectLst/>
        </p:spPr>
        <p:txBody>
          <a:bodyPr/>
          <a:lstStyle/>
          <a:p/>
        </p:txBody>
      </p:sp>
      <p:sp>
        <p:nvSpPr>
          <p:cNvPr id="587" name="TextBox 587"/>
          <p:cNvSpPr txBox="1"/>
          <p:nvPr/>
        </p:nvSpPr>
        <p:spPr>
          <a:xfrm>
            <a:off x="1005840" y="2103120"/>
            <a:ext cx="603504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36D6C2"/>
                </a:solidFill>
                <a:latin typeface="Hiragino Sans GB"/>
                <a:ea typeface="Hiragino Sans GB"/>
              </a:rPr>
              <a:t>选择一个项目点，连续回答五行</a:t>
            </a:r>
          </a:p>
        </p:txBody>
      </p:sp>
      <p:sp>
        <p:nvSpPr>
          <p:cNvPr id="588" name="TextBox 588"/>
          <p:cNvSpPr txBox="1"/>
          <p:nvPr/>
        </p:nvSpPr>
        <p:spPr>
          <a:xfrm>
            <a:off x="1005840" y="2670048"/>
            <a:ext cx="5961888" cy="243230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当时的具体情况是______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我最终决定______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还考虑过______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我通过______进行了检查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>
                <a:solidFill>
                  <a:srgbClr val="F5F2E9"/>
                </a:solidFill>
                <a:latin typeface="Hiragino Sans GB"/>
                <a:ea typeface="Hiragino Sans GB"/>
              </a:rPr>
              <a:t>当前方案不适用于______</a:t>
            </a:r>
          </a:p>
        </p:txBody>
      </p:sp>
      <p:sp>
        <p:nvSpPr>
          <p:cNvPr id="589" name="Shape 589"/>
          <p:cNvSpPr/>
          <p:nvPr/>
        </p:nvSpPr>
        <p:spPr>
          <a:xfrm>
            <a:off x="7534656" y="1874520"/>
            <a:ext cx="3749040" cy="3621024"/>
          </a:xfrm>
          <a:prstGeom prst="roundRect">
            <a:avLst/>
          </a:prstGeom>
          <a:solidFill>
            <a:srgbClr val="133843"/>
          </a:solidFill>
          <a:ln w="10160">
            <a:solidFill>
              <a:srgbClr val="FF7657"/>
            </a:solidFill>
          </a:ln>
          <a:effectLst/>
        </p:spPr>
        <p:txBody>
          <a:bodyPr/>
          <a:lstStyle/>
          <a:p/>
        </p:txBody>
      </p:sp>
      <p:sp>
        <p:nvSpPr>
          <p:cNvPr id="590" name="TextBox 590"/>
          <p:cNvSpPr txBox="1"/>
          <p:nvPr/>
        </p:nvSpPr>
        <p:spPr>
          <a:xfrm>
            <a:off x="7790688" y="2103120"/>
            <a:ext cx="3236976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FF7657"/>
                </a:solidFill>
                <a:latin typeface="Hiragino Sans GB"/>
                <a:ea typeface="Hiragino Sans GB"/>
              </a:rPr>
              <a:t>全课结论</a:t>
            </a:r>
          </a:p>
        </p:txBody>
      </p:sp>
      <p:sp>
        <p:nvSpPr>
          <p:cNvPr id="591" name="TextBox 591"/>
          <p:cNvSpPr txBox="1"/>
          <p:nvPr/>
        </p:nvSpPr>
        <p:spPr>
          <a:xfrm>
            <a:off x="7790688" y="2743200"/>
            <a:ext cx="3182112" cy="192024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5F2E9"/>
                </a:solidFill>
                <a:latin typeface="Hiragino Sans GB"/>
                <a:ea typeface="Hiragino Sans GB"/>
              </a:rPr>
              <a:t>AI 可以降低表达成本。</a:t>
            </a:r>
          </a:p>
          <a:p>
            <a:pPr algn="l"/>
            <a:endParaRPr lang="zh-CN" sz="2000"/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rgbClr val="F5F2E9"/>
                </a:solidFill>
                <a:latin typeface="Hiragino Sans GB"/>
                <a:ea typeface="Hiragino Sans GB"/>
              </a:rPr>
              <a:t>真正有价值的，仍然是你在项目中作出的判断。</a:t>
            </a:r>
          </a:p>
        </p:txBody>
      </p:sp>
      <p:sp>
        <p:nvSpPr>
          <p:cNvPr id="592" name="Shape 592"/>
          <p:cNvSpPr/>
          <p:nvPr/>
        </p:nvSpPr>
        <p:spPr>
          <a:xfrm>
            <a:off x="749808" y="5614416"/>
            <a:ext cx="10533888" cy="557784"/>
          </a:xfrm>
          <a:prstGeom prst="roundRect">
            <a:avLst/>
          </a:prstGeom>
          <a:solidFill>
            <a:srgbClr val="133843"/>
          </a:solidFill>
          <a:ln w="7620">
            <a:solidFill>
              <a:srgbClr val="416A78"/>
            </a:solidFill>
          </a:ln>
          <a:effectLst/>
        </p:spPr>
        <p:txBody>
          <a:bodyPr/>
          <a:lstStyle/>
          <a:p/>
        </p:txBody>
      </p:sp>
      <p:sp>
        <p:nvSpPr>
          <p:cNvPr id="593" name="TextBox 593"/>
          <p:cNvSpPr txBox="1"/>
          <p:nvPr/>
        </p:nvSpPr>
        <p:spPr>
          <a:xfrm>
            <a:off x="932688" y="57332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FF7657"/>
                </a:solidFill>
                <a:latin typeface="Hiragino Sans GB"/>
                <a:ea typeface="Hiragino Sans GB"/>
              </a:rPr>
              <a:t>四个支点</a:t>
            </a:r>
          </a:p>
        </p:txBody>
      </p:sp>
      <p:sp>
        <p:nvSpPr>
          <p:cNvPr id="594" name="TextBox 594"/>
          <p:cNvSpPr txBox="1"/>
          <p:nvPr/>
        </p:nvSpPr>
        <p:spPr>
          <a:xfrm>
            <a:off x="2103120" y="5705856"/>
            <a:ext cx="8851392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27432" rIns="27432" tIns="27432" bIns="27432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80" b="1">
                <a:solidFill>
                  <a:srgbClr val="F5F2E9"/>
                </a:solidFill>
                <a:latin typeface="Hiragino Sans GB"/>
                <a:ea typeface="Hiragino Sans GB"/>
              </a:rPr>
              <a:t>看得准 · 选得明 · 验得过 · 说得清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