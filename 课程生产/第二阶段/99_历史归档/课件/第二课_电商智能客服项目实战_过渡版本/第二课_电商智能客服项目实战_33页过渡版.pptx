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8" r:id="rId3"/>
    <p:sldId id="300" r:id="rId4"/>
    <p:sldId id="298" r:id="rId5"/>
    <p:sldId id="259" r:id="rId6"/>
    <p:sldId id="299" r:id="rId7"/>
    <p:sldId id="260" r:id="rId8"/>
    <p:sldId id="261" r:id="rId9"/>
    <p:sldId id="262" r:id="rId10"/>
    <p:sldId id="265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0" r:id="rId21"/>
    <p:sldId id="282" r:id="rId22"/>
    <p:sldId id="283" r:id="rId23"/>
    <p:sldId id="284" r:id="rId24"/>
    <p:sldId id="285" r:id="rId25"/>
    <p:sldId id="286" r:id="rId26"/>
    <p:sldId id="287" r:id="rId27"/>
    <p:sldId id="289" r:id="rId28"/>
    <p:sldId id="290" r:id="rId29"/>
    <p:sldId id="292" r:id="rId30"/>
    <p:sldId id="293" r:id="rId31"/>
    <p:sldId id="294" r:id="rId32"/>
    <p:sldId id="295" r:id="rId33"/>
    <p:sldId id="297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display: 'flex', flexDirection: 'row', padding: 0 }}&gt;&#10;    &lt;Box style={{ width: 620, height: '100%', background: 'linear-gradient(135deg,#123A78 0%,#2F6FD0 100%)', padding: '64px 56px', justifyContent: 'space-between' }}&gt;&#10;        &lt;Box style={{ gap: 0 }}&gt;&#10;            &lt;Box style={{ width: 120, height: 4, background: '#FFFFFF', opacity: 0.55, borderRadius: 2 }} /&gt;&#10;            &lt;Text style={{ fontSize: 16, color: '#FFFFFF', opacity: 0.88, marginTop: 22, letterSpacing: 3 }}&gt;AI 应用开发课程 · 第二阶段&lt;/Text&gt;&#10;            &lt;Text style={{ fontSize: 56, color: '#FFFFFF', fontWeight: 'bold', marginTop: 26, lineHeight: 1.15 }}&gt;电商智能客服&lt;/Text&gt;&#10;            &lt;Text style={{ fontSize: 56, color: '#FFFFFF', fontWeight: 'bold', lineHeight: 1.15 }}&gt;项目实战&lt;/Text&gt;&#10;            &lt;Text style={{ fontSize: 22, color: '#E9F0FA', marginTop: 30, lineHeight: 1.5 }}&gt;&#10;                把用户的自然语言，接到确定的业务流程上&#10;            &lt;/Text&gt;&#10;        &lt;/Box&gt;&#10;        &lt;Box&gt;&#10;            &lt;Box style={{ width: 500, height: 1, background: 'rgba(255,255,255,0.32)' }} /&gt;&#10;            &lt;Box style={{ flexDirection: 'row', marginTop: 20, gap: 44 }}&gt;&#10;                &lt;Box&gt;&#10;                    &lt;Text style={{ fontSize: 14, color: '#FFFFFF', opacity: 0.72 }}&gt;课时&lt;/Text&gt;&#10;                    &lt;Text style={{ fontSize: 22, color: '#FFFFFF', fontWeight: 'bold', marginTop: 6 }}&gt;第二课&lt;/Text&gt;&#10;                &lt;/Box&gt;&#10;                &lt;Box&gt;&#10;                    &lt;Text style={{ fontSize: 14, color: '#FFFFFF', opacity: 0.72 }}&gt;讲义版本&lt;/Text&gt;&#10;                    &lt;Text style={{ fontSize: 22, color: '#FFFFFF', fontWeight: 'bold', marginTop: 6 }}&gt;v1.0&lt;/Text&gt;&#10;                &lt;/Box&gt;&#10;                &lt;Box&gt;&#10;                    &lt;Text style={{ fontSize: 14, color: '#FFFFFF', opacity: 0.72 }}&gt;案例性质&lt;/Text&gt;&#10;                    &lt;Text style={{ fontSize: 22, color: '#FFFFFF', fontWeight: 'bold', marginTop: 6 }}&gt;教学模拟&lt;/Text&gt;&#10;                &lt;/Box&gt;&#10;            &lt;/Box&gt;&#10;        &lt;/Box&gt;&#10;    &lt;/Box&gt;&#10;    &lt;Box style={{ flex: 1, background: '#F7F9FC', justifyContent: 'center', alignItems: 'center' }}&gt;&#10;        &lt;svg width={540} height={560} viewBox='0 0 540 560'&gt;&#10;            &lt;rect x='16' y='40' width='300' height='420' rx='18' fill='#FFFFFF' stroke='#D6DCE5' strokeWidth='2' /&gt;&#10;            &lt;rect x='16' y='40' width='300' height='60' rx='18' fill='#123A78' /&gt;&#10;            &lt;rect x='16' y='82' width='300' height='18' fill='#123A78' /&gt;&#10;            &lt;rect x='44' y='64' width='110' height='10' rx='5' fill='#FFFFFF' opacity='0.85' /&gt;&#10;            &lt;circle cx='292' cy='70' r='7' fill='#FFFFFF' opacity='0.6' /&gt;&#10;            &lt;rect x='44' y='126' width='150' height='46' rx='14' fill='#E9F0FA' /&gt;&#10;            &lt;rect x='122' y='192' width='172' height='62' rx='14' fill='#123A78' /&gt;&#10;            &lt;rect x='44' y='274' width='196' height='62' rx='14' fill='#E9F0FA' /&gt;&#10;            &lt;rect x='88' y='356' width='152' height='46' rx='14' fill='#E9F0FA' /&gt;&#10;            &lt;rect x='56' y='144' width='112' height='6' rx='3' fill='#2F6FD0' opacity='0.55' /&gt;&#10;            &lt;rect x='140' y='214' width='124' height='6' rx='3' fill='#FFFFFF' opacity='0.75' /&gt;&#10;            &lt;rect x='140' y='230' width='90' height='6' rx='3' fill='#FFFFFF' opacity='0.45' /&gt;&#10;            &lt;rect x='64' y='296' width='150' height='6' rx='3' fill='#2F6FD0' opacity='0.55' /&gt;&#10;            &lt;rect x='64' y='312' width='104' height='6' rx='3' fill='#2F6FD0' opacity='0.35' /&gt;&#10;            &lt;rect x='108' y='374' width='108' height='6' rx='3' fill='#2F6FD0' opacity='0.55' /&gt;&#10;            &lt;line x1='252' y1='149' x2='330' y2='149' stroke='#2F6FD0' strokeWidth='2' strokeDasharray='5 4' /&gt;&#10;            &lt;line x1='252' y1='223' x2='330' y2='223' stroke='#2F6FD0' strokeWidth='2' strokeDasharray='5 4' /&gt;&#10;            &lt;line x1='252' y1='305' x2='330' y2='305' stroke='#2F6FD0' strokeWidth='2' strokeDasharray='5 4' /&gt;&#10;            &lt;line x1='252' y1='379' x2='330' y2='379' stroke='#2F6FD0' strokeWidth='2' strokeDasharray='5 4' /&gt;&#10;            &lt;rect x='336' y='120' width='188' height='58' rx='12' fill='#FFFFFF' stroke='#2F6FD0' strokeWidth='2' /&gt;&#10;            &lt;text x='366' y='156' fontFamily='Source Han Sans SC' fontSize='19' fill='#123A78' fontWeight='600'&gt;订单查询&lt;/text&gt;&#10;            &lt;rect x='336' y='194' width='188' height='58' rx='12' fill='#123A78' /&gt;&#10;            &lt;text x='366' y='230' fontFamily='Source Han Sans SC' fontSize='19' fill='#FFFFFF' fontWeight='600'&gt;售后处理&lt;/text&gt;&#10;            &lt;rect x='336' y='276' width='188' height='58' rx='12' fill='#FFFFFF' stroke='#2F6FD0' strokeWidth='2' /&gt;&#10;            &lt;text x='366' y='312' fontFamily='Source Han Sans SC' fontSize='19' fill='#123A78' fontWeight='600'&gt;商品推荐&lt;/text&gt;&#10;            &lt;rect x='336' y='350' width='188' height='58' rx='12' fill='#FFFFFF' stroke='#2F6FD0' strokeWidth='2' /&gt;&#10;            &lt;text x='366' y='386' fontFamily='Source Han Sans SC' fontSize='19' fill='#123A78' fontWeight='600'&gt;转人工 / 兜底&lt;/text&gt;&#10;            &lt;text x='336' y='500' fontFamily='Source Han Sans SC' fontSize='17' fill='#8B97A8'&gt;同一个对话窗口，四种处理方式&lt;/text&gt;&#10;        &lt;/svg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5905500" cy="6858000"/>
          </a:xfrm>
          <a:prstGeom prst="rect">
            <a:avLst/>
          </a:prstGeom>
          <a:gradFill>
            <a:gsLst>
              <a:gs pos="0">
                <a:srgbClr val="123A78"/>
              </a:gs>
              <a:gs pos="100000">
                <a:srgbClr val="2F6FD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533400" y="1295400"/>
            <a:ext cx="4838700" cy="742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zh-CN" sz="4200" b="1" dirty="0">
                <a:solidFill>
                  <a:srgbClr val="FFFFFF"/>
                </a:solidFill>
                <a:latin typeface="Microsoft YaHei"/>
                <a:ea typeface="Microsoft YaHei"/>
              </a:rPr>
              <a:t>电商智能客服</a:t>
            </a:r>
            <a:endParaRPr dirty="0"/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533400" y="2038350"/>
            <a:ext cx="4838700" cy="742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项目实战</a:t>
            </a:r>
            <a:endParaRPr/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533400" y="3067050"/>
            <a:ext cx="48387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650">
                <a:solidFill>
                  <a:srgbClr val="E9F0FA"/>
                </a:solidFill>
                <a:latin typeface="Microsoft YaHei"/>
                <a:ea typeface="Microsoft YaHei"/>
              </a:rPr>
              <a:t>把用户的自然语言，接到确定的业务流程上</a:t>
            </a:r>
            <a:endParaRPr/>
          </a:p>
        </p:txBody>
      </p:sp>
      <p:sp>
        <p:nvSpPr>
          <p:cNvPr id="7" name="矩形 6"/>
          <p:cNvSpPr/>
          <p:nvPr/>
        </p:nvSpPr>
        <p:spPr>
          <a:xfrm>
            <a:off x="533400" y="5572125"/>
            <a:ext cx="4762500" cy="9525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533400" y="5991225"/>
            <a:ext cx="6286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第二课</a:t>
            </a:r>
            <a:endParaRPr/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1581150" y="5991225"/>
            <a:ext cx="533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v1.0</a:t>
            </a:r>
            <a:endParaRPr/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2533650" y="5991225"/>
            <a:ext cx="838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教学模拟</a:t>
            </a:r>
            <a:endParaRPr/>
          </a:p>
        </p:txBody>
      </p:sp>
      <p:sp>
        <p:nvSpPr>
          <p:cNvPr id="11" name="矩形 10"/>
          <p:cNvSpPr/>
          <p:nvPr/>
        </p:nvSpPr>
        <p:spPr>
          <a:xfrm>
            <a:off x="5905500" y="0"/>
            <a:ext cx="62865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0" y="762000"/>
            <a:ext cx="5143500" cy="5334000"/>
          </a:xfrm>
          <a:prstGeom prst="rect">
            <a:avLst/>
          </a:prstGeom>
          <a:ln/>
        </p:spPr>
      </p:pic>
      <p:sp>
        <p:nvSpPr>
          <p:cNvPr id="13" name="圆角矩形 12"/>
          <p:cNvSpPr/>
          <p:nvPr/>
        </p:nvSpPr>
        <p:spPr>
          <a:xfrm>
            <a:off x="533400" y="60960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533400" y="857250"/>
            <a:ext cx="4838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AI </a:t>
            </a:r>
            <a:r>
              <a:rPr lang="zh-CN" sz="1200" spc="2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应用开发课程</a:t>
            </a:r>
            <a:r>
              <a:rPr lang="en-US" sz="1200" spc="2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 spc="2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第二阶段</a:t>
            </a:r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533400" y="5772150"/>
            <a:ext cx="628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课时</a:t>
            </a:r>
            <a:endParaRPr/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1581150" y="5772150"/>
            <a:ext cx="533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讲义版本</a:t>
            </a:r>
            <a:endParaRPr/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2533650" y="5772150"/>
            <a:ext cx="838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案例性质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0, position: 'relative' }}&gt;&#10;    &lt;Box style={{ position: 'absolute', left: 0, top: 0, width: 16, height: 720, background: '#123A78' }} /&gt;&#10;    &lt;Box style={{ width: '100%', height: '100%', flexDirection: 'row', alignItems: 'center', padding: '0 72px 0 88px', gap: 56 }}&gt;&#10;        &lt;Box style={{ width: 280, gap: 14 }}&gt;&#10;            &lt;Text style={{ fontSize: 132, fontWeight: 'bold', color: '#123A78', lineHeight: 1, fontFamily: 'JetBrains Mono' }}&gt;01&lt;/Text&gt;&#10;            &lt;Box style={{ width: 200, height: 4, background: '#2F6FD0' }} /&gt;&#10;            &lt;Text style={{ fontSize: 16, color: '#8B97A8', letterSpacing: 3, fontFamily: 'JetBrains Mono' }}&gt;P.04 – 14&lt;/Text&gt;&#10;        &lt;/Box&gt;&#10;        &lt;Box style={{ flex: 1, gap: 20 }}&gt;&#10;            &lt;Text style={{ fontSize: 44, fontWeight: '700', color: '#123A78', lineHeight: 1.25 }}&gt;电商客服业务背景&lt;br /&gt;与项目任务&lt;/Text&gt;&#10;            &lt;Text style={{ fontSize: 22, color: '#4A5568', lineHeight: 1.55 }}&gt;&#10;                这一节先不看工作流，也不急着写提示词。先看懂客服原本怎样工作，才知道 AI 应该改善哪一步。&#10;            &lt;/Text&gt;&#10;            &lt;Box style={{ gap: 12, marginTop: 6 }}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三个阶段：购买前、下单后、收货后，客服在做的事完全不同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四种形态：人工、FAQ 机器人、流程型机器人、大模型客服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一个任务：在统一入口里，把五种用户请求接到正确的处理流程&lt;/Text&gt;&#10;                &lt;/Box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文本框 658" descr="{&quot;isTemplate&quot;:true,&quot;type&quot;:&quot;text&quot;}"/>
          <p:cNvSpPr txBox="1"/>
          <p:nvPr/>
        </p:nvSpPr>
        <p:spPr>
          <a:xfrm>
            <a:off x="3099954" y="2442513"/>
            <a:ext cx="5992091" cy="1972974"/>
          </a:xfrm>
          <a:prstGeom prst="rect">
            <a:avLst/>
          </a:prstGeom>
        </p:spPr>
        <p:txBody>
          <a:bodyPr wrap="none" lIns="0" tIns="0" rIns="0" bIns="0"/>
          <a:lstStyle/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123A78"/>
                </a:solidFill>
                <a:latin typeface="Microsoft YaHei"/>
                <a:ea typeface="Microsoft YaHei"/>
              </a:rPr>
              <a:t>侧重内容生成</a:t>
            </a:r>
            <a:endParaRPr lang="en-US" altLang="zh-CN" sz="2800" b="1" dirty="0">
              <a:solidFill>
                <a:srgbClr val="123A78"/>
              </a:solidFill>
              <a:latin typeface="Microsoft YaHei"/>
              <a:ea typeface="Microsoft YaHei"/>
            </a:endParaRPr>
          </a:p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123A78"/>
                </a:solidFill>
                <a:latin typeface="Microsoft YaHei"/>
                <a:ea typeface="Microsoft YaHei"/>
              </a:rPr>
              <a:t>侧重判断</a:t>
            </a:r>
            <a:endParaRPr lang="en-US" altLang="zh-CN" sz="2800" b="1" dirty="0">
              <a:solidFill>
                <a:srgbClr val="123A78"/>
              </a:solidFill>
              <a:latin typeface="Microsoft YaHei"/>
              <a:ea typeface="Microsoft YaHei"/>
            </a:endParaRPr>
          </a:p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123A78"/>
                </a:solidFill>
                <a:latin typeface="Microsoft YaHei"/>
                <a:ea typeface="Microsoft YaHei"/>
              </a:rPr>
              <a:t>侧重对话</a:t>
            </a:r>
            <a:endParaRPr sz="2800" dirty="0"/>
          </a:p>
        </p:txBody>
      </p:sp>
      <p:sp>
        <p:nvSpPr>
          <p:cNvPr id="667" name="矩形 666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" name="文本框 1" descr="{&quot;isTemplate&quot;:true,&quot;type&quot;:&quot;text&quot;}">
            <a:extLst>
              <a:ext uri="{FF2B5EF4-FFF2-40B4-BE49-F238E27FC236}">
                <a16:creationId xmlns:a16="http://schemas.microsoft.com/office/drawing/2014/main" id="{D506C9A6-C3FA-9754-1BD2-7565ECC7786B}"/>
              </a:ext>
            </a:extLst>
          </p:cNvPr>
          <p:cNvSpPr txBox="1"/>
          <p:nvPr/>
        </p:nvSpPr>
        <p:spPr>
          <a:xfrm>
            <a:off x="381000" y="504825"/>
            <a:ext cx="4232564" cy="710911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123A78"/>
                </a:solidFill>
                <a:latin typeface="Microsoft YaHei"/>
                <a:ea typeface="Microsoft YaHei"/>
              </a:rPr>
              <a:t>AI</a:t>
            </a:r>
            <a:r>
              <a:rPr lang="zh-CN" altLang="en-US" sz="3200" b="1" dirty="0">
                <a:solidFill>
                  <a:srgbClr val="123A78"/>
                </a:solidFill>
                <a:latin typeface="Microsoft YaHei"/>
                <a:ea typeface="Microsoft YaHei"/>
              </a:rPr>
              <a:t>应用的几个方向</a:t>
            </a:r>
            <a:endParaRPr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0, position: 'relative' }}&gt;&#10;    &lt;Box style={{ position: 'absolute', left: 0, top: 0, width: 16, height: 720, background: '#123A78' }} /&gt;&#10;    &lt;Box style={{ width: '100%', height: '100%', flexDirection: 'row', alignItems: 'center', padding: '0 72px 0 88px', gap: 56 }}&gt;&#10;        &lt;Box style={{ width: 280, gap: 14 }}&gt;&#10;            &lt;Text style={{ fontSize: 132, fontWeight: 'bold', color: '#123A78', lineHeight: 1, fontFamily: 'JetBrains Mono' }}&gt;01&lt;/Text&gt;&#10;            &lt;Box style={{ width: 200, height: 4, background: '#2F6FD0' }} /&gt;&#10;            &lt;Text style={{ fontSize: 16, color: '#8B97A8', letterSpacing: 3, fontFamily: 'JetBrains Mono' }}&gt;P.04 – 14&lt;/Text&gt;&#10;        &lt;/Box&gt;&#10;        &lt;Box style={{ flex: 1, gap: 20 }}&gt;&#10;            &lt;Text style={{ fontSize: 44, fontWeight: '700', color: '#123A78', lineHeight: 1.25 }}&gt;电商客服业务背景&lt;br /&gt;与项目任务&lt;/Text&gt;&#10;            &lt;Text style={{ fontSize: 22, color: '#4A5568', lineHeight: 1.55 }}&gt;&#10;                这一节先不看工作流，也不急着写提示词。先看懂客服原本怎样工作，才知道 AI 应该改善哪一步。&#10;            &lt;/Text&gt;&#10;            &lt;Box style={{ gap: 12, marginTop: 6 }}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三个阶段：购买前、下单后、收货后，客服在做的事完全不同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四种形态：人工、FAQ 机器人、流程型机器人、大模型客服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一个任务：在统一入口里，把五种用户请求接到正确的处理流程&lt;/Text&gt;&#10;                &lt;/Box&gt;&#10;            &lt;/Box&gt;&#10;        &lt;/Box&gt;&#10;    &lt;/Box&gt;&#10;&lt;/Slide&gt;">
          <a:extLst>
            <a:ext uri="{FF2B5EF4-FFF2-40B4-BE49-F238E27FC236}">
              <a16:creationId xmlns:a16="http://schemas.microsoft.com/office/drawing/2014/main" id="{CB34C4EA-AAFE-0D54-CFED-A6C67E322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文本框 658" descr="{&quot;isTemplate&quot;:true,&quot;type&quot;:&quot;text&quot;}">
            <a:extLst>
              <a:ext uri="{FF2B5EF4-FFF2-40B4-BE49-F238E27FC236}">
                <a16:creationId xmlns:a16="http://schemas.microsoft.com/office/drawing/2014/main" id="{9E37467A-1482-669C-24FC-8BF5A06F3E5B}"/>
              </a:ext>
            </a:extLst>
          </p:cNvPr>
          <p:cNvSpPr txBox="1"/>
          <p:nvPr/>
        </p:nvSpPr>
        <p:spPr>
          <a:xfrm>
            <a:off x="3099954" y="2935756"/>
            <a:ext cx="5992091" cy="986487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>
              <a:lnSpc>
                <a:spcPct val="125000"/>
              </a:lnSpc>
            </a:pPr>
            <a:r>
              <a:rPr lang="zh-CN" altLang="en-US" sz="3600" b="1" dirty="0">
                <a:solidFill>
                  <a:srgbClr val="123A78"/>
                </a:solidFill>
                <a:latin typeface="Microsoft YaHei"/>
                <a:ea typeface="Microsoft YaHei"/>
              </a:rPr>
              <a:t>一切对话皆客服</a:t>
            </a:r>
            <a:endParaRPr sz="3600" dirty="0"/>
          </a:p>
        </p:txBody>
      </p:sp>
      <p:sp>
        <p:nvSpPr>
          <p:cNvPr id="667" name="矩形 666">
            <a:extLst>
              <a:ext uri="{FF2B5EF4-FFF2-40B4-BE49-F238E27FC236}">
                <a16:creationId xmlns:a16="http://schemas.microsoft.com/office/drawing/2014/main" id="{FFE50C9F-969B-ECE1-8FA4-96255E53C05B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3574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0, position: 'relative' }}&gt;&#10;    &lt;Box style={{ position: 'absolute', left: 0, top: 0, width: 16, height: 720, background: '#123A78' }} /&gt;&#10;    &lt;Box style={{ width: '100%', height: '100%', flexDirection: 'row', alignItems: 'center', padding: '0 72px 0 88px', gap: 56 }}&gt;&#10;        &lt;Box style={{ width: 280, gap: 14 }}&gt;&#10;            &lt;Text style={{ fontSize: 132, fontWeight: 'bold', color: '#123A78', lineHeight: 1, fontFamily: 'JetBrains Mono' }}&gt;01&lt;/Text&gt;&#10;            &lt;Box style={{ width: 200, height: 4, background: '#2F6FD0' }} /&gt;&#10;            &lt;Text style={{ fontSize: 16, color: '#8B97A8', letterSpacing: 3, fontFamily: 'JetBrains Mono' }}&gt;P.04 – 14&lt;/Text&gt;&#10;        &lt;/Box&gt;&#10;        &lt;Box style={{ flex: 1, gap: 20 }}&gt;&#10;            &lt;Text style={{ fontSize: 44, fontWeight: '700', color: '#123A78', lineHeight: 1.25 }}&gt;电商客服业务背景&lt;br /&gt;与项目任务&lt;/Text&gt;&#10;            &lt;Text style={{ fontSize: 22, color: '#4A5568', lineHeight: 1.55 }}&gt;&#10;                这一节先不看工作流，也不急着写提示词。先看懂客服原本怎样工作，才知道 AI 应该改善哪一步。&#10;            &lt;/Text&gt;&#10;            &lt;Box style={{ gap: 12, marginTop: 6 }}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三个阶段：购买前、下单后、收货后，客服在做的事完全不同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四种形态：人工、FAQ 机器人、流程型机器人、大模型客服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一个任务：在统一入口里，把五种用户请求接到正确的处理流程&lt;/Text&gt;&#10;                &lt;/Box&gt;&#10;            &lt;/Box&gt;&#10;        &lt;/Box&gt;&#10;    &lt;/Box&gt;&#10;&lt;/Slide&gt;">
          <a:extLst>
            <a:ext uri="{FF2B5EF4-FFF2-40B4-BE49-F238E27FC236}">
              <a16:creationId xmlns:a16="http://schemas.microsoft.com/office/drawing/2014/main" id="{73E782A7-08E6-AB32-E32B-07338855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文本框 655" descr="{&quot;isTemplate&quot;:true,&quot;type&quot;:&quot;text&quot;}">
            <a:extLst>
              <a:ext uri="{FF2B5EF4-FFF2-40B4-BE49-F238E27FC236}">
                <a16:creationId xmlns:a16="http://schemas.microsoft.com/office/drawing/2014/main" id="{FD8BB5DD-EC20-1BC0-8467-6557091BC433}"/>
              </a:ext>
            </a:extLst>
          </p:cNvPr>
          <p:cNvSpPr txBox="1"/>
          <p:nvPr/>
        </p:nvSpPr>
        <p:spPr>
          <a:xfrm>
            <a:off x="838200" y="2428875"/>
            <a:ext cx="2667000" cy="1514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900" b="1">
                <a:solidFill>
                  <a:srgbClr val="123A78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657" name="矩形 656">
            <a:extLst>
              <a:ext uri="{FF2B5EF4-FFF2-40B4-BE49-F238E27FC236}">
                <a16:creationId xmlns:a16="http://schemas.microsoft.com/office/drawing/2014/main" id="{34CEEDD2-3E58-9CEE-DB1D-1FB1817400EF}"/>
              </a:ext>
            </a:extLst>
          </p:cNvPr>
          <p:cNvSpPr/>
          <p:nvPr/>
        </p:nvSpPr>
        <p:spPr>
          <a:xfrm>
            <a:off x="838200" y="4076700"/>
            <a:ext cx="1905000" cy="38100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8" name="文本框 657" descr="{&quot;isTemplate&quot;:true,&quot;type&quot;:&quot;text&quot;}">
            <a:extLst>
              <a:ext uri="{FF2B5EF4-FFF2-40B4-BE49-F238E27FC236}">
                <a16:creationId xmlns:a16="http://schemas.microsoft.com/office/drawing/2014/main" id="{9A232879-5B22-9E65-2CCD-B521540E61C9}"/>
              </a:ext>
            </a:extLst>
          </p:cNvPr>
          <p:cNvSpPr txBox="1"/>
          <p:nvPr/>
        </p:nvSpPr>
        <p:spPr>
          <a:xfrm>
            <a:off x="838200" y="4248150"/>
            <a:ext cx="2667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8B97A8"/>
                </a:solidFill>
                <a:latin typeface="JetBrains Mono"/>
                <a:ea typeface="JetBrains Mono"/>
              </a:rPr>
              <a:t>P.04 – 14</a:t>
            </a:r>
            <a:endParaRPr/>
          </a:p>
        </p:txBody>
      </p:sp>
      <p:sp>
        <p:nvSpPr>
          <p:cNvPr id="659" name="文本框 658" descr="{&quot;isTemplate&quot;:true,&quot;type&quot;:&quot;text&quot;}">
            <a:extLst>
              <a:ext uri="{FF2B5EF4-FFF2-40B4-BE49-F238E27FC236}">
                <a16:creationId xmlns:a16="http://schemas.microsoft.com/office/drawing/2014/main" id="{07EE60C7-F637-47A5-768A-58D357A4DF27}"/>
              </a:ext>
            </a:extLst>
          </p:cNvPr>
          <p:cNvSpPr txBox="1"/>
          <p:nvPr/>
        </p:nvSpPr>
        <p:spPr>
          <a:xfrm>
            <a:off x="4017818" y="2557462"/>
            <a:ext cx="7467600" cy="1257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3300" b="1" dirty="0">
                <a:solidFill>
                  <a:srgbClr val="123A78"/>
                </a:solidFill>
                <a:latin typeface="Microsoft YaHei"/>
                <a:ea typeface="Microsoft YaHei"/>
              </a:rPr>
              <a:t>电商客服业务背景</a:t>
            </a:r>
            <a:endParaRPr dirty="0"/>
          </a:p>
          <a:p>
            <a:pPr>
              <a:lnSpc>
                <a:spcPct val="125000"/>
              </a:lnSpc>
            </a:pPr>
            <a:r>
              <a:rPr lang="zh-CN" sz="3300" b="1" dirty="0">
                <a:solidFill>
                  <a:srgbClr val="123A78"/>
                </a:solidFill>
                <a:latin typeface="Microsoft YaHei"/>
                <a:ea typeface="Microsoft YaHei"/>
              </a:rPr>
              <a:t>与项目任务</a:t>
            </a:r>
            <a:endParaRPr dirty="0"/>
          </a:p>
        </p:txBody>
      </p:sp>
      <p:sp>
        <p:nvSpPr>
          <p:cNvPr id="667" name="矩形 666">
            <a:extLst>
              <a:ext uri="{FF2B5EF4-FFF2-40B4-BE49-F238E27FC236}">
                <a16:creationId xmlns:a16="http://schemas.microsoft.com/office/drawing/2014/main" id="{58A9BC14-12A3-B1BA-355C-59F8A390FAE3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8535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Box style={{ flexDirection: 'row', alignItems: 'center', gap: 10 }}&gt;&#10;                &lt;Text style={{ fontSize: 14, color: '#2F6FD0', letterSpacing: 3 }}&gt;第一节 · 业务背景与项目任务&lt;/Text&gt;&#10;            &lt;/Box&gt;&#10;            &lt;Text style={{ fontSize: 34, fontWeight: '600', color: '#123A78', marginTop: 8, lineHeight: 1.25 }}&gt;客服每天在处理什么&lt;/Text&gt;&#10;        &lt;/Box&gt;&#10;        &lt;Box style={{ width: 96, height: 3, background: '#2F6FD0', marginTop: 58 }} /&gt;&#10;    &lt;/Box&gt;&#10;    &lt;Box style={{ height: 540, marginTop: 8, flexDirection: 'row', gap: 20 }}&gt;&#10;        &lt;svg width={64} height={540} viewBox='0 0 64 540'&gt;&#10;            &lt;line x1='32' y1='40' x2='32' y2='500' stroke='#D6DCE5' strokeWidth='3' /&gt;&#10;            &lt;circle cx='32' cy='70' r='16' fill='#123A78' /&gt;&#10;            &lt;text x='32' y='77' textAnchor='middle' fontFamily='JetBrains Mono' fontSize='15' fill='#FFFFFF' fontWeight='bold'&gt;1&lt;/text&gt;&#10;            &lt;circle cx='32' cy='270' r='16' fill='#123A78' /&gt;&#10;            &lt;text x='32' y='277' textAnchor='middle' fontFamily='JetBrains Mono' fontSize='15' fill='#FFFFFF' fontWeight='bold'&gt;2&lt;/text&gt;&#10;            &lt;circle cx='32' cy='470' r='16' fill='#123A78' /&gt;&#10;            &lt;text x='32' y='477' textAnchor='middle' fontFamily='JetBrains Mono' fontSize='15' fill='#FFFFFF' fontWeight='bold'&gt;3&lt;/text&gt;&#10;        &lt;/svg&gt;&#10;        &lt;Box style={{ flex: 1, justifyContent: 'space-between' }}&gt;&#10;            &lt;Box style={{ height: 156, background: '#FFFFFF', border: '1px solid #D6DCE5', borderRadius: 10, padding: '16px 22px', justifyContent: 'center', gap: 8, boxShadow: '0 4px 16px rgba(18,58,120,0.08)' }}&gt;&#10;                &lt;Box style={{ flexDirection: 'row', alignItems: 'center', gap: 12 }}&gt;&#10;                    &lt;Text style={{ fontSize: 25, fontWeight: '600', color: '#123A78' }}&gt;购买前&lt;/Text&gt;&#10;                    &lt;Text style={{ fontSize: 20, color: '#4A5568' }}&gt;帮助用户了解和选择商品&lt;/Text&gt;&#10;                &lt;/Box&gt;&#10;                &lt;Text style={{ fontSize: 20, color: '#1A2230', lineHeight: 1.45 }}&gt;&#10;                    用户会问：「这两款耳机有什么区别？」「预算三百以内有没有推荐？」&#10;                &lt;/Text&gt;&#10;                &lt;Text style={{ fontSize: 20, color: '#2F6FD0', lineHeight: 1.45 }}&gt;&#10;                    客服的作用不只是回答参数，还要结合使用场景帮用户做选择。&#10;                &lt;/Text&gt;&#10;            &lt;/Box&gt;&#10;            &lt;Box style={{ height: 156, background: '#FFFFFF', border: '1px solid #D6DCE5', borderRadius: 10, padding: '16px 22px', justifyContent: 'center', gap: 8, boxShadow: '0 4px 16px rgba(18,58,120,0.08)' }}&gt;&#10;                &lt;Box style={{ flexDirection: 'row', alignItems: 'center', gap: 12 }}&gt;&#10;                    &lt;Text style={{ fontSize: 25, fontWeight: '600', color: '#123A78' }}&gt;下单后&lt;/Text&gt;&#10;                    &lt;Text style={{ fontSize: 20, color: '#4A5568' }}&gt;帮助用户了解订单和履约情况&lt;/Text&gt;&#10;                &lt;/Box&gt;&#10;                &lt;Text style={{ fontSize: 20, color: '#1A2230', lineHeight: 1.45 }}&gt;&#10;                    「今天买什么时候发货？」「上周买的耳机怎么还没到？」&#10;                &lt;/Text&gt;&#10;                &lt;Text style={{ fontSize: 20, color: '#2F6FD0', lineHeight: 1.45 }}&gt;&#10;                    必须查询具体订单：同一个问题，不同用户、不同订单答案完全不同。&#10;                &lt;/Text&gt;&#10;            &lt;/Box&gt;&#10;            &lt;Box style={{ height: 156, background: '#FFFFFF', border: '1px solid #D6DCE5', borderRadius: 10, padding: '16px 22px', justifyContent: 'center', gap: 8, boxShadow: '0 4px 16px rgba(18,58,120,0.08)' }}&gt;&#10;                &lt;Box style={{ flexDirection: 'row', alignItems: 'center', gap: 12 }}&gt;&#10;                    &lt;Text style={{ fontSize: 25, fontWeight: '600', color: '#123A78' }}&gt;收货后&lt;/Text&gt;&#10;                    &lt;Text style={{ fontSize: 20, color: '#4A5568' }}&gt;解决使用问题和售后诉求&lt;/Text&gt;&#10;                &lt;/Box&gt;&#10;                &lt;Text style={{ fontSize: 20, color: '#1A2230', lineHeight: 1.45 }}&gt;&#10;                    「耳机连接不上手机。」「发错颜色了，我想换一个。」&#10;                &lt;/Text&gt;&#10;                &lt;Text style={{ fontSize: 20, color: '#2F6FD0', lineHeight: 1.45 }}&gt;&#10;                    有的靠使用说明，有的要查进度，有的需要收材料、提交申请或交给人工。&#10;                &lt;/Text&gt;&#10;            &lt;/Box&gt;&#10;        &lt;/Box&gt;&#10;        &lt;Box style={{ width: 300, background: '#123A78', borderRadius: 10, padding: '24px 22px', justifyContent: 'space-between' }}&gt;&#10;            &lt;Box&gt;&#10;                &lt;Text style={{ fontSize: 14, color: '#FFFFFF', opacity: 0.7, letterSpacing: 2 }}&gt;SO WHAT&lt;/Text&gt;&#10;                &lt;Text style={{ fontSize: 25, fontWeight: '600', color: '#FFFFFF', marginTop: 12, lineHeight: 1.4 }}&gt;不是聊天窗口，&lt;br /&gt;而是三条不同的业务线&lt;/Text&gt;&#10;            &lt;/Box&gt;&#10;            &lt;Text style={{ fontSize: 20, color: '#E9F0FA', lineHeight: 1.6 }}&gt;&#10;                我们要做的「电商智能客服」，需要承接购买前后的不同需求，并把它们接到对应的信息和处理流程上。&#10;            &lt;/Text&gt;&#10;            &lt;Box style={{ width: 72, height: 3, background: '#FFFFFF', opacity: 0.6 }} /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04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矩形 9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43" name="文本框 942" descr="{&quot;isTemplate&quot;:true,&quot;type&quot;:&quot;text&quot;}"/>
          <p:cNvSpPr txBox="1"/>
          <p:nvPr/>
        </p:nvSpPr>
        <p:spPr>
          <a:xfrm>
            <a:off x="381000" y="266700"/>
            <a:ext cx="2152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第一节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业务背景与项目任务</a:t>
            </a:r>
            <a:endParaRPr/>
          </a:p>
        </p:txBody>
      </p:sp>
      <p:sp>
        <p:nvSpPr>
          <p:cNvPr id="944" name="文本框 943" descr="{&quot;isTemplate&quot;:true,&quot;type&quot;:&quot;text&quot;}"/>
          <p:cNvSpPr txBox="1"/>
          <p:nvPr/>
        </p:nvSpPr>
        <p:spPr>
          <a:xfrm>
            <a:off x="381000" y="504825"/>
            <a:ext cx="29146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 dirty="0">
                <a:solidFill>
                  <a:srgbClr val="123A78"/>
                </a:solidFill>
                <a:latin typeface="Microsoft YaHei"/>
                <a:ea typeface="Microsoft YaHei"/>
              </a:rPr>
              <a:t>客服每天在处理什么</a:t>
            </a:r>
            <a:endParaRPr dirty="0"/>
          </a:p>
        </p:txBody>
      </p:sp>
      <p:sp>
        <p:nvSpPr>
          <p:cNvPr id="945" name="矩形 944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46" name="图形 94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1066800"/>
            <a:ext cx="609600" cy="5143500"/>
          </a:xfrm>
          <a:prstGeom prst="rect">
            <a:avLst/>
          </a:prstGeom>
          <a:ln/>
        </p:spPr>
      </p:pic>
      <p:sp>
        <p:nvSpPr>
          <p:cNvPr id="947" name="圆角矩形 946"/>
          <p:cNvSpPr/>
          <p:nvPr/>
        </p:nvSpPr>
        <p:spPr>
          <a:xfrm>
            <a:off x="1181100" y="1066800"/>
            <a:ext cx="758190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48" name="文本框 947" descr="{&quot;isTemplate&quot;:true,&quot;type&quot;:&quot;text&quot;}"/>
          <p:cNvSpPr txBox="1"/>
          <p:nvPr/>
        </p:nvSpPr>
        <p:spPr>
          <a:xfrm>
            <a:off x="1390650" y="1257300"/>
            <a:ext cx="71437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23A78"/>
                </a:solidFill>
                <a:latin typeface="Microsoft YaHei"/>
                <a:ea typeface="Microsoft YaHei"/>
              </a:rPr>
              <a:t>购买前</a:t>
            </a:r>
            <a:endParaRPr/>
          </a:p>
        </p:txBody>
      </p:sp>
      <p:sp>
        <p:nvSpPr>
          <p:cNvPr id="949" name="文本框 948" descr="{&quot;isTemplate&quot;:true,&quot;type&quot;:&quot;text&quot;}"/>
          <p:cNvSpPr txBox="1"/>
          <p:nvPr/>
        </p:nvSpPr>
        <p:spPr>
          <a:xfrm>
            <a:off x="2219325" y="1285875"/>
            <a:ext cx="2095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帮助用户了解和选择商品</a:t>
            </a:r>
            <a:endParaRPr/>
          </a:p>
        </p:txBody>
      </p:sp>
      <p:sp>
        <p:nvSpPr>
          <p:cNvPr id="950" name="文本框 949" descr="{&quot;isTemplate&quot;:true,&quot;type&quot;:&quot;text&quot;}"/>
          <p:cNvSpPr txBox="1"/>
          <p:nvPr/>
        </p:nvSpPr>
        <p:spPr>
          <a:xfrm>
            <a:off x="1390650" y="1619250"/>
            <a:ext cx="716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用户会问：「这两款耳机有什么区别？」「预算三百以内有没有推荐？」</a:t>
            </a:r>
            <a:endParaRPr/>
          </a:p>
        </p:txBody>
      </p:sp>
      <p:sp>
        <p:nvSpPr>
          <p:cNvPr id="951" name="文本框 950" descr="{&quot;isTemplate&quot;:true,&quot;type&quot;:&quot;text&quot;}"/>
          <p:cNvSpPr txBox="1"/>
          <p:nvPr/>
        </p:nvSpPr>
        <p:spPr>
          <a:xfrm>
            <a:off x="1390650" y="2028825"/>
            <a:ext cx="716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2F6FD0"/>
                </a:solidFill>
                <a:latin typeface="Microsoft YaHei"/>
                <a:ea typeface="Microsoft YaHei"/>
              </a:rPr>
              <a:t>客服的作用不只是回答参数，还要结合使用场景帮用户做选择。</a:t>
            </a:r>
            <a:endParaRPr/>
          </a:p>
        </p:txBody>
      </p:sp>
      <p:sp>
        <p:nvSpPr>
          <p:cNvPr id="952" name="圆角矩形 951"/>
          <p:cNvSpPr/>
          <p:nvPr/>
        </p:nvSpPr>
        <p:spPr>
          <a:xfrm>
            <a:off x="1181100" y="2895600"/>
            <a:ext cx="758190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53" name="文本框 952" descr="{&quot;isTemplate&quot;:true,&quot;type&quot;:&quot;text&quot;}"/>
          <p:cNvSpPr txBox="1"/>
          <p:nvPr/>
        </p:nvSpPr>
        <p:spPr>
          <a:xfrm>
            <a:off x="1390650" y="3086100"/>
            <a:ext cx="71437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23A78"/>
                </a:solidFill>
                <a:latin typeface="Microsoft YaHei"/>
                <a:ea typeface="Microsoft YaHei"/>
              </a:rPr>
              <a:t>下单后</a:t>
            </a:r>
            <a:endParaRPr/>
          </a:p>
        </p:txBody>
      </p:sp>
      <p:sp>
        <p:nvSpPr>
          <p:cNvPr id="954" name="文本框 953" descr="{&quot;isTemplate&quot;:true,&quot;type&quot;:&quot;text&quot;}"/>
          <p:cNvSpPr txBox="1"/>
          <p:nvPr/>
        </p:nvSpPr>
        <p:spPr>
          <a:xfrm>
            <a:off x="2219325" y="3114675"/>
            <a:ext cx="2476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帮助用户了解订单和履约情况</a:t>
            </a:r>
            <a:endParaRPr/>
          </a:p>
        </p:txBody>
      </p:sp>
      <p:sp>
        <p:nvSpPr>
          <p:cNvPr id="955" name="文本框 954" descr="{&quot;isTemplate&quot;:true,&quot;type&quot;:&quot;text&quot;}"/>
          <p:cNvSpPr txBox="1"/>
          <p:nvPr/>
        </p:nvSpPr>
        <p:spPr>
          <a:xfrm>
            <a:off x="1390650" y="3448050"/>
            <a:ext cx="716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「今天买什么时候发货？」「上周买的耳机怎么还没到？」</a:t>
            </a:r>
            <a:endParaRPr/>
          </a:p>
        </p:txBody>
      </p:sp>
      <p:sp>
        <p:nvSpPr>
          <p:cNvPr id="956" name="文本框 955" descr="{&quot;isTemplate&quot;:true,&quot;type&quot;:&quot;text&quot;}"/>
          <p:cNvSpPr txBox="1"/>
          <p:nvPr/>
        </p:nvSpPr>
        <p:spPr>
          <a:xfrm>
            <a:off x="1390650" y="3857625"/>
            <a:ext cx="716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2F6FD0"/>
                </a:solidFill>
                <a:latin typeface="Microsoft YaHei"/>
                <a:ea typeface="Microsoft YaHei"/>
              </a:rPr>
              <a:t>必须查询具体订单：同一个问题，不同用户、不同订单答案完全不同。</a:t>
            </a:r>
            <a:endParaRPr/>
          </a:p>
        </p:txBody>
      </p:sp>
      <p:sp>
        <p:nvSpPr>
          <p:cNvPr id="957" name="圆角矩形 956"/>
          <p:cNvSpPr/>
          <p:nvPr/>
        </p:nvSpPr>
        <p:spPr>
          <a:xfrm>
            <a:off x="1181100" y="4724400"/>
            <a:ext cx="758190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58" name="文本框 957" descr="{&quot;isTemplate&quot;:true,&quot;type&quot;:&quot;text&quot;}"/>
          <p:cNvSpPr txBox="1"/>
          <p:nvPr/>
        </p:nvSpPr>
        <p:spPr>
          <a:xfrm>
            <a:off x="1390650" y="4914900"/>
            <a:ext cx="71437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23A78"/>
                </a:solidFill>
                <a:latin typeface="Microsoft YaHei"/>
                <a:ea typeface="Microsoft YaHei"/>
              </a:rPr>
              <a:t>收货后</a:t>
            </a:r>
            <a:endParaRPr/>
          </a:p>
        </p:txBody>
      </p:sp>
      <p:sp>
        <p:nvSpPr>
          <p:cNvPr id="959" name="文本框 958" descr="{&quot;isTemplate&quot;:true,&quot;type&quot;:&quot;text&quot;}"/>
          <p:cNvSpPr txBox="1"/>
          <p:nvPr/>
        </p:nvSpPr>
        <p:spPr>
          <a:xfrm>
            <a:off x="2219325" y="4943475"/>
            <a:ext cx="2095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解决使用问题和售后诉求</a:t>
            </a:r>
            <a:endParaRPr/>
          </a:p>
        </p:txBody>
      </p:sp>
      <p:sp>
        <p:nvSpPr>
          <p:cNvPr id="960" name="文本框 959" descr="{&quot;isTemplate&quot;:true,&quot;type&quot;:&quot;text&quot;}"/>
          <p:cNvSpPr txBox="1"/>
          <p:nvPr/>
        </p:nvSpPr>
        <p:spPr>
          <a:xfrm>
            <a:off x="1390650" y="5276850"/>
            <a:ext cx="716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「耳机连接不上手机。」「发错颜色了，我想换一个。」</a:t>
            </a:r>
            <a:endParaRPr/>
          </a:p>
        </p:txBody>
      </p:sp>
      <p:sp>
        <p:nvSpPr>
          <p:cNvPr id="961" name="文本框 960" descr="{&quot;isTemplate&quot;:true,&quot;type&quot;:&quot;text&quot;}"/>
          <p:cNvSpPr txBox="1"/>
          <p:nvPr/>
        </p:nvSpPr>
        <p:spPr>
          <a:xfrm>
            <a:off x="1390650" y="5686425"/>
            <a:ext cx="716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2F6FD0"/>
                </a:solidFill>
                <a:latin typeface="Microsoft YaHei"/>
                <a:ea typeface="Microsoft YaHei"/>
              </a:rPr>
              <a:t>有的靠使用说明，有的要查进度，有的需要收材料、提交申请或交给人工。</a:t>
            </a:r>
            <a:endParaRPr/>
          </a:p>
        </p:txBody>
      </p:sp>
      <p:sp>
        <p:nvSpPr>
          <p:cNvPr id="962" name="圆角矩形 961"/>
          <p:cNvSpPr/>
          <p:nvPr/>
        </p:nvSpPr>
        <p:spPr>
          <a:xfrm>
            <a:off x="8953500" y="1066800"/>
            <a:ext cx="2857500" cy="5143500"/>
          </a:xfrm>
          <a:prstGeom prst="roundRect">
            <a:avLst>
              <a:gd name="adj" fmla="val 3333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63" name="文本框 962" descr="{&quot;isTemplate&quot;:true,&quot;type&quot;:&quot;text&quot;}"/>
          <p:cNvSpPr txBox="1"/>
          <p:nvPr/>
        </p:nvSpPr>
        <p:spPr>
          <a:xfrm>
            <a:off x="9163050" y="1571625"/>
            <a:ext cx="2438400" cy="800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不是聊天窗口，</a:t>
            </a:r>
            <a:endParaRPr/>
          </a:p>
          <a:p>
            <a:pPr>
              <a:lnSpc>
                <a:spcPct val="140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而是三条不同的业务线</a:t>
            </a:r>
            <a:endParaRPr/>
          </a:p>
        </p:txBody>
      </p:sp>
      <p:sp>
        <p:nvSpPr>
          <p:cNvPr id="964" name="文本框 963" descr="{&quot;isTemplate&quot;:true,&quot;type&quot;:&quot;text&quot;}"/>
          <p:cNvSpPr txBox="1"/>
          <p:nvPr/>
        </p:nvSpPr>
        <p:spPr>
          <a:xfrm>
            <a:off x="9163050" y="3429000"/>
            <a:ext cx="2438400" cy="1466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00">
                <a:solidFill>
                  <a:srgbClr val="E9F0FA"/>
                </a:solidFill>
                <a:latin typeface="Microsoft YaHei"/>
                <a:ea typeface="Microsoft YaHei"/>
              </a:rPr>
              <a:t>我们要做的「电商智能客服」，需要承接购买前后的不同需求，并把它们接到对应的信息和处理流程上。</a:t>
            </a:r>
            <a:endParaRPr/>
          </a:p>
        </p:txBody>
      </p:sp>
      <p:sp>
        <p:nvSpPr>
          <p:cNvPr id="965" name="任意形状 964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66" name="文本框 965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967" name="文本框 966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04 / 42</a:t>
            </a:r>
            <a:endParaRPr/>
          </a:p>
        </p:txBody>
      </p:sp>
      <p:sp>
        <p:nvSpPr>
          <p:cNvPr id="968" name="文本框 967" descr="{&quot;isTemplate&quot;:true,&quot;type&quot;:&quot;text&quot;}"/>
          <p:cNvSpPr txBox="1"/>
          <p:nvPr/>
        </p:nvSpPr>
        <p:spPr>
          <a:xfrm>
            <a:off x="9163050" y="1295400"/>
            <a:ext cx="2438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SO WHAT</a:t>
            </a:r>
            <a:endParaRPr/>
          </a:p>
        </p:txBody>
      </p:sp>
      <p:sp>
        <p:nvSpPr>
          <p:cNvPr id="969" name="矩形 968"/>
          <p:cNvSpPr/>
          <p:nvPr/>
        </p:nvSpPr>
        <p:spPr>
          <a:xfrm>
            <a:off x="9163050" y="5953125"/>
            <a:ext cx="685800" cy="28575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Box style={{ flexDirection: 'row', alignItems: 'center', gap: 10 }}&gt;&#10;                &lt;Text style={{ fontSize: 14, color: '#2F6FD0', letterSpacing: 3 }}&gt;第一节 · 业务背景与项目任务&lt;/Text&gt;&#10;            &lt;/Box&gt;&#10;            &lt;Text style={{ fontSize: 34, fontWeight: '600', color: '#123A78', marginTop: 8, lineHeight: 1.25 }}&gt;客服每天在处理什么&lt;/Text&gt;&#10;        &lt;/Box&gt;&#10;        &lt;Box style={{ width: 96, height: 3, background: '#2F6FD0', marginTop: 58 }} /&gt;&#10;    &lt;/Box&gt;&#10;    &lt;Box style={{ height: 540, marginTop: 8, flexDirection: 'row', gap: 20 }}&gt;&#10;        &lt;svg width={64} height={540} viewBox='0 0 64 540'&gt;&#10;            &lt;line x1='32' y1='40' x2='32' y2='500' stroke='#D6DCE5' strokeWidth='3' /&gt;&#10;            &lt;circle cx='32' cy='70' r='16' fill='#123A78' /&gt;&#10;            &lt;text x='32' y='77' textAnchor='middle' fontFamily='JetBrains Mono' fontSize='15' fill='#FFFFFF' fontWeight='bold'&gt;1&lt;/text&gt;&#10;            &lt;circle cx='32' cy='270' r='16' fill='#123A78' /&gt;&#10;            &lt;text x='32' y='277' textAnchor='middle' fontFamily='JetBrains Mono' fontSize='15' fill='#FFFFFF' fontWeight='bold'&gt;2&lt;/text&gt;&#10;            &lt;circle cx='32' cy='470' r='16' fill='#123A78' /&gt;&#10;            &lt;text x='32' y='477' textAnchor='middle' fontFamily='JetBrains Mono' fontSize='15' fill='#FFFFFF' fontWeight='bold'&gt;3&lt;/text&gt;&#10;        &lt;/svg&gt;&#10;        &lt;Box style={{ flex: 1, justifyContent: 'space-between' }}&gt;&#10;            &lt;Box style={{ height: 156, background: '#FFFFFF', border: '1px solid #D6DCE5', borderRadius: 10, padding: '16px 22px', justifyContent: 'center', gap: 8, boxShadow: '0 4px 16px rgba(18,58,120,0.08)' }}&gt;&#10;                &lt;Box style={{ flexDirection: 'row', alignItems: 'center', gap: 12 }}&gt;&#10;                    &lt;Text style={{ fontSize: 25, fontWeight: '600', color: '#123A78' }}&gt;购买前&lt;/Text&gt;&#10;                    &lt;Text style={{ fontSize: 20, color: '#4A5568' }}&gt;帮助用户了解和选择商品&lt;/Text&gt;&#10;                &lt;/Box&gt;&#10;                &lt;Text style={{ fontSize: 20, color: '#1A2230', lineHeight: 1.45 }}&gt;&#10;                    用户会问：「这两款耳机有什么区别？」「预算三百以内有没有推荐？」&#10;                &lt;/Text&gt;&#10;                &lt;Text style={{ fontSize: 20, color: '#2F6FD0', lineHeight: 1.45 }}&gt;&#10;                    客服的作用不只是回答参数，还要结合使用场景帮用户做选择。&#10;                &lt;/Text&gt;&#10;            &lt;/Box&gt;&#10;            &lt;Box style={{ height: 156, background: '#FFFFFF', border: '1px solid #D6DCE5', borderRadius: 10, padding: '16px 22px', justifyContent: 'center', gap: 8, boxShadow: '0 4px 16px rgba(18,58,120,0.08)' }}&gt;&#10;                &lt;Box style={{ flexDirection: 'row', alignItems: 'center', gap: 12 }}&gt;&#10;                    &lt;Text style={{ fontSize: 25, fontWeight: '600', color: '#123A78' }}&gt;下单后&lt;/Text&gt;&#10;                    &lt;Text style={{ fontSize: 20, color: '#4A5568' }}&gt;帮助用户了解订单和履约情况&lt;/Text&gt;&#10;                &lt;/Box&gt;&#10;                &lt;Text style={{ fontSize: 20, color: '#1A2230', lineHeight: 1.45 }}&gt;&#10;                    「今天买什么时候发货？」「上周买的耳机怎么还没到？」&#10;                &lt;/Text&gt;&#10;                &lt;Text style={{ fontSize: 20, color: '#2F6FD0', lineHeight: 1.45 }}&gt;&#10;                    必须查询具体订单：同一个问题，不同用户、不同订单答案完全不同。&#10;                &lt;/Text&gt;&#10;            &lt;/Box&gt;&#10;            &lt;Box style={{ height: 156, background: '#FFFFFF', border: '1px solid #D6DCE5', borderRadius: 10, padding: '16px 22px', justifyContent: 'center', gap: 8, boxShadow: '0 4px 16px rgba(18,58,120,0.08)' }}&gt;&#10;                &lt;Box style={{ flexDirection: 'row', alignItems: 'center', gap: 12 }}&gt;&#10;                    &lt;Text style={{ fontSize: 25, fontWeight: '600', color: '#123A78' }}&gt;收货后&lt;/Text&gt;&#10;                    &lt;Text style={{ fontSize: 20, color: '#4A5568' }}&gt;解决使用问题和售后诉求&lt;/Text&gt;&#10;                &lt;/Box&gt;&#10;                &lt;Text style={{ fontSize: 20, color: '#1A2230', lineHeight: 1.45 }}&gt;&#10;                    「耳机连接不上手机。」「发错颜色了，我想换一个。」&#10;                &lt;/Text&gt;&#10;                &lt;Text style={{ fontSize: 20, color: '#2F6FD0', lineHeight: 1.45 }}&gt;&#10;                    有的靠使用说明，有的要查进度，有的需要收材料、提交申请或交给人工。&#10;                &lt;/Text&gt;&#10;            &lt;/Box&gt;&#10;        &lt;/Box&gt;&#10;        &lt;Box style={{ width: 300, background: '#123A78', borderRadius: 10, padding: '24px 22px', justifyContent: 'space-between' }}&gt;&#10;            &lt;Box&gt;&#10;                &lt;Text style={{ fontSize: 14, color: '#FFFFFF', opacity: 0.7, letterSpacing: 2 }}&gt;SO WHAT&lt;/Text&gt;&#10;                &lt;Text style={{ fontSize: 25, fontWeight: '600', color: '#FFFFFF', marginTop: 12, lineHeight: 1.4 }}&gt;不是聊天窗口，&lt;br /&gt;而是三条不同的业务线&lt;/Text&gt;&#10;            &lt;/Box&gt;&#10;            &lt;Text style={{ fontSize: 20, color: '#E9F0FA', lineHeight: 1.6 }}&gt;&#10;                我们要做的「电商智能客服」，需要承接购买前后的不同需求，并把它们接到对应的信息和处理流程上。&#10;            &lt;/Text&gt;&#10;            &lt;Box style={{ width: 72, height: 3, background: '#FFFFFF', opacity: 0.6 }} /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04 / 42&lt;/Text&gt;&#10;    &lt;/Box&gt;&#10;&lt;/Slide&gt;">
          <a:extLst>
            <a:ext uri="{FF2B5EF4-FFF2-40B4-BE49-F238E27FC236}">
              <a16:creationId xmlns:a16="http://schemas.microsoft.com/office/drawing/2014/main" id="{3EBCF85E-3A03-211C-2DB1-111CD6E4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文本框 942" descr="{&quot;isTemplate&quot;:true,&quot;type&quot;:&quot;text&quot;}">
            <a:extLst>
              <a:ext uri="{FF2B5EF4-FFF2-40B4-BE49-F238E27FC236}">
                <a16:creationId xmlns:a16="http://schemas.microsoft.com/office/drawing/2014/main" id="{66C96FAC-3DC7-3BF5-3DC7-AB70EC7768A3}"/>
              </a:ext>
            </a:extLst>
          </p:cNvPr>
          <p:cNvSpPr txBox="1"/>
          <p:nvPr/>
        </p:nvSpPr>
        <p:spPr>
          <a:xfrm>
            <a:off x="381000" y="266700"/>
            <a:ext cx="2152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第一节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业务背景与项目任务</a:t>
            </a:r>
            <a:endParaRPr/>
          </a:p>
        </p:txBody>
      </p:sp>
      <p:sp>
        <p:nvSpPr>
          <p:cNvPr id="944" name="文本框 943" descr="{&quot;isTemplate&quot;:true,&quot;type&quot;:&quot;text&quot;}">
            <a:extLst>
              <a:ext uri="{FF2B5EF4-FFF2-40B4-BE49-F238E27FC236}">
                <a16:creationId xmlns:a16="http://schemas.microsoft.com/office/drawing/2014/main" id="{E96F2DEE-33EB-541D-294F-09A84E465FE5}"/>
              </a:ext>
            </a:extLst>
          </p:cNvPr>
          <p:cNvSpPr txBox="1"/>
          <p:nvPr/>
        </p:nvSpPr>
        <p:spPr>
          <a:xfrm>
            <a:off x="381000" y="504825"/>
            <a:ext cx="3661064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altLang="en-US" sz="2550" b="1" dirty="0">
                <a:solidFill>
                  <a:srgbClr val="123A78"/>
                </a:solidFill>
                <a:latin typeface="Microsoft YaHei"/>
                <a:ea typeface="Microsoft YaHei"/>
              </a:rPr>
              <a:t>客服的核心场景和功能</a:t>
            </a:r>
            <a:endParaRPr dirty="0"/>
          </a:p>
        </p:txBody>
      </p:sp>
      <p:sp>
        <p:nvSpPr>
          <p:cNvPr id="945" name="矩形 944">
            <a:extLst>
              <a:ext uri="{FF2B5EF4-FFF2-40B4-BE49-F238E27FC236}">
                <a16:creationId xmlns:a16="http://schemas.microsoft.com/office/drawing/2014/main" id="{83A9D6C6-00C4-A50C-708A-E036482C2603}"/>
              </a:ext>
            </a:extLst>
          </p:cNvPr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65" name="任意形状 964">
            <a:extLst>
              <a:ext uri="{FF2B5EF4-FFF2-40B4-BE49-F238E27FC236}">
                <a16:creationId xmlns:a16="http://schemas.microsoft.com/office/drawing/2014/main" id="{DA254A00-527F-7788-1A8A-99B2C253E6F3}"/>
              </a:ext>
            </a:extLst>
          </p:cNvPr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66" name="文本框 965" descr="{&quot;isTemplate&quot;:true,&quot;type&quot;:&quot;text&quot;}">
            <a:extLst>
              <a:ext uri="{FF2B5EF4-FFF2-40B4-BE49-F238E27FC236}">
                <a16:creationId xmlns:a16="http://schemas.microsoft.com/office/drawing/2014/main" id="{5E82C597-55E9-98E2-E89B-4FFD52A62636}"/>
              </a:ext>
            </a:extLst>
          </p:cNvPr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967" name="文本框 966" descr="{&quot;isTemplate&quot;:true,&quot;type&quot;:&quot;text&quot;}">
            <a:extLst>
              <a:ext uri="{FF2B5EF4-FFF2-40B4-BE49-F238E27FC236}">
                <a16:creationId xmlns:a16="http://schemas.microsoft.com/office/drawing/2014/main" id="{F5097EB5-FBC8-4A0C-8A3E-19C0421CF425}"/>
              </a:ext>
            </a:extLst>
          </p:cNvPr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04 / 42</a:t>
            </a: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207D7EB-8409-AAB1-2CD2-73C4CA66B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5" y="1362825"/>
            <a:ext cx="7003473" cy="451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955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一节 · 业务背景与项目任务&lt;/Text&gt;&#10;            &lt;Text style={{ fontSize: 34, fontWeight: '600', color: '#123A78', marginTop: 8, lineHeight: 1.25 }}&gt;用户看到的是聊天，客服做的是一串操作&lt;/Text&gt;&#10;        &lt;/Box&gt;&#10;        &lt;Box style={{ width: 96, height: 3, background: '#2F6FD0', marginTop: 58 }} /&gt;&#10;    &lt;/Box&gt;&#10;    &lt;Box style={{ height: 540, marginTop: 8, flexDirection: 'row', gap: 40 }}&gt;&#10;        &lt;Box style={{ width: 700, height: 540, border: '1px solid #D6DCE5', borderRadius: 10, overflow: 'hidden' }}&gt;&#10;            &lt;Table&#10;                style={{ width: '100%', height: '100%' }}&#10;                defaultTextStyle={{ fontSize: 19, textAlign: 'left', color: '#1A2230' }}&#10;                defaultCellStyle={{&#10;                    border: {&#10;                        left: { width: 1, color: '#E5E7EB' },&#10;                        right: { width: 1, color: '#E5E7EB' },&#10;                        top: { width: 1, color: '#E5E7EB' },&#10;                        bottom: { width: 1, color: '#E5E7EB' },&#10;                    },&#10;                }}&#10;                cells={[&#10;                    [&#10;                        { text: '资料或系统', textStyle: { bold: true, color: '#FFFFFF', fontSize: 20 }, cellStyle: { background: { color: '#123A78' } } },&#10;                        { text: '提供什么', textStyle: { bold: true, color: '#FFFFFF', fontSize: 20 }, cellStyle: { background: { color: '#123A78' } } },&#10;                    ],&#10;                    [&#10;                        { text: '商品资料', textStyle: { bold: true, color: '#123A78' }, cellStyle: { background: { color: '#F7F9FC' } } },&#10;                        { text: '型号、功能、使用说明', cellStyle: { background: { color: '#F7F9FC' } } },&#10;                    ],&#10;                    [&#10;                        { text: '订单与物流系统', textStyle: { bold: true, color: '#123A78' } },&#10;                        { text: '买了什么、是否发货、是否签收' },&#10;                    ],&#10;                    [&#10;                        { text: '售后政策', textStyle: { bold: true, color: '#123A78' }, cellStyle: { background: { color: '#F7F9FC' } } },&#10;                        { text: '适用条件、所需材料、处理步骤', cellStyle: { background: { color: '#F7F9FC' } } },&#10;                    ],&#10;                    [&#10;                        { text: '售后系统', textStyle: { bold: true, color: '#123A78' } },&#10;                        { text: '申请记录、处理进度、执行结果' },&#10;                    ],&#10;                    [&#10;                        { text: '客服工作台', textStyle: { bold: true, color: '#123A78' }, cellStyle: { background: { color: '#F7F9FC' } } },&#10;                        { text: '对话记录、人员接待与转交', cellStyle: { background: { color: '#F7F9FC' } } },&#10;                    ],&#10;                ]}&#10;            /&gt;&#10;        &lt;/Box&gt;&#10;        &lt;Box style={{ flex: 1, justifyContent: 'space-between' }}&gt;&#10;            &lt;Box style={{ background: '#E9F0FA', borderRadius: 10, padding: '18px 22px', borderLeft: '5px solid #123A78' }}&gt;&#10;                &lt;Text style={{ fontSize: 14, color: '#2F6FD0', letterSpacing: 2 }}&gt;看一个具体请求&lt;/Text&gt;&#10;                &lt;Text style={{ fontSize: 21, color: '#123A78', marginTop: 10, lineHeight: 1.5 }}&gt;&#10;                    用户：上周买的耳机没有声音，我想换一个。&#10;                &lt;/Text&gt;&#10;            &lt;/Box&gt;&#10;            &lt;Box style={{ gap: 12 }}&gt;&#10;                &lt;Box style={{ flexDirection: 'row', alignItems: 'flex-start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1&lt;/Text&gt;&#10;                    &lt;/Box&gt;&#10;                    &lt;Text style={{ fontSize: 20, color: '#1A2230', lineHeight: 1.5, flex: 1 }}&gt;找到订单：「上周买的耳机」不是订单号，买过两款还要确认是哪一笔&lt;/Text&gt;&#10;                &lt;/Box&gt;&#10;                &lt;Box style={{ flexDirection: 'row', alignItems: 'flex-start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2&lt;/Text&gt;&#10;                    &lt;/Box&gt;&#10;                    &lt;Text style={{ fontSize: 20, color: '#1A2230', lineHeight: 1.5, flex: 1 }}&gt;了解问题：是两边都没声音，还是一边？是设置问题还是商品故障&lt;/Text&gt;&#10;                &lt;/Box&gt;&#10;                &lt;Box style={{ flexDirection: 'row', alignItems: 'flex-start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3&lt;/Text&gt;&#10;                    &lt;/Box&gt;&#10;                    &lt;Text style={{ fontSize: 20, color: '#1A2230', lineHeight: 1.5, flex: 1 }}&gt;查询适用政策：没确认情况之前，不能直接承诺一定可以换货&lt;/Text&gt;&#10;                &lt;/Box&gt;&#10;                &lt;Box style={{ flexDirection: 'row', alignItems: 'flex-start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4&lt;/Text&gt;&#10;                    &lt;/Box&gt;&#10;                    &lt;Text style={{ fontSize: 20, color: '#1A2230', lineHeight: 1.5, flex: 1 }}&gt;协助继续处理：补材料、确认申请、提交，或转给其他人员审核&lt;/Text&gt;&#10;                &lt;/Box&gt;&#10;            &lt;/Box&gt;&#10;            &lt;Box style={{ background: '#123A78', borderRadius: 10, padding: '16px 22px' }}&gt;&#10;                &lt;Text style={{ fontSize: 19, color: '#FFFFFF', lineHeight: 1.5 }}&gt;&#10;                    评价客服产品不能只问「这句话回答得怎么样」——要看&lt;span style={{ fontWeight: 'bold' }}&gt;用户要办的事有没有被正确推进&lt;/span&gt;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05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矩形 10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65" name="文本框 1064" descr="{&quot;isTemplate&quot;:true,&quot;type&quot;:&quot;text&quot;}"/>
          <p:cNvSpPr txBox="1"/>
          <p:nvPr/>
        </p:nvSpPr>
        <p:spPr>
          <a:xfrm>
            <a:off x="381000" y="266700"/>
            <a:ext cx="5829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第一节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业务背景与项目任务</a:t>
            </a:r>
            <a:endParaRPr/>
          </a:p>
        </p:txBody>
      </p:sp>
      <p:sp>
        <p:nvSpPr>
          <p:cNvPr id="1066" name="文本框 1065" descr="{&quot;isTemplate&quot;:true,&quot;type&quot;:&quot;text&quot;}"/>
          <p:cNvSpPr txBox="1"/>
          <p:nvPr/>
        </p:nvSpPr>
        <p:spPr>
          <a:xfrm>
            <a:off x="381000" y="504825"/>
            <a:ext cx="58293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用户看到的是聊天，客服做的是一串操作</a:t>
            </a:r>
            <a:endParaRPr/>
          </a:p>
        </p:txBody>
      </p:sp>
      <p:sp>
        <p:nvSpPr>
          <p:cNvPr id="1067" name="矩形 1066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68" name="圆角矩形 1067"/>
          <p:cNvSpPr/>
          <p:nvPr/>
        </p:nvSpPr>
        <p:spPr>
          <a:xfrm>
            <a:off x="381000" y="1066800"/>
            <a:ext cx="6667500" cy="5143500"/>
          </a:xfrm>
          <a:prstGeom prst="roundRect">
            <a:avLst>
              <a:gd name="adj" fmla="val 1852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069" name="表格 1068"/>
          <p:cNvGraphicFramePr/>
          <p:nvPr/>
        </p:nvGraphicFramePr>
        <p:xfrm>
          <a:off x="381000" y="1066800"/>
          <a:ext cx="6667500" cy="5143500"/>
        </p:xfrm>
        <a:graphic>
          <a:graphicData uri="http://schemas.openxmlformats.org/drawingml/2006/table">
            <a:tbl>
              <a:tblPr/>
              <a:tblGrid>
                <a:gridCol w="2273519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4393981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87616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资料或系统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提供什么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8534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商品资料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型号、功能、使用说明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8534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订单与物流系统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买了什么、是否发货、是否签收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8534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售后政策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适用条件、所需材料、处理步骤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8534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售后系统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申请记录、处理进度、执行结果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8534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客服工作台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对话记录、人员接待与转交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1070" name="圆角矩形 1069"/>
          <p:cNvSpPr/>
          <p:nvPr/>
        </p:nvSpPr>
        <p:spPr>
          <a:xfrm>
            <a:off x="7477125" y="1066800"/>
            <a:ext cx="4381500" cy="1323975"/>
          </a:xfrm>
          <a:prstGeom prst="roundRect">
            <a:avLst>
              <a:gd name="adj" fmla="val 7194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71" name="任意形状 1070"/>
          <p:cNvSpPr/>
          <p:nvPr/>
        </p:nvSpPr>
        <p:spPr>
          <a:xfrm>
            <a:off x="7477125" y="1066800"/>
            <a:ext cx="4381500" cy="1323975"/>
          </a:xfrm>
          <a:custGeom>
            <a:avLst/>
            <a:gdLst/>
            <a:ahLst/>
            <a:cxnLst/>
            <a:rect l="0" t="0" r="0" b="0"/>
            <a:pathLst>
              <a:path w="460" h="139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34"/>
                </a:lnTo>
                <a:cubicBezTo>
                  <a:pt x="5" y="136"/>
                  <a:pt x="7" y="138"/>
                  <a:pt x="9" y="139"/>
                </a:cubicBezTo>
                <a:cubicBezTo>
                  <a:pt x="4" y="138"/>
                  <a:pt x="0" y="134"/>
                  <a:pt x="0" y="12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72" name="文本框 1071" descr="{&quot;isTemplate&quot;:true,&quot;type&quot;:&quot;text&quot;}"/>
          <p:cNvSpPr txBox="1"/>
          <p:nvPr/>
        </p:nvSpPr>
        <p:spPr>
          <a:xfrm>
            <a:off x="7686675" y="1238250"/>
            <a:ext cx="39147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F6FD0"/>
                </a:solidFill>
                <a:latin typeface="Microsoft YaHei"/>
                <a:ea typeface="Microsoft YaHei"/>
              </a:rPr>
              <a:t>看一个具体请求</a:t>
            </a:r>
            <a:endParaRPr/>
          </a:p>
        </p:txBody>
      </p:sp>
      <p:sp>
        <p:nvSpPr>
          <p:cNvPr id="1073" name="文本框 1072" descr="{&quot;isTemplate&quot;:true,&quot;type&quot;:&quot;text&quot;}"/>
          <p:cNvSpPr txBox="1"/>
          <p:nvPr/>
        </p:nvSpPr>
        <p:spPr>
          <a:xfrm>
            <a:off x="7686675" y="1495425"/>
            <a:ext cx="3914775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23A78"/>
                </a:solidFill>
                <a:latin typeface="Microsoft YaHei"/>
                <a:ea typeface="Microsoft YaHei"/>
              </a:rPr>
              <a:t>用户：上周买的耳机没有声音，我想换一个。</a:t>
            </a:r>
            <a:endParaRPr/>
          </a:p>
        </p:txBody>
      </p:sp>
      <p:sp>
        <p:nvSpPr>
          <p:cNvPr id="1074" name="圆角矩形 1073"/>
          <p:cNvSpPr/>
          <p:nvPr/>
        </p:nvSpPr>
        <p:spPr>
          <a:xfrm>
            <a:off x="7429500" y="23907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75" name="文本框 1074" descr="{&quot;isTemplate&quot;:true,&quot;type&quot;:&quot;text&quot;}"/>
          <p:cNvSpPr txBox="1"/>
          <p:nvPr/>
        </p:nvSpPr>
        <p:spPr>
          <a:xfrm>
            <a:off x="7543800" y="2457450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076" name="文本框 1075" descr="{&quot;isTemplate&quot;:true,&quot;type&quot;:&quot;text&quot;}"/>
          <p:cNvSpPr txBox="1"/>
          <p:nvPr/>
        </p:nvSpPr>
        <p:spPr>
          <a:xfrm>
            <a:off x="7867650" y="2390775"/>
            <a:ext cx="394335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找到订单：「上周买的耳机」不是订单号，买过两款还要确认是哪一笔</a:t>
            </a:r>
            <a:endParaRPr/>
          </a:p>
        </p:txBody>
      </p:sp>
      <p:sp>
        <p:nvSpPr>
          <p:cNvPr id="1077" name="圆角矩形 1076"/>
          <p:cNvSpPr/>
          <p:nvPr/>
        </p:nvSpPr>
        <p:spPr>
          <a:xfrm>
            <a:off x="7429500" y="31908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78" name="文本框 1077" descr="{&quot;isTemplate&quot;:true,&quot;type&quot;:&quot;text&quot;}"/>
          <p:cNvSpPr txBox="1"/>
          <p:nvPr/>
        </p:nvSpPr>
        <p:spPr>
          <a:xfrm>
            <a:off x="7543800" y="3257550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1079" name="文本框 1078" descr="{&quot;isTemplate&quot;:true,&quot;type&quot;:&quot;text&quot;}"/>
          <p:cNvSpPr txBox="1"/>
          <p:nvPr/>
        </p:nvSpPr>
        <p:spPr>
          <a:xfrm>
            <a:off x="7867650" y="3190875"/>
            <a:ext cx="394335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了解问题：是两边都没声音，还是一边？是设置问题还是商品故障</a:t>
            </a:r>
            <a:endParaRPr/>
          </a:p>
        </p:txBody>
      </p:sp>
      <p:sp>
        <p:nvSpPr>
          <p:cNvPr id="1080" name="圆角矩形 1079"/>
          <p:cNvSpPr/>
          <p:nvPr/>
        </p:nvSpPr>
        <p:spPr>
          <a:xfrm>
            <a:off x="7429500" y="39909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1" name="文本框 1080" descr="{&quot;isTemplate&quot;:true,&quot;type&quot;:&quot;text&quot;}"/>
          <p:cNvSpPr txBox="1"/>
          <p:nvPr/>
        </p:nvSpPr>
        <p:spPr>
          <a:xfrm>
            <a:off x="7543800" y="4057650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1082" name="文本框 1081" descr="{&quot;isTemplate&quot;:true,&quot;type&quot;:&quot;text&quot;}"/>
          <p:cNvSpPr txBox="1"/>
          <p:nvPr/>
        </p:nvSpPr>
        <p:spPr>
          <a:xfrm>
            <a:off x="7867650" y="3990975"/>
            <a:ext cx="394335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查询适用政策：没确认情况之前，不能直接承诺一定可以换货</a:t>
            </a:r>
            <a:endParaRPr/>
          </a:p>
        </p:txBody>
      </p:sp>
      <p:sp>
        <p:nvSpPr>
          <p:cNvPr id="1083" name="圆角矩形 1082"/>
          <p:cNvSpPr/>
          <p:nvPr/>
        </p:nvSpPr>
        <p:spPr>
          <a:xfrm>
            <a:off x="7429500" y="47910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4" name="文本框 1083" descr="{&quot;isTemplate&quot;:true,&quot;type&quot;:&quot;text&quot;}"/>
          <p:cNvSpPr txBox="1"/>
          <p:nvPr/>
        </p:nvSpPr>
        <p:spPr>
          <a:xfrm>
            <a:off x="7543800" y="4857750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1085" name="文本框 1084" descr="{&quot;isTemplate&quot;:true,&quot;type&quot;:&quot;text&quot;}"/>
          <p:cNvSpPr txBox="1"/>
          <p:nvPr/>
        </p:nvSpPr>
        <p:spPr>
          <a:xfrm>
            <a:off x="7867650" y="4791075"/>
            <a:ext cx="394335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协助继续处理：补材料、确认申请、提交，或转给其他人员审核</a:t>
            </a:r>
            <a:endParaRPr/>
          </a:p>
        </p:txBody>
      </p:sp>
      <p:sp>
        <p:nvSpPr>
          <p:cNvPr id="1086" name="圆角矩形 1085"/>
          <p:cNvSpPr/>
          <p:nvPr/>
        </p:nvSpPr>
        <p:spPr>
          <a:xfrm>
            <a:off x="7429500" y="5476875"/>
            <a:ext cx="4381500" cy="962025"/>
          </a:xfrm>
          <a:prstGeom prst="roundRect">
            <a:avLst>
              <a:gd name="adj" fmla="val 9901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7" name="文本框 1086" descr="{&quot;isTemplate&quot;:true,&quot;type&quot;:&quot;text&quot;}"/>
          <p:cNvSpPr txBox="1"/>
          <p:nvPr/>
        </p:nvSpPr>
        <p:spPr>
          <a:xfrm>
            <a:off x="7639050" y="5629275"/>
            <a:ext cx="39624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评价客服产品不能只问「这句话回答得怎么样」——要看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用户要办的事有没有被正确推进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088" name="任意形状 1087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9" name="文本框 1088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1090" name="文本框 1089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05 / 42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一节 · 业务背景与项目任务&lt;/Text&gt;&#10;            &lt;Text style={{ fontSize: 34, fontWeight: '600', color: '#123A78', marginTop: 8, lineHeight: 1.25 }}&gt;一句换货请求，背后是五步操作&lt;/Text&gt;&#10;        &lt;/Box&gt;&#10;        &lt;Box style={{ width: 96, height: 3, background: '#2F6FD0', marginTop: 58 }} /&gt;&#10;    &lt;/Box&gt;&#10;    &lt;Box style={{ height: 540, marginTop: 8, flexDirection: 'row', gap: 36 }}&gt;&#10;        &lt;Box style={{ width: 300, justifyContent: 'space-between' }}&gt;&#10;            &lt;Box&gt;&#10;                &lt;Text style={{ fontSize: 120, fontWeight: 'bold', color: '#123A78', lineHeight: 1, fontFamily: 'JetBrains Mono' }}&gt;5&lt;/Text&gt;&#10;                &lt;Text style={{ fontSize: 25, fontWeight: '600', color: '#1A2230', marginTop: 10 }}&gt;步连续处理&lt;/Text&gt;&#10;                &lt;Box style={{ width: 160, height: 4, background: '#2F6FD0', marginTop: 18 }} /&gt;&#10;            &lt;/Box&gt;&#10;            &lt;Box style={{ background: '#E9F0FA', borderRadius: 10, padding: '20px 22px', borderLeft: '5px solid #123A78' }}&gt;&#10;                &lt;Text style={{ fontSize: 20, color: '#123A78', lineHeight: 1.55 }}&gt;&#10;                    用户只看到客服回复了几句话，&lt;span style={{ fontWeight: 'bold' }}&gt;背后却是查询、核对、解释、录入和转交&lt;/span&gt;。&#10;                &lt;/Text&gt;&#10;            &lt;/Box&gt;&#10;            &lt;Text style={{ fontSize: 18, color: '#8B97A8', lineHeight: 1.5 }}&gt;&#10;                其中最容易出现问题的，是第 1 步与第 2 步：信息没接住，用户就要从头再说一遍。&#10;            &lt;/Text&gt;&#10;        &lt;/Box&gt;&#10;        &lt;Box style={{ flex: 1, justifyContent: 'center' }}&gt;&#10;            &lt;svg width={844} height={536} viewBox='0 0 844 536'&gt;&#10;                &lt;rect x='0' y='0' width='844' height='82' rx='12' fill='#FFFFFF' stroke='#2F6FD0' strokeWidth='2' /&gt;&#10;                &lt;circle cx='48' cy='41' r='24' fill='#123A78' /&gt;&#10;                &lt;text x='48' y='49' textAnchor='middle' fontFamily='JetBrains Mono' fontSize='20' fill='#FFFFFF' fontWeight='bold'&gt;1&lt;/text&gt;&#10;                &lt;text x='92' y='36' fontFamily='Source Han Sans SC' fontSize='23' fill='#123A78' fontWeight='bold'&gt;找到订单&lt;/text&gt;&#10;                &lt;text x='92' y='64' fontFamily='Source Han Sans SC' fontSize='18' fill='#4A5568'&gt;确定是「上周买的耳机」里的哪一笔&lt;/text&gt;&#10;                &lt;rect x='40' y='82' width='4' height='24' fill='#2F6FD0' /&gt;&#10;&#10;                &lt;rect x='0' y='106' width='844' height='82' rx='12' fill='#FFFFFF' stroke='#2F6FD0' strokeWidth='2' /&gt;&#10;                &lt;circle cx='48' cy='147' r='24' fill='#123A78' /&gt;&#10;                &lt;text x='48' y='155' textAnchor='middle' fontFamily='JetBrains Mono' fontSize='20' fill='#FFFFFF' fontWeight='bold'&gt;2&lt;/text&gt;&#10;                &lt;text x='92' y='142' fontFamily='Source Han Sans SC' fontSize='23' fill='#123A78' fontWeight='bold'&gt;了解问题&lt;/text&gt;&#10;                &lt;text x='92' y='170' fontFamily='Source Han Sans SC' fontSize='18' fill='#4A5568'&gt;两侧无声还是单侧？使用设置问题还是商品故障&lt;/text&gt;&#10;                &lt;rect x='40' y='188' width='4' height='24' fill='#2F6FD0' /&gt;&#10;&#10;                &lt;rect x='0' y='212' width='844' height='82' rx='12' fill='#123A78' /&gt;&#10;                &lt;circle cx='48' cy='253' r='24' fill='#FFFFFF' /&gt;&#10;                &lt;text x='48' y='261' textAnchor='middle' fontFamily='JetBrains Mono' fontSize='20' fill='#123A78' fontWeight='bold'&gt;3&lt;/text&gt;&#10;                &lt;text x='92' y='248' fontFamily='Source Han Sans SC' fontSize='23' fill='#FFFFFF' fontWeight='bold'&gt;查询适用的售后政策&lt;/text&gt;&#10;                &lt;text x='92' y='276' fontFamily='Source Han Sans SC' fontSize='18' fill='#E9F0FA'&gt;不同商品、订单状态与问题，对应的处理要求不同&lt;/text&gt;&#10;                &lt;rect x='40' y='294' width='4' height='24' fill='#2F6FD0' /&gt;&#10;&#10;                &lt;rect x='0' y='318' width='844' height='82' rx='12' fill='#FFFFFF' stroke='#2F6FD0' strokeWidth='2' /&gt;&#10;                &lt;circle cx='48' cy='359' r='24' fill='#123A78' /&gt;&#10;                &lt;text x='48' y='367' textAnchor='middle' fontFamily='JetBrains Mono' fontSize='20' fill='#FFFFFF' fontWeight='bold'&gt;4&lt;/text&gt;&#10;                &lt;text x='92' y='354' fontFamily='Source Han Sans SC' fontSize='23' fill='#123A78' fontWeight='bold'&gt;帮助用户继续处理&lt;/text&gt;&#10;                &lt;text x='92' y='382' fontFamily='Source Han Sans SC' fontSize='18' fill='#4A5568'&gt;补充材料、确认申请内容、提交申请或转审核&lt;/text&gt;&#10;                &lt;rect x='40' y='400' width='4' height='24' fill='#2F6FD0' /&gt;&#10;&#10;                &lt;rect x='0' y='424' width='844' height='82' rx='12' fill='#FFFFFF' stroke='#2F6FD0' strokeWidth='2' /&gt;&#10;                &lt;circle cx='48' cy='465' r='24' fill='#123A78' /&gt;&#10;                &lt;text x='48' y='473' textAnchor='middle' fontFamily='JetBrains Mono' fontSize='20' fill='#FFFFFF' fontWeight='bold'&gt;5&lt;/text&gt;&#10;                &lt;text x='92' y='460' fontFamily='Source Han Sans SC' fontSize='23' fill='#123A78' fontWeight='bold'&gt;记录与交接&lt;/text&gt;&#10;                &lt;text x='92' y='488' fontFamily='Source Han Sans SC' fontSize='18' fill='#4A5568'&gt;保存对话、状态与调用结果，必要时完整转人工&lt;/text&gt;&#10;            &lt;/svg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06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矩形 10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93" name="文本框 1092" descr="{&quot;isTemplate&quot;:true,&quot;type&quot;:&quot;text&quot;}"/>
          <p:cNvSpPr txBox="1"/>
          <p:nvPr/>
        </p:nvSpPr>
        <p:spPr>
          <a:xfrm>
            <a:off x="381000" y="266700"/>
            <a:ext cx="4533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第一节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业务背景与项目任务</a:t>
            </a:r>
            <a:endParaRPr/>
          </a:p>
        </p:txBody>
      </p:sp>
      <p:sp>
        <p:nvSpPr>
          <p:cNvPr id="1094" name="文本框 1093" descr="{&quot;isTemplate&quot;:true,&quot;type&quot;:&quot;text&quot;}"/>
          <p:cNvSpPr txBox="1"/>
          <p:nvPr/>
        </p:nvSpPr>
        <p:spPr>
          <a:xfrm>
            <a:off x="381000" y="504825"/>
            <a:ext cx="45339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一句换货请求，背后是五步操作</a:t>
            </a:r>
            <a:endParaRPr/>
          </a:p>
        </p:txBody>
      </p:sp>
      <p:sp>
        <p:nvSpPr>
          <p:cNvPr id="1095" name="矩形 1094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96" name="文本框 1095" descr="{&quot;isTemplate&quot;:true,&quot;type&quot;:&quot;text&quot;}"/>
          <p:cNvSpPr txBox="1"/>
          <p:nvPr/>
        </p:nvSpPr>
        <p:spPr>
          <a:xfrm>
            <a:off x="381000" y="1066800"/>
            <a:ext cx="2857500" cy="1371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123A78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1097" name="文本框 1096" descr="{&quot;isTemplate&quot;:true,&quot;type&quot;:&quot;text&quot;}"/>
          <p:cNvSpPr txBox="1"/>
          <p:nvPr/>
        </p:nvSpPr>
        <p:spPr>
          <a:xfrm>
            <a:off x="381000" y="2533650"/>
            <a:ext cx="28575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步连续处理</a:t>
            </a:r>
            <a:endParaRPr/>
          </a:p>
        </p:txBody>
      </p:sp>
      <p:sp>
        <p:nvSpPr>
          <p:cNvPr id="1098" name="矩形 1097"/>
          <p:cNvSpPr/>
          <p:nvPr/>
        </p:nvSpPr>
        <p:spPr>
          <a:xfrm>
            <a:off x="381000" y="2990850"/>
            <a:ext cx="1524000" cy="38100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99" name="圆角矩形 1098"/>
          <p:cNvSpPr/>
          <p:nvPr/>
        </p:nvSpPr>
        <p:spPr>
          <a:xfrm>
            <a:off x="428625" y="3429000"/>
            <a:ext cx="2857500" cy="1447800"/>
          </a:xfrm>
          <a:prstGeom prst="roundRect">
            <a:avLst>
              <a:gd name="adj" fmla="val 6579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00" name="任意形状 1099"/>
          <p:cNvSpPr/>
          <p:nvPr/>
        </p:nvSpPr>
        <p:spPr>
          <a:xfrm>
            <a:off x="428625" y="3429000"/>
            <a:ext cx="2857500" cy="1447800"/>
          </a:xfrm>
          <a:custGeom>
            <a:avLst/>
            <a:gdLst/>
            <a:ahLst/>
            <a:cxnLst/>
            <a:rect l="0" t="0" r="0" b="0"/>
            <a:pathLst>
              <a:path w="300" h="152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47"/>
                </a:lnTo>
                <a:cubicBezTo>
                  <a:pt x="5" y="149"/>
                  <a:pt x="7" y="151"/>
                  <a:pt x="9" y="152"/>
                </a:cubicBezTo>
                <a:cubicBezTo>
                  <a:pt x="4" y="151"/>
                  <a:pt x="0" y="147"/>
                  <a:pt x="0" y="14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01" name="文本框 1100" descr="{&quot;isTemplate&quot;:true,&quot;type&quot;:&quot;text&quot;}"/>
          <p:cNvSpPr txBox="1"/>
          <p:nvPr/>
        </p:nvSpPr>
        <p:spPr>
          <a:xfrm>
            <a:off x="638175" y="3619500"/>
            <a:ext cx="2390775" cy="1066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500">
                <a:solidFill>
                  <a:srgbClr val="123A78"/>
                </a:solidFill>
                <a:latin typeface="Microsoft YaHei"/>
                <a:ea typeface="Microsoft YaHei"/>
              </a:rPr>
              <a:t>用户只看到客服回复了几句话，</a:t>
            </a:r>
            <a:r>
              <a:rPr lang="zh-CN" sz="1500" b="1">
                <a:solidFill>
                  <a:srgbClr val="123A78"/>
                </a:solidFill>
                <a:latin typeface="Microsoft YaHei"/>
                <a:ea typeface="Microsoft YaHei"/>
              </a:rPr>
              <a:t>背后却是查询、核对、解释、录入和转交</a:t>
            </a:r>
            <a:r>
              <a:rPr lang="zh-CN" sz="1500">
                <a:solidFill>
                  <a:srgbClr val="123A7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102" name="文本框 1101" descr="{&quot;isTemplate&quot;:true,&quot;type&quot;:&quot;text&quot;}"/>
          <p:cNvSpPr txBox="1"/>
          <p:nvPr/>
        </p:nvSpPr>
        <p:spPr>
          <a:xfrm>
            <a:off x="381000" y="5276850"/>
            <a:ext cx="28575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其中最容易出现问题的，是第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1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步与第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2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步：信息没接住，用户就要从头再说一遍。</a:t>
            </a:r>
            <a:endParaRPr/>
          </a:p>
        </p:txBody>
      </p:sp>
      <p:pic>
        <p:nvPicPr>
          <p:cNvPr id="1103" name="图形 110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81400" y="1085850"/>
            <a:ext cx="8039100" cy="5105400"/>
          </a:xfrm>
          <a:prstGeom prst="rect">
            <a:avLst/>
          </a:prstGeom>
          <a:ln/>
        </p:spPr>
      </p:pic>
      <p:sp>
        <p:nvSpPr>
          <p:cNvPr id="1104" name="任意形状 1103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05" name="文本框 1104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1106" name="文本框 1105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06 / 42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一节 · 业务背景与项目任务&lt;/Text&gt;&#10;            &lt;Text style={{ fontSize: 34, fontWeight: '600', color: '#123A78', marginTop: 8, lineHeight: 1.25 }}&gt;从人工客服到大模型客服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78 }}&gt;&#10;            &lt;svg width={1200} height={78} viewBox='0 0 1200 78'&gt;&#10;                &lt;line x1='40' y1='30' x2='1160' y2='30' stroke='#D6DCE5' strokeWidth='3' /&gt;&#10;                &lt;circle cx='120' cy='30' r='13' fill='#123A78' /&gt;&#10;                &lt;circle cx='430' cy='30' r='13' fill='#123A78' /&gt;&#10;                &lt;circle cx='740' cy='30' r='13' fill='#123A78' /&gt;&#10;                &lt;circle cx='1050' cy='30' r='13' fill='#2F6FD0' /&gt;&#10;                &lt;text x='120' y='68' textAnchor='middle' fontFamily='Source Han Sans SC' fontSize='18' fill='#8B97A8'&gt;由人承担&lt;/text&gt;&#10;                &lt;text x='430' y='68' textAnchor='middle' fontFamily='Source Han Sans SC' fontSize='18' fill='#8B97A8'&gt;机器人承担回答&lt;/text&gt;&#10;                &lt;text x='740' y='68' textAnchor='middle' fontFamily='Source Han Sans SC' fontSize='18' fill='#8B97A8'&gt;机器人承担办理&lt;/text&gt;&#10;                &lt;text x='1050' y='68' textAnchor='middle' fontFamily='Source Han Sans SC' fontSize='18' fill='#123A78' fontWeight='bold'&gt;自然表达 + 业务办理&lt;/text&gt;&#10;            &lt;/svg&gt;&#10;        &lt;/Box&gt;&#10;        &lt;Box style={{ height: 396, flexDirection: 'row', gap: 24 }}&gt;&#10;            &lt;Box style={{ width: 282, height: 396, background: '#FFFFFF', border: '1px solid #D6DCE5', borderRadius: 10, padding: '18px 20px', justifyContent: 'space-between' }}&gt;&#10;                &lt;Box&gt;&#10;                    &lt;Box style={{ width: 40, height: 4, background: '#123A78' }} /&gt;&#10;                    &lt;Text style={{ fontSize: 25, fontWeight: '600', color: '#123A78', marginTop: 12 }}&gt;人工客服&lt;/Text&gt;&#10;                &lt;/Box&gt;&#10;                &lt;Box style={{ gap: 6 }}&gt;&#10;                    &lt;Text style={{ fontSize: 16, color: '#2F6FD0', letterSpacing: 1 }}&gt;怎么工作&lt;/Text&gt;&#10;                    &lt;Text style={{ fontSize: 18, color: '#1A2230', lineHeight: 1.45 }}&gt;由人理解诉求，结合上下文灵活组织整个处理过程&lt;/Text&gt;&#10;                &lt;/Box&gt;&#10;                &lt;Box style={{ gap: 6 }}&gt;&#10;                    &lt;Text style={{ fontSize: 16, color: '#2F6FD0', letterSpacing: 1 }}&gt;主要价值&lt;/Text&gt;&#10;                    &lt;Text style={{ fontSize: 18, color: '#1A2230', lineHeight: 1.45 }}&gt;能回看记录、核对政策，处理「之前那个客服说可以换」这类争议&lt;/Text&gt;&#10;                &lt;/Box&gt;&#10;                &lt;Box style={{ gap: 6, background: '#FDF2F0', borderRadius: 8, padding: '10px 12px' }}&gt;&#10;                    &lt;Text style={{ fontSize: 16, color: '#C0392B', letterSpacing: 1 }}&gt;卡在哪里&lt;/Text&gt;&#10;                    &lt;Text style={{ fontSize: 18, color: '#C0392B', lineHeight: 1.45 }}&gt;重复咨询、高峰排队、新人培训、跨系统查询成本高&lt;/Text&gt;&#10;                &lt;/Box&gt;&#10;            &lt;/Box&gt;&#10;            &lt;Box style={{ width: 282, height: 396, background: '#FFFFFF', border: '1px solid #D6DCE5', borderRadius: 10, padding: '18px 20px', justifyContent: 'space-between' }}&gt;&#10;                &lt;Box&gt;&#10;                    &lt;Box style={{ width: 40, height: 4, background: '#123A78' }} /&gt;&#10;                    &lt;Text style={{ fontSize: 25, fontWeight: '600', color: '#123A78', marginTop: 12 }}&gt;FAQ 机器人&lt;/Text&gt;&#10;                &lt;/Box&gt;&#10;                &lt;Box style={{ gap: 6 }}&gt;&#10;                    &lt;Text style={{ fontSize: 16, color: '#2F6FD0', letterSpacing: 1 }}&gt;怎么工作&lt;/Text&gt;&#10;                    &lt;Text style={{ fontSize: 18, color: '#1A2230', lineHeight: 1.45 }}&gt;提前维护常见问题与答案，靠问题匹配返回答案&lt;/Text&gt;&#10;                &lt;/Box&gt;&#10;                &lt;Box style={{ gap: 6 }}&gt;&#10;                    &lt;Text style={{ fontSize: 16, color: '#2F6FD0', letterSpacing: 1 }}&gt;主要价值&lt;/Text&gt;&#10;                    &lt;Text style={{ fontSize: 18, color: '#1A2230', lineHeight: 1.45 }}&gt;企业容易控制回答内容，适合常见且稳定的问题&lt;/Text&gt;&#10;                &lt;/Box&gt;&#10;                &lt;Box style={{ gap: 6, background: '#FDF2F0', borderRadius: 8, padding: '10px 12px' }}&gt;&#10;                    &lt;Text style={{ fontSize: 16, color: '#C0392B', letterSpacing: 1 }}&gt;卡在哪里&lt;/Text&gt;&#10;                    &lt;Text style={{ fontSize: 18, color: '#C0392B', lineHeight: 1.45 }}&gt;用户一句话里常含多条线索，通用答案碰不到实际情况&lt;/Text&gt;&#10;                &lt;/Box&gt;&#10;            &lt;/Box&gt;&#10;            &lt;Box style={{ width: 282, height: 396, background: '#FFFFFF', border: '1px solid #D6DCE5', borderRadius: 10, padding: '18px 20px', justifyContent: 'space-between' }}&gt;&#10;                &lt;Box&gt;&#10;                    &lt;Box style={{ width: 40, height: 4, background: '#123A78' }} /&gt;&#10;                    &lt;Text style={{ fontSize: 25, fontWeight: '600', color: '#123A78', marginTop: 12 }}&gt;流程型机器人&lt;/Text&gt;&#10;                &lt;/Box&gt;&#10;                &lt;Box style={{ gap: 6 }}&gt;&#10;                    &lt;Text style={{ fontSize: 16, color: '#2F6FD0', letterSpacing: 1 }}&gt;怎么工作&lt;/Text&gt;&#10;                    &lt;Text style={{ fontSize: 18, color: '#1A2230', lineHeight: 1.45 }}&gt;按预设步骤收集信息、调用接口、创建申请&lt;/Text&gt;&#10;                &lt;/Box&gt;&#10;                &lt;Box style={{ gap: 6 }}&gt;&#10;                    &lt;Text style={{ fontSize: 16, color: '#2F6FD0', letterSpacing: 1 }}&gt;主要价值&lt;/Text&gt;&#10;                    &lt;Text style={{ fontSize: 18, color: '#1A2230', lineHeight: 1.45 }}&gt;步骤明确，容易知道用户当前在哪一步、还缺哪些信息&lt;/Text&gt;&#10;                &lt;/Box&gt;&#10;                &lt;Box style={{ gap: 6, background: '#FDF2F0', borderRadius: 8, padding: '10px 12px' }}&gt;&#10;                    &lt;Text style={{ fontSize: 16, color: '#C0392B', letterSpacing: 1 }}&gt;卡在哪里&lt;/Text&gt;&#10;                    &lt;Text style={{ fontSize: 18, color: '#C0392B', lineHeight: 1.45 }}&gt;用户不沿流程走：中途改口、一次提两个诉求&lt;/Text&gt;&#10;                &lt;/Box&gt;&#10;            &lt;/Box&gt;&#10;            &lt;Box style={{ width: 282, height: 396, background: '#123A78', borderRadius: 10, padding: '18px 20px', justifyContent: 'space-between' }}&gt;&#10;                &lt;Box&gt;&#10;                    &lt;Box style={{ width: 40, height: 4, background: '#FFFFFF', opacity: 0.7 }} /&gt;&#10;                    &lt;Text style={{ fontSize: 25, fontWeight: '600', color: '#FFFFFF', marginTop: 12 }}&gt;大模型客服&lt;/Text&gt;&#10;                &lt;/Box&gt;&#10;                &lt;Box style={{ gap: 6 }}&gt;&#10;                    &lt;Text style={{ fontSize: 16, color: '#E9F0FA', letterSpacing: 1, opacity: 0.8 }}&gt;怎么工作&lt;/Text&gt;&#10;                    &lt;Text style={{ fontSize: 18, color: '#FFFFFF', lineHeight: 1.45 }}&gt;理解表达、提取信息、组织回复，并选择处理路径&lt;/Text&gt;&#10;                &lt;/Box&gt;&#10;                &lt;Box style={{ gap: 6 }}&gt;&#10;                    &lt;Text style={{ fontSize: 16, color: '#E9F0FA', letterSpacing: 1, opacity: 0.8 }}&gt;主要价值&lt;/Text&gt;&#10;                    &lt;Text style={{ fontSize: 18, color: '#FFFFFF', lineHeight: 1.45 }}&gt;用户说过的信息不必再问一遍，自然表达也能进入流程&lt;/Text&gt;&#10;                &lt;/Box&gt;&#10;                &lt;Box style={{ gap: 6, background: 'rgba(255,255,255,0.12)', borderRadius: 8, padding: '10px 12px' }}&gt;&#10;                    &lt;Text style={{ fontSize: 16, color: '#E9F0FA', letterSpacing: 1 }}&gt;卡在哪里&lt;/Text&gt;&#10;                    &lt;Text style={{ fontSize: 18, color: '#FFFFFF', lineHeight: 1.45 }}&gt;业务事实必须来自订单、政策等外部系统，不能凭空生成&lt;/Text&gt;&#10;                &lt;/Box&gt;&#10;            &lt;/Box&gt;&#10;        &lt;/Box&gt;&#10;        &lt;Box style={{ height: 40, background: '#E9F0FA', borderRadius: 10, justifyContent: 'center', paddingLeft: 22, borderLeft: '4px solid #123A78' }}&gt;&#10;            &lt;Text style={{ fontSize: 19, color: '#123A78', lineHeight: 1.4 }}&gt;&#10;                大模型不是客服自动化的起点；实际产品通常是让它&lt;span style={{ fontWeight: 'bold' }}&gt;与知识库、固定流程、业务规则和人工客服配合&lt;/span&gt;，而不是替换掉全部旧能力。&#10;            &lt;/Text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07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矩形 11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09" name="文本框 1108" descr="{&quot;isTemplate&quot;:true,&quot;type&quot;:&quot;text&quot;}"/>
          <p:cNvSpPr txBox="1"/>
          <p:nvPr/>
        </p:nvSpPr>
        <p:spPr>
          <a:xfrm>
            <a:off x="381000" y="266700"/>
            <a:ext cx="35623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第一节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业务背景与项目任务</a:t>
            </a:r>
            <a:endParaRPr/>
          </a:p>
        </p:txBody>
      </p:sp>
      <p:sp>
        <p:nvSpPr>
          <p:cNvPr id="1110" name="文本框 1109" descr="{&quot;isTemplate&quot;:true,&quot;type&quot;:&quot;text&quot;}"/>
          <p:cNvSpPr txBox="1"/>
          <p:nvPr/>
        </p:nvSpPr>
        <p:spPr>
          <a:xfrm>
            <a:off x="381000" y="504825"/>
            <a:ext cx="35623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从人工客服到大模型客服</a:t>
            </a:r>
            <a:endParaRPr/>
          </a:p>
        </p:txBody>
      </p:sp>
      <p:sp>
        <p:nvSpPr>
          <p:cNvPr id="1111" name="矩形 1110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12" name="图形 11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1066800"/>
            <a:ext cx="11430000" cy="742950"/>
          </a:xfrm>
          <a:prstGeom prst="rect">
            <a:avLst/>
          </a:prstGeom>
          <a:ln/>
        </p:spPr>
      </p:pic>
      <p:sp>
        <p:nvSpPr>
          <p:cNvPr id="1113" name="圆角矩形 1112"/>
          <p:cNvSpPr/>
          <p:nvPr/>
        </p:nvSpPr>
        <p:spPr>
          <a:xfrm>
            <a:off x="381000" y="1933575"/>
            <a:ext cx="2686050" cy="377190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4" name="矩形 1113"/>
          <p:cNvSpPr/>
          <p:nvPr/>
        </p:nvSpPr>
        <p:spPr>
          <a:xfrm>
            <a:off x="571500" y="2105025"/>
            <a:ext cx="381000" cy="381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15" name="文本框 1114" descr="{&quot;isTemplate&quot;:true,&quot;type&quot;:&quot;text&quot;}"/>
          <p:cNvSpPr txBox="1"/>
          <p:nvPr/>
        </p:nvSpPr>
        <p:spPr>
          <a:xfrm>
            <a:off x="571500" y="2257425"/>
            <a:ext cx="23050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23A78"/>
                </a:solidFill>
                <a:latin typeface="Microsoft YaHei"/>
                <a:ea typeface="Microsoft YaHei"/>
              </a:rPr>
              <a:t>人工客服</a:t>
            </a:r>
            <a:endParaRPr/>
          </a:p>
        </p:txBody>
      </p:sp>
      <p:sp>
        <p:nvSpPr>
          <p:cNvPr id="1116" name="文本框 1115" descr="{&quot;isTemplate&quot;:true,&quot;type&quot;:&quot;text&quot;}"/>
          <p:cNvSpPr txBox="1"/>
          <p:nvPr/>
        </p:nvSpPr>
        <p:spPr>
          <a:xfrm>
            <a:off x="571500" y="2543175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2F6FD0"/>
                </a:solidFill>
                <a:latin typeface="Microsoft YaHei"/>
                <a:ea typeface="Microsoft YaHei"/>
              </a:rPr>
              <a:t>怎么工作</a:t>
            </a:r>
            <a:endParaRPr/>
          </a:p>
        </p:txBody>
      </p:sp>
      <p:sp>
        <p:nvSpPr>
          <p:cNvPr id="1117" name="文本框 1116" descr="{&quot;isTemplate&quot;:true,&quot;type&quot;:&quot;text&quot;}"/>
          <p:cNvSpPr txBox="1"/>
          <p:nvPr/>
        </p:nvSpPr>
        <p:spPr>
          <a:xfrm>
            <a:off x="571500" y="2790825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由人理解诉求，结合上下文灵活组织整个处理过程</a:t>
            </a:r>
            <a:endParaRPr/>
          </a:p>
        </p:txBody>
      </p:sp>
      <p:sp>
        <p:nvSpPr>
          <p:cNvPr id="1118" name="文本框 1117" descr="{&quot;isTemplate&quot;:true,&quot;type&quot;:&quot;text&quot;}"/>
          <p:cNvSpPr txBox="1"/>
          <p:nvPr/>
        </p:nvSpPr>
        <p:spPr>
          <a:xfrm>
            <a:off x="571500" y="3390900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2F6FD0"/>
                </a:solidFill>
                <a:latin typeface="Microsoft YaHei"/>
                <a:ea typeface="Microsoft YaHei"/>
              </a:rPr>
              <a:t>主要价值</a:t>
            </a:r>
            <a:endParaRPr/>
          </a:p>
        </p:txBody>
      </p:sp>
      <p:sp>
        <p:nvSpPr>
          <p:cNvPr id="1119" name="文本框 1118" descr="{&quot;isTemplate&quot;:true,&quot;type&quot;:&quot;text&quot;}"/>
          <p:cNvSpPr txBox="1"/>
          <p:nvPr/>
        </p:nvSpPr>
        <p:spPr>
          <a:xfrm>
            <a:off x="571500" y="3638550"/>
            <a:ext cx="23050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能回看记录、核对政策，处理「之前那个客服说可以换」这类争议</a:t>
            </a:r>
            <a:endParaRPr/>
          </a:p>
        </p:txBody>
      </p:sp>
      <p:sp>
        <p:nvSpPr>
          <p:cNvPr id="1120" name="圆角矩形 1119"/>
          <p:cNvSpPr/>
          <p:nvPr/>
        </p:nvSpPr>
        <p:spPr>
          <a:xfrm>
            <a:off x="571500" y="4533900"/>
            <a:ext cx="2305050" cy="1038225"/>
          </a:xfrm>
          <a:prstGeom prst="roundRect">
            <a:avLst>
              <a:gd name="adj" fmla="val 7339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21" name="文本框 1120" descr="{&quot;isTemplate&quot;:true,&quot;type&quot;:&quot;text&quot;}"/>
          <p:cNvSpPr txBox="1"/>
          <p:nvPr/>
        </p:nvSpPr>
        <p:spPr>
          <a:xfrm>
            <a:off x="685800" y="4629150"/>
            <a:ext cx="2076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C0392B"/>
                </a:solidFill>
                <a:latin typeface="Microsoft YaHei"/>
                <a:ea typeface="Microsoft YaHei"/>
              </a:rPr>
              <a:t>卡在哪里</a:t>
            </a:r>
            <a:endParaRPr/>
          </a:p>
        </p:txBody>
      </p:sp>
      <p:sp>
        <p:nvSpPr>
          <p:cNvPr id="1122" name="文本框 1121" descr="{&quot;isTemplate&quot;:true,&quot;type&quot;:&quot;text&quot;}"/>
          <p:cNvSpPr txBox="1"/>
          <p:nvPr/>
        </p:nvSpPr>
        <p:spPr>
          <a:xfrm>
            <a:off x="685800" y="4876800"/>
            <a:ext cx="20764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重复咨询、高峰排队、新人培训、跨系统查询成本高</a:t>
            </a:r>
            <a:endParaRPr/>
          </a:p>
        </p:txBody>
      </p:sp>
      <p:sp>
        <p:nvSpPr>
          <p:cNvPr id="1123" name="圆角矩形 1122"/>
          <p:cNvSpPr/>
          <p:nvPr/>
        </p:nvSpPr>
        <p:spPr>
          <a:xfrm>
            <a:off x="3295650" y="1933575"/>
            <a:ext cx="2686050" cy="377190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4" name="矩形 1123"/>
          <p:cNvSpPr/>
          <p:nvPr/>
        </p:nvSpPr>
        <p:spPr>
          <a:xfrm>
            <a:off x="3486150" y="2105025"/>
            <a:ext cx="381000" cy="381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25" name="文本框 1124" descr="{&quot;isTemplate&quot;:true,&quot;type&quot;:&quot;text&quot;}"/>
          <p:cNvSpPr txBox="1"/>
          <p:nvPr/>
        </p:nvSpPr>
        <p:spPr>
          <a:xfrm>
            <a:off x="3486150" y="2257425"/>
            <a:ext cx="23050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123A78"/>
                </a:solidFill>
                <a:latin typeface="Microsoft YaHei"/>
                <a:ea typeface="Microsoft YaHei"/>
              </a:rPr>
              <a:t>FAQ </a:t>
            </a:r>
            <a:r>
              <a:rPr lang="zh-CN" sz="1875" b="1">
                <a:solidFill>
                  <a:srgbClr val="123A78"/>
                </a:solidFill>
                <a:latin typeface="Microsoft YaHei"/>
                <a:ea typeface="Microsoft YaHei"/>
              </a:rPr>
              <a:t>机器人</a:t>
            </a:r>
            <a:endParaRPr/>
          </a:p>
        </p:txBody>
      </p:sp>
      <p:sp>
        <p:nvSpPr>
          <p:cNvPr id="1126" name="文本框 1125" descr="{&quot;isTemplate&quot;:true,&quot;type&quot;:&quot;text&quot;}"/>
          <p:cNvSpPr txBox="1"/>
          <p:nvPr/>
        </p:nvSpPr>
        <p:spPr>
          <a:xfrm>
            <a:off x="3486150" y="2543175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2F6FD0"/>
                </a:solidFill>
                <a:latin typeface="Microsoft YaHei"/>
                <a:ea typeface="Microsoft YaHei"/>
              </a:rPr>
              <a:t>怎么工作</a:t>
            </a:r>
            <a:endParaRPr/>
          </a:p>
        </p:txBody>
      </p:sp>
      <p:sp>
        <p:nvSpPr>
          <p:cNvPr id="1127" name="文本框 1126" descr="{&quot;isTemplate&quot;:true,&quot;type&quot;:&quot;text&quot;}"/>
          <p:cNvSpPr txBox="1"/>
          <p:nvPr/>
        </p:nvSpPr>
        <p:spPr>
          <a:xfrm>
            <a:off x="3486150" y="2790825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提前维护常见问题与答案，靠问题匹配返回答案</a:t>
            </a:r>
            <a:endParaRPr/>
          </a:p>
        </p:txBody>
      </p:sp>
      <p:sp>
        <p:nvSpPr>
          <p:cNvPr id="1128" name="文本框 1127" descr="{&quot;isTemplate&quot;:true,&quot;type&quot;:&quot;text&quot;}"/>
          <p:cNvSpPr txBox="1"/>
          <p:nvPr/>
        </p:nvSpPr>
        <p:spPr>
          <a:xfrm>
            <a:off x="3486150" y="3390900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2F6FD0"/>
                </a:solidFill>
                <a:latin typeface="Microsoft YaHei"/>
                <a:ea typeface="Microsoft YaHei"/>
              </a:rPr>
              <a:t>主要价值</a:t>
            </a:r>
            <a:endParaRPr/>
          </a:p>
        </p:txBody>
      </p:sp>
      <p:sp>
        <p:nvSpPr>
          <p:cNvPr id="1129" name="文本框 1128" descr="{&quot;isTemplate&quot;:true,&quot;type&quot;:&quot;text&quot;}"/>
          <p:cNvSpPr txBox="1"/>
          <p:nvPr/>
        </p:nvSpPr>
        <p:spPr>
          <a:xfrm>
            <a:off x="3486150" y="3638550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企业容易控制回答内容，适合常见且稳定的问题</a:t>
            </a:r>
            <a:endParaRPr/>
          </a:p>
        </p:txBody>
      </p:sp>
      <p:sp>
        <p:nvSpPr>
          <p:cNvPr id="1130" name="圆角矩形 1129"/>
          <p:cNvSpPr/>
          <p:nvPr/>
        </p:nvSpPr>
        <p:spPr>
          <a:xfrm>
            <a:off x="3486150" y="4238625"/>
            <a:ext cx="2305050" cy="1333500"/>
          </a:xfrm>
          <a:prstGeom prst="roundRect">
            <a:avLst>
              <a:gd name="adj" fmla="val 5714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31" name="文本框 1130" descr="{&quot;isTemplate&quot;:true,&quot;type&quot;:&quot;text&quot;}"/>
          <p:cNvSpPr txBox="1"/>
          <p:nvPr/>
        </p:nvSpPr>
        <p:spPr>
          <a:xfrm>
            <a:off x="3600450" y="4333875"/>
            <a:ext cx="2076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C0392B"/>
                </a:solidFill>
                <a:latin typeface="Microsoft YaHei"/>
                <a:ea typeface="Microsoft YaHei"/>
              </a:rPr>
              <a:t>卡在哪里</a:t>
            </a:r>
            <a:endParaRPr/>
          </a:p>
        </p:txBody>
      </p:sp>
      <p:sp>
        <p:nvSpPr>
          <p:cNvPr id="1132" name="文本框 1131" descr="{&quot;isTemplate&quot;:true,&quot;type&quot;:&quot;text&quot;}"/>
          <p:cNvSpPr txBox="1"/>
          <p:nvPr/>
        </p:nvSpPr>
        <p:spPr>
          <a:xfrm>
            <a:off x="3600450" y="4581525"/>
            <a:ext cx="20764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用户一句话里常含多条线索，通用答案碰不到实际情况</a:t>
            </a:r>
            <a:endParaRPr/>
          </a:p>
        </p:txBody>
      </p:sp>
      <p:sp>
        <p:nvSpPr>
          <p:cNvPr id="1133" name="圆角矩形 1132"/>
          <p:cNvSpPr/>
          <p:nvPr/>
        </p:nvSpPr>
        <p:spPr>
          <a:xfrm>
            <a:off x="6210300" y="1933575"/>
            <a:ext cx="2686050" cy="377190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4" name="矩形 1133"/>
          <p:cNvSpPr/>
          <p:nvPr/>
        </p:nvSpPr>
        <p:spPr>
          <a:xfrm>
            <a:off x="6400800" y="2105025"/>
            <a:ext cx="381000" cy="381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35" name="文本框 1134" descr="{&quot;isTemplate&quot;:true,&quot;type&quot;:&quot;text&quot;}"/>
          <p:cNvSpPr txBox="1"/>
          <p:nvPr/>
        </p:nvSpPr>
        <p:spPr>
          <a:xfrm>
            <a:off x="6400800" y="2257425"/>
            <a:ext cx="23050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23A78"/>
                </a:solidFill>
                <a:latin typeface="Microsoft YaHei"/>
                <a:ea typeface="Microsoft YaHei"/>
              </a:rPr>
              <a:t>流程型机器人</a:t>
            </a:r>
            <a:endParaRPr/>
          </a:p>
        </p:txBody>
      </p:sp>
      <p:sp>
        <p:nvSpPr>
          <p:cNvPr id="1136" name="文本框 1135" descr="{&quot;isTemplate&quot;:true,&quot;type&quot;:&quot;text&quot;}"/>
          <p:cNvSpPr txBox="1"/>
          <p:nvPr/>
        </p:nvSpPr>
        <p:spPr>
          <a:xfrm>
            <a:off x="6400800" y="2628900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2F6FD0"/>
                </a:solidFill>
                <a:latin typeface="Microsoft YaHei"/>
                <a:ea typeface="Microsoft YaHei"/>
              </a:rPr>
              <a:t>怎么工作</a:t>
            </a:r>
            <a:endParaRPr/>
          </a:p>
        </p:txBody>
      </p:sp>
      <p:sp>
        <p:nvSpPr>
          <p:cNvPr id="1137" name="文本框 1136" descr="{&quot;isTemplate&quot;:true,&quot;type&quot;:&quot;text&quot;}"/>
          <p:cNvSpPr txBox="1"/>
          <p:nvPr/>
        </p:nvSpPr>
        <p:spPr>
          <a:xfrm>
            <a:off x="6400800" y="2876550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按预设步骤收集信息、调用接口、创建申请</a:t>
            </a:r>
            <a:endParaRPr/>
          </a:p>
        </p:txBody>
      </p:sp>
      <p:sp>
        <p:nvSpPr>
          <p:cNvPr id="1138" name="文本框 1137" descr="{&quot;isTemplate&quot;:true,&quot;type&quot;:&quot;text&quot;}"/>
          <p:cNvSpPr txBox="1"/>
          <p:nvPr/>
        </p:nvSpPr>
        <p:spPr>
          <a:xfrm>
            <a:off x="6400800" y="3562350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2F6FD0"/>
                </a:solidFill>
                <a:latin typeface="Microsoft YaHei"/>
                <a:ea typeface="Microsoft YaHei"/>
              </a:rPr>
              <a:t>主要价值</a:t>
            </a:r>
            <a:endParaRPr/>
          </a:p>
        </p:txBody>
      </p:sp>
      <p:sp>
        <p:nvSpPr>
          <p:cNvPr id="1139" name="文本框 1138" descr="{&quot;isTemplate&quot;:true,&quot;type&quot;:&quot;text&quot;}"/>
          <p:cNvSpPr txBox="1"/>
          <p:nvPr/>
        </p:nvSpPr>
        <p:spPr>
          <a:xfrm>
            <a:off x="6400800" y="3810000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步骤明确，容易知道用户当前在哪一步、还缺哪些信息</a:t>
            </a:r>
            <a:endParaRPr/>
          </a:p>
        </p:txBody>
      </p:sp>
      <p:sp>
        <p:nvSpPr>
          <p:cNvPr id="1140" name="圆角矩形 1139"/>
          <p:cNvSpPr/>
          <p:nvPr/>
        </p:nvSpPr>
        <p:spPr>
          <a:xfrm>
            <a:off x="6400800" y="4495800"/>
            <a:ext cx="2305050" cy="1038225"/>
          </a:xfrm>
          <a:prstGeom prst="roundRect">
            <a:avLst>
              <a:gd name="adj" fmla="val 7339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1" name="文本框 1140" descr="{&quot;isTemplate&quot;:true,&quot;type&quot;:&quot;text&quot;}"/>
          <p:cNvSpPr txBox="1"/>
          <p:nvPr/>
        </p:nvSpPr>
        <p:spPr>
          <a:xfrm>
            <a:off x="6515100" y="4591050"/>
            <a:ext cx="2076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C0392B"/>
                </a:solidFill>
                <a:latin typeface="Microsoft YaHei"/>
                <a:ea typeface="Microsoft YaHei"/>
              </a:rPr>
              <a:t>卡在哪里</a:t>
            </a:r>
            <a:endParaRPr/>
          </a:p>
        </p:txBody>
      </p:sp>
      <p:sp>
        <p:nvSpPr>
          <p:cNvPr id="1142" name="文本框 1141" descr="{&quot;isTemplate&quot;:true,&quot;type&quot;:&quot;text&quot;}"/>
          <p:cNvSpPr txBox="1"/>
          <p:nvPr/>
        </p:nvSpPr>
        <p:spPr>
          <a:xfrm>
            <a:off x="6515100" y="4838700"/>
            <a:ext cx="20764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用户不沿流程走：中途改口、一次提两个诉求</a:t>
            </a:r>
            <a:endParaRPr/>
          </a:p>
        </p:txBody>
      </p:sp>
      <p:sp>
        <p:nvSpPr>
          <p:cNvPr id="1143" name="圆角矩形 1142"/>
          <p:cNvSpPr/>
          <p:nvPr/>
        </p:nvSpPr>
        <p:spPr>
          <a:xfrm>
            <a:off x="9124950" y="1933575"/>
            <a:ext cx="2686050" cy="3771900"/>
          </a:xfrm>
          <a:prstGeom prst="roundRect">
            <a:avLst>
              <a:gd name="adj" fmla="val 3546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4" name="文本框 1143" descr="{&quot;isTemplate&quot;:true,&quot;type&quot;:&quot;text&quot;}"/>
          <p:cNvSpPr txBox="1"/>
          <p:nvPr/>
        </p:nvSpPr>
        <p:spPr>
          <a:xfrm>
            <a:off x="9315450" y="2257425"/>
            <a:ext cx="23050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大模型客服</a:t>
            </a:r>
            <a:endParaRPr/>
          </a:p>
        </p:txBody>
      </p:sp>
      <p:sp>
        <p:nvSpPr>
          <p:cNvPr id="1145" name="文本框 1144" descr="{&quot;isTemplate&quot;:true,&quot;type&quot;:&quot;text&quot;}"/>
          <p:cNvSpPr txBox="1"/>
          <p:nvPr/>
        </p:nvSpPr>
        <p:spPr>
          <a:xfrm>
            <a:off x="9315450" y="2790825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理解表达、提取信息、组织回复，并选择处理路径</a:t>
            </a:r>
            <a:endParaRPr/>
          </a:p>
        </p:txBody>
      </p:sp>
      <p:sp>
        <p:nvSpPr>
          <p:cNvPr id="1146" name="文本框 1145" descr="{&quot;isTemplate&quot;:true,&quot;type&quot;:&quot;text&quot;}"/>
          <p:cNvSpPr txBox="1"/>
          <p:nvPr/>
        </p:nvSpPr>
        <p:spPr>
          <a:xfrm>
            <a:off x="9315450" y="3638550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用户说过的信息不必再问一遍，自然表达也能进入流程</a:t>
            </a:r>
            <a:endParaRPr/>
          </a:p>
        </p:txBody>
      </p:sp>
      <p:sp>
        <p:nvSpPr>
          <p:cNvPr id="1147" name="圆角矩形 1146"/>
          <p:cNvSpPr/>
          <p:nvPr/>
        </p:nvSpPr>
        <p:spPr>
          <a:xfrm>
            <a:off x="9315450" y="4238625"/>
            <a:ext cx="2305050" cy="1333500"/>
          </a:xfrm>
          <a:prstGeom prst="roundRect">
            <a:avLst>
              <a:gd name="adj" fmla="val 5714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8" name="文本框 1147" descr="{&quot;isTemplate&quot;:true,&quot;type&quot;:&quot;text&quot;}"/>
          <p:cNvSpPr txBox="1"/>
          <p:nvPr/>
        </p:nvSpPr>
        <p:spPr>
          <a:xfrm>
            <a:off x="9429750" y="4333875"/>
            <a:ext cx="2076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9F0FA"/>
                </a:solidFill>
                <a:latin typeface="Microsoft YaHei"/>
                <a:ea typeface="Microsoft YaHei"/>
              </a:rPr>
              <a:t>卡在哪里</a:t>
            </a:r>
            <a:endParaRPr/>
          </a:p>
        </p:txBody>
      </p:sp>
      <p:sp>
        <p:nvSpPr>
          <p:cNvPr id="1149" name="文本框 1148" descr="{&quot;isTemplate&quot;:true,&quot;type&quot;:&quot;text&quot;}"/>
          <p:cNvSpPr txBox="1"/>
          <p:nvPr/>
        </p:nvSpPr>
        <p:spPr>
          <a:xfrm>
            <a:off x="9429750" y="4581525"/>
            <a:ext cx="20764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业务事实必须来自订单、政策等外部系统，不能凭空生成</a:t>
            </a:r>
            <a:endParaRPr/>
          </a:p>
        </p:txBody>
      </p:sp>
      <p:sp>
        <p:nvSpPr>
          <p:cNvPr id="1150" name="圆角矩形 1149"/>
          <p:cNvSpPr/>
          <p:nvPr/>
        </p:nvSpPr>
        <p:spPr>
          <a:xfrm>
            <a:off x="419100" y="5829300"/>
            <a:ext cx="11430000" cy="381000"/>
          </a:xfrm>
          <a:prstGeom prst="roundRect">
            <a:avLst>
              <a:gd name="adj" fmla="val 25000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51" name="任意形状 1150"/>
          <p:cNvSpPr/>
          <p:nvPr/>
        </p:nvSpPr>
        <p:spPr>
          <a:xfrm>
            <a:off x="419100" y="5829300"/>
            <a:ext cx="11430000" cy="381000"/>
          </a:xfrm>
          <a:custGeom>
            <a:avLst/>
            <a:gdLst/>
            <a:ahLst/>
            <a:cxnLst/>
            <a:rect l="0" t="0" r="0" b="0"/>
            <a:pathLst>
              <a:path w="1200" h="40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34"/>
                </a:lnTo>
                <a:cubicBezTo>
                  <a:pt x="4" y="37"/>
                  <a:pt x="6" y="39"/>
                  <a:pt x="9" y="40"/>
                </a:cubicBezTo>
                <a:cubicBezTo>
                  <a:pt x="4" y="39"/>
                  <a:pt x="0" y="35"/>
                  <a:pt x="0" y="3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52" name="文本框 1151" descr="{&quot;isTemplate&quot;:true,&quot;type&quot;:&quot;text&quot;}"/>
          <p:cNvSpPr txBox="1"/>
          <p:nvPr/>
        </p:nvSpPr>
        <p:spPr>
          <a:xfrm>
            <a:off x="628650" y="5867400"/>
            <a:ext cx="111823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425">
                <a:solidFill>
                  <a:srgbClr val="123A78"/>
                </a:solidFill>
                <a:latin typeface="Microsoft YaHei"/>
                <a:ea typeface="Microsoft YaHei"/>
              </a:rPr>
              <a:t>大模型不是客服自动化的起点；实际产品通常是让它</a:t>
            </a: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与知识库、固定流程、业务规则和人工客服配合</a:t>
            </a:r>
            <a:r>
              <a:rPr lang="zh-CN" sz="1425">
                <a:solidFill>
                  <a:srgbClr val="123A78"/>
                </a:solidFill>
                <a:latin typeface="Microsoft YaHei"/>
                <a:ea typeface="Microsoft YaHei"/>
              </a:rPr>
              <a:t>，而不是替换掉全部旧能力。</a:t>
            </a:r>
            <a:endParaRPr/>
          </a:p>
        </p:txBody>
      </p:sp>
      <p:sp>
        <p:nvSpPr>
          <p:cNvPr id="1153" name="任意形状 1152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54" name="文本框 1153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1155" name="文本框 1154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07 / 42</a:t>
            </a:r>
            <a:endParaRPr/>
          </a:p>
        </p:txBody>
      </p:sp>
      <p:sp>
        <p:nvSpPr>
          <p:cNvPr id="1156" name="矩形 1155"/>
          <p:cNvSpPr/>
          <p:nvPr/>
        </p:nvSpPr>
        <p:spPr>
          <a:xfrm>
            <a:off x="9315450" y="2105025"/>
            <a:ext cx="3810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57" name="文本框 1156" descr="{&quot;isTemplate&quot;:true,&quot;type&quot;:&quot;text&quot;}"/>
          <p:cNvSpPr txBox="1"/>
          <p:nvPr/>
        </p:nvSpPr>
        <p:spPr>
          <a:xfrm>
            <a:off x="9315450" y="2543175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9F0FA">
                    <a:alpha val="80000"/>
                  </a:srgbClr>
                </a:solidFill>
                <a:latin typeface="Microsoft YaHei"/>
                <a:ea typeface="Microsoft YaHei"/>
              </a:rPr>
              <a:t>怎么工作</a:t>
            </a:r>
            <a:endParaRPr/>
          </a:p>
        </p:txBody>
      </p:sp>
      <p:sp>
        <p:nvSpPr>
          <p:cNvPr id="1158" name="文本框 1157" descr="{&quot;isTemplate&quot;:true,&quot;type&quot;:&quot;text&quot;}"/>
          <p:cNvSpPr txBox="1"/>
          <p:nvPr/>
        </p:nvSpPr>
        <p:spPr>
          <a:xfrm>
            <a:off x="9315450" y="3390900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9F0FA">
                    <a:alpha val="80000"/>
                  </a:srgbClr>
                </a:solidFill>
                <a:latin typeface="Microsoft YaHei"/>
                <a:ea typeface="Microsoft YaHei"/>
              </a:rPr>
              <a:t>主要价值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一节 · 课堂互动 01&lt;/Text&gt;&#10;            &lt;Text style={{ fontSize: 34, fontWeight: '600', color: '#123A78', marginTop: 8, lineHeight: 1.25 }}&gt;引入大模型，最该优先改善什么&lt;/Text&gt;&#10;        &lt;/Box&gt;&#10;        &lt;Box style={{ width: 96, height: 3, background: '#2F6FD0', marginTop: 58 }} /&gt;&#10;    &lt;/Box&gt;&#10;    &lt;Box style={{ height: 540, marginTop: 8, flexDirection: 'row', gap: 40 }}&gt;&#10;        &lt;Box style={{ width: 640, height: 540, justifyContent: 'space-between' }}&gt;&#10;            &lt;Box style={{ background: '#E9F0FA', borderRadius: 10, padding: '20px 24px', borderLeft: '5px solid #123A78' }}&gt;&#10;                &lt;Text style={{ fontSize: 16, color: '#2F6FD0', letterSpacing: 2 }}&gt;场景&lt;/Text&gt;&#10;                &lt;Text style={{ fontSize: 21, color: '#123A78', marginTop: 10, lineHeight: 1.5 }}&gt;&#10;                    假设店铺已经有常见问题、自助查单和售后申请入口，你认为引入大模型&lt;span style={{ fontWeight: 'bold' }}&gt;最值得优先改善&lt;/span&gt;什么？&#10;                &lt;/Text&gt;&#10;            &lt;/Box&gt;&#10;            &lt;Box style={{ background: '#FFFFFF', border: '1px solid #D6DCE5', borderRadius: 10, padding: '20px 24px' }}&gt;&#10;                &lt;Box style={{ flexDirection: 'row', alignItems: 'flex-start', gap: 16 }}&gt;&#10;                    &lt;Box style={{ width: 52, height: 52, background: '#F7F9FC', border: '1px solid #D6DCE5', borderRadius: 10, justifyContent: 'center', alignItems: 'center' }}&gt;&#10;                        &lt;Text style={{ fontSize: 24, color: '#123A78', fontWeight: 'bold', fontFamily: 'JetBrains Mono' }}&gt;A&lt;/Text&gt;&#10;                    &lt;/Box&gt;&#10;                    &lt;Text style={{ fontSize: 21, color: '#1A2230', lineHeight: 1.5, flex: 1 }}&gt;让客服回复更自然、更像真人&lt;/Text&gt;&#10;                &lt;/Box&gt;&#10;            &lt;/Box&gt;&#10;            &lt;Box style={{ background: '#FFFFFF', border: '1px solid #D6DCE5', borderRadius: 10, padding: '20px 24px' }}&gt;&#10;                &lt;Box style={{ flexDirection: 'row', alignItems: 'flex-start', gap: 16 }}&gt;&#10;                    &lt;Box style={{ width: 52, height: 52, background: '#F7F9FC', border: '1px solid #D6DCE5', borderRadius: 10, justifyContent: 'center', alignItems: 'center' }}&gt;&#10;                        &lt;Text style={{ fontSize: 24, color: '#123A78', fontWeight: 'bold', fontFamily: 'JetBrains Mono' }}&gt;B&lt;/Text&gt;&#10;                    &lt;/Box&gt;&#10;                    &lt;Text style={{ fontSize: 21, color: '#1A2230', lineHeight: 1.5, flex: 1 }}&gt;让用户用自己的话描述需求，系统仍能理解并进入正确的处理流程&lt;/Text&gt;&#10;                &lt;/Box&gt;&#10;            &lt;/Box&gt;&#10;            &lt;Box style={{ background: '#FFFFFF', border: '1px solid #D6DCE5', borderRadius: 10, padding: '20px 24px' }}&gt;&#10;                &lt;Box style={{ flexDirection: 'row', alignItems: 'flex-start', gap: 16 }}&gt;&#10;                    &lt;Box style={{ width: 52, height: 52, background: '#F7F9FC', border: '1px solid #D6DCE5', borderRadius: 10, justifyContent: 'center', alignItems: 'center' }}&gt;&#10;                        &lt;Text style={{ fontSize: 24, color: '#123A78', fontWeight: 'bold', fontFamily: 'JetBrains Mono' }}&gt;C&lt;/Text&gt;&#10;                    &lt;/Box&gt;&#10;                    &lt;Text style={{ fontSize: 21, color: '#1A2230', lineHeight: 1.5, flex: 1 }}&gt;让全部售后操作不再需要人工参与&lt;/Text&gt;&#10;                &lt;/Box&gt;&#10;            &lt;/Box&gt;&#10;        &lt;/Box&gt;&#10;        &lt;Box style={{ flex: 1, height: 540, justifyContent: 'space-between' }}&gt;&#10;            &lt;Box style={{ background: '#123A78', borderRadius: 10, padding: '22px 24px' }}&gt;&#10;                &lt;Box style={{ flexDirection: 'row', alignItems: 'center', gap: 12 }}&gt;&#10;                    &lt;Box style={{ background: '#F2A21C', borderRadius: 6, padding: '6px 12px' }}&gt;&#10;                        &lt;Text style={{ fontSize: 16, color: '#FFFFFF', fontWeight: 'bold' }}&gt;答案&lt;/Text&gt;&#10;                    &lt;/Box&gt;&#10;                    &lt;Text style={{ fontSize: 27, color: '#FFFFFF', fontWeight: '600' }}&gt;B&lt;/Text&gt;&#10;                &lt;/Box&gt;&#10;                &lt;Text style={{ fontSize: 21, color: '#E9F0FA', marginTop: 14, lineHeight: 1.55 }}&gt;&#10;                    让用户用自己的话描述需求，系统仍能理解并进入&lt;span style={{ fontWeight: 'bold', color: '#FFFFFF' }}&gt;正确的处理流程&lt;/span&gt;。&#10;                &lt;/Text&gt;&#10;            &lt;/Box&gt;&#10;            &lt;Box style={{ background: '#FFFFFF', border: '1px solid #D6DCE5', borderRadius: 10, padding: '20px 22px' }}&gt;&#10;                &lt;Text style={{ fontSize: 20, color: '#2F6FD0', fontWeight: 'bold', lineHeight: 1.45 }}&gt;A 有价值，但不够&lt;/Text&gt;&#10;                &lt;Text style={{ fontSize: 19, color: '#1A2230', marginTop: 10, lineHeight: 1.5 }}&gt;&#10;                    回复清楚、自然确实影响体验。但说得很自然却查错订单、没有推进申请，服务仍然没有完成。&#10;                &lt;/Text&gt;&#10;            &lt;/Box&gt;&#10;            &lt;Box style={{ background: '#FFFFFF', border: '1px solid #D6DCE5', borderRadius: 10, padding: '20px 22px' }}&gt;&#10;                &lt;Text style={{ fontSize: 20, color: '#C0392B', fontWeight: 'bold', lineHeight: 1.45 }}&gt;C 不能作为默认目标&lt;/Text&gt;&#10;                &lt;Text style={{ fontSize: 19, color: '#1A2230', marginTop: 10, lineHeight: 1.5 }}&gt;&#10;                    是否自动处理要结合业务规则、权限和风险。不能因为模型理解了退款诉求，就让它自行批准退款。&#10;                &lt;/Text&gt;&#10;            &lt;/Box&gt;&#10;            &lt;Box style={{ background: '#E9F0FA', borderRadius: 10, padding: '18px 22px', borderLeft: '5px solid #123A78' }}&gt;&#10;                &lt;Text style={{ fontSize: 20, color: '#123A78', lineHeight: 1.5 }}&gt;&#10;                    我们要的是：&lt;span style={{ fontWeight: 'bold' }}&gt;让用户表达得自然，也让后面的处理有明确步骤&lt;/span&gt;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10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381000" y="266700"/>
            <a:ext cx="4533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第一节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课堂互动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01</a:t>
            </a:r>
            <a:endParaRPr/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381000" y="504825"/>
            <a:ext cx="45339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引入大模型，最该优先改善什么</a:t>
            </a:r>
            <a:endParaRPr/>
          </a:p>
        </p:txBody>
      </p:sp>
      <p:sp>
        <p:nvSpPr>
          <p:cNvPr id="22" name="矩形 21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圆角矩形 22"/>
          <p:cNvSpPr/>
          <p:nvPr/>
        </p:nvSpPr>
        <p:spPr>
          <a:xfrm>
            <a:off x="428625" y="1066800"/>
            <a:ext cx="6096000" cy="1390650"/>
          </a:xfrm>
          <a:prstGeom prst="roundRect">
            <a:avLst>
              <a:gd name="adj" fmla="val 6849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任意形状 23"/>
          <p:cNvSpPr/>
          <p:nvPr/>
        </p:nvSpPr>
        <p:spPr>
          <a:xfrm>
            <a:off x="428625" y="1066800"/>
            <a:ext cx="6096000" cy="1390650"/>
          </a:xfrm>
          <a:custGeom>
            <a:avLst/>
            <a:gdLst/>
            <a:ahLst/>
            <a:cxnLst/>
            <a:rect l="0" t="0" r="0" b="0"/>
            <a:pathLst>
              <a:path w="640" h="14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41"/>
                </a:lnTo>
                <a:cubicBezTo>
                  <a:pt x="5" y="143"/>
                  <a:pt x="7" y="145"/>
                  <a:pt x="9" y="146"/>
                </a:cubicBezTo>
                <a:cubicBezTo>
                  <a:pt x="4" y="145"/>
                  <a:pt x="0" y="141"/>
                  <a:pt x="0" y="13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657225" y="1257300"/>
            <a:ext cx="55911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2F6FD0"/>
                </a:solidFill>
                <a:latin typeface="Microsoft YaHei"/>
                <a:ea typeface="Microsoft YaHei"/>
              </a:rPr>
              <a:t>场景</a:t>
            </a:r>
            <a:endParaRPr/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657225" y="1543050"/>
            <a:ext cx="5591175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23A78"/>
                </a:solidFill>
                <a:latin typeface="Microsoft YaHei"/>
                <a:ea typeface="Microsoft YaHei"/>
              </a:rPr>
              <a:t>假设店铺已经有常见问题、自助查单和售后申请入口，你认为引入大模型</a:t>
            </a:r>
            <a:r>
              <a:rPr lang="zh-CN" sz="1575" b="1">
                <a:solidFill>
                  <a:srgbClr val="123A78"/>
                </a:solidFill>
                <a:latin typeface="Microsoft YaHei"/>
                <a:ea typeface="Microsoft YaHei"/>
              </a:rPr>
              <a:t>最值得优先改善</a:t>
            </a:r>
            <a:r>
              <a:rPr lang="zh-CN" sz="1575">
                <a:solidFill>
                  <a:srgbClr val="123A78"/>
                </a:solidFill>
                <a:latin typeface="Microsoft YaHei"/>
                <a:ea typeface="Microsoft YaHei"/>
              </a:rPr>
              <a:t>什么？</a:t>
            </a:r>
            <a:endParaRPr/>
          </a:p>
        </p:txBody>
      </p:sp>
      <p:sp>
        <p:nvSpPr>
          <p:cNvPr id="27" name="圆角矩形 26"/>
          <p:cNvSpPr/>
          <p:nvPr/>
        </p:nvSpPr>
        <p:spPr>
          <a:xfrm>
            <a:off x="381000" y="2752725"/>
            <a:ext cx="609600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圆角矩形 27"/>
          <p:cNvSpPr/>
          <p:nvPr/>
        </p:nvSpPr>
        <p:spPr>
          <a:xfrm>
            <a:off x="609600" y="2943225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771525" y="3057525"/>
            <a:ext cx="171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23A78"/>
                </a:solidFill>
                <a:latin typeface="JetBrains Mono"/>
                <a:ea typeface="JetBrains Mono"/>
              </a:rPr>
              <a:t>A</a:t>
            </a:r>
            <a:endParaRPr/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1257300" y="2943225"/>
            <a:ext cx="49911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让客服回复更自然、更像真人</a:t>
            </a:r>
            <a:endParaRPr/>
          </a:p>
        </p:txBody>
      </p:sp>
      <p:sp>
        <p:nvSpPr>
          <p:cNvPr id="31" name="圆角矩形 30"/>
          <p:cNvSpPr/>
          <p:nvPr/>
        </p:nvSpPr>
        <p:spPr>
          <a:xfrm>
            <a:off x="381000" y="3933825"/>
            <a:ext cx="60960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圆角矩形 31"/>
          <p:cNvSpPr/>
          <p:nvPr/>
        </p:nvSpPr>
        <p:spPr>
          <a:xfrm>
            <a:off x="609600" y="4124325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771525" y="4238625"/>
            <a:ext cx="171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23A78"/>
                </a:solidFill>
                <a:latin typeface="JetBrains Mono"/>
                <a:ea typeface="JetBrains Mono"/>
              </a:rPr>
              <a:t>B</a:t>
            </a:r>
            <a:endParaRPr/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1257300" y="4124325"/>
            <a:ext cx="499110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让用户用自己的话描述需求，系统仍能理解并进入正确的处理流程</a:t>
            </a:r>
            <a:endParaRPr/>
          </a:p>
        </p:txBody>
      </p:sp>
      <p:sp>
        <p:nvSpPr>
          <p:cNvPr id="35" name="圆角矩形 34"/>
          <p:cNvSpPr/>
          <p:nvPr/>
        </p:nvSpPr>
        <p:spPr>
          <a:xfrm>
            <a:off x="381000" y="5334000"/>
            <a:ext cx="609600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圆角矩形 35"/>
          <p:cNvSpPr/>
          <p:nvPr/>
        </p:nvSpPr>
        <p:spPr>
          <a:xfrm>
            <a:off x="609600" y="55245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771525" y="5638800"/>
            <a:ext cx="171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23A78"/>
                </a:solidFill>
                <a:latin typeface="JetBrains Mono"/>
                <a:ea typeface="JetBrains Mono"/>
              </a:rPr>
              <a:t>C</a:t>
            </a:r>
            <a:endParaRPr/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1257300" y="5524500"/>
            <a:ext cx="49911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让全部售后操作不再需要人工参与</a:t>
            </a:r>
            <a:endParaRPr/>
          </a:p>
        </p:txBody>
      </p:sp>
      <p:sp>
        <p:nvSpPr>
          <p:cNvPr id="53" name="任意形状 52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0, position: 'relative' }}&gt;&#10;    &lt;Box style={{ position: 'absolute', left: 0, top: 0, width: 16, height: 720, background: '#123A78' }} /&gt;&#10;    &lt;Box style={{ width: '100%', height: '100%', flexDirection: 'row', alignItems: 'center', padding: '0 72px 0 88px', gap: 56 }}&gt;&#10;        &lt;Box style={{ width: 280, gap: 14 }}&gt;&#10;            &lt;Text style={{ fontSize: 132, fontWeight: 'bold', color: '#123A78', lineHeight: 1, fontFamily: 'JetBrains Mono' }}&gt;02&lt;/Text&gt;&#10;            &lt;Box style={{ width: 200, height: 4, background: '#2F6FD0' }} /&gt;&#10;            &lt;Text style={{ fontSize: 16, color: '#8B97A8', letterSpacing: 3, fontFamily: 'JetBrains Mono' }}&gt;P.16 – 24&lt;/Text&gt;&#10;        &lt;/Box&gt;&#10;        &lt;Box style={{ flex: 1, gap: 20 }}&gt;&#10;            &lt;Text style={{ fontSize: 44, fontWeight: '700', color: '#123A78', lineHeight: 1.25 }}&gt;整体方案&lt;br /&gt;与主工作流&lt;/Text&gt;&#10;            &lt;Text style={{ fontSize: 22, color: '#4A5568', lineHeight: 1.55 }}&gt;&#10;                先回答这个问题：用户发来一句话之后，系统怎样知道该做什么，把这个请求交给哪一条流程。&#10;            &lt;/Text&gt;&#10;            &lt;Box style={{ gap: 12, marginTop: 6 }}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拆开「用户看到的产品」与「背后的处理流程」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四条路径怎么分、意图分类为什么不能只写标签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上下文与任务状态：不是每一句话都重新从头分流&lt;/Text&gt;&#10;                &lt;/Box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838200" y="2428875"/>
            <a:ext cx="2667000" cy="1514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900" b="1">
                <a:solidFill>
                  <a:srgbClr val="123A78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76" name="矩形 175"/>
          <p:cNvSpPr/>
          <p:nvPr/>
        </p:nvSpPr>
        <p:spPr>
          <a:xfrm>
            <a:off x="838200" y="4076700"/>
            <a:ext cx="1905000" cy="38100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838200" y="4248150"/>
            <a:ext cx="2667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8B97A8"/>
                </a:solidFill>
                <a:latin typeface="JetBrains Mono"/>
                <a:ea typeface="JetBrains Mono"/>
              </a:rPr>
              <a:t>P.16 – 24</a:t>
            </a:r>
            <a:endParaRPr/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4038600" y="1533525"/>
            <a:ext cx="7467600" cy="1257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123A78"/>
                </a:solidFill>
                <a:latin typeface="Microsoft YaHei"/>
                <a:ea typeface="Microsoft YaHei"/>
              </a:rPr>
              <a:t>整体方案</a:t>
            </a:r>
            <a:endParaRPr/>
          </a:p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123A78"/>
                </a:solidFill>
                <a:latin typeface="Microsoft YaHei"/>
                <a:ea typeface="Microsoft YaHei"/>
              </a:rPr>
              <a:t>与主工作流</a:t>
            </a:r>
            <a:endParaRPr/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4038600" y="2981325"/>
            <a:ext cx="7467600" cy="781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650" dirty="0">
                <a:solidFill>
                  <a:srgbClr val="4A5568"/>
                </a:solidFill>
                <a:latin typeface="Microsoft YaHei"/>
                <a:ea typeface="Microsoft YaHei"/>
              </a:rPr>
              <a:t>先回答这个问题：用户发来一句话之后，系统怎样知道该做什么，把这个请求交给哪一条流程。</a:t>
            </a:r>
            <a:endParaRPr dirty="0"/>
          </a:p>
        </p:txBody>
      </p:sp>
      <p:sp>
        <p:nvSpPr>
          <p:cNvPr id="180" name="圆角矩形 179"/>
          <p:cNvSpPr/>
          <p:nvPr/>
        </p:nvSpPr>
        <p:spPr>
          <a:xfrm>
            <a:off x="4038600" y="4105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4267200" y="401002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拆开「用户看到的产品」与「背后的处理流程」</a:t>
            </a:r>
            <a:endParaRPr/>
          </a:p>
        </p:txBody>
      </p:sp>
      <p:sp>
        <p:nvSpPr>
          <p:cNvPr id="182" name="圆角矩形 181"/>
          <p:cNvSpPr/>
          <p:nvPr/>
        </p:nvSpPr>
        <p:spPr>
          <a:xfrm>
            <a:off x="4038600" y="45815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4267200" y="448627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四条路径怎么分、意图分类为什么不能只写标签</a:t>
            </a:r>
            <a:endParaRPr/>
          </a:p>
        </p:txBody>
      </p:sp>
      <p:sp>
        <p:nvSpPr>
          <p:cNvPr id="184" name="圆角矩形 183"/>
          <p:cNvSpPr/>
          <p:nvPr/>
        </p:nvSpPr>
        <p:spPr>
          <a:xfrm>
            <a:off x="4038600" y="5057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4267200" y="496252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上下文与任务状态：不是每一句话都重新从头分流</a:t>
            </a:r>
            <a:endParaRPr/>
          </a:p>
        </p:txBody>
      </p:sp>
      <p:sp>
        <p:nvSpPr>
          <p:cNvPr id="186" name="矩形 185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先看这个产品应该怎样工作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44, background: '#123A78', borderRadius: 10, justifyContent: 'center', paddingLeft: 22, flexDirection: 'row', alignItems: 'center', gap: 18 }}&gt;&#10;            &lt;Text style={{ fontSize: 20, color: '#FFFFFF', fontWeight: '600' }}&gt;同一个客服窗口 · 三段目标对话&lt;/Text&gt;&#10;            &lt;Text style={{ fontSize: 17, color: '#E9F0FA', opacity: 0.85 }}&gt;教学设计的预期效果，不是已运行验证的结果&lt;/Text&gt;&#10;        &lt;/Box&gt;&#10;        &lt;Box style={{ height: 400, flexDirection: 'row', gap: 21, alignItems: 'flex-start' }}&gt;&#10;            &lt;Box style={{ width: 386, background: '#FFFFFF', border: '1px solid #D6DCE5', borderRadius: 10, padding: '16px 18px' }}&gt;&#10;                &lt;Box style={{ flexDirection: 'row', alignItems: 'center', gap: 10, marginBottom: 12 }}&gt;&#10;                    &lt;Box style={{ width: 32, height: 32, background: '#123A78', borderRadius: 8, justifyContent: 'center', alignItems: 'center' }}&gt;&#10;                        &lt;Text style={{ fontSize: 16, color: '#FFFFFF', fontWeight: 'bold', fontFamily: 'JetBrains Mono' }}&gt;1&lt;/Text&gt;&#10;                    &lt;/Box&gt;&#10;                    &lt;Text style={{ fontSize: 22, fontWeight: '600', color: '#123A78' }}&gt;查询订单&lt;/Text&gt;&#10;                &lt;/Box&gt;&#10;                &lt;Box style={{ background: '#E9F0FA', borderRadius: 8, padding: '10px 12px', marginBottom: 8 }}&gt;&#10;                    &lt;Text style={{ fontSize: 16, color: '#2F6FD0' }}&gt;用户&lt;/Text&gt;&#10;                    &lt;Text style={{ fontSize: 18, color: '#123A78', marginTop: 4, lineHeight: 1.45 }}&gt;上周买的耳机怎么还没到？&lt;/Text&gt;&#10;                &lt;/Box&gt;&#10;                &lt;Box style={{ background: '#F7F9FC', borderRadius: 8, padding: '10px 12px', marginBottom: 8 }}&gt;&#10;                    &lt;Text style={{ fontSize: 16, color: '#8B97A8' }}&gt;助手&lt;/Text&gt;&#10;                    &lt;Text style={{ fontSize: 18, color: '#1A2230', marginTop: 4, lineHeight: 1.45 }}&gt;查询到您近期有两笔耳机订单，请选择需要查询的一笔。&lt;/Text&gt;&#10;                &lt;/Box&gt;&#10;                &lt;Box style={{ background: '#E9F0FA', borderRadius: 8, padding: '10px 12px' }}&gt;&#10;                    &lt;Text style={{ fontSize: 16, color: '#2F6FD0' }}&gt;用户&lt;/Text&gt;&#10;                    &lt;Text style={{ fontSize: 18, color: '#123A78', marginTop: 4, lineHeight: 1.45 }}&gt;第二个。&lt;/Text&gt;&#10;                &lt;/Box&gt;&#10;                &lt;Text style={{ fontSize: 17, color: '#2F6FD0', marginTop: 12, lineHeight: 1.45 }}&gt;背后要连接：订单系统 + 物流数据&lt;/Text&gt;&#10;            &lt;/Box&gt;&#10;            &lt;Box style={{ width: 386, background: '#FFFFFF', border: '2px solid #123A78', borderRadius: 10, padding: '16px 18px' }}&gt;&#10;                &lt;Box style={{ flexDirection: 'row', alignItems: 'center', gap: 10, marginBottom: 12 }}&gt;&#10;                    &lt;Box style={{ width: 32, height: 32, background: '#123A78', borderRadius: 8, justifyContent: 'center', alignItems: 'center' }}&gt;&#10;                        &lt;Text style={{ fontSize: 16, color: '#FFFFFF', fontWeight: 'bold', fontFamily: 'JetBrains Mono' }}&gt;2&lt;/Text&gt;&#10;                    &lt;/Box&gt;&#10;                    &lt;Text style={{ fontSize: 22, fontWeight: '600', color: '#123A78' }}&gt;处理售后诉求&lt;/Text&gt;&#10;                &lt;/Box&gt;&#10;                &lt;Box style={{ background: '#E9F0FA', borderRadius: 8, padding: '10px 12px', marginBottom: 8 }}&gt;&#10;                    &lt;Text style={{ fontSize: 16, color: '#2F6FD0' }}&gt;用户&lt;/Text&gt;&#10;                    &lt;Text style={{ fontSize: 18, color: '#123A78', marginTop: 4, lineHeight: 1.45 }}&gt;收到的耳机右边没有声音，我想换一个。&lt;/Text&gt;&#10;                &lt;/Box&gt;&#10;                &lt;Box style={{ background: '#F7F9FC', borderRadius: 8, padding: '10px 12px', marginBottom: 8 }}&gt;&#10;                    &lt;Text style={{ fontSize: 16, color: '#8B97A8' }}&gt;助手&lt;/Text&gt;&#10;                    &lt;Text style={{ fontSize: 18, color: '#1A2230', marginTop: 4, lineHeight: 1.45 }}&gt;我先帮您确认需要处理的订单，请选择对应商品。&lt;/Text&gt;&#10;                &lt;/Box&gt;&#10;                &lt;Box style={{ background: '#F7F9FC', borderRadius: 8, padding: '10px 12px' }}&gt;&#10;                    &lt;Text style={{ fontSize: 16, color: '#8B97A8' }}&gt;助手&lt;/Text&gt;&#10;                    &lt;Text style={{ fontSize: 18, color: '#1A2230', marginTop: 4, lineHeight: 1.45 }}&gt;已确认订单。请问右侧耳机是收到后一直没有声音，还是使用过程中出现的？&lt;/Text&gt;&#10;                &lt;/Box&gt;&#10;                &lt;Text style={{ fontSize: 17, color: '#2F6FD0', marginTop: 12, lineHeight: 1.45 }}&gt;背后还要：理解故障 + 收集信息 + 查询政策&lt;/Text&gt;&#10;            &lt;/Box&gt;&#10;            &lt;Box style={{ width: 386, background: '#FFFFFF', border: '1px solid #D6DCE5', borderRadius: 10, padding: '16px 18px' }}&gt;&#10;                &lt;Box style={{ flexDirection: 'row', alignItems: 'center', gap: 10, marginBottom: 12 }}&gt;&#10;                    &lt;Box style={{ width: 32, height: 32, background: '#123A78', borderRadius: 8, justifyContent: 'center', alignItems: 'center' }}&gt;&#10;                        &lt;Text style={{ fontSize: 16, color: '#FFFFFF', fontWeight: 'bold', fontFamily: 'JetBrains Mono' }}&gt;3&lt;/Text&gt;&#10;                    &lt;/Box&gt;&#10;                    &lt;Text style={{ fontSize: 22, fontWeight: '600', color: '#123A78' }}&gt;推荐商品&lt;/Text&gt;&#10;                &lt;/Box&gt;&#10;                &lt;Box style={{ background: '#E9F0FA', borderRadius: 8, padding: '10px 12px', marginBottom: 8 }}&gt;&#10;                    &lt;Text style={{ fontSize: 16, color: '#2F6FD0' }}&gt;用户&lt;/Text&gt;&#10;                    &lt;Text style={{ fontSize: 18, color: '#123A78', marginTop: 4, lineHeight: 1.45 }}&gt;想买个通勤用的耳机，预算三百以内。&lt;/Text&gt;&#10;                &lt;/Box&gt;&#10;                &lt;Box style={{ background: '#F7F9FC', borderRadius: 8, padding: '10px 12px', marginBottom: 8 }}&gt;&#10;                    &lt;Text style={{ fontSize: 16, color: '#8B97A8' }}&gt;助手&lt;/Text&gt;&#10;                    &lt;Text style={{ fontSize: 18, color: '#1A2230', marginTop: 4, lineHeight: 1.45 }}&gt;您更看重降噪，还是佩戴舒适度？&lt;/Text&gt;&#10;                &lt;/Box&gt;&#10;                &lt;Box style={{ background: '#F7F9FC', borderRadius: 8, padding: '10px 12px' }}&gt;&#10;                    &lt;Text style={{ fontSize: 16, color: '#8B97A8' }}&gt;助手&lt;/Text&gt;&#10;                    &lt;Text style={{ fontSize: 18, color: '#1A2230', marginTop: 4, lineHeight: 1.45 }}&gt;根据店铺当前商品资料，我为您筛选了以下候选，您可以比较价格、降噪与佩戴方式。&lt;/Text&gt;&#10;                &lt;/Box&gt;&#10;                &lt;Text style={{ fontSize: 17, color: '#2F6FD0', marginTop: 12, lineHeight: 1.45 }}&gt;背后主要依赖：用户偏好 + 商品数据&lt;/Text&gt;&#10;            &lt;/Box&gt;&#10;        &lt;/Box&gt;&#10;        &lt;Box style={{ height: 62, background: '#E9F0FA', borderRadius: 10, justifyContent: 'center', paddingLeft: 22, borderLeft: '5px solid #123A78' }}&gt;&#10;            &lt;Text style={{ fontSize: 20, color: '#123A78', lineHeight: 1.45 }}&gt;&#10;                三个场景用同一个对话窗口，处理方式却完全不同 —— 所以产品&lt;span style={{ fontWeight: 'bold' }}&gt;不能只依赖一句笼统的提示词&lt;/span&gt;：「你是一名专业电商客服，请回答用户的问题。」&#10;            &lt;/Text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16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381000" y="266700"/>
            <a:ext cx="3886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381000" y="504825"/>
            <a:ext cx="3886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先看这个产品应该怎样工作</a:t>
            </a:r>
            <a:endParaRPr/>
          </a:p>
        </p:txBody>
      </p:sp>
      <p:sp>
        <p:nvSpPr>
          <p:cNvPr id="191" name="矩形 190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2" name="圆角矩形 191"/>
          <p:cNvSpPr/>
          <p:nvPr/>
        </p:nvSpPr>
        <p:spPr>
          <a:xfrm>
            <a:off x="381000" y="1066800"/>
            <a:ext cx="11430000" cy="419100"/>
          </a:xfrm>
          <a:prstGeom prst="roundRect">
            <a:avLst>
              <a:gd name="adj" fmla="val 2272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3171825" y="1162050"/>
            <a:ext cx="26479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同一个客服窗口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三段目标对话</a:t>
            </a:r>
            <a:endParaRPr/>
          </a:p>
        </p:txBody>
      </p:sp>
      <p:sp>
        <p:nvSpPr>
          <p:cNvPr id="194" name="圆角矩形 193"/>
          <p:cNvSpPr/>
          <p:nvPr/>
        </p:nvSpPr>
        <p:spPr>
          <a:xfrm>
            <a:off x="381000" y="1647825"/>
            <a:ext cx="3676650" cy="3743325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5" name="圆角矩形 194"/>
          <p:cNvSpPr/>
          <p:nvPr/>
        </p:nvSpPr>
        <p:spPr>
          <a:xfrm>
            <a:off x="552450" y="18002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666750" y="1857375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952500" y="1828800"/>
            <a:ext cx="838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查询订单</a:t>
            </a:r>
            <a:endParaRPr/>
          </a:p>
        </p:txBody>
      </p:sp>
      <p:sp>
        <p:nvSpPr>
          <p:cNvPr id="198" name="圆角矩形 197"/>
          <p:cNvSpPr/>
          <p:nvPr/>
        </p:nvSpPr>
        <p:spPr>
          <a:xfrm>
            <a:off x="552450" y="2219325"/>
            <a:ext cx="3333750" cy="723900"/>
          </a:xfrm>
          <a:prstGeom prst="roundRect">
            <a:avLst>
              <a:gd name="adj" fmla="val 10526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666750" y="23145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2F6FD0"/>
                </a:solidFill>
                <a:latin typeface="Microsoft YaHei"/>
                <a:ea typeface="Microsoft YaHei"/>
              </a:rPr>
              <a:t>用户</a:t>
            </a:r>
            <a:endParaRPr/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666750" y="2543175"/>
            <a:ext cx="31051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上周买的耳机怎么还没到？</a:t>
            </a:r>
            <a:endParaRPr/>
          </a:p>
        </p:txBody>
      </p:sp>
      <p:sp>
        <p:nvSpPr>
          <p:cNvPr id="201" name="圆角矩形 200"/>
          <p:cNvSpPr/>
          <p:nvPr/>
        </p:nvSpPr>
        <p:spPr>
          <a:xfrm>
            <a:off x="552450" y="3019425"/>
            <a:ext cx="3333750" cy="1019175"/>
          </a:xfrm>
          <a:prstGeom prst="roundRect">
            <a:avLst>
              <a:gd name="adj" fmla="val 747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666750" y="31146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666750" y="3343275"/>
            <a:ext cx="31051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查询到您近期有两笔耳机订单，请选择需要查询的一笔。</a:t>
            </a:r>
            <a:endParaRPr/>
          </a:p>
        </p:txBody>
      </p:sp>
      <p:sp>
        <p:nvSpPr>
          <p:cNvPr id="204" name="圆角矩形 203"/>
          <p:cNvSpPr/>
          <p:nvPr/>
        </p:nvSpPr>
        <p:spPr>
          <a:xfrm>
            <a:off x="552450" y="4114800"/>
            <a:ext cx="3333750" cy="723900"/>
          </a:xfrm>
          <a:prstGeom prst="roundRect">
            <a:avLst>
              <a:gd name="adj" fmla="val 10526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666750" y="4210050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2F6FD0"/>
                </a:solidFill>
                <a:latin typeface="Microsoft YaHei"/>
                <a:ea typeface="Microsoft YaHei"/>
              </a:rPr>
              <a:t>用户</a:t>
            </a:r>
            <a:endParaRPr/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666750" y="4438650"/>
            <a:ext cx="31051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第二个。</a:t>
            </a:r>
            <a:endParaRPr/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552450" y="4953000"/>
            <a:ext cx="33337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背后要连接：订单系统</a:t>
            </a:r>
            <a:r>
              <a:rPr lang="en-US" sz="1275">
                <a:solidFill>
                  <a:srgbClr val="2F6FD0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物流数据</a:t>
            </a:r>
            <a:endParaRPr/>
          </a:p>
        </p:txBody>
      </p:sp>
      <p:sp>
        <p:nvSpPr>
          <p:cNvPr id="208" name="圆角矩形 207"/>
          <p:cNvSpPr/>
          <p:nvPr/>
        </p:nvSpPr>
        <p:spPr>
          <a:xfrm>
            <a:off x="4257675" y="1647825"/>
            <a:ext cx="3676650" cy="403860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25400">
            <a:solidFill>
              <a:srgbClr val="123A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9" name="圆角矩形 208"/>
          <p:cNvSpPr/>
          <p:nvPr/>
        </p:nvSpPr>
        <p:spPr>
          <a:xfrm>
            <a:off x="4429125" y="18002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4543425" y="1857375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4829175" y="1828800"/>
            <a:ext cx="12573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处理售后诉求</a:t>
            </a:r>
            <a:endParaRPr/>
          </a:p>
        </p:txBody>
      </p:sp>
      <p:sp>
        <p:nvSpPr>
          <p:cNvPr id="212" name="圆角矩形 211"/>
          <p:cNvSpPr/>
          <p:nvPr/>
        </p:nvSpPr>
        <p:spPr>
          <a:xfrm>
            <a:off x="4429125" y="2219325"/>
            <a:ext cx="3333750" cy="723900"/>
          </a:xfrm>
          <a:prstGeom prst="roundRect">
            <a:avLst>
              <a:gd name="adj" fmla="val 10526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4543425" y="23145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2F6FD0"/>
                </a:solidFill>
                <a:latin typeface="Microsoft YaHei"/>
                <a:ea typeface="Microsoft YaHei"/>
              </a:rPr>
              <a:t>用户</a:t>
            </a:r>
            <a:endParaRPr/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4543425" y="2543175"/>
            <a:ext cx="31051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收到的耳机右边没有声音，我想换一个。</a:t>
            </a:r>
            <a:endParaRPr/>
          </a:p>
        </p:txBody>
      </p:sp>
      <p:sp>
        <p:nvSpPr>
          <p:cNvPr id="215" name="圆角矩形 214"/>
          <p:cNvSpPr/>
          <p:nvPr/>
        </p:nvSpPr>
        <p:spPr>
          <a:xfrm>
            <a:off x="4429125" y="3019425"/>
            <a:ext cx="3333750" cy="1019175"/>
          </a:xfrm>
          <a:prstGeom prst="roundRect">
            <a:avLst>
              <a:gd name="adj" fmla="val 747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4543425" y="31146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4543425" y="3343275"/>
            <a:ext cx="31051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我先帮您确认需要处理的订单，请选择对应商品。</a:t>
            </a:r>
            <a:endParaRPr/>
          </a:p>
        </p:txBody>
      </p:sp>
      <p:sp>
        <p:nvSpPr>
          <p:cNvPr id="218" name="圆角矩形 217"/>
          <p:cNvSpPr/>
          <p:nvPr/>
        </p:nvSpPr>
        <p:spPr>
          <a:xfrm>
            <a:off x="4429125" y="4114800"/>
            <a:ext cx="3333750" cy="1019175"/>
          </a:xfrm>
          <a:prstGeom prst="roundRect">
            <a:avLst>
              <a:gd name="adj" fmla="val 747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4543425" y="4210050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4543425" y="4438650"/>
            <a:ext cx="31051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已确认订单。请问右侧耳机是收到后一直没有声音，还是使用过程中出现的？</a:t>
            </a:r>
            <a:endParaRPr/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4429125" y="5248275"/>
            <a:ext cx="33337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背后还要：理解故障</a:t>
            </a:r>
            <a:r>
              <a:rPr lang="en-US" sz="1275">
                <a:solidFill>
                  <a:srgbClr val="2F6FD0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收集信息</a:t>
            </a:r>
            <a:r>
              <a:rPr lang="en-US" sz="1275">
                <a:solidFill>
                  <a:srgbClr val="2F6FD0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查询政策</a:t>
            </a:r>
            <a:endParaRPr/>
          </a:p>
        </p:txBody>
      </p:sp>
      <p:sp>
        <p:nvSpPr>
          <p:cNvPr id="222" name="圆角矩形 221"/>
          <p:cNvSpPr/>
          <p:nvPr/>
        </p:nvSpPr>
        <p:spPr>
          <a:xfrm>
            <a:off x="8134350" y="1647825"/>
            <a:ext cx="3676650" cy="403860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3" name="圆角矩形 222"/>
          <p:cNvSpPr/>
          <p:nvPr/>
        </p:nvSpPr>
        <p:spPr>
          <a:xfrm>
            <a:off x="8305800" y="18002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8420100" y="1857375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8705850" y="1828800"/>
            <a:ext cx="838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推荐商品</a:t>
            </a:r>
            <a:endParaRPr/>
          </a:p>
        </p:txBody>
      </p:sp>
      <p:sp>
        <p:nvSpPr>
          <p:cNvPr id="226" name="圆角矩形 225"/>
          <p:cNvSpPr/>
          <p:nvPr/>
        </p:nvSpPr>
        <p:spPr>
          <a:xfrm>
            <a:off x="8305800" y="2219325"/>
            <a:ext cx="3333750" cy="723900"/>
          </a:xfrm>
          <a:prstGeom prst="roundRect">
            <a:avLst>
              <a:gd name="adj" fmla="val 10526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8420100" y="23145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2F6FD0"/>
                </a:solidFill>
                <a:latin typeface="Microsoft YaHei"/>
                <a:ea typeface="Microsoft YaHei"/>
              </a:rPr>
              <a:t>用户</a:t>
            </a:r>
            <a:endParaRPr/>
          </a:p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8420100" y="2543175"/>
            <a:ext cx="31051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想买个通勤用的耳机，预算三百以内。</a:t>
            </a:r>
            <a:endParaRPr/>
          </a:p>
        </p:txBody>
      </p:sp>
      <p:sp>
        <p:nvSpPr>
          <p:cNvPr id="229" name="圆角矩形 228"/>
          <p:cNvSpPr/>
          <p:nvPr/>
        </p:nvSpPr>
        <p:spPr>
          <a:xfrm>
            <a:off x="8305800" y="3019425"/>
            <a:ext cx="3333750" cy="723900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8420100" y="31146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8420100" y="3343275"/>
            <a:ext cx="31051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您更看重降噪，还是佩戴舒适度？</a:t>
            </a:r>
            <a:endParaRPr/>
          </a:p>
        </p:txBody>
      </p:sp>
      <p:sp>
        <p:nvSpPr>
          <p:cNvPr id="232" name="圆角矩形 231"/>
          <p:cNvSpPr/>
          <p:nvPr/>
        </p:nvSpPr>
        <p:spPr>
          <a:xfrm>
            <a:off x="8305800" y="3819525"/>
            <a:ext cx="3333750" cy="1314450"/>
          </a:xfrm>
          <a:prstGeom prst="roundRect">
            <a:avLst>
              <a:gd name="adj" fmla="val 579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8420100" y="39147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8420100" y="4143375"/>
            <a:ext cx="31051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根据店铺当前商品资料，我为您筛选了以下候选，您可以比较价格、降噪与佩戴方式。</a:t>
            </a:r>
            <a:endParaRPr/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8305800" y="5248275"/>
            <a:ext cx="33337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背后主要依赖：用户偏好</a:t>
            </a:r>
            <a:r>
              <a:rPr lang="en-US" sz="1275">
                <a:solidFill>
                  <a:srgbClr val="2F6FD0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商品数据</a:t>
            </a:r>
            <a:endParaRPr/>
          </a:p>
        </p:txBody>
      </p:sp>
      <p:sp>
        <p:nvSpPr>
          <p:cNvPr id="239" name="任意形状 238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16 / 42</a:t>
            </a:r>
            <a:endParaRPr/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5991225" y="1181100"/>
            <a:ext cx="32385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E9F0FA">
                    <a:alpha val="85000"/>
                  </a:srgbClr>
                </a:solidFill>
                <a:latin typeface="Microsoft YaHei"/>
                <a:ea typeface="Microsoft YaHei"/>
              </a:rPr>
              <a:t>教学设计的预期效果，不是已运行验证的结果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先区分「用户看到的产品」和「背后的处理流程」&lt;/Text&gt;&#10;        &lt;/Box&gt;&#10;        &lt;Box style={{ width: 96, height: 3, background: '#2F6FD0', marginTop: 58 }} /&gt;&#10;    &lt;/Box&gt;&#10;    &lt;Box style={{ height: 540, marginTop: 8, flexDirection: 'row', gap: 36 }}&gt;&#10;        &lt;Box style={{ width: 400, height: 540, justifyContent: 'space-between' }}&gt;&#10;            &lt;Box&gt;&#10;                &lt;Text style={{ fontSize: 24, fontWeight: '600', color: '#123A78' }}&gt;用户看到的：一个客服界面&lt;/Text&gt;&#10;                &lt;Box style={{ width: 90, height: 3, background: '#2F6FD0', marginTop: 10 }} /&gt;&#10;            &lt;/Box&gt;&#10;            &lt;svg width={400} height={330} viewBox='0 0 400 330'&gt;&#10;                &lt;rect x='10' y='0' width='300' height='320' rx='16' fill='#FFFFFF' stroke='#D6DCE5' strokeWidth='2' /&gt;&#10;                &lt;rect x='10' y='0' width='300' height='46' rx='16' fill='#123A78' /&gt;&#10;                &lt;rect x='10' y='30' width='300' height='16' fill='#123A78' /&gt;&#10;                &lt;rect x='34' y='18' width='86' height='9' rx='4' fill='#FFFFFF' opacity='0.85' /&gt;&#10;                &lt;rect x='34' y='64' width='150' height='40' rx='12' fill='#E9F0FA' /&gt;&#10;                &lt;rect x='130' y='116' width='152' height='40' rx='12' fill='#F7F9FC' /&gt;&#10;                &lt;rect x='34' y='170' width='248' height='46' rx='12' fill='#FFFFFF' stroke='#2F6FD0' strokeWidth='2' /&gt;&#10;                &lt;circle cx='58' cy='193' r='10' fill='#123A78' /&gt;&#10;                &lt;rect x='80' y='186' width='150' height='8' rx='4' fill='#123A78' opacity='0.7' /&gt;&#10;                &lt;rect x='80' y='200' width='104' height='7' rx='3' fill='#8B97A8' opacity='0.6' /&gt;&#10;                &lt;rect x='34' y='230' width='116' height='34' rx='8' fill='#123A78' /&gt;&#10;                &lt;rect x='166' y='230' width='116' height='34' rx='8' fill='#FFFFFF' stroke='#D6DCE5' strokeWidth='2' /&gt;&#10;                &lt;rect x='34' y='280' width='248' height='28' rx='14' fill='#F7F9FC' stroke='#D6DCE5' strokeWidth='2' /&gt;&#10;                &lt;text x='48' y='252' fontFamily='Source Han Sans SC' fontSize='15' fill='#FFFFFF'&gt;确认提交&lt;/text&gt;&#10;                &lt;text x='188' y='252' fontFamily='Source Han Sans SC' fontSize='15' fill='#4A5568'&gt;修改信息&lt;/text&gt;&#10;                &lt;text x='326' y='82' fontFamily='Source Han Sans SC' fontSize='15' fill='#123A78'&gt;输入&lt;/text&gt;&#10;                &lt;text x='326' y='128' fontFamily='Source Han Sans SC' fontSize='15' fill='#123A78'&gt;选择&lt;/text&gt;&#10;                &lt;text x='326' y='206' fontFamily='Source Han Sans SC' fontSize='15' fill='#123A78'&gt;订单卡&lt;/text&gt;&#10;                &lt;text x='326' y='252' fontFamily='Source Han Sans SC' fontSize='15' fill='#123A78'&gt;按钮&lt;/text&gt;&#10;                &lt;text x='326' y='298' fontFamily='Source Han Sans SC' fontSize='15' fill='#123A78'&gt;结果&lt;/text&gt;&#10;            &lt;/svg&gt;&#10;            &lt;Box style={{ background: '#F7F9FC', borderRadius: 10, padding: '14px 18px', borderLeft: '4px solid #8B97A8' }}&gt;&#10;                &lt;Text style={{ fontSize: 18, color: '#4A5568', lineHeight: 1.5 }}&gt;&#10;                    用户在这个界面里能做的事：输入问题、选择订单或商品、补充信息、查看处理结果、必要时转人工。&#10;                &lt;/Text&gt;&#10;            &lt;/Box&gt;&#10;        &lt;/Box&gt;&#10;        &lt;Box style={{ flex: 1, height: 540, justifyContent: 'space-between' }}&gt;&#10;            &lt;Box style={{ height: 460, border: '1px solid #D6DCE5', borderRadius: 10, overflow: 'hidden' }}&gt;&#10;                &lt;Table&#10;                    style={{ width: '100%', height: '100%' }}&#10;                    defaultTextStyle={{ fontSize: 19, textAlign: 'left', color: '#1A2230' }}&#10;                    defaultCellStyle={{&#10;                        border: {&#10;                            left: { width: 1, color: '#E5E7EB' },&#10;                            right: { width: 1, color: '#E5E7EB' },&#10;                            top: { width: 1, color: '#E5E7EB' },&#10;                            bottom: { width: 1, color: '#E5E7EB' },&#10;                        },&#10;                    }}&#10;                    cells={[&#10;                        [&#10;                            { text: '背后的产品部分', textStyle: { bold: true, color: '#FFFFFF', fontSize: 20 }, cellStyle: { background: { color: '#123A78' } } },&#10;                            { text: '具体作用', textStyle: { bold: true, color: '#FFFFFF', fontSize: 20 }, cellStyle: { background: { color: '#123A78' } } },&#10;                        ],&#10;                        [&#10;                            { text: '对话入口', textStyle: { bold: true, color: '#123A78' }, cellStyle: { background: { color: '#F7F9FC' } } },&#10;                            { text: '接收文字、选择操作和其他必要输入', cellStyle: { background: { color: '#F7F9FC' } } },&#10;                        ],&#10;                        [&#10;                            { text: '主工作流', textStyle: { bold: true, color: '#123A78' } },&#10;                            { text: '判断当前请求应该进入哪一条处理路径' },&#10;                        ],&#10;                        [&#10;                            { text: '子工作流', textStyle: { bold: true, color: '#123A78' }, cellStyle: { background: { color: '#F7F9FC' } } },&#10;                            { text: '分别完成订单查询、售后处理、商品推荐等任务', cellStyle: { background: { color: '#F7F9FC' } } },&#10;                        ],&#10;                        [&#10;                            { text: '知识与业务系统', textStyle: { bold: true, color: '#123A78' } },&#10;                            { text: '提供商品、政策、订单和售后信息' },&#10;                        ],&#10;                        [&#10;                            { text: '人工服务', textStyle: { bold: true, color: '#123A78' }, cellStyle: { background: { color: '#F7F9FC' } } },&#10;                            { text: '承接需要进一步处理的情况', cellStyle: { background: { color: '#F7F9FC' } } },&#10;                        ],&#10;                        [&#10;                            { text: '处理记录', textStyle: { bold: true, color: '#123A78' } },&#10;                            { text: '保存必要的对话、状态和调用结果，便于继续服务与排查问题' },&#10;                        ],&#10;                    ]}&#10;                /&gt;&#10;            &lt;/Box&gt;&#10;            &lt;Box style={{ height: 64, background: '#123A78', borderRadius: 10, justifyContent: 'center', paddingLeft: 22, paddingRight: 20 }}&gt;&#10;                &lt;Text style={{ fontSize: 19, color: '#FFFFFF', lineHeight: 1.45 }}&gt;&#10;                    这里的「工作流」，可以先理解为：&lt;span style={{ fontWeight: 'bold' }}&gt;系统收到请求以后，按什么步骤调用哪些能力，并根据结果决定下一步&lt;/span&gt;。本节先看懂整体关系，后面再逐条拆开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17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矩形 2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381000" y="266700"/>
            <a:ext cx="7124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381000" y="504825"/>
            <a:ext cx="71247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先区分「用户看到的产品」和「背后的处理流程」</a:t>
            </a:r>
            <a:endParaRPr/>
          </a:p>
        </p:txBody>
      </p:sp>
      <p:sp>
        <p:nvSpPr>
          <p:cNvPr id="247" name="矩形 246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381000" y="1066800"/>
            <a:ext cx="38100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23A78"/>
                </a:solidFill>
                <a:latin typeface="Microsoft YaHei"/>
                <a:ea typeface="Microsoft YaHei"/>
              </a:rPr>
              <a:t>用户看到的：一个客服界面</a:t>
            </a:r>
            <a:endParaRPr/>
          </a:p>
        </p:txBody>
      </p:sp>
      <p:sp>
        <p:nvSpPr>
          <p:cNvPr id="249" name="矩形 248"/>
          <p:cNvSpPr/>
          <p:nvPr/>
        </p:nvSpPr>
        <p:spPr>
          <a:xfrm>
            <a:off x="381000" y="1438275"/>
            <a:ext cx="85725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0" name="图形 24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1666875"/>
            <a:ext cx="3810000" cy="3143250"/>
          </a:xfrm>
          <a:prstGeom prst="rect">
            <a:avLst/>
          </a:prstGeom>
          <a:ln/>
        </p:spPr>
      </p:pic>
      <p:sp>
        <p:nvSpPr>
          <p:cNvPr id="251" name="圆角矩形 250"/>
          <p:cNvSpPr/>
          <p:nvPr/>
        </p:nvSpPr>
        <p:spPr>
          <a:xfrm>
            <a:off x="419100" y="5010150"/>
            <a:ext cx="3810000" cy="1200150"/>
          </a:xfrm>
          <a:prstGeom prst="roundRect">
            <a:avLst>
              <a:gd name="adj" fmla="val 793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2" name="任意形状 251"/>
          <p:cNvSpPr/>
          <p:nvPr/>
        </p:nvSpPr>
        <p:spPr>
          <a:xfrm>
            <a:off x="419100" y="5010150"/>
            <a:ext cx="3810000" cy="1200150"/>
          </a:xfrm>
          <a:custGeom>
            <a:avLst/>
            <a:gdLst/>
            <a:ahLst/>
            <a:cxnLst/>
            <a:rect l="0" t="0" r="0" b="0"/>
            <a:pathLst>
              <a:path w="400" h="126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20"/>
                </a:lnTo>
                <a:cubicBezTo>
                  <a:pt x="4" y="123"/>
                  <a:pt x="6" y="125"/>
                  <a:pt x="9" y="126"/>
                </a:cubicBezTo>
                <a:cubicBezTo>
                  <a:pt x="4" y="125"/>
                  <a:pt x="0" y="121"/>
                  <a:pt x="0" y="11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590550" y="5143500"/>
            <a:ext cx="34290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用户在这个界面里能做的事：输入问题、选择订单或商品、补充信息、查看处理结果、必要时转人工。</a:t>
            </a:r>
            <a:endParaRPr/>
          </a:p>
        </p:txBody>
      </p:sp>
      <p:sp>
        <p:nvSpPr>
          <p:cNvPr id="254" name="圆角矩形 253"/>
          <p:cNvSpPr/>
          <p:nvPr/>
        </p:nvSpPr>
        <p:spPr>
          <a:xfrm>
            <a:off x="4533900" y="1066800"/>
            <a:ext cx="7277100" cy="4381500"/>
          </a:xfrm>
          <a:prstGeom prst="roundRect">
            <a:avLst>
              <a:gd name="adj" fmla="val 2174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255" name="表格 254"/>
          <p:cNvGraphicFramePr/>
          <p:nvPr/>
        </p:nvGraphicFramePr>
        <p:xfrm>
          <a:off x="4533900" y="1066800"/>
          <a:ext cx="7277100" cy="4381497"/>
        </p:xfrm>
        <a:graphic>
          <a:graphicData uri="http://schemas.openxmlformats.org/drawingml/2006/table">
            <a:tbl>
              <a:tblPr/>
              <a:tblGrid>
                <a:gridCol w="1619539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5657561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64014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背后的产品部分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具体作用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23559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对话入口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接收文字、选择操作和其他必要输入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23559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主工作流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判断当前请求应该进入哪一条处理路径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23559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子工作流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分别完成订单查询、售后处理、商品推荐等任务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23559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知识与业务系统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提供商品、政策、订单和售后信息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23559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人工服务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承接需要进一步处理的情况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  <a:tr h="623559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处理记录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保存必要的对话、状态和调用结果，便于继续服务与排查问题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"/>
                  </a:ext>
                </a:extLst>
              </a:tr>
            </a:tbl>
          </a:graphicData>
        </a:graphic>
      </p:graphicFrame>
      <p:sp>
        <p:nvSpPr>
          <p:cNvPr id="256" name="圆角矩形 255"/>
          <p:cNvSpPr/>
          <p:nvPr/>
        </p:nvSpPr>
        <p:spPr>
          <a:xfrm>
            <a:off x="4533900" y="5600700"/>
            <a:ext cx="7277100" cy="609600"/>
          </a:xfrm>
          <a:prstGeom prst="roundRect">
            <a:avLst>
              <a:gd name="adj" fmla="val 15625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4743450" y="5591175"/>
            <a:ext cx="68770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这里的「工作流」，可以先理解为：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系统收到请求以后，按什么步骤调用哪些能力，并根据结果决定下一步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。本节先看懂整体关系，后面再逐条拆开。</a:t>
            </a:r>
            <a:endParaRPr/>
          </a:p>
        </p:txBody>
      </p:sp>
      <p:sp>
        <p:nvSpPr>
          <p:cNvPr id="258" name="任意形状 257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17 / 42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主工作流：把请求交给正确的分支&lt;/Text&gt;&#10;        &lt;/Box&gt;&#10;        &lt;Box style={{ width: 96, height: 3, background: '#2F6FD0', marginTop: 58 }} /&gt;&#10;    &lt;/Box&gt;&#10;    &lt;Box style={{ height: 540, marginTop: 8, justifyContent: 'center' }}&gt;&#10;        &lt;svg width={1200} height={534} viewBox='0 0 1200 534'&gt;&#10;            &lt;rect x='420' y='0' width='360' height='58' rx='10' fill='#FFFFFF' stroke='#2F6FD0' strokeWidth='2' /&gt;&#10;            &lt;text x='600' y='37' textAnchor='middle' fontFamily='Source Han Sans SC' fontSize='21' fill='#123A78' fontWeight='bold'&gt;用户消息或页面操作&lt;/text&gt;&#10;            &lt;line x1='600' y1='58' x2='600' y2='86' stroke='#2F6FD0' strokeWidth='2' /&gt;&#10;            &lt;path d='M600 86 L594 76 L606 76 Z' fill='#2F6FD0' /&gt;&#10;&#10;            &lt;rect x='420' y='88' width='360' height='58' rx='10' fill='#FFFFFF' stroke='#2F6FD0' strokeWidth='2' /&gt;&#10;            &lt;text x='600' y='125' textAnchor='middle' fontFamily='Source Han Sans SC' fontSize='21' fill='#123A78' fontWeight='bold'&gt;读取当前会话与已有任务信息&lt;/text&gt;&#10;            &lt;line x1='600' y1='146' x2='600' y2='172' stroke='#2F6FD0' strokeWidth='2' /&gt;&#10;            &lt;path d='M600 172 L594 162 L606 162 Z' fill='#2F6FD0' /&gt;&#10;&#10;            &lt;rect x='340' y='174' width='520' height='62' rx='10' fill='#123A78' /&gt;&#10;            &lt;text x='600' y='203' textAnchor='middle' fontFamily='Source Han Sans SC' fontSize='23' fill='#FFFFFF' fontWeight='bold'&gt;判断用户意图与处理路径&lt;/text&gt;&#10;            &lt;text x='600' y='225' textAnchor='middle' fontFamily='JetBrains Mono' fontSize='15' fill='#E9F0FA'&gt;combine current message + task state&lt;/text&gt;&#10;&#10;            &lt;rect x='862' y='182' width='318' height='82' rx='10' fill='#FDF2F0' stroke='#C0392B' strokeWidth='2' strokeDasharray='6 4' /&gt;&#10;            &lt;text x='882' y='212' fontFamily='Source Han Sans SC' fontSize='18' fill='#C0392B' fontWeight='bold'&gt;人工接管不只出现在最后&lt;/text&gt;&#10;            &lt;text x='882' y='236' fontFamily='Source Han Sans SC' fontSize='16' fill='#C0392B'&gt;用户明确要求，或流程无法继续时&lt;/text&gt;&#10;            &lt;text x='882' y='255' fontFamily='Source Han Sans SC' fontSize='16' fill='#C0392B'&gt;都可以进入人工路径&lt;/text&gt;&#10;            &lt;line x1='860' y1='205' x2='862' y2='205' stroke='#C0392B' strokeWidth='2' strokeDasharray='4 3' /&gt;&#10;&#10;            &lt;line x1='600' y1='236' x2='600' y2='266' stroke='#2F6FD0' strokeWidth='2' /&gt;&#10;            &lt;line x1='168' y1='266' x2='1032' y2='266' stroke='#2F6FD0' strokeWidth='2' /&gt;&#10;            &lt;line x1='168' y1='266' x2='168' y2='286' stroke='#2F6FD0' strokeWidth='2' /&gt;&#10;            &lt;line x1='456' y1='266' x2='456' y2='286' stroke='#2F6FD0' strokeWidth='2' /&gt;&#10;            &lt;line x1='744' y1='266' x2='744' y2='286' stroke='#2F6FD0' strokeWidth='2' /&gt;&#10;            &lt;line x1='1032' y1='266' x2='1032' y2='286' stroke='#2F6FD0' strokeWidth='2' /&gt;&#10;&#10;            &lt;rect x='34' y='288' width='268' height='70' rx='10' fill='#FFFFFF' stroke='#2F6FD0' strokeWidth='2' /&gt;&#10;            &lt;text x='52' y='318' fontFamily='Source Han Sans SC' fontSize='20' fill='#123A78' fontWeight='bold'&gt;1 · 订单查询&lt;/text&gt;&#10;            &lt;text x='52' y='342' fontFamily='JetBrains Mono' fontSize='15' fill='#8B97A8'&gt;order_query&lt;/text&gt;&#10;&#10;            &lt;rect x='322' y='288' width='268' height='70' rx='10' fill='#123A78' /&gt;&#10;            &lt;text x='340' y='318' fontFamily='Source Han Sans SC' fontSize='20' fill='#FFFFFF' fontWeight='bold'&gt;2 · 售后咨询与投诉&lt;/text&gt;&#10;            &lt;text x='340' y='342' fontFamily='JetBrains Mono' fontSize='15' fill='#E9F0FA'&gt;aftersales&lt;/text&gt;&#10;&#10;            &lt;rect x='610' y='288' width='268' height='70' rx='10' fill='#FFFFFF' stroke='#2F6FD0' strokeWidth='2' /&gt;&#10;            &lt;text x='628' y='318' fontFamily='Source Han Sans SC' fontSize='20' fill='#123A78' fontWeight='bold'&gt;3 · 商品咨询与推荐&lt;/text&gt;&#10;            &lt;text x='628' y='342' fontFamily='JetBrains Mono' fontSize='15' fill='#8B97A8'&gt;product_advice&lt;/text&gt;&#10;&#10;            &lt;rect x='898' y='288' width='268' height='70' rx='10' fill='#FFFFFF' stroke='#2F6FD0' strokeWidth='2' /&gt;&#10;            &lt;text x='916' y='318' fontFamily='Source Han Sans SC' fontSize='20' fill='#123A78' fontWeight='bold'&gt;4 · 闲聊 / 模糊 / 超范围&lt;/text&gt;&#10;            &lt;text x='916' y='342' fontFamily='JetBrains Mono' fontSize='15' fill='#8B97A8'&gt;other&lt;/text&gt;&#10;&#10;            &lt;line x1='168' y1='358' x2='168' y2='386' stroke='#2F6FD0' strokeWidth='2' /&gt;&#10;            &lt;line x1='456' y1='358' x2='456' y2='386' stroke='#2F6FD0' strokeWidth='2' /&gt;&#10;            &lt;line x1='744' y1='358' x2='744' y2='386' stroke='#2F6FD0' strokeWidth='2' /&gt;&#10;            &lt;line x1='1032' y1='358' x2='1032' y2='386' stroke='#2F6FD0' strokeWidth='2' /&gt;&#10;            &lt;line x1='168' y1='386' x2='1032' y2='386' stroke='#2F6FD0' strokeWidth='2' /&gt;&#10;            &lt;line x1='600' y1='386' x2='600' y2='414' stroke='#2F6FD0' strokeWidth='2' /&gt;&#10;            &lt;path d='M600 414 L594 404 L606 404 Z' fill='#2F6FD0' /&gt;&#10;&#10;            &lt;rect x='420' y='416' width='360' height='58' rx='10' fill='#F7F9FC' stroke='#2F6FD0' strokeWidth='2' /&gt;&#10;            &lt;text x='600' y='453' textAnchor='middle' fontFamily='Source Han Sans SC' fontSize='21' fill='#123A78' fontWeight='bold'&gt;返回回答、选择项或处理状态&lt;/text&gt;&#10;            &lt;line x1='600' y1='474' x2='600' y2='492' stroke='#2F6FD0' strokeWidth='2' strokeDasharray='5 4' /&gt;&#10;&#10;            &lt;rect x='420' y='494' width='360' height='40' rx='10' fill='#FFFFFF' stroke='#8B97A8' strokeWidth='2' strokeDasharray='6 4' /&gt;&#10;            &lt;text x='600' y='520' textAnchor='middle' fontFamily='Source Han Sans SC' fontSize='18' fill='#4A5568'&gt;继续当前任务，或结束本次处理&lt;/text&gt;&#10;        &lt;/svg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18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381000" y="266700"/>
            <a:ext cx="48577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381000" y="504825"/>
            <a:ext cx="48577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主工作流：把请求交给正确的分支</a:t>
            </a:r>
            <a:endParaRPr/>
          </a:p>
        </p:txBody>
      </p:sp>
      <p:sp>
        <p:nvSpPr>
          <p:cNvPr id="265" name="矩形 264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7" name="任意形状 266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18 / 42</a:t>
            </a: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8DE4D60-7A9F-A36C-5282-EFE8C6ABC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31" y="1327393"/>
            <a:ext cx="11819337" cy="45019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主工作流与子工作流怎么分工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462, flexDirection: 'row', gap: 32 }}&gt;&#10;            &lt;Box style={{ width: 716, height: 462, background: '#FFFFFF', border: '1px solid #D6DCE5', borderRadius: 10, padding: '24px 26px', justifyContent: 'space-between', boxShadow: '0 4px 16px rgba(18,58,120,0.08)' }}&gt;&#10;                &lt;Box&gt;&#10;                    &lt;Box style={{ flexDirection: 'row', alignItems: 'center', gap: 14 }}&gt;&#10;                        &lt;Box style={{ width: 44, height: 44, background: '#123A78', borderRadius: 10, justifyContent: 'center', alignItems: 'center' }}&gt;&#10;                            &lt;Text style={{ fontSize: 20, color: '#FFFFFF', fontWeight: 'bold', fontFamily: 'JetBrains Mono' }}&gt;M&lt;/Text&gt;&#10;                        &lt;/Box&gt;&#10;                        &lt;Text style={{ fontSize: 28, fontWeight: '600', color: '#123A78' }}&gt;主工作流：决定请求交给谁&lt;/Text&gt;&#10;                    &lt;/Box&gt;&#10;                    &lt;Box style={{ width: 120, height: 3, background: '#2F6FD0', marginTop: 14 }} /&gt;&#10;                &lt;/Box&gt;&#10;                &lt;Box style={{ background: '#E9F0FA', borderRadius: 10, padding: '16px 20px', borderLeft: '5px solid #2F6FD0' }}&gt;&#10;                    &lt;Text style={{ fontSize: 17, color: '#2F6FD0', lineHeight: 1.4 }}&gt;用户消息&lt;/Text&gt;&#10;                    &lt;Text style={{ fontSize: 22, color: '#123A78', marginTop: 8, lineHeight: 1.5 }}&gt;&#10;                        上周买的耳机怎么还没到？&#10;                    &lt;/Text&gt;&#10;                &lt;/Box&gt;&#10;                &lt;Text style={{ fontSize: 21, color: '#1A2230', lineHeight: 1.55 }}&gt;&#10;                    它需要判断这句话属于&lt;span style={{ fontWeight: 'bold' }}&gt;订单或物流查询&lt;/span&gt;，然后把用户消息、账号信息和已有上下文一起传给查询流程。&#10;                &lt;/Text&gt;&#10;                &lt;Box style={{ background: '#F7F9FC', borderRadius: 8, padding: '14px 18px' }}&gt;&#10;                    &lt;Text style={{ fontSize: 20, color: '#4A5568', lineHeight: 1.5 }}&gt;&#10;                        注意：主工作流&lt;span style={{ fontWeight: 'bold' }}&gt;不必在这个环节完成所有查询细节&lt;/span&gt;，它是调度者，不是执行者。&#10;                    &lt;/Text&gt;&#10;                &lt;/Box&gt;&#10;                &lt;svg width={664} height={92} viewBox='0 0 664 92'&gt;&#10;                    &lt;rect x='0' y='0' width='180' height='56' rx='10' fill='#123A78' /&gt;&#10;                    &lt;text x='90' y='35' textAnchor='middle' fontFamily='Source Han Sans SC' fontSize='18' fill='#FFFFFF' fontWeight='bold'&gt;主工作流&lt;/text&gt;&#10;                    &lt;line x1='180' y1='28' x2='300' y2='28' stroke='#2F6FD0' strokeWidth='2' /&gt;&#10;                    &lt;path d='M300 28 L290 22 L290 34 Z' fill='#2F6FD0' /&gt;&#10;                    &lt;rect x='306' y='0' width='160' height='56' rx='10' fill='#FFFFFF' stroke='#2F6FD0' strokeWidth='2' /&gt;&#10;                    &lt;text x='386' y='35' textAnchor='middle' fontFamily='Source Han Sans SC' fontSize='18' fill='#123A78' fontWeight='bold'&gt;订单查询流程&lt;/text&gt;&#10;                    &lt;line x1='466' y1='28' x2='586' y2='28' stroke='#2F6FD0' strokeWidth='2' /&gt;&#10;                    &lt;path d='M586 28 L576 22 L576 34 Z' fill='#2F6FD0' /&gt;&#10;                    &lt;rect x='592' y='0' width='72' height='56' rx='10' fill='#F7F9FC' stroke='#8B97A8' strokeWidth='2' /&gt;&#10;                    &lt;text x='628' y='35' textAnchor='middle' fontFamily='Source Han Sans SC' fontSize='17' fill='#4A5568'&gt;结果&lt;/text&gt;&#10;                    &lt;text x='0' y='84' fontFamily='Source Han Sans SC' fontSize='16' fill='#8B97A8'&gt;传下去的是「处理请求 + 必要的上下文」，不是一句「处理一下售后」&lt;/text&gt;&#10;                &lt;/svg&gt;&#10;            &lt;/Box&gt;&#10;            &lt;Box style={{ flex: 1, height: 462, background: '#123A78', borderRadius: 10, padding: '24px 24px', justifyContent: 'space-between' }}&gt;&#10;                &lt;Box&gt;&#10;                    &lt;Box style={{ flexDirection: 'row', alignItems: 'center', gap: 14 }}&gt;&#10;                        &lt;Box style={{ width: 44, height: 44, background: '#FFFFFF', borderRadius: 10, justifyContent: 'center', alignItems: 'center' }}&gt;&#10;                            &lt;Text style={{ fontSize: 20, color: '#123A78', fontWeight: 'bold', fontFamily: 'JetBrains Mono' }}&gt;S&lt;/Text&gt;&#10;                        &lt;/Box&gt;&#10;                        &lt;Text style={{ fontSize: 28, fontWeight: '600', color: '#FFFFFF' }}&gt;子工作流：把具体任务处理下去&lt;/Text&gt;&#10;                    &lt;/Box&gt;&#10;                    &lt;Box style={{ width: 110, height: 3, background: '#FFFFFF', opacity: 0.6, marginTop: 14 }} /&gt;&#10;                &lt;/Box&gt;&#10;                &lt;Text style={{ fontSize: 20, color: '#E9F0FA', lineHeight: 1.5 }}&gt;&#10;                    订单查询流程接手之后，要自己负责以下判断：&#10;                &lt;/Text&gt;&#10;                &lt;Box style={{ gap: 12 }}&gt;&#10;                    &lt;Box style={{ flexDirection: 'row', alignItems: 'center', gap: 12 }}&gt;&#10;                        &lt;Text style={{ fontSize: 18, color: '#FFFFFF', fontFamily: 'JetBrains Mono', opacity: 0.7 }}&gt;01&lt;/Text&gt;&#10;                        &lt;Text style={{ fontSize: 20, color: '#FFFFFF', lineHeight: 1.45, flex: 1 }}&gt;信息是否足够&lt;/Text&gt;&#10;                    &lt;/Box&gt;&#10;                    &lt;Box style={{ flexDirection: 'row', alignItems: 'center', gap: 12 }}&gt;&#10;                        &lt;Text style={{ fontSize: 18, color: '#FFFFFF', fontFamily: 'JetBrains Mono', opacity: 0.7 }}&gt;02&lt;/Text&gt;&#10;                        &lt;Text style={{ fontSize: 20, color: '#FFFFFF', lineHeight: 1.45, flex: 1 }}&gt;需要查哪笔订单&lt;/Text&gt;&#10;                    &lt;/Box&gt;&#10;                    &lt;Box style={{ flexDirection: 'row', alignItems: 'center', gap: 12 }}&gt;&#10;                        &lt;Text style={{ fontSize: 18, color: '#FFFFFF', fontFamily: 'JetBrains Mono', opacity: 0.7 }}&gt;03&lt;/Text&gt;&#10;                        &lt;Text style={{ fontSize: 20, color: '#FFFFFF', lineHeight: 1.45, flex: 1 }}&gt;是否需要用户选择&lt;/Text&gt;&#10;                    &lt;/Box&gt;&#10;                    &lt;Box style={{ flexDirection: 'row', alignItems: 'center', gap: 12 }}&gt;&#10;                        &lt;Text style={{ fontSize: 18, color: '#FFFFFF', fontFamily: 'JetBrains Mono', opacity: 0.7 }}&gt;04&lt;/Text&gt;&#10;                        &lt;Text style={{ fontSize: 20, color: '#FFFFFF', lineHeight: 1.45, flex: 1 }}&gt;调用什么查询工具&lt;/Text&gt;&#10;                    &lt;/Box&gt;&#10;                    &lt;Box style={{ flexDirection: 'row', alignItems: 'center', gap: 12 }}&gt;&#10;                        &lt;Text style={{ fontSize: 18, color: '#FFFFFF', fontFamily: 'JetBrains Mono', opacity: 0.7 }}&gt;05&lt;/Text&gt;&#10;                        &lt;Text style={{ fontSize: 20, color: '#FFFFFF', lineHeight: 1.45, flex: 1 }}&gt;查不到或调用失败时怎么办&lt;/Text&gt;&#10;                    &lt;/Box&gt;&#10;                    &lt;Box style={{ flexDirection: 'row', alignItems: 'center', gap: 12 }}&gt;&#10;                        &lt;Text style={{ fontSize: 18, color: '#FFFFFF', fontFamily: 'JetBrains Mono', opacity: 0.7 }}&gt;06&lt;/Text&gt;&#10;                        &lt;Text style={{ fontSize: 20, color: '#FFFFFF', lineHeight: 1.45, flex: 1 }}&gt;最后返回什么给主流程&lt;/Text&gt;&#10;                    &lt;/Box&gt;&#10;                &lt;/Box&gt;&#10;                &lt;Box style={{ background: 'rgba(255,255,255,0.12)', borderRadius: 8, padding: '14px 16px' }}&gt;&#10;                    &lt;Text style={{ fontSize: 19, color: '#FFFFFF', lineHeight: 1.5 }}&gt;&#10;                        这也是为什么要拆分：职责清楚，出错时才能定位到具体环节。&#10;                    &lt;/Text&gt;&#10;                &lt;/Box&gt;&#10;            &lt;/Box&gt;&#10;        &lt;/Box&gt;&#10;        &lt;Box style={{ height: 54, background: '#E9F0FA', borderRadius: 10, justifyContent: 'center', paddingLeft: 22, borderLeft: '5px solid #123A78' }}&gt;&#10;            &lt;Text style={{ fontSize: 20, color: '#123A78', lineHeight: 1.45 }}&gt;&#10;                拆开以后，&lt;span style={{ fontWeight: 'bold' }}&gt;修改订单查询流程，不需要同时重写商品推荐的全部逻辑&lt;/span&gt; —— 这是后续能持续迭代的前提。&#10;            &lt;/Text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19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矩形 2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381000" y="266700"/>
            <a:ext cx="421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381000" y="504825"/>
            <a:ext cx="42100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主工作流与子工作流怎么分工</a:t>
            </a:r>
            <a:endParaRPr/>
          </a:p>
        </p:txBody>
      </p:sp>
      <p:sp>
        <p:nvSpPr>
          <p:cNvPr id="274" name="矩形 273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5" name="圆角矩形 274"/>
          <p:cNvSpPr/>
          <p:nvPr/>
        </p:nvSpPr>
        <p:spPr>
          <a:xfrm>
            <a:off x="381000" y="1066800"/>
            <a:ext cx="6819900" cy="4400550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6" name="圆角矩形 275"/>
          <p:cNvSpPr/>
          <p:nvPr/>
        </p:nvSpPr>
        <p:spPr>
          <a:xfrm>
            <a:off x="628650" y="12954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762000" y="1390650"/>
            <a:ext cx="1619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JetBrains Mono"/>
                <a:ea typeface="JetBrains Mono"/>
              </a:rPr>
              <a:t>M</a:t>
            </a:r>
            <a:endParaRPr/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181100" y="1343025"/>
            <a:ext cx="32004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23A78"/>
                </a:solidFill>
                <a:latin typeface="Microsoft YaHei"/>
                <a:ea typeface="Microsoft YaHei"/>
              </a:rPr>
              <a:t>主工作流：决定请求交给谁</a:t>
            </a:r>
            <a:endParaRPr/>
          </a:p>
        </p:txBody>
      </p:sp>
      <p:sp>
        <p:nvSpPr>
          <p:cNvPr id="279" name="矩形 278"/>
          <p:cNvSpPr/>
          <p:nvPr/>
        </p:nvSpPr>
        <p:spPr>
          <a:xfrm>
            <a:off x="628650" y="1847850"/>
            <a:ext cx="11430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0" name="圆角矩形 279"/>
          <p:cNvSpPr/>
          <p:nvPr/>
        </p:nvSpPr>
        <p:spPr>
          <a:xfrm>
            <a:off x="676275" y="1876425"/>
            <a:ext cx="6324600" cy="1038225"/>
          </a:xfrm>
          <a:prstGeom prst="roundRect">
            <a:avLst>
              <a:gd name="adj" fmla="val 9174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1" name="任意形状 280"/>
          <p:cNvSpPr/>
          <p:nvPr/>
        </p:nvSpPr>
        <p:spPr>
          <a:xfrm>
            <a:off x="676275" y="1876425"/>
            <a:ext cx="6324600" cy="1038225"/>
          </a:xfrm>
          <a:custGeom>
            <a:avLst/>
            <a:gdLst/>
            <a:ahLst/>
            <a:cxnLst/>
            <a:rect l="0" t="0" r="0" b="0"/>
            <a:pathLst>
              <a:path w="664" h="109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04"/>
                </a:lnTo>
                <a:cubicBezTo>
                  <a:pt x="5" y="106"/>
                  <a:pt x="7" y="108"/>
                  <a:pt x="9" y="109"/>
                </a:cubicBezTo>
                <a:cubicBezTo>
                  <a:pt x="4" y="108"/>
                  <a:pt x="0" y="104"/>
                  <a:pt x="0" y="9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866775" y="2028825"/>
            <a:ext cx="58959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用户消息</a:t>
            </a:r>
            <a:endParaRPr/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866775" y="2381250"/>
            <a:ext cx="5895975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650">
                <a:solidFill>
                  <a:srgbClr val="123A78"/>
                </a:solidFill>
                <a:latin typeface="Microsoft YaHei"/>
                <a:ea typeface="Microsoft YaHei"/>
              </a:rPr>
              <a:t>上周买的耳机怎么还没到？</a:t>
            </a:r>
            <a:endParaRPr/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28650" y="2914650"/>
            <a:ext cx="632460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它需要判断这句话属于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订单或物流查询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，然后把用户消息、账号信息和已有上下文一起传给查询流程。</a:t>
            </a:r>
            <a:endParaRPr/>
          </a:p>
        </p:txBody>
      </p:sp>
      <p:sp>
        <p:nvSpPr>
          <p:cNvPr id="285" name="圆角矩形 284"/>
          <p:cNvSpPr/>
          <p:nvPr/>
        </p:nvSpPr>
        <p:spPr>
          <a:xfrm>
            <a:off x="628650" y="3667125"/>
            <a:ext cx="6324600" cy="9525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800100" y="3800475"/>
            <a:ext cx="59817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注意：主工作流</a:t>
            </a:r>
            <a:r>
              <a:rPr lang="zh-CN" sz="1500" b="1">
                <a:solidFill>
                  <a:srgbClr val="4A5568"/>
                </a:solidFill>
                <a:latin typeface="Microsoft YaHei"/>
                <a:ea typeface="Microsoft YaHei"/>
              </a:rPr>
              <a:t>不必在这个环节完成所有查询细节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，它是调度者，不是执行者。</a:t>
            </a:r>
            <a:endParaRPr/>
          </a:p>
        </p:txBody>
      </p:sp>
      <p:pic>
        <p:nvPicPr>
          <p:cNvPr id="287" name="图形 28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650" y="4619625"/>
            <a:ext cx="6324600" cy="876300"/>
          </a:xfrm>
          <a:prstGeom prst="rect">
            <a:avLst/>
          </a:prstGeom>
          <a:ln/>
        </p:spPr>
      </p:pic>
      <p:sp>
        <p:nvSpPr>
          <p:cNvPr id="288" name="圆角矩形 287"/>
          <p:cNvSpPr/>
          <p:nvPr/>
        </p:nvSpPr>
        <p:spPr>
          <a:xfrm>
            <a:off x="7505700" y="1066800"/>
            <a:ext cx="4305300" cy="4400550"/>
          </a:xfrm>
          <a:prstGeom prst="roundRect">
            <a:avLst>
              <a:gd name="adj" fmla="val 2212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9" name="圆角矩形 288"/>
          <p:cNvSpPr/>
          <p:nvPr/>
        </p:nvSpPr>
        <p:spPr>
          <a:xfrm>
            <a:off x="7734300" y="12954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7877175" y="1390650"/>
            <a:ext cx="1333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23A78"/>
                </a:solidFill>
                <a:latin typeface="JetBrains Mono"/>
                <a:ea typeface="JetBrains Mono"/>
              </a:rPr>
              <a:t>S</a:t>
            </a:r>
            <a:endParaRPr/>
          </a:p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8239125" y="1343025"/>
            <a:ext cx="33432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子工作流：把具体任务处理下去</a:t>
            </a:r>
            <a:endParaRPr/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7734300" y="1876425"/>
            <a:ext cx="38481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E9F0FA"/>
                </a:solidFill>
                <a:latin typeface="Microsoft YaHei"/>
                <a:ea typeface="Microsoft YaHei"/>
              </a:rPr>
              <a:t>订单查询流程接手之后，要自己负责以下判断：</a:t>
            </a:r>
            <a:endParaRPr/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8048625" y="2562225"/>
            <a:ext cx="35337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信息是否足够</a:t>
            </a:r>
            <a:endParaRPr/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8048625" y="3009900"/>
            <a:ext cx="35337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需要查哪笔订单</a:t>
            </a:r>
            <a:endParaRPr/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8048625" y="3457575"/>
            <a:ext cx="35337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是否需要用户选择</a:t>
            </a:r>
            <a:endParaRPr/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8048625" y="3905250"/>
            <a:ext cx="35337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调用什么查询工具</a:t>
            </a:r>
            <a:endParaRPr/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8048625" y="4352925"/>
            <a:ext cx="35337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查不到或调用失败时怎么办</a:t>
            </a:r>
            <a:endParaRPr/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8048625" y="4800600"/>
            <a:ext cx="35337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最后返回什么给主流程</a:t>
            </a:r>
            <a:endParaRPr/>
          </a:p>
        </p:txBody>
      </p:sp>
      <p:sp>
        <p:nvSpPr>
          <p:cNvPr id="299" name="圆角矩形 298"/>
          <p:cNvSpPr/>
          <p:nvPr/>
        </p:nvSpPr>
        <p:spPr>
          <a:xfrm>
            <a:off x="7734300" y="5133975"/>
            <a:ext cx="3848100" cy="923925"/>
          </a:xfrm>
          <a:prstGeom prst="roundRect">
            <a:avLst>
              <a:gd name="adj" fmla="val 824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7886700" y="5267325"/>
            <a:ext cx="35433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这也是为什么要拆分：职责清楚，出错时才能定位到具体环节。</a:t>
            </a:r>
            <a:endParaRPr/>
          </a:p>
        </p:txBody>
      </p:sp>
      <p:sp>
        <p:nvSpPr>
          <p:cNvPr id="301" name="圆角矩形 300"/>
          <p:cNvSpPr/>
          <p:nvPr/>
        </p:nvSpPr>
        <p:spPr>
          <a:xfrm>
            <a:off x="428625" y="5695950"/>
            <a:ext cx="11430000" cy="514350"/>
          </a:xfrm>
          <a:prstGeom prst="roundRect">
            <a:avLst>
              <a:gd name="adj" fmla="val 18519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2" name="任意形状 301"/>
          <p:cNvSpPr/>
          <p:nvPr/>
        </p:nvSpPr>
        <p:spPr>
          <a:xfrm>
            <a:off x="428625" y="5695950"/>
            <a:ext cx="11430000" cy="514350"/>
          </a:xfrm>
          <a:custGeom>
            <a:avLst/>
            <a:gdLst/>
            <a:ahLst/>
            <a:cxnLst/>
            <a:rect l="0" t="0" r="0" b="0"/>
            <a:pathLst>
              <a:path w="1200" h="5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49"/>
                </a:lnTo>
                <a:cubicBezTo>
                  <a:pt x="5" y="51"/>
                  <a:pt x="7" y="53"/>
                  <a:pt x="9" y="54"/>
                </a:cubicBezTo>
                <a:cubicBezTo>
                  <a:pt x="4" y="53"/>
                  <a:pt x="0" y="49"/>
                  <a:pt x="0" y="4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638175" y="5791200"/>
            <a:ext cx="1117282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123A78"/>
                </a:solidFill>
                <a:latin typeface="Microsoft YaHei"/>
                <a:ea typeface="Microsoft YaHei"/>
              </a:rPr>
              <a:t>拆开以后，</a:t>
            </a:r>
            <a:r>
              <a:rPr lang="zh-CN" sz="1500" b="1">
                <a:solidFill>
                  <a:srgbClr val="123A78"/>
                </a:solidFill>
                <a:latin typeface="Microsoft YaHei"/>
                <a:ea typeface="Microsoft YaHei"/>
              </a:rPr>
              <a:t>修改订单查询流程，不需要同时重写商品推荐的全部逻辑</a:t>
            </a:r>
            <a:r>
              <a:rPr lang="en-US" sz="1500">
                <a:solidFill>
                  <a:srgbClr val="123A78"/>
                </a:solidFill>
                <a:latin typeface="Microsoft YaHei"/>
                <a:ea typeface="Microsoft YaHei"/>
              </a:rPr>
              <a:t> —— </a:t>
            </a:r>
            <a:r>
              <a:rPr lang="zh-CN" sz="1500">
                <a:solidFill>
                  <a:srgbClr val="123A78"/>
                </a:solidFill>
                <a:latin typeface="Microsoft YaHei"/>
                <a:ea typeface="Microsoft YaHei"/>
              </a:rPr>
              <a:t>这是后续能持续迭代的前提。</a:t>
            </a:r>
            <a:endParaRPr/>
          </a:p>
        </p:txBody>
      </p:sp>
      <p:sp>
        <p:nvSpPr>
          <p:cNvPr id="304" name="任意形状 303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19 / 42</a:t>
            </a:r>
            <a:endParaRPr/>
          </a:p>
        </p:txBody>
      </p:sp>
      <p:sp>
        <p:nvSpPr>
          <p:cNvPr id="307" name="矩形 306"/>
          <p:cNvSpPr/>
          <p:nvPr/>
        </p:nvSpPr>
        <p:spPr>
          <a:xfrm>
            <a:off x="7734300" y="1847850"/>
            <a:ext cx="1047750" cy="28575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7734300" y="2628900"/>
            <a:ext cx="2000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70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7734300" y="3076575"/>
            <a:ext cx="2000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70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7734300" y="3524250"/>
            <a:ext cx="2000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70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7734300" y="3971925"/>
            <a:ext cx="2000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70000"/>
                  </a:srgbClr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7734300" y="4419600"/>
            <a:ext cx="2000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70000"/>
                  </a:srgbClr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7734300" y="4867275"/>
            <a:ext cx="2000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70000"/>
                  </a:srgbClr>
                </a:solidFill>
                <a:latin typeface="JetBrains Mono"/>
                <a:ea typeface="JetBrains Mono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意图分类的四个分支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96, flexDirection: 'row', gap: 20 }}&gt;&#10;            &lt;Box style={{ width: 470, background: '#FDF2F0', borderRadius: 10, padding: '14px 18px', borderLeft: '5px solid #C0392B', justifyContent: 'center' }}&gt;&#10;                &lt;Text style={{ fontSize: 18, color: '#C0392B', lineHeight: 1.45 }}&gt;&#10;                    如果只给模型四个标签 ——「查询 / 售后 / 推荐 / 闲聊」，并不能保证它理解我们的业务边界。&#10;                &lt;/Text&gt;&#10;            &lt;/Box&gt;&#10;            &lt;Box style={{ flex: 1, background: '#E9F0FA', borderRadius: 10, padding: '14px 18px', borderLeft: '5px solid #123A78' }}&gt;&#10;                &lt;Text style={{ fontSize: 18, color: '#123A78', lineHeight: 1.5, fontWeight: 'bold' }}&gt;&#10;                    「这个耳机能不能换？」可能是在问：&#10;                &lt;/Text&gt;&#10;                &lt;Text style={{ fontSize: 18, color: '#123A78', lineHeight: 1.5, marginTop: 6 }}&gt;&#10;                    ① 未购买前了解换货政策　② 已购买后想申请换货　③ 想把刚才推荐的耳机换成另一款&#10;                &lt;/Text&gt;&#10;            &lt;/Box&gt;&#10;        &lt;/Box&gt;&#10;        &lt;Box style={{ height: 322, border: '1px solid #D6DCE5', borderRadius: 10, overflow: 'hidden' }}&gt;&#10;            &lt;Table&#10;                style={{ width: '100%', height: '100%' }}&#10;                defaultTextStyle={{ fontSize: 20, textAlign: 'left', color: '#1A2230' }}&#10;                defaultCellStyle={{&#10;                    border: {&#10;                        left: { width: 1, color: '#E5E7EB' },&#10;                        right: { width: 1, color: '#E5E7EB' },&#10;                        top: { width: 1, color: '#E5E7EB' },&#10;                        bottom: { width: 1, color: '#E5E7EB' },&#10;                    },&#10;                }}&#10;                cells={[&#10;                    [&#10;                        { text: '分支', textStyle: { bold: true, color: '#FFFFFF', fontSize: 20 }, cellStyle: { background: { color: '#123A78' } } },&#10;                        { text: '主要接收哪些需求', textStyle: { bold: true, color: '#FFFFFF', fontSize: 20 }, cellStyle: { background: { color: '#123A78' } } },&#10;                        { text: '示例', textStyle: { bold: true, color: '#FFFFFF', fontSize: 20 }, cellStyle: { background: { color: '#123A78' } } },&#10;                    ],&#10;                    [&#10;                        { text: '订单查询', textStyle: { bold: true, color: '#123A78' }, cellStyle: { background: { color: '#F7F9FC' } } },&#10;                        { text: '与具体订单、发货、物流有关的查询', cellStyle: { background: { color: '#F7F9FC' } } },&#10;                        { text: '「耳机到哪了？」', textStyle: { color: '#2F6FD0' }, cellStyle: { background: { color: '#F7F9FC' } } },&#10;                    ],&#10;                    [&#10;                        { text: '售后咨询与投诉处理', textStyle: { bold: true, color: '#123A78' } },&#10;                        { text: '售后政策、商品故障、退换货诉求、相关投诉' },&#10;                        { text: '「耳机坏了，我想换。」', textStyle: { color: '#2F6FD0' } },&#10;                    ],&#10;                    [&#10;                        { text: '商品咨询与推荐', textStyle: { bold: true, color: '#123A78' }, cellStyle: { background: { color: '#F7F9FC' } } },&#10;                        { text: '商品功能、比较、使用场景与购买建议', cellStyle: { background: { color: '#F7F9FC' } } },&#10;                        { text: '「通勤买哪款？」', textStyle: { color: '#2F6FD0' }, cellStyle: { background: { color: '#F7F9FC' } } },&#10;                    ],&#10;                    [&#10;                        { text: '其他与兜底', textStyle: { bold: true, color: '#123A78' } },&#10;                        { text: '寒暄、表达不完整、超出服务范围等' },&#10;                        { text: '「你好。」「我想问一下。」', textStyle: { color: '#2F6FD0' } },&#10;                    ],&#10;                ]}&#10;            /&gt;&#10;        &lt;/Box&gt;&#10;        &lt;Box style={{ height: 70, flexDirection: 'row', gap: 20 }}&gt;&#10;            &lt;Box style={{ flex: 1, background: '#F7F9FC', borderRadius: 10, padding: '14px 20px', borderLeft: '4px solid #8B97A8', justifyContent: 'center' }}&gt;&#10;                &lt;Text style={{ fontSize: 19, color: '#4A5568', lineHeight: 1.45 }}&gt;&#10;                    这张表是教学版本的初步定义，不是所有电商客服都必须采用的标准分类；真实业务可以继续拆分，当前先用少量清楚的类别把主要流程跑通。&#10;                &lt;/Text&gt;&#10;            &lt;/Box&gt;&#10;            &lt;Box style={{ width: 340, background: '#123A78', borderRadius: 10, padding: '14px 20px', justifyContent: 'center' }}&gt;&#10;                &lt;Text style={{ fontSize: 19, color: '#FFFFFF', lineHeight: 1.45 }}&gt;&#10;                    意图识别要结合&lt;span style={{ fontWeight: 'bold' }}&gt;当前消息 + 上下文&lt;/span&gt;，而不是只找一个关键词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0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矩形 3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381000" y="266700"/>
            <a:ext cx="2914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381000" y="504825"/>
            <a:ext cx="29146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意图分类的四个分支</a:t>
            </a:r>
            <a:endParaRPr/>
          </a:p>
        </p:txBody>
      </p:sp>
      <p:sp>
        <p:nvSpPr>
          <p:cNvPr id="348" name="矩形 347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9" name="圆角矩形 348"/>
          <p:cNvSpPr/>
          <p:nvPr/>
        </p:nvSpPr>
        <p:spPr>
          <a:xfrm>
            <a:off x="428625" y="1066800"/>
            <a:ext cx="4429125" cy="914400"/>
          </a:xfrm>
          <a:prstGeom prst="roundRect">
            <a:avLst>
              <a:gd name="adj" fmla="val 10417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0" name="任意形状 349"/>
          <p:cNvSpPr/>
          <p:nvPr/>
        </p:nvSpPr>
        <p:spPr>
          <a:xfrm>
            <a:off x="428625" y="1066800"/>
            <a:ext cx="4429125" cy="914400"/>
          </a:xfrm>
          <a:custGeom>
            <a:avLst/>
            <a:gdLst/>
            <a:ahLst/>
            <a:cxnLst/>
            <a:rect l="0" t="0" r="0" b="0"/>
            <a:pathLst>
              <a:path w="465" h="9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1"/>
                </a:lnTo>
                <a:cubicBezTo>
                  <a:pt x="5" y="93"/>
                  <a:pt x="7" y="95"/>
                  <a:pt x="9" y="96"/>
                </a:cubicBezTo>
                <a:cubicBezTo>
                  <a:pt x="4" y="95"/>
                  <a:pt x="0" y="91"/>
                  <a:pt x="0" y="8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600075" y="1228725"/>
            <a:ext cx="40862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如果只给模型四个标签</a:t>
            </a:r>
            <a:r>
              <a:rPr lang="en-US" sz="1350">
                <a:solidFill>
                  <a:srgbClr val="C0392B"/>
                </a:solidFill>
                <a:latin typeface="Microsoft YaHei"/>
                <a:ea typeface="Microsoft YaHei"/>
              </a:rPr>
              <a:t> ——</a:t>
            </a: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「查询</a:t>
            </a:r>
            <a:r>
              <a:rPr lang="en-US" sz="1350">
                <a:solidFill>
                  <a:srgbClr val="C0392B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售后</a:t>
            </a:r>
            <a:r>
              <a:rPr lang="en-US" sz="1350">
                <a:solidFill>
                  <a:srgbClr val="C0392B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推荐</a:t>
            </a:r>
            <a:r>
              <a:rPr lang="en-US" sz="1350">
                <a:solidFill>
                  <a:srgbClr val="C0392B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闲聊」，并不能保证它理解我们的业务边界。</a:t>
            </a:r>
            <a:endParaRPr/>
          </a:p>
        </p:txBody>
      </p:sp>
      <p:sp>
        <p:nvSpPr>
          <p:cNvPr id="352" name="圆角矩形 351"/>
          <p:cNvSpPr/>
          <p:nvPr/>
        </p:nvSpPr>
        <p:spPr>
          <a:xfrm>
            <a:off x="5095875" y="1066800"/>
            <a:ext cx="6762750" cy="1257300"/>
          </a:xfrm>
          <a:prstGeom prst="roundRect">
            <a:avLst>
              <a:gd name="adj" fmla="val 7576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3" name="任意形状 352"/>
          <p:cNvSpPr/>
          <p:nvPr/>
        </p:nvSpPr>
        <p:spPr>
          <a:xfrm>
            <a:off x="5095875" y="1066800"/>
            <a:ext cx="6762750" cy="1257300"/>
          </a:xfrm>
          <a:custGeom>
            <a:avLst/>
            <a:gdLst/>
            <a:ahLst/>
            <a:cxnLst/>
            <a:rect l="0" t="0" r="0" b="0"/>
            <a:pathLst>
              <a:path w="710" h="132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27"/>
                </a:lnTo>
                <a:cubicBezTo>
                  <a:pt x="5" y="129"/>
                  <a:pt x="7" y="131"/>
                  <a:pt x="9" y="132"/>
                </a:cubicBezTo>
                <a:cubicBezTo>
                  <a:pt x="4" y="131"/>
                  <a:pt x="0" y="127"/>
                  <a:pt x="0" y="12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5267325" y="1200150"/>
            <a:ext cx="63722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123A78"/>
                </a:solidFill>
                <a:latin typeface="Microsoft YaHei"/>
                <a:ea typeface="Microsoft YaHei"/>
              </a:rPr>
              <a:t>「这个耳机能不能换？」可能是在问：</a:t>
            </a:r>
            <a:endParaRPr/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5267325" y="1571625"/>
            <a:ext cx="637222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①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未购买前了解换货政策　②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已购买后想申请换货　③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想把刚才推荐的耳机换成另一款</a:t>
            </a:r>
            <a:endParaRPr/>
          </a:p>
        </p:txBody>
      </p:sp>
      <p:sp>
        <p:nvSpPr>
          <p:cNvPr id="356" name="圆角矩形 355"/>
          <p:cNvSpPr/>
          <p:nvPr/>
        </p:nvSpPr>
        <p:spPr>
          <a:xfrm>
            <a:off x="381000" y="2228850"/>
            <a:ext cx="11430000" cy="3067050"/>
          </a:xfrm>
          <a:prstGeom prst="roundRect">
            <a:avLst>
              <a:gd name="adj" fmla="val 3106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357" name="表格 356"/>
          <p:cNvGraphicFramePr/>
          <p:nvPr/>
        </p:nvGraphicFramePr>
        <p:xfrm>
          <a:off x="381000" y="2228850"/>
          <a:ext cx="11429999" cy="3067050"/>
        </p:xfrm>
        <a:graphic>
          <a:graphicData uri="http://schemas.openxmlformats.org/drawingml/2006/table">
            <a:tbl>
              <a:tblPr/>
              <a:tblGrid>
                <a:gridCol w="2494392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5388729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546878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分支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主要接收哪些需求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示例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订单查询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与具体订单、发货、物流有关的查询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2F6FD0"/>
                          </a:solidFill>
                          <a:latin typeface="Microsoft YaHei"/>
                          <a:ea typeface="Microsoft YaHei"/>
                        </a:rPr>
                        <a:t>「耳机到哪了？」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售后咨询与投诉处理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售后政策、商品故障、退换货诉求、相关投诉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2F6FD0"/>
                          </a:solidFill>
                          <a:latin typeface="Microsoft YaHei"/>
                          <a:ea typeface="Microsoft YaHei"/>
                        </a:rPr>
                        <a:t>「耳机坏了，我想换。」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商品咨询与推荐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商品功能、比较、使用场景与购买建议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2F6FD0"/>
                          </a:solidFill>
                          <a:latin typeface="Microsoft YaHei"/>
                          <a:ea typeface="Microsoft YaHei"/>
                        </a:rPr>
                        <a:t>「通勤买哪款？」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其他与兜底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寒暄、表达不完整、超出服务范围等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2F6FD0"/>
                          </a:solidFill>
                          <a:latin typeface="Microsoft YaHei"/>
                          <a:ea typeface="Microsoft YaHei"/>
                        </a:rPr>
                        <a:t>「你好。」「我想问一下。」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</a:tbl>
          </a:graphicData>
        </a:graphic>
      </p:graphicFrame>
      <p:sp>
        <p:nvSpPr>
          <p:cNvPr id="358" name="圆角矩形 357"/>
          <p:cNvSpPr/>
          <p:nvPr/>
        </p:nvSpPr>
        <p:spPr>
          <a:xfrm>
            <a:off x="419100" y="5543550"/>
            <a:ext cx="8001000" cy="904875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9" name="任意形状 358"/>
          <p:cNvSpPr/>
          <p:nvPr/>
        </p:nvSpPr>
        <p:spPr>
          <a:xfrm>
            <a:off x="419100" y="5543550"/>
            <a:ext cx="8001000" cy="904875"/>
          </a:xfrm>
          <a:custGeom>
            <a:avLst/>
            <a:gdLst/>
            <a:ahLst/>
            <a:cxnLst/>
            <a:rect l="0" t="0" r="0" b="0"/>
            <a:pathLst>
              <a:path w="840" h="9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9"/>
                </a:lnTo>
                <a:cubicBezTo>
                  <a:pt x="4" y="92"/>
                  <a:pt x="6" y="94"/>
                  <a:pt x="9" y="95"/>
                </a:cubicBezTo>
                <a:cubicBezTo>
                  <a:pt x="4" y="94"/>
                  <a:pt x="0" y="90"/>
                  <a:pt x="0" y="8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609600" y="5676900"/>
            <a:ext cx="758190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这张表是教学版本的初步定义，不是所有电商客服都必须采用的标准分类；真实业务可以继续拆分，当前先用少量清楚的类别把主要流程跑通。</a:t>
            </a:r>
            <a:endParaRPr/>
          </a:p>
        </p:txBody>
      </p:sp>
      <p:sp>
        <p:nvSpPr>
          <p:cNvPr id="361" name="圆角矩形 360"/>
          <p:cNvSpPr/>
          <p:nvPr/>
        </p:nvSpPr>
        <p:spPr>
          <a:xfrm>
            <a:off x="8572500" y="5543550"/>
            <a:ext cx="3238500" cy="904875"/>
          </a:xfrm>
          <a:prstGeom prst="roundRect">
            <a:avLst>
              <a:gd name="adj" fmla="val 10526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8763000" y="5676900"/>
            <a:ext cx="285750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意图识别要结合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当前消息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上下文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，而不是只找一个关键词。</a:t>
            </a:r>
            <a:endParaRPr/>
          </a:p>
        </p:txBody>
      </p:sp>
      <p:sp>
        <p:nvSpPr>
          <p:cNvPr id="363" name="任意形状 362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20 / 42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一个识别提示词需要说明什么&lt;/Text&gt;&#10;        &lt;/Box&gt;&#10;        &lt;Box style={{ width: 96, height: 3, background: '#2F6FD0', marginTop: 58 }} /&gt;&#10;    &lt;/Box&gt;&#10;    &lt;Box style={{ height: 540, marginTop: 8, flexDirection: 'row', gap: 32 }}&gt;&#10;        &lt;Box style={{ width: 660, height: 540, justifyContent: 'space-between' }}&gt;&#10;            &lt;Box style={{ flexDirection: 'row', alignItems: 'center', gap: 12 }}&gt;&#10;                &lt;Box style={{ width: 8, height: 26, background: '#123A78', borderRadius: 3 }} /&gt;&#10;                &lt;Text style={{ fontSize: 22, fontWeight: '600', color: '#123A78' }}&gt;意图分类提示词（教学示意版）&lt;/Text&gt;&#10;            &lt;/Box&gt;&#10;            &lt;CodeBlock&#10;                code={`根据用户当前消息、必要的对话历史&#10;和当前任务状态，判断应进入的处理路径。&#10;&#10;路径：&#10;1. order_query  订单、发货、物流查询&#10;2. aftersales   售后政策、故障、退换货与投诉&#10;3. product_advice  商品咨询、比较与推荐&#10;4. other  寒暄、范围外请求，或信息不足以确定路径&#10;&#10;要求：&#10;- 不要仅根据商品名称分类，&#10;  要识别用户想完成的事情。&#10;- 如果当前消息是在回答上一轮问题，&#10;  应结合当前任务理解。&#10;- 无法确定时返回需要澄清，不强行选择。&#10;- 用户明确要求人工时，标记人工请求。`}&#10;                language='text'&#10;                theme='github-light'&#10;                width={660}&#10;                fontSize={18}&#10;                macHeader={false}&#10;            /&gt;&#10;            &lt;Box style={{ background: '#F7F9FC', borderRadius: 8, padding: '12px 16px' }}&gt;&#10;                &lt;Text style={{ fontSize: 17, color: '#8B97A8', lineHeight: 1.45 }}&gt;&#10;                    仅供课堂示意，尚未在平台上运行验证。&#10;                &lt;/Text&gt;&#10;            &lt;/Box&gt;&#10;        &lt;/Box&gt;&#10;        &lt;Box style={{ flex: 1, height: 540, justifyContent: 'space-between' }}&gt;&#10;            &lt;Text style={{ fontSize: 22, fontWeight: '600', color: '#123A78', lineHeight: 1.45 }}&gt;这里真正要设计的，是分类规则本身&lt;/Text&gt;&#10;            &lt;Box style={{ background: '#FFFFFF', border: '1px solid #D6DCE5', borderRadius: 10, padding: '16px 18px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6, color: '#FFFFFF', fontWeight: 'bold', fontFamily: 'JetBrains Mono' }}&gt;1&lt;/Text&gt;&#10;                    &lt;/Box&gt;&#10;                    &lt;Text style={{ fontSize: 19, fontWeight: '600', color: '#123A78', flex: 1 }}&gt;识别「想完成的事」&lt;/Text&gt;&#10;                &lt;/Box&gt;&#10;                &lt;Text style={{ fontSize: 18, color: '#4A5568', marginTop: 10, lineHeight: 1.5 }}&gt;不要仅根据商品名称分类，要看用户想做什么。&lt;/Text&gt;&#10;            &lt;/Box&gt;&#10;            &lt;Box style={{ background: '#FFFFFF', border: '1px solid #D6DCE5', borderRadius: 10, padding: '16px 18px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6, color: '#FFFFFF', fontWeight: 'bold', fontFamily: 'JetBrains Mono' }}&gt;2&lt;/Text&gt;&#10;                    &lt;/Box&gt;&#10;                    &lt;Text style={{ fontSize: 19, fontWeight: '600', color: '#123A78', flex: 1 }}&gt;结合当前任务&lt;/Text&gt;&#10;                &lt;/Box&gt;&#10;                &lt;Text style={{ fontSize: 18, color: '#4A5568', marginTop: 10, lineHeight: 1.5 }}&gt;当前消息是在回答上一轮问题时，要连着任务一起理解。&lt;/Text&gt;&#10;            &lt;/Box&gt;&#10;            &lt;Box style={{ background: '#FFFFFF', border: '1px solid #D6DCE5', borderRadius: 10, padding: '16px 18px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6, color: '#FFFFFF', fontWeight: 'bold', fontFamily: 'JetBrains Mono' }}&gt;3&lt;/Text&gt;&#10;                    &lt;/Box&gt;&#10;                    &lt;Text style={{ fontSize: 19, fontWeight: '600', color: '#123A78', flex: 1 }}&gt;允许「不确定」&lt;/Text&gt;&#10;                &lt;/Box&gt;&#10;                &lt;Text style={{ fontSize: 18, color: '#4A5568', marginTop: 10, lineHeight: 1.5 }}&gt;无法确定时返回需要澄清，不强行选择一个路径。&lt;/Text&gt;&#10;            &lt;/Box&gt;&#10;            &lt;Box style={{ background: '#FFFFFF', border: '1px solid #D6DCE5', borderRadius: 10, padding: '16px 18px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6, color: '#FFFFFF', fontWeight: 'bold', fontFamily: 'JetBrains Mono' }}&gt;4&lt;/Text&gt;&#10;                    &lt;/Box&gt;&#10;                    &lt;Text style={{ fontSize: 19, fontWeight: '600', color: '#123A78', flex: 1 }}&gt;标记人工请求&lt;/Text&gt;&#10;                &lt;/Box&gt;&#10;                &lt;Text style={{ fontSize: 18, color: '#4A5568', marginTop: 10, lineHeight: 1.5 }}&gt;用户明确要求人工时，必须能被主工作流识别出来。&lt;/Text&gt;&#10;            &lt;/Box&gt;&#10;            &lt;Box style={{ background: '#123A78', borderRadius: 10, padding: '16px 18px' }}&gt;&#10;                &lt;Text style={{ fontSize: 19, color: '#FFFFFF', lineHeight: 1.5 }}&gt;&#10;                    类别定义含糊，&lt;span style={{ fontWeight: 'bold' }}&gt;后面即使每个子流程都配置正确，用户也可能被送错地方&lt;/span&gt;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1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矩形 3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381000" y="266700"/>
            <a:ext cx="421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381000" y="504825"/>
            <a:ext cx="42100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一个识别提示词需要说明什么</a:t>
            </a:r>
            <a:endParaRPr/>
          </a:p>
        </p:txBody>
      </p:sp>
      <p:sp>
        <p:nvSpPr>
          <p:cNvPr id="370" name="矩形 369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1" name="圆角矩形 370"/>
          <p:cNvSpPr/>
          <p:nvPr/>
        </p:nvSpPr>
        <p:spPr>
          <a:xfrm>
            <a:off x="381000" y="1076325"/>
            <a:ext cx="76200" cy="247650"/>
          </a:xfrm>
          <a:prstGeom prst="roundRect">
            <a:avLst>
              <a:gd name="adj" fmla="val 375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571500" y="1066800"/>
            <a:ext cx="2933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意图分类提示词（教学示意版）</a:t>
            </a:r>
            <a:endParaRPr/>
          </a:p>
        </p:txBody>
      </p:sp>
      <p:sp>
        <p:nvSpPr>
          <p:cNvPr id="373" name="圆角矩形 372"/>
          <p:cNvSpPr/>
          <p:nvPr/>
        </p:nvSpPr>
        <p:spPr>
          <a:xfrm>
            <a:off x="381000" y="6200775"/>
            <a:ext cx="628650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6972300" y="1066800"/>
            <a:ext cx="48387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这里真正要设计的，是分类规则本身</a:t>
            </a:r>
            <a:endParaRPr/>
          </a:p>
        </p:txBody>
      </p:sp>
      <p:sp>
        <p:nvSpPr>
          <p:cNvPr id="376" name="圆角矩形 375"/>
          <p:cNvSpPr/>
          <p:nvPr/>
        </p:nvSpPr>
        <p:spPr>
          <a:xfrm>
            <a:off x="6972300" y="1438275"/>
            <a:ext cx="483870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7" name="圆角矩形 376"/>
          <p:cNvSpPr/>
          <p:nvPr/>
        </p:nvSpPr>
        <p:spPr>
          <a:xfrm>
            <a:off x="7143750" y="15906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7267575" y="1657350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7581900" y="1647825"/>
            <a:ext cx="4057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识别「想完成的事」</a:t>
            </a:r>
            <a:endParaRPr/>
          </a:p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7143750" y="2009775"/>
            <a:ext cx="44958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不要仅根据商品名称分类，要看用户想做什么。</a:t>
            </a:r>
            <a:endParaRPr/>
          </a:p>
        </p:txBody>
      </p:sp>
      <p:sp>
        <p:nvSpPr>
          <p:cNvPr id="381" name="圆角矩形 380"/>
          <p:cNvSpPr/>
          <p:nvPr/>
        </p:nvSpPr>
        <p:spPr>
          <a:xfrm>
            <a:off x="6972300" y="2476500"/>
            <a:ext cx="483870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2" name="圆角矩形 381"/>
          <p:cNvSpPr/>
          <p:nvPr/>
        </p:nvSpPr>
        <p:spPr>
          <a:xfrm>
            <a:off x="7143750" y="26289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7267575" y="2695575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7581900" y="2686050"/>
            <a:ext cx="4057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结合当前任务</a:t>
            </a:r>
            <a:endParaRPr/>
          </a:p>
        </p:txBody>
      </p:sp>
      <p:sp>
        <p:nvSpPr>
          <p:cNvPr id="385" name="文本框 384" descr="{&quot;isTemplate&quot;:true,&quot;type&quot;:&quot;text&quot;}"/>
          <p:cNvSpPr txBox="1"/>
          <p:nvPr/>
        </p:nvSpPr>
        <p:spPr>
          <a:xfrm>
            <a:off x="7143750" y="3048000"/>
            <a:ext cx="44958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当前消息是在回答上一轮问题时，要连着任务一起理解。</a:t>
            </a:r>
            <a:endParaRPr/>
          </a:p>
        </p:txBody>
      </p:sp>
      <p:sp>
        <p:nvSpPr>
          <p:cNvPr id="386" name="圆角矩形 385"/>
          <p:cNvSpPr/>
          <p:nvPr/>
        </p:nvSpPr>
        <p:spPr>
          <a:xfrm>
            <a:off x="6972300" y="3514725"/>
            <a:ext cx="483870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7" name="圆角矩形 386"/>
          <p:cNvSpPr/>
          <p:nvPr/>
        </p:nvSpPr>
        <p:spPr>
          <a:xfrm>
            <a:off x="7143750" y="36671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7267575" y="3733800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389" name="文本框 388" descr="{&quot;isTemplate&quot;:true,&quot;type&quot;:&quot;text&quot;}"/>
          <p:cNvSpPr txBox="1"/>
          <p:nvPr/>
        </p:nvSpPr>
        <p:spPr>
          <a:xfrm>
            <a:off x="7581900" y="3724275"/>
            <a:ext cx="4057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允许「不确定」</a:t>
            </a:r>
            <a:endParaRPr/>
          </a:p>
        </p:txBody>
      </p:sp>
      <p:sp>
        <p:nvSpPr>
          <p:cNvPr id="390" name="文本框 389" descr="{&quot;isTemplate&quot;:true,&quot;type&quot;:&quot;text&quot;}"/>
          <p:cNvSpPr txBox="1"/>
          <p:nvPr/>
        </p:nvSpPr>
        <p:spPr>
          <a:xfrm>
            <a:off x="7143750" y="4086225"/>
            <a:ext cx="44958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无法确定时返回需要澄清，不强行选择一个路径。</a:t>
            </a:r>
            <a:endParaRPr/>
          </a:p>
        </p:txBody>
      </p:sp>
      <p:sp>
        <p:nvSpPr>
          <p:cNvPr id="391" name="圆角矩形 390"/>
          <p:cNvSpPr/>
          <p:nvPr/>
        </p:nvSpPr>
        <p:spPr>
          <a:xfrm>
            <a:off x="6972300" y="4552950"/>
            <a:ext cx="483870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2" name="圆角矩形 391"/>
          <p:cNvSpPr/>
          <p:nvPr/>
        </p:nvSpPr>
        <p:spPr>
          <a:xfrm>
            <a:off x="7143750" y="47053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7267575" y="4772025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7581900" y="4762500"/>
            <a:ext cx="4057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标记人工请求</a:t>
            </a:r>
            <a:endParaRPr/>
          </a:p>
        </p:txBody>
      </p:sp>
      <p:sp>
        <p:nvSpPr>
          <p:cNvPr id="395" name="文本框 394" descr="{&quot;isTemplate&quot;:true,&quot;type&quot;:&quot;text&quot;}"/>
          <p:cNvSpPr txBox="1"/>
          <p:nvPr/>
        </p:nvSpPr>
        <p:spPr>
          <a:xfrm>
            <a:off x="7143750" y="5124450"/>
            <a:ext cx="44958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用户明确要求人工时，必须能被主工作流识别出来。</a:t>
            </a:r>
            <a:endParaRPr/>
          </a:p>
        </p:txBody>
      </p:sp>
      <p:sp>
        <p:nvSpPr>
          <p:cNvPr id="396" name="圆角矩形 395"/>
          <p:cNvSpPr/>
          <p:nvPr/>
        </p:nvSpPr>
        <p:spPr>
          <a:xfrm>
            <a:off x="6972300" y="5634990"/>
            <a:ext cx="4838700" cy="962025"/>
          </a:xfrm>
          <a:prstGeom prst="roundRect">
            <a:avLst>
              <a:gd name="adj" fmla="val 9901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7143750" y="5743575"/>
            <a:ext cx="44958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类别定义含糊，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后面即使每个子流程都配置正确，用户也可能被送错地方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98" name="任意形状 397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21 / 42</a:t>
            </a:r>
            <a:endParaRPr/>
          </a:p>
        </p:txBody>
      </p:sp>
      <p:sp>
        <p:nvSpPr>
          <p:cNvPr id="401" name="圆角矩形 400"/>
          <p:cNvSpPr/>
          <p:nvPr/>
        </p:nvSpPr>
        <p:spPr>
          <a:xfrm>
            <a:off x="381000" y="1323975"/>
            <a:ext cx="6286500" cy="4876800"/>
          </a:xfrm>
          <a:prstGeom prst="roundRect">
            <a:avLst>
              <a:gd name="adj" fmla="val 156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2" name="文本框 401"/>
          <p:cNvSpPr txBox="1"/>
          <p:nvPr/>
        </p:nvSpPr>
        <p:spPr>
          <a:xfrm>
            <a:off x="533400" y="1457325"/>
            <a:ext cx="5981700" cy="461010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40000"/>
              </a:lnSpc>
            </a:pP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根据用户当前消息、必要的对话历史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和当前任务状态，判断应进入的处理路径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。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路径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：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1.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order_query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 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订单、发货、物流查询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2. aftersales  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售后政策、故障、退换货与投诉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3.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product_advice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 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商品咨询、比较与推荐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4. other 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寒暄、范围外请求，或信息不足以确定路径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要求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：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-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不要仅根据商品名称分类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，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 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要识别用户想完成的事情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。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-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如果当前消息是在回答上一轮问题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，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 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应结合当前任务理解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。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-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无法确定时返回需要澄清，不强行选择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。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-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用户明确要求人工时，标记人工请求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。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难判的三句话：回到上下文&lt;/Text&gt;&#10;        &lt;/Box&gt;&#10;        &lt;Box style={{ width: 96, height: 3, background: '#2F6FD0', marginTop: 58 }} /&gt;&#10;    &lt;/Box&gt;&#10;    &lt;Box style={{ height: 540, marginTop: 8, flexDirection: 'row', gap: 32 }}&gt;&#10;        &lt;Box style={{ width: 716, height: 540, justifyContent: 'space-between' }}&gt;&#10;            &lt;Box style={{ background: '#FFFFFF', border: '1px solid #D6DCE5', borderRadius: 10, padding: '16px 20px', boxShadow: '0 4px 16px rgba(18,58,120,0.06)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1&lt;/Text&gt;&#10;                    &lt;/Box&gt;&#10;                    &lt;Text style={{ fontSize: 22, fontWeight: '600', color: '#123A78', flex: 1 }}&gt;「耳机太差了，我要退。」&lt;/Text&gt;&#10;                &lt;/Box&gt;&#10;                &lt;Text style={{ fontSize: 18, color: '#1A2230', marginTop: 8, lineHeight: 1.45 }}&gt;&#10;                    常见错误：只识别出负面情绪就当投诉处理。但这里已有明确的退货诉求。&#10;                &lt;/Text&gt;&#10;                &lt;Text style={{ fontSize: 18, color: '#2F6FD0', marginTop: 6, lineHeight: 1.45 }}&gt;&#10;                    更合理：进入售后路径，保留不满信息，再决定是否升级人工。&#10;                &lt;/Text&gt;&#10;            &lt;/Box&gt;&#10;            &lt;Box style={{ background: '#FFFFFF', border: '1px solid #D6DCE5', borderRadius: 10, padding: '16px 20px', boxShadow: '0 4px 16px rgba(18,58,120,0.06)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2&lt;/Text&gt;&#10;                    &lt;/Box&gt;&#10;                    &lt;Text style={{ fontSize: 22, fontWeight: '600', color: '#123A78', flex: 1 }}&gt;「这个耳机适合跑步吗？」&lt;/Text&gt;&#10;                &lt;/Box&gt;&#10;                &lt;Text style={{ fontSize: 18, color: '#1A2230', marginTop: 8, lineHeight: 1.45 }}&gt;&#10;                    若前面正在浏览某款商品，这属于&lt;span style={{ fontWeight: 'bold' }}&gt;商品咨询&lt;/span&gt;，应结合当前商品资料回答。&#10;                &lt;/Text&gt;&#10;                &lt;Text style={{ fontSize: 18, color: '#2F6FD0', marginTop: 6, lineHeight: 1.45 }}&gt;&#10;                    没有上下文时，先确认「这个」指哪一款，而不是因为出现「耳机」就进入订单查询。&#10;                &lt;/Text&gt;&#10;            &lt;/Box&gt;&#10;            &lt;Box style={{ background: '#FFFFFF', border: '1px solid #D6DCE5', borderRadius: 10, padding: '16px 20px', boxShadow: '0 4px 16px rgba(18,58,120,0.06)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3&lt;/Text&gt;&#10;                    &lt;/Box&gt;&#10;                    &lt;Text style={{ fontSize: 22, fontWeight: '600', color: '#123A78', flex: 1 }}&gt;「第二个。」&lt;/Text&gt;&#10;                &lt;/Box&gt;&#10;                &lt;Text style={{ fontSize: 18, color: '#1A2230', marginTop: 8, lineHeight: 1.45 }}&gt;&#10;                    单独看无法判断是什么需求；但上一轮刚展示过两笔订单时，它就是一次订单选择。&#10;                &lt;/Text&gt;&#10;                &lt;Text style={{ fontSize: 18, color: '#2F6FD0', marginTop: 6, lineHeight: 1.45 }}&gt;&#10;                    应继续当前任务，而不是把「第二个」当成全新的问题重新分类。&#10;                &lt;/Text&gt;&#10;            &lt;/Box&gt;&#10;            &lt;Box style={{ height: 56, background: '#FDF2F0', borderRadius: 10, justifyContent: 'center', paddingLeft: 20, borderLeft: '5px solid #C0392B' }}&gt;&#10;                &lt;Text style={{ fontSize: 18, color: '#C0392B', lineHeight: 1.45 }}&gt;&#10;                    &lt;span style={{ fontWeight: 'bold' }}&gt;负面情绪和业务意图不是同一件事&lt;/span&gt; —— 每条新消息到达后，都要先知道「当前正在做什么」。&#10;                &lt;/Text&gt;&#10;            &lt;/Box&gt;&#10;        &lt;/Box&gt;&#10;        &lt;Box style={{ flex: 1, height: 540, justifyContent: 'space-between' }}&gt;&#10;            &lt;Box style={{ background: '#FFFFFF', border: '1px solid #D6DCE5', borderRadius: 10, padding: '12px 14px' }}&gt;&#10;                &lt;CodeBlock&#10;                    code={`{&#10;  &quot;current_task&quot;: &quot;aftersales&quot;,&#10;  &quot;order_id&quot;: &quot;DEMO-102&quot;,&#10;  &quot;requested_action&quot;: &quot;exchange&quot;,&#10;  &quot;issue_description&quot;: null,&#10;  &quot;waiting_for&quot;: &quot;fault_details&quot;&#10;}`}&#10;                    language='json'&#10;                    theme='github-light'&#10;                    width={424}&#10;                    fontSize={16}&#10;                    macHeader={false}&#10;                /&gt;&#10;            &lt;/Box&gt;&#10;            &lt;Box style={{ background: '#123A78', borderRadius: 10, padding: '14px 16px', gap: 8 }}&gt;&#10;                &lt;Text style={{ fontSize: 19, fontWeight: '600', color: '#FFFFFF' }}&gt;这段状态告诉主工作流什么&lt;/Text&gt;&#10;                &lt;Box style={{ flexDirection: 'row', alignItems: 'flex-start', gap: 10 }}&gt;&#10;                    &lt;Text style={{ fontSize: 18, color: '#E9F0FA', fontFamily: 'JetBrains Mono' }}&gt;·&lt;/Text&gt;&#10;                    &lt;Text style={{ fontSize: 18, color: '#E9F0FA', lineHeight: 1.45, flex: 1 }}&gt;当前正在处理售后&lt;/Text&gt;&#10;                &lt;/Box&gt;&#10;                &lt;Box style={{ flexDirection: 'row', alignItems: 'flex-start', gap: 10 }}&gt;&#10;                    &lt;Text style={{ fontSize: 18, color: '#E9F0FA', fontFamily: 'JetBrains Mono' }}&gt;·&lt;/Text&gt;&#10;                    &lt;Text style={{ fontSize: 18, color: '#E9F0FA', lineHeight: 1.45, flex: 1 }}&gt;订单已经确认好了&lt;/Text&gt;&#10;                &lt;/Box&gt;&#10;                &lt;Box style={{ flexDirection: 'row', alignItems: 'flex-start', gap: 10 }}&gt;&#10;                    &lt;Text style={{ fontSize: 18, color: '#E9F0FA', fontFamily: 'JetBrains Mono' }}&gt;·&lt;/Text&gt;&#10;                    &lt;Text style={{ fontSize: 18, color: '#E9F0FA', lineHeight: 1.45, flex: 1 }}&gt;用户希望换货&lt;/Text&gt;&#10;                &lt;/Box&gt;&#10;                &lt;Box style={{ flexDirection: 'row', alignItems: 'flex-start', gap: 10 }}&gt;&#10;                    &lt;Text style={{ fontSize: 18, color: '#E9F0FA', fontFamily: 'JetBrains Mono' }}&gt;·&lt;/Text&gt;&#10;                    &lt;Text style={{ fontSize: 18, color: '#E9F0FA', lineHeight: 1.45, flex: 1 }}&gt;故障描述还没补齐&lt;/Text&gt;&#10;                &lt;/Box&gt;&#10;                &lt;Box style={{ flexDirection: 'row', alignItems: 'flex-start', gap: 10 }}&gt;&#10;                    &lt;Text style={{ fontSize: 18, color: '#E9F0FA', fontFamily: 'JetBrains Mono' }}&gt;·&lt;/Text&gt;&#10;                    &lt;Text style={{ fontSize: 18, color: '#E9F0FA', lineHeight: 1.45, flex: 1 }}&gt;系统正在等用户说明故障&lt;/Text&gt;&#10;                &lt;/Box&gt;&#10;            &lt;/Box&gt;&#10;            &lt;Box style={{ background: '#E9F0FA', borderRadius: 10, padding: '12px 16px', borderLeft: '5px solid #123A78' }}&gt;&#10;                &lt;Text style={{ fontSize: 17, color: '#123A78', lineHeight: 1.45 }}&gt;&#10;                    收到「右边」时更新故障描述并继续；若说「先不换了，帮我看看物流」，&lt;span style={{ fontWeight: 'bold' }}&gt;不清楚时应澄清，不能随意覆盖原任务&lt;/span&gt;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2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矩形 40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381000" y="266700"/>
            <a:ext cx="3886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381000" y="504825"/>
            <a:ext cx="3886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难判的三句话：回到上下文</a:t>
            </a:r>
            <a:endParaRPr/>
          </a:p>
        </p:txBody>
      </p:sp>
      <p:sp>
        <p:nvSpPr>
          <p:cNvPr id="407" name="矩形 406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8" name="圆角矩形 407"/>
          <p:cNvSpPr/>
          <p:nvPr/>
        </p:nvSpPr>
        <p:spPr>
          <a:xfrm>
            <a:off x="381000" y="1066800"/>
            <a:ext cx="6819900" cy="13716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9" name="圆角矩形 408"/>
          <p:cNvSpPr/>
          <p:nvPr/>
        </p:nvSpPr>
        <p:spPr>
          <a:xfrm>
            <a:off x="571500" y="12192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0" name="文本框 409" descr="{&quot;isTemplate&quot;:true,&quot;type&quot;:&quot;text&quot;}"/>
          <p:cNvSpPr txBox="1"/>
          <p:nvPr/>
        </p:nvSpPr>
        <p:spPr>
          <a:xfrm>
            <a:off x="685800" y="1285875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1009650" y="1257300"/>
            <a:ext cx="6000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「耳机太差了，我要退。」</a:t>
            </a:r>
            <a:endParaRPr/>
          </a:p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571500" y="1619250"/>
            <a:ext cx="6438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常见错误：只识别出负面情绪就当投诉处理。但这里已有明确的退货诉求。</a:t>
            </a:r>
            <a:endParaRPr/>
          </a:p>
        </p:txBody>
      </p:sp>
      <p:sp>
        <p:nvSpPr>
          <p:cNvPr id="413" name="文本框 412" descr="{&quot;isTemplate&quot;:true,&quot;type&quot;:&quot;text&quot;}"/>
          <p:cNvSpPr txBox="1"/>
          <p:nvPr/>
        </p:nvSpPr>
        <p:spPr>
          <a:xfrm>
            <a:off x="571500" y="1981200"/>
            <a:ext cx="6438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2F6FD0"/>
                </a:solidFill>
                <a:latin typeface="Microsoft YaHei"/>
                <a:ea typeface="Microsoft YaHei"/>
              </a:rPr>
              <a:t>更合理：进入售后路径，保留不满信息，再决定是否升级人工。</a:t>
            </a:r>
            <a:endParaRPr/>
          </a:p>
        </p:txBody>
      </p:sp>
      <p:sp>
        <p:nvSpPr>
          <p:cNvPr id="414" name="圆角矩形 413"/>
          <p:cNvSpPr/>
          <p:nvPr/>
        </p:nvSpPr>
        <p:spPr>
          <a:xfrm>
            <a:off x="381000" y="2505075"/>
            <a:ext cx="6819900" cy="166687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5" name="圆角矩形 414"/>
          <p:cNvSpPr/>
          <p:nvPr/>
        </p:nvSpPr>
        <p:spPr>
          <a:xfrm>
            <a:off x="571500" y="26574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685800" y="2724150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1009650" y="2695575"/>
            <a:ext cx="6000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「这个耳机适合跑步吗？」</a:t>
            </a:r>
            <a:endParaRPr/>
          </a:p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571500" y="3057525"/>
            <a:ext cx="6438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若前面正在浏览某款商品，这属于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商品咨询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，应结合当前商品资料回答。</a:t>
            </a:r>
            <a:endParaRPr/>
          </a:p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571500" y="3419475"/>
            <a:ext cx="64389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2F6FD0"/>
                </a:solidFill>
                <a:latin typeface="Microsoft YaHei"/>
                <a:ea typeface="Microsoft YaHei"/>
              </a:rPr>
              <a:t>没有上下文时，先确认「这个」指哪一款，而不是因为出现「耳机」就进入订单查询。</a:t>
            </a:r>
            <a:endParaRPr/>
          </a:p>
        </p:txBody>
      </p:sp>
      <p:sp>
        <p:nvSpPr>
          <p:cNvPr id="420" name="圆角矩形 419"/>
          <p:cNvSpPr/>
          <p:nvPr/>
        </p:nvSpPr>
        <p:spPr>
          <a:xfrm>
            <a:off x="381000" y="4238625"/>
            <a:ext cx="6819900" cy="13716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1" name="圆角矩形 420"/>
          <p:cNvSpPr/>
          <p:nvPr/>
        </p:nvSpPr>
        <p:spPr>
          <a:xfrm>
            <a:off x="571500" y="43910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2" name="文本框 421" descr="{&quot;isTemplate&quot;:true,&quot;type&quot;:&quot;text&quot;}"/>
          <p:cNvSpPr txBox="1"/>
          <p:nvPr/>
        </p:nvSpPr>
        <p:spPr>
          <a:xfrm>
            <a:off x="685800" y="4457700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423" name="文本框 422" descr="{&quot;isTemplate&quot;:true,&quot;type&quot;:&quot;text&quot;}"/>
          <p:cNvSpPr txBox="1"/>
          <p:nvPr/>
        </p:nvSpPr>
        <p:spPr>
          <a:xfrm>
            <a:off x="1009650" y="4429125"/>
            <a:ext cx="6000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「第二个。」</a:t>
            </a:r>
            <a:endParaRPr/>
          </a:p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571500" y="4791075"/>
            <a:ext cx="6438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单独看无法判断是什么需求；但上一轮刚展示过两笔订单时，它就是一次订单选择。</a:t>
            </a:r>
            <a:endParaRPr/>
          </a:p>
        </p:txBody>
      </p:sp>
      <p:sp>
        <p:nvSpPr>
          <p:cNvPr id="425" name="文本框 424" descr="{&quot;isTemplate&quot;:true,&quot;type&quot;:&quot;text&quot;}"/>
          <p:cNvSpPr txBox="1"/>
          <p:nvPr/>
        </p:nvSpPr>
        <p:spPr>
          <a:xfrm>
            <a:off x="571500" y="5153025"/>
            <a:ext cx="6438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2F6FD0"/>
                </a:solidFill>
                <a:latin typeface="Microsoft YaHei"/>
                <a:ea typeface="Microsoft YaHei"/>
              </a:rPr>
              <a:t>应继续当前任务，而不是把「第二个」当成全新的问题重新分类。</a:t>
            </a:r>
            <a:endParaRPr/>
          </a:p>
        </p:txBody>
      </p:sp>
      <p:sp>
        <p:nvSpPr>
          <p:cNvPr id="426" name="圆角矩形 425"/>
          <p:cNvSpPr/>
          <p:nvPr/>
        </p:nvSpPr>
        <p:spPr>
          <a:xfrm>
            <a:off x="428625" y="5676900"/>
            <a:ext cx="6819900" cy="533400"/>
          </a:xfrm>
          <a:prstGeom prst="roundRect">
            <a:avLst>
              <a:gd name="adj" fmla="val 17857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7" name="任意形状 426"/>
          <p:cNvSpPr/>
          <p:nvPr/>
        </p:nvSpPr>
        <p:spPr>
          <a:xfrm>
            <a:off x="428625" y="5676900"/>
            <a:ext cx="6819900" cy="533400"/>
          </a:xfrm>
          <a:custGeom>
            <a:avLst/>
            <a:gdLst/>
            <a:ahLst/>
            <a:cxnLst/>
            <a:rect l="0" t="0" r="0" b="0"/>
            <a:pathLst>
              <a:path w="716" h="5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51"/>
                </a:lnTo>
                <a:cubicBezTo>
                  <a:pt x="5" y="53"/>
                  <a:pt x="7" y="55"/>
                  <a:pt x="9" y="56"/>
                </a:cubicBezTo>
                <a:cubicBezTo>
                  <a:pt x="4" y="55"/>
                  <a:pt x="0" y="51"/>
                  <a:pt x="0" y="4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619125" y="5648325"/>
            <a:ext cx="658177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C0392B"/>
                </a:solidFill>
                <a:latin typeface="Microsoft YaHei"/>
                <a:ea typeface="Microsoft YaHei"/>
              </a:rPr>
              <a:t>负面情绪和业务意图不是同一件事</a:t>
            </a:r>
            <a:r>
              <a:rPr lang="en-US" sz="1350">
                <a:solidFill>
                  <a:srgbClr val="C0392B"/>
                </a:solidFill>
                <a:latin typeface="Microsoft YaHei"/>
                <a:ea typeface="Microsoft YaHei"/>
              </a:rPr>
              <a:t> —— </a:t>
            </a: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每条新消息到达后，都要先知道「当前正在做什么」。</a:t>
            </a:r>
            <a:endParaRPr/>
          </a:p>
        </p:txBody>
      </p:sp>
      <p:sp>
        <p:nvSpPr>
          <p:cNvPr id="429" name="圆角矩形 428"/>
          <p:cNvSpPr/>
          <p:nvPr/>
        </p:nvSpPr>
        <p:spPr>
          <a:xfrm>
            <a:off x="7505700" y="1066800"/>
            <a:ext cx="4305300" cy="2295525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0" name="圆角矩形 429"/>
          <p:cNvSpPr/>
          <p:nvPr/>
        </p:nvSpPr>
        <p:spPr>
          <a:xfrm>
            <a:off x="7505700" y="3362325"/>
            <a:ext cx="4305300" cy="2390775"/>
          </a:xfrm>
          <a:prstGeom prst="roundRect">
            <a:avLst>
              <a:gd name="adj" fmla="val 3984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1" name="文本框 430" descr="{&quot;isTemplate&quot;:true,&quot;type&quot;:&quot;text&quot;}"/>
          <p:cNvSpPr txBox="1"/>
          <p:nvPr/>
        </p:nvSpPr>
        <p:spPr>
          <a:xfrm>
            <a:off x="7658100" y="3495675"/>
            <a:ext cx="4000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这段状态告诉主工作流什么</a:t>
            </a:r>
            <a:endParaRPr/>
          </a:p>
        </p:txBody>
      </p:sp>
      <p:sp>
        <p:nvSpPr>
          <p:cNvPr id="432" name="文本框 431" descr="{&quot;isTemplate&quot;:true,&quot;type&quot;:&quot;text&quot;}"/>
          <p:cNvSpPr txBox="1"/>
          <p:nvPr/>
        </p:nvSpPr>
        <p:spPr>
          <a:xfrm>
            <a:off x="7658100" y="379095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E9F0FA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7810500" y="3790950"/>
            <a:ext cx="38481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E9F0FA"/>
                </a:solidFill>
                <a:latin typeface="Microsoft YaHei"/>
                <a:ea typeface="Microsoft YaHei"/>
              </a:rPr>
              <a:t>当前正在处理售后</a:t>
            </a:r>
            <a:endParaRPr/>
          </a:p>
        </p:txBody>
      </p:sp>
      <p:sp>
        <p:nvSpPr>
          <p:cNvPr id="434" name="文本框 433" descr="{&quot;isTemplate&quot;:true,&quot;type&quot;:&quot;text&quot;}"/>
          <p:cNvSpPr txBox="1"/>
          <p:nvPr/>
        </p:nvSpPr>
        <p:spPr>
          <a:xfrm>
            <a:off x="7658100" y="417195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E9F0FA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7810500" y="4171950"/>
            <a:ext cx="38481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E9F0FA"/>
                </a:solidFill>
                <a:latin typeface="Microsoft YaHei"/>
                <a:ea typeface="Microsoft YaHei"/>
              </a:rPr>
              <a:t>订单已经确认好了</a:t>
            </a:r>
            <a:endParaRPr/>
          </a:p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7658100" y="455295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E9F0FA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7810500" y="4552950"/>
            <a:ext cx="38481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E9F0FA"/>
                </a:solidFill>
                <a:latin typeface="Microsoft YaHei"/>
                <a:ea typeface="Microsoft YaHei"/>
              </a:rPr>
              <a:t>用户希望换货</a:t>
            </a:r>
            <a:endParaRPr/>
          </a:p>
        </p:txBody>
      </p:sp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7658100" y="493395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E9F0FA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7810500" y="4933950"/>
            <a:ext cx="38481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E9F0FA"/>
                </a:solidFill>
                <a:latin typeface="Microsoft YaHei"/>
                <a:ea typeface="Microsoft YaHei"/>
              </a:rPr>
              <a:t>故障描述还没补齐</a:t>
            </a:r>
            <a:endParaRPr/>
          </a:p>
        </p:txBody>
      </p:sp>
      <p:sp>
        <p:nvSpPr>
          <p:cNvPr id="440" name="文本框 439" descr="{&quot;isTemplate&quot;:true,&quot;type&quot;:&quot;text&quot;}"/>
          <p:cNvSpPr txBox="1"/>
          <p:nvPr/>
        </p:nvSpPr>
        <p:spPr>
          <a:xfrm>
            <a:off x="7658100" y="531495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E9F0FA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441" name="文本框 440" descr="{&quot;isTemplate&quot;:true,&quot;type&quot;:&quot;text&quot;}"/>
          <p:cNvSpPr txBox="1"/>
          <p:nvPr/>
        </p:nvSpPr>
        <p:spPr>
          <a:xfrm>
            <a:off x="7810500" y="5314950"/>
            <a:ext cx="38481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E9F0FA"/>
                </a:solidFill>
                <a:latin typeface="Microsoft YaHei"/>
                <a:ea typeface="Microsoft YaHei"/>
              </a:rPr>
              <a:t>系统正在等用户说明故障</a:t>
            </a:r>
            <a:endParaRPr/>
          </a:p>
        </p:txBody>
      </p:sp>
      <p:sp>
        <p:nvSpPr>
          <p:cNvPr id="442" name="圆角矩形 441"/>
          <p:cNvSpPr/>
          <p:nvPr/>
        </p:nvSpPr>
        <p:spPr>
          <a:xfrm>
            <a:off x="7553325" y="5753100"/>
            <a:ext cx="4305300" cy="1076325"/>
          </a:xfrm>
          <a:prstGeom prst="roundRect">
            <a:avLst>
              <a:gd name="adj" fmla="val 8850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3" name="任意形状 442"/>
          <p:cNvSpPr/>
          <p:nvPr/>
        </p:nvSpPr>
        <p:spPr>
          <a:xfrm>
            <a:off x="7553325" y="5753100"/>
            <a:ext cx="4305300" cy="1076325"/>
          </a:xfrm>
          <a:custGeom>
            <a:avLst/>
            <a:gdLst/>
            <a:ahLst/>
            <a:cxnLst/>
            <a:rect l="0" t="0" r="0" b="0"/>
            <a:pathLst>
              <a:path w="452" h="11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08"/>
                </a:lnTo>
                <a:cubicBezTo>
                  <a:pt x="5" y="110"/>
                  <a:pt x="7" y="112"/>
                  <a:pt x="9" y="113"/>
                </a:cubicBezTo>
                <a:cubicBezTo>
                  <a:pt x="4" y="112"/>
                  <a:pt x="0" y="108"/>
                  <a:pt x="0" y="10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4" name="文本框 443" descr="{&quot;isTemplate&quot;:true,&quot;type&quot;:&quot;text&quot;}"/>
          <p:cNvSpPr txBox="1"/>
          <p:nvPr/>
        </p:nvSpPr>
        <p:spPr>
          <a:xfrm>
            <a:off x="7705725" y="5867400"/>
            <a:ext cx="3952875" cy="847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123A78"/>
                </a:solidFill>
                <a:latin typeface="Microsoft YaHei"/>
                <a:ea typeface="Microsoft YaHei"/>
              </a:rPr>
              <a:t>收到「右边」时更新故障描述并继续；若说「先不换了，帮我看看物流」，</a:t>
            </a:r>
            <a:r>
              <a:rPr lang="zh-CN" sz="1275" b="1">
                <a:solidFill>
                  <a:srgbClr val="123A78"/>
                </a:solidFill>
                <a:latin typeface="Microsoft YaHei"/>
                <a:ea typeface="Microsoft YaHei"/>
              </a:rPr>
              <a:t>不清楚时应澄清，不能随意覆盖原任务</a:t>
            </a:r>
            <a:r>
              <a:rPr lang="zh-CN" sz="1275">
                <a:solidFill>
                  <a:srgbClr val="123A7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45" name="任意形状 444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447" name="文本框 446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22 / 42</a:t>
            </a:r>
            <a:endParaRPr/>
          </a:p>
        </p:txBody>
      </p:sp>
      <p:sp>
        <p:nvSpPr>
          <p:cNvPr id="448" name="圆角矩形 447"/>
          <p:cNvSpPr/>
          <p:nvPr/>
        </p:nvSpPr>
        <p:spPr>
          <a:xfrm>
            <a:off x="7639050" y="1181100"/>
            <a:ext cx="4038600" cy="2066925"/>
          </a:xfrm>
          <a:prstGeom prst="roundRect">
            <a:avLst>
              <a:gd name="adj" fmla="val 3687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9" name="文本框 448"/>
          <p:cNvSpPr txBox="1"/>
          <p:nvPr/>
        </p:nvSpPr>
        <p:spPr>
          <a:xfrm>
            <a:off x="7791450" y="1314450"/>
            <a:ext cx="3733800" cy="1800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{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"current_task"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"aftersales"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"order_id"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"DEMO-102"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"requested_action"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"exchange"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"issue_description"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null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"waiting_for"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"fault_details"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分支、处理方式与返回状态&lt;/Text&gt;&#10;        &lt;/Box&gt;&#10;        &lt;Box style={{ width: 96, height: 3, background: '#2F6FD0', marginTop: 58 }} /&gt;&#10;    &lt;/Box&gt;&#10;    &lt;Box style={{ height: 540, marginTop: 8, flexDirection: 'row', gap: 32 }}&gt;&#10;        &lt;Box style={{ width: 640, height: 540, justifyContent: 'space-between' }}&gt;&#10;            &lt;Box&gt;&#10;                &lt;Text style={{ fontSize: 26, fontWeight: '600', color: '#123A78' }}&gt;「三类任务」和「四条分支」什么关系&lt;/Text&gt;&#10;                &lt;Text style={{ fontSize: 19, color: '#4A5568', marginTop: 8, lineHeight: 1.5 }}&gt;&#10;                    四条分支是按&lt;span style={{ fontWeight: 'bold' }}&gt;业务需求&lt;/span&gt;组织产品；知识问答、业务查询、业务办理是这些分支里可能使用的&lt;span style={{ fontWeight: 'bold' }}&gt;处理方式&lt;/span&gt;。&#10;                &lt;/Text&gt;&#10;            &lt;/Box&gt;&#10;            &lt;Box style={{ height: 236, border: '1px solid #D6DCE5', borderRadius: 10, overflow: 'hidden' }}&gt;&#10;                &lt;Table&#10;                    style={{ width: '100%', height: '100%' }}&#10;                    defaultTextStyle={{ fontSize: 19, textAlign: 'left', color: '#1A2230' }}&#10;                    defaultCellStyle={{&#10;                        border: {&#10;                            left: { width: 1, color: '#E5E7EB' },&#10;                            right: { width: 1, color: '#E5E7EB' },&#10;                            top: { width: 1, color: '#E5E7EB' },&#10;                            bottom: { width: 1, color: '#E5E7EB' },&#10;                        },&#10;                    }}&#10;                    cells={[&#10;                        [&#10;                            { text: '售后分支里的用户行为', textStyle: { bold: true, color: '#FFFFFF', fontSize: 19 }, cellStyle: { background: { color: '#123A78' } } },&#10;                            { text: '需要的处理方式', textStyle: { bold: true, color: '#FFFFFF', fontSize: 19 }, cellStyle: { background: { color: '#123A78' } } },&#10;                        ],&#10;                        [&#10;                            { text: '询问换货政策', textStyle: { bold: true, color: '#123A78' }, cellStyle: { background: { color: '#F7F9FC' } } },&#10;                            { text: '知识问答', cellStyle: { background: { color: '#F7F9FC' } } },&#10;                        ],&#10;                        [&#10;                            { text: '确认订单与已有申请', textStyle: { bold: true, color: '#123A78' } },&#10;                            { text: '业务查询' },&#10;                        ],&#10;                        [&#10;                            { text: '补充材料、确认并提交申请', textStyle: { bold: true, color: '#123A78' }, cellStyle: { background: { color: '#F7F9FC' } } },&#10;                            { text: '业务办理', cellStyle: { background: { color: '#F7F9FC' } } },&#10;                        ],&#10;                    ]}&#10;                /&gt;&#10;            &lt;/Box&gt;&#10;            &lt;Box style={{ height: 116, background: '#123A78', borderRadius: 10, padding: '16px 20px', justifyContent: 'center' }}&gt;&#10;                &lt;Text style={{ fontSize: 20, color: '#FFFFFF', lineHeight: 1.5 }}&gt;&#10;                    不是把所有知识问题放一处、所有接口操作放另一处就完成了设计：&#10;                &lt;/Text&gt;&#10;                &lt;Text style={{ fontSize: 21, color: '#FFFFFF', fontWeight: 'bold', marginTop: 10, lineHeight: 1.45 }}&gt;&#10;                    同一个用户任务，往往需要多种能力连续配合。&#10;                &lt;/Text&gt;&#10;            &lt;/Box&gt;&#10;        &lt;/Box&gt;&#10;        &lt;Box style={{ flex: 1, height: 540, justifyContent: 'space-between' }}&gt;&#10;            &lt;Box&gt;&#10;                &lt;Text style={{ fontSize: 26, fontWeight: '600', color: '#123A78' }}&gt;子工作流要告诉主流程什么&lt;/Text&gt;&#10;                &lt;Text style={{ fontSize: 19, color: '#4A5568', marginTop: 8, lineHeight: 1.5 }}&gt;&#10;                    不能只返回一段回复文字，还要交代清楚&lt;span style={{ fontWeight: 'bold' }}&gt;当前处于什么状态&lt;/span&gt;，因为它决定下一轮怎么走。&#10;                &lt;/Text&gt;&#10;            &lt;/Box&gt;&#10;            &lt;Box style={{ height: 300, border: '1px solid #D6DCE5', borderRadius: 10, overflow: 'hidden' }}&gt;&#10;                &lt;Table&#10;                    style={{ width: '100%', height: '100%' }}&#10;                    defaultTextStyle={{ fontSize: 19, textAlign: 'left', color: '#1A2230' }}&#10;                    defaultCellStyle={{&#10;                        border: {&#10;                            left: { width: 1, color: '#E5E7EB' },&#10;                            right: { width: 1, color: '#E5E7EB' },&#10;                            top: { width: 1, color: '#E5E7EB' },&#10;                            bottom: { width: 1, color: '#E5E7EB' },&#10;                        },&#10;                    }}&#10;                    cells={[&#10;                        [&#10;                            { text: '返回状态', textStyle: { bold: true, color: '#FFFFFF', fontSize: 19 }, cellStyle: { background: { color: '#123A78' } } },&#10;                            { text: '意味着什么', textStyle: { bold: true, color: '#FFFFFF', fontSize: 19 }, cellStyle: { background: { color: '#123A78' } } },&#10;                        ],&#10;                        [&#10;                            { text: '等待用户补充', textStyle: { bold: true, color: '#123A78' }, cellStyle: { background: { color: '#F7F9FC' } } },&#10;                            { text: '任务还没完成，需要继续当前流程', cellStyle: { background: { color: '#F7F9FC' } } },&#10;                        ],&#10;                        [&#10;                            { text: '已完成查询', textStyle: { bold: true, color: '#123A78' } },&#10;                            { text: '已获取并返回结果，可以继续提问或结束' },&#10;                        ],&#10;                        [&#10;                            { text: '需要人工处理', textStyle: { bold: true, color: '#123A78' }, cellStyle: { background: { color: '#F7F9FC' } } },&#10;                            { text: '自动流程暂停，准备交接', cellStyle: { background: { color: '#F7F9FC' } } },&#10;                        ],&#10;                        [&#10;                            { text: '执行失败', textStyle: { bold: true, color: '#C0392B' }, cellStyle: { background: { color: '#FDF2F0' } } },&#10;                            { text: '没有完成操作，需要明确的后续处理', cellStyle: { background: { color: '#FDF2F0' } } },&#10;                        ],&#10;                    ]}&#10;                /&gt;&#10;            &lt;/Box&gt;&#10;            &lt;Box style={{ height: 100, background: '#FDF2F0', borderRadius: 10, padding: '16px 20px', justifyContent: 'center', borderLeft: '5px solid #C0392B' }}&gt;&#10;                &lt;Text style={{ fontSize: 19, color: '#C0392B', lineHeight: 1.5 }}&gt;&#10;                    尤其要避免一种情况：接口调用失败了，模型却仍生成一句「已经帮您处理好了」。&#10;                &lt;/Text&gt;&#10;                &lt;Text style={{ fontSize: 20, color: '#C0392B', fontWeight: 'bold', marginTop: 8, lineHeight: 1.45 }}&gt;&#10;                    回复内容和实际处理状态必须一致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3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矩形 4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381000" y="266700"/>
            <a:ext cx="3886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453" name="文本框 452" descr="{&quot;isTemplate&quot;:true,&quot;type&quot;:&quot;text&quot;}"/>
          <p:cNvSpPr txBox="1"/>
          <p:nvPr/>
        </p:nvSpPr>
        <p:spPr>
          <a:xfrm>
            <a:off x="381000" y="504825"/>
            <a:ext cx="3886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分支、处理方式与返回状态</a:t>
            </a:r>
            <a:endParaRPr/>
          </a:p>
        </p:txBody>
      </p:sp>
      <p:sp>
        <p:nvSpPr>
          <p:cNvPr id="454" name="矩形 453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381000" y="1066800"/>
            <a:ext cx="60960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 dirty="0">
                <a:solidFill>
                  <a:srgbClr val="123A78"/>
                </a:solidFill>
                <a:latin typeface="Microsoft YaHei"/>
                <a:ea typeface="Microsoft YaHei"/>
              </a:rPr>
              <a:t>「三类任务」和「四条分支」什么关系</a:t>
            </a:r>
            <a:endParaRPr dirty="0"/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381000" y="1447800"/>
            <a:ext cx="60960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四条分支是按</a:t>
            </a:r>
            <a:r>
              <a:rPr lang="zh-CN" sz="1425" b="1">
                <a:solidFill>
                  <a:srgbClr val="4A5568"/>
                </a:solidFill>
                <a:latin typeface="Microsoft YaHei"/>
                <a:ea typeface="Microsoft YaHei"/>
              </a:rPr>
              <a:t>业务需求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组织产品；知识问答、业务查询、业务办理是这些分支里可能使用的</a:t>
            </a:r>
            <a:r>
              <a:rPr lang="zh-CN" sz="1425" b="1">
                <a:solidFill>
                  <a:srgbClr val="4A5568"/>
                </a:solidFill>
                <a:latin typeface="Microsoft YaHei"/>
                <a:ea typeface="Microsoft YaHei"/>
              </a:rPr>
              <a:t>处理方式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57" name="圆角矩形 456"/>
          <p:cNvSpPr/>
          <p:nvPr/>
        </p:nvSpPr>
        <p:spPr>
          <a:xfrm>
            <a:off x="381000" y="2486025"/>
            <a:ext cx="6096000" cy="2247900"/>
          </a:xfrm>
          <a:prstGeom prst="roundRect">
            <a:avLst>
              <a:gd name="adj" fmla="val 4237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58" name="表格 457"/>
          <p:cNvGraphicFramePr/>
          <p:nvPr/>
        </p:nvGraphicFramePr>
        <p:xfrm>
          <a:off x="381000" y="2486025"/>
          <a:ext cx="6096000" cy="2247900"/>
        </p:xfrm>
        <a:graphic>
          <a:graphicData uri="http://schemas.openxmlformats.org/drawingml/2006/table">
            <a:tbl>
              <a:tblPr/>
              <a:tblGrid>
                <a:gridCol w="3809599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286401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售后分支里的用户行为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需要的处理方式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询问换货政策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知识问答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确认订单与已有申请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业务查询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补充材料、确认并提交申请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业务办理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</a:tbl>
          </a:graphicData>
        </a:graphic>
      </p:graphicFrame>
      <p:sp>
        <p:nvSpPr>
          <p:cNvPr id="459" name="圆角矩形 458"/>
          <p:cNvSpPr/>
          <p:nvPr/>
        </p:nvSpPr>
        <p:spPr>
          <a:xfrm>
            <a:off x="381000" y="5105400"/>
            <a:ext cx="6096000" cy="1104900"/>
          </a:xfrm>
          <a:prstGeom prst="roundRect">
            <a:avLst>
              <a:gd name="adj" fmla="val 8621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571500" y="5267325"/>
            <a:ext cx="57150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不是把所有知识问题放一处、所有接口操作放另一处就完成了设计：</a:t>
            </a:r>
            <a:endParaRPr/>
          </a:p>
        </p:txBody>
      </p:sp>
      <p:sp>
        <p:nvSpPr>
          <p:cNvPr id="461" name="文本框 460" descr="{&quot;isTemplate&quot;:true,&quot;type&quot;:&quot;text&quot;}"/>
          <p:cNvSpPr txBox="1"/>
          <p:nvPr/>
        </p:nvSpPr>
        <p:spPr>
          <a:xfrm>
            <a:off x="571500" y="5705475"/>
            <a:ext cx="571500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同一个用户任务，往往需要多种能力连续配合。</a:t>
            </a:r>
            <a:endParaRPr/>
          </a:p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6781800" y="1066800"/>
            <a:ext cx="50292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23A78"/>
                </a:solidFill>
                <a:latin typeface="Microsoft YaHei"/>
                <a:ea typeface="Microsoft YaHei"/>
              </a:rPr>
              <a:t>子工作流要告诉主流程什么</a:t>
            </a:r>
            <a:endParaRPr/>
          </a:p>
        </p:txBody>
      </p:sp>
      <p:sp>
        <p:nvSpPr>
          <p:cNvPr id="463" name="文本框 462" descr="{&quot;isTemplate&quot;:true,&quot;type&quot;:&quot;text&quot;}"/>
          <p:cNvSpPr txBox="1"/>
          <p:nvPr/>
        </p:nvSpPr>
        <p:spPr>
          <a:xfrm>
            <a:off x="6781800" y="1447800"/>
            <a:ext cx="50292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不能只返回一段回复文字，还要交代清楚</a:t>
            </a:r>
            <a:r>
              <a:rPr lang="zh-CN" sz="1425" b="1">
                <a:solidFill>
                  <a:srgbClr val="4A5568"/>
                </a:solidFill>
                <a:latin typeface="Microsoft YaHei"/>
                <a:ea typeface="Microsoft YaHei"/>
              </a:rPr>
              <a:t>当前处于什么状态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，因为它决定下一轮怎么走。</a:t>
            </a:r>
            <a:endParaRPr/>
          </a:p>
        </p:txBody>
      </p:sp>
      <p:sp>
        <p:nvSpPr>
          <p:cNvPr id="464" name="圆角矩形 463"/>
          <p:cNvSpPr/>
          <p:nvPr/>
        </p:nvSpPr>
        <p:spPr>
          <a:xfrm>
            <a:off x="6781800" y="2257425"/>
            <a:ext cx="5029200" cy="2857500"/>
          </a:xfrm>
          <a:prstGeom prst="roundRect">
            <a:avLst>
              <a:gd name="adj" fmla="val 3333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65" name="表格 464"/>
          <p:cNvGraphicFramePr/>
          <p:nvPr/>
        </p:nvGraphicFramePr>
        <p:xfrm>
          <a:off x="6781800" y="2257425"/>
          <a:ext cx="5029200" cy="2902966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72110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返回状态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意味着什么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等待用户补充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任务还没完成，需要继续当前流程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已完成查询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已获取并返回结果，可以继续提问或结束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需要人工处理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自动流程暂停，准备交接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执行失败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0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没有完成操作，需要明确的后续处理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</a:tbl>
          </a:graphicData>
        </a:graphic>
      </p:graphicFrame>
      <p:sp>
        <p:nvSpPr>
          <p:cNvPr id="466" name="圆角矩形 465"/>
          <p:cNvSpPr/>
          <p:nvPr/>
        </p:nvSpPr>
        <p:spPr>
          <a:xfrm>
            <a:off x="6829425" y="5257800"/>
            <a:ext cx="5029200" cy="952500"/>
          </a:xfrm>
          <a:prstGeom prst="roundRect">
            <a:avLst>
              <a:gd name="adj" fmla="val 10000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7" name="任意形状 466"/>
          <p:cNvSpPr/>
          <p:nvPr/>
        </p:nvSpPr>
        <p:spPr>
          <a:xfrm>
            <a:off x="6829425" y="5257800"/>
            <a:ext cx="5029200" cy="952500"/>
          </a:xfrm>
          <a:custGeom>
            <a:avLst/>
            <a:gdLst/>
            <a:ahLst/>
            <a:cxnLst/>
            <a:rect l="0" t="0" r="0" b="0"/>
            <a:pathLst>
              <a:path w="528" h="100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5"/>
                </a:lnTo>
                <a:cubicBezTo>
                  <a:pt x="5" y="97"/>
                  <a:pt x="7" y="99"/>
                  <a:pt x="9" y="100"/>
                </a:cubicBezTo>
                <a:cubicBezTo>
                  <a:pt x="4" y="99"/>
                  <a:pt x="0" y="95"/>
                  <a:pt x="0" y="9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8" name="文本框 467" descr="{&quot;isTemplate&quot;:true,&quot;type&quot;:&quot;text&quot;}"/>
          <p:cNvSpPr txBox="1"/>
          <p:nvPr/>
        </p:nvSpPr>
        <p:spPr>
          <a:xfrm>
            <a:off x="7019925" y="5200650"/>
            <a:ext cx="4600575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C0392B"/>
                </a:solidFill>
                <a:latin typeface="Microsoft YaHei"/>
                <a:ea typeface="Microsoft YaHei"/>
              </a:rPr>
              <a:t>尤其要避免一种情况：接口调用失败了，模型却仍生成一句「已经帮您处理好了」。</a:t>
            </a:r>
            <a:endParaRPr/>
          </a:p>
        </p:txBody>
      </p:sp>
      <p:sp>
        <p:nvSpPr>
          <p:cNvPr id="469" name="文本框 468" descr="{&quot;isTemplate&quot;:true,&quot;type&quot;:&quot;text&quot;}"/>
          <p:cNvSpPr txBox="1"/>
          <p:nvPr/>
        </p:nvSpPr>
        <p:spPr>
          <a:xfrm>
            <a:off x="7019925" y="5934075"/>
            <a:ext cx="46005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 b="1">
                <a:solidFill>
                  <a:srgbClr val="C0392B"/>
                </a:solidFill>
                <a:latin typeface="Microsoft YaHei"/>
                <a:ea typeface="Microsoft YaHei"/>
              </a:rPr>
              <a:t>回复内容和实际处理状态必须一致。</a:t>
            </a:r>
            <a:endParaRPr/>
          </a:p>
        </p:txBody>
      </p:sp>
      <p:sp>
        <p:nvSpPr>
          <p:cNvPr id="470" name="任意形状 469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472" name="文本框 471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23 / 42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0, position: 'relative' }}&gt;&#10;    &lt;Box style={{ position: 'absolute', left: 0, top: 0, width: 16, height: 720, background: '#123A78' }} /&gt;&#10;    &lt;Box style={{ width: '100%', height: '100%', flexDirection: 'row', alignItems: 'center', padding: '0 72px 0 88px', gap: 56 }}&gt;&#10;        &lt;Box style={{ width: 280, gap: 14 }}&gt;&#10;            &lt;Text style={{ fontSize: 132, fontWeight: 'bold', color: '#123A78', lineHeight: 1, fontFamily: 'JetBrains Mono' }}&gt;03&lt;/Text&gt;&#10;            &lt;Box style={{ width: 200, height: 4, background: '#2F6FD0' }} /&gt;&#10;            &lt;Text style={{ fontSize: 16, color: '#8B97A8', letterSpacing: 3, fontFamily: 'JetBrains Mono' }}&gt;P.26 – 33&lt;/Text&gt;&#10;        &lt;/Box&gt;&#10;        &lt;Box style={{ flex: 1, gap: 20 }}&gt;&#10;            &lt;Text style={{ fontSize: 44, fontWeight: '700', color: '#123A78', lineHeight: 1.25 }}&gt;订单查询&lt;br /&gt;工作流&lt;/Text&gt;&#10;            &lt;Text style={{ fontSize: 22, color: '#4A5568', lineHeight: 1.55 }}&gt;&#10;                先跑通最容易理解的一条路径。就从这句话开始 —— &lt;span style={{ fontWeight: 'bold', color: '#123A78' }}&gt;「上周买的耳机怎么还没到？」&lt;/span&gt;&#10;            &lt;/Text&gt;&#10;            &lt;Box style={{ gap: 12, marginTop: 6 }}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没有订单号时，怎样找到正确的那一笔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查不到、查到多笔、接口失败分别怎么办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回复里哪些话能说、哪些话不能编&lt;/Text&gt;&#10;                &lt;/Box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矩形 5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3" name="文本框 512" descr="{&quot;isTemplate&quot;:true,&quot;type&quot;:&quot;text&quot;}"/>
          <p:cNvSpPr txBox="1"/>
          <p:nvPr/>
        </p:nvSpPr>
        <p:spPr>
          <a:xfrm>
            <a:off x="838200" y="2428875"/>
            <a:ext cx="2667000" cy="1514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900" b="1">
                <a:solidFill>
                  <a:srgbClr val="123A78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514" name="矩形 513"/>
          <p:cNvSpPr/>
          <p:nvPr/>
        </p:nvSpPr>
        <p:spPr>
          <a:xfrm>
            <a:off x="838200" y="4076700"/>
            <a:ext cx="1905000" cy="38100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838200" y="4248150"/>
            <a:ext cx="2667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8B97A8"/>
                </a:solidFill>
                <a:latin typeface="JetBrains Mono"/>
                <a:ea typeface="JetBrains Mono"/>
              </a:rPr>
              <a:t>P.26 – 33</a:t>
            </a:r>
            <a:endParaRPr/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4038600" y="1533525"/>
            <a:ext cx="7467600" cy="1257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123A78"/>
                </a:solidFill>
                <a:latin typeface="Microsoft YaHei"/>
                <a:ea typeface="Microsoft YaHei"/>
              </a:rPr>
              <a:t>订单查询</a:t>
            </a:r>
            <a:endParaRPr/>
          </a:p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123A78"/>
                </a:solidFill>
                <a:latin typeface="Microsoft YaHei"/>
                <a:ea typeface="Microsoft YaHei"/>
              </a:rPr>
              <a:t>工作流</a:t>
            </a:r>
            <a:endParaRPr/>
          </a:p>
        </p:txBody>
      </p:sp>
      <p:sp>
        <p:nvSpPr>
          <p:cNvPr id="517" name="文本框 516" descr="{&quot;isTemplate&quot;:true,&quot;type&quot;:&quot;text&quot;}"/>
          <p:cNvSpPr txBox="1"/>
          <p:nvPr/>
        </p:nvSpPr>
        <p:spPr>
          <a:xfrm>
            <a:off x="4038600" y="2981325"/>
            <a:ext cx="7467600" cy="781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先跑通最容易理解的一条路径。就从这句话开始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「上周买的耳机怎么还没到？」</a:t>
            </a:r>
            <a:endParaRPr/>
          </a:p>
        </p:txBody>
      </p:sp>
      <p:sp>
        <p:nvSpPr>
          <p:cNvPr id="518" name="圆角矩形 517"/>
          <p:cNvSpPr/>
          <p:nvPr/>
        </p:nvSpPr>
        <p:spPr>
          <a:xfrm>
            <a:off x="4038600" y="4105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9" name="文本框 518" descr="{&quot;isTemplate&quot;:true,&quot;type&quot;:&quot;text&quot;}"/>
          <p:cNvSpPr txBox="1"/>
          <p:nvPr/>
        </p:nvSpPr>
        <p:spPr>
          <a:xfrm>
            <a:off x="4267200" y="401002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没有订单号时，怎样找到正确的那一笔</a:t>
            </a:r>
            <a:endParaRPr/>
          </a:p>
        </p:txBody>
      </p:sp>
      <p:sp>
        <p:nvSpPr>
          <p:cNvPr id="520" name="圆角矩形 519"/>
          <p:cNvSpPr/>
          <p:nvPr/>
        </p:nvSpPr>
        <p:spPr>
          <a:xfrm>
            <a:off x="4038600" y="45815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4267200" y="448627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查不到、查到多笔、接口失败分别怎么办</a:t>
            </a:r>
            <a:endParaRPr/>
          </a:p>
        </p:txBody>
      </p:sp>
      <p:sp>
        <p:nvSpPr>
          <p:cNvPr id="522" name="圆角矩形 521"/>
          <p:cNvSpPr/>
          <p:nvPr/>
        </p:nvSpPr>
        <p:spPr>
          <a:xfrm>
            <a:off x="4038600" y="5057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3" name="文本框 522" descr="{&quot;isTemplate&quot;:true,&quot;type&quot;:&quot;text&quot;}"/>
          <p:cNvSpPr txBox="1"/>
          <p:nvPr/>
        </p:nvSpPr>
        <p:spPr>
          <a:xfrm>
            <a:off x="4267200" y="496252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回复里哪些话能说、哪些话不能编</a:t>
            </a:r>
            <a:endParaRPr/>
          </a:p>
        </p:txBody>
      </p:sp>
      <p:sp>
        <p:nvSpPr>
          <p:cNvPr id="524" name="矩形 523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三节 · 课堂互动 03&lt;/Text&gt;&#10;            &lt;Text style={{ fontSize: 34, fontWeight: '600', color: '#123A78', marginTop: 8, lineHeight: 1.25 }}&gt;没有订单号，下一步该怎么做&lt;/Text&gt;&#10;        &lt;/Box&gt;&#10;        &lt;Box style={{ width: 96, height: 3, background: '#2F6FD0', marginTop: 58 }} /&gt;&#10;    &lt;/Box&gt;&#10;    &lt;Box style={{ height: 540, marginTop: 8, flexDirection: 'row', gap: 40 }}&gt;&#10;        &lt;Box style={{ width: 640, height: 540, justifyContent: 'space-between' }}&gt;&#10;            &lt;Box style={{ background: '#E9F0FA', borderRadius: 10, padding: '20px 24px', borderLeft: '5px solid #123A78' }}&gt;&#10;                &lt;Text style={{ fontSize: 16, color: '#2F6FD0', letterSpacing: 2 }}&gt;场景&lt;/Text&gt;&#10;                &lt;Text style={{ fontSize: 22, color: '#123A78', marginTop: 10, lineHeight: 1.5 }}&gt;&#10;                    用户说「上周买的耳机怎么还没到？」，&lt;span style={{ fontWeight: 'bold' }}&gt;但没有给出订单号&lt;/span&gt;。&#10;                &lt;/Text&gt;&#10;            &lt;/Box&gt;&#10;            &lt;Box style={{ background: '#FFFFFF', border: '1px solid #D6DCE5', borderRadius: 10, padding: '18px 22px' }}&gt;&#10;                &lt;Box style={{ flexDirection: 'row', alignItems: 'flex-start', gap: 16 }}&gt;&#10;                    &lt;Box style={{ width: 52, height: 52, background: '#F7F9FC', border: '1px solid #D6DCE5', borderRadius: 10, justifyContent: 'center', alignItems: 'center' }}&gt;&#10;                        &lt;Text style={{ fontSize: 24, color: '#123A78', fontWeight: 'bold', fontFamily: 'JetBrains Mono' }}&gt;A&lt;/Text&gt;&#10;                    &lt;/Box&gt;&#10;                    &lt;Text style={{ fontSize: 20, color: '#1A2230', lineHeight: 1.5, flex: 1 }}&gt;要求用户先找到订单号，再继续查询&lt;/Text&gt;&#10;                &lt;/Box&gt;&#10;            &lt;/Box&gt;&#10;            &lt;Box style={{ background: '#FFFFFF', border: '1px solid #D6DCE5', borderRadius: 10, padding: '18px 22px' }}&gt;&#10;                &lt;Box style={{ flexDirection: 'row', alignItems: 'flex-start', gap: 16 }}&gt;&#10;                    &lt;Box style={{ width: 52, height: 52, background: '#F7F9FC', border: '1px solid #D6DCE5', borderRadius: 10, justifyContent: 'center', alignItems: 'center' }}&gt;&#10;                        &lt;Text style={{ fontSize: 24, color: '#123A78', fontWeight: 'bold', fontFamily: 'JetBrains Mono' }}&gt;B&lt;/Text&gt;&#10;                    &lt;/Box&gt;&#10;                    &lt;Text style={{ fontSize: 20, color: '#1A2230', lineHeight: 1.5, flex: 1 }}&gt;根据当前账号查询近期相关订单，让用户确认&lt;/Text&gt;&#10;                &lt;/Box&gt;&#10;            &lt;/Box&gt;&#10;            &lt;Box style={{ background: '#FFFFFF', border: '1px solid #D6DCE5', borderRadius: 10, padding: '18px 22px' }}&gt;&#10;                &lt;Box style={{ flexDirection: 'row', alignItems: 'flex-start', gap: 16 }}&gt;&#10;                    &lt;Box style={{ width: 52, height: 52, background: '#F7F9FC', border: '1px solid #D6DCE5', borderRadius: 10, justifyContent: 'center', alignItems: 'center' }}&gt;&#10;                        &lt;Text style={{ fontSize: 24, color: '#123A78', fontWeight: 'bold', fontFamily: 'JetBrains Mono' }}&gt;C&lt;/Text&gt;&#10;                    &lt;/Box&gt;&#10;                    &lt;Text style={{ fontSize: 20, color: '#1A2230', lineHeight: 1.5, flex: 1 }}&gt;直接选择最近一笔耳机订单，返回物流&lt;/Text&gt;&#10;                &lt;/Box&gt;&#10;            &lt;/Box&gt;&#10;        &lt;/Box&gt;&#10;        &lt;Box style={{ flex: 1, height: 540, justifyContent: 'space-between' }}&gt;&#10;            &lt;Box style={{ background: '#123A78', borderRadius: 10, padding: '22px 24px' }}&gt;&#10;                &lt;Box style={{ flexDirection: 'row', alignItems: 'center', gap: 12 }}&gt;&#10;                    &lt;Box style={{ background: '#F2A21C', borderRadius: 6, padding: '6px 12px' }}&gt;&#10;                        &lt;Text style={{ fontSize: 16, color: '#FFFFFF', fontWeight: 'bold' }}&gt;答案&lt;/Text&gt;&#10;                    &lt;/Box&gt;&#10;                    &lt;Text style={{ fontSize: 27, color: '#FFFFFF', fontWeight: '600' }}&gt;B&lt;/Text&gt;&#10;                &lt;/Box&gt;&#10;                &lt;Text style={{ fontSize: 20, color: '#E9F0FA', marginTop: 14, lineHeight: 1.55 }}&gt;&#10;                    用户已经登录，系统有条件查询这个账号的订单。先利用已有数据，&lt;span style={{ fontWeight: 'bold', color: '#FFFFFF' }}&gt;减少用户查找和复制订单号的操作&lt;/span&gt;。&#10;                &lt;/Text&gt;&#10;            &lt;/Box&gt;&#10;            &lt;Box style={{ background: '#FFFFFF', border: '1px solid #D6DCE5', borderRadius: 10, padding: '16px 20px' }}&gt;&#10;                &lt;Text style={{ fontSize: 19, color: '#2F6FD0', fontWeight: 'bold', lineHeight: 1.45 }}&gt;A 不是永远不对&lt;/Text&gt;&#10;                &lt;Text style={{ fontSize: 18, color: '#1A2230', marginTop: 8, lineHeight: 1.5 }}&gt;&#10;                    如果当前渠道无法关联账号，或者查询不到对应订单，就可能需要用户补充信息。&#10;                &lt;/Text&gt;&#10;            &lt;/Box&gt;&#10;            &lt;Box style={{ background: '#FDF2F0', borderRadius: 10, padding: '16px 20px' }}&gt;&#10;                &lt;Text style={{ fontSize: 19, color: '#C0392B', fontWeight: 'bold', lineHeight: 1.45 }}&gt;C 的风险&lt;/Text&gt;&#10;                &lt;Text style={{ fontSize: 18, color: '#1A2230', marginTop: 8, lineHeight: 1.5 }}&gt;&#10;                    系统擅自替用户确定了订单。后面接口即使全部调用成功，也可能回答的是另一笔订单的物流。&#10;                &lt;/Text&gt;&#10;            &lt;/Box&gt;&#10;            &lt;Box style={{ height: 152, border: '1px solid #D6DCE5', borderRadius: 10, padding: '14px 18px', justifyContent: 'space-between' }}&gt;&#10;                &lt;Text style={{ fontSize: 19, fontWeight: '600', color: '#123A78' }}&gt;这里要把两件事分开&lt;/Text&gt;&#10;                &lt;Box style={{ flexDirection: 'row', gap: 12 }}&gt;&#10;                    &lt;Box style={{ flex: 1, background: '#F7F9FC', borderRadius: 8, padding: '10px 12px' }}&gt;&#10;                        &lt;Text style={{ fontSize: 18, color: '#123A78', fontWeight: 'bold', textAlign: 'center' }}&gt;筛选候选订单&lt;/Text&gt;&#10;                        &lt;Text style={{ fontSize: 16, color: '#4A5568', marginTop: 6, lineHeight: 1.4, textAlign: 'center' }}&gt;系统按时间、商品等线索缩小范围&lt;/Text&gt;&#10;                    &lt;/Box&gt;&#10;                    &lt;Box style={{ flex: 1, background: '#E9F0FA', borderRadius: 8, padding: '10px 12px' }}&gt;&#10;                        &lt;Text style={{ fontSize: 18, color: '#123A78', fontWeight: 'bold', textAlign: 'center' }}&gt;确认目标订单&lt;/Text&gt;&#10;                        &lt;Text style={{ fontSize: 16, color: '#4A5568', marginTop: 6, lineHeight: 1.4, textAlign: 'center' }}&gt;信息有歧义时，由用户来确认&lt;/Text&gt;&#10;                    &lt;/Box&gt;&#10;                &lt;/Box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7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文本框 563" descr="{&quot;isTemplate&quot;:true,&quot;type&quot;:&quot;text&quot;}"/>
          <p:cNvSpPr txBox="1"/>
          <p:nvPr/>
        </p:nvSpPr>
        <p:spPr>
          <a:xfrm>
            <a:off x="381000" y="266700"/>
            <a:ext cx="421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第三节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课堂互动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03</a:t>
            </a:r>
            <a:endParaRPr/>
          </a:p>
        </p:txBody>
      </p:sp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381000" y="504825"/>
            <a:ext cx="42100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没有订单号，下一步该怎么做</a:t>
            </a:r>
            <a:endParaRPr/>
          </a:p>
        </p:txBody>
      </p:sp>
      <p:sp>
        <p:nvSpPr>
          <p:cNvPr id="566" name="矩形 565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7" name="圆角矩形 566"/>
          <p:cNvSpPr/>
          <p:nvPr/>
        </p:nvSpPr>
        <p:spPr>
          <a:xfrm>
            <a:off x="428625" y="1066800"/>
            <a:ext cx="6096000" cy="1428750"/>
          </a:xfrm>
          <a:prstGeom prst="roundRect">
            <a:avLst>
              <a:gd name="adj" fmla="val 6667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8" name="任意形状 567"/>
          <p:cNvSpPr/>
          <p:nvPr/>
        </p:nvSpPr>
        <p:spPr>
          <a:xfrm>
            <a:off x="428625" y="1066800"/>
            <a:ext cx="6096000" cy="1428750"/>
          </a:xfrm>
          <a:custGeom>
            <a:avLst/>
            <a:gdLst/>
            <a:ahLst/>
            <a:cxnLst/>
            <a:rect l="0" t="0" r="0" b="0"/>
            <a:pathLst>
              <a:path w="640" h="150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45"/>
                </a:lnTo>
                <a:cubicBezTo>
                  <a:pt x="5" y="147"/>
                  <a:pt x="7" y="149"/>
                  <a:pt x="9" y="150"/>
                </a:cubicBezTo>
                <a:cubicBezTo>
                  <a:pt x="4" y="149"/>
                  <a:pt x="0" y="145"/>
                  <a:pt x="0" y="14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9" name="文本框 568" descr="{&quot;isTemplate&quot;:true,&quot;type&quot;:&quot;text&quot;}"/>
          <p:cNvSpPr txBox="1"/>
          <p:nvPr/>
        </p:nvSpPr>
        <p:spPr>
          <a:xfrm>
            <a:off x="657225" y="1257300"/>
            <a:ext cx="55911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2F6FD0"/>
                </a:solidFill>
                <a:latin typeface="Microsoft YaHei"/>
                <a:ea typeface="Microsoft YaHei"/>
              </a:rPr>
              <a:t>场景</a:t>
            </a:r>
            <a:endParaRPr/>
          </a:p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657225" y="1543050"/>
            <a:ext cx="5591175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650">
                <a:solidFill>
                  <a:srgbClr val="123A78"/>
                </a:solidFill>
                <a:latin typeface="Microsoft YaHei"/>
                <a:ea typeface="Microsoft YaHei"/>
              </a:rPr>
              <a:t>用户说「上周买的耳机怎么还没到？」，</a:t>
            </a: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但没有给出订单号</a:t>
            </a:r>
            <a:r>
              <a:rPr lang="zh-CN" sz="1650">
                <a:solidFill>
                  <a:srgbClr val="123A7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71" name="圆角矩形 570"/>
          <p:cNvSpPr/>
          <p:nvPr/>
        </p:nvSpPr>
        <p:spPr>
          <a:xfrm>
            <a:off x="381000" y="2895600"/>
            <a:ext cx="6096000" cy="838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2" name="圆角矩形 571"/>
          <p:cNvSpPr/>
          <p:nvPr/>
        </p:nvSpPr>
        <p:spPr>
          <a:xfrm>
            <a:off x="590550" y="306705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3" name="文本框 572" descr="{&quot;isTemplate&quot;:true,&quot;type&quot;:&quot;text&quot;}"/>
          <p:cNvSpPr txBox="1"/>
          <p:nvPr/>
        </p:nvSpPr>
        <p:spPr>
          <a:xfrm>
            <a:off x="752475" y="3181350"/>
            <a:ext cx="171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23A78"/>
                </a:solidFill>
                <a:latin typeface="JetBrains Mono"/>
                <a:ea typeface="JetBrains Mono"/>
              </a:rPr>
              <a:t>A</a:t>
            </a:r>
            <a:endParaRPr/>
          </a:p>
        </p:txBody>
      </p:sp>
      <p:sp>
        <p:nvSpPr>
          <p:cNvPr id="574" name="文本框 573" descr="{&quot;isTemplate&quot;:true,&quot;type&quot;:&quot;text&quot;}"/>
          <p:cNvSpPr txBox="1"/>
          <p:nvPr/>
        </p:nvSpPr>
        <p:spPr>
          <a:xfrm>
            <a:off x="1238250" y="3067050"/>
            <a:ext cx="50292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要求用户先找到订单号，再继续查询</a:t>
            </a:r>
            <a:endParaRPr/>
          </a:p>
        </p:txBody>
      </p:sp>
      <p:sp>
        <p:nvSpPr>
          <p:cNvPr id="575" name="圆角矩形 574"/>
          <p:cNvSpPr/>
          <p:nvPr/>
        </p:nvSpPr>
        <p:spPr>
          <a:xfrm>
            <a:off x="381000" y="4133850"/>
            <a:ext cx="6096000" cy="838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6" name="圆角矩形 575"/>
          <p:cNvSpPr/>
          <p:nvPr/>
        </p:nvSpPr>
        <p:spPr>
          <a:xfrm>
            <a:off x="590550" y="43053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7" name="文本框 576" descr="{&quot;isTemplate&quot;:true,&quot;type&quot;:&quot;text&quot;}"/>
          <p:cNvSpPr txBox="1"/>
          <p:nvPr/>
        </p:nvSpPr>
        <p:spPr>
          <a:xfrm>
            <a:off x="752475" y="4419600"/>
            <a:ext cx="171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23A78"/>
                </a:solidFill>
                <a:latin typeface="JetBrains Mono"/>
                <a:ea typeface="JetBrains Mono"/>
              </a:rPr>
              <a:t>B</a:t>
            </a:r>
            <a:endParaRPr/>
          </a:p>
        </p:txBody>
      </p:sp>
      <p:sp>
        <p:nvSpPr>
          <p:cNvPr id="578" name="文本框 577" descr="{&quot;isTemplate&quot;:true,&quot;type&quot;:&quot;text&quot;}"/>
          <p:cNvSpPr txBox="1"/>
          <p:nvPr/>
        </p:nvSpPr>
        <p:spPr>
          <a:xfrm>
            <a:off x="1238250" y="4305300"/>
            <a:ext cx="50292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根据当前账号查询近期相关订单，让用户确认</a:t>
            </a:r>
            <a:endParaRPr/>
          </a:p>
        </p:txBody>
      </p:sp>
      <p:sp>
        <p:nvSpPr>
          <p:cNvPr id="579" name="圆角矩形 578"/>
          <p:cNvSpPr/>
          <p:nvPr/>
        </p:nvSpPr>
        <p:spPr>
          <a:xfrm>
            <a:off x="381000" y="5372100"/>
            <a:ext cx="6096000" cy="838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0" name="圆角矩形 579"/>
          <p:cNvSpPr/>
          <p:nvPr/>
        </p:nvSpPr>
        <p:spPr>
          <a:xfrm>
            <a:off x="590550" y="554355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1" name="文本框 580" descr="{&quot;isTemplate&quot;:true,&quot;type&quot;:&quot;text&quot;}"/>
          <p:cNvSpPr txBox="1"/>
          <p:nvPr/>
        </p:nvSpPr>
        <p:spPr>
          <a:xfrm>
            <a:off x="752475" y="5657850"/>
            <a:ext cx="171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23A78"/>
                </a:solidFill>
                <a:latin typeface="JetBrains Mono"/>
                <a:ea typeface="JetBrains Mono"/>
              </a:rPr>
              <a:t>C</a:t>
            </a:r>
            <a:endParaRPr/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1238250" y="5543550"/>
            <a:ext cx="50292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直接选择最近一笔耳机订单，返回物流</a:t>
            </a:r>
            <a:endParaRPr/>
          </a:p>
        </p:txBody>
      </p:sp>
      <p:sp>
        <p:nvSpPr>
          <p:cNvPr id="602" name="任意形状 601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3" name="文本框 602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三节 · 订单查询工作流&lt;/Text&gt;&#10;            &lt;Text style={{ fontSize: 34, fontWeight: '600', color: '#123A78', marginTop: 8, lineHeight: 1.25 }}&gt;展开订单查询子工作流&lt;/Text&gt;&#10;        &lt;/Box&gt;&#10;        &lt;Box style={{ width: 96, height: 3, background: '#2F6FD0', marginTop: 58 }} /&gt;&#10;    &lt;/Box&gt;&#10;    &lt;Box style={{ height: 540, marginTop: 8, justifyContent: 'center' }}&gt;&#10;        &lt;svg width={1200} height={534} viewBox='0 0 1200 534'&gt;&#10;            &lt;rect x='60' y='0' width='560' height='52' rx='10' fill='#FFFFFF' stroke='#2F6FD0' strokeWidth='2' /&gt;&#10;            &lt;text x='340' y='33' textAnchor='middle' fontFamily='Source Han Sans SC' fontSize='20' fill='#123A78' fontWeight='bold'&gt;进入订单查询流程&lt;/text&gt;&#10;            &lt;line x1='340' y1='52' x2='340' y2='76' stroke='#2F6FD0' strokeWidth='2' /&gt;&#10;            &lt;path d='M340 76 L334 66 L346 66 Z' fill='#2F6FD0' /&gt;&#10;&#10;            &lt;rect x='60' y='78' width='560' height='52' rx='10' fill='#FFFFFF' stroke='#2F6FD0' strokeWidth='2' /&gt;&#10;            &lt;text x='340' y='111' textAnchor='middle' fontFamily='Source Han Sans SC' fontSize='20' fill='#123A78' fontWeight='bold'&gt;检查用户身份和已有订单信息&lt;/text&gt;&#10;            &lt;line x1='340' y1='130' x2='340' y2='152' stroke='#2F6FD0' strokeWidth='2' /&gt;&#10;            &lt;path d='M340 152 L334 142 L346 142 Z' fill='#2F6FD0' /&gt;&#10;&#10;            &lt;rect x='60' y='154' width='560' height='58' rx='10' fill='#123A78' /&gt;&#10;            &lt;text x='340' y='190' textAnchor='middle' fontFamily='Source Han Sans SC' fontSize='21' fill='#FFFFFF' fontWeight='bold'&gt;是否已经明确目标订单？&lt;/text&gt;&#10;            &lt;text x='640' y='190' fontFamily='Source Han Sans SC' fontSize='17' fill='#2F6FD0'&gt;是&lt;/text&gt;&#10;            &lt;text x='336' y='228' fontFamily='Source Han Sans SC' fontSize='16' fill='#8B97A8'&gt;否&lt;/text&gt;&#10;&#10;            &lt;rect x='680' y='154' width='520' height='58' rx='10' fill='#E9F0FA' stroke='#2F6FD0' strokeWidth='2' /&gt;&#10;            &lt;text x='940' y='182' textAnchor='middle' fontFamily='Source Han Sans SC' fontSize='19' fill='#123A78' fontWeight='bold'&gt;校验该订单是否属于当前用户&lt;/text&gt;&#10;            &lt;text x='940' y='202' textAnchor='middle' fontFamily='JetBrains Mono' fontSize='14' fill='#8B97A8'&gt;权限校验，不能跳过&lt;/text&gt;&#10;            &lt;path d='M680 212 L640 212 L640 290 L620 290' fill='none' stroke='#2F6FD0' strokeWidth='2' strokeDasharray='6 4' /&gt;&#10;            &lt;path d='M620 290 L630 285 L630 295 Z' fill='#2F6FD0' /&gt;&#10;&#10;            &lt;line x1='340' y1='212' x2='340' y2='230' stroke='#2F6FD0' strokeWidth='2' /&gt;&#10;            &lt;path d='M340 230 L334 220 L346 220 Z' fill='#2F6FD0' /&gt;&#10;&#10;            &lt;rect x='60' y='232' width='560' height='52' rx='10' fill='#FFFFFF' stroke='#2F6FD0' strokeWidth='2' /&gt;&#10;            &lt;text x='340' y='265' textAnchor='middle' fontFamily='Source Han Sans SC' fontSize='20' fill='#123A78' fontWeight='bold'&gt;查询当前用户的候选订单&lt;/text&gt;&#10;            &lt;line x1='620' y1='258' x2='660' y2='258' stroke='#2F6FD0' strokeWidth='2' /&gt;&#10;            &lt;line x1='660' y1='240' x2='660' y2='368' stroke='#2F6FD0' strokeWidth='2' /&gt;&#10;&#10;            &lt;rect x='680' y='228' width='520' height='46' rx='10' fill='#FFFFFF' stroke='#2F6FD0' strokeWidth='2' /&gt;&#10;            &lt;line x1='660' y1='251' x2='680' y2='251' stroke='#2F6FD0' strokeWidth='2' /&gt;&#10;            &lt;text x='700' y='257' fontFamily='Source Han Sans SC' fontSize='18' fill='#123A78' fontWeight='bold'&gt;0 笔&lt;/text&gt;&#10;            &lt;text x='760' y='257' fontFamily='Source Han Sans SC' fontSize='18' fill='#4A5568'&gt;引导补充信息&lt;/text&gt;&#10;&#10;            &lt;rect x='680' y='284' width='520' height='46' rx='10' fill='#FFFFFF' stroke='#2F6FD0' strokeWidth='2' /&gt;&#10;            &lt;line x1='660' y1='307' x2='680' y2='307' stroke='#2F6FD0' strokeWidth='2' /&gt;&#10;            &lt;text x='700' y='313' fontFamily='Source Han Sans SC' fontSize='18' fill='#123A78' fontWeight='bold'&gt;1 笔&lt;/text&gt;&#10;            &lt;text x='760' y='313' fontFamily='Source Han Sans SC' fontSize='18' fill='#4A5568'&gt;展示商品，必要时再确认一次&lt;/text&gt;&#10;&#10;            &lt;rect x='680' y='340' width='520' height='46' rx='10' fill='#123A78' /&gt;&#10;            &lt;line x1='660' y1='363' x2='680' y2='363' stroke='#123A78' strokeWidth='2' /&gt;&#10;            &lt;text x='700' y='369' fontFamily='Source Han Sans SC' fontSize='18' fill='#FFFFFF' fontWeight='bold'&gt;多笔&lt;/text&gt;&#10;            &lt;text x='760' y='369' fontFamily='Source Han Sans SC' fontSize='18' fill='#E9F0FA'&gt;让用户选择，不擅自决定&lt;/text&gt;&#10;&#10;            &lt;line x1='340' y1='284' x2='340' y2='304' stroke='#2F6FD0' strokeWidth='2' /&gt;&#10;            &lt;path d='M340 304 L334 294 L346 294 Z' fill='#2F6FD0' /&gt;&#10;&#10;            &lt;rect x='60' y='306' width='560' height='52' rx='10' fill='#FFFFFF' stroke='#2F6FD0' strokeWidth='2' /&gt;&#10;            &lt;text x='340' y='339' textAnchor='middle' fontFamily='Source Han Sans SC' fontSize='20' fill='#123A78' fontWeight='bold'&gt;确认目标订单&lt;/text&gt;&#10;            &lt;line x1='340' y1='358' x2='340' y2='380' stroke='#2F6FD0' strokeWidth='2' /&gt;&#10;            &lt;path d='M340 380 L334 370 L346 370 Z' fill='#2F6FD0' /&gt;&#10;&#10;            &lt;rect x='60' y='382' width='560' height='52' rx='10' fill='#FFFFFF' stroke='#2F6FD0' strokeWidth='2' /&gt;&#10;            &lt;text x='340' y='415' textAnchor='middle' fontFamily='Source Han Sans SC' fontSize='20' fill='#123A78' fontWeight='bold'&gt;查询订单详情及物流&lt;/text&gt;&#10;            &lt;line x1='340' y1='434' x2='340' y2='456' stroke='#2F6FD0' strokeWidth='2' /&gt;&#10;            &lt;path d='M340 456 L334 446 L346 446 Z' fill='#2F6FD0' /&gt;&#10;&#10;            &lt;rect x='60' y='458' width='560' height='52' rx='10' fill='#F7F9FC' stroke='#8B97A8' strokeWidth='2' /&gt;&#10;            &lt;text x='340' y='491' textAnchor='middle' fontFamily='Source Han Sans SC' fontSize='20' fill='#4A5568' fontWeight='bold'&gt;检查返回结果 → 展示物流信息与后续操作&lt;/text&gt;&#10;&#10;            &lt;text x='60' y='528' fontFamily='Source Han Sans SC' fontSize='15' fill='#8B97A8'&gt;不要急着记住所有节点，接下来我们沿着一段实际对话，把每一步拆开看&lt;/text&gt;&#10;        &lt;/svg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8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矩形 6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7" name="文本框 606" descr="{&quot;isTemplate&quot;:true,&quot;type&quot;:&quot;text&quot;}"/>
          <p:cNvSpPr txBox="1"/>
          <p:nvPr/>
        </p:nvSpPr>
        <p:spPr>
          <a:xfrm>
            <a:off x="381000" y="266700"/>
            <a:ext cx="3238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第三节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订单查询工作流</a:t>
            </a:r>
            <a:endParaRPr/>
          </a:p>
        </p:txBody>
      </p:sp>
      <p:sp>
        <p:nvSpPr>
          <p:cNvPr id="608" name="文本框 607" descr="{&quot;isTemplate&quot;:true,&quot;type&quot;:&quot;text&quot;}"/>
          <p:cNvSpPr txBox="1"/>
          <p:nvPr/>
        </p:nvSpPr>
        <p:spPr>
          <a:xfrm>
            <a:off x="381000" y="504825"/>
            <a:ext cx="32385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展开订单查询子工作流</a:t>
            </a:r>
            <a:endParaRPr/>
          </a:p>
        </p:txBody>
      </p:sp>
      <p:sp>
        <p:nvSpPr>
          <p:cNvPr id="609" name="矩形 608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10" name="图形 60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1095375"/>
            <a:ext cx="11430000" cy="5086350"/>
          </a:xfrm>
          <a:prstGeom prst="rect">
            <a:avLst/>
          </a:prstGeom>
          <a:ln/>
        </p:spPr>
      </p:pic>
      <p:sp>
        <p:nvSpPr>
          <p:cNvPr id="611" name="任意形状 610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2" name="文本框 611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613" name="文本框 612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28 / 42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三节 · 订单查询工作流&lt;/Text&gt;&#10;            &lt;Text style={{ fontSize: 34, fontWeight: '600', color: '#123A78', marginTop: 8, lineHeight: 1.25 }}&gt;先检查已有信息，再谈调用&lt;/Text&gt;&#10;        &lt;/Box&gt;&#10;        &lt;Box style={{ width: 96, height: 3, background: '#2F6FD0', marginTop: 58 }} /&gt;&#10;    &lt;/Box&gt;&#10;    &lt;Box style={{ height: 540, marginTop: 8, flexDirection: 'row', gap: 32 }}&gt;&#10;        &lt;Box style={{ width: 640, height: 540, justifyContent: 'space-between' }}&gt;&#10;            &lt;Box style={{ flexDirection: 'row', alignItems: 'center', gap: 12 }}&gt;&#10;                &lt;Box style={{ width: 8, height: 26, background: '#123A78', borderRadius: 3 }} /&gt;&#10;                &lt;Text style={{ fontSize: 22, fontWeight: '600', color: '#123A78' }}&gt;进入流程时，系统可能已经知道&lt;/Text&gt;&#10;            &lt;/Box&gt;&#10;            &lt;CodeBlock&#10;                code={`{&#10;  &quot;current_task&quot;: &quot;order_query&quot;,&#10;  &quot;user_message&quot;: &quot;上周买的耳机怎么还没到？&quot;,&#10;  &quot;order_id&quot;: null,&#10;  &quot;product_keyword&quot;: &quot;耳机&quot;,&#10;  &quot;time_expression&quot;: &quot;上周&quot;&#10;}`}&#10;                language='json'&#10;                theme='github-light'&#10;                width={640}&#10;                fontSize={18}&#10;                macHeader={false}&#10;            /&gt;&#10;            &lt;Box style={{ background: '#FFFFFF', border: '1px solid #D6DCE5', borderRadius: 10, padding: '14px 18px', gap: 8 }}&gt;&#10;                &lt;Box style={{ flexDirection: 'row', alignItems: 'flex-start', gap: 10 }}&gt;&#10;                    &lt;Text style={{ fontSize: 18, color: '#2F6FD0', fontFamily: 'JetBrains Mono' }}&gt;·&lt;/Text&gt;&#10;                    &lt;Text style={{ fontSize: 18, color: '#1A2230', lineHeight: 1.45, flex: 1 }}&gt;order_id 为空：还没有确认订单&lt;/Text&gt;&#10;                &lt;/Box&gt;&#10;                &lt;Box style={{ flexDirection: 'row', alignItems: 'flex-start', gap: 10 }}&gt;&#10;                    &lt;Text style={{ fontSize: 18, color: '#2F6FD0', fontFamily: 'JetBrains Mono' }}&gt;·&lt;/Text&gt;&#10;                    &lt;Text style={{ fontSize: 18, color: '#1A2230', lineHeight: 1.45, flex: 1 }}&gt;「耳机」「上周」是查询线索，不是最终订单标识&lt;/Text&gt;&#10;                &lt;/Box&gt;&#10;                &lt;Box style={{ flexDirection: 'row', alignItems: 'flex-start', gap: 10 }}&gt;&#10;                    &lt;Text style={{ fontSize: 18, color: '#2F6FD0', fontFamily: 'JetBrains Mono' }}&gt;·&lt;/Text&gt;&#10;                    &lt;Text style={{ fontSize: 18, color: '#1A2230', lineHeight: 1.45, flex: 1 }}&gt;当前用户身份由登录系统传入，不由这段自然语言决定&lt;/Text&gt;&#10;                &lt;/Box&gt;&#10;            &lt;/Box&gt;&#10;            &lt;Box style={{ background: '#E9F0FA', borderRadius: 10, padding: '14px 18px', borderLeft: '5px solid #123A78' }}&gt;&#10;                &lt;Text style={{ fontSize: 19, color: '#123A78', lineHeight: 1.5 }}&gt;&#10;                    如果前面已经确认过订单，就&lt;span style={{ fontWeight: 'bold' }}&gt;优先复用&lt;/span&gt;，而不是再次让用户选择一次。&#10;                &lt;/Text&gt;&#10;            &lt;/Box&gt;&#10;        &lt;/Box&gt;&#10;        &lt;Box style={{ flex: 1, height: 540, justifyContent: 'space-between' }}&gt;&#10;            &lt;Box style={{ flexDirection: 'row', alignItems: 'center', gap: 12 }}&gt;&#10;                &lt;Box style={{ width: 8, height: 26, background: '#2F6FD0', borderRadius: 3 }} /&gt;&#10;                &lt;Text style={{ fontSize: 22, fontWeight: '600', color: '#123A78' }}&gt;教学查询工具可以设计为&lt;/Text&gt;&#10;            &lt;/Box&gt;&#10;            &lt;Box style={{ background: '#F7F9FC', border: '1px solid #D6DCE5', borderRadius: 10, padding: '16px 18px', gap: 10 }}&gt;&#10;                &lt;Box style={{ gap: 4 }}&gt;&#10;                    &lt;Text style={{ fontSize: 17, color: '#8B97A8', letterSpacing: 1 }}&gt;工具&lt;/Text&gt;&#10;                    &lt;Text style={{ fontSize: 19, color: '#123A78', fontWeight: 'bold', lineHeight: 1.4 }}&gt;查询当前用户的订单&lt;/Text&gt;&#10;                &lt;/Box&gt;&#10;                &lt;Box style={{ gap: 4 }}&gt;&#10;                    &lt;Text style={{ fontSize: 17, color: '#8B97A8', letterSpacing: 1 }}&gt;输入&lt;/Text&gt;&#10;                    &lt;Text style={{ fontSize: 18, color: '#1A2230', lineHeight: 1.4 }}&gt;商品关键词、查询时间范围&lt;/Text&gt;&#10;                &lt;/Box&gt;&#10;                &lt;Box style={{ gap: 4 }}&gt;&#10;                    &lt;Text style={{ fontSize: 17, color: '#8B97A8', letterSpacing: 1 }}&gt;身份&lt;/Text&gt;&#10;                    &lt;Text style={{ fontSize: 18, color: '#1A2230', lineHeight: 1.4 }}&gt;由服务端登录状态确定&lt;/Text&gt;&#10;                &lt;/Box&gt;&#10;                &lt;Box style={{ gap: 4 }}&gt;&#10;                    &lt;Text style={{ fontSize: 17, color: '#8B97A8', letterSpacing: 1 }}&gt;输出&lt;/Text&gt;&#10;                    &lt;Text style={{ fontSize: 18, color: '#1A2230', lineHeight: 1.4 }}&gt;候选订单列表：每笔的编号、商品、规格、下单时间和状态&lt;/Text&gt;&#10;                &lt;/Box&gt;&#10;            &lt;/Box&gt;&#10;            &lt;Box style={{ background: '#FFFFFF', border: '1px solid #D6DCE5', borderRadius: 10, padding: '14px 18px' }}&gt;&#10;                &lt;Text style={{ fontSize: 18, color: '#1A2230', lineHeight: 1.5 }}&gt;&#10;                    模型可以帮助理解「耳机」「上周」这些查询条件；但&lt;span style={{ fontWeight: 'bold' }}&gt;真正的订单筛选与访问权限检查，需要由系统完成&lt;/span&gt;。&#10;                &lt;/Text&gt;&#10;            &lt;/Box&gt;&#10;            &lt;Box style={{ background: '#FDF2F0', borderRadius: 10, padding: '14px 18px', borderLeft: '5px solid #C0392B' }}&gt;&#10;                &lt;Text style={{ fontSize: 18, color: '#C0392B', lineHeight: 1.5, fontWeight: 'bold' }}&gt;&#10;                    红线：不能仅凭一个订单号，就允许查询其他人的订单。&#10;                &lt;/Text&gt;&#10;            &lt;/Box&gt;&#10;            &lt;Box style={{ background: '#123A78', borderRadius: 10, padding: '14px 18px' }}&gt;&#10;                &lt;Text style={{ fontSize: 18, color: '#FFFFFF', lineHeight: 1.5 }}&gt;&#10;                    也不需要把整个订单数据库都发给模型再让它自己找 —— 更合理的是：&lt;span style={{ fontWeight: 'bold' }}&gt;查询工具先返回当前用户有权查看的相关记录&lt;/span&gt;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9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矩形 6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6" name="文本框 615" descr="{&quot;isTemplate&quot;:true,&quot;type&quot;:&quot;text&quot;}"/>
          <p:cNvSpPr txBox="1"/>
          <p:nvPr/>
        </p:nvSpPr>
        <p:spPr>
          <a:xfrm>
            <a:off x="381000" y="266700"/>
            <a:ext cx="3886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第三节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订单查询工作流</a:t>
            </a:r>
            <a:endParaRPr/>
          </a:p>
        </p:txBody>
      </p:sp>
      <p:sp>
        <p:nvSpPr>
          <p:cNvPr id="617" name="文本框 616" descr="{&quot;isTemplate&quot;:true,&quot;type&quot;:&quot;text&quot;}"/>
          <p:cNvSpPr txBox="1"/>
          <p:nvPr/>
        </p:nvSpPr>
        <p:spPr>
          <a:xfrm>
            <a:off x="381000" y="504825"/>
            <a:ext cx="3886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先检查已有信息，再谈调用</a:t>
            </a:r>
            <a:endParaRPr/>
          </a:p>
        </p:txBody>
      </p:sp>
      <p:sp>
        <p:nvSpPr>
          <p:cNvPr id="618" name="矩形 617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9" name="圆角矩形 618"/>
          <p:cNvSpPr/>
          <p:nvPr/>
        </p:nvSpPr>
        <p:spPr>
          <a:xfrm>
            <a:off x="381000" y="1076325"/>
            <a:ext cx="76200" cy="247650"/>
          </a:xfrm>
          <a:prstGeom prst="roundRect">
            <a:avLst>
              <a:gd name="adj" fmla="val 375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0" name="文本框 619" descr="{&quot;isTemplate&quot;:true,&quot;type&quot;:&quot;text&quot;}"/>
          <p:cNvSpPr txBox="1"/>
          <p:nvPr/>
        </p:nvSpPr>
        <p:spPr>
          <a:xfrm>
            <a:off x="571500" y="1066800"/>
            <a:ext cx="2933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进入流程时，系统可能已经知道</a:t>
            </a:r>
            <a:endParaRPr/>
          </a:p>
        </p:txBody>
      </p:sp>
      <p:sp>
        <p:nvSpPr>
          <p:cNvPr id="621" name="圆角矩形 620"/>
          <p:cNvSpPr/>
          <p:nvPr/>
        </p:nvSpPr>
        <p:spPr>
          <a:xfrm>
            <a:off x="381000" y="4057650"/>
            <a:ext cx="609600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2" name="文本框 621" descr="{&quot;isTemplate&quot;:true,&quot;type&quot;:&quot;text&quot;}"/>
          <p:cNvSpPr txBox="1"/>
          <p:nvPr/>
        </p:nvSpPr>
        <p:spPr>
          <a:xfrm>
            <a:off x="552450" y="419100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2F6FD0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623" name="文本框 622" descr="{&quot;isTemplate&quot;:true,&quot;type&quot;:&quot;text&quot;}"/>
          <p:cNvSpPr txBox="1"/>
          <p:nvPr/>
        </p:nvSpPr>
        <p:spPr>
          <a:xfrm>
            <a:off x="704850" y="4191000"/>
            <a:ext cx="5600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order_id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为空：还没有确认订单</a:t>
            </a:r>
            <a:endParaRPr/>
          </a:p>
        </p:txBody>
      </p:sp>
      <p:sp>
        <p:nvSpPr>
          <p:cNvPr id="624" name="文本框 623" descr="{&quot;isTemplate&quot;:true,&quot;type&quot;:&quot;text&quot;}"/>
          <p:cNvSpPr txBox="1"/>
          <p:nvPr/>
        </p:nvSpPr>
        <p:spPr>
          <a:xfrm>
            <a:off x="552450" y="457200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2F6FD0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625" name="文本框 624" descr="{&quot;isTemplate&quot;:true,&quot;type&quot;:&quot;text&quot;}"/>
          <p:cNvSpPr txBox="1"/>
          <p:nvPr/>
        </p:nvSpPr>
        <p:spPr>
          <a:xfrm>
            <a:off x="704850" y="4572000"/>
            <a:ext cx="5600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「耳机」「上周」是查询线索，不是最终订单标识</a:t>
            </a:r>
            <a:endParaRPr/>
          </a:p>
        </p:txBody>
      </p:sp>
      <p:sp>
        <p:nvSpPr>
          <p:cNvPr id="626" name="文本框 625" descr="{&quot;isTemplate&quot;:true,&quot;type&quot;:&quot;text&quot;}"/>
          <p:cNvSpPr txBox="1"/>
          <p:nvPr/>
        </p:nvSpPr>
        <p:spPr>
          <a:xfrm>
            <a:off x="552450" y="495300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2F6FD0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627" name="文本框 626" descr="{&quot;isTemplate&quot;:true,&quot;type&quot;:&quot;text&quot;}"/>
          <p:cNvSpPr txBox="1"/>
          <p:nvPr/>
        </p:nvSpPr>
        <p:spPr>
          <a:xfrm>
            <a:off x="704850" y="4953000"/>
            <a:ext cx="5600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当前用户身份由登录系统传入，不由这段自然语言决定</a:t>
            </a:r>
            <a:endParaRPr/>
          </a:p>
        </p:txBody>
      </p:sp>
      <p:sp>
        <p:nvSpPr>
          <p:cNvPr id="628" name="圆角矩形 627"/>
          <p:cNvSpPr/>
          <p:nvPr/>
        </p:nvSpPr>
        <p:spPr>
          <a:xfrm>
            <a:off x="428625" y="5610225"/>
            <a:ext cx="6096000" cy="600075"/>
          </a:xfrm>
          <a:prstGeom prst="roundRect">
            <a:avLst>
              <a:gd name="adj" fmla="val 15873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9" name="任意形状 628"/>
          <p:cNvSpPr/>
          <p:nvPr/>
        </p:nvSpPr>
        <p:spPr>
          <a:xfrm>
            <a:off x="428625" y="5610225"/>
            <a:ext cx="6096000" cy="600075"/>
          </a:xfrm>
          <a:custGeom>
            <a:avLst/>
            <a:gdLst/>
            <a:ahLst/>
            <a:cxnLst/>
            <a:rect l="0" t="0" r="0" b="0"/>
            <a:pathLst>
              <a:path w="640" h="6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58"/>
                </a:lnTo>
                <a:cubicBezTo>
                  <a:pt x="5" y="60"/>
                  <a:pt x="7" y="62"/>
                  <a:pt x="9" y="63"/>
                </a:cubicBezTo>
                <a:cubicBezTo>
                  <a:pt x="4" y="62"/>
                  <a:pt x="0" y="58"/>
                  <a:pt x="0" y="5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0" name="文本框 629" descr="{&quot;isTemplate&quot;:true,&quot;type&quot;:&quot;text&quot;}"/>
          <p:cNvSpPr txBox="1"/>
          <p:nvPr/>
        </p:nvSpPr>
        <p:spPr>
          <a:xfrm>
            <a:off x="600075" y="5743575"/>
            <a:ext cx="57054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123A78"/>
                </a:solidFill>
                <a:latin typeface="Microsoft YaHei"/>
                <a:ea typeface="Microsoft YaHei"/>
              </a:rPr>
              <a:t>如果前面已经确认过订单，就</a:t>
            </a: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优先复用</a:t>
            </a:r>
            <a:r>
              <a:rPr lang="zh-CN" sz="1425">
                <a:solidFill>
                  <a:srgbClr val="123A78"/>
                </a:solidFill>
                <a:latin typeface="Microsoft YaHei"/>
                <a:ea typeface="Microsoft YaHei"/>
              </a:rPr>
              <a:t>，而不是再次让用户选择一次。</a:t>
            </a:r>
            <a:endParaRPr/>
          </a:p>
        </p:txBody>
      </p:sp>
      <p:sp>
        <p:nvSpPr>
          <p:cNvPr id="631" name="圆角矩形 630"/>
          <p:cNvSpPr/>
          <p:nvPr/>
        </p:nvSpPr>
        <p:spPr>
          <a:xfrm>
            <a:off x="6781800" y="1076325"/>
            <a:ext cx="76200" cy="247650"/>
          </a:xfrm>
          <a:prstGeom prst="roundRect">
            <a:avLst>
              <a:gd name="adj" fmla="val 375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2" name="文本框 631" descr="{&quot;isTemplate&quot;:true,&quot;type&quot;:&quot;text&quot;}"/>
          <p:cNvSpPr txBox="1"/>
          <p:nvPr/>
        </p:nvSpPr>
        <p:spPr>
          <a:xfrm>
            <a:off x="6972300" y="1066800"/>
            <a:ext cx="23050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教学查询工具可以设计为</a:t>
            </a:r>
            <a:endParaRPr/>
          </a:p>
        </p:txBody>
      </p:sp>
      <p:sp>
        <p:nvSpPr>
          <p:cNvPr id="633" name="圆角矩形 632"/>
          <p:cNvSpPr/>
          <p:nvPr/>
        </p:nvSpPr>
        <p:spPr>
          <a:xfrm>
            <a:off x="6781800" y="1323975"/>
            <a:ext cx="5029200" cy="2733675"/>
          </a:xfrm>
          <a:prstGeom prst="roundRect">
            <a:avLst>
              <a:gd name="adj" fmla="val 348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4" name="文本框 633" descr="{&quot;isTemplate&quot;:true,&quot;type&quot;:&quot;text&quot;}"/>
          <p:cNvSpPr txBox="1"/>
          <p:nvPr/>
        </p:nvSpPr>
        <p:spPr>
          <a:xfrm>
            <a:off x="6953250" y="1476375"/>
            <a:ext cx="4686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8B97A8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635" name="文本框 634" descr="{&quot;isTemplate&quot;:true,&quot;type&quot;:&quot;text&quot;}"/>
          <p:cNvSpPr txBox="1"/>
          <p:nvPr/>
        </p:nvSpPr>
        <p:spPr>
          <a:xfrm>
            <a:off x="6953250" y="1714500"/>
            <a:ext cx="46863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查询当前用户的订单</a:t>
            </a:r>
            <a:endParaRPr/>
          </a:p>
        </p:txBody>
      </p:sp>
      <p:sp>
        <p:nvSpPr>
          <p:cNvPr id="636" name="文本框 635" descr="{&quot;isTemplate&quot;:true,&quot;type&quot;:&quot;text&quot;}"/>
          <p:cNvSpPr txBox="1"/>
          <p:nvPr/>
        </p:nvSpPr>
        <p:spPr>
          <a:xfrm>
            <a:off x="6953250" y="2114550"/>
            <a:ext cx="4686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8B97A8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637" name="文本框 636" descr="{&quot;isTemplate&quot;:true,&quot;type&quot;:&quot;text&quot;}"/>
          <p:cNvSpPr txBox="1"/>
          <p:nvPr/>
        </p:nvSpPr>
        <p:spPr>
          <a:xfrm>
            <a:off x="6953250" y="2352675"/>
            <a:ext cx="46863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商品关键词、查询时间范围</a:t>
            </a:r>
            <a:endParaRPr/>
          </a:p>
        </p:txBody>
      </p:sp>
      <p:sp>
        <p:nvSpPr>
          <p:cNvPr id="638" name="文本框 637" descr="{&quot;isTemplate&quot;:true,&quot;type&quot;:&quot;text&quot;}"/>
          <p:cNvSpPr txBox="1"/>
          <p:nvPr/>
        </p:nvSpPr>
        <p:spPr>
          <a:xfrm>
            <a:off x="6953250" y="2743200"/>
            <a:ext cx="4686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8B97A8"/>
                </a:solidFill>
                <a:latin typeface="Microsoft YaHei"/>
                <a:ea typeface="Microsoft YaHei"/>
              </a:rPr>
              <a:t>身份</a:t>
            </a:r>
            <a:endParaRPr/>
          </a:p>
        </p:txBody>
      </p:sp>
      <p:sp>
        <p:nvSpPr>
          <p:cNvPr id="639" name="文本框 638" descr="{&quot;isTemplate&quot;:true,&quot;type&quot;:&quot;text&quot;}"/>
          <p:cNvSpPr txBox="1"/>
          <p:nvPr/>
        </p:nvSpPr>
        <p:spPr>
          <a:xfrm>
            <a:off x="6953250" y="2981325"/>
            <a:ext cx="46863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由服务端登录状态确定</a:t>
            </a:r>
            <a:endParaRPr/>
          </a:p>
        </p:txBody>
      </p:sp>
      <p:sp>
        <p:nvSpPr>
          <p:cNvPr id="640" name="文本框 639" descr="{&quot;isTemplate&quot;:true,&quot;type&quot;:&quot;text&quot;}"/>
          <p:cNvSpPr txBox="1"/>
          <p:nvPr/>
        </p:nvSpPr>
        <p:spPr>
          <a:xfrm>
            <a:off x="6953250" y="3371850"/>
            <a:ext cx="4686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8B97A8"/>
                </a:solidFill>
                <a:latin typeface="Microsoft YaHei"/>
                <a:ea typeface="Microsoft YaHei"/>
              </a:rPr>
              <a:t>输出</a:t>
            </a:r>
            <a:endParaRPr/>
          </a:p>
        </p:txBody>
      </p:sp>
      <p:sp>
        <p:nvSpPr>
          <p:cNvPr id="641" name="文本框 640" descr="{&quot;isTemplate&quot;:true,&quot;type&quot;:&quot;text&quot;}"/>
          <p:cNvSpPr txBox="1"/>
          <p:nvPr/>
        </p:nvSpPr>
        <p:spPr>
          <a:xfrm>
            <a:off x="6953250" y="3609975"/>
            <a:ext cx="46863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候选订单列表：每笔的编号、商品、规格、下单时间和状态</a:t>
            </a:r>
            <a:endParaRPr/>
          </a:p>
        </p:txBody>
      </p:sp>
      <p:sp>
        <p:nvSpPr>
          <p:cNvPr id="642" name="圆角矩形 641"/>
          <p:cNvSpPr/>
          <p:nvPr/>
        </p:nvSpPr>
        <p:spPr>
          <a:xfrm>
            <a:off x="6781800" y="4057650"/>
            <a:ext cx="5029200" cy="885825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3" name="文本框 642" descr="{&quot;isTemplate&quot;:true,&quot;type&quot;:&quot;text&quot;}"/>
          <p:cNvSpPr txBox="1"/>
          <p:nvPr/>
        </p:nvSpPr>
        <p:spPr>
          <a:xfrm>
            <a:off x="6953250" y="4191000"/>
            <a:ext cx="46863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模型可以帮助理解「耳机」「上周」这些查询条件；但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真正的订单筛选与访问权限检查，需要由系统完成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44" name="圆角矩形 643"/>
          <p:cNvSpPr/>
          <p:nvPr/>
        </p:nvSpPr>
        <p:spPr>
          <a:xfrm>
            <a:off x="6829425" y="4943475"/>
            <a:ext cx="5029200" cy="581025"/>
          </a:xfrm>
          <a:prstGeom prst="roundRect">
            <a:avLst>
              <a:gd name="adj" fmla="val 16393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5" name="任意形状 644"/>
          <p:cNvSpPr/>
          <p:nvPr/>
        </p:nvSpPr>
        <p:spPr>
          <a:xfrm>
            <a:off x="6829425" y="4943475"/>
            <a:ext cx="5029200" cy="581025"/>
          </a:xfrm>
          <a:custGeom>
            <a:avLst/>
            <a:gdLst/>
            <a:ahLst/>
            <a:cxnLst/>
            <a:rect l="0" t="0" r="0" b="0"/>
            <a:pathLst>
              <a:path w="528" h="61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56"/>
                </a:lnTo>
                <a:cubicBezTo>
                  <a:pt x="5" y="58"/>
                  <a:pt x="7" y="60"/>
                  <a:pt x="9" y="61"/>
                </a:cubicBezTo>
                <a:cubicBezTo>
                  <a:pt x="4" y="60"/>
                  <a:pt x="0" y="56"/>
                  <a:pt x="0" y="5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6" name="文本框 645" descr="{&quot;isTemplate&quot;:true,&quot;type&quot;:&quot;text&quot;}"/>
          <p:cNvSpPr txBox="1"/>
          <p:nvPr/>
        </p:nvSpPr>
        <p:spPr>
          <a:xfrm>
            <a:off x="7000875" y="5076825"/>
            <a:ext cx="463867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C0392B"/>
                </a:solidFill>
                <a:latin typeface="Microsoft YaHei"/>
                <a:ea typeface="Microsoft YaHei"/>
              </a:rPr>
              <a:t>红线：不能仅凭一个订单号，就允许查询其他人的订单。</a:t>
            </a:r>
            <a:endParaRPr/>
          </a:p>
        </p:txBody>
      </p:sp>
      <p:sp>
        <p:nvSpPr>
          <p:cNvPr id="647" name="圆角矩形 646"/>
          <p:cNvSpPr/>
          <p:nvPr/>
        </p:nvSpPr>
        <p:spPr>
          <a:xfrm>
            <a:off x="6781800" y="5524500"/>
            <a:ext cx="5029200" cy="885825"/>
          </a:xfrm>
          <a:prstGeom prst="roundRect">
            <a:avLst>
              <a:gd name="adj" fmla="val 10753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8" name="文本框 647" descr="{&quot;isTemplate&quot;:true,&quot;type&quot;:&quot;text&quot;}"/>
          <p:cNvSpPr txBox="1"/>
          <p:nvPr/>
        </p:nvSpPr>
        <p:spPr>
          <a:xfrm>
            <a:off x="6953250" y="5657850"/>
            <a:ext cx="46863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也不需要把整个订单数据库都发给模型再让它自己找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 ——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更合理的是：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查询工具先返回当前用户有权查看的相关记录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49" name="任意形状 648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0" name="文本框 649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651" name="文本框 650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29 / 42</a:t>
            </a:r>
            <a:endParaRPr/>
          </a:p>
        </p:txBody>
      </p:sp>
      <p:sp>
        <p:nvSpPr>
          <p:cNvPr id="652" name="圆角矩形 651"/>
          <p:cNvSpPr/>
          <p:nvPr/>
        </p:nvSpPr>
        <p:spPr>
          <a:xfrm>
            <a:off x="381000" y="1543050"/>
            <a:ext cx="6096000" cy="2286000"/>
          </a:xfrm>
          <a:prstGeom prst="roundRect">
            <a:avLst>
              <a:gd name="adj" fmla="val 333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3" name="文本框 652"/>
          <p:cNvSpPr txBox="1"/>
          <p:nvPr/>
        </p:nvSpPr>
        <p:spPr>
          <a:xfrm>
            <a:off x="533400" y="1676400"/>
            <a:ext cx="5791200" cy="2019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{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"current_task"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"order_query"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"user_message"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"上周买的耳机怎么还没到？"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"order_id"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null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"product_keyword"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"耳机"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"time_expression"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"上周"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三节 · 订单查询工作流&lt;/Text&gt;&#10;            &lt;Text style={{ fontSize: 34, fontWeight: '600', color: '#123A78', marginTop: 8, lineHeight: 1.25 }}&gt;多笔候选时，让用户来选&lt;/Text&gt;&#10;        &lt;/Box&gt;&#10;        &lt;Box style={{ width: 96, height: 3, background: '#2F6FD0', marginTop: 58 }} /&gt;&#10;    &lt;/Box&gt;&#10;    &lt;Box style={{ height: 540, marginTop: 8, flexDirection: 'row', gap: 40 }}&gt;&#10;        &lt;Box style={{ width: 620, height: 540, justifyContent: 'space-between' }}&gt;&#10;            &lt;Box style={{ background: '#F7F9FC', borderRadius: 10, padding: '14px 18px', borderLeft: '5px solid #8B97A8' }}&gt;&#10;                &lt;Text style={{ fontSize: 17, color: '#8B97A8', letterSpacing: 1 }}&gt;助手返回&lt;/Text&gt;&#10;                &lt;Text style={{ fontSize: 20, color: '#1A2230', marginTop: 8, lineHeight: 1.5 }}&gt;&#10;                    查询到您近期有两笔耳机订单，请选择需要查询的一笔：&#10;                &lt;/Text&gt;&#10;            &lt;/Box&gt;&#10;            &lt;Box style={{ flexDirection: 'row', gap: 14 }}&gt;&#10;                &lt;Box style={{ flex: 1, background: '#FFFFFF', border: '2px solid #2F6FD0', borderRadius: 10, padding: '14px 16px' }}&gt;&#10;                    &lt;Box style={{ width: 32, height: 32, background: '#123A78', borderRadius: 8, justifyContent: 'center', alignItems: 'center' }}&gt;&#10;                        &lt;Text style={{ fontSize: 17, color: '#FFFFFF', fontWeight: 'bold', fontFamily: 'JetBrains Mono' }}&gt;1&lt;/Text&gt;&#10;                    &lt;/Box&gt;&#10;                    &lt;Text style={{ fontSize: 19, color: '#123A78', fontWeight: 'bold', marginTop: 10, lineHeight: 1.4 }}&gt;AirLite 蓝牙耳机&lt;/Text&gt;&#10;                    &lt;Text style={{ fontSize: 17, color: '#4A5568', marginTop: 6, lineHeight: 1.4 }}&gt;白色 · 9 月 1 日下单&lt;/Text&gt;&#10;                &lt;/Box&gt;&#10;                &lt;Box style={{ flex: 1, background: '#123A78', borderRadius: 10, padding: '14px 16px' }}&gt;&#10;                    &lt;Box style={{ width: 32, height: 32, background: '#FFFFFF', borderRadius: 8, justifyContent: 'center', alignItems: 'center' }}&gt;&#10;                        &lt;Text style={{ fontSize: 17, color: '#123A78', fontWeight: 'bold', fontFamily: 'JetBrains Mono' }}&gt;2&lt;/Text&gt;&#10;                    &lt;/Box&gt;&#10;                    &lt;Text style={{ fontSize: 19, color: '#FFFFFF', fontWeight: 'bold', marginTop: 10, lineHeight: 1.4 }}&gt;AirLite Pro 降噪耳机&lt;/Text&gt;&#10;                    &lt;Text style={{ fontSize: 17, color: '#E9F0FA', marginTop: 6, lineHeight: 1.4 }}&gt;黑色 · 9 月 3 日下单&lt;/Text&gt;&#10;                &lt;/Box&gt;&#10;            &lt;/Box&gt;&#10;            &lt;Box style={{ background: '#E9F0FA', borderRadius: 10, padding: '14px 18px', borderLeft: '5px solid #123A78' }}&gt;&#10;                &lt;Text style={{ fontSize: 19, color: '#123A78', lineHeight: 1.5 }}&gt;&#10;                    产品上可以做成&lt;span style={{ fontWeight: 'bold' }}&gt;可点击的订单卡片&lt;/span&gt;，而不只是两行文字：至少要让用户看清商品、规格和时间，必要时展示缩略图及部分订单编号。&#10;                &lt;/Text&gt;&#10;            &lt;/Box&gt;&#10;            &lt;Box style={{ background: '#FFFFFF', border: '1px solid #D6DCE5', borderRadius: 10, padding: '14px 18px' }}&gt;&#10;                &lt;Text style={{ fontSize: 18, color: '#1A2230', lineHeight: 1.5 }}&gt;&#10;                    系统要记住：刚才展示了哪些候选订单，以及它们在页面上的对应关系 —— 否则「第二个」就无从映射。&#10;                &lt;/Text&gt;&#10;            &lt;/Box&gt;&#10;        &lt;/Box&gt;&#10;        &lt;Box style={{ flex: 1, height: 540, justifyContent: 'space-between' }}&gt;&#10;            &lt;Box&gt;&#10;                &lt;Text style={{ fontSize: 21, fontWeight: '600', color: '#123A78' }}&gt;用户说「第二个」，系统怎样接住&lt;/Text&gt;&#10;                &lt;Box style={{ width: 90, height: 3, background: '#2F6FD0', marginTop: 10 }} /&gt;&#10;            &lt;/Box&gt;&#10;            &lt;Box style={{ background: '#FFFFFF', border: '1px solid #D6DCE5', borderRadius: 10, padding: '12px 14px' }}&gt;&#10;                &lt;Text style={{ fontSize: 16, color: '#8B97A8', marginBottom: 8 }}&gt;状态怎么更新（前 → 后）&lt;/Text&gt;&#10;                &lt;CodeBlock&#10;                    code={`&quot;current_task&quot;: &quot;order_query&quot;&#10;&quot;waiting_for&quot;: &quot;order_selection&quot;   →  null&#10;&quot;candidate_order_ids&quot;: [&quot;DEMO-101&quot;, &quot;DEMO-102&quot;]&#10;&quot;selected_order_id&quot;:  null  →  &quot;DEMO-102&quot;`}&#10;                    language='text'&#10;                    theme='github-light'&#10;                    width={470}&#10;                    fontSize={16}&#10;                    macHeader={false}&#10;                /&gt;&#10;            &lt;/Box&gt;&#10;            &lt;Box style={{ background: '#123A78', borderRadius: 10, padding: '14px 18px' }}&gt;&#10;                &lt;Text style={{ fontSize: 18, color: '#FFFFFF', lineHeight: 1.5 }}&gt;&#10;                    如果用户点击就能准确表达选择，&lt;span style={{ fontWeight: 'bold' }}&gt;就不必要求所有操作都通过自由文本完成&lt;/span&gt;：大模型理解「第二个」，卡片提供更直接的操作，两者可以同时存在。&#10;                &lt;/Text&gt;&#10;            &lt;/Box&gt;&#10;            &lt;Box style={{ background: '#FFFFFF', border: '1px solid #D6DCE5', borderRadius: 10, padding: '12px 16px' }}&gt;&#10;                &lt;Text style={{ fontSize: 17, color: '#4A5568', lineHeight: 1.45 }}&gt;&#10;                    点击卡片：前端直接提交对应订单 ID；输入「第二个」：结合刚才展示的列表映射到 DEMO-102。&#10;                &lt;/Text&gt;&#10;            &lt;/Box&gt;&#10;            &lt;Box style={{ background: '#FDF2F0', borderRadius: 10, padding: '12px 16px', borderLeft: '5px solid #C0392B' }}&gt;&#10;                &lt;Text style={{ fontSize: 17, color: '#C0392B', lineHeight: 1.45 }}&gt;&#10;                    如果候选列表已经变化，或用户说「之前那个」无法确定指向，就应该再次确认，&lt;span style={{ fontWeight: 'bold' }}&gt;不能随意映射&lt;/span&gt;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0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矩形 6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0" name="文本框 669" descr="{&quot;isTemplate&quot;:true,&quot;type&quot;:&quot;text&quot;}"/>
          <p:cNvSpPr txBox="1"/>
          <p:nvPr/>
        </p:nvSpPr>
        <p:spPr>
          <a:xfrm>
            <a:off x="381000" y="266700"/>
            <a:ext cx="35623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第三节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订单查询工作流</a:t>
            </a:r>
            <a:endParaRPr/>
          </a:p>
        </p:txBody>
      </p:sp>
      <p:sp>
        <p:nvSpPr>
          <p:cNvPr id="671" name="文本框 670" descr="{&quot;isTemplate&quot;:true,&quot;type&quot;:&quot;text&quot;}"/>
          <p:cNvSpPr txBox="1"/>
          <p:nvPr/>
        </p:nvSpPr>
        <p:spPr>
          <a:xfrm>
            <a:off x="381000" y="504825"/>
            <a:ext cx="35623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多笔候选时，让用户来选</a:t>
            </a:r>
            <a:endParaRPr/>
          </a:p>
        </p:txBody>
      </p:sp>
      <p:sp>
        <p:nvSpPr>
          <p:cNvPr id="672" name="矩形 671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3" name="圆角矩形 672"/>
          <p:cNvSpPr/>
          <p:nvPr/>
        </p:nvSpPr>
        <p:spPr>
          <a:xfrm>
            <a:off x="428625" y="1066800"/>
            <a:ext cx="5905500" cy="885825"/>
          </a:xfrm>
          <a:prstGeom prst="roundRect">
            <a:avLst>
              <a:gd name="adj" fmla="val 10753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4" name="任意形状 673"/>
          <p:cNvSpPr/>
          <p:nvPr/>
        </p:nvSpPr>
        <p:spPr>
          <a:xfrm>
            <a:off x="428625" y="1066800"/>
            <a:ext cx="5905500" cy="885825"/>
          </a:xfrm>
          <a:custGeom>
            <a:avLst/>
            <a:gdLst/>
            <a:ahLst/>
            <a:cxnLst/>
            <a:rect l="0" t="0" r="0" b="0"/>
            <a:pathLst>
              <a:path w="620" h="9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88"/>
                </a:lnTo>
                <a:cubicBezTo>
                  <a:pt x="5" y="90"/>
                  <a:pt x="7" y="92"/>
                  <a:pt x="9" y="93"/>
                </a:cubicBezTo>
                <a:cubicBezTo>
                  <a:pt x="4" y="92"/>
                  <a:pt x="0" y="88"/>
                  <a:pt x="0" y="8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5" name="文本框 674" descr="{&quot;isTemplate&quot;:true,&quot;type&quot;:&quot;text&quot;}"/>
          <p:cNvSpPr txBox="1"/>
          <p:nvPr/>
        </p:nvSpPr>
        <p:spPr>
          <a:xfrm>
            <a:off x="600075" y="1200150"/>
            <a:ext cx="55149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8B97A8"/>
                </a:solidFill>
                <a:latin typeface="Microsoft YaHei"/>
                <a:ea typeface="Microsoft YaHei"/>
              </a:rPr>
              <a:t>助手返回</a:t>
            </a:r>
            <a:endParaRPr/>
          </a:p>
        </p:txBody>
      </p:sp>
      <p:sp>
        <p:nvSpPr>
          <p:cNvPr id="676" name="文本框 675" descr="{&quot;isTemplate&quot;:true,&quot;type&quot;:&quot;text&quot;}"/>
          <p:cNvSpPr txBox="1"/>
          <p:nvPr/>
        </p:nvSpPr>
        <p:spPr>
          <a:xfrm>
            <a:off x="600075" y="1476375"/>
            <a:ext cx="55149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查询到您近期有两笔耳机订单，请选择需要查询的一笔：</a:t>
            </a:r>
            <a:endParaRPr/>
          </a:p>
        </p:txBody>
      </p:sp>
      <p:sp>
        <p:nvSpPr>
          <p:cNvPr id="677" name="圆角矩形 676"/>
          <p:cNvSpPr/>
          <p:nvPr/>
        </p:nvSpPr>
        <p:spPr>
          <a:xfrm>
            <a:off x="381000" y="2333625"/>
            <a:ext cx="2886075" cy="1304925"/>
          </a:xfrm>
          <a:prstGeom prst="roundRect">
            <a:avLst>
              <a:gd name="adj" fmla="val 7299"/>
            </a:avLst>
          </a:prstGeom>
          <a:solidFill>
            <a:srgbClr val="FFFFFF"/>
          </a:solidFill>
          <a:ln w="25400">
            <a:solidFill>
              <a:srgbClr val="2F6F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8" name="圆角矩形 677"/>
          <p:cNvSpPr/>
          <p:nvPr/>
        </p:nvSpPr>
        <p:spPr>
          <a:xfrm>
            <a:off x="533400" y="24669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9" name="文本框 678" descr="{&quot;isTemplate&quot;:true,&quot;type&quot;:&quot;text&quot;}"/>
          <p:cNvSpPr txBox="1"/>
          <p:nvPr/>
        </p:nvSpPr>
        <p:spPr>
          <a:xfrm>
            <a:off x="638175" y="2524125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680" name="文本框 679" descr="{&quot;isTemplate&quot;:true,&quot;type&quot;:&quot;text&quot;}"/>
          <p:cNvSpPr txBox="1"/>
          <p:nvPr/>
        </p:nvSpPr>
        <p:spPr>
          <a:xfrm>
            <a:off x="533400" y="2867025"/>
            <a:ext cx="25812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123A78"/>
                </a:solidFill>
                <a:latin typeface="Microsoft YaHei"/>
                <a:ea typeface="Microsoft YaHei"/>
              </a:rPr>
              <a:t>AirLite </a:t>
            </a: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蓝牙耳机</a:t>
            </a:r>
            <a:endParaRPr/>
          </a:p>
        </p:txBody>
      </p:sp>
      <p:sp>
        <p:nvSpPr>
          <p:cNvPr id="681" name="文本框 680" descr="{&quot;isTemplate&quot;:true,&quot;type&quot;:&quot;text&quot;}"/>
          <p:cNvSpPr txBox="1"/>
          <p:nvPr/>
        </p:nvSpPr>
        <p:spPr>
          <a:xfrm>
            <a:off x="533400" y="3228975"/>
            <a:ext cx="25812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白色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· 9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1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日下单</a:t>
            </a:r>
            <a:endParaRPr/>
          </a:p>
        </p:txBody>
      </p:sp>
      <p:sp>
        <p:nvSpPr>
          <p:cNvPr id="682" name="圆角矩形 681"/>
          <p:cNvSpPr/>
          <p:nvPr/>
        </p:nvSpPr>
        <p:spPr>
          <a:xfrm>
            <a:off x="3400425" y="2333625"/>
            <a:ext cx="2886075" cy="1304925"/>
          </a:xfrm>
          <a:prstGeom prst="roundRect">
            <a:avLst>
              <a:gd name="adj" fmla="val 729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3" name="圆角矩形 682"/>
          <p:cNvSpPr/>
          <p:nvPr/>
        </p:nvSpPr>
        <p:spPr>
          <a:xfrm>
            <a:off x="3552825" y="24669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4" name="文本框 683" descr="{&quot;isTemplate&quot;:true,&quot;type&quot;:&quot;text&quot;}"/>
          <p:cNvSpPr txBox="1"/>
          <p:nvPr/>
        </p:nvSpPr>
        <p:spPr>
          <a:xfrm>
            <a:off x="3657600" y="2524125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23A78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685" name="文本框 684" descr="{&quot;isTemplate&quot;:true,&quot;type&quot;:&quot;text&quot;}"/>
          <p:cNvSpPr txBox="1"/>
          <p:nvPr/>
        </p:nvSpPr>
        <p:spPr>
          <a:xfrm>
            <a:off x="3552825" y="2867025"/>
            <a:ext cx="25812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AirLite Pro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降噪耳机</a:t>
            </a:r>
            <a:endParaRPr/>
          </a:p>
        </p:txBody>
      </p:sp>
      <p:sp>
        <p:nvSpPr>
          <p:cNvPr id="686" name="文本框 685" descr="{&quot;isTemplate&quot;:true,&quot;type&quot;:&quot;text&quot;}"/>
          <p:cNvSpPr txBox="1"/>
          <p:nvPr/>
        </p:nvSpPr>
        <p:spPr>
          <a:xfrm>
            <a:off x="3552825" y="3228975"/>
            <a:ext cx="25812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275">
                <a:solidFill>
                  <a:srgbClr val="E9F0FA"/>
                </a:solidFill>
                <a:latin typeface="Microsoft YaHei"/>
                <a:ea typeface="Microsoft YaHei"/>
              </a:rPr>
              <a:t>黑色</a:t>
            </a:r>
            <a:r>
              <a:rPr lang="en-US" sz="1275">
                <a:solidFill>
                  <a:srgbClr val="E9F0FA"/>
                </a:solidFill>
                <a:latin typeface="Microsoft YaHei"/>
                <a:ea typeface="Microsoft YaHei"/>
              </a:rPr>
              <a:t> · 9 </a:t>
            </a:r>
            <a:r>
              <a:rPr lang="zh-CN" sz="1275">
                <a:solidFill>
                  <a:srgbClr val="E9F0FA"/>
                </a:solidFill>
                <a:latin typeface="Microsoft YaHei"/>
                <a:ea typeface="Microsoft YaHei"/>
              </a:rPr>
              <a:t>月</a:t>
            </a:r>
            <a:r>
              <a:rPr lang="en-US" sz="1275">
                <a:solidFill>
                  <a:srgbClr val="E9F0FA"/>
                </a:solidFill>
                <a:latin typeface="Microsoft YaHei"/>
                <a:ea typeface="Microsoft YaHei"/>
              </a:rPr>
              <a:t> 3 </a:t>
            </a:r>
            <a:r>
              <a:rPr lang="zh-CN" sz="1275">
                <a:solidFill>
                  <a:srgbClr val="E9F0FA"/>
                </a:solidFill>
                <a:latin typeface="Microsoft YaHei"/>
                <a:ea typeface="Microsoft YaHei"/>
              </a:rPr>
              <a:t>日下单</a:t>
            </a:r>
            <a:endParaRPr/>
          </a:p>
        </p:txBody>
      </p:sp>
      <p:sp>
        <p:nvSpPr>
          <p:cNvPr id="687" name="圆角矩形 686"/>
          <p:cNvSpPr/>
          <p:nvPr/>
        </p:nvSpPr>
        <p:spPr>
          <a:xfrm>
            <a:off x="428625" y="4019550"/>
            <a:ext cx="5905500" cy="923925"/>
          </a:xfrm>
          <a:prstGeom prst="roundRect">
            <a:avLst>
              <a:gd name="adj" fmla="val 10309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8" name="任意形状 687"/>
          <p:cNvSpPr/>
          <p:nvPr/>
        </p:nvSpPr>
        <p:spPr>
          <a:xfrm>
            <a:off x="428625" y="4019550"/>
            <a:ext cx="5905500" cy="923925"/>
          </a:xfrm>
          <a:custGeom>
            <a:avLst/>
            <a:gdLst/>
            <a:ahLst/>
            <a:cxnLst/>
            <a:rect l="0" t="0" r="0" b="0"/>
            <a:pathLst>
              <a:path w="620" h="97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2"/>
                </a:lnTo>
                <a:cubicBezTo>
                  <a:pt x="5" y="94"/>
                  <a:pt x="7" y="96"/>
                  <a:pt x="9" y="97"/>
                </a:cubicBezTo>
                <a:cubicBezTo>
                  <a:pt x="4" y="96"/>
                  <a:pt x="0" y="92"/>
                  <a:pt x="0" y="8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9" name="文本框 688" descr="{&quot;isTemplate&quot;:true,&quot;type&quot;:&quot;text&quot;}"/>
          <p:cNvSpPr txBox="1"/>
          <p:nvPr/>
        </p:nvSpPr>
        <p:spPr>
          <a:xfrm>
            <a:off x="600075" y="4152900"/>
            <a:ext cx="5514975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123A78"/>
                </a:solidFill>
                <a:latin typeface="Microsoft YaHei"/>
                <a:ea typeface="Microsoft YaHei"/>
              </a:rPr>
              <a:t>产品上可以做成</a:t>
            </a: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可点击的订单卡片</a:t>
            </a:r>
            <a:r>
              <a:rPr lang="zh-CN" sz="1425">
                <a:solidFill>
                  <a:srgbClr val="123A78"/>
                </a:solidFill>
                <a:latin typeface="Microsoft YaHei"/>
                <a:ea typeface="Microsoft YaHei"/>
              </a:rPr>
              <a:t>，而不只是两行文字：至少要让用户看清商品、规格和时间，必要时展示缩略图及部分订单编号。</a:t>
            </a:r>
            <a:endParaRPr/>
          </a:p>
        </p:txBody>
      </p:sp>
      <p:sp>
        <p:nvSpPr>
          <p:cNvPr id="690" name="圆角矩形 689"/>
          <p:cNvSpPr/>
          <p:nvPr/>
        </p:nvSpPr>
        <p:spPr>
          <a:xfrm>
            <a:off x="381000" y="5324475"/>
            <a:ext cx="5905500" cy="885825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1" name="文本框 690" descr="{&quot;isTemplate&quot;:true,&quot;type&quot;:&quot;text&quot;}"/>
          <p:cNvSpPr txBox="1"/>
          <p:nvPr/>
        </p:nvSpPr>
        <p:spPr>
          <a:xfrm>
            <a:off x="552450" y="5457825"/>
            <a:ext cx="55626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系统要记住：刚才展示了哪些候选订单，以及它们在页面上的对应关系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——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否则「第二个」就无从映射。</a:t>
            </a:r>
            <a:endParaRPr/>
          </a:p>
        </p:txBody>
      </p:sp>
      <p:sp>
        <p:nvSpPr>
          <p:cNvPr id="692" name="文本框 691" descr="{&quot;isTemplate&quot;:true,&quot;type&quot;:&quot;text&quot;}"/>
          <p:cNvSpPr txBox="1"/>
          <p:nvPr/>
        </p:nvSpPr>
        <p:spPr>
          <a:xfrm>
            <a:off x="6667500" y="1066800"/>
            <a:ext cx="51435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3A78"/>
                </a:solidFill>
                <a:latin typeface="Microsoft YaHei"/>
                <a:ea typeface="Microsoft YaHei"/>
              </a:rPr>
              <a:t>用户说「第二个」，系统怎样接住</a:t>
            </a:r>
            <a:endParaRPr/>
          </a:p>
        </p:txBody>
      </p:sp>
      <p:sp>
        <p:nvSpPr>
          <p:cNvPr id="693" name="矩形 692"/>
          <p:cNvSpPr/>
          <p:nvPr/>
        </p:nvSpPr>
        <p:spPr>
          <a:xfrm>
            <a:off x="6667500" y="1409700"/>
            <a:ext cx="85725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4" name="圆角矩形 693"/>
          <p:cNvSpPr/>
          <p:nvPr/>
        </p:nvSpPr>
        <p:spPr>
          <a:xfrm>
            <a:off x="6667500" y="1485900"/>
            <a:ext cx="5143500" cy="179070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5" name="文本框 694" descr="{&quot;isTemplate&quot;:true,&quot;type&quot;:&quot;text&quot;}"/>
          <p:cNvSpPr txBox="1"/>
          <p:nvPr/>
        </p:nvSpPr>
        <p:spPr>
          <a:xfrm>
            <a:off x="6800850" y="1600200"/>
            <a:ext cx="4876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状态怎么更新（前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后）</a:t>
            </a:r>
            <a:endParaRPr/>
          </a:p>
        </p:txBody>
      </p:sp>
      <p:sp>
        <p:nvSpPr>
          <p:cNvPr id="696" name="圆角矩形 695"/>
          <p:cNvSpPr/>
          <p:nvPr/>
        </p:nvSpPr>
        <p:spPr>
          <a:xfrm>
            <a:off x="6667500" y="3324225"/>
            <a:ext cx="5143500" cy="1200150"/>
          </a:xfrm>
          <a:prstGeom prst="roundRect">
            <a:avLst>
              <a:gd name="adj" fmla="val 793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7" name="文本框 696" descr="{&quot;isTemplate&quot;:true,&quot;type&quot;:&quot;text&quot;}"/>
          <p:cNvSpPr txBox="1"/>
          <p:nvPr/>
        </p:nvSpPr>
        <p:spPr>
          <a:xfrm>
            <a:off x="6838950" y="3457575"/>
            <a:ext cx="48006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如果用户点击就能准确表达选择，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就不必要求所有操作都通过自由文本完成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：大模型理解「第二个」，卡片提供更直接的操作，两者可以同时存在。</a:t>
            </a:r>
            <a:endParaRPr/>
          </a:p>
        </p:txBody>
      </p:sp>
      <p:sp>
        <p:nvSpPr>
          <p:cNvPr id="698" name="圆角矩形 697"/>
          <p:cNvSpPr/>
          <p:nvPr/>
        </p:nvSpPr>
        <p:spPr>
          <a:xfrm>
            <a:off x="6667500" y="4562475"/>
            <a:ext cx="51435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9" name="文本框 698" descr="{&quot;isTemplate&quot;:true,&quot;type&quot;:&quot;text&quot;}"/>
          <p:cNvSpPr txBox="1"/>
          <p:nvPr/>
        </p:nvSpPr>
        <p:spPr>
          <a:xfrm>
            <a:off x="6819900" y="4676775"/>
            <a:ext cx="483870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点击卡片：前端直接提交对应订单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ID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；输入「第二个」：结合刚才展示的列表映射到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DEMO-102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00" name="圆角矩形 699"/>
          <p:cNvSpPr/>
          <p:nvPr/>
        </p:nvSpPr>
        <p:spPr>
          <a:xfrm>
            <a:off x="6715125" y="5410200"/>
            <a:ext cx="5143500" cy="800100"/>
          </a:xfrm>
          <a:prstGeom prst="roundRect">
            <a:avLst>
              <a:gd name="adj" fmla="val 11905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1" name="任意形状 700"/>
          <p:cNvSpPr/>
          <p:nvPr/>
        </p:nvSpPr>
        <p:spPr>
          <a:xfrm>
            <a:off x="6715125" y="5410200"/>
            <a:ext cx="5143500" cy="800100"/>
          </a:xfrm>
          <a:custGeom>
            <a:avLst/>
            <a:gdLst/>
            <a:ahLst/>
            <a:cxnLst/>
            <a:rect l="0" t="0" r="0" b="0"/>
            <a:pathLst>
              <a:path w="540" h="8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79"/>
                </a:lnTo>
                <a:cubicBezTo>
                  <a:pt x="5" y="81"/>
                  <a:pt x="7" y="83"/>
                  <a:pt x="9" y="84"/>
                </a:cubicBezTo>
                <a:cubicBezTo>
                  <a:pt x="4" y="83"/>
                  <a:pt x="0" y="79"/>
                  <a:pt x="0" y="7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2" name="文本框 701" descr="{&quot;isTemplate&quot;:true,&quot;type&quot;:&quot;text&quot;}"/>
          <p:cNvSpPr txBox="1"/>
          <p:nvPr/>
        </p:nvSpPr>
        <p:spPr>
          <a:xfrm>
            <a:off x="6867525" y="5524500"/>
            <a:ext cx="479107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如果候选列表已经变化，或用户说「之前那个」无法确定指向，就应该再次确认，</a:t>
            </a:r>
            <a:r>
              <a:rPr lang="zh-CN" sz="1275" b="1">
                <a:solidFill>
                  <a:srgbClr val="C0392B"/>
                </a:solidFill>
                <a:latin typeface="Microsoft YaHei"/>
                <a:ea typeface="Microsoft YaHei"/>
              </a:rPr>
              <a:t>不能随意映射</a:t>
            </a: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03" name="任意形状 702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4" name="文本框 703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705" name="文本框 704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30 / 42</a:t>
            </a:r>
            <a:endParaRPr/>
          </a:p>
        </p:txBody>
      </p:sp>
      <p:sp>
        <p:nvSpPr>
          <p:cNvPr id="706" name="圆角矩形 705"/>
          <p:cNvSpPr/>
          <p:nvPr/>
        </p:nvSpPr>
        <p:spPr>
          <a:xfrm>
            <a:off x="6800850" y="1866900"/>
            <a:ext cx="4876800" cy="1295400"/>
          </a:xfrm>
          <a:prstGeom prst="roundRect">
            <a:avLst>
              <a:gd name="adj" fmla="val 5882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7" name="文本框 706"/>
          <p:cNvSpPr txBox="1"/>
          <p:nvPr/>
        </p:nvSpPr>
        <p:spPr>
          <a:xfrm>
            <a:off x="6953250" y="2000250"/>
            <a:ext cx="457200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</a:t>
            </a:r>
            <a:r>
              <a:rPr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current_task</a:t>
            </a: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": "</a:t>
            </a:r>
            <a:r>
              <a:rPr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order_query</a:t>
            </a: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</a:t>
            </a:r>
            <a:r>
              <a:rPr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waiting_for</a:t>
            </a: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": "</a:t>
            </a:r>
            <a:r>
              <a:rPr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order_selection</a:t>
            </a: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   →  null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</a:t>
            </a:r>
            <a:r>
              <a:rPr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candidate_order_ids</a:t>
            </a: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": ["DEMO-101", "DEMO-102"]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</a:t>
            </a:r>
            <a:r>
              <a:rPr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selected_order_id</a:t>
            </a: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":  null  →  "DEMO-102"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三节 · 订单查询工作流&lt;/Text&gt;&#10;            &lt;Text style={{ fontSize: 34, fontWeight: '600', color: '#123A78', marginTop: 8, lineHeight: 1.25 }}&gt;查到以后，怎样把结果说清楚&lt;/Text&gt;&#10;        &lt;/Box&gt;&#10;        &lt;Box style={{ width: 96, height: 3, background: '#2F6FD0', marginTop: 58 }} /&gt;&#10;    &lt;/Box&gt;&#10;    &lt;Box style={{ height: 540, marginTop: 8, flexDirection: 'row', gap: 32 }}&gt;&#10;        &lt;Box style={{ width: 620, height: 540, justifyContent: 'space-between' }}&gt;&#10;            &lt;Box style={{ flexDirection: 'row', alignItems: 'center', gap: 12 }}&gt;&#10;                &lt;Box style={{ width: 8, height: 26, background: '#123A78', borderRadius: 3 }} /&gt;&#10;                &lt;Text style={{ fontSize: 21, fontWeight: '600', color: '#123A78' }}&gt;教学返回结果可以是&lt;/Text&gt;&#10;            &lt;/Box&gt;&#10;            &lt;CodeBlock&#10;                code={`{&#10;  &quot;order_id&quot;: &quot;DEMO-102&quot;,&#10;  &quot;product_name&quot;: &quot;AirLite Pro 降噪耳机&quot;,&#10;  &quot;order_status&quot;: &quot;shipped&quot;,&#10;  &quot;latest_logistics_status&quot;: &quot;运输中&quot;,&#10;  &quot;latest_logistics_event&quot;: &quot;快件已到达目的地分拨中心&quot;,&#10;  &quot;event_time&quot;: &quot;2026-09-08 18:20&quot;,&#10;  &quot;estimated_delivery_time&quot;: null&#10;}`}&#10;                language='json'&#10;                theme='github-light'&#10;                width={620}&#10;                fontSize={17}&#10;                macHeader={false}&#10;            /&gt;&#10;            &lt;Box style={{ background: '#F7F9FC', borderRadius: 8, padding: '12px 16px', gap: 6 }}&gt;&#10;                &lt;Text style={{ fontSize: 18, color: '#1A2230', lineHeight: 1.45 }}&gt;· 订单已经发货，最新记录是到达目的地分拨中心&lt;/Text&gt;&#10;                &lt;Text style={{ fontSize: 18, color: '#1A2230', lineHeight: 1.45 }}&gt;· 这条记录发生在 9 月 8 日&lt;/Text&gt;&#10;                &lt;Text style={{ fontSize: 18, color: '#C0392B', lineHeight: 1.45 }}&gt;· 系统没有提供预计送达时间&lt;/Text&gt;&#10;            &lt;/Box&gt;&#10;            &lt;Box style={{ background: '#E9F0FA', borderRadius: 10, padding: '14px 18px', borderLeft: '5px solid #123A78' }}&gt;&#10;                &lt;Text style={{ fontSize: 17, color: '#2F6FD0', marginBottom: 6 }}&gt;可以这样回复用户&lt;/Text&gt;&#10;                &lt;Text style={{ fontSize: 18, color: '#123A78', lineHeight: 1.5 }}&gt;&#10;                    您查询的是 9 月 3 日购买的 AirLite Pro 降噪耳机。订单已发货，最新记录：9 月 8 日 18:20 到达目的地分拨中心。当前结果未提供预计送达时间，您可以查看完整物流记录。&#10;                &lt;/Text&gt;&#10;            &lt;/Box&gt;&#10;        &lt;/Box&gt;&#10;        &lt;Box style={{ flex: 1, height: 540, justifyContent: 'space-between' }}&gt;&#10;            &lt;Box style={{ background: '#FFFFFF', border: '1px solid #D6DCE5', borderRadius: 10, padding: '14px 16px' }}&gt;&#10;                &lt;Text style={{ fontSize: 17, color: '#8B97A8', letterSpacing: 1 }}&gt;模板就够了的情况&lt;/Text&gt;&#10;                &lt;Text style={{ fontSize: 18, color: '#1A2230', marginTop: 8, lineHeight: 1.5 }}&gt;&#10;                    商品：{`{product_name}`}　订单状态：{`{order_status}`}&lt;br /&gt;&#10;                    最新物流：{`{latest_logistics_event}`}　更新时间：{`{event_time}`}&#10;                &lt;/Text&gt;&#10;            &lt;/Box&gt;&#10;            &lt;Box style={{ background: '#FFFFFF', border: '1px solid #D6DCE5', borderRadius: 10, padding: '12px 16px', gap: 4 }}&gt;&#10;                &lt;Text style={{ fontSize: 18, color: '#123A78', fontWeight: 'bold' }}&gt;模型更适合承担的是&lt;/Text&gt;&#10;                &lt;Text style={{ fontSize: 18, color: '#1A2230', lineHeight: 1.45 }}&gt;· 结合用户的问题，选择需要解释的信息&lt;/Text&gt;&#10;                &lt;Text style={{ fontSize: 17, color: '#1A2230', lineHeight: 1.4 }}&gt;· 把多个字段组织成容易理解的说明&lt;/Text&gt;&#10;                &lt;Text style={{ fontSize: 17, color: '#1A2230', lineHeight: 1.4 }}&gt;· 承接后续问题&lt;/Text&gt;&#10;            &lt;/Box&gt;&#10;            &lt;Box style={{ background: '#FFFFFF', border: '1px solid #D6DCE5', borderRadius: 10, padding: '12px 14px' }}&gt;&#10;                &lt;Text style={{ fontSize: 16, color: '#8B97A8', marginBottom: 8 }}&gt;给模型的回复约束（示意）&lt;/Text&gt;&#10;                &lt;CodeBlock&#10;                    code={`根据已确认的订单和工具返回结果回答用户。&#10;&#10;- 只能使用工具提供的订单与物流事实&#10;- 没有预计送达时间，不承诺送达日期&#10;- 没有延误原因，不编造原因&#10;- 工具失败或结果为空，不生成成功回复`}&#10;                    language='text'&#10;                    theme='github-light'&#10;                    width={460}&#10;                    fontSize={14}&#10;                    macHeader={false}&#10;                /&gt;&#10;            &lt;/Box&gt;&#10;            &lt;Box style={{ background: '#FDF2F0', borderRadius: 10, padding: '10px 14px', borderLeft: '5px solid #C0392B' }}&gt;&#10;                &lt;Text style={{ fontSize: 16, color: '#C0392B', lineHeight: 1.4 }}&gt;&#10;                    不能自行补「预计明天一定能收到」；也不能把「运输中」编成「由于天气原因延误」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1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矩形 7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0" name="文本框 709" descr="{&quot;isTemplate&quot;:true,&quot;type&quot;:&quot;text&quot;}"/>
          <p:cNvSpPr txBox="1"/>
          <p:nvPr/>
        </p:nvSpPr>
        <p:spPr>
          <a:xfrm>
            <a:off x="381000" y="266700"/>
            <a:ext cx="421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第三节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订单查询工作流</a:t>
            </a:r>
            <a:endParaRPr/>
          </a:p>
        </p:txBody>
      </p:sp>
      <p:sp>
        <p:nvSpPr>
          <p:cNvPr id="711" name="文本框 710" descr="{&quot;isTemplate&quot;:true,&quot;type&quot;:&quot;text&quot;}"/>
          <p:cNvSpPr txBox="1"/>
          <p:nvPr/>
        </p:nvSpPr>
        <p:spPr>
          <a:xfrm>
            <a:off x="381000" y="504825"/>
            <a:ext cx="42100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查到以后，怎样把结果说清楚</a:t>
            </a:r>
            <a:endParaRPr/>
          </a:p>
        </p:txBody>
      </p:sp>
      <p:sp>
        <p:nvSpPr>
          <p:cNvPr id="712" name="矩形 711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3" name="圆角矩形 712"/>
          <p:cNvSpPr/>
          <p:nvPr/>
        </p:nvSpPr>
        <p:spPr>
          <a:xfrm>
            <a:off x="381000" y="1066800"/>
            <a:ext cx="76200" cy="247650"/>
          </a:xfrm>
          <a:prstGeom prst="roundRect">
            <a:avLst>
              <a:gd name="adj" fmla="val 375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4" name="文本框 713" descr="{&quot;isTemplate&quot;:true,&quot;type&quot;:&quot;text&quot;}"/>
          <p:cNvSpPr txBox="1"/>
          <p:nvPr/>
        </p:nvSpPr>
        <p:spPr>
          <a:xfrm>
            <a:off x="571500" y="1066800"/>
            <a:ext cx="18002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3A78"/>
                </a:solidFill>
                <a:latin typeface="Microsoft YaHei"/>
                <a:ea typeface="Microsoft YaHei"/>
              </a:rPr>
              <a:t>教学返回结果可以是</a:t>
            </a:r>
            <a:endParaRPr/>
          </a:p>
        </p:txBody>
      </p:sp>
      <p:sp>
        <p:nvSpPr>
          <p:cNvPr id="715" name="圆角矩形 714"/>
          <p:cNvSpPr/>
          <p:nvPr/>
        </p:nvSpPr>
        <p:spPr>
          <a:xfrm>
            <a:off x="381000" y="4038600"/>
            <a:ext cx="5905500" cy="1257300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6" name="文本框 715" descr="{&quot;isTemplate&quot;:true,&quot;type&quot;:&quot;text&quot;}"/>
          <p:cNvSpPr txBox="1"/>
          <p:nvPr/>
        </p:nvSpPr>
        <p:spPr>
          <a:xfrm>
            <a:off x="533400" y="4152900"/>
            <a:ext cx="5600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订单已经发货，最新记录是到达目的地分拨中心</a:t>
            </a:r>
            <a:endParaRPr/>
          </a:p>
        </p:txBody>
      </p:sp>
      <p:sp>
        <p:nvSpPr>
          <p:cNvPr id="717" name="文本框 716" descr="{&quot;isTemplate&quot;:true,&quot;type&quot;:&quot;text&quot;}"/>
          <p:cNvSpPr txBox="1"/>
          <p:nvPr/>
        </p:nvSpPr>
        <p:spPr>
          <a:xfrm>
            <a:off x="533400" y="4514850"/>
            <a:ext cx="5600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这条记录发生在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9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月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8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718" name="文本框 717" descr="{&quot;isTemplate&quot;:true,&quot;type&quot;:&quot;text&quot;}"/>
          <p:cNvSpPr txBox="1"/>
          <p:nvPr/>
        </p:nvSpPr>
        <p:spPr>
          <a:xfrm>
            <a:off x="533400" y="4876800"/>
            <a:ext cx="5600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350">
                <a:solidFill>
                  <a:srgbClr val="C0392B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系统没有提供预计送达时间</a:t>
            </a:r>
            <a:endParaRPr/>
          </a:p>
        </p:txBody>
      </p:sp>
      <p:sp>
        <p:nvSpPr>
          <p:cNvPr id="719" name="圆角矩形 718"/>
          <p:cNvSpPr/>
          <p:nvPr/>
        </p:nvSpPr>
        <p:spPr>
          <a:xfrm>
            <a:off x="428625" y="5295900"/>
            <a:ext cx="5905500" cy="1457325"/>
          </a:xfrm>
          <a:prstGeom prst="roundRect">
            <a:avLst>
              <a:gd name="adj" fmla="val 6536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0" name="任意形状 719"/>
          <p:cNvSpPr/>
          <p:nvPr/>
        </p:nvSpPr>
        <p:spPr>
          <a:xfrm>
            <a:off x="428625" y="5295900"/>
            <a:ext cx="5905500" cy="1457325"/>
          </a:xfrm>
          <a:custGeom>
            <a:avLst/>
            <a:gdLst/>
            <a:ahLst/>
            <a:cxnLst/>
            <a:rect l="0" t="0" r="0" b="0"/>
            <a:pathLst>
              <a:path w="620" h="15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48"/>
                </a:lnTo>
                <a:cubicBezTo>
                  <a:pt x="5" y="150"/>
                  <a:pt x="7" y="152"/>
                  <a:pt x="9" y="153"/>
                </a:cubicBezTo>
                <a:cubicBezTo>
                  <a:pt x="4" y="152"/>
                  <a:pt x="0" y="148"/>
                  <a:pt x="0" y="14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1" name="文本框 720" descr="{&quot;isTemplate&quot;:true,&quot;type&quot;:&quot;text&quot;}"/>
          <p:cNvSpPr txBox="1"/>
          <p:nvPr/>
        </p:nvSpPr>
        <p:spPr>
          <a:xfrm>
            <a:off x="600075" y="5429250"/>
            <a:ext cx="55149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可以这样回复用户</a:t>
            </a:r>
            <a:endParaRPr/>
          </a:p>
        </p:txBody>
      </p:sp>
      <p:sp>
        <p:nvSpPr>
          <p:cNvPr id="722" name="文本框 721" descr="{&quot;isTemplate&quot;:true,&quot;type&quot;:&quot;text&quot;}"/>
          <p:cNvSpPr txBox="1"/>
          <p:nvPr/>
        </p:nvSpPr>
        <p:spPr>
          <a:xfrm>
            <a:off x="600075" y="5686425"/>
            <a:ext cx="5514975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您查询的是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9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月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3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日购买的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AirLite Pro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降噪耳机。订单已发货，最新记录：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9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月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8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日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18:20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到达目的地分拨中心。当前结果未提供预计送达时间，您可以查看完整物流记录。</a:t>
            </a:r>
            <a:endParaRPr/>
          </a:p>
        </p:txBody>
      </p:sp>
      <p:sp>
        <p:nvSpPr>
          <p:cNvPr id="723" name="圆角矩形 722"/>
          <p:cNvSpPr/>
          <p:nvPr/>
        </p:nvSpPr>
        <p:spPr>
          <a:xfrm>
            <a:off x="6591300" y="1066800"/>
            <a:ext cx="5219700" cy="116205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4" name="文本框 723" descr="{&quot;isTemplate&quot;:true,&quot;type&quot;:&quot;text&quot;}"/>
          <p:cNvSpPr txBox="1"/>
          <p:nvPr/>
        </p:nvSpPr>
        <p:spPr>
          <a:xfrm>
            <a:off x="6743700" y="1200150"/>
            <a:ext cx="49149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8B97A8"/>
                </a:solidFill>
                <a:latin typeface="Microsoft YaHei"/>
                <a:ea typeface="Microsoft YaHei"/>
              </a:rPr>
              <a:t>模板就够了的情况</a:t>
            </a:r>
            <a:endParaRPr/>
          </a:p>
        </p:txBody>
      </p:sp>
      <p:sp>
        <p:nvSpPr>
          <p:cNvPr id="725" name="文本框 724" descr="{&quot;isTemplate&quot;:true,&quot;type&quot;:&quot;text&quot;}"/>
          <p:cNvSpPr txBox="1"/>
          <p:nvPr/>
        </p:nvSpPr>
        <p:spPr>
          <a:xfrm>
            <a:off x="6743700" y="1476375"/>
            <a:ext cx="4914900" cy="619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商品：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{product_name}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　订单状态：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{order_status}</a:t>
            </a:r>
            <a:endParaRPr/>
          </a:p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最新物流：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{latest_logistics_event}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　更新时间：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{event_time}</a:t>
            </a:r>
            <a:endParaRPr/>
          </a:p>
        </p:txBody>
      </p:sp>
      <p:sp>
        <p:nvSpPr>
          <p:cNvPr id="726" name="圆角矩形 725"/>
          <p:cNvSpPr/>
          <p:nvPr/>
        </p:nvSpPr>
        <p:spPr>
          <a:xfrm>
            <a:off x="6591300" y="2228850"/>
            <a:ext cx="521970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7" name="文本框 726" descr="{&quot;isTemplate&quot;:true,&quot;type&quot;:&quot;text&quot;}"/>
          <p:cNvSpPr txBox="1"/>
          <p:nvPr/>
        </p:nvSpPr>
        <p:spPr>
          <a:xfrm>
            <a:off x="6743700" y="2343150"/>
            <a:ext cx="4914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23A78"/>
                </a:solidFill>
                <a:latin typeface="Microsoft YaHei"/>
                <a:ea typeface="Microsoft YaHei"/>
              </a:rPr>
              <a:t>模型更适合承担的是</a:t>
            </a:r>
            <a:endParaRPr/>
          </a:p>
        </p:txBody>
      </p:sp>
      <p:sp>
        <p:nvSpPr>
          <p:cNvPr id="728" name="文本框 727" descr="{&quot;isTemplate&quot;:true,&quot;type&quot;:&quot;text&quot;}"/>
          <p:cNvSpPr txBox="1"/>
          <p:nvPr/>
        </p:nvSpPr>
        <p:spPr>
          <a:xfrm>
            <a:off x="6743700" y="2590800"/>
            <a:ext cx="4914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结合用户的问题，选择需要解释的信息</a:t>
            </a:r>
            <a:endParaRPr/>
          </a:p>
        </p:txBody>
      </p:sp>
      <p:sp>
        <p:nvSpPr>
          <p:cNvPr id="729" name="文本框 728" descr="{&quot;isTemplate&quot;:true,&quot;type&quot;:&quot;text&quot;}"/>
          <p:cNvSpPr txBox="1"/>
          <p:nvPr/>
        </p:nvSpPr>
        <p:spPr>
          <a:xfrm>
            <a:off x="6743700" y="2933700"/>
            <a:ext cx="49149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把多个字段组织成容易理解的说明</a:t>
            </a:r>
            <a:endParaRPr/>
          </a:p>
        </p:txBody>
      </p:sp>
      <p:sp>
        <p:nvSpPr>
          <p:cNvPr id="730" name="文本框 729" descr="{&quot;isTemplate&quot;:true,&quot;type&quot;:&quot;text&quot;}"/>
          <p:cNvSpPr txBox="1"/>
          <p:nvPr/>
        </p:nvSpPr>
        <p:spPr>
          <a:xfrm>
            <a:off x="6743700" y="3248025"/>
            <a:ext cx="49149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承接后续问题</a:t>
            </a:r>
            <a:endParaRPr/>
          </a:p>
        </p:txBody>
      </p:sp>
      <p:sp>
        <p:nvSpPr>
          <p:cNvPr id="731" name="圆角矩形 730"/>
          <p:cNvSpPr/>
          <p:nvPr/>
        </p:nvSpPr>
        <p:spPr>
          <a:xfrm>
            <a:off x="6591300" y="3638550"/>
            <a:ext cx="5219700" cy="211455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2" name="文本框 731" descr="{&quot;isTemplate&quot;:true,&quot;type&quot;:&quot;text&quot;}"/>
          <p:cNvSpPr txBox="1"/>
          <p:nvPr/>
        </p:nvSpPr>
        <p:spPr>
          <a:xfrm>
            <a:off x="6724650" y="3752850"/>
            <a:ext cx="4953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给模型的回复约束（示意）</a:t>
            </a:r>
            <a:endParaRPr/>
          </a:p>
        </p:txBody>
      </p:sp>
      <p:sp>
        <p:nvSpPr>
          <p:cNvPr id="733" name="圆角矩形 732"/>
          <p:cNvSpPr/>
          <p:nvPr/>
        </p:nvSpPr>
        <p:spPr>
          <a:xfrm>
            <a:off x="6638925" y="5753100"/>
            <a:ext cx="5219700" cy="704850"/>
          </a:xfrm>
          <a:prstGeom prst="roundRect">
            <a:avLst>
              <a:gd name="adj" fmla="val 13514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4" name="任意形状 733"/>
          <p:cNvSpPr/>
          <p:nvPr/>
        </p:nvSpPr>
        <p:spPr>
          <a:xfrm>
            <a:off x="6638925" y="5753100"/>
            <a:ext cx="5219700" cy="704850"/>
          </a:xfrm>
          <a:custGeom>
            <a:avLst/>
            <a:gdLst/>
            <a:ahLst/>
            <a:cxnLst/>
            <a:rect l="0" t="0" r="0" b="0"/>
            <a:pathLst>
              <a:path w="548" h="7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69"/>
                </a:lnTo>
                <a:cubicBezTo>
                  <a:pt x="5" y="71"/>
                  <a:pt x="7" y="73"/>
                  <a:pt x="9" y="74"/>
                </a:cubicBezTo>
                <a:cubicBezTo>
                  <a:pt x="4" y="73"/>
                  <a:pt x="0" y="69"/>
                  <a:pt x="0" y="6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5" name="文本框 734" descr="{&quot;isTemplate&quot;:true,&quot;type&quot;:&quot;text&quot;}"/>
          <p:cNvSpPr txBox="1"/>
          <p:nvPr/>
        </p:nvSpPr>
        <p:spPr>
          <a:xfrm>
            <a:off x="6772275" y="5848350"/>
            <a:ext cx="49053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sz="1200">
                <a:solidFill>
                  <a:srgbClr val="C0392B"/>
                </a:solidFill>
                <a:latin typeface="Microsoft YaHei"/>
                <a:ea typeface="Microsoft YaHei"/>
              </a:rPr>
              <a:t>不能自行补「预计明天一定能收到」；也不能把「运输中」编成「由于天气原因延误」。</a:t>
            </a:r>
            <a:endParaRPr/>
          </a:p>
        </p:txBody>
      </p:sp>
      <p:sp>
        <p:nvSpPr>
          <p:cNvPr id="736" name="任意形状 735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7" name="文本框 736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738" name="文本框 737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31 / 42</a:t>
            </a:r>
            <a:endParaRPr/>
          </a:p>
        </p:txBody>
      </p:sp>
      <p:sp>
        <p:nvSpPr>
          <p:cNvPr id="739" name="圆角矩形 738"/>
          <p:cNvSpPr/>
          <p:nvPr/>
        </p:nvSpPr>
        <p:spPr>
          <a:xfrm>
            <a:off x="381000" y="1314450"/>
            <a:ext cx="5905500" cy="2724150"/>
          </a:xfrm>
          <a:prstGeom prst="roundRect">
            <a:avLst>
              <a:gd name="adj" fmla="val 2797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0" name="文本框 739"/>
          <p:cNvSpPr txBox="1"/>
          <p:nvPr/>
        </p:nvSpPr>
        <p:spPr>
          <a:xfrm>
            <a:off x="533400" y="1447800"/>
            <a:ext cx="5600700" cy="2457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{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"order_id"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32F62"/>
                </a:solidFill>
                <a:latin typeface="Menlo"/>
                <a:ea typeface="Menlo"/>
              </a:rPr>
              <a:t>"DEMO-102"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"product_name"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32F62"/>
                </a:solidFill>
                <a:latin typeface="Menlo"/>
                <a:ea typeface="Menlo"/>
              </a:rPr>
              <a:t>"AirLite Pro 降噪耳机"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"order_status"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32F62"/>
                </a:solidFill>
                <a:latin typeface="Menlo"/>
                <a:ea typeface="Menlo"/>
              </a:rPr>
              <a:t>"shipped"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"latest_logistics_status"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32F62"/>
                </a:solidFill>
                <a:latin typeface="Menlo"/>
                <a:ea typeface="Menlo"/>
              </a:rPr>
              <a:t>"运输中"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"latest_logistics_event"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32F62"/>
                </a:solidFill>
                <a:latin typeface="Menlo"/>
                <a:ea typeface="Menlo"/>
              </a:rPr>
              <a:t>"快件已到达目的地分拨中心"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"event_time"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32F62"/>
                </a:solidFill>
                <a:latin typeface="Menlo"/>
                <a:ea typeface="Menlo"/>
              </a:rPr>
              <a:t>"2026-09-08 18:20"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"estimated_delivery_time"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null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  <p:sp>
        <p:nvSpPr>
          <p:cNvPr id="741" name="圆角矩形 740"/>
          <p:cNvSpPr/>
          <p:nvPr/>
        </p:nvSpPr>
        <p:spPr>
          <a:xfrm>
            <a:off x="6724650" y="4019550"/>
            <a:ext cx="4953000" cy="161925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2" name="文本框 741"/>
          <p:cNvSpPr txBox="1"/>
          <p:nvPr/>
        </p:nvSpPr>
        <p:spPr>
          <a:xfrm>
            <a:off x="6877050" y="4152900"/>
            <a:ext cx="4648200" cy="1352550"/>
          </a:xfrm>
          <a:prstGeom prst="rect">
            <a:avLst/>
          </a:prstGeom>
        </p:spPr>
        <p:txBody>
          <a:bodyPr wrap="square" lIns="0" tIns="0" rIns="0" bIns="0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根据已确认的订单和工具返回结果回答用户。</a:t>
            </a:r>
            <a:endParaRPr/>
          </a:p>
          <a:p>
            <a:pPr>
              <a:lnSpc>
                <a:spcPct val="140000"/>
              </a:lnSpc>
            </a:pP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- 只能使用工具提供的订单与物流事实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- 没有预计送达时间，不承诺送达日期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- 没有延误原因，不编造原因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- 工具失败或结果为空，不生成成功回复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三节 · 订单查询工作流&lt;/Text&gt;&#10;            &lt;Text style={{ fontSize: 34, fontWeight: '600', color: '#123A78', marginTop: 8, lineHeight: 1.25 }}&gt;三种容易被混淆的查询结果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244, border: '1px solid #D6DCE5', borderRadius: 10, overflow: 'hidden' }}&gt;&#10;            &lt;Table&#10;                style={{ width: '100%', height: '100%' }}&#10;                defaultTextStyle={{ fontSize: 19, textAlign: 'left', color: '#1A2230' }}&#10;                defaultCellStyle={{&#10;                    border: {&#10;                        left: { width: 1, color: '#E5E7EB' },&#10;                        right: { width: 1, color: '#E5E7EB' },&#10;                        top: { width: 1, color: '#E5E7EB' },&#10;                        bottom: { width: 1, color: '#E5E7EB' },&#10;                    },&#10;                }}&#10;                cells={[&#10;                    [&#10;                        { text: '情况', textStyle: { bold: true, color: '#FFFFFF', fontSize: 19 }, cellStyle: { background: { color: '#123A78' } } },&#10;                        { text: '实际含义', textStyle: { bold: true, color: '#FFFFFF', fontSize: 19 }, cellStyle: { background: { color: '#123A78' } } },&#10;                        { text: '应怎样处理', textStyle: { bold: true, color: '#FFFFFF', fontSize: 19 }, cellStyle: { background: { color: '#123A78' } } },&#10;                    ],&#10;                    [&#10;                        { text: '没有找到订单', textStyle: { bold: true, color: '#123A78' }, cellStyle: { background: { color: '#F7F9FC' } } },&#10;                        { text: '查询成功，但没有匹配记录', cellStyle: { background: { color: '#F7F9FC' } } },&#10;                        { text: '引导调整时间、确认账号或补充订单信息', cellStyle: { background: { color: '#F7F9FC' } } },&#10;                    ],&#10;                    [&#10;                        { text: '订单尚未发货', textStyle: { bold: true, color: '#123A78' } },&#10;                        { text: '已找到订单，当前没有物流轨迹' },&#10;                        { text: '如实展示待发货状态，按可用信息提供后续入口' },&#10;                    ],&#10;                    [&#10;                        { text: '查询工具失败', textStyle: { bold: true, color: '#C0392B' }, cellStyle: { background: { color: '#FDF2F0' } } },&#10;                        { text: '系统没有成功获取数据', cellStyle: { background: { color: '#FDF2F0' } } },&#10;                        { text: '告知暂时无法查询，提供重试或人工处理', cellStyle: { background: { color: '#FDF2F0' } } },&#10;                    ],&#10;                ]}&#10;            /&gt;&#10;        &lt;/Box&gt;&#10;        &lt;Box style={{ height: 210, flexDirection: 'row', gap: 20 }}&gt;&#10;            &lt;Box style={{ flex: 1, background: '#FFFFFF', border: '1px solid #D6DCE5', borderRadius: 10, padding: '14px 18px', justifyContent: 'space-between' }}&gt;&#10;                &lt;Box style={{ flexDirection: 'row', alignItems: 'center', gap: 10 }}&gt;&#10;                    &lt;Box style={{ width: 30, height: 30, background: '#123A78', borderRadius: 8, justifyContent: 'center', alignItems: 'center' }}&gt;&#10;                        &lt;Text style={{ fontSize: 15, color: '#FFFFFF', fontWeight: 'bold', fontFamily: 'JetBrains Mono' }}&gt;1&lt;/Text&gt;&#10;                    &lt;/Box&gt;&#10;                    &lt;Text style={{ fontSize: 20, fontWeight: '600', color: '#123A78' }}&gt;没有找到订单&lt;/Text&gt;&#10;                &lt;/Box&gt;&#10;                &lt;Text style={{ fontSize: 17, color: '#1A2230', lineHeight: 1.45 }}&gt;&#10;                    可以说：当前账号下没有找到符合这些条件的订单，您可以确认购买时间，或从订单列表中选择。&#10;                &lt;/Text&gt;&#10;                &lt;Text style={{ fontSize: 17, color: '#C0392B', lineHeight: 1.45 }}&gt;&#10;                    不能说：「您没有买过这个商品」—— 只是当前查询没匹配，不能排除账号或时间条件有误。&#10;                &lt;/Text&gt;&#10;            &lt;/Box&gt;&#10;            &lt;Box style={{ flex: 1, background: '#FFFFFF', border: '1px solid #D6DCE5', borderRadius: 10, padding: '14px 18px', justifyContent: 'space-between' }}&gt;&#10;                &lt;Box style={{ flexDirection: 'row', alignItems: 'center', gap: 10 }}&gt;&#10;                    &lt;Box style={{ width: 30, height: 30, background: '#123A78', borderRadius: 8, justifyContent: 'center', alignItems: 'center' }}&gt;&#10;                        &lt;Text style={{ fontSize: 15, color: '#FFFFFF', fontWeight: 'bold', fontFamily: 'JetBrains Mono' }}&gt;2&lt;/Text&gt;&#10;                    &lt;/Box&gt;&#10;                    &lt;Text style={{ fontSize: 20, fontWeight: '600', color: '#123A78' }}&gt;订单还没发货&lt;/Text&gt;&#10;                &lt;/Box&gt;&#10;                &lt;Text style={{ fontSize: 17, color: '#1A2230', lineHeight: 1.45 }}&gt;&#10;                    可以说：已找到这笔订单，目前状态为待发货，暂时没有物流记录。&#10;                &lt;/Text&gt;&#10;                &lt;Text style={{ fontSize: 17, color: '#C0392B', lineHeight: 1.45 }}&gt;&#10;                    不能说：「今天一定发」—— 系统没有明确的发货时间，就不能替它承诺。&#10;                &lt;/Text&gt;&#10;            &lt;/Box&gt;&#10;            &lt;Box style={{ flex: 1, background: '#FFFFFF', border: '1px solid #D6DCE5', borderRadius: 10, padding: '14px 18px', justifyContent: 'space-between' }}&gt;&#10;                &lt;Box style={{ flexDirection: 'row', alignItems: 'center', gap: 10 }}&gt;&#10;                    &lt;Box style={{ width: 30, height: 30, background: '#C0392B', borderRadius: 8, justifyContent: 'center', alignItems: 'center' }}&gt;&#10;                        &lt;Text style={{ fontSize: 15, color: '#FFFFFF', fontWeight: 'bold', fontFamily: 'JetBrains Mono' }}&gt;3&lt;/Text&gt;&#10;                    &lt;/Box&gt;&#10;                    &lt;Text style={{ fontSize: 20, fontWeight: '600', color: '#123A78' }}&gt;工具调用失败&lt;/Text&gt;&#10;                &lt;/Box&gt;&#10;                &lt;Text style={{ fontSize: 17, color: '#1A2230', lineHeight: 1.45 }}&gt;&#10;                    可以说：当前暂时无法获取订单信息，您可以重试，或转人工继续查询。&#10;                &lt;/Text&gt;&#10;                &lt;Text style={{ fontSize: 17, color: '#C0392B', lineHeight: 1.45 }}&gt;&#10;                    不能说：「没有这笔订单」，也不能用模型常识补一个结果。&#10;                &lt;/Text&gt;&#10;            &lt;/Box&gt;&#10;        &lt;/Box&gt;&#10;        &lt;Box style={{ height: 62, borderRadius: 10, background: 'linear-gradient(135deg,#123A78 0%,#2F6FD0 100%)', justifyContent: 'center', alignItems: 'center' }}&gt;&#10;            &lt;Text style={{ fontSize: 24, color: '#FFFFFF', fontWeight: '600', lineHeight: 1.4, textAlign: 'center' }}&gt;&#10;                「没有数据」和「没有成功获取数据」，是两种不同的产品状态&#10;            &lt;/Text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2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矩形 7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5" name="文本框 744" descr="{&quot;isTemplate&quot;:true,&quot;type&quot;:&quot;text&quot;}"/>
          <p:cNvSpPr txBox="1"/>
          <p:nvPr/>
        </p:nvSpPr>
        <p:spPr>
          <a:xfrm>
            <a:off x="381000" y="266700"/>
            <a:ext cx="3886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第三节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订单查询工作流</a:t>
            </a:r>
            <a:endParaRPr/>
          </a:p>
        </p:txBody>
      </p:sp>
      <p:sp>
        <p:nvSpPr>
          <p:cNvPr id="746" name="文本框 745" descr="{&quot;isTemplate&quot;:true,&quot;type&quot;:&quot;text&quot;}"/>
          <p:cNvSpPr txBox="1"/>
          <p:nvPr/>
        </p:nvSpPr>
        <p:spPr>
          <a:xfrm>
            <a:off x="381000" y="504825"/>
            <a:ext cx="3886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三种容易被混淆的查询结果</a:t>
            </a:r>
            <a:endParaRPr/>
          </a:p>
        </p:txBody>
      </p:sp>
      <p:sp>
        <p:nvSpPr>
          <p:cNvPr id="747" name="矩形 746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8" name="圆角矩形 747"/>
          <p:cNvSpPr/>
          <p:nvPr/>
        </p:nvSpPr>
        <p:spPr>
          <a:xfrm>
            <a:off x="381000" y="1066800"/>
            <a:ext cx="11430000" cy="2324100"/>
          </a:xfrm>
          <a:prstGeom prst="roundRect">
            <a:avLst>
              <a:gd name="adj" fmla="val 4098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749" name="表格 748"/>
          <p:cNvGraphicFramePr/>
          <p:nvPr/>
        </p:nvGraphicFramePr>
        <p:xfrm>
          <a:off x="381000" y="1066800"/>
          <a:ext cx="11430000" cy="2324100"/>
        </p:xfrm>
        <a:graphic>
          <a:graphicData uri="http://schemas.openxmlformats.org/drawingml/2006/table">
            <a:tbl>
              <a:tblPr/>
              <a:tblGrid>
                <a:gridCol w="1748883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899614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5781503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情况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实际含义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应怎样处理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没有找到订单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查询成功，但没有匹配记录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引导调整时间、确认账号或补充订单信息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订单尚未发货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已找到订单，当前没有物流轨迹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如实展示待发货状态，按可用信息提供后续入口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查询工具失败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0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系统没有成功获取数据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0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告知暂时无法查询，提供重试或人工处理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</a:tbl>
          </a:graphicData>
        </a:graphic>
      </p:graphicFrame>
      <p:sp>
        <p:nvSpPr>
          <p:cNvPr id="750" name="圆角矩形 749"/>
          <p:cNvSpPr/>
          <p:nvPr/>
        </p:nvSpPr>
        <p:spPr>
          <a:xfrm>
            <a:off x="381000" y="3505200"/>
            <a:ext cx="3686175" cy="224790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1" name="圆角矩形 750"/>
          <p:cNvSpPr/>
          <p:nvPr/>
        </p:nvSpPr>
        <p:spPr>
          <a:xfrm>
            <a:off x="552450" y="36385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2" name="文本框 751" descr="{&quot;isTemplate&quot;:true,&quot;type&quot;:&quot;text&quot;}"/>
          <p:cNvSpPr txBox="1"/>
          <p:nvPr/>
        </p:nvSpPr>
        <p:spPr>
          <a:xfrm>
            <a:off x="657225" y="3695700"/>
            <a:ext cx="857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753" name="文本框 752" descr="{&quot;isTemplate&quot;:true,&quot;type&quot;:&quot;text&quot;}"/>
          <p:cNvSpPr txBox="1"/>
          <p:nvPr/>
        </p:nvSpPr>
        <p:spPr>
          <a:xfrm>
            <a:off x="933450" y="3667125"/>
            <a:ext cx="1143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23A78"/>
                </a:solidFill>
                <a:latin typeface="Microsoft YaHei"/>
                <a:ea typeface="Microsoft YaHei"/>
              </a:rPr>
              <a:t>没有找到订单</a:t>
            </a:r>
            <a:endParaRPr/>
          </a:p>
        </p:txBody>
      </p:sp>
      <p:sp>
        <p:nvSpPr>
          <p:cNvPr id="754" name="文本框 753" descr="{&quot;isTemplate&quot;:true,&quot;type&quot;:&quot;text&quot;}"/>
          <p:cNvSpPr txBox="1"/>
          <p:nvPr/>
        </p:nvSpPr>
        <p:spPr>
          <a:xfrm>
            <a:off x="552450" y="3924300"/>
            <a:ext cx="3343275" cy="847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可以说：当前账号下没有找到符合这些条件的订单，您可以确认购买时间，或从订单列表中选择。</a:t>
            </a:r>
            <a:endParaRPr/>
          </a:p>
        </p:txBody>
      </p:sp>
      <p:sp>
        <p:nvSpPr>
          <p:cNvPr id="755" name="文本框 754" descr="{&quot;isTemplate&quot;:true,&quot;type&quot;:&quot;text&quot;}"/>
          <p:cNvSpPr txBox="1"/>
          <p:nvPr/>
        </p:nvSpPr>
        <p:spPr>
          <a:xfrm>
            <a:off x="552450" y="4772025"/>
            <a:ext cx="3343275" cy="847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不能说：「您没有买过这个商品」——</a:t>
            </a:r>
            <a:r>
              <a:rPr lang="en-US" sz="1275">
                <a:solidFill>
                  <a:srgbClr val="C0392B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只是当前查询没匹配，不能排除账号或时间条件有误。</a:t>
            </a:r>
            <a:endParaRPr/>
          </a:p>
        </p:txBody>
      </p:sp>
      <p:sp>
        <p:nvSpPr>
          <p:cNvPr id="756" name="圆角矩形 755"/>
          <p:cNvSpPr/>
          <p:nvPr/>
        </p:nvSpPr>
        <p:spPr>
          <a:xfrm>
            <a:off x="4257675" y="3505200"/>
            <a:ext cx="3676650" cy="20002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7" name="圆角矩形 756"/>
          <p:cNvSpPr/>
          <p:nvPr/>
        </p:nvSpPr>
        <p:spPr>
          <a:xfrm>
            <a:off x="4429125" y="36385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8" name="文本框 757" descr="{&quot;isTemplate&quot;:true,&quot;type&quot;:&quot;text&quot;}"/>
          <p:cNvSpPr txBox="1"/>
          <p:nvPr/>
        </p:nvSpPr>
        <p:spPr>
          <a:xfrm>
            <a:off x="4533900" y="3695700"/>
            <a:ext cx="857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759" name="文本框 758" descr="{&quot;isTemplate&quot;:true,&quot;type&quot;:&quot;text&quot;}"/>
          <p:cNvSpPr txBox="1"/>
          <p:nvPr/>
        </p:nvSpPr>
        <p:spPr>
          <a:xfrm>
            <a:off x="4810125" y="3667125"/>
            <a:ext cx="1143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23A78"/>
                </a:solidFill>
                <a:latin typeface="Microsoft YaHei"/>
                <a:ea typeface="Microsoft YaHei"/>
              </a:rPr>
              <a:t>订单还没发货</a:t>
            </a:r>
            <a:endParaRPr/>
          </a:p>
        </p:txBody>
      </p:sp>
      <p:sp>
        <p:nvSpPr>
          <p:cNvPr id="760" name="文本框 759" descr="{&quot;isTemplate&quot;:true,&quot;type&quot;:&quot;text&quot;}"/>
          <p:cNvSpPr txBox="1"/>
          <p:nvPr/>
        </p:nvSpPr>
        <p:spPr>
          <a:xfrm>
            <a:off x="4429125" y="4076700"/>
            <a:ext cx="33337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可以说：已找到这笔订单，目前状态为待发货，暂时没有物流记录。</a:t>
            </a:r>
            <a:endParaRPr/>
          </a:p>
        </p:txBody>
      </p:sp>
      <p:sp>
        <p:nvSpPr>
          <p:cNvPr id="761" name="文本框 760" descr="{&quot;isTemplate&quot;:true,&quot;type&quot;:&quot;text&quot;}"/>
          <p:cNvSpPr txBox="1"/>
          <p:nvPr/>
        </p:nvSpPr>
        <p:spPr>
          <a:xfrm>
            <a:off x="4429125" y="4800600"/>
            <a:ext cx="33337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不能说：「今天一定发」——</a:t>
            </a:r>
            <a:r>
              <a:rPr lang="en-US" sz="1275">
                <a:solidFill>
                  <a:srgbClr val="C0392B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系统没有明确的发货时间，就不能替它承诺。</a:t>
            </a:r>
            <a:endParaRPr/>
          </a:p>
        </p:txBody>
      </p:sp>
      <p:sp>
        <p:nvSpPr>
          <p:cNvPr id="762" name="圆角矩形 761"/>
          <p:cNvSpPr/>
          <p:nvPr/>
        </p:nvSpPr>
        <p:spPr>
          <a:xfrm>
            <a:off x="8124825" y="3505200"/>
            <a:ext cx="3686175" cy="20002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3" name="圆角矩形 762"/>
          <p:cNvSpPr/>
          <p:nvPr/>
        </p:nvSpPr>
        <p:spPr>
          <a:xfrm>
            <a:off x="8296275" y="36385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64" name="文本框 763" descr="{&quot;isTemplate&quot;:true,&quot;type&quot;:&quot;text&quot;}"/>
          <p:cNvSpPr txBox="1"/>
          <p:nvPr/>
        </p:nvSpPr>
        <p:spPr>
          <a:xfrm>
            <a:off x="8401050" y="3695700"/>
            <a:ext cx="857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765" name="文本框 764" descr="{&quot;isTemplate&quot;:true,&quot;type&quot;:&quot;text&quot;}"/>
          <p:cNvSpPr txBox="1"/>
          <p:nvPr/>
        </p:nvSpPr>
        <p:spPr>
          <a:xfrm>
            <a:off x="8677275" y="3667125"/>
            <a:ext cx="1143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23A78"/>
                </a:solidFill>
                <a:latin typeface="Microsoft YaHei"/>
                <a:ea typeface="Microsoft YaHei"/>
              </a:rPr>
              <a:t>工具调用失败</a:t>
            </a:r>
            <a:endParaRPr/>
          </a:p>
        </p:txBody>
      </p:sp>
      <p:sp>
        <p:nvSpPr>
          <p:cNvPr id="766" name="文本框 765" descr="{&quot;isTemplate&quot;:true,&quot;type&quot;:&quot;text&quot;}"/>
          <p:cNvSpPr txBox="1"/>
          <p:nvPr/>
        </p:nvSpPr>
        <p:spPr>
          <a:xfrm>
            <a:off x="8296275" y="4076700"/>
            <a:ext cx="334327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可以说：当前暂时无法获取订单信息，您可以重试，或转人工继续查询。</a:t>
            </a:r>
            <a:endParaRPr/>
          </a:p>
        </p:txBody>
      </p:sp>
      <p:sp>
        <p:nvSpPr>
          <p:cNvPr id="767" name="文本框 766" descr="{&quot;isTemplate&quot;:true,&quot;type&quot;:&quot;text&quot;}"/>
          <p:cNvSpPr txBox="1"/>
          <p:nvPr/>
        </p:nvSpPr>
        <p:spPr>
          <a:xfrm>
            <a:off x="8296275" y="4800600"/>
            <a:ext cx="334327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不能说：「没有这笔订单」，也不能用模型常识补一个结果。</a:t>
            </a:r>
            <a:endParaRPr/>
          </a:p>
        </p:txBody>
      </p:sp>
      <p:sp>
        <p:nvSpPr>
          <p:cNvPr id="768" name="圆角矩形 767"/>
          <p:cNvSpPr/>
          <p:nvPr/>
        </p:nvSpPr>
        <p:spPr>
          <a:xfrm>
            <a:off x="381000" y="5619750"/>
            <a:ext cx="11430000" cy="590550"/>
          </a:xfrm>
          <a:prstGeom prst="roundRect">
            <a:avLst>
              <a:gd name="adj" fmla="val 16129"/>
            </a:avLst>
          </a:prstGeom>
          <a:gradFill>
            <a:gsLst>
              <a:gs pos="0">
                <a:srgbClr val="123A78"/>
              </a:gs>
              <a:gs pos="100000">
                <a:srgbClr val="2F6FD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69" name="文本框 768" descr="{&quot;isTemplate&quot;:true,&quot;type&quot;:&quot;text&quot;}"/>
          <p:cNvSpPr txBox="1"/>
          <p:nvPr/>
        </p:nvSpPr>
        <p:spPr>
          <a:xfrm>
            <a:off x="2895600" y="5724525"/>
            <a:ext cx="64008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「没有数据」和「没有成功获取数据」，是两种不同的产品状态</a:t>
            </a:r>
            <a:endParaRPr/>
          </a:p>
        </p:txBody>
      </p:sp>
      <p:sp>
        <p:nvSpPr>
          <p:cNvPr id="770" name="任意形状 769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1" name="文本框 770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772" name="文本框 771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32 / 42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0, position: 'relative' }}&gt;&#10;    &lt;Box style={{ position: 'absolute', left: 0, top: 0, width: 16, height: 720, background: '#123A78' }} /&gt;&#10;    &lt;Box style={{ width: '100%', height: '100%', flexDirection: 'row', alignItems: 'center', padding: '0 72px 0 88px', gap: 56 }}&gt;&#10;        &lt;Box style={{ width: 280, gap: 14 }}&gt;&#10;            &lt;Text style={{ fontSize: 132, fontWeight: 'bold', color: '#123A78', lineHeight: 1, fontFamily: 'JetBrains Mono' }}&gt;04&lt;/Text&gt;&#10;            &lt;Box style={{ width: 200, height: 4, background: '#2F6FD0' }} /&gt;&#10;            &lt;Text style={{ fontSize: 16, color: '#8B97A8', letterSpacing: 3, fontFamily: 'JetBrains Mono' }}&gt;P.35 – 41&lt;/Text&gt;&#10;        &lt;/Box&gt;&#10;        &lt;Box style={{ flex: 1, gap: 20 }}&gt;&#10;            &lt;Text style={{ fontSize: 44, fontWeight: '700', color: '#123A78', lineHeight: 1.25 }}&gt;售后咨询&lt;br /&gt;与处理工作流&lt;/Text&gt;&#10;            &lt;Text style={{ fontSize: 22, color: '#4A5568', lineHeight: 1.55 }}&gt;&#10;                订单查到只是第一步。现在用户说的是：&lt;span style={{ fontWeight: 'bold', color: '#123A78' }}&gt;「耳机收到了，但是右边没有声音，我想换一个。」&lt;/span&gt;&#10;            &lt;/Text&gt;&#10;            &lt;Box style={{ gap: 12, marginTop: 6 }}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先区分「问政策」和「要处理」这两种诉求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知识检索、字段补齐、用户确认与提交执行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一条红线：受理申请，不等于批准申请&lt;/Text&gt;&#10;                &lt;/Box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矩形 7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4" name="文本框 793" descr="{&quot;isTemplate&quot;:true,&quot;type&quot;:&quot;text&quot;}"/>
          <p:cNvSpPr txBox="1"/>
          <p:nvPr/>
        </p:nvSpPr>
        <p:spPr>
          <a:xfrm>
            <a:off x="838200" y="2428875"/>
            <a:ext cx="2667000" cy="1514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900" b="1">
                <a:solidFill>
                  <a:srgbClr val="123A78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795" name="矩形 794"/>
          <p:cNvSpPr/>
          <p:nvPr/>
        </p:nvSpPr>
        <p:spPr>
          <a:xfrm>
            <a:off x="838200" y="4076700"/>
            <a:ext cx="1905000" cy="38100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6" name="文本框 795" descr="{&quot;isTemplate&quot;:true,&quot;type&quot;:&quot;text&quot;}"/>
          <p:cNvSpPr txBox="1"/>
          <p:nvPr/>
        </p:nvSpPr>
        <p:spPr>
          <a:xfrm>
            <a:off x="838200" y="4248150"/>
            <a:ext cx="2667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8B97A8"/>
                </a:solidFill>
                <a:latin typeface="JetBrains Mono"/>
                <a:ea typeface="JetBrains Mono"/>
              </a:rPr>
              <a:t>P.35 – 41</a:t>
            </a:r>
            <a:endParaRPr/>
          </a:p>
        </p:txBody>
      </p:sp>
      <p:sp>
        <p:nvSpPr>
          <p:cNvPr id="797" name="文本框 796" descr="{&quot;isTemplate&quot;:true,&quot;type&quot;:&quot;text&quot;}"/>
          <p:cNvSpPr txBox="1"/>
          <p:nvPr/>
        </p:nvSpPr>
        <p:spPr>
          <a:xfrm>
            <a:off x="4038600" y="1533525"/>
            <a:ext cx="7467600" cy="1257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123A78"/>
                </a:solidFill>
                <a:latin typeface="Microsoft YaHei"/>
                <a:ea typeface="Microsoft YaHei"/>
              </a:rPr>
              <a:t>售后咨询</a:t>
            </a:r>
            <a:endParaRPr/>
          </a:p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123A78"/>
                </a:solidFill>
                <a:latin typeface="Microsoft YaHei"/>
                <a:ea typeface="Microsoft YaHei"/>
              </a:rPr>
              <a:t>与处理工作流</a:t>
            </a:r>
            <a:endParaRPr/>
          </a:p>
        </p:txBody>
      </p:sp>
      <p:sp>
        <p:nvSpPr>
          <p:cNvPr id="798" name="文本框 797" descr="{&quot;isTemplate&quot;:true,&quot;type&quot;:&quot;text&quot;}"/>
          <p:cNvSpPr txBox="1"/>
          <p:nvPr/>
        </p:nvSpPr>
        <p:spPr>
          <a:xfrm>
            <a:off x="4038600" y="2981325"/>
            <a:ext cx="7467600" cy="781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订单查到只是第一步。现在用户说的是：</a:t>
            </a: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「耳机收到了，但是右边没有声音，我想换一个。」</a:t>
            </a:r>
            <a:endParaRPr/>
          </a:p>
        </p:txBody>
      </p:sp>
      <p:sp>
        <p:nvSpPr>
          <p:cNvPr id="799" name="圆角矩形 798"/>
          <p:cNvSpPr/>
          <p:nvPr/>
        </p:nvSpPr>
        <p:spPr>
          <a:xfrm>
            <a:off x="4038600" y="4105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00" name="文本框 799" descr="{&quot;isTemplate&quot;:true,&quot;type&quot;:&quot;text&quot;}"/>
          <p:cNvSpPr txBox="1"/>
          <p:nvPr/>
        </p:nvSpPr>
        <p:spPr>
          <a:xfrm>
            <a:off x="4267200" y="401002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先区分「问政策」和「要处理」这两种诉求</a:t>
            </a:r>
            <a:endParaRPr/>
          </a:p>
        </p:txBody>
      </p:sp>
      <p:sp>
        <p:nvSpPr>
          <p:cNvPr id="801" name="圆角矩形 800"/>
          <p:cNvSpPr/>
          <p:nvPr/>
        </p:nvSpPr>
        <p:spPr>
          <a:xfrm>
            <a:off x="4038600" y="45815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02" name="文本框 801" descr="{&quot;isTemplate&quot;:true,&quot;type&quot;:&quot;text&quot;}"/>
          <p:cNvSpPr txBox="1"/>
          <p:nvPr/>
        </p:nvSpPr>
        <p:spPr>
          <a:xfrm>
            <a:off x="4267200" y="448627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知识检索、字段补齐、用户确认与提交执行</a:t>
            </a:r>
            <a:endParaRPr/>
          </a:p>
        </p:txBody>
      </p:sp>
      <p:sp>
        <p:nvSpPr>
          <p:cNvPr id="803" name="圆角矩形 802"/>
          <p:cNvSpPr/>
          <p:nvPr/>
        </p:nvSpPr>
        <p:spPr>
          <a:xfrm>
            <a:off x="4038600" y="5057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04" name="文本框 803" descr="{&quot;isTemplate&quot;:true,&quot;type&quot;:&quot;text&quot;}"/>
          <p:cNvSpPr txBox="1"/>
          <p:nvPr/>
        </p:nvSpPr>
        <p:spPr>
          <a:xfrm>
            <a:off x="4267200" y="496252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一条红线：受理申请，不等于批准申请</a:t>
            </a:r>
            <a:endParaRPr/>
          </a:p>
        </p:txBody>
      </p:sp>
      <p:sp>
        <p:nvSpPr>
          <p:cNvPr id="805" name="矩形 80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四节 · 售后咨询与处理工作流&lt;/Text&gt;&#10;            &lt;Text style={{ fontSize: 34, fontWeight: '600', color: '#123A78', marginTop: 8, lineHeight: 1.25 }}&gt;先区分「问政策」和「要处理」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418, flexDirection: 'row', gap: 32 }}&gt;&#10;            &lt;Box style={{ width: 760, height: 418, border: '1px solid #D6DCE5', borderRadius: 10, overflow: 'hidden' }}&gt;&#10;                &lt;Table&#10;                    style={{ width: '100%', height: '100%' }}&#10;                    defaultTextStyle={{ fontSize: 20, textAlign: 'left', color: '#1A2230' }}&#10;                    defaultCellStyle={{&#10;                        border: {&#10;                            left: { width: 1, color: '#E5E7EB' },&#10;                            right: { width: 1, color: '#E5E7EB' },&#10;                            top: { width: 1, color: '#E5E7EB' },&#10;                            bottom: { width: 1, color: '#E5E7EB' },&#10;                        },&#10;                    }}&#10;                    cells={[&#10;                        [&#10;                            { text: '用户表达', textStyle: { bold: true, color: '#FFFFFF', fontSize: 20 }, cellStyle: { background: { color: '#123A78' } } },&#10;                            { text: '当前需要做什么', textStyle: { bold: true, color: '#FFFFFF', fontSize: 20 }, cellStyle: { background: { color: '#123A78' } } },&#10;                        ],&#10;                        [&#10;                            { text: '①「耳机坏了能换吗？」\n泛泛询问换货政策', textStyle: { color: '#123A78' }, cellStyle: { background: { color: '#F7F9FC' } } },&#10;                            { text: '解释适用条件，必要时确认商品或问题类型', cellStyle: { background: { color: '#F7F9FC' } } },&#10;                        ],&#10;                        [&#10;                            { text: '②「我买的耳机右边没有声音，能换吗？」\n询问自己的商品能否换货', textStyle: { color: '#123A78' } },&#10;                            { text: '结合订单、故障和适用政策继续确认' },&#10;                        ],&#10;                        [&#10;                            { text: '③「我买的耳机右边没有声音，帮我申请换货。」\n明确要求申请换货', textStyle: { color: '#123A78', bold: true }, cellStyle: { background: { color: '#E9F0FA' } } },&#10;                            { text: '收集申请所需信息，引导确认和提交', textStyle: { bold: true }, cellStyle: { background: { color: '#E9F0FA' } } },&#10;                        ],&#10;                    ]}&#10;                /&gt;&#10;            &lt;/Box&gt;&#10;            &lt;Box style={{ flex: 1, height: 418, justifyContent: 'space-between' }}&gt;&#10;                &lt;Box&gt;&#10;                    &lt;Box style={{ flexDirection: 'row', alignItems: 'center', gap: 10 }}&gt;&#10;                        &lt;Box style={{ width: 34, height: 34, background: '#123A78', borderRadius: 8, justifyContent: 'center', alignItems: 'center' }}&gt;&#10;                            &lt;Text style={{ fontSize: 17, color: '#FFFFFF', fontWeight: 'bold', fontFamily: 'JetBrains Mono' }}&gt;3&lt;/Text&gt;&#10;                        &lt;/Box&gt;&#10;                        &lt;Text style={{ fontSize: 22, fontWeight: '600', color: '#123A78' }}&gt;本节重点&lt;/Text&gt;&#10;                    &lt;/Box&gt;&#10;                    &lt;Text style={{ fontSize: 19, color: '#1A2230', marginTop: 12, lineHeight: 1.5 }}&gt;&#10;                        三句话都与换货有关，但系统下一步不应该完全一样。我们重点处理&lt;span style={{ fontWeight: 'bold' }}&gt;第三种&lt;/span&gt;。&#10;                    &lt;/Text&gt;&#10;                &lt;/Box&gt;&#10;                &lt;Box style={{ background: '#FFFFFF', border: '1px solid #D6DCE5', borderRadius: 10, padding: '14px 16px' }}&gt;&#10;                    &lt;Text style={{ fontSize: 18, color: '#2F6FD0', fontWeight: 'bold', lineHeight: 1.45 }}&gt;第一种&lt;/Text&gt;&#10;                    &lt;Text style={{ fontSize: 17, color: '#1A2230', marginTop: 6, lineHeight: 1.45 }}&gt;不一定一上来就要用户提供订单和图片。&lt;/Text&gt;&#10;                &lt;/Box&gt;&#10;                &lt;Box style={{ background: '#FDF2F0', borderRadius: 10, padding: '14px 16px', borderLeft: '5px solid #C0392B' }}&gt;&#10;                    &lt;Text style={{ fontSize: 18, color: '#C0392B', fontWeight: 'bold', lineHeight: 1.45 }}&gt;第三种的问题&lt;/Text&gt;&#10;                    &lt;Text style={{ fontSize: 17, color: '#1A2230', marginTop: 6, lineHeight: 1.45 }}&gt;如果系统仍然只返回一段政策，用户的需求并没有被完成。&lt;/Text&gt;&#10;                &lt;/Box&gt;&#10;                &lt;Box style={{ background: '#123A78', borderRadius: 10, padding: '14px 16px' }}&gt;&#10;                    &lt;Text style={{ fontSize: 18, color: '#FFFFFF', lineHeight: 1.5 }}&gt;&#10;                        所以进入售后分支后还要再判断：用户是在&lt;span style={{ fontWeight: 'bold' }}&gt;了解规则&lt;/span&gt;，还是希望&lt;span style={{ fontWeight: 'bold' }}&gt;处理自己的问题&lt;/span&gt;？目前的信息够不够继续？&#10;                    &lt;/Text&gt;&#10;                &lt;/Box&gt;&#10;            &lt;/Box&gt;&#10;        &lt;/Box&gt;&#10;        &lt;Box style={{ height: 96, background: '#F7F9FC', borderRadius: 10, padding: '16px 20px', borderLeft: '5px solid #8B97A8', justifyContent: 'center' }}&gt;&#10;            &lt;Text style={{ fontSize: 18, color: '#4A5568', lineHeight: 1.5 }}&gt;&#10;                本节继续使用教学模拟数据：为了与上一节的物流查询区分，这次使用&lt;span style={{ fontWeight: 'bold' }}&gt;已签收的订单 DEMO-101（AirLite 蓝牙耳机，9 月 4 日签收）&lt;/span&gt;，查询日仍固定为 9 月 9 日。所有政策、接口与处理结果均为教学设计，尚未运行验证。&#10;            &lt;/Text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5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矩形 8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08" name="文本框 807" descr="{&quot;isTemplate&quot;:true,&quot;type&quot;:&quot;text&quot;}"/>
          <p:cNvSpPr txBox="1"/>
          <p:nvPr/>
        </p:nvSpPr>
        <p:spPr>
          <a:xfrm>
            <a:off x="381000" y="266700"/>
            <a:ext cx="4533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第四节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售后咨询与处理工作流</a:t>
            </a:r>
            <a:endParaRPr/>
          </a:p>
        </p:txBody>
      </p:sp>
      <p:sp>
        <p:nvSpPr>
          <p:cNvPr id="809" name="文本框 808" descr="{&quot;isTemplate&quot;:true,&quot;type&quot;:&quot;text&quot;}"/>
          <p:cNvSpPr txBox="1"/>
          <p:nvPr/>
        </p:nvSpPr>
        <p:spPr>
          <a:xfrm>
            <a:off x="381000" y="504825"/>
            <a:ext cx="45339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先区分「问政策」和「要处理」</a:t>
            </a:r>
            <a:endParaRPr/>
          </a:p>
        </p:txBody>
      </p:sp>
      <p:sp>
        <p:nvSpPr>
          <p:cNvPr id="810" name="矩形 809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11" name="圆角矩形 810"/>
          <p:cNvSpPr/>
          <p:nvPr/>
        </p:nvSpPr>
        <p:spPr>
          <a:xfrm>
            <a:off x="381000" y="1066800"/>
            <a:ext cx="7239000" cy="3981450"/>
          </a:xfrm>
          <a:prstGeom prst="roundRect">
            <a:avLst>
              <a:gd name="adj" fmla="val 2392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12" name="表格 811"/>
          <p:cNvGraphicFramePr/>
          <p:nvPr/>
        </p:nvGraphicFramePr>
        <p:xfrm>
          <a:off x="381000" y="1066800"/>
          <a:ext cx="7239000" cy="3981451"/>
        </p:xfrm>
        <a:graphic>
          <a:graphicData uri="http://schemas.openxmlformats.org/drawingml/2006/table">
            <a:tbl>
              <a:tblPr/>
              <a:tblGrid>
                <a:gridCol w="3878282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360718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568358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用户表达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当前需要做什么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99536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①「耳机坏了能换吗？」
泛泛询问换货政策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解释适用条件，必要时确认商品或问题类型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99536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②「我买的耳机右边没有声音，能换吗？」
询问自己的商品能否换货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结合订单、故障和适用政策继续确认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14223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③「我买的耳机右边没有声音，帮我申请换货。」
明确要求申请换货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收集申请所需信息，引导确认和提交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</a:tbl>
          </a:graphicData>
        </a:graphic>
      </p:graphicFrame>
      <p:sp>
        <p:nvSpPr>
          <p:cNvPr id="813" name="圆角矩形 812"/>
          <p:cNvSpPr/>
          <p:nvPr/>
        </p:nvSpPr>
        <p:spPr>
          <a:xfrm>
            <a:off x="7924800" y="10668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14" name="文本框 813" descr="{&quot;isTemplate&quot;:true,&quot;type&quot;:&quot;text&quot;}"/>
          <p:cNvSpPr txBox="1"/>
          <p:nvPr/>
        </p:nvSpPr>
        <p:spPr>
          <a:xfrm>
            <a:off x="8039100" y="1133475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815" name="文本框 814" descr="{&quot;isTemplate&quot;:true,&quot;type&quot;:&quot;text&quot;}"/>
          <p:cNvSpPr txBox="1"/>
          <p:nvPr/>
        </p:nvSpPr>
        <p:spPr>
          <a:xfrm>
            <a:off x="8343900" y="1104900"/>
            <a:ext cx="838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本节重点</a:t>
            </a:r>
            <a:endParaRPr/>
          </a:p>
        </p:txBody>
      </p:sp>
      <p:sp>
        <p:nvSpPr>
          <p:cNvPr id="816" name="文本框 815" descr="{&quot;isTemplate&quot;:true,&quot;type&quot;:&quot;text&quot;}"/>
          <p:cNvSpPr txBox="1"/>
          <p:nvPr/>
        </p:nvSpPr>
        <p:spPr>
          <a:xfrm>
            <a:off x="7924800" y="1504950"/>
            <a:ext cx="38862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三句话都与换货有关，但系统下一步不应该完全一样。我们重点处理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第三种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17" name="圆角矩形 816"/>
          <p:cNvSpPr/>
          <p:nvPr/>
        </p:nvSpPr>
        <p:spPr>
          <a:xfrm>
            <a:off x="7924800" y="2162175"/>
            <a:ext cx="388620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8" name="文本框 817" descr="{&quot;isTemplate&quot;:true,&quot;type&quot;:&quot;text&quot;}"/>
          <p:cNvSpPr txBox="1"/>
          <p:nvPr/>
        </p:nvSpPr>
        <p:spPr>
          <a:xfrm>
            <a:off x="8077200" y="2295525"/>
            <a:ext cx="35814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2F6FD0"/>
                </a:solidFill>
                <a:latin typeface="Microsoft YaHei"/>
                <a:ea typeface="Microsoft YaHei"/>
              </a:rPr>
              <a:t>第一种</a:t>
            </a:r>
            <a:endParaRPr/>
          </a:p>
        </p:txBody>
      </p:sp>
      <p:sp>
        <p:nvSpPr>
          <p:cNvPr id="819" name="文本框 818" descr="{&quot;isTemplate&quot;:true,&quot;type&quot;:&quot;text&quot;}"/>
          <p:cNvSpPr txBox="1"/>
          <p:nvPr/>
        </p:nvSpPr>
        <p:spPr>
          <a:xfrm>
            <a:off x="8077200" y="2657475"/>
            <a:ext cx="35814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不一定一上来就要用户提供订单和图片。</a:t>
            </a:r>
            <a:endParaRPr/>
          </a:p>
        </p:txBody>
      </p:sp>
      <p:sp>
        <p:nvSpPr>
          <p:cNvPr id="820" name="圆角矩形 819"/>
          <p:cNvSpPr/>
          <p:nvPr/>
        </p:nvSpPr>
        <p:spPr>
          <a:xfrm>
            <a:off x="7972425" y="3076575"/>
            <a:ext cx="3886200" cy="1200150"/>
          </a:xfrm>
          <a:prstGeom prst="roundRect">
            <a:avLst>
              <a:gd name="adj" fmla="val 7937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1" name="任意形状 820"/>
          <p:cNvSpPr/>
          <p:nvPr/>
        </p:nvSpPr>
        <p:spPr>
          <a:xfrm>
            <a:off x="7972425" y="3076575"/>
            <a:ext cx="3886200" cy="1200150"/>
          </a:xfrm>
          <a:custGeom>
            <a:avLst/>
            <a:gdLst/>
            <a:ahLst/>
            <a:cxnLst/>
            <a:rect l="0" t="0" r="0" b="0"/>
            <a:pathLst>
              <a:path w="408" h="12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21"/>
                </a:lnTo>
                <a:cubicBezTo>
                  <a:pt x="5" y="123"/>
                  <a:pt x="7" y="125"/>
                  <a:pt x="9" y="126"/>
                </a:cubicBezTo>
                <a:cubicBezTo>
                  <a:pt x="4" y="125"/>
                  <a:pt x="0" y="121"/>
                  <a:pt x="0" y="11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2" name="文本框 821" descr="{&quot;isTemplate&quot;:true,&quot;type&quot;:&quot;text&quot;}"/>
          <p:cNvSpPr txBox="1"/>
          <p:nvPr/>
        </p:nvSpPr>
        <p:spPr>
          <a:xfrm>
            <a:off x="8124825" y="3209925"/>
            <a:ext cx="35337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C0392B"/>
                </a:solidFill>
                <a:latin typeface="Microsoft YaHei"/>
                <a:ea typeface="Microsoft YaHei"/>
              </a:rPr>
              <a:t>第三种的问题</a:t>
            </a:r>
            <a:endParaRPr/>
          </a:p>
        </p:txBody>
      </p:sp>
      <p:sp>
        <p:nvSpPr>
          <p:cNvPr id="823" name="文本框 822" descr="{&quot;isTemplate&quot;:true,&quot;type&quot;:&quot;text&quot;}"/>
          <p:cNvSpPr txBox="1"/>
          <p:nvPr/>
        </p:nvSpPr>
        <p:spPr>
          <a:xfrm>
            <a:off x="8124825" y="3571875"/>
            <a:ext cx="353377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如果系统仍然只返回一段政策，用户的需求并没有被完成。</a:t>
            </a:r>
            <a:endParaRPr/>
          </a:p>
        </p:txBody>
      </p:sp>
      <p:sp>
        <p:nvSpPr>
          <p:cNvPr id="824" name="圆角矩形 823"/>
          <p:cNvSpPr/>
          <p:nvPr/>
        </p:nvSpPr>
        <p:spPr>
          <a:xfrm>
            <a:off x="7924800" y="4276725"/>
            <a:ext cx="3886200" cy="1200150"/>
          </a:xfrm>
          <a:prstGeom prst="roundRect">
            <a:avLst>
              <a:gd name="adj" fmla="val 793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5" name="文本框 824" descr="{&quot;isTemplate&quot;:true,&quot;type&quot;:&quot;text&quot;}"/>
          <p:cNvSpPr txBox="1"/>
          <p:nvPr/>
        </p:nvSpPr>
        <p:spPr>
          <a:xfrm>
            <a:off x="8077200" y="4410075"/>
            <a:ext cx="35814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所以进入售后分支后还要再判断：用户是在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了解规则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，还是希望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处理自己的问题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？目前的信息够不够继续？</a:t>
            </a:r>
            <a:endParaRPr/>
          </a:p>
        </p:txBody>
      </p:sp>
      <p:sp>
        <p:nvSpPr>
          <p:cNvPr id="826" name="圆角矩形 825"/>
          <p:cNvSpPr/>
          <p:nvPr/>
        </p:nvSpPr>
        <p:spPr>
          <a:xfrm>
            <a:off x="428625" y="5295900"/>
            <a:ext cx="11430000" cy="914400"/>
          </a:xfrm>
          <a:prstGeom prst="roundRect">
            <a:avLst>
              <a:gd name="adj" fmla="val 1041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7" name="任意形状 826"/>
          <p:cNvSpPr/>
          <p:nvPr/>
        </p:nvSpPr>
        <p:spPr>
          <a:xfrm>
            <a:off x="428625" y="5295900"/>
            <a:ext cx="11430000" cy="914400"/>
          </a:xfrm>
          <a:custGeom>
            <a:avLst/>
            <a:gdLst/>
            <a:ahLst/>
            <a:cxnLst/>
            <a:rect l="0" t="0" r="0" b="0"/>
            <a:pathLst>
              <a:path w="1200" h="9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1"/>
                </a:lnTo>
                <a:cubicBezTo>
                  <a:pt x="5" y="93"/>
                  <a:pt x="7" y="95"/>
                  <a:pt x="9" y="96"/>
                </a:cubicBezTo>
                <a:cubicBezTo>
                  <a:pt x="4" y="95"/>
                  <a:pt x="0" y="91"/>
                  <a:pt x="0" y="8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8" name="文本框 827" descr="{&quot;isTemplate&quot;:true,&quot;type&quot;:&quot;text&quot;}"/>
          <p:cNvSpPr txBox="1"/>
          <p:nvPr/>
        </p:nvSpPr>
        <p:spPr>
          <a:xfrm>
            <a:off x="619125" y="5448300"/>
            <a:ext cx="1100137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 dirty="0">
                <a:solidFill>
                  <a:srgbClr val="4A5568"/>
                </a:solidFill>
                <a:latin typeface="Microsoft YaHei"/>
                <a:ea typeface="Microsoft YaHei"/>
              </a:rPr>
              <a:t>本节继续使用教学模拟数据：为了与上一节的物流查询区分，这次使用</a:t>
            </a:r>
            <a:r>
              <a:rPr lang="zh-CN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已签收的订单</a:t>
            </a:r>
            <a:r>
              <a:rPr lang="en-US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 DEMO-101</a:t>
            </a:r>
            <a:r>
              <a:rPr lang="zh-CN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350" b="1" dirty="0" err="1">
                <a:solidFill>
                  <a:srgbClr val="4A5568"/>
                </a:solidFill>
                <a:latin typeface="Microsoft YaHei"/>
                <a:ea typeface="Microsoft YaHei"/>
              </a:rPr>
              <a:t>AirLite</a:t>
            </a:r>
            <a:r>
              <a:rPr lang="en-US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蓝牙耳机，</a:t>
            </a:r>
            <a:r>
              <a:rPr lang="en-US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9 </a:t>
            </a:r>
            <a:r>
              <a:rPr lang="zh-CN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月</a:t>
            </a:r>
            <a:r>
              <a:rPr lang="en-US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 4 </a:t>
            </a:r>
            <a:r>
              <a:rPr lang="zh-CN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日签收）</a:t>
            </a:r>
            <a:r>
              <a:rPr lang="zh-CN" sz="1350" dirty="0">
                <a:solidFill>
                  <a:srgbClr val="4A5568"/>
                </a:solidFill>
                <a:latin typeface="Microsoft YaHei"/>
                <a:ea typeface="Microsoft YaHei"/>
              </a:rPr>
              <a:t>，查询日仍固定为</a:t>
            </a:r>
            <a:r>
              <a:rPr lang="en-US" sz="1350" dirty="0">
                <a:solidFill>
                  <a:srgbClr val="4A5568"/>
                </a:solidFill>
                <a:latin typeface="Microsoft YaHei"/>
                <a:ea typeface="Microsoft YaHei"/>
              </a:rPr>
              <a:t> 9 </a:t>
            </a:r>
            <a:r>
              <a:rPr lang="zh-CN" sz="1350" dirty="0">
                <a:solidFill>
                  <a:srgbClr val="4A5568"/>
                </a:solidFill>
                <a:latin typeface="Microsoft YaHei"/>
                <a:ea typeface="Microsoft YaHei"/>
              </a:rPr>
              <a:t>月</a:t>
            </a:r>
            <a:r>
              <a:rPr lang="en-US" sz="1350" dirty="0">
                <a:solidFill>
                  <a:srgbClr val="4A5568"/>
                </a:solidFill>
                <a:latin typeface="Microsoft YaHei"/>
                <a:ea typeface="Microsoft YaHei"/>
              </a:rPr>
              <a:t> 9 </a:t>
            </a:r>
            <a:r>
              <a:rPr lang="zh-CN" sz="1350" dirty="0">
                <a:solidFill>
                  <a:srgbClr val="4A5568"/>
                </a:solidFill>
                <a:latin typeface="Microsoft YaHei"/>
                <a:ea typeface="Microsoft YaHei"/>
              </a:rPr>
              <a:t>日。所有政策、接口与处理结果均为教学设计，尚未运行验证。</a:t>
            </a:r>
            <a:endParaRPr dirty="0"/>
          </a:p>
        </p:txBody>
      </p:sp>
      <p:sp>
        <p:nvSpPr>
          <p:cNvPr id="829" name="任意形状 828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0" name="文本框 829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831" name="文本框 830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35 / 42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四节 · 售后咨询与处理工作流&lt;/Text&gt;&#10;            &lt;Text style={{ fontSize: 34, fontWeight: '600', color: '#123A78', marginTop: 8, lineHeight: 1.25 }}&gt;展开售后处理子工作流&lt;/Text&gt;&#10;        &lt;/Box&gt;&#10;        &lt;Box style={{ width: 96, height: 3, background: '#2F6FD0', marginTop: 58 }} /&gt;&#10;    &lt;/Box&gt;&#10;    &lt;Box style={{ height: 540, marginTop: 8, justifyContent: 'center' }}&gt;&#10;        &lt;svg width={1200} height={534} viewBox='0 0 1200 534'&gt;&#10;            &lt;rect x='280' y='0' width='560' height='44' rx='10' fill='#FFFFFF' stroke='#2F6FD0' strokeWidth='2' /&gt;&#10;            &lt;text x='560' y='29' textAnchor='middle' fontFamily='Source Han Sans SC' fontSize='20' fill='#123A78' fontWeight='bold'&gt;进入售后处理流程&lt;/text&gt;&#10;            &lt;line x1='560' y1='44' x2='560' y2='62' stroke='#2F6FD0' strokeWidth='2' /&gt;&#10;            &lt;path d='M560 62 L554 52 L566 52 Z' fill='#2F6FD0' /&gt;&#10;&#10;            &lt;rect x='280' y='62' width='560' height='44' rx='10' fill='#FFFFFF' stroke='#2F6FD0' strokeWidth='2' /&gt;&#10;            &lt;text x='560' y='91' textAnchor='middle' fontFamily='Source Han Sans SC' fontSize='20' fill='#123A78' fontWeight='bold'&gt;判断类型：了解规则 / 处理问题&lt;/text&gt;&#10;            &lt;line x1='560' y1='106' x2='560' y2='124' stroke='#2F6FD0' strokeWidth='2' /&gt;&#10;            &lt;path d='M560 124 L554 114 L566 114 Z' fill='#2F6FD0' /&gt;&#10;&#10;            &lt;rect x='280' y='124' width='560' height='54' rx='10' fill='#123A78' /&gt;&#10;            &lt;text x='540' y='153' textAnchor='middle' fontFamily='Source Han Sans SC' fontSize='21' fill='#FFFFFF' fontWeight='bold'&gt;是否已明确订单与商品？&lt;/text&gt;&#10;            &lt;text x='556' y='192' fontFamily='Source Han Sans SC' fontSize='16' fill='#2F6FD0'&gt;是 ↓&lt;/text&gt;&#10;            &lt;text x='848' y='151' fontFamily='Source Han Sans SC' fontSize='16' fill='#8B97A8'&gt;否 →&lt;/text&gt;&#10;            &lt;line x1='560' y1='178' x2='560' y2='196' stroke='#2F6FD0' strokeWidth='2' /&gt;&#10;            &lt;path d='M560 196 L554 186 L566 186 Z' fill='#2F6FD0' /&gt;&#10;            &lt;line x1='840' y1='151' x2='900' y2='165' stroke='#2F6FD0' strokeWidth='2' strokeDasharray='6 4' /&gt;&#10;            &lt;path d='M900 165 L890 160 L890 170 Z' fill='#2F6FD0' /&gt;&#10;&#10;            &lt;rect x='900' y='130' width='280' height='72' rx='10' fill='#E9F0FA' stroke='#2F6FD0' strokeWidth='2' /&gt;&#10;            &lt;text x='920' y='160' fontFamily='Source Han Sans SC' fontSize='18' fill='#123A78' fontWeight='bold'&gt;查当前用户订单（DEMO-101）&lt;/text&gt;&#10;            &lt;text x='920' y='184' fontFamily='Source Han Sans SC' fontSize='17' fill='#4A5568'&gt;确认具体商品与故障类型&lt;/text&gt;&#10;            &lt;line x1='900' y1='202' x2='840' y2='218' stroke='#2F6FD0' strokeWidth='2' strokeDasharray='6 4' /&gt;&#10;            &lt;path d='M840 218 L850 213 L850 223 Z' fill='#2F6FD0' /&gt;&#10;&#10;            &lt;rect x='280' y='196' width='560' height='44' rx='10' fill='#FFFFFF' stroke='#2F6FD0' strokeWidth='2' /&gt;&#10;            &lt;text x='560' y='225' textAnchor='middle' fontFamily='Source Han Sans SC' fontSize='20' fill='#123A78' fontWeight='bold'&gt;识别诉求，收集故障信息&lt;/text&gt;&#10;            &lt;line x1='560' y1='240' x2='560' y2='254' stroke='#2F6FD0' strokeWidth='2' /&gt;&#10;            &lt;path d='M560 254 L554 244 L566 244 Z' fill='#2F6FD0' /&gt;&#10;&#10;            &lt;rect x='280' y='254' width='560' height='44' rx='10' fill='#FFFFFF' stroke='#2F6FD0' strokeWidth='2' /&gt;&#10;            &lt;text x='560' y='283' textAnchor='middle' fontFamily='Source Han Sans SC' fontSize='20' fill='#123A78' fontWeight='bold'&gt;查政策与适用条件&lt;/text&gt;&#10;            &lt;line x1='560' y1='298' x2='560' y2='312' stroke='#2F6FD0' strokeWidth='2' /&gt;&#10;            &lt;path d='M560 312 L554 302 L566 302 Z' fill='#2F6FD0' /&gt;&#10;&#10;            &lt;rect x='280' y='312' width='560' height='44' rx='10' fill='#FFFFFF' stroke='#2F6FD0' strokeWidth='2' /&gt;&#10;            &lt;text x='560' y='341' textAnchor='middle' fontFamily='Source Han Sans SC' fontSize='20' fill='#123A78' fontWeight='bold'&gt;补齐材料，整理申请内容&lt;/text&gt;&#10;            &lt;line x1='840' y1='334' x2='900' y2='346' stroke='#C0392B' strokeWidth='2' strokeDasharray='6 4' /&gt;&#10;            &lt;path d='M900 346 L890 341 L890 351 Z' fill='#C0392B' /&gt;&#10;            &lt;line x1='560' y1='356' x2='560' y2='370' stroke='#2F6FD0' strokeWidth='2' /&gt;&#10;            &lt;path d='M560 370 L554 360 L566 360 Z' fill='#2F6FD0' /&gt;&#10;&#10;            &lt;rect x='280' y='370' width='560' height='44' rx='10' fill='#123A78' /&gt;&#10;            &lt;text x='560' y='399' textAnchor='middle' fontFamily='Source Han Sans SC' fontSize='20' fill='#FFFFFF' fontWeight='bold'&gt;用户确认申请信息&lt;/text&gt;&#10;            &lt;line x1='560' y1='414' x2='560' y2='428' stroke='#2F6FD0' strokeWidth='2' /&gt;&#10;            &lt;path d='M560 428 L554 418 L566 418 Z' fill='#2F6FD0' /&gt;&#10;&#10;            &lt;rect x='280' y='428' width='560' height='54' rx='10' fill='#FFFFFF' stroke='#2F6FD0' strokeWidth='2' /&gt;&#10;            &lt;text x='560' y='454' textAnchor='middle' fontFamily='Source Han Sans SC' fontSize='20' fill='#123A78' fontWeight='bold'&gt;提交申请入口（模拟提交）&lt;/text&gt;&#10;            &lt;text x='560' y='475' textAnchor='middle' fontFamily='JetBrains Mono' fontSize='15' fill='#8B97A8'&gt;→ 返回真实状态 pending_review（待审核）&lt;/text&gt;&#10;&#10;            &lt;rect x='900' y='300' width='280' height='92' rx='10' fill='#FDF2F0' stroke='#C0392B' strokeWidth='2' strokeDasharray='6 4' /&gt;&#10;            &lt;text x='920' y='330' fontFamily='Source Han Sans SC' fontSize='18' fill='#C0392B' fontWeight='bold'&gt;异常 / 信息无法继续&lt;/text&gt;&#10;            &lt;text x='920' y='354' fontFamily='Source Han Sans SC' fontSize='17' fill='#C0392B'&gt;→ 转人工客服&lt;/text&gt;&#10;            &lt;text x='920' y='376' fontFamily='Source Han Sans SC' fontSize='16' fill='#C0392B'&gt;（携带已收集上下文）&lt;/text&gt;&#10;&#10;            &lt;text x='280' y='514' fontFamily='Source Han Sans SC' fontSize='16' fill='#8B97A8'&gt;这条流程的重点不是「更会聊」，而是把诉求、政策、材料、状态一步步接到确定步骤上；下一页我们用一段真实对话拆开看。&lt;/text&gt;&#10;        &lt;/svg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7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矩形 8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75" name="文本框 874" descr="{&quot;isTemplate&quot;:true,&quot;type&quot;:&quot;text&quot;}"/>
          <p:cNvSpPr txBox="1"/>
          <p:nvPr/>
        </p:nvSpPr>
        <p:spPr>
          <a:xfrm>
            <a:off x="381000" y="266700"/>
            <a:ext cx="3238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第四节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售后咨询与处理工作流</a:t>
            </a:r>
            <a:endParaRPr/>
          </a:p>
        </p:txBody>
      </p:sp>
      <p:sp>
        <p:nvSpPr>
          <p:cNvPr id="876" name="文本框 875" descr="{&quot;isTemplate&quot;:true,&quot;type&quot;:&quot;text&quot;}"/>
          <p:cNvSpPr txBox="1"/>
          <p:nvPr/>
        </p:nvSpPr>
        <p:spPr>
          <a:xfrm>
            <a:off x="381000" y="504825"/>
            <a:ext cx="32385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展开售后处理子工作流</a:t>
            </a:r>
            <a:endParaRPr/>
          </a:p>
        </p:txBody>
      </p:sp>
      <p:sp>
        <p:nvSpPr>
          <p:cNvPr id="877" name="矩形 876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78" name="图形 87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1095375"/>
            <a:ext cx="11430000" cy="5086350"/>
          </a:xfrm>
          <a:prstGeom prst="rect">
            <a:avLst/>
          </a:prstGeom>
          <a:ln/>
        </p:spPr>
      </p:pic>
      <p:sp>
        <p:nvSpPr>
          <p:cNvPr id="879" name="任意形状 878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0" name="文本框 879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881" name="文本框 880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37 / 42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四节 · 课堂互动 04&lt;/Text&gt;&#10;            &lt;Text style={{ fontSize: 34, fontWeight: '600', color: '#123A78', marginTop: 8, lineHeight: 1.25 }}&gt;复用已说信息，再问真正缺的&lt;/Text&gt;&#10;        &lt;/Box&gt;&#10;        &lt;Box style={{ width: 96, height: 3, background: '#2F6FD0', marginTop: 58 }} /&gt;&#10;    &lt;/Box&gt;&#10;    &lt;Box style={{ height: 540, marginTop: 8, flexDirection: 'row', gap: 40 }}&gt;&#10;        &lt;Box style={{ width: 720, height: 540, justifyContent: 'space-between' }}&gt;&#10;            &lt;Box style={{ background: '#E9F0FA', borderRadius: 10, padding: '20px 24px', borderLeft: '5px solid #123A78' }}&gt;&#10;                &lt;Text style={{ fontSize: 16, color: '#2F6FD0', letterSpacing: 2 }}&gt;场景&lt;/Text&gt;&#10;                &lt;Text style={{ fontSize: 22, color: '#123A78', marginTop: 10, lineHeight: 1.5 }}&gt;&#10;                    用户说：&lt;span style={{ fontWeight: 'bold' }}&gt;「我买的 AirLite 右耳没声音，想换个新的。」&lt;/span&gt;&#10;                &lt;/Text&gt;&#10;                &lt;Text style={{ fontSize: 19, color: '#4A5568', marginTop: 10, lineHeight: 1.5 }}&gt;&#10;                    这句话已经带了三样东西：商品 = AirLite、故障 = 右耳无声、诉求 = 换货。&#10;                &lt;/Text&gt;&#10;            &lt;/Box&gt;&#10;            &lt;CodeBlock&#10;                code={`{&#10;  &quot;current_task&quot;: &quot;aftersales&quot;,&#10;  &quot;product&quot;: &quot;AirLite 蓝牙耳机&quot;,&#10;  &quot;fault&quot;: &quot;右耳无声音&quot;,&#10;  &quot;intent&quot;: &quot;exchange&quot;,&#10;  &quot;order_id&quot;: null,&#10;  &quot;missing&quot;: [&quot;order_id&quot;]&#10;}`}&#10;                language='json'&#10;                theme='github-light'&#10;                width={720}&#10;                fontSize={18}&#10;                macHeader={false}&#10;            /&gt;&#10;            &lt;Box style={{ background: '#FFFFFF', border: '1px solid #D6DCE5', borderRadius: 10, padding: '16px 20px' }}&gt;&#10;                &lt;Text style={{ fontSize: 19, color: '#123A78', fontWeight: 'bold', lineHeight: 1.45 }}&gt;追问三要素&lt;/Text&gt;&#10;                &lt;Text style={{ fontSize: 18, color: '#1A2230', marginTop: 8, lineHeight: 1.5 }}&gt;&#10;                    &lt;span style={{ fontWeight: 'bold' }}&gt;必问什么&lt;/span&gt;：只问还缺的字段 · &lt;span style={{ fontWeight: 'bold' }}&gt;什么时候停&lt;/span&gt;：字段齐了就停 · &lt;span style={{ fontWeight: 'bold' }}&gt;怎么记录&lt;/span&gt;：写回上下文，下一轮不再重问&#10;                &lt;/Text&gt;&#10;            &lt;/Box&gt;&#10;        &lt;/Box&gt;&#10;        &lt;Box style={{ flex: 1, height: 540, justifyContent: 'space-between' }}&gt;&#10;            &lt;Box style={{ background: '#FFFFFF', border: '1px solid #D6DCE5', borderRadius: 10, padding: '16px 20px', gap: 10 }}&gt;&#10;                &lt;Box style={{ flexDirection: 'row', alignItems: 'flex-start', gap: 14 }}&gt;&#10;                    &lt;Box style={{ width: 48, height: 48, background: '#F7F9FC', border: '1px solid #D6DCE5', borderRadius: 10, justifyContent: 'center', alignItems: 'center' }}&gt;&#10;                        &lt;Text style={{ fontSize: 22, color: '#123A78', fontWeight: 'bold', fontFamily: 'JetBrains Mono' }}&gt;A&lt;/Text&gt;&#10;                    &lt;/Box&gt;&#10;                    &lt;Text style={{ fontSize: 18, color: '#1A2230', lineHeight: 1.45, flex: 1 }}&gt;从头重新问一遍商品、故障和诉求&lt;/Text&gt;&#10;                &lt;/Box&gt;&#10;            &lt;/Box&gt;&#10;            &lt;Box style={{ background: '#FFFFFF', border: '1px solid #D6DCE5', borderRadius: 10, padding: '16px 20px', gap: 10 }}&gt;&#10;                &lt;Box style={{ flexDirection: 'row', alignItems: 'flex-start', gap: 14 }}&gt;&#10;                    &lt;Box style={{ width: 48, height: 48, background: '#F7F9FC', border: '1px solid #D6DCE5', borderRadius: 10, justifyContent: 'center', alignItems: 'center' }}&gt;&#10;                        &lt;Text style={{ fontSize: 22, color: '#123A78', fontWeight: 'bold', fontFamily: 'JetBrains Mono' }}&gt;B&lt;/Text&gt;&#10;                    &lt;/Box&gt;&#10;                    &lt;Text style={{ fontSize: 18, color: '#1A2230', lineHeight: 1.45, flex: 1 }}&gt;只追问还缺的字段（如订单号），其余复用&lt;/Text&gt;&#10;                &lt;/Box&gt;&#10;            &lt;/Box&gt;&#10;            &lt;Box style={{ background: '#FFFFFF', border: '1px solid #D6DCE5', borderRadius: 10, padding: '16px 20px', gap: 10 }}&gt;&#10;                &lt;Box style={{ flexDirection: 'row', alignItems: 'flex-start', gap: 14 }}&gt;&#10;                    &lt;Box style={{ width: 48, height: 48, background: '#F7F9FC', border: '1px solid #D6DCE5', borderRadius: 10, justifyContent: 'center', alignItems: 'center' }}&gt;&#10;                        &lt;Text style={{ fontSize: 22, color: '#123A78', fontWeight: 'bold', fontFamily: 'JetBrains Mono' }}&gt;C&lt;/Text&gt;&#10;                    &lt;/Box&gt;&#10;                    &lt;Text style={{ fontSize: 18, color: '#1A2230', lineHeight: 1.45, flex: 1 }}&gt;不再追问，直接帮用户提交换货申请&lt;/Text&gt;&#10;                &lt;/Box&gt;&#10;            &lt;/Box&gt;&#10;            &lt;Box style={{ background: '#123A78', borderRadius: 10, padding: '18px 20px' }}&gt;&#10;                &lt;Box style={{ flexDirection: 'row', alignItems: 'center', gap: 12 }}&gt;&#10;                    &lt;Box style={{ background: '#F2A21C', borderRadius: 6, padding: '5px 11px' }}&gt;&#10;                        &lt;Text style={{ fontSize: 15, color: '#FFFFFF', fontWeight: 'bold' }}&gt;答案&lt;/Text&gt;&#10;                    &lt;/Box&gt;&#10;                    &lt;Text style={{ fontSize: 25, color: '#FFFFFF', fontWeight: '600' }}&gt;B&lt;/Text&gt;&#10;                &lt;/Box&gt;&#10;                &lt;Text style={{ fontSize: 18, color: '#E9F0FA', marginTop: 10, lineHeight: 1.5 }}&gt;&#10;                    已经说过的不要重问，只问真正缺的那一项，把对话成本降下来。&#10;                &lt;/Text&gt;&#10;            &lt;/Box&gt;&#10;            &lt;Box style={{ background: '#FDF2F0', borderRadius: 10, padding: '14px 18px', borderLeft: '5px solid #C0392B' }}&gt;&#10;                &lt;Text style={{ fontSize: 17, color: '#C0392B', fontWeight: 'bold', lineHeight: 1.45 }}&gt;C 的风险&lt;/Text&gt;&#10;                &lt;Text style={{ fontSize: 17, color: '#1A2230', marginTop: 6, lineHeight: 1.45 }}&gt;没拿到订单号就提交，等于替用户决定了一笔订单。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8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文本框 883" descr="{&quot;isTemplate&quot;:true,&quot;type&quot;:&quot;text&quot;}"/>
          <p:cNvSpPr txBox="1"/>
          <p:nvPr/>
        </p:nvSpPr>
        <p:spPr>
          <a:xfrm>
            <a:off x="381000" y="266700"/>
            <a:ext cx="421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第四节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课堂互动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04</a:t>
            </a:r>
            <a:endParaRPr/>
          </a:p>
        </p:txBody>
      </p:sp>
      <p:sp>
        <p:nvSpPr>
          <p:cNvPr id="885" name="文本框 884" descr="{&quot;isTemplate&quot;:true,&quot;type&quot;:&quot;text&quot;}"/>
          <p:cNvSpPr txBox="1"/>
          <p:nvPr/>
        </p:nvSpPr>
        <p:spPr>
          <a:xfrm>
            <a:off x="381000" y="504825"/>
            <a:ext cx="42100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复用已说信息，再问真正缺的</a:t>
            </a:r>
            <a:endParaRPr/>
          </a:p>
        </p:txBody>
      </p:sp>
      <p:sp>
        <p:nvSpPr>
          <p:cNvPr id="886" name="矩形 885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7" name="圆角矩形 886"/>
          <p:cNvSpPr/>
          <p:nvPr/>
        </p:nvSpPr>
        <p:spPr>
          <a:xfrm>
            <a:off x="428625" y="1066800"/>
            <a:ext cx="6858000" cy="1476375"/>
          </a:xfrm>
          <a:prstGeom prst="roundRect">
            <a:avLst>
              <a:gd name="adj" fmla="val 6452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8" name="任意形状 887"/>
          <p:cNvSpPr/>
          <p:nvPr/>
        </p:nvSpPr>
        <p:spPr>
          <a:xfrm>
            <a:off x="428625" y="1066800"/>
            <a:ext cx="6858000" cy="1476375"/>
          </a:xfrm>
          <a:custGeom>
            <a:avLst/>
            <a:gdLst/>
            <a:ahLst/>
            <a:cxnLst/>
            <a:rect l="0" t="0" r="0" b="0"/>
            <a:pathLst>
              <a:path w="720" h="155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50"/>
                </a:lnTo>
                <a:cubicBezTo>
                  <a:pt x="5" y="152"/>
                  <a:pt x="7" y="154"/>
                  <a:pt x="9" y="155"/>
                </a:cubicBezTo>
                <a:cubicBezTo>
                  <a:pt x="4" y="154"/>
                  <a:pt x="0" y="150"/>
                  <a:pt x="0" y="14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9" name="文本框 888" descr="{&quot;isTemplate&quot;:true,&quot;type&quot;:&quot;text&quot;}"/>
          <p:cNvSpPr txBox="1"/>
          <p:nvPr/>
        </p:nvSpPr>
        <p:spPr>
          <a:xfrm>
            <a:off x="657225" y="1257300"/>
            <a:ext cx="63531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2F6FD0"/>
                </a:solidFill>
                <a:latin typeface="Microsoft YaHei"/>
                <a:ea typeface="Microsoft YaHei"/>
              </a:rPr>
              <a:t>场景</a:t>
            </a:r>
            <a:endParaRPr/>
          </a:p>
        </p:txBody>
      </p:sp>
      <p:sp>
        <p:nvSpPr>
          <p:cNvPr id="890" name="文本框 889" descr="{&quot;isTemplate&quot;:true,&quot;type&quot;:&quot;text&quot;}"/>
          <p:cNvSpPr txBox="1"/>
          <p:nvPr/>
        </p:nvSpPr>
        <p:spPr>
          <a:xfrm>
            <a:off x="657225" y="1543050"/>
            <a:ext cx="6353175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650">
                <a:solidFill>
                  <a:srgbClr val="123A78"/>
                </a:solidFill>
                <a:latin typeface="Microsoft YaHei"/>
                <a:ea typeface="Microsoft YaHei"/>
              </a:rPr>
              <a:t>用户说：</a:t>
            </a: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「我买的</a:t>
            </a:r>
            <a:r>
              <a:rPr lang="en-US" sz="1650" b="1">
                <a:solidFill>
                  <a:srgbClr val="123A78"/>
                </a:solidFill>
                <a:latin typeface="Microsoft YaHei"/>
                <a:ea typeface="Microsoft YaHei"/>
              </a:rPr>
              <a:t> AirLite </a:t>
            </a: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右耳没声音，想换个新的。」</a:t>
            </a:r>
            <a:endParaRPr/>
          </a:p>
        </p:txBody>
      </p:sp>
      <p:sp>
        <p:nvSpPr>
          <p:cNvPr id="891" name="文本框 890" descr="{&quot;isTemplate&quot;:true,&quot;type&quot;:&quot;text&quot;}"/>
          <p:cNvSpPr txBox="1"/>
          <p:nvPr/>
        </p:nvSpPr>
        <p:spPr>
          <a:xfrm>
            <a:off x="657225" y="2019300"/>
            <a:ext cx="63531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这句话已经带了三样东西：商品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= AirLite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、故障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=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右耳无声、诉求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=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换货。</a:t>
            </a:r>
            <a:endParaRPr/>
          </a:p>
        </p:txBody>
      </p:sp>
      <p:sp>
        <p:nvSpPr>
          <p:cNvPr id="892" name="圆角矩形 891"/>
          <p:cNvSpPr/>
          <p:nvPr/>
        </p:nvSpPr>
        <p:spPr>
          <a:xfrm>
            <a:off x="381000" y="5114925"/>
            <a:ext cx="6858000" cy="1323975"/>
          </a:xfrm>
          <a:prstGeom prst="roundRect">
            <a:avLst>
              <a:gd name="adj" fmla="val 719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3" name="文本框 892" descr="{&quot;isTemplate&quot;:true,&quot;type&quot;:&quot;text&quot;}"/>
          <p:cNvSpPr txBox="1"/>
          <p:nvPr/>
        </p:nvSpPr>
        <p:spPr>
          <a:xfrm>
            <a:off x="571500" y="5267325"/>
            <a:ext cx="64770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追问三要素</a:t>
            </a:r>
            <a:endParaRPr/>
          </a:p>
        </p:txBody>
      </p:sp>
      <p:sp>
        <p:nvSpPr>
          <p:cNvPr id="894" name="文本框 893" descr="{&quot;isTemplate&quot;:true,&quot;type&quot;:&quot;text&quot;}"/>
          <p:cNvSpPr txBox="1"/>
          <p:nvPr/>
        </p:nvSpPr>
        <p:spPr>
          <a:xfrm>
            <a:off x="571500" y="5667375"/>
            <a:ext cx="64770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必问什么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：只问还缺的字段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什么时候停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：字段齐了就停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怎么记录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：写回上下文，下一轮不再重问</a:t>
            </a:r>
            <a:endParaRPr/>
          </a:p>
        </p:txBody>
      </p:sp>
      <p:sp>
        <p:nvSpPr>
          <p:cNvPr id="895" name="圆角矩形 894"/>
          <p:cNvSpPr/>
          <p:nvPr/>
        </p:nvSpPr>
        <p:spPr>
          <a:xfrm>
            <a:off x="7620000" y="1066800"/>
            <a:ext cx="41910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6" name="圆角矩形 895"/>
          <p:cNvSpPr/>
          <p:nvPr/>
        </p:nvSpPr>
        <p:spPr>
          <a:xfrm>
            <a:off x="7810500" y="12192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7" name="文本框 896" descr="{&quot;isTemplate&quot;:true,&quot;type&quot;:&quot;text&quot;}"/>
          <p:cNvSpPr txBox="1"/>
          <p:nvPr/>
        </p:nvSpPr>
        <p:spPr>
          <a:xfrm>
            <a:off x="7962900" y="1323975"/>
            <a:ext cx="152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23A78"/>
                </a:solidFill>
                <a:latin typeface="JetBrains Mono"/>
                <a:ea typeface="JetBrains Mono"/>
              </a:rPr>
              <a:t>A</a:t>
            </a:r>
            <a:endParaRPr/>
          </a:p>
        </p:txBody>
      </p:sp>
      <p:sp>
        <p:nvSpPr>
          <p:cNvPr id="898" name="文本框 897" descr="{&quot;isTemplate&quot;:true,&quot;type&quot;:&quot;text&quot;}"/>
          <p:cNvSpPr txBox="1"/>
          <p:nvPr/>
        </p:nvSpPr>
        <p:spPr>
          <a:xfrm>
            <a:off x="8401050" y="1219200"/>
            <a:ext cx="32194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从头重新问一遍商品、故障和诉求</a:t>
            </a:r>
            <a:endParaRPr/>
          </a:p>
        </p:txBody>
      </p:sp>
      <p:sp>
        <p:nvSpPr>
          <p:cNvPr id="899" name="圆角矩形 898"/>
          <p:cNvSpPr/>
          <p:nvPr/>
        </p:nvSpPr>
        <p:spPr>
          <a:xfrm>
            <a:off x="7620000" y="1952625"/>
            <a:ext cx="419100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0" name="圆角矩形 899"/>
          <p:cNvSpPr/>
          <p:nvPr/>
        </p:nvSpPr>
        <p:spPr>
          <a:xfrm>
            <a:off x="7810500" y="2105025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1" name="文本框 900" descr="{&quot;isTemplate&quot;:true,&quot;type&quot;:&quot;text&quot;}"/>
          <p:cNvSpPr txBox="1"/>
          <p:nvPr/>
        </p:nvSpPr>
        <p:spPr>
          <a:xfrm>
            <a:off x="7962900" y="2209800"/>
            <a:ext cx="152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23A78"/>
                </a:solidFill>
                <a:latin typeface="JetBrains Mono"/>
                <a:ea typeface="JetBrains Mono"/>
              </a:rPr>
              <a:t>B</a:t>
            </a:r>
            <a:endParaRPr/>
          </a:p>
        </p:txBody>
      </p:sp>
      <p:sp>
        <p:nvSpPr>
          <p:cNvPr id="902" name="文本框 901" descr="{&quot;isTemplate&quot;:true,&quot;type&quot;:&quot;text&quot;}"/>
          <p:cNvSpPr txBox="1"/>
          <p:nvPr/>
        </p:nvSpPr>
        <p:spPr>
          <a:xfrm>
            <a:off x="8401050" y="2105025"/>
            <a:ext cx="32194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只追问还缺的字段（如订单号），其余复用</a:t>
            </a:r>
            <a:endParaRPr/>
          </a:p>
        </p:txBody>
      </p:sp>
      <p:sp>
        <p:nvSpPr>
          <p:cNvPr id="903" name="圆角矩形 902"/>
          <p:cNvSpPr/>
          <p:nvPr/>
        </p:nvSpPr>
        <p:spPr>
          <a:xfrm>
            <a:off x="7620000" y="2971800"/>
            <a:ext cx="41910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4" name="圆角矩形 903"/>
          <p:cNvSpPr/>
          <p:nvPr/>
        </p:nvSpPr>
        <p:spPr>
          <a:xfrm>
            <a:off x="7810500" y="31242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5" name="文本框 904" descr="{&quot;isTemplate&quot;:true,&quot;type&quot;:&quot;text&quot;}"/>
          <p:cNvSpPr txBox="1"/>
          <p:nvPr/>
        </p:nvSpPr>
        <p:spPr>
          <a:xfrm>
            <a:off x="7962900" y="3228975"/>
            <a:ext cx="152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23A78"/>
                </a:solidFill>
                <a:latin typeface="JetBrains Mono"/>
                <a:ea typeface="JetBrains Mono"/>
              </a:rPr>
              <a:t>C</a:t>
            </a:r>
            <a:endParaRPr/>
          </a:p>
        </p:txBody>
      </p:sp>
      <p:sp>
        <p:nvSpPr>
          <p:cNvPr id="906" name="文本框 905" descr="{&quot;isTemplate&quot;:true,&quot;type&quot;:&quot;text&quot;}"/>
          <p:cNvSpPr txBox="1"/>
          <p:nvPr/>
        </p:nvSpPr>
        <p:spPr>
          <a:xfrm>
            <a:off x="8401050" y="3124200"/>
            <a:ext cx="32194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不再追问，直接帮用户提交换货申请</a:t>
            </a:r>
            <a:endParaRPr/>
          </a:p>
        </p:txBody>
      </p:sp>
      <p:sp>
        <p:nvSpPr>
          <p:cNvPr id="916" name="任意形状 915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17" name="文本框 916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919" name="圆角矩形 918"/>
          <p:cNvSpPr/>
          <p:nvPr/>
        </p:nvSpPr>
        <p:spPr>
          <a:xfrm>
            <a:off x="381000" y="2543175"/>
            <a:ext cx="6858000" cy="2571750"/>
          </a:xfrm>
          <a:prstGeom prst="roundRect">
            <a:avLst>
              <a:gd name="adj" fmla="val 296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0" name="文本框 919"/>
          <p:cNvSpPr txBox="1"/>
          <p:nvPr/>
        </p:nvSpPr>
        <p:spPr>
          <a:xfrm>
            <a:off x="533400" y="2676525"/>
            <a:ext cx="6553200" cy="2305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{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"current_task"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"aftersales"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"product"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"AirLite 蓝牙耳机"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"fault"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"右耳无声音"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"intent"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"exchange"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"order_id"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null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"missing"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[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"order_id"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]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四节 · 售后咨询与处理工作流&lt;/Text&gt;&#10;            &lt;Text style={{ fontSize: 34, fontWeight: '600', color: '#123A78', marginTop: 8, lineHeight: 1.25 }}&gt;售后知识库内容与三类分工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432, border: '1px solid #D6DCE5', borderRadius: 10, overflow: 'hidden' }}&gt;&#10;            &lt;Table&#10;                style={{ width: '100%', height: '100%' }}&#10;                defaultTextStyle={{ fontSize: 19, textAlign: 'left', color: '#1A2230' }}&#10;                defaultCellStyle={{&#10;                    border: {&#10;                        left: { width: 1, color: '#E5E7EB' },&#10;                        right: { width: 1, color: '#E5E7EB' },&#10;                        top: { width: 1, color: '#E5E7EB' },&#10;                        bottom: { width: 1, color: '#E5E7EB' },&#10;                    },&#10;                }}&#10;                cells={[&#10;                    [&#10;                        { text: '知识材料', textStyle: { bold: true, color: '#FFFFFF', fontSize: 20 }, cellStyle: { background: { color: '#123A78' } } },&#10;                        { text: '解决的问题', textStyle: { bold: true, color: '#FFFFFF', fontSize: 20 }, cellStyle: { background: { color: '#123A78' } } },&#10;                        { text: '检索条件', textStyle: { bold: true, color: '#FFFFFF', fontSize: 20 }, cellStyle: { background: { color: '#123A78' } } },&#10;                    ],&#10;                    [&#10;                        { text: '换货 / 维修政策', textStyle: { color: '#123A78', bold: true } },&#10;                        { text: '是否支持、时限、所需材料' },&#10;                        { text: '商品类目 + 故障类型' },&#10;                    ],&#10;                    [&#10;                        { text: '商品规格与故障说明', textStyle: { color: '#123A78', bold: true } },&#10;                        { text: '什么现象对应什么部件' },&#10;                        { text: '型号 + 故障关键词' },&#10;                    ],&#10;                    [&#10;                        { text: '申请流程与表单字段', textStyle: { color: '#123A78', bold: true } },&#10;                        { text: '要填哪些信息、怎么提交' },&#10;                        { text: '业务类型（换货 / 维修）' },&#10;                    ],&#10;                    [&#10;                        { text: '受理范围与边界', textStyle: { color: '#123A78', bold: true } },&#10;                        { text: '哪些需转人工、哪些超范围' },&#10;                        { text: '业务范围 + 有效性' },&#10;                    ],&#10;                    [&#10;                        { text: '教学示例（DEMO-101）\nAirLite 右耳无声 → 符合换货，需订单号与故障描述', textStyle: { color: '#123A78', bold: true }, cellStyle: { background: { color: '#E9F0FA' } } },&#10;                        { text: '本次对话可直接命中', cellStyle: { background: { color: '#E9F0FA' } } },&#10;                        { text: '型号 AirLite + 故障 右耳无声', cellStyle: { background: { color: '#E9F0FA' } } },&#10;                    ],&#10;                ]}&#10;            /&gt;&#10;        &lt;/Box&gt;&#10;        &lt;Box style={{ height: 96, flexDirection: 'row', gap: 24, alignItems: 'stretch' }}&gt;&#10;            &lt;Box style={{ flex: 1, background: '#E9F0FA', borderRadius: 10, padding: '14px 20px', borderLeft: '5px solid #123A78' }}&gt;&#10;                &lt;Text style={{ fontSize: 19, color: '#123A78', fontWeight: 'bold', lineHeight: 1.4 }}&gt;解释规则（知识库）&lt;/Text&gt;&#10;                &lt;Text style={{ fontSize: 18, color: '#1A2230', marginTop: 6, lineHeight: 1.45 }}&gt;由内容 / 运营维护，回答「什么情况符合政策」。&lt;/Text&gt;&#10;            &lt;/Box&gt;&#10;            &lt;Box style={{ flex: 1, background: '#FFFFFF', border: '1px solid #D6DCE5', borderRadius: 10, padding: '14px 20px', borderLeft: '5px solid #2F6FD0' }}&gt;&#10;                &lt;Text style={{ fontSize: 19, color: '#2F6FD0', fontWeight: 'bold', lineHeight: 1.4 }}&gt;执行规则（系统 / 业务）&lt;/Text&gt;&#10;                &lt;Text style={{ fontSize: 18, color: '#1A2230', marginTop: 6, lineHeight: 1.45 }}&gt;由流程代码决定，回答「这次要不要受理、提交到哪」。&lt;/Text&gt;&#10;            &lt;/Box&gt;&#10;            &lt;Box style={{ width: 300, background: '#F7F9FC', borderRadius: 10, padding: '14px 18px', justifyContent: 'center' }}&gt;&#10;                &lt;Text style={{ fontSize: 18, color: '#4A5568', lineHeight: 1.5 }}&gt;两者分开，才不会把一篇文档当成判决。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9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矩形 9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3" name="文本框 922" descr="{&quot;isTemplate&quot;:true,&quot;type&quot;:&quot;text&quot;}"/>
          <p:cNvSpPr txBox="1"/>
          <p:nvPr/>
        </p:nvSpPr>
        <p:spPr>
          <a:xfrm>
            <a:off x="381000" y="266700"/>
            <a:ext cx="3886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第四节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售后咨询与处理工作流</a:t>
            </a:r>
            <a:endParaRPr/>
          </a:p>
        </p:txBody>
      </p:sp>
      <p:sp>
        <p:nvSpPr>
          <p:cNvPr id="924" name="文本框 923" descr="{&quot;isTemplate&quot;:true,&quot;type&quot;:&quot;text&quot;}"/>
          <p:cNvSpPr txBox="1"/>
          <p:nvPr/>
        </p:nvSpPr>
        <p:spPr>
          <a:xfrm>
            <a:off x="381000" y="504825"/>
            <a:ext cx="3886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售后知识库内容与三类分工</a:t>
            </a:r>
            <a:endParaRPr/>
          </a:p>
        </p:txBody>
      </p:sp>
      <p:sp>
        <p:nvSpPr>
          <p:cNvPr id="925" name="矩形 924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6" name="圆角矩形 925"/>
          <p:cNvSpPr/>
          <p:nvPr/>
        </p:nvSpPr>
        <p:spPr>
          <a:xfrm>
            <a:off x="381000" y="1066800"/>
            <a:ext cx="11430000" cy="4114800"/>
          </a:xfrm>
          <a:prstGeom prst="roundRect">
            <a:avLst>
              <a:gd name="adj" fmla="val 2315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927" name="表格 926"/>
          <p:cNvGraphicFramePr/>
          <p:nvPr/>
        </p:nvGraphicFramePr>
        <p:xfrm>
          <a:off x="381000" y="1066800"/>
          <a:ext cx="11430000" cy="4114801"/>
        </p:xfrm>
        <a:graphic>
          <a:graphicData uri="http://schemas.openxmlformats.org/drawingml/2006/table">
            <a:tbl>
              <a:tblPr/>
              <a:tblGrid>
                <a:gridCol w="5478762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908297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042941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626306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知识材料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解决的问题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检索条件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10081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换货 / 维修政策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是否支持、时限、所需材料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商品类目 + 故障类型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10081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商品规格与故障说明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什么现象对应什么部件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型号 + 故障关键词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10081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申请流程与表单字段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要填哪些信息、怎么提交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业务类型（换货 / 维修）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10081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受理范围与边界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哪些需转人工、哪些超范围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业务范围 + 有效性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1048171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教学示例（DEMO-101）
AirLite 右耳无声 → 符合换货，需订单号与故障描述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本次对话可直接命中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型号 AirLite + 故障 右耳无声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928" name="圆角矩形 927"/>
          <p:cNvSpPr/>
          <p:nvPr/>
        </p:nvSpPr>
        <p:spPr>
          <a:xfrm>
            <a:off x="428625" y="5295900"/>
            <a:ext cx="4057650" cy="1228725"/>
          </a:xfrm>
          <a:prstGeom prst="roundRect">
            <a:avLst>
              <a:gd name="adj" fmla="val 7752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9" name="任意形状 928"/>
          <p:cNvSpPr/>
          <p:nvPr/>
        </p:nvSpPr>
        <p:spPr>
          <a:xfrm>
            <a:off x="428625" y="5295900"/>
            <a:ext cx="4057650" cy="1228725"/>
          </a:xfrm>
          <a:custGeom>
            <a:avLst/>
            <a:gdLst/>
            <a:ahLst/>
            <a:cxnLst/>
            <a:rect l="0" t="0" r="0" b="0"/>
            <a:pathLst>
              <a:path w="426" h="129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24"/>
                </a:lnTo>
                <a:cubicBezTo>
                  <a:pt x="5" y="126"/>
                  <a:pt x="7" y="128"/>
                  <a:pt x="9" y="129"/>
                </a:cubicBezTo>
                <a:cubicBezTo>
                  <a:pt x="4" y="128"/>
                  <a:pt x="0" y="124"/>
                  <a:pt x="0" y="11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0" name="文本框 929" descr="{&quot;isTemplate&quot;:true,&quot;type&quot;:&quot;text&quot;}"/>
          <p:cNvSpPr txBox="1"/>
          <p:nvPr/>
        </p:nvSpPr>
        <p:spPr>
          <a:xfrm>
            <a:off x="619125" y="5429250"/>
            <a:ext cx="36290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解释规则（知识库）</a:t>
            </a:r>
            <a:endParaRPr/>
          </a:p>
        </p:txBody>
      </p:sp>
      <p:sp>
        <p:nvSpPr>
          <p:cNvPr id="931" name="文本框 930" descr="{&quot;isTemplate&quot;:true,&quot;type&quot;:&quot;text&quot;}"/>
          <p:cNvSpPr txBox="1"/>
          <p:nvPr/>
        </p:nvSpPr>
        <p:spPr>
          <a:xfrm>
            <a:off x="619125" y="5791200"/>
            <a:ext cx="36290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由内容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运营维护，回答「什么情况符合政策」。</a:t>
            </a:r>
            <a:endParaRPr/>
          </a:p>
        </p:txBody>
      </p:sp>
      <p:sp>
        <p:nvSpPr>
          <p:cNvPr id="932" name="圆角矩形 931"/>
          <p:cNvSpPr/>
          <p:nvPr/>
        </p:nvSpPr>
        <p:spPr>
          <a:xfrm>
            <a:off x="4714875" y="5295900"/>
            <a:ext cx="4057650" cy="1228725"/>
          </a:xfrm>
          <a:prstGeom prst="roundRect">
            <a:avLst>
              <a:gd name="adj" fmla="val 775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3" name="任意形状 932"/>
          <p:cNvSpPr/>
          <p:nvPr/>
        </p:nvSpPr>
        <p:spPr>
          <a:xfrm>
            <a:off x="4714875" y="5295900"/>
            <a:ext cx="4057650" cy="1228725"/>
          </a:xfrm>
          <a:custGeom>
            <a:avLst/>
            <a:gdLst/>
            <a:ahLst/>
            <a:cxnLst/>
            <a:rect l="0" t="0" r="0" b="0"/>
            <a:pathLst>
              <a:path w="426" h="129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24"/>
                </a:lnTo>
                <a:cubicBezTo>
                  <a:pt x="5" y="126"/>
                  <a:pt x="7" y="128"/>
                  <a:pt x="9" y="129"/>
                </a:cubicBezTo>
                <a:cubicBezTo>
                  <a:pt x="4" y="128"/>
                  <a:pt x="0" y="124"/>
                  <a:pt x="0" y="11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4" name="文本框 933" descr="{&quot;isTemplate&quot;:true,&quot;type&quot;:&quot;text&quot;}"/>
          <p:cNvSpPr txBox="1"/>
          <p:nvPr/>
        </p:nvSpPr>
        <p:spPr>
          <a:xfrm>
            <a:off x="4905375" y="5429250"/>
            <a:ext cx="36290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2F6FD0"/>
                </a:solidFill>
                <a:latin typeface="Microsoft YaHei"/>
                <a:ea typeface="Microsoft YaHei"/>
              </a:rPr>
              <a:t>执行规则（系统</a:t>
            </a:r>
            <a:r>
              <a:rPr lang="en-US" sz="1425" b="1">
                <a:solidFill>
                  <a:srgbClr val="2F6FD0"/>
                </a:solidFill>
                <a:latin typeface="Microsoft YaHei"/>
                <a:ea typeface="Microsoft YaHei"/>
              </a:rPr>
              <a:t> / </a:t>
            </a:r>
            <a:r>
              <a:rPr lang="zh-CN" sz="1425" b="1">
                <a:solidFill>
                  <a:srgbClr val="2F6FD0"/>
                </a:solidFill>
                <a:latin typeface="Microsoft YaHei"/>
                <a:ea typeface="Microsoft YaHei"/>
              </a:rPr>
              <a:t>业务）</a:t>
            </a:r>
            <a:endParaRPr/>
          </a:p>
        </p:txBody>
      </p:sp>
      <p:sp>
        <p:nvSpPr>
          <p:cNvPr id="935" name="文本框 934" descr="{&quot;isTemplate&quot;:true,&quot;type&quot;:&quot;text&quot;}"/>
          <p:cNvSpPr txBox="1"/>
          <p:nvPr/>
        </p:nvSpPr>
        <p:spPr>
          <a:xfrm>
            <a:off x="4905375" y="5791200"/>
            <a:ext cx="36290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由流程代码决定，回答「这次要不要受理、提交到哪」。</a:t>
            </a:r>
            <a:endParaRPr/>
          </a:p>
        </p:txBody>
      </p:sp>
      <p:sp>
        <p:nvSpPr>
          <p:cNvPr id="936" name="圆角矩形 935"/>
          <p:cNvSpPr/>
          <p:nvPr/>
        </p:nvSpPr>
        <p:spPr>
          <a:xfrm>
            <a:off x="8953500" y="5295900"/>
            <a:ext cx="2857500" cy="914400"/>
          </a:xfrm>
          <a:prstGeom prst="roundRect">
            <a:avLst>
              <a:gd name="adj" fmla="val 1041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7" name="文本框 936" descr="{&quot;isTemplate&quot;:true,&quot;type&quot;:&quot;text&quot;}"/>
          <p:cNvSpPr txBox="1"/>
          <p:nvPr/>
        </p:nvSpPr>
        <p:spPr>
          <a:xfrm>
            <a:off x="9124950" y="5448300"/>
            <a:ext cx="25146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两者分开，才不会把一篇文档当成判决。</a:t>
            </a:r>
            <a:endParaRPr/>
          </a:p>
        </p:txBody>
      </p:sp>
      <p:sp>
        <p:nvSpPr>
          <p:cNvPr id="938" name="任意形状 937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9" name="文本框 938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940" name="文本框 939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39 / 42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四节 · 售后咨询与处理工作流&lt;/Text&gt;&#10;            &lt;Text style={{ fontSize: 34, fontWeight: '600', color: '#123A78', marginTop: 8, lineHeight: 1.25 }}&gt;确认页、改口与模拟提交&lt;/Text&gt;&#10;        &lt;/Box&gt;&#10;        &lt;Box style={{ width: 96, height: 3, background: '#2F6FD0', marginTop: 58 }} /&gt;&#10;    &lt;/Box&gt;&#10;    &lt;Box style={{ height: 540, marginTop: 8, flexDirection: 'row', gap: 32 }}&gt;&#10;        &lt;Box style={{ width: 660, height: 540, background: '#FFFFFF', border: '1px solid #D6DCE5', borderRadius: 12, overflow: 'hidden' }}&gt;&#10;            &lt;Box style={{ height: 54, background: '#123A78', padding: '0 24px', alignItems: 'center' }}&gt;&#10;                &lt;Text style={{ fontSize: 22, fontWeight: '600', color: '#FFFFFF' }}&gt;请确认你的换货申请&lt;/Text&gt;&#10;            &lt;/Box&gt;&#10;            &lt;Box style={{ padding: '20px 24px', gap: 4 }}&gt;&#10;                &lt;Box style={{ flexDirection: 'row', alignItems: 'center', padding: '12px 0', borderBottom: '1px solid #E5E7EB' }}&gt;&#10;                    &lt;Text style={{ width: 120, fontSize: 19, color: '#8B97A8' }}&gt;订单&lt;/Text&gt;&#10;                    &lt;Text style={{ fontSize: 20, color: '#1A2230', fontWeight: 'bold', flex: 1 }}&gt;DEMO-101&lt;/Text&gt;&#10;                &lt;/Box&gt;&#10;                &lt;Box style={{ flexDirection: 'row', alignItems: 'center', padding: '12px 0', borderBottom: '1px solid #E5E7EB' }}&gt;&#10;                    &lt;Text style={{ width: 120, fontSize: 19, color: '#8B97A8' }}&gt;商品&lt;/Text&gt;&#10;                    &lt;Text style={{ fontSize: 20, color: '#1A2230', fontWeight: 'bold', flex: 1 }}&gt;AirLite 蓝牙耳机&lt;/Text&gt;&#10;                &lt;/Box&gt;&#10;                &lt;Box style={{ flexDirection: 'row', alignItems: 'center', padding: '12px 0', borderBottom: '1px solid #E5E7EB' }}&gt;&#10;                    &lt;Text style={{ width: 120, fontSize: 19, color: '#8B97A8' }}&gt;故障&lt;/Text&gt;&#10;                    &lt;Text style={{ fontSize: 20, color: '#1A2230', fontWeight: 'bold', flex: 1 }}&gt;右耳无声音&lt;/Text&gt;&#10;                &lt;/Box&gt;&#10;                &lt;Box style={{ flexDirection: 'row', alignItems: 'center', padding: '12px 0', borderBottom: '1px solid #E5E7EB' }}&gt;&#10;                    &lt;Text style={{ width: 120, fontSize: 19, color: '#8B97A8' }}&gt;诉求&lt;/Text&gt;&#10;                    &lt;Text style={{ fontSize: 20, color: '#1A2230', fontWeight: 'bold', flex: 1 }}&gt;申请换货&lt;/Text&gt;&#10;                &lt;/Box&gt;&#10;                &lt;Box style={{ flexDirection: 'row', gap: 16, marginTop: 20 }}&gt;&#10;                    &lt;Box style={{ background: '#123A78', borderRadius: 8, padding: '12px 28px', justifyContent: 'center', alignItems: 'center' }}&gt;&#10;                        &lt;Text style={{ fontSize: 20, color: '#FFFFFF', fontWeight: 'bold' }}&gt;确认提交&lt;/Text&gt;&#10;                    &lt;/Box&gt;&#10;                    &lt;Box style={{ background: '#FFFFFF', border: '1px solid #D6DCE5', borderRadius: 8, padding: '12px 28px', justifyContent: 'center', alignItems: 'center' }}&gt;&#10;                        &lt;Text style={{ fontSize: 20, color: '#4A5568', fontWeight: 'bold' }}&gt;我要改&lt;/Text&gt;&#10;                    &lt;/Box&gt;&#10;                &lt;/Box&gt;&#10;                &lt;Text style={{ fontSize: 17, color: '#8B97A8', marginTop: 16, lineHeight: 1.45 }}&gt;提交后状态：pending_review（待审核），不是已批准。&lt;/Text&gt;&#10;            &lt;/Box&gt;&#10;        &lt;/Box&gt;&#10;        &lt;Box style={{ flex: 1, height: 540, justifyContent: 'space-between' }}&gt;&#10;            &lt;CodeBlock&#10;                code={`{&#10;  &quot;request_type&quot;: &quot;exchange&quot;,&#10;  &quot;order_id&quot;: &quot;DEMO-101&quot;,&#10;  &quot;product&quot;: &quot;AirLite 蓝牙耳机&quot;,&#10;  &quot;fault&quot;: &quot;右耳无声音&quot;,&#10;  &quot;status&quot;: &quot;pending_review&quot;&#10;}`}&#10;                language='json'&#10;                theme='github-light'&#10;                width={468}&#10;                fontSize={18}&#10;                macHeader={false}&#10;            /&gt;&#10;            &lt;Box style={{ background: '#E9F0FA', borderRadius: 10, padding: '14px 18px', borderLeft: '5px solid #123A78' }}&gt;&#10;                &lt;Text style={{ fontSize: 18, color: '#123A78', fontWeight: 'bold', lineHeight: 1.4 }}&gt;可以说&lt;/Text&gt;&#10;                &lt;Text style={{ fontSize: 17, color: '#1A2230', marginTop: 6, lineHeight: 1.5 }}&gt;「已提交换货申请，状态：待审核（pending_review），结果以业务方通知为准。」&lt;/Text&gt;&#10;            &lt;/Box&gt;&#10;            &lt;Box style={{ background: '#FDF2F0', borderRadius: 10, padding: '14px 18px', borderLeft: '5px solid #C0392B' }}&gt;&#10;                &lt;Text style={{ fontSize: 18, color: '#C0392B', fontWeight: 'bold', lineHeight: 1.4 }}&gt;不该说&lt;/Text&gt;&#10;                &lt;Text style={{ fontSize: 17, color: '#1A2230', marginTop: 6, lineHeight: 1.5 }}&gt;「已为你换货成功」 / 「明天就能收到新耳机」&lt;/Text&gt;&#10;            &lt;/Box&gt;&#10;            &lt;Box style={{ background: '#FFFFFF', border: '1px solid #D6DCE5', borderRadius: 10, padding: '14px 18px' }}&gt;&#10;                &lt;Text style={{ fontSize: 17, color: '#1A2230', lineHeight: 1.5 }}&gt;接口超时不能盲目重提；应返回&lt;span style={{ fontWeight: 'bold', color: '#C0392B' }}&gt;失败&lt;/span&gt;，携带上下文转人工。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40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矩形 9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72" name="文本框 971" descr="{&quot;isTemplate&quot;:true,&quot;type&quot;:&quot;text&quot;}"/>
          <p:cNvSpPr txBox="1"/>
          <p:nvPr/>
        </p:nvSpPr>
        <p:spPr>
          <a:xfrm>
            <a:off x="381000" y="266700"/>
            <a:ext cx="35623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第四节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售后咨询与处理工作流</a:t>
            </a:r>
            <a:endParaRPr/>
          </a:p>
        </p:txBody>
      </p:sp>
      <p:sp>
        <p:nvSpPr>
          <p:cNvPr id="973" name="文本框 972" descr="{&quot;isTemplate&quot;:true,&quot;type&quot;:&quot;text&quot;}"/>
          <p:cNvSpPr txBox="1"/>
          <p:nvPr/>
        </p:nvSpPr>
        <p:spPr>
          <a:xfrm>
            <a:off x="381000" y="504825"/>
            <a:ext cx="35623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确认页、改口与模拟提交</a:t>
            </a:r>
            <a:endParaRPr/>
          </a:p>
        </p:txBody>
      </p:sp>
      <p:sp>
        <p:nvSpPr>
          <p:cNvPr id="974" name="矩形 973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75" name="圆角矩形 974"/>
          <p:cNvSpPr/>
          <p:nvPr/>
        </p:nvSpPr>
        <p:spPr>
          <a:xfrm>
            <a:off x="381000" y="1066800"/>
            <a:ext cx="6286500" cy="5143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6" name="任意形状 975"/>
          <p:cNvSpPr/>
          <p:nvPr/>
        </p:nvSpPr>
        <p:spPr>
          <a:xfrm>
            <a:off x="381000" y="1066800"/>
            <a:ext cx="6286500" cy="514350"/>
          </a:xfrm>
          <a:custGeom>
            <a:avLst/>
            <a:gdLst/>
            <a:ahLst/>
            <a:cxnLst/>
            <a:rect l="0" t="0" r="0" b="0"/>
            <a:pathLst>
              <a:path w="660" h="54">
                <a:moveTo>
                  <a:pt x="648" y="0"/>
                </a:moveTo>
                <a:cubicBezTo>
                  <a:pt x="655" y="0"/>
                  <a:pt x="660" y="5"/>
                  <a:pt x="660" y="12"/>
                </a:cubicBezTo>
                <a:lnTo>
                  <a:pt x="660" y="54"/>
                </a:lnTo>
                <a:lnTo>
                  <a:pt x="0" y="54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648" y="0"/>
                </a:ln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77" name="文本框 976" descr="{&quot;isTemplate&quot;:true,&quot;type&quot;:&quot;text&quot;}"/>
          <p:cNvSpPr txBox="1"/>
          <p:nvPr/>
        </p:nvSpPr>
        <p:spPr>
          <a:xfrm>
            <a:off x="2581275" y="1066800"/>
            <a:ext cx="18859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请确认你的换货申请</a:t>
            </a:r>
            <a:endParaRPr/>
          </a:p>
        </p:txBody>
      </p:sp>
      <p:sp>
        <p:nvSpPr>
          <p:cNvPr id="978" name="任意形状 977"/>
          <p:cNvSpPr/>
          <p:nvPr/>
        </p:nvSpPr>
        <p:spPr>
          <a:xfrm>
            <a:off x="609600" y="1771650"/>
            <a:ext cx="5829300" cy="476250"/>
          </a:xfrm>
          <a:custGeom>
            <a:avLst/>
            <a:gdLst/>
            <a:ahLst/>
            <a:cxnLst/>
            <a:rect l="0" t="0" r="0" b="0"/>
            <a:pathLst>
              <a:path w="612" h="50">
                <a:moveTo>
                  <a:pt x="0" y="49"/>
                </a:moveTo>
                <a:lnTo>
                  <a:pt x="612" y="49"/>
                </a:lnTo>
                <a:lnTo>
                  <a:pt x="61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79" name="文本框 978" descr="{&quot;isTemplate&quot;:true,&quot;type&quot;:&quot;text&quot;}"/>
          <p:cNvSpPr txBox="1"/>
          <p:nvPr/>
        </p:nvSpPr>
        <p:spPr>
          <a:xfrm>
            <a:off x="609600" y="1895475"/>
            <a:ext cx="1143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订单</a:t>
            </a:r>
            <a:endParaRPr/>
          </a:p>
        </p:txBody>
      </p:sp>
      <p:sp>
        <p:nvSpPr>
          <p:cNvPr id="980" name="文本框 979" descr="{&quot;isTemplate&quot;:true,&quot;type&quot;:&quot;text&quot;}"/>
          <p:cNvSpPr txBox="1"/>
          <p:nvPr/>
        </p:nvSpPr>
        <p:spPr>
          <a:xfrm>
            <a:off x="1752600" y="1885950"/>
            <a:ext cx="4686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DEMO-101</a:t>
            </a:r>
            <a:endParaRPr/>
          </a:p>
        </p:txBody>
      </p:sp>
      <p:sp>
        <p:nvSpPr>
          <p:cNvPr id="981" name="任意形状 980"/>
          <p:cNvSpPr/>
          <p:nvPr/>
        </p:nvSpPr>
        <p:spPr>
          <a:xfrm>
            <a:off x="609600" y="2276475"/>
            <a:ext cx="5829300" cy="476250"/>
          </a:xfrm>
          <a:custGeom>
            <a:avLst/>
            <a:gdLst/>
            <a:ahLst/>
            <a:cxnLst/>
            <a:rect l="0" t="0" r="0" b="0"/>
            <a:pathLst>
              <a:path w="612" h="50">
                <a:moveTo>
                  <a:pt x="0" y="49"/>
                </a:moveTo>
                <a:lnTo>
                  <a:pt x="612" y="49"/>
                </a:lnTo>
                <a:lnTo>
                  <a:pt x="61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82" name="文本框 981" descr="{&quot;isTemplate&quot;:true,&quot;type&quot;:&quot;text&quot;}"/>
          <p:cNvSpPr txBox="1"/>
          <p:nvPr/>
        </p:nvSpPr>
        <p:spPr>
          <a:xfrm>
            <a:off x="609600" y="2400300"/>
            <a:ext cx="1143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商品</a:t>
            </a:r>
            <a:endParaRPr/>
          </a:p>
        </p:txBody>
      </p:sp>
      <p:sp>
        <p:nvSpPr>
          <p:cNvPr id="983" name="文本框 982" descr="{&quot;isTemplate&quot;:true,&quot;type&quot;:&quot;text&quot;}"/>
          <p:cNvSpPr txBox="1"/>
          <p:nvPr/>
        </p:nvSpPr>
        <p:spPr>
          <a:xfrm>
            <a:off x="1752600" y="2390775"/>
            <a:ext cx="4686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AirLite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蓝牙耳机</a:t>
            </a:r>
            <a:endParaRPr/>
          </a:p>
        </p:txBody>
      </p:sp>
      <p:sp>
        <p:nvSpPr>
          <p:cNvPr id="984" name="任意形状 983"/>
          <p:cNvSpPr/>
          <p:nvPr/>
        </p:nvSpPr>
        <p:spPr>
          <a:xfrm>
            <a:off x="609600" y="2781300"/>
            <a:ext cx="5829300" cy="476250"/>
          </a:xfrm>
          <a:custGeom>
            <a:avLst/>
            <a:gdLst/>
            <a:ahLst/>
            <a:cxnLst/>
            <a:rect l="0" t="0" r="0" b="0"/>
            <a:pathLst>
              <a:path w="612" h="50">
                <a:moveTo>
                  <a:pt x="0" y="49"/>
                </a:moveTo>
                <a:lnTo>
                  <a:pt x="612" y="49"/>
                </a:lnTo>
                <a:lnTo>
                  <a:pt x="61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85" name="文本框 984" descr="{&quot;isTemplate&quot;:true,&quot;type&quot;:&quot;text&quot;}"/>
          <p:cNvSpPr txBox="1"/>
          <p:nvPr/>
        </p:nvSpPr>
        <p:spPr>
          <a:xfrm>
            <a:off x="609600" y="2905125"/>
            <a:ext cx="1143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故障</a:t>
            </a:r>
            <a:endParaRPr/>
          </a:p>
        </p:txBody>
      </p:sp>
      <p:sp>
        <p:nvSpPr>
          <p:cNvPr id="986" name="文本框 985" descr="{&quot;isTemplate&quot;:true,&quot;type&quot;:&quot;text&quot;}"/>
          <p:cNvSpPr txBox="1"/>
          <p:nvPr/>
        </p:nvSpPr>
        <p:spPr>
          <a:xfrm>
            <a:off x="1752600" y="2895600"/>
            <a:ext cx="4686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右耳无声音</a:t>
            </a:r>
            <a:endParaRPr/>
          </a:p>
        </p:txBody>
      </p:sp>
      <p:sp>
        <p:nvSpPr>
          <p:cNvPr id="987" name="任意形状 986"/>
          <p:cNvSpPr/>
          <p:nvPr/>
        </p:nvSpPr>
        <p:spPr>
          <a:xfrm>
            <a:off x="609600" y="3286125"/>
            <a:ext cx="5829300" cy="476250"/>
          </a:xfrm>
          <a:custGeom>
            <a:avLst/>
            <a:gdLst/>
            <a:ahLst/>
            <a:cxnLst/>
            <a:rect l="0" t="0" r="0" b="0"/>
            <a:pathLst>
              <a:path w="612" h="50">
                <a:moveTo>
                  <a:pt x="0" y="49"/>
                </a:moveTo>
                <a:lnTo>
                  <a:pt x="612" y="49"/>
                </a:lnTo>
                <a:lnTo>
                  <a:pt x="61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88" name="文本框 987" descr="{&quot;isTemplate&quot;:true,&quot;type&quot;:&quot;text&quot;}"/>
          <p:cNvSpPr txBox="1"/>
          <p:nvPr/>
        </p:nvSpPr>
        <p:spPr>
          <a:xfrm>
            <a:off x="609600" y="3409950"/>
            <a:ext cx="1143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诉求</a:t>
            </a:r>
            <a:endParaRPr/>
          </a:p>
        </p:txBody>
      </p:sp>
      <p:sp>
        <p:nvSpPr>
          <p:cNvPr id="989" name="文本框 988" descr="{&quot;isTemplate&quot;:true,&quot;type&quot;:&quot;text&quot;}"/>
          <p:cNvSpPr txBox="1"/>
          <p:nvPr/>
        </p:nvSpPr>
        <p:spPr>
          <a:xfrm>
            <a:off x="1752600" y="3400425"/>
            <a:ext cx="4686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申请换货</a:t>
            </a:r>
            <a:endParaRPr/>
          </a:p>
        </p:txBody>
      </p:sp>
      <p:sp>
        <p:nvSpPr>
          <p:cNvPr id="990" name="圆角矩形 989"/>
          <p:cNvSpPr/>
          <p:nvPr/>
        </p:nvSpPr>
        <p:spPr>
          <a:xfrm>
            <a:off x="609600" y="3981450"/>
            <a:ext cx="1295400" cy="457200"/>
          </a:xfrm>
          <a:prstGeom prst="roundRect">
            <a:avLst>
              <a:gd name="adj" fmla="val 1666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1" name="文本框 990" descr="{&quot;isTemplate&quot;:true,&quot;type&quot;:&quot;text&quot;}"/>
          <p:cNvSpPr txBox="1"/>
          <p:nvPr/>
        </p:nvSpPr>
        <p:spPr>
          <a:xfrm>
            <a:off x="876300" y="4095750"/>
            <a:ext cx="762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确认提交</a:t>
            </a:r>
            <a:endParaRPr/>
          </a:p>
        </p:txBody>
      </p:sp>
      <p:sp>
        <p:nvSpPr>
          <p:cNvPr id="992" name="圆角矩形 991"/>
          <p:cNvSpPr/>
          <p:nvPr/>
        </p:nvSpPr>
        <p:spPr>
          <a:xfrm>
            <a:off x="2057400" y="398145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3" name="文本框 992" descr="{&quot;isTemplate&quot;:true,&quot;type&quot;:&quot;text&quot;}"/>
          <p:cNvSpPr txBox="1"/>
          <p:nvPr/>
        </p:nvSpPr>
        <p:spPr>
          <a:xfrm>
            <a:off x="2324100" y="4095750"/>
            <a:ext cx="571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4A5568"/>
                </a:solidFill>
                <a:latin typeface="Microsoft YaHei"/>
                <a:ea typeface="Microsoft YaHei"/>
              </a:rPr>
              <a:t>我要改</a:t>
            </a:r>
            <a:endParaRPr/>
          </a:p>
        </p:txBody>
      </p:sp>
      <p:sp>
        <p:nvSpPr>
          <p:cNvPr id="994" name="文本框 993" descr="{&quot;isTemplate&quot;:true,&quot;type&quot;:&quot;text&quot;}"/>
          <p:cNvSpPr txBox="1"/>
          <p:nvPr/>
        </p:nvSpPr>
        <p:spPr>
          <a:xfrm>
            <a:off x="609600" y="4629150"/>
            <a:ext cx="58293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提交后状态：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pending_review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（待审核），不是已批准。</a:t>
            </a:r>
            <a:endParaRPr/>
          </a:p>
        </p:txBody>
      </p:sp>
      <p:sp>
        <p:nvSpPr>
          <p:cNvPr id="995" name="圆角矩形 994"/>
          <p:cNvSpPr/>
          <p:nvPr/>
        </p:nvSpPr>
        <p:spPr>
          <a:xfrm>
            <a:off x="7019925" y="3409950"/>
            <a:ext cx="4838700" cy="1209675"/>
          </a:xfrm>
          <a:prstGeom prst="roundRect">
            <a:avLst>
              <a:gd name="adj" fmla="val 7874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6" name="任意形状 995"/>
          <p:cNvSpPr/>
          <p:nvPr/>
        </p:nvSpPr>
        <p:spPr>
          <a:xfrm>
            <a:off x="7019925" y="3409950"/>
            <a:ext cx="4838700" cy="1209675"/>
          </a:xfrm>
          <a:custGeom>
            <a:avLst/>
            <a:gdLst/>
            <a:ahLst/>
            <a:cxnLst/>
            <a:rect l="0" t="0" r="0" b="0"/>
            <a:pathLst>
              <a:path w="508" h="127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22"/>
                </a:lnTo>
                <a:cubicBezTo>
                  <a:pt x="5" y="124"/>
                  <a:pt x="7" y="126"/>
                  <a:pt x="9" y="127"/>
                </a:cubicBezTo>
                <a:cubicBezTo>
                  <a:pt x="4" y="126"/>
                  <a:pt x="0" y="122"/>
                  <a:pt x="0" y="11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7" name="文本框 996" descr="{&quot;isTemplate&quot;:true,&quot;type&quot;:&quot;text&quot;}"/>
          <p:cNvSpPr txBox="1"/>
          <p:nvPr/>
        </p:nvSpPr>
        <p:spPr>
          <a:xfrm>
            <a:off x="7191375" y="3543300"/>
            <a:ext cx="444817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123A78"/>
                </a:solidFill>
                <a:latin typeface="Microsoft YaHei"/>
                <a:ea typeface="Microsoft YaHei"/>
              </a:rPr>
              <a:t>可以说</a:t>
            </a:r>
            <a:endParaRPr/>
          </a:p>
        </p:txBody>
      </p:sp>
      <p:sp>
        <p:nvSpPr>
          <p:cNvPr id="998" name="文本框 997" descr="{&quot;isTemplate&quot;:true,&quot;type&quot;:&quot;text&quot;}"/>
          <p:cNvSpPr txBox="1"/>
          <p:nvPr/>
        </p:nvSpPr>
        <p:spPr>
          <a:xfrm>
            <a:off x="7191375" y="3895725"/>
            <a:ext cx="44481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「已提交换货申请，状态：待审核（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pending_review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），结果以业务方通知为准。」</a:t>
            </a:r>
            <a:endParaRPr/>
          </a:p>
        </p:txBody>
      </p:sp>
      <p:sp>
        <p:nvSpPr>
          <p:cNvPr id="999" name="圆角矩形 998"/>
          <p:cNvSpPr/>
          <p:nvPr/>
        </p:nvSpPr>
        <p:spPr>
          <a:xfrm>
            <a:off x="7019925" y="4676775"/>
            <a:ext cx="4838700" cy="914400"/>
          </a:xfrm>
          <a:prstGeom prst="roundRect">
            <a:avLst>
              <a:gd name="adj" fmla="val 10417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0" name="任意形状 999"/>
          <p:cNvSpPr/>
          <p:nvPr/>
        </p:nvSpPr>
        <p:spPr>
          <a:xfrm>
            <a:off x="7019925" y="4676775"/>
            <a:ext cx="4838700" cy="914400"/>
          </a:xfrm>
          <a:custGeom>
            <a:avLst/>
            <a:gdLst/>
            <a:ahLst/>
            <a:cxnLst/>
            <a:rect l="0" t="0" r="0" b="0"/>
            <a:pathLst>
              <a:path w="508" h="9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1"/>
                </a:lnTo>
                <a:cubicBezTo>
                  <a:pt x="5" y="93"/>
                  <a:pt x="7" y="95"/>
                  <a:pt x="9" y="96"/>
                </a:cubicBezTo>
                <a:cubicBezTo>
                  <a:pt x="4" y="95"/>
                  <a:pt x="0" y="91"/>
                  <a:pt x="0" y="8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1" name="文本框 1000" descr="{&quot;isTemplate&quot;:true,&quot;type&quot;:&quot;text&quot;}"/>
          <p:cNvSpPr txBox="1"/>
          <p:nvPr/>
        </p:nvSpPr>
        <p:spPr>
          <a:xfrm>
            <a:off x="7191375" y="4810125"/>
            <a:ext cx="444817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C0392B"/>
                </a:solidFill>
                <a:latin typeface="Microsoft YaHei"/>
                <a:ea typeface="Microsoft YaHei"/>
              </a:rPr>
              <a:t>不该说</a:t>
            </a:r>
            <a:endParaRPr/>
          </a:p>
        </p:txBody>
      </p:sp>
      <p:sp>
        <p:nvSpPr>
          <p:cNvPr id="1002" name="文本框 1001" descr="{&quot;isTemplate&quot;:true,&quot;type&quot;:&quot;text&quot;}"/>
          <p:cNvSpPr txBox="1"/>
          <p:nvPr/>
        </p:nvSpPr>
        <p:spPr>
          <a:xfrm>
            <a:off x="7191375" y="5162550"/>
            <a:ext cx="444817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「已为你换货成功」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「明天就能收到新耳机」</a:t>
            </a:r>
            <a:endParaRPr/>
          </a:p>
        </p:txBody>
      </p:sp>
      <p:sp>
        <p:nvSpPr>
          <p:cNvPr id="1003" name="圆角矩形 1002"/>
          <p:cNvSpPr/>
          <p:nvPr/>
        </p:nvSpPr>
        <p:spPr>
          <a:xfrm>
            <a:off x="6972300" y="5648325"/>
            <a:ext cx="4838700" cy="561975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4" name="文本框 1003" descr="{&quot;isTemplate&quot;:true,&quot;type&quot;:&quot;text&quot;}"/>
          <p:cNvSpPr txBox="1"/>
          <p:nvPr/>
        </p:nvSpPr>
        <p:spPr>
          <a:xfrm>
            <a:off x="7143750" y="5781675"/>
            <a:ext cx="44958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接口超时不能盲目重提；应返回</a:t>
            </a:r>
            <a:r>
              <a:rPr lang="zh-CN" sz="1275" b="1">
                <a:solidFill>
                  <a:srgbClr val="C0392B"/>
                </a:solidFill>
                <a:latin typeface="Microsoft YaHei"/>
                <a:ea typeface="Microsoft YaHei"/>
              </a:rPr>
              <a:t>失败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，携带上下文转人工。</a:t>
            </a:r>
            <a:endParaRPr/>
          </a:p>
        </p:txBody>
      </p:sp>
      <p:sp>
        <p:nvSpPr>
          <p:cNvPr id="1005" name="任意形状 1004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6" name="文本框 1005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1007" name="文本框 1006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3A78"/>
                </a:solidFill>
                <a:latin typeface="JetBrains Mono"/>
                <a:ea typeface="JetBrains Mono"/>
              </a:rPr>
              <a:t>40 / 42</a:t>
            </a:r>
            <a:endParaRPr/>
          </a:p>
        </p:txBody>
      </p:sp>
      <p:sp>
        <p:nvSpPr>
          <p:cNvPr id="1008" name="圆角矩形 1007"/>
          <p:cNvSpPr/>
          <p:nvPr/>
        </p:nvSpPr>
        <p:spPr>
          <a:xfrm>
            <a:off x="6972300" y="1066800"/>
            <a:ext cx="4838700" cy="2286000"/>
          </a:xfrm>
          <a:prstGeom prst="roundRect">
            <a:avLst>
              <a:gd name="adj" fmla="val 333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9" name="文本框 1008"/>
          <p:cNvSpPr txBox="1"/>
          <p:nvPr/>
        </p:nvSpPr>
        <p:spPr>
          <a:xfrm>
            <a:off x="7124700" y="1200150"/>
            <a:ext cx="4533900" cy="2019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{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"request_type"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"exchange"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"order_id"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"DEMO-101"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"product"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"AirLite 蓝牙耳机"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"fault"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"右耳无声音"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"status"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"pending_review"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linear-gradient(135deg,#123A78 0%,#2F6FD0 100%)', padding: '0', display: 'flex', flexDirection: 'column', alignItems: 'center', justifyContent: 'center' }}&gt;&#10;    &lt;Text style={{ fontSize: 16, color: '#E9F0FA', letterSpacing: 6, fontFamily: 'JetBrains Mono' }}&gt;第二课 · 收束&lt;/Text&gt;&#10;    &lt;Text style={{ fontSize: 44, fontWeight: '700', color: '#FFFFFF', marginTop: 20, lineHeight: 1.3, textAlign: 'center' }}&gt;&#10;        把用户的自然语言，接到确定的业务流程上。&#10;    &lt;/Text&gt;&#10;    &lt;Box style={{ width: 1100, marginTop: 44, justifyContent: 'center' }}&gt;&#10;        &lt;svg width={1100} height={96} viewBox='0 0 1100 96'&gt;&#10;            &lt;rect x='0' y='13' width='248' height='70' rx='10' fill='rgba(255,255,255,0.10)' stroke='#FFFFFF' strokeWidth='2' /&gt;&#10;            &lt;text x='124' y='42' textAnchor='middle' fontFamily='JetBrains Mono' fontSize='22' fill='#FFFFFF' fontWeight='bold'&gt;01&lt;/text&gt;&#10;            &lt;text x='124' y='66' textAnchor='middle' fontFamily='Source Han Sans SC' fontSize='18' fill='#E9F0FA'&gt;业务背景与任务&lt;/text&gt;&#10;&#10;            &lt;line x1='248' y1='48' x2='290' y2='48' stroke='#FFFFFF' strokeWidth='2' /&gt;&#10;            &lt;path d='M290 48 L282 43 L282 53 Z' fill='#FFFFFF' /&gt;&#10;&#10;            &lt;rect x='290' y='13' width='248' height='70' rx='10' fill='rgba(255,255,255,0.10)' stroke='#FFFFFF' strokeWidth='2' /&gt;&#10;            &lt;text x='414' y='42' textAnchor='middle' fontFamily='JetBrains Mono' fontSize='22' fill='#FFFFFF' fontWeight='bold'&gt;02&lt;/text&gt;&#10;            &lt;text x='414' y='66' textAnchor='middle' fontFamily='Source Han Sans SC' fontSize='18' fill='#E9F0FA'&gt;主工作流&lt;/text&gt;&#10;&#10;            &lt;line x1='538' y1='48' x2='580' y2='48' stroke='#FFFFFF' strokeWidth='2' /&gt;&#10;            &lt;path d='M580 48 L572 43 L572 53 Z' fill='#FFFFFF' /&gt;&#10;&#10;            &lt;rect x='580' y='13' width='248' height='70' rx='10' fill='rgba(255,255,255,0.10)' stroke='#FFFFFF' strokeWidth='2' /&gt;&#10;            &lt;text x='704' y='42' textAnchor='middle' fontFamily='JetBrains Mono' fontSize='22' fill='#FFFFFF' fontWeight='bold'&gt;03&lt;/text&gt;&#10;            &lt;text x='704' y='66' textAnchor='middle' fontFamily='Source Han Sans SC' fontSize='18' fill='#E9F0FA'&gt;订单查询&lt;/text&gt;&#10;&#10;            &lt;line x1='828' y1='48' x2='870' y2='48' stroke='#FFFFFF' strokeWidth='2' /&gt;&#10;            &lt;path d='M870 48 L862 43 L862 53 Z' fill='#FFFFFF' /&gt;&#10;&#10;            &lt;rect x='870' y='13' width='230' height='70' rx='10' fill='#FFFFFF' /&gt;&#10;            &lt;text x='985' y='42' textAnchor='middle' fontFamily='JetBrains Mono' fontSize='22' fill='#123A78' fontWeight='bold'&gt;04&lt;/text&gt;&#10;            &lt;text x='985' y='66' textAnchor='middle' fontFamily='Source Han Sans SC' fontSize='18' fill='#123A78'&gt;售后处理&lt;/text&gt;&#10;        &lt;/svg&gt;&#10;    &lt;/Box&gt;&#10;    &lt;Box style={{ marginTop: 46, flexDirection: 'row', alignItems: 'center', gap: 16, background: 'rgba(255,255,255,0.12)', borderRadius: 10, padding: '16px 28px' }}&gt;&#10;        &lt;Box style={{ width: 8, height: 28, background: '#F2A21C', borderRadius: 4 }} /&gt;&#10;        &lt;Text style={{ fontSize: 22, color: '#FFFFFF', lineHeight: 1.5 }}&gt;&#10;            下一课：商品推荐与闲聊兜底 —— 把剩下的两条分支也接起来。&#10;        &lt;/Text&gt;&#10;    &lt;/Box&gt;&#10;    &lt;Text style={{ fontSize: 14, color: '#E9F0FA', marginTop: 30, opacity: 0.85 }}&gt;本课件所有对话、政策、接口与处理结果均为教学模拟材料，尚未运行验证。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矩形 10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3A78"/>
              </a:gs>
              <a:gs pos="100000">
                <a:srgbClr val="2F6FD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056" name="文本框 1055" descr="{&quot;isTemplate&quot;:true,&quot;type&quot;:&quot;text&quot;}"/>
          <p:cNvSpPr txBox="1"/>
          <p:nvPr/>
        </p:nvSpPr>
        <p:spPr>
          <a:xfrm>
            <a:off x="5419725" y="1457325"/>
            <a:ext cx="13525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450">
                <a:solidFill>
                  <a:srgbClr val="E9F0FA"/>
                </a:solidFill>
                <a:latin typeface="JetBrains Mono"/>
                <a:ea typeface="JetBrains Mono"/>
              </a:rPr>
              <a:t>第二课</a:t>
            </a:r>
            <a:r>
              <a:rPr lang="en-US" sz="1200" spc="450">
                <a:solidFill>
                  <a:srgbClr val="E9F0FA"/>
                </a:solidFill>
                <a:latin typeface="JetBrains Mono"/>
                <a:ea typeface="JetBrains Mono"/>
              </a:rPr>
              <a:t> · </a:t>
            </a:r>
            <a:r>
              <a:rPr lang="zh-CN" sz="1200" spc="450">
                <a:solidFill>
                  <a:srgbClr val="E9F0FA"/>
                </a:solidFill>
                <a:latin typeface="JetBrains Mono"/>
                <a:ea typeface="JetBrains Mono"/>
              </a:rPr>
              <a:t>收束</a:t>
            </a:r>
            <a:endParaRPr/>
          </a:p>
        </p:txBody>
      </p:sp>
      <p:sp>
        <p:nvSpPr>
          <p:cNvPr id="1057" name="文本框 1056" descr="{&quot;isTemplate&quot;:true,&quot;type&quot;:&quot;text&quot;}"/>
          <p:cNvSpPr txBox="1"/>
          <p:nvPr/>
        </p:nvSpPr>
        <p:spPr>
          <a:xfrm>
            <a:off x="1905000" y="1838325"/>
            <a:ext cx="8382000" cy="6572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30000"/>
              </a:lnSpc>
            </a:pPr>
            <a:r>
              <a:rPr lang="zh-CN" sz="3300" b="1" dirty="0">
                <a:solidFill>
                  <a:srgbClr val="FFFFFF"/>
                </a:solidFill>
                <a:latin typeface="Microsoft YaHei"/>
                <a:ea typeface="Microsoft YaHei"/>
              </a:rPr>
              <a:t>把用户的自然语言，接到确定的业务流程上。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7367</TotalTime>
  <Words>4677</Words>
  <Application>Microsoft Macintosh PowerPoint</Application>
  <PresentationFormat>宽屏</PresentationFormat>
  <Paragraphs>592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8" baseType="lpstr">
      <vt:lpstr>Microsoft YaHei</vt:lpstr>
      <vt:lpstr>JetBrains Mono</vt:lpstr>
      <vt:lpstr>Arial</vt:lpstr>
      <vt:lpstr>Menlo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didi</cp:lastModifiedBy>
  <cp:revision>2</cp:revision>
  <dcterms:created xsi:type="dcterms:W3CDTF">2026-09-09T19:13:56Z</dcterms:created>
  <dcterms:modified xsi:type="dcterms:W3CDTF">2026-09-14T14:04:44Z</dcterms:modified>
</cp:coreProperties>
</file>