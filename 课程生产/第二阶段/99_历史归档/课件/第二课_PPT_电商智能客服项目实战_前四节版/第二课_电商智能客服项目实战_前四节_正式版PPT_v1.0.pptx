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正式进入第二阶段第一个公共项目。</a:t>
            </a:r>
          </a:p>
          <a:p/>
          <a:p>
            <a:r>
              <a:t>&gt; 文档类型：老师版完整讲义  </a:t>
            </a:r>
          </a:p>
          <a:p>
            <a:r>
              <a:t>&gt; 当前版本：v1.0  </a:t>
            </a:r>
          </a:p>
          <a:p>
            <a:r>
              <a:t>&gt; 当前状态：前四节已确认，后续章节待讨论  </a:t>
            </a:r>
          </a:p>
          <a:p>
            <a:r>
              <a:t>&gt; 公共项目：电商智能客服助手  </a:t>
            </a:r>
          </a:p>
          <a:p>
            <a:r>
              <a:t>&gt; 案例说明：本课的商家背景、用户对话、订单、政策、接口和处理结果均为教学模拟材料，不代表真实企业的经营数据或已经上线的系统。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今天怎样拆开这个项目</a:t>
            </a:r>
          </a:p>
          <a:p/>
          <a:p>
            <a:r>
              <a:t>&gt; 文档类型：老师版完整讲义  </a:t>
            </a:r>
          </a:p>
          <a:p>
            <a:r>
              <a:t>&gt; 当前版本：v1.0  </a:t>
            </a:r>
          </a:p>
          <a:p>
            <a:r>
              <a:t>&gt; 当前状态：前四节已确认，后续章节待讨论  </a:t>
            </a:r>
          </a:p>
          <a:p>
            <a:r>
              <a:t>&gt; 公共项目：电商智能客服助手  </a:t>
            </a:r>
          </a:p>
          <a:p>
            <a:r>
              <a:t>&gt; 案例说明：本课的商家背景、用户对话、订单、政策、接口和处理结果均为教学模拟材料，不代表真实企业的经营数据或已经上线的系统。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为什么不是做一个“会聊天的机器人”？</a:t>
            </a:r>
          </a:p>
          <a:p/>
          <a:p>
            <a:r>
              <a:t>今天我们正式开始第二阶段的第一个公共项目：**电商智能客服助手**。</a:t>
            </a:r>
          </a:p>
          <a:p/>
          <a:p>
            <a:r>
              <a:t>我们会以一家销售耳机、键盘等消费电子产品的电商商家为背景，设计一个能够处理商品咨询、订单查询、售后问题和商品推荐的客服助手。</a:t>
            </a:r>
          </a:p>
          <a:p/>
          <a:p>
            <a:r>
              <a:t>这一节先不看工作流，也不急着配置提示词。我们先了解：电商客服原本怎样工作，已有的机器人解决了什么问题，以及今天为什么还需要引入大模型。</a:t>
            </a:r>
          </a:p>
          <a:p/>
          <a:p>
            <a:r>
              <a:t>## 一、电商客服每天在处理什么</a:t>
            </a:r>
          </a:p>
          <a:p/>
          <a:p>
            <a:r>
              <a:t>我们先站在商家的角度看客服。</a:t>
            </a:r>
          </a:p>
          <a:p/>
          <a:p>
            <a:r>
              <a:t>一家店铺把商品上架以后，用户并不会完全按照商品详情页提供的信息，自行完成购买和后续使用。他们会在不同阶段提出问题。</a:t>
            </a:r>
          </a:p>
          <a:p/>
          <a:p>
            <a:r>
              <a:t>### 1. 购买前：帮助用户了解和选择商品</a:t>
            </a:r>
          </a:p>
          <a:p/>
          <a:p>
            <a:r>
              <a:t>例如：</a:t>
            </a:r>
          </a:p>
          <a:p/>
          <a:p>
            <a:r>
              <a:t>&gt; “这两款耳机有什么区别？”  </a:t>
            </a:r>
          </a:p>
          <a:p>
            <a:r>
              <a:t>&gt; “平时坐地铁通勤，哪款降噪效果比较合适？”  </a:t>
            </a:r>
          </a:p>
          <a:p>
            <a:r>
              <a:t>&gt; “预算三百以内，有没有推荐？”  </a:t>
            </a:r>
          </a:p>
          <a:p>
            <a:r>
              <a:t>&gt; “这个键盘能不能连接我的平板？”</a:t>
            </a:r>
          </a:p>
          <a:p/>
          <a:p>
            <a:r>
              <a:t>客服需要了解商品，也需要理解用户的使用场景。</a:t>
            </a:r>
          </a:p>
          <a:p/>
          <a:p>
            <a:r>
              <a:t>用户问“哪款好”，不一定有一个统一答案。通勤、运动、打游戏，对商品的要求可能不同。</a:t>
            </a:r>
          </a:p>
          <a:p/>
          <a:p>
            <a:r>
              <a:t>这一阶段，客服的作用不只是回答参数，还包括帮助用户做选择。</a:t>
            </a:r>
          </a:p>
          <a:p/>
          <a:p>
            <a:r>
              <a:t>### 2. 下单后：帮助用户了解订单和履约情况</a:t>
            </a:r>
          </a:p>
          <a:p/>
          <a:p>
            <a:r>
              <a:t>例如：</a:t>
            </a:r>
          </a:p>
          <a:p/>
          <a:p>
            <a:r>
              <a:t>&gt; “今天买，什么时候发货？”  </a:t>
            </a:r>
          </a:p>
          <a:p>
            <a:r>
              <a:t>&gt; “我上周买的耳机怎么还没到？”  </a:t>
            </a:r>
          </a:p>
          <a:p>
            <a:r>
              <a:t>&gt; “这个订单能不能改地址？”  </a:t>
            </a:r>
          </a:p>
          <a:p>
            <a:r>
              <a:t>&gt; “为什么只收到一件，还有一件呢？”</a:t>
            </a:r>
          </a:p>
          <a:p/>
          <a:p>
            <a:r>
              <a:t>这些问题不能只靠商品说明回答。</a:t>
            </a:r>
          </a:p>
          <a:p/>
          <a:p>
            <a:r>
              <a:t>客服需要查询具体订单，了解发货、物流以及相关业务状态。相同的问题，不同用户、不同订单，答案可能完全不同。</a:t>
            </a:r>
          </a:p>
          <a:p/>
          <a:p>
            <a:r>
              <a:t>### 3. 收货后：解决使用问题和售后诉求</a:t>
            </a:r>
          </a:p>
          <a:p/>
          <a:p>
            <a:r>
              <a:t>例如：</a:t>
            </a:r>
          </a:p>
          <a:p/>
          <a:p>
            <a:r>
              <a:t>&gt; “耳机连接不上手机。”  </a:t>
            </a:r>
          </a:p>
          <a:p>
            <a:r>
              <a:t>&gt; “收到以后右边没有声音。”  </a:t>
            </a:r>
          </a:p>
          <a:p>
            <a:r>
              <a:t>&gt; “发错颜色了，我想换一个。”  </a:t>
            </a:r>
          </a:p>
          <a:p>
            <a:r>
              <a:t>&gt; “退款申请提交了，怎么还没到账？”</a:t>
            </a:r>
          </a:p>
          <a:p/>
          <a:p>
            <a:r>
              <a:t>这里又包含不同情况：</a:t>
            </a:r>
          </a:p>
          <a:p/>
          <a:p>
            <a:r>
              <a:t>有些问题，通过使用说明就能解决；有些需要查询售后进度；还有些需要收集材料、提交申请，或者由人工进一步处理。</a:t>
            </a:r>
          </a:p>
          <a:p/>
          <a:p>
            <a:r>
              <a:t>所以，我们今天做的“电商智能客服”，不是只有一个会聊天的窗口。**它需要承接购买前后的不同需求，并连接对应的信息和处理流程。**</a:t>
            </a:r>
          </a:p>
          <a:p/>
          <a:p>
            <a:r>
              <a:t>## 二、用户看到的是聊天，客服做的是一连串操作</a:t>
            </a:r>
          </a:p>
          <a:p/>
          <a:p>
            <a:r>
              <a:t>我们看一个具体请求：</a:t>
            </a:r>
          </a:p>
          <a:p/>
          <a:p>
            <a:r>
              <a:t>&gt; 用户：上周买的耳机没有声音，我想换一个。</a:t>
            </a:r>
          </a:p>
          <a:p/>
          <a:p>
            <a:r>
              <a:t>如果这句话发给人工客服，客服接下来可能需要做什么？</a:t>
            </a:r>
          </a:p>
          <a:p/>
          <a:p>
            <a:r>
              <a:t>首先，找到订单。</a:t>
            </a:r>
          </a:p>
          <a:p/>
          <a:p>
            <a:r>
              <a:t>“上周买的耳机”不是订单号。如果用户买过两款耳机，还需要确认是哪一笔。</a:t>
            </a:r>
          </a:p>
          <a:p/>
          <a:p>
            <a:r>
              <a:t>然后，了解问题。</a:t>
            </a:r>
          </a:p>
          <a:p/>
          <a:p>
            <a:r>
              <a:t>“没有声音”可能是两边都没有声音，也可能是一边没有声音；可能是使用设置问题，也可能是商品故障。客服需要根据商品和服务流程，询问必要的信息。</a:t>
            </a:r>
          </a:p>
          <a:p/>
          <a:p>
            <a:r>
              <a:t>接着，查询适用的售后政策。</a:t>
            </a:r>
          </a:p>
          <a:p/>
          <a:p>
            <a:r>
              <a:t>不同商品、不同订单状态和不同问题，可能对应不同处理要求。客服不能还没确认情况，就直接承诺一定可以换货。</a:t>
            </a:r>
          </a:p>
          <a:p/>
          <a:p>
            <a:r>
              <a:t>最后，帮助用户继续处理。</a:t>
            </a:r>
          </a:p>
          <a:p/>
          <a:p>
            <a:r>
              <a:t>可能需要补充材料、确认申请内容、提交售后申请，也可能需要交给其他人员审核。</a:t>
            </a:r>
          </a:p>
          <a:p/>
          <a:p>
            <a:r>
              <a:t>这个过程中，客服可能同时使用：</a:t>
            </a:r>
          </a:p>
          <a:p/>
          <a:p>
            <a:r>
              <a:t>| 资料或系统 | 提供什么 |</a:t>
            </a:r>
          </a:p>
          <a:p>
            <a:r>
              <a:t>|---|---|</a:t>
            </a:r>
          </a:p>
          <a:p>
            <a:r>
              <a:t>| 商品资料 | 型号、功能、使用说明 |</a:t>
            </a:r>
          </a:p>
          <a:p>
            <a:r>
              <a:t>| 订单与物流系统 | 买了什么、是否发货、是否签收 |</a:t>
            </a:r>
          </a:p>
          <a:p>
            <a:r>
              <a:t>| 售后政策 | 适用条件、所需材料、处理步骤 |</a:t>
            </a:r>
          </a:p>
          <a:p>
            <a:r>
              <a:t>| 售后系统 | 申请记录、处理进度、执行结果 |</a:t>
            </a:r>
          </a:p>
          <a:p>
            <a:r>
              <a:t>| 客服工作台 | 对话记录、人员接待与转交 |</a:t>
            </a:r>
          </a:p>
          <a:p/>
          <a:p>
            <a:r>
              <a:t>用户看到的是客服回复了几句话，背后却发生了查询、核对、解释、录入和转交。</a:t>
            </a:r>
          </a:p>
          <a:p/>
          <a:p>
            <a:r>
              <a:t>因此，评价客服产品时，不能只问“这句话回答得怎么样”，还要看：**用户要办的事情，有没有得到正确推进。**</a:t>
            </a:r>
          </a:p>
          <a:p/>
          <a:p>
            <a:r>
              <a:t>## 三、从人工客服到大模型客服</a:t>
            </a:r>
          </a:p>
          <a:p/>
          <a:p>
            <a:r>
              <a:t>企业很早就开始用系统减少客服的重复工作。大模型不是客服自动化的起点。</a:t>
            </a:r>
          </a:p>
          <a:p/>
          <a:p>
            <a:r>
              <a:t>这里不用记发展年份，我们重点看几种方式的差别。</a:t>
            </a:r>
          </a:p>
          <a:p/>
          <a:p>
            <a:r>
              <a:t>### 1. 人工客服：由人理解问题和组织处理过程</a:t>
            </a:r>
          </a:p>
          <a:p/>
          <a:p>
            <a:r>
              <a:t>人工可以结合上下文，灵活理解用户诉求。</a:t>
            </a:r>
          </a:p>
          <a:p/>
          <a:p>
            <a:r>
              <a:t>例如：</a:t>
            </a:r>
          </a:p>
          <a:p/>
          <a:p>
            <a:r>
              <a:t>&gt; “之前那个客服说可以换，你们现在怎么又说不行？”</a:t>
            </a:r>
          </a:p>
          <a:p/>
          <a:p>
            <a:r>
              <a:t>客服需要回看记录，核对前面的解释和实际政策，再处理争议。</a:t>
            </a:r>
          </a:p>
          <a:p/>
          <a:p>
            <a:r>
              <a:t>但人工也会面临重复咨询、咨询高峰排队、新人培训、跨系统查询等问题。</a:t>
            </a:r>
          </a:p>
          <a:p/>
          <a:p>
            <a:r>
              <a:t>于是，商家会把一些重复工作交给机器人。</a:t>
            </a:r>
          </a:p>
          <a:p/>
          <a:p>
            <a:r>
              <a:t>### 2. FAQ 机器人：匹配常见问题，返回维护好的答案</a:t>
            </a:r>
          </a:p>
          <a:p/>
          <a:p>
            <a:r>
              <a:t>例如，商家提前整理：</a:t>
            </a:r>
          </a:p>
          <a:p/>
          <a:p>
            <a:r>
              <a:t>- 怎么申请退货。</a:t>
            </a:r>
          </a:p>
          <a:p>
            <a:r>
              <a:t>- 商品怎样连接手机。</a:t>
            </a:r>
          </a:p>
          <a:p>
            <a:r>
              <a:t>- 运费由谁承担。</a:t>
            </a:r>
          </a:p>
          <a:p>
            <a:r>
              <a:t>- 怎样查询退款进度。</a:t>
            </a:r>
          </a:p>
          <a:p/>
          <a:p>
            <a:r>
              <a:t>同一个问题，用户可能有不同问法：</a:t>
            </a:r>
          </a:p>
          <a:p/>
          <a:p>
            <a:r>
              <a:t>&gt; “退货怎么操作？”  </a:t>
            </a:r>
          </a:p>
          <a:p>
            <a:r>
              <a:t>&gt; “在哪里申请退货？”  </a:t>
            </a:r>
          </a:p>
          <a:p>
            <a:r>
              <a:t>&gt; “东西不要了怎么退？”</a:t>
            </a:r>
          </a:p>
          <a:p/>
          <a:p>
            <a:r>
              <a:t>系统通过问题匹配，找到相应答案。</a:t>
            </a:r>
          </a:p>
          <a:p/>
          <a:p>
            <a:r>
              <a:t>这类方式适合常见、稳定的问题，企业也比较容易控制回答内容。</a:t>
            </a:r>
          </a:p>
          <a:p/>
          <a:p>
            <a:r>
              <a:t>但用户的问题不一定是一个清楚、独立的问句。</a:t>
            </a:r>
          </a:p>
          <a:p/>
          <a:p>
            <a:r>
              <a:t>例如：</a:t>
            </a:r>
          </a:p>
          <a:p/>
          <a:p>
            <a:r>
              <a:t>&gt; “耳机右边没声音，重新连接过了，还是不行。上周才买的，能直接换吗？”</a:t>
            </a:r>
          </a:p>
          <a:p/>
          <a:p>
            <a:r>
              <a:t>这里已经包含故障、排查记录、时间线索和换货诉求。只返回一段通用换货说明，可能相关，却没有充分处理用户的实际情况。</a:t>
            </a:r>
          </a:p>
          <a:p/>
          <a:p>
            <a:r>
              <a:t>### 3. 流程型机器人：按预设步骤完成查询或办理</a:t>
            </a:r>
          </a:p>
          <a:p/>
          <a:p>
            <a:r>
              <a:t>除了回答常见问题，传统客服机器人也可以连接业务系统。</a:t>
            </a:r>
          </a:p>
          <a:p/>
          <a:p>
            <a:r>
              <a:t>例如：</a:t>
            </a:r>
          </a:p>
          <a:p/>
          <a:p>
            <a:r>
              <a:t>&gt; 选择售后类型 → 选择订单 → 选择问题 → 补充材料 → 确认申请。</a:t>
            </a:r>
          </a:p>
          <a:p/>
          <a:p>
            <a:r>
              <a:t>**查询订单、调用接口、创建申请，并不是大模型出现以后才有的能力。**</a:t>
            </a:r>
          </a:p>
          <a:p/>
          <a:p>
            <a:r>
              <a:t>固定流程的优势是步骤明确，容易知道用户当前在哪一步、还缺哪些信息。</a:t>
            </a:r>
          </a:p>
          <a:p/>
          <a:p>
            <a:r>
              <a:t>但是，用户不一定严格沿着流程表达。</a:t>
            </a:r>
          </a:p>
          <a:p/>
          <a:p>
            <a:r>
              <a:t>系统正在询问故障，用户可能说：</a:t>
            </a:r>
          </a:p>
          <a:p/>
          <a:p>
            <a:r>
              <a:t>&gt; “算了，不换了，能退吗？”</a:t>
            </a:r>
          </a:p>
          <a:p/>
          <a:p>
            <a:r>
              <a:t>也可能一次提出两个问题：</a:t>
            </a:r>
          </a:p>
          <a:p/>
          <a:p>
            <a:r>
              <a:t>&gt; “帮我查一下耳机到哪了，另外想再买一个送人。”</a:t>
            </a:r>
          </a:p>
          <a:p/>
          <a:p>
            <a:r>
              <a:t>这时，系统需要理解新诉求，决定保留哪些信息、切换到哪里，以及原来的任务是否继续。</a:t>
            </a:r>
          </a:p>
          <a:p/>
          <a:p>
            <a:r>
              <a:t>### 4. 大模型客服：让自然表达与业务流程更好地衔接</a:t>
            </a:r>
          </a:p>
          <a:p/>
          <a:p>
            <a:r>
              <a:t>大模型可以帮助系统更灵活地理解表达、提取信息、组织回复，并结合已有能力选择处理路径。</a:t>
            </a:r>
          </a:p>
          <a:p/>
          <a:p>
            <a:r>
              <a:t>用户说：</a:t>
            </a:r>
          </a:p>
          <a:p/>
          <a:p>
            <a:r>
              <a:t>&gt; “上周买的耳机右边没声音，我想换一个。”</a:t>
            </a:r>
          </a:p>
          <a:p/>
          <a:p>
            <a:r>
              <a:t>系统可以识别出商品线索、故障描述和换货诉求，不必把用户已经说过的信息全部再问一遍。</a:t>
            </a:r>
          </a:p>
          <a:p/>
          <a:p>
            <a:r>
              <a:t>但大模型不能凭空知道：</a:t>
            </a:r>
          </a:p>
          <a:p/>
          <a:p>
            <a:r>
              <a:t>- 对应哪一笔订单。</a:t>
            </a:r>
          </a:p>
          <a:p>
            <a:r>
              <a:t>- 商品什么时候签收。</a:t>
            </a:r>
          </a:p>
          <a:p>
            <a:r>
              <a:t>- 当前适用什么售后政策。</a:t>
            </a:r>
          </a:p>
          <a:p>
            <a:r>
              <a:t>- 用户是否已经提交申请。</a:t>
            </a:r>
          </a:p>
          <a:p>
            <a:r>
              <a:t>- 刚才的操作有没有成功。</a:t>
            </a:r>
          </a:p>
          <a:p/>
          <a:p>
            <a:r>
              <a:t>这些信息仍然需要来自业务系统、知识资料和实际执行结果。</a:t>
            </a:r>
          </a:p>
          <a:p/>
          <a:p>
            <a:r>
              <a:t>所以，实际产品通常不是简单地用大模型替换全部旧能力，而是让它与知识库、固定流程、业务规则和人工客服配合。</a:t>
            </a:r>
          </a:p>
          <a:p/>
          <a:p>
            <a:r>
              <a:t>## 四、我们希望用 AI 改善什么</a:t>
            </a:r>
          </a:p>
          <a:p/>
          <a:p>
            <a:r>
              <a:t>这里可以请学员先做一个选择：</a:t>
            </a:r>
          </a:p>
          <a:p/>
          <a:p>
            <a:r>
              <a:t>&gt; 假设店铺已经有常见问题、自助查单和售后申请入口，你认为引入大模型最值得优先改善什么？</a:t>
            </a:r>
          </a:p>
          <a:p/>
          <a:p>
            <a:r>
              <a:t>**A.** 让客服回复更自然、更像真人。  </a:t>
            </a:r>
          </a:p>
          <a:p>
            <a:r>
              <a:t>**B.** 让用户用自己的话描述需求，系统仍能理解并进入正确的处理流程。  </a:t>
            </a:r>
          </a:p>
          <a:p>
            <a:r>
              <a:t>**C.** 让全部售后操作不再需要人工参与。</a:t>
            </a:r>
          </a:p>
          <a:p/>
          <a:p>
            <a:r>
              <a:t>对于今天的项目，我们优先考虑 **B**。</a:t>
            </a:r>
          </a:p>
          <a:p/>
          <a:p>
            <a:r>
              <a:t>A 有价值。回复清楚、自然，会影响体验。但如果说得很自然，却查错订单、没有推进申请，服务仍然没有完成。</a:t>
            </a:r>
          </a:p>
          <a:p/>
          <a:p>
            <a:r>
              <a:t>C 不能作为默认目标。是否自动处理，要结合业务规则、权限和风险，不能因为模型理解了退款诉求，就让它自行批准退款。</a:t>
            </a:r>
          </a:p>
          <a:p/>
          <a:p>
            <a:r>
              <a:t>我们真正希望改善的是：</a:t>
            </a:r>
          </a:p>
          <a:p/>
          <a:p>
            <a:r>
              <a:t>- 用户不需要先学习店铺的菜单和系统结构。</a:t>
            </a:r>
          </a:p>
          <a:p>
            <a:r>
              <a:t>- 已经提供的信息不必反复填写。</a:t>
            </a:r>
          </a:p>
          <a:p>
            <a:r>
              <a:t>- 能查询到与当前用户相关的准确数据。</a:t>
            </a:r>
          </a:p>
          <a:p>
            <a:r>
              <a:t>- 能明确知道下一步做什么、目前处理到哪里。</a:t>
            </a:r>
          </a:p>
          <a:p>
            <a:r>
              <a:t>- 需要人工时，前面收集的信息能够一起转交。</a:t>
            </a:r>
          </a:p>
          <a:p/>
          <a:p>
            <a:r>
              <a:t>**让用户表达得自然，也让后面的处理有明确步骤。**</a:t>
            </a:r>
          </a:p>
          <a:p/>
          <a:p>
            <a:r>
              <a:t>## 五、本次电商项目的业务背景</a:t>
            </a:r>
          </a:p>
          <a:p/>
          <a:p>
            <a:r>
              <a:t>现在回到今天的模拟商家。</a:t>
            </a:r>
          </a:p>
          <a:p/>
          <a:p>
            <a:r>
              <a:t>这家商家销售耳机、键盘等消费电子产品，已经有商品资料、售后政策、订单系统、售后系统和人工客服。</a:t>
            </a:r>
          </a:p>
          <a:p/>
          <a:p>
            <a:r>
              <a:t>我们为项目设定几类需要改善的情况：</a:t>
            </a:r>
          </a:p>
          <a:p/>
          <a:p>
            <a:r>
              <a:t>### 1. 常见咨询占用客服时间</a:t>
            </a:r>
          </a:p>
          <a:p/>
          <a:p>
            <a:r>
              <a:t>商品区别、连接方法、发货安排、售后步骤等问题反复出现，需要工作人员重复查找和解释。</a:t>
            </a:r>
          </a:p>
          <a:p/>
          <a:p>
            <a:r>
              <a:t>### 2. 用户说法与系统字段不一致</a:t>
            </a:r>
          </a:p>
          <a:p/>
          <a:p>
            <a:r>
              <a:t>系统需要订单编号、商品型号、问题类型；用户说的却是：</a:t>
            </a:r>
          </a:p>
          <a:p/>
          <a:p>
            <a:r>
              <a:t>&gt; “上周那个。”  </a:t>
            </a:r>
          </a:p>
          <a:p>
            <a:r>
              <a:t>&gt; “第二个耳机。”  </a:t>
            </a:r>
          </a:p>
          <a:p>
            <a:r>
              <a:t>&gt; “右边坏了。”</a:t>
            </a:r>
          </a:p>
          <a:p/>
          <a:p>
            <a:r>
              <a:t>需要有人把自然表达与业务信息对应起来。</a:t>
            </a:r>
          </a:p>
          <a:p/>
          <a:p>
            <a:r>
              <a:t>### 3. 回答之后，用户仍不知道怎样继续</a:t>
            </a:r>
          </a:p>
          <a:p/>
          <a:p>
            <a:r>
              <a:t>用户提出换货诉求，机器人返回了政策，却没有引导确认订单、补充材料或者进入申请流程。</a:t>
            </a:r>
          </a:p>
          <a:p/>
          <a:p>
            <a:r>
              <a:t>### 4. 转人工后，信息没有接上</a:t>
            </a:r>
          </a:p>
          <a:p/>
          <a:p>
            <a:r>
              <a:t>机器人已经询问了订单和故障，人工接手却看不到整理后的信息，需要重新询问。</a:t>
            </a:r>
          </a:p>
          <a:p/>
          <a:p>
            <a:r>
              <a:t>这些是教学设定的业务问题。在真实项目里，需要通过客服记录、访谈、用户反馈和系统数据验证，不能只凭设想就确定需求。</a:t>
            </a:r>
          </a:p>
          <a:p/>
          <a:p>
            <a:r>
              <a:t>## 六、今天这个助手需要处理哪些请求</a:t>
            </a:r>
          </a:p>
          <a:p/>
          <a:p>
            <a:r>
              <a:t>我们先看五条消息：</a:t>
            </a:r>
          </a:p>
          <a:p/>
          <a:p>
            <a:r>
              <a:t>| 用户消息 | 背后需要完成的事情 |</a:t>
            </a:r>
          </a:p>
          <a:p>
            <a:r>
              <a:t>|---|---|</a:t>
            </a:r>
          </a:p>
          <a:p>
            <a:r>
              <a:t>| “这款耳机支持换货吗？” | 确认商品及相关情况，查询适用政策 |</a:t>
            </a:r>
          </a:p>
          <a:p>
            <a:r>
              <a:t>| “上周买的耳机怎么还没到？” | 定位订单，查询发货和物流 |</a:t>
            </a:r>
          </a:p>
          <a:p>
            <a:r>
              <a:t>| “收到以后右边没有声音，我想换一个。” | 确认订单与故障，引导后续售后处理 |</a:t>
            </a:r>
          </a:p>
          <a:p>
            <a:r>
              <a:t>| “预算三百以内，有没有适合通勤的耳机？” | 了解需求，查找并推荐商品 |</a:t>
            </a:r>
          </a:p>
          <a:p>
            <a:r>
              <a:t>| “前面已经说过两遍了，帮我找人工。” | 转交人工，并保留前面的处理信息 |</a:t>
            </a:r>
          </a:p>
          <a:p/>
          <a:p>
            <a:r>
              <a:t>它们都出现在同一个聊天窗口，但不能全部用同一种方式解决。</a:t>
            </a:r>
          </a:p>
          <a:p/>
          <a:p>
            <a:r>
              <a:t>因此，本次公共项目的任务是：</a:t>
            </a:r>
          </a:p>
          <a:p/>
          <a:p>
            <a:r>
              <a:t>&gt; 设计一个电商智能客服助手，在统一的对话入口中，处理商品与售后咨询、订单查询、商品推荐，并引导用户进入适当的售后或人工处理流程。</a:t>
            </a:r>
          </a:p>
          <a:p/>
          <a:p>
            <a:r>
              <a:t>我们重点深入两条路径：</a:t>
            </a:r>
          </a:p>
          <a:p/>
          <a:p>
            <a:r>
              <a:t>- **订单查询**：先跑通一条相对简单的业务查询流程。</a:t>
            </a:r>
          </a:p>
          <a:p>
            <a:r>
              <a:t>- **售后咨询与处理**：再把知识、对话、规则和业务流程结合起来。</a:t>
            </a:r>
          </a:p>
          <a:p/>
          <a:p>
            <a:r>
              <a:t>商品推荐、闲聊与兜底用来补全整体产品结构，讲解会相对简短。</a:t>
            </a:r>
          </a:p>
          <a:p/>
          <a:p>
            <a:r>
              <a:t>当前课堂不涉及真实自动退款、赔付审批，也不建设完整的客服中台。业务操作使用模拟环境，并明确区分“申请已提交”和“审核已通过”等不同状态。</a:t>
            </a:r>
          </a:p>
          <a:p/>
          <a:p>
            <a:r>
              <a:t>下一节，我们就来看这套电商智能客服的**整体方案与主工作流**：用户发来一句话后，系统怎样理解它，并交给订单查询、售后处理、商品推荐或其他路径。</a:t>
            </a:r>
          </a:p>
          <a:p/>
          <a:p>
            <a:r>
              <a:t>---</a:t>
            </a:r>
          </a:p>
          <a:p/>
          <a:p>
            <a:r>
              <a:t>**素材说明：**客服演进与业务运营视角参考亚慧《智能客服机器人》；项目分支结构参考知乎第 7 课客服项目。商家背景与贯穿对话为本课程教学设计。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电商客服覆盖购买前后的完整旅程</a:t>
            </a:r>
          </a:p>
          <a:p/>
          <a:p>
            <a:r>
              <a:t>我们先站在商家的角度看客服。</a:t>
            </a:r>
          </a:p>
          <a:p/>
          <a:p>
            <a:r>
              <a:t>一家店铺把商品上架以后，用户并不会完全按照商品详情页提供的信息，自行完成购买和后续使用。他们会在不同阶段提出问题。</a:t>
            </a:r>
          </a:p>
          <a:p/>
          <a:p>
            <a:r>
              <a:t>### 1. 购买前：帮助用户了解和选择商品</a:t>
            </a:r>
          </a:p>
          <a:p/>
          <a:p>
            <a:r>
              <a:t>例如：</a:t>
            </a:r>
          </a:p>
          <a:p/>
          <a:p>
            <a:r>
              <a:t>&gt; “这两款耳机有什么区别？”  </a:t>
            </a:r>
          </a:p>
          <a:p>
            <a:r>
              <a:t>&gt; “平时坐地铁通勤，哪款降噪效果比较合适？”  </a:t>
            </a:r>
          </a:p>
          <a:p>
            <a:r>
              <a:t>&gt; “预算三百以内，有没有推荐？”  </a:t>
            </a:r>
          </a:p>
          <a:p>
            <a:r>
              <a:t>&gt; “这个键盘能不能连接我的平板？”</a:t>
            </a:r>
          </a:p>
          <a:p/>
          <a:p>
            <a:r>
              <a:t>客服需要了解商品，也需要理解用户的使用场景。</a:t>
            </a:r>
          </a:p>
          <a:p/>
          <a:p>
            <a:r>
              <a:t>用户问“哪款好”，不一定有一个统一答案。通勤、运动、打游戏，对商品的要求可能不同。</a:t>
            </a:r>
          </a:p>
          <a:p/>
          <a:p>
            <a:r>
              <a:t>这一阶段，客服的作用不只是回答参数，还包括帮助用户做选择。</a:t>
            </a:r>
          </a:p>
          <a:p/>
          <a:p>
            <a:r>
              <a:t>### 2. 下单后：帮助用户了解订单和履约情况</a:t>
            </a:r>
          </a:p>
          <a:p/>
          <a:p>
            <a:r>
              <a:t>例如：</a:t>
            </a:r>
          </a:p>
          <a:p/>
          <a:p>
            <a:r>
              <a:t>&gt; “今天买，什么时候发货？”  </a:t>
            </a:r>
          </a:p>
          <a:p>
            <a:r>
              <a:t>&gt; “我上周买的耳机怎么还没到？”  </a:t>
            </a:r>
          </a:p>
          <a:p>
            <a:r>
              <a:t>&gt; “这个订单能不能改地址？”  </a:t>
            </a:r>
          </a:p>
          <a:p>
            <a:r>
              <a:t>&gt; “为什么只收到一件，还有一件呢？”</a:t>
            </a:r>
          </a:p>
          <a:p/>
          <a:p>
            <a:r>
              <a:t>这些问题不能只靠商品说明回答。</a:t>
            </a:r>
          </a:p>
          <a:p/>
          <a:p>
            <a:r>
              <a:t>客服需要查询具体订单，了解发货、物流以及相关业务状态。相同的问题，不同用户、不同订单，答案可能完全不同。</a:t>
            </a:r>
          </a:p>
          <a:p/>
          <a:p>
            <a:r>
              <a:t>### 3. 收货后：解决使用问题和售后诉求</a:t>
            </a:r>
          </a:p>
          <a:p/>
          <a:p>
            <a:r>
              <a:t>例如：</a:t>
            </a:r>
          </a:p>
          <a:p/>
          <a:p>
            <a:r>
              <a:t>&gt; “耳机连接不上手机。”  </a:t>
            </a:r>
          </a:p>
          <a:p>
            <a:r>
              <a:t>&gt; “收到以后右边没有声音。”  </a:t>
            </a:r>
          </a:p>
          <a:p>
            <a:r>
              <a:t>&gt; “发错颜色了，我想换一个。”  </a:t>
            </a:r>
          </a:p>
          <a:p>
            <a:r>
              <a:t>&gt; “退款申请提交了，怎么还没到账？”</a:t>
            </a:r>
          </a:p>
          <a:p/>
          <a:p>
            <a:r>
              <a:t>这里又包含不同情况：</a:t>
            </a:r>
          </a:p>
          <a:p/>
          <a:p>
            <a:r>
              <a:t>有些问题，通过使用说明就能解决；有些需要查询售后进度；还有些需要收集材料、提交申请，或者由人工进一步处理。</a:t>
            </a:r>
          </a:p>
          <a:p/>
          <a:p>
            <a:r>
              <a:t>所以，我们今天做的“电商智能客服”，不是只有一个会聊天的窗口。**它需要承接购买前后的不同需求，并连接对应的信息和处理流程。**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用一句换货请求拆出后台操作链。</a:t>
            </a:r>
          </a:p>
          <a:p/>
          <a:p>
            <a:r>
              <a:t>我们看一个具体请求：</a:t>
            </a:r>
          </a:p>
          <a:p/>
          <a:p>
            <a:r>
              <a:t>&gt; 用户：上周买的耳机没有声音，我想换一个。</a:t>
            </a:r>
          </a:p>
          <a:p/>
          <a:p>
            <a:r>
              <a:t>如果这句话发给人工客服，客服接下来可能需要做什么？</a:t>
            </a:r>
          </a:p>
          <a:p/>
          <a:p>
            <a:r>
              <a:t>首先，找到订单。</a:t>
            </a:r>
          </a:p>
          <a:p/>
          <a:p>
            <a:r>
              <a:t>“上周买的耳机”不是订单号。如果用户买过两款耳机，还需要确认是哪一笔。</a:t>
            </a:r>
          </a:p>
          <a:p/>
          <a:p>
            <a:r>
              <a:t>然后，了解问题。</a:t>
            </a:r>
          </a:p>
          <a:p/>
          <a:p>
            <a:r>
              <a:t>“没有声音”可能是两边都没有声音，也可能是一边没有声音；可能是使用设置问题，也可能是商品故障。客服需要根据商品和服务流程，询问必要的信息。</a:t>
            </a:r>
          </a:p>
          <a:p/>
          <a:p>
            <a:r>
              <a:t>接着，查询适用的售后政策。</a:t>
            </a:r>
          </a:p>
          <a:p/>
          <a:p>
            <a:r>
              <a:t>不同商品、不同订单状态和不同问题，可能对应不同处理要求。客服不能还没确认情况，就直接承诺一定可以换货。</a:t>
            </a:r>
          </a:p>
          <a:p/>
          <a:p>
            <a:r>
              <a:t>最后，帮助用户继续处理。</a:t>
            </a:r>
          </a:p>
          <a:p/>
          <a:p>
            <a:r>
              <a:t>可能需要补充材料、确认申请内容、提交售后申请，也可能需要交给其他人员审核。</a:t>
            </a:r>
          </a:p>
          <a:p/>
          <a:p>
            <a:r>
              <a:t>这个过程中，客服可能同时使用：</a:t>
            </a:r>
          </a:p>
          <a:p/>
          <a:p>
            <a:r>
              <a:t>| 资料或系统 | 提供什么 |</a:t>
            </a:r>
          </a:p>
          <a:p>
            <a:r>
              <a:t>|---|---|</a:t>
            </a:r>
          </a:p>
          <a:p>
            <a:r>
              <a:t>| 商品资料 | 型号、功能、使用说明 |</a:t>
            </a:r>
          </a:p>
          <a:p>
            <a:r>
              <a:t>| 订单与物流系统 | 买了什么、是否发货、是否签收 |</a:t>
            </a:r>
          </a:p>
          <a:p>
            <a:r>
              <a:t>| 售后政策 | 适用条件、所需材料、处理步骤 |</a:t>
            </a:r>
          </a:p>
          <a:p>
            <a:r>
              <a:t>| 售后系统 | 申请记录、处理进度、执行结果 |</a:t>
            </a:r>
          </a:p>
          <a:p>
            <a:r>
              <a:t>| 客服工作台 | 对话记录、人员接待与转交 |</a:t>
            </a:r>
          </a:p>
          <a:p/>
          <a:p>
            <a:r>
              <a:t>用户看到的是客服回复了几句话，背后却发生了查询、核对、解释、录入和转交。</a:t>
            </a:r>
          </a:p>
          <a:p/>
          <a:p>
            <a:r>
              <a:t>因此，评价客服产品时，不能只问“这句话回答得怎么样”，还要看：**用户要办的事情，有没有得到正确推进。**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讲清人工、FAQ、流程机器人和大模型客服的差别。</a:t>
            </a:r>
          </a:p>
          <a:p/>
          <a:p>
            <a:r>
              <a:t>企业很早就开始用系统减少客服的重复工作。大模型不是客服自动化的起点。</a:t>
            </a:r>
          </a:p>
          <a:p/>
          <a:p>
            <a:r>
              <a:t>这里不用记发展年份，我们重点看几种方式的差别。</a:t>
            </a:r>
          </a:p>
          <a:p/>
          <a:p>
            <a:r>
              <a:t>### 1. 人工客服：由人理解问题和组织处理过程</a:t>
            </a:r>
          </a:p>
          <a:p/>
          <a:p>
            <a:r>
              <a:t>人工可以结合上下文，灵活理解用户诉求。</a:t>
            </a:r>
          </a:p>
          <a:p/>
          <a:p>
            <a:r>
              <a:t>例如：</a:t>
            </a:r>
          </a:p>
          <a:p/>
          <a:p>
            <a:r>
              <a:t>&gt; “之前那个客服说可以换，你们现在怎么又说不行？”</a:t>
            </a:r>
          </a:p>
          <a:p/>
          <a:p>
            <a:r>
              <a:t>客服需要回看记录，核对前面的解释和实际政策，再处理争议。</a:t>
            </a:r>
          </a:p>
          <a:p/>
          <a:p>
            <a:r>
              <a:t>但人工也会面临重复咨询、咨询高峰排队、新人培训、跨系统查询等问题。</a:t>
            </a:r>
          </a:p>
          <a:p/>
          <a:p>
            <a:r>
              <a:t>于是，商家会把一些重复工作交给机器人。</a:t>
            </a:r>
          </a:p>
          <a:p/>
          <a:p>
            <a:r>
              <a:t>### 2. FAQ 机器人：匹配常见问题，返回维护好的答案</a:t>
            </a:r>
          </a:p>
          <a:p/>
          <a:p>
            <a:r>
              <a:t>例如，商家提前整理：</a:t>
            </a:r>
          </a:p>
          <a:p/>
          <a:p>
            <a:r>
              <a:t>- 怎么申请退货。</a:t>
            </a:r>
          </a:p>
          <a:p>
            <a:r>
              <a:t>- 商品怎样连接手机。</a:t>
            </a:r>
          </a:p>
          <a:p>
            <a:r>
              <a:t>- 运费由谁承担。</a:t>
            </a:r>
          </a:p>
          <a:p>
            <a:r>
              <a:t>- 怎样查询退款进度。</a:t>
            </a:r>
          </a:p>
          <a:p/>
          <a:p>
            <a:r>
              <a:t>同一个问题，用户可能有不同问法：</a:t>
            </a:r>
          </a:p>
          <a:p/>
          <a:p>
            <a:r>
              <a:t>&gt; “退货怎么操作？”  </a:t>
            </a:r>
          </a:p>
          <a:p>
            <a:r>
              <a:t>&gt; “在哪里申请退货？”  </a:t>
            </a:r>
          </a:p>
          <a:p>
            <a:r>
              <a:t>&gt; “东西不要了怎么退？”</a:t>
            </a:r>
          </a:p>
          <a:p/>
          <a:p>
            <a:r>
              <a:t>系统通过问题匹配，找到相应答案。</a:t>
            </a:r>
          </a:p>
          <a:p/>
          <a:p>
            <a:r>
              <a:t>这类方式适合常见、稳定的问题，企业也比较容易控制回答内容。</a:t>
            </a:r>
          </a:p>
          <a:p/>
          <a:p>
            <a:r>
              <a:t>但用户的问题不一定是一个清楚、独立的问句。</a:t>
            </a:r>
          </a:p>
          <a:p/>
          <a:p>
            <a:r>
              <a:t>例如：</a:t>
            </a:r>
          </a:p>
          <a:p/>
          <a:p>
            <a:r>
              <a:t>&gt; “耳机右边没声音，重新连接过了，还是不行。上周才买的，能直接换吗？”</a:t>
            </a:r>
          </a:p>
          <a:p/>
          <a:p>
            <a:r>
              <a:t>这里已经包含故障、排查记录、时间线索和换货诉求。只返回一段通用换货说明，可能相关，却没有充分处理用户的实际情况。</a:t>
            </a:r>
          </a:p>
          <a:p/>
          <a:p>
            <a:r>
              <a:t>### 3. 流程型机器人：按预设步骤完成查询或办理</a:t>
            </a:r>
          </a:p>
          <a:p/>
          <a:p>
            <a:r>
              <a:t>除了回答常见问题，传统客服机器人也可以连接业务系统。</a:t>
            </a:r>
          </a:p>
          <a:p/>
          <a:p>
            <a:r>
              <a:t>例如：</a:t>
            </a:r>
          </a:p>
          <a:p/>
          <a:p>
            <a:r>
              <a:t>&gt; 选择售后类型 → 选择订单 → 选择问题 → 补充材料 → 确认申请。</a:t>
            </a:r>
          </a:p>
          <a:p/>
          <a:p>
            <a:r>
              <a:t>**查询订单、调用接口、创建申请，并不是大模型出现以后才有的能力。**</a:t>
            </a:r>
          </a:p>
          <a:p/>
          <a:p>
            <a:r>
              <a:t>固定流程的优势是步骤明确，容易知道用户当前在哪一步、还缺哪些信息。</a:t>
            </a:r>
          </a:p>
          <a:p/>
          <a:p>
            <a:r>
              <a:t>但是，用户不一定严格沿着流程表达。</a:t>
            </a:r>
          </a:p>
          <a:p/>
          <a:p>
            <a:r>
              <a:t>系统正在询问故障，用户可能说：</a:t>
            </a:r>
          </a:p>
          <a:p/>
          <a:p>
            <a:r>
              <a:t>&gt; “算了，不换了，能退吗？”</a:t>
            </a:r>
          </a:p>
          <a:p/>
          <a:p>
            <a:r>
              <a:t>也可能一次提出两个问题：</a:t>
            </a:r>
          </a:p>
          <a:p/>
          <a:p>
            <a:r>
              <a:t>&gt; “帮我查一下耳机到哪了，另外想再买一个送人。”</a:t>
            </a:r>
          </a:p>
          <a:p/>
          <a:p>
            <a:r>
              <a:t>这时，系统需要理解新诉求，决定保留哪些信息、切换到哪里，以及原来的任务是否继续。</a:t>
            </a:r>
          </a:p>
          <a:p/>
          <a:p>
            <a:r>
              <a:t>### 4. 大模型客服：让自然表达与业务流程更好地衔接</a:t>
            </a:r>
          </a:p>
          <a:p/>
          <a:p>
            <a:r>
              <a:t>大模型可以帮助系统更灵活地理解表达、提取信息、组织回复，并结合已有能力选择处理路径。</a:t>
            </a:r>
          </a:p>
          <a:p/>
          <a:p>
            <a:r>
              <a:t>用户说：</a:t>
            </a:r>
          </a:p>
          <a:p/>
          <a:p>
            <a:r>
              <a:t>&gt; “上周买的耳机右边没声音，我想换一个。”</a:t>
            </a:r>
          </a:p>
          <a:p/>
          <a:p>
            <a:r>
              <a:t>系统可以识别出商品线索、故障描述和换货诉求，不必把用户已经说过的信息全部再问一遍。</a:t>
            </a:r>
          </a:p>
          <a:p/>
          <a:p>
            <a:r>
              <a:t>但大模型不能凭空知道：</a:t>
            </a:r>
          </a:p>
          <a:p/>
          <a:p>
            <a:r>
              <a:t>- 对应哪一笔订单。</a:t>
            </a:r>
          </a:p>
          <a:p>
            <a:r>
              <a:t>- 商品什么时候签收。</a:t>
            </a:r>
          </a:p>
          <a:p>
            <a:r>
              <a:t>- 当前适用什么售后政策。</a:t>
            </a:r>
          </a:p>
          <a:p>
            <a:r>
              <a:t>- 用户是否已经提交申请。</a:t>
            </a:r>
          </a:p>
          <a:p>
            <a:r>
              <a:t>- 刚才的操作有没有成功。</a:t>
            </a:r>
          </a:p>
          <a:p/>
          <a:p>
            <a:r>
              <a:t>这些信息仍然需要来自业务系统、知识资料和实际执行结果。</a:t>
            </a:r>
          </a:p>
          <a:p/>
          <a:p>
            <a:r>
              <a:t>所以，实际产品通常不是简单地用大模型替换全部旧能力，而是让它与知识库、固定流程、业务规则和人工客服配合。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引入大模型，最值得先改善什么</a:t>
            </a:r>
          </a:p>
          <a:p/>
          <a:p>
            <a:r>
              <a:t>这里可以请学员先做一个选择：</a:t>
            </a:r>
          </a:p>
          <a:p/>
          <a:p>
            <a:r>
              <a:t>&gt; 假设店铺已经有常见问题、自助查单和售后申请入口，你认为引入大模型最值得优先改善什么？</a:t>
            </a:r>
          </a:p>
          <a:p/>
          <a:p>
            <a:r>
              <a:t>**A.** 让客服回复更自然、更像真人。  </a:t>
            </a:r>
          </a:p>
          <a:p>
            <a:r>
              <a:t>**B.** 让用户用自己的话描述需求，系统仍能理解并进入正确的处理流程。  </a:t>
            </a:r>
          </a:p>
          <a:p>
            <a:r>
              <a:t>**C.** 让全部售后操作不再需要人工参与。</a:t>
            </a:r>
          </a:p>
          <a:p/>
          <a:p>
            <a:r>
              <a:t>对于今天的项目，我们优先考虑 **B**。</a:t>
            </a:r>
          </a:p>
          <a:p/>
          <a:p>
            <a:r>
              <a:t>A 有价值。回复清楚、自然，会影响体验。但如果说得很自然，却查错订单、没有推进申请，服务仍然没有完成。</a:t>
            </a:r>
          </a:p>
          <a:p/>
          <a:p>
            <a:r>
              <a:t>C 不能作为默认目标。是否自动处理，要结合业务规则、权限和风险，不能因为模型理解了退款诉求，就让它自行批准退款。</a:t>
            </a:r>
          </a:p>
          <a:p/>
          <a:p>
            <a:r>
              <a:t>我们真正希望改善的是：</a:t>
            </a:r>
          </a:p>
          <a:p/>
          <a:p>
            <a:r>
              <a:t>- 用户不需要先学习店铺的菜单和系统结构。</a:t>
            </a:r>
          </a:p>
          <a:p>
            <a:r>
              <a:t>- 已经提供的信息不必反复填写。</a:t>
            </a:r>
          </a:p>
          <a:p>
            <a:r>
              <a:t>- 能查询到与当前用户相关的准确数据。</a:t>
            </a:r>
          </a:p>
          <a:p>
            <a:r>
              <a:t>- 能明确知道下一步做什么、目前处理到哪里。</a:t>
            </a:r>
          </a:p>
          <a:p>
            <a:r>
              <a:t>- 需要人工时，前面收集的信息能够一起转交。</a:t>
            </a:r>
          </a:p>
          <a:p/>
          <a:p>
            <a:r>
              <a:t>**让用户表达得自然，也让后面的处理有明确步骤。**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本项目要解决什么、暂时不做什么</a:t>
            </a:r>
          </a:p>
          <a:p/>
          <a:p>
            <a:r>
              <a:t>现在回到今天的模拟商家。</a:t>
            </a:r>
          </a:p>
          <a:p/>
          <a:p>
            <a:r>
              <a:t>这家商家销售耳机、键盘等消费电子产品，已经有商品资料、售后政策、订单系统、售后系统和人工客服。</a:t>
            </a:r>
          </a:p>
          <a:p/>
          <a:p>
            <a:r>
              <a:t>我们为项目设定几类需要改善的情况：</a:t>
            </a:r>
          </a:p>
          <a:p/>
          <a:p>
            <a:r>
              <a:t>### 1. 常见咨询占用客服时间</a:t>
            </a:r>
          </a:p>
          <a:p/>
          <a:p>
            <a:r>
              <a:t>商品区别、连接方法、发货安排、售后步骤等问题反复出现，需要工作人员重复查找和解释。</a:t>
            </a:r>
          </a:p>
          <a:p/>
          <a:p>
            <a:r>
              <a:t>### 2. 用户说法与系统字段不一致</a:t>
            </a:r>
          </a:p>
          <a:p/>
          <a:p>
            <a:r>
              <a:t>系统需要订单编号、商品型号、问题类型；用户说的却是：</a:t>
            </a:r>
          </a:p>
          <a:p/>
          <a:p>
            <a:r>
              <a:t>&gt; “上周那个。”  </a:t>
            </a:r>
          </a:p>
          <a:p>
            <a:r>
              <a:t>&gt; “第二个耳机。”  </a:t>
            </a:r>
          </a:p>
          <a:p>
            <a:r>
              <a:t>&gt; “右边坏了。”</a:t>
            </a:r>
          </a:p>
          <a:p/>
          <a:p>
            <a:r>
              <a:t>需要有人把自然表达与业务信息对应起来。</a:t>
            </a:r>
          </a:p>
          <a:p/>
          <a:p>
            <a:r>
              <a:t>### 3. 回答之后，用户仍不知道怎样继续</a:t>
            </a:r>
          </a:p>
          <a:p/>
          <a:p>
            <a:r>
              <a:t>用户提出换货诉求，机器人返回了政策，却没有引导确认订单、补充材料或者进入申请流程。</a:t>
            </a:r>
          </a:p>
          <a:p/>
          <a:p>
            <a:r>
              <a:t>### 4. 转人工后，信息没有接上</a:t>
            </a:r>
          </a:p>
          <a:p/>
          <a:p>
            <a:r>
              <a:t>机器人已经询问了订单和故障，人工接手却看不到整理后的信息，需要重新询问。</a:t>
            </a:r>
          </a:p>
          <a:p/>
          <a:p>
            <a:r>
              <a:t>这些是教学设定的业务问题。在真实项目里，需要通过客服记录、访谈、用户反馈和系统数据验证，不能只凭设想就确定需求。</a:t>
            </a:r>
          </a:p>
          <a:p/>
          <a:p>
            <a:r>
              <a:t>我们先看五条消息：</a:t>
            </a:r>
          </a:p>
          <a:p/>
          <a:p>
            <a:r>
              <a:t>| 用户消息 | 背后需要完成的事情 |</a:t>
            </a:r>
          </a:p>
          <a:p>
            <a:r>
              <a:t>|---|---|</a:t>
            </a:r>
          </a:p>
          <a:p>
            <a:r>
              <a:t>| “这款耳机支持换货吗？” | 确认商品及相关情况，查询适用政策 |</a:t>
            </a:r>
          </a:p>
          <a:p>
            <a:r>
              <a:t>| “上周买的耳机怎么还没到？” | 定位订单，查询发货和物流 |</a:t>
            </a:r>
          </a:p>
          <a:p>
            <a:r>
              <a:t>| “收到以后右边没有声音，我想换一个。” | 确认订单与故障，引导后续售后处理 |</a:t>
            </a:r>
          </a:p>
          <a:p>
            <a:r>
              <a:t>| “预算三百以内，有没有适合通勤的耳机？” | 了解需求，查找并推荐商品 |</a:t>
            </a:r>
          </a:p>
          <a:p>
            <a:r>
              <a:t>| “前面已经说过两遍了，帮我找人工。” | 转交人工，并保留前面的处理信息 |</a:t>
            </a:r>
          </a:p>
          <a:p/>
          <a:p>
            <a:r>
              <a:t>它们都出现在同一个聊天窗口，但不能全部用同一种方式解决。</a:t>
            </a:r>
          </a:p>
          <a:p/>
          <a:p>
            <a:r>
              <a:t>因此，本次公共项目的任务是：</a:t>
            </a:r>
          </a:p>
          <a:p/>
          <a:p>
            <a:r>
              <a:t>&gt; 设计一个电商智能客服助手，在统一的对话入口中，处理商品与售后咨询、订单查询、商品推荐，并引导用户进入适当的售后或人工处理流程。</a:t>
            </a:r>
          </a:p>
          <a:p/>
          <a:p>
            <a:r>
              <a:t>我们重点深入两条路径：</a:t>
            </a:r>
          </a:p>
          <a:p/>
          <a:p>
            <a:r>
              <a:t>- **订单查询**：先跑通一条相对简单的业务查询流程。</a:t>
            </a:r>
          </a:p>
          <a:p>
            <a:r>
              <a:t>- **售后咨询与处理**：再把知识、对话、规则和业务流程结合起来。</a:t>
            </a:r>
          </a:p>
          <a:p/>
          <a:p>
            <a:r>
              <a:t>商品推荐、闲聊与兜底用来补全整体产品结构，讲解会相对简短。</a:t>
            </a:r>
          </a:p>
          <a:p/>
          <a:p>
            <a:r>
              <a:t>当前课堂不涉及真实自动退款、赔付审批，也不建设完整的客服中台。业务操作使用模拟环境，并明确区分“申请已提交”和“审核已通过”等不同状态。</a:t>
            </a:r>
          </a:p>
          <a:p/>
          <a:p>
            <a:r>
              <a:t>下一节，我们就来看这套电商智能客服的**整体方案与主工作流**：用户发来一句话后，系统怎样理解它，并交给订单查询、售后处理、商品推荐或其他路径。</a:t>
            </a:r>
          </a:p>
          <a:p/>
          <a:p>
            <a:r>
              <a:t>---</a:t>
            </a:r>
          </a:p>
          <a:p/>
          <a:p>
            <a:r>
              <a:t>**素材说明：**客服演进与业务运营视角参考亚慧《智能客服机器人》；项目分支结构参考知乎第 7 课客服项目。商家背景与贯穿对话为本课程教学设计。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用户发来一句话后，系统怎样知道该交给哪条流程？</a:t>
            </a:r>
          </a:p>
          <a:p/>
          <a:p>
            <a:r>
              <a:t>上一节，我们明确了项目背景：这家电商商家已经有商品资料、售后政策、订单系统和人工客服，现在要通过一个智能客服入口，把这些能力连接起来。</a:t>
            </a:r>
          </a:p>
          <a:p/>
          <a:p>
            <a:r>
              <a:t>这一节先看整体方案。</a:t>
            </a:r>
          </a:p>
          <a:p/>
          <a:p>
            <a:r>
              <a:t>我们要弄清楚：**用户发来一句话之后，系统怎样知道该做什么，以及把这个请求交给哪一条流程。**</a:t>
            </a:r>
          </a:p>
          <a:p/>
          <a:p>
            <a:r>
              <a:t>## 一、先看这个产品应该怎样工作</a:t>
            </a:r>
          </a:p>
          <a:p/>
          <a:p>
            <a:r>
              <a:t>先用三段对话，展示同一个客服助手处理不同请求的效果。</a:t>
            </a:r>
          </a:p>
          <a:p/>
          <a:p>
            <a:r>
              <a:t>以下是教学设计中的预期对话，不是已经运行验证的结果。</a:t>
            </a:r>
          </a:p>
          <a:p/>
          <a:p>
            <a:r>
              <a:t>### 场景一：查询订单</a:t>
            </a:r>
          </a:p>
          <a:p/>
          <a:p>
            <a:r>
              <a:t>&gt; 用户：上周买的耳机怎么还没到？  </a:t>
            </a:r>
          </a:p>
          <a:p>
            <a:r>
              <a:t>&gt; 助手：查询到您近期有两笔耳机订单，请选择需要查询的一笔。  </a:t>
            </a:r>
          </a:p>
          <a:p>
            <a:r>
              <a:t>&gt; 用户：第二个。  </a:t>
            </a:r>
          </a:p>
          <a:p>
            <a:r>
              <a:t>&gt; 助手：这笔订单已发货，当前物流状态为运输中。您可以在下方查看最新物流记录。</a:t>
            </a:r>
          </a:p>
          <a:p/>
          <a:p>
            <a:r>
              <a:t>这个过程需要连接订单和物流数据。</a:t>
            </a:r>
          </a:p>
          <a:p/>
          <a:p>
            <a:r>
              <a:t>### 场景二：处理售后诉求</a:t>
            </a:r>
          </a:p>
          <a:p/>
          <a:p>
            <a:r>
              <a:t>&gt; 用户：收到的耳机右边没有声音，我想换一个。  </a:t>
            </a:r>
          </a:p>
          <a:p>
            <a:r>
              <a:t>&gt; 助手：我先帮您确认需要处理的订单，请选择对应商品。  </a:t>
            </a:r>
          </a:p>
          <a:p>
            <a:r>
              <a:t>&gt; 用户：就是这个。  </a:t>
            </a:r>
          </a:p>
          <a:p>
            <a:r>
              <a:t>&gt; 助手：已确认订单。请问右侧耳机是收到后一直没有声音，还是使用过程中出现的？  </a:t>
            </a:r>
          </a:p>
          <a:p>
            <a:r>
              <a:t>&gt; 用户：收到就没有声音。  </a:t>
            </a:r>
          </a:p>
          <a:p>
            <a:r>
              <a:t>&gt; 助手：了解，我会根据这笔订单和适用的售后要求，继续引导您处理。</a:t>
            </a:r>
          </a:p>
          <a:p/>
          <a:p>
            <a:r>
              <a:t>这个过程除了查询订单，还需要理解故障、收集信息和查询政策。</a:t>
            </a:r>
          </a:p>
          <a:p/>
          <a:p>
            <a:r>
              <a:t>### 场景三：推荐商品</a:t>
            </a:r>
          </a:p>
          <a:p/>
          <a:p>
            <a:r>
              <a:t>&gt; 用户：想买个通勤用的耳机，预算三百以内。  </a:t>
            </a:r>
          </a:p>
          <a:p>
            <a:r>
              <a:t>&gt; 助手：您更看重降噪，还是佩戴舒适度？  </a:t>
            </a:r>
          </a:p>
          <a:p>
            <a:r>
              <a:t>&gt; 用户：降噪。  </a:t>
            </a:r>
          </a:p>
          <a:p>
            <a:r>
              <a:t>&gt; 助手：根据店铺当前商品资料，我为您筛选了以下候选，您可以比较价格、降噪功能和佩戴方式。</a:t>
            </a:r>
          </a:p>
          <a:p/>
          <a:p>
            <a:r>
              <a:t>这个过程主要依赖用户偏好和商品数据。</a:t>
            </a:r>
          </a:p>
          <a:p/>
          <a:p>
            <a:r>
              <a:t>三个场景使用同一个对话窗口，背后的处理方式却不同。</a:t>
            </a:r>
          </a:p>
          <a:p/>
          <a:p>
            <a:r>
              <a:t>所以，产品不能只依赖一个笼统的提示词：“你是一名专业电商客服，请回答用户的问题。”</a:t>
            </a:r>
          </a:p>
          <a:p/>
          <a:p>
            <a:r>
              <a:t>我们需要把具体的处理能力组织起来。</a:t>
            </a:r>
          </a:p>
          <a:p/>
          <a:p>
            <a:r>
              <a:t>## 二、先区分“用户看到的产品”和“背后的处理流程”</a:t>
            </a:r>
          </a:p>
          <a:p/>
          <a:p>
            <a:r>
              <a:t>用户看到的，首先是一个客服界面：</a:t>
            </a:r>
          </a:p>
          <a:p/>
          <a:p>
            <a:r>
              <a:t>- 可以输入问题。</a:t>
            </a:r>
          </a:p>
          <a:p>
            <a:r>
              <a:t>- 可以选择订单或商品。</a:t>
            </a:r>
          </a:p>
          <a:p>
            <a:r>
              <a:t>- 可以补充信息。</a:t>
            </a:r>
          </a:p>
          <a:p>
            <a:r>
              <a:t>- 可以查看处理结果。</a:t>
            </a:r>
          </a:p>
          <a:p>
            <a:r>
              <a:t>- 必要时可以转人工。</a:t>
            </a:r>
          </a:p>
          <a:p/>
          <a:p>
            <a:r>
              <a:t>背后则有几部分协作：</a:t>
            </a:r>
          </a:p>
          <a:p/>
          <a:p>
            <a:r>
              <a:t>| 产品部分 | 具体作用 |</a:t>
            </a:r>
          </a:p>
          <a:p>
            <a:r>
              <a:t>|---|---|</a:t>
            </a:r>
          </a:p>
          <a:p>
            <a:r>
              <a:t>| 对话入口 | 接收文字、选择操作和其他必要输入 |</a:t>
            </a:r>
          </a:p>
          <a:p>
            <a:r>
              <a:t>| 主工作流 | 判断当前请求应该进入哪条处理路径 |</a:t>
            </a:r>
          </a:p>
          <a:p>
            <a:r>
              <a:t>| 子工作流 | 分别完成订单查询、售后处理、商品推荐等任务 |</a:t>
            </a:r>
          </a:p>
          <a:p>
            <a:r>
              <a:t>| 知识与业务系统 | 提供商品、政策、订单和售后信息 |</a:t>
            </a:r>
          </a:p>
          <a:p>
            <a:r>
              <a:t>| 人工服务 | 承接需要进一步处理的情况 |</a:t>
            </a:r>
          </a:p>
          <a:p>
            <a:r>
              <a:t>| 处理记录 | 保存必要的对话、状态和调用结果，便于继续服务与排查问题 |</a:t>
            </a:r>
          </a:p>
          <a:p/>
          <a:p>
            <a:r>
              <a:t>这里的“工作流”，可以先理解为：**系统收到请求以后，按什么步骤调用哪些能力，并根据结果决定下一步。**</a:t>
            </a:r>
          </a:p>
          <a:p/>
          <a:p>
            <a:r>
              <a:t>这一节不要求学员掌握全部节点配置。先看懂整体关系，后面再逐条拆开。</a:t>
            </a:r>
          </a:p>
          <a:p/>
          <a:p>
            <a:r>
              <a:t>## 三、主工作流怎样组织</a:t>
            </a:r>
          </a:p>
          <a:p/>
          <a:p>
            <a:r>
              <a:t>按照知乎客服项目的主要分支，我们把助手组织为四条路径：</a:t>
            </a:r>
          </a:p>
          <a:p/>
          <a:p>
            <a:r>
              <a:t>```text</a:t>
            </a:r>
          </a:p>
          <a:p>
            <a:r>
              <a:t>用户消息或页面操作</a:t>
            </a:r>
          </a:p>
          <a:p>
            <a:r>
              <a:t>        ↓</a:t>
            </a:r>
          </a:p>
          <a:p>
            <a:r>
              <a:t>读取当前会话与已有任务信息</a:t>
            </a:r>
          </a:p>
          <a:p>
            <a:r>
              <a:t>        ↓</a:t>
            </a:r>
          </a:p>
          <a:p>
            <a:r>
              <a:t>判断用户意图与处理路径</a:t>
            </a:r>
          </a:p>
          <a:p>
            <a:r>
              <a:t>        ├─ 订单查询</a:t>
            </a:r>
          </a:p>
          <a:p>
            <a:r>
              <a:t>        ├─ 售后咨询与投诉处理</a:t>
            </a:r>
          </a:p>
          <a:p>
            <a:r>
              <a:t>        ├─ 商品咨询与推荐</a:t>
            </a:r>
          </a:p>
          <a:p>
            <a:r>
              <a:t>        └─ 闲聊、模糊请求与范围外问题</a:t>
            </a:r>
          </a:p>
          <a:p>
            <a:r>
              <a:t>        ↓</a:t>
            </a:r>
          </a:p>
          <a:p>
            <a:r>
              <a:t>返回回答、选择项或处理状态</a:t>
            </a:r>
          </a:p>
          <a:p>
            <a:r>
              <a:t>        ↓</a:t>
            </a:r>
          </a:p>
          <a:p>
            <a:r>
              <a:t>继续当前任务，或结束本次处理</a:t>
            </a:r>
          </a:p>
          <a:p>
            <a:r>
              <a:t>```</a:t>
            </a:r>
          </a:p>
          <a:p/>
          <a:p>
            <a:r>
              <a:t>人工接管不是只能在最后出现。用户明确要求人工，或者某个流程遇到无法处理的情况，都可以进入人工路径。</a:t>
            </a:r>
          </a:p>
          <a:p/>
          <a:p>
            <a:r>
              <a:t>这里先明确主工作流和子工作流的分工。</a:t>
            </a:r>
          </a:p>
          <a:p/>
          <a:p>
            <a:r>
              <a:t>### 主工作流：决定请求交给谁</a:t>
            </a:r>
          </a:p>
          <a:p/>
          <a:p>
            <a:r>
              <a:t>例如：</a:t>
            </a:r>
          </a:p>
          <a:p/>
          <a:p>
            <a:r>
              <a:t>&gt; “上周买的耳机怎么还没到？”</a:t>
            </a:r>
          </a:p>
          <a:p/>
          <a:p>
            <a:r>
              <a:t>主工作流需要判断它属于订单或物流查询，并把用户消息、账号信息和已有上下文传给查询流程。</a:t>
            </a:r>
          </a:p>
          <a:p/>
          <a:p>
            <a:r>
              <a:t>它不必在这个环节完成所有订单查询细节。</a:t>
            </a:r>
          </a:p>
          <a:p/>
          <a:p>
            <a:r>
              <a:t>### 子工作流：把具体任务处理下去</a:t>
            </a:r>
          </a:p>
          <a:p/>
          <a:p>
            <a:r>
              <a:t>订单查询流程再负责：</a:t>
            </a:r>
          </a:p>
          <a:p/>
          <a:p>
            <a:r>
              <a:t>- 信息是否足够。</a:t>
            </a:r>
          </a:p>
          <a:p>
            <a:r>
              <a:t>- 需要查哪笔订单。</a:t>
            </a:r>
          </a:p>
          <a:p>
            <a:r>
              <a:t>- 是否需要用户选择。</a:t>
            </a:r>
          </a:p>
          <a:p>
            <a:r>
              <a:t>- 调用什么查询工具。</a:t>
            </a:r>
          </a:p>
          <a:p>
            <a:r>
              <a:t>- 查不到或调用失败时怎么办。</a:t>
            </a:r>
          </a:p>
          <a:p>
            <a:r>
              <a:t>- 最后返回什么。</a:t>
            </a:r>
          </a:p>
          <a:p/>
          <a:p>
            <a:r>
              <a:t>这样拆分以后，修改订单查询流程，不需要同时重写商品推荐的全部逻辑。</a:t>
            </a:r>
          </a:p>
          <a:p/>
          <a:p>
            <a:r>
              <a:t>## 四、意图分类不能只写几个标签</a:t>
            </a:r>
          </a:p>
          <a:p/>
          <a:p>
            <a:r>
              <a:t>现在看主工作流最重要的一步：判断用户想做什么。</a:t>
            </a:r>
          </a:p>
          <a:p/>
          <a:p>
            <a:r>
              <a:t>如果只给模型四个标签——“查询、售后、推荐、闲聊”，并不能保证它理解我们的业务边界。</a:t>
            </a:r>
          </a:p>
          <a:p/>
          <a:p>
            <a:r>
              <a:t>例如：</a:t>
            </a:r>
          </a:p>
          <a:p/>
          <a:p>
            <a:r>
              <a:t>&gt; “这个耳机能不能换？”</a:t>
            </a:r>
          </a:p>
          <a:p/>
          <a:p>
            <a:r>
              <a:t>它可能是在问：</a:t>
            </a:r>
          </a:p>
          <a:p/>
          <a:p>
            <a:r>
              <a:t>- 未购买前，了解换货政策。</a:t>
            </a:r>
          </a:p>
          <a:p>
            <a:r>
              <a:t>- 已购买后，想申请换货。</a:t>
            </a:r>
          </a:p>
          <a:p>
            <a:r>
              <a:t>- 想把刚才推荐的耳机换成另一款。</a:t>
            </a:r>
          </a:p>
          <a:p/>
          <a:p>
            <a:r>
              <a:t>所以，意图识别需要结合当前消息和上下文，而不是只找一个关键词。</a:t>
            </a:r>
          </a:p>
          <a:p/>
          <a:p>
            <a:r>
              <a:t>我们先给各分支写出基本定义。</a:t>
            </a:r>
          </a:p>
          <a:p/>
          <a:p>
            <a:r>
              <a:t>| 分支 | 主要接收哪些需求 | 示例 |</a:t>
            </a:r>
          </a:p>
          <a:p>
            <a:r>
              <a:t>|---|---|---|</a:t>
            </a:r>
          </a:p>
          <a:p>
            <a:r>
              <a:t>| 订单查询 | 与具体订单、发货、物流有关的查询 | “耳机到哪了？” |</a:t>
            </a:r>
          </a:p>
          <a:p>
            <a:r>
              <a:t>| 售后咨询与投诉处理 | 售后政策、商品故障、退换货诉求、相关投诉 | “耳机坏了，我想换。” |</a:t>
            </a:r>
          </a:p>
          <a:p>
            <a:r>
              <a:t>| 商品咨询与推荐 | 商品功能、比较、使用场景与购买建议 | “通勤买哪款？” |</a:t>
            </a:r>
          </a:p>
          <a:p>
            <a:r>
              <a:t>| 其他与兜底 | 寒暄、表达不完整、超出服务范围等 | “你好。”“我想问一下。” |</a:t>
            </a:r>
          </a:p>
          <a:p/>
          <a:p>
            <a:r>
              <a:t>这张表是教学版本的初步定义，不是所有电商客服都必须采用的标准分类。</a:t>
            </a:r>
          </a:p>
          <a:p/>
          <a:p>
            <a:r>
              <a:t>真实业务可以继续拆分。当前先用少量清楚的类别，把主要流程跑通。</a:t>
            </a:r>
          </a:p>
          <a:p/>
          <a:p>
            <a:r>
              <a:t>### 一个识别提示词需要说明什么</a:t>
            </a:r>
          </a:p>
          <a:p/>
          <a:p>
            <a:r>
              <a:t>这里可以展示一个简化示意：</a:t>
            </a:r>
          </a:p>
          <a:p/>
          <a:p>
            <a:r>
              <a:t>```text</a:t>
            </a:r>
          </a:p>
          <a:p>
            <a:r>
              <a:t>根据用户当前消息、必要的对话历史和当前任务状态，</a:t>
            </a:r>
          </a:p>
          <a:p>
            <a:r>
              <a:t>判断应进入的处理路径。</a:t>
            </a:r>
          </a:p>
          <a:p/>
          <a:p>
            <a:r>
              <a:t>路径：</a:t>
            </a:r>
          </a:p>
          <a:p>
            <a:r>
              <a:t>1. order_query：订单、发货、物流查询</a:t>
            </a:r>
          </a:p>
          <a:p>
            <a:r>
              <a:t>2. aftersales：售后政策、故障、退换货与投诉</a:t>
            </a:r>
          </a:p>
          <a:p>
            <a:r>
              <a:t>3. product_advice：商品咨询、比较与推荐</a:t>
            </a:r>
          </a:p>
          <a:p>
            <a:r>
              <a:t>4. other：寒暄、范围外请求，或信息不足以确定路径</a:t>
            </a:r>
          </a:p>
          <a:p/>
          <a:p>
            <a:r>
              <a:t>要求：</a:t>
            </a:r>
          </a:p>
          <a:p>
            <a:r>
              <a:t>- 不要仅根据商品名称分类，要识别用户想完成的事情。</a:t>
            </a:r>
          </a:p>
          <a:p>
            <a:r>
              <a:t>- 如果当前消息是在回答上一轮问题，应结合当前任务理解。</a:t>
            </a:r>
          </a:p>
          <a:p>
            <a:r>
              <a:t>- 无法确定时返回需要澄清，不强行选择。</a:t>
            </a:r>
          </a:p>
          <a:p>
            <a:r>
              <a:t>- 用户明确要求人工时，标记人工请求。</a:t>
            </a:r>
          </a:p>
          <a:p>
            <a:r>
              <a:t>```</a:t>
            </a:r>
          </a:p>
          <a:p/>
          <a:p>
            <a:r>
              <a:t>这一段的重点不是让学员记住提示词，而是看到：**分类规则本身也是需要设计的产品内容。**</a:t>
            </a:r>
          </a:p>
          <a:p/>
          <a:p>
            <a:r>
              <a:t>类别定义含糊，后面即使每个子流程都配置正确，用户也可能被送错地方。</a:t>
            </a:r>
          </a:p>
          <a:p/>
          <a:p>
            <a:r>
              <a:t>## 五、用几句话检查分类是否清楚</a:t>
            </a:r>
          </a:p>
          <a:p/>
          <a:p>
            <a:r>
              <a:t>可以让学员先判断下面三条请求分别应该进入哪里。</a:t>
            </a:r>
          </a:p>
          <a:p/>
          <a:p>
            <a:r>
              <a:t>### 第一条：“耳机太差了，我要退。”</a:t>
            </a:r>
          </a:p>
          <a:p/>
          <a:p>
            <a:r>
              <a:t>容易出现的一种错误是：系统只识别出负面情绪，直接当作投诉处理。</a:t>
            </a:r>
          </a:p>
          <a:p/>
          <a:p>
            <a:r>
              <a:t>但这里已经有明确的退货诉求。</a:t>
            </a:r>
          </a:p>
          <a:p/>
          <a:p>
            <a:r>
              <a:t>更合理的做法，是进入售后路径，保留用户表达不满的信息，再根据具体情况决定是否需要人工介入。</a:t>
            </a:r>
          </a:p>
          <a:p/>
          <a:p>
            <a:r>
              <a:t>**负面情绪和业务意图不是同一件事。**一句话可以同时包含两者。</a:t>
            </a:r>
          </a:p>
          <a:p/>
          <a:p>
            <a:r>
              <a:t>### 第二条：“这个耳机适合跑步吗？”</a:t>
            </a:r>
          </a:p>
          <a:p/>
          <a:p>
            <a:r>
              <a:t>如果前面正在浏览某款商品，这属于商品咨询。</a:t>
            </a:r>
          </a:p>
          <a:p/>
          <a:p>
            <a:r>
              <a:t>系统应该结合当前商品资料回答，而不是因为出现“耳机”就进入订单查询，也不必马上推荐一堆新商品。</a:t>
            </a:r>
          </a:p>
          <a:p/>
          <a:p>
            <a:r>
              <a:t>如果上下文中没有对应商品，就需要先确认“这个”指哪一款。</a:t>
            </a:r>
          </a:p>
          <a:p/>
          <a:p>
            <a:r>
              <a:t>### 第三条：“第二个。”</a:t>
            </a:r>
          </a:p>
          <a:p/>
          <a:p>
            <a:r>
              <a:t>这句话单独看，无法判断是什么需求。</a:t>
            </a:r>
          </a:p>
          <a:p/>
          <a:p>
            <a:r>
              <a:t>但如果上一轮助手展示了两笔订单，它就是一次订单选择。</a:t>
            </a:r>
          </a:p>
          <a:p/>
          <a:p>
            <a:r>
              <a:t>此时应该继续订单查询或售后任务，而不是把“第二个”重新当成一个全新的问题进行分类。</a:t>
            </a:r>
          </a:p>
          <a:p/>
          <a:p>
            <a:r>
              <a:t>这也引出了主工作流中一个容易忽略的地方：**每条新消息到达后，都需要先知道当前正在做什么。**</a:t>
            </a:r>
          </a:p>
          <a:p/>
          <a:p>
            <a:r>
              <a:t>## 六、不是每一句话都重新从头分流</a:t>
            </a:r>
          </a:p>
          <a:p/>
          <a:p>
            <a:r>
              <a:t>假设正在处理耳机换货：</a:t>
            </a:r>
          </a:p>
          <a:p/>
          <a:p>
            <a:r>
              <a:t>&gt; 助手：请问是两边都没有声音，还是只有一边？  </a:t>
            </a:r>
          </a:p>
          <a:p>
            <a:r>
              <a:t>&gt; 用户：右边。</a:t>
            </a:r>
          </a:p>
          <a:p/>
          <a:p>
            <a:r>
              <a:t>这时，系统应该把“右边”记录为故障信息，并继续当前流程。</a:t>
            </a:r>
          </a:p>
          <a:p/>
          <a:p>
            <a:r>
              <a:t>如果每轮都只拿最新一句话分类，模型看到“右边”，很可能不知道用户在说什么。</a:t>
            </a:r>
          </a:p>
          <a:p/>
          <a:p>
            <a:r>
              <a:t>因此，进入主工作流的，不应只有当前消息，还需要必要的任务信息。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"aftersales",</a:t>
            </a:r>
          </a:p>
          <a:p>
            <a:r>
              <a:t>  "order_id": "DEMO-102",</a:t>
            </a:r>
          </a:p>
          <a:p>
            <a:r>
              <a:t>  "requested_action": "exchange",</a:t>
            </a:r>
          </a:p>
          <a:p>
            <a:r>
              <a:t>  "issue_description": null,</a:t>
            </a:r>
          </a:p>
          <a:p>
            <a:r>
              <a:t>  "waiting_for": "fault_details"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这里的含义是：</a:t>
            </a:r>
          </a:p>
          <a:p/>
          <a:p>
            <a:r>
              <a:t>- 当前正在处理售后。</a:t>
            </a:r>
          </a:p>
          <a:p>
            <a:r>
              <a:t>- 已经确认订单。</a:t>
            </a:r>
          </a:p>
          <a:p>
            <a:r>
              <a:t>- 用户希望换货。</a:t>
            </a:r>
          </a:p>
          <a:p>
            <a:r>
              <a:t>- 故障描述尚未补齐。</a:t>
            </a:r>
          </a:p>
          <a:p>
            <a:r>
              <a:t>- 系统正在等待用户说明故障。</a:t>
            </a:r>
          </a:p>
          <a:p/>
          <a:p>
            <a:r>
              <a:t>收到“右边没有声音”后，就可以更新故障描述。</a:t>
            </a:r>
          </a:p>
          <a:p/>
          <a:p>
            <a:r>
              <a:t>但如果用户说：</a:t>
            </a:r>
          </a:p>
          <a:p/>
          <a:p>
            <a:r>
              <a:t>&gt; “先不换了，帮我看看物流。”</a:t>
            </a:r>
          </a:p>
          <a:p/>
          <a:p>
            <a:r>
              <a:t>系统还需要判断：用户是在切换任务，还是在查询换货后寄出的商品？</a:t>
            </a:r>
          </a:p>
          <a:p/>
          <a:p>
            <a:r>
              <a:t>信息不清楚时，应当澄清，不能随意覆盖原来的任务。</a:t>
            </a:r>
          </a:p>
          <a:p/>
          <a:p>
            <a:r>
              <a:t>这一节先建立这个概念。下一节和售后流程中，我们再具体看哪些信息需要保存、怎样更新。</a:t>
            </a:r>
          </a:p>
          <a:p/>
          <a:p>
            <a:r>
              <a:t>## 七、“三类任务”和“四条分支”是什么关系</a:t>
            </a:r>
          </a:p>
          <a:p/>
          <a:p>
            <a:r>
              <a:t>上一节我们说，客服会回答问题、查询信息，也会推动业务处理。</a:t>
            </a:r>
          </a:p>
          <a:p/>
          <a:p>
            <a:r>
              <a:t>这里为什么又分成订单、售后、商品和其他四条路径？</a:t>
            </a:r>
          </a:p>
          <a:p/>
          <a:p>
            <a:r>
              <a:t>因为它们是两个不同的观察角度。</a:t>
            </a:r>
          </a:p>
          <a:p/>
          <a:p>
            <a:r>
              <a:t>**四条分支，是按照业务需求组织产品。**</a:t>
            </a:r>
          </a:p>
          <a:p/>
          <a:p>
            <a:r>
              <a:t>而知识问答、业务查询、业务办理，是这些分支里面可能使用的处理方式。</a:t>
            </a:r>
          </a:p>
          <a:p/>
          <a:p>
            <a:r>
              <a:t>例如，售后分支就可能包含：</a:t>
            </a:r>
          </a:p>
          <a:p/>
          <a:p>
            <a:r>
              <a:t>| 用户正在做什么 | 需要的处理方式 |</a:t>
            </a:r>
          </a:p>
          <a:p>
            <a:r>
              <a:t>|---|---|</a:t>
            </a:r>
          </a:p>
          <a:p>
            <a:r>
              <a:t>| 询问换货政策 | 知识问答 |</a:t>
            </a:r>
          </a:p>
          <a:p>
            <a:r>
              <a:t>| 确认订单与已有申请 | 业务查询 |</a:t>
            </a:r>
          </a:p>
          <a:p>
            <a:r>
              <a:t>| 补充材料、确认并提交申请 | 业务办理 |</a:t>
            </a:r>
          </a:p>
          <a:p/>
          <a:p>
            <a:r>
              <a:t>所以，不是把所有知识问题都放在一个地方、所有接口操作都放在另一个地方，就完成了产品设计。</a:t>
            </a:r>
          </a:p>
          <a:p/>
          <a:p>
            <a:r>
              <a:t>**同一个用户任务，往往需要多种能力连续配合。**</a:t>
            </a:r>
          </a:p>
          <a:p/>
          <a:p>
            <a:r>
              <a:t>后面我们会沿着具体任务，决定在哪一步查知识、在哪一步查系统、在哪一步等待用户确认。</a:t>
            </a:r>
          </a:p>
          <a:p/>
          <a:p>
            <a:r>
              <a:t>## 八、各流程之间需要传递什么</a:t>
            </a:r>
          </a:p>
          <a:p/>
          <a:p>
            <a:r>
              <a:t>主工作流把请求交给子工作流时，不能只传一句“处理售后”。</a:t>
            </a:r>
          </a:p>
          <a:p/>
          <a:p>
            <a:r>
              <a:t>至少要让接收方知道：</a:t>
            </a:r>
          </a:p>
          <a:p/>
          <a:p>
            <a:r>
              <a:t>- 用户当前说了什么。</a:t>
            </a:r>
          </a:p>
          <a:p>
            <a:r>
              <a:t>- 当前用户身份或可使用的身份标识。</a:t>
            </a:r>
          </a:p>
          <a:p>
            <a:r>
              <a:t>- 已经确认的订单、商品等信息。</a:t>
            </a:r>
          </a:p>
          <a:p>
            <a:r>
              <a:t>- 前面已经收集的必要内容。</a:t>
            </a:r>
          </a:p>
          <a:p>
            <a:r>
              <a:t>- 当前正在等待什么输入。</a:t>
            </a:r>
          </a:p>
          <a:p/>
          <a:p>
            <a:r>
              <a:t>子工作流完成后，也不应该只返回一段回复文字。</a:t>
            </a:r>
          </a:p>
          <a:p/>
          <a:p>
            <a:r>
              <a:t>它还需要告诉主流程，目前是什么状态。例如：</a:t>
            </a:r>
          </a:p>
          <a:p/>
          <a:p>
            <a:r>
              <a:t>| 返回状态 | 意味着什么 |</a:t>
            </a:r>
          </a:p>
          <a:p>
            <a:r>
              <a:t>|---|---|</a:t>
            </a:r>
          </a:p>
          <a:p>
            <a:r>
              <a:t>| 等待用户补充 | 任务还没完成，需要继续当前流程 |</a:t>
            </a:r>
          </a:p>
          <a:p>
            <a:r>
              <a:t>| 已完成查询 | 已获取并返回结果，可以继续提问或结束 |</a:t>
            </a:r>
          </a:p>
          <a:p>
            <a:r>
              <a:t>| 需要人工处理 | 自动流程暂停，准备交接 |</a:t>
            </a:r>
          </a:p>
          <a:p>
            <a:r>
              <a:t>| 执行失败 | 没有完成操作，需要明确的后续处理 |</a:t>
            </a:r>
          </a:p>
          <a:p/>
          <a:p>
            <a:r>
              <a:t>这会影响下一轮对话。</a:t>
            </a:r>
          </a:p>
          <a:p/>
          <a:p>
            <a:r>
              <a:t>尤其要避免一种情况：接口调用失败了，但模型仍然生成一句“已经帮您处理好了”。</a:t>
            </a:r>
          </a:p>
          <a:p/>
          <a:p>
            <a:r>
              <a:t>**回复内容和实际处理状态必须一致。**</a:t>
            </a:r>
          </a:p>
          <a:p/>
          <a:p>
            <a:r>
              <a:t>## 九、现在回看完整方案</a:t>
            </a:r>
          </a:p>
          <a:p/>
          <a:p>
            <a:r>
              <a:t>到这里，我们已经能看懂这个助手的基本工作方式：</a:t>
            </a:r>
          </a:p>
          <a:p/>
          <a:p>
            <a:r>
              <a:t>1. 用户从统一的客服入口提出需求。</a:t>
            </a:r>
          </a:p>
          <a:p>
            <a:r>
              <a:t>2. 系统结合上下文和当前任务，判断处理路径。</a:t>
            </a:r>
          </a:p>
          <a:p>
            <a:r>
              <a:t>3. 相应子工作流继续收集信息、查询资料或调用系统。</a:t>
            </a:r>
          </a:p>
          <a:p>
            <a:r>
              <a:t>4. 将回答、操作选项和处理状态返回给用户。</a:t>
            </a:r>
          </a:p>
          <a:p>
            <a:r>
              <a:t>5. 用户继续输入时，系统知道是在延续任务还是提出新需求。</a:t>
            </a:r>
          </a:p>
          <a:p>
            <a:r>
              <a:t>6. 无法继续处理的情况，进入人工或其他明确的兜底路径。</a:t>
            </a:r>
          </a:p>
          <a:p/>
          <a:p>
            <a:r>
              <a:t>本节形成的是一张整体流程图，以及初步的业务分类和信息传递约定。它还不是一个已经完成验证的系统。</a:t>
            </a:r>
          </a:p>
          <a:p/>
          <a:p>
            <a:r>
              <a:t>下一节，我们先拆开最容易理解的一条路径：**订单查询工作流**。</a:t>
            </a:r>
          </a:p>
          <a:p/>
          <a:p>
            <a:r>
              <a:t>就从这句话开始：</a:t>
            </a:r>
          </a:p>
          <a:p/>
          <a:p>
            <a:r>
              <a:t>&gt; “上周买的耳机怎么还没到？”</a:t>
            </a:r>
          </a:p>
          <a:p/>
          <a:p>
            <a:r>
              <a:t>我们会具体看它怎样找到正确订单、调用查询工具，以及查不到、查到多笔或接口失败时分别怎么办。</a:t>
            </a:r>
          </a:p>
          <a:p/>
          <a:p>
            <a:r>
              <a:t>---</a:t>
            </a:r>
          </a:p>
          <a:p/>
          <a:p>
            <a:r>
              <a:t>**素材说明：**四类主分支参考知乎第 7 课客服项目；多轮对话与状态管理参考亚慧讲义第 4.22 节；示意提示词、字段和状态为本课程教学设计，尚未运行验证。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展示订单、售后和推荐三段预期对话。</a:t>
            </a:r>
          </a:p>
          <a:p/>
          <a:p>
            <a:r>
              <a:t>先用三段对话，展示同一个客服助手处理不同请求的效果。</a:t>
            </a:r>
          </a:p>
          <a:p/>
          <a:p>
            <a:r>
              <a:t>以下是教学设计中的预期对话，不是已经运行验证的结果。</a:t>
            </a:r>
          </a:p>
          <a:p/>
          <a:p>
            <a:r>
              <a:t>### 场景一：查询订单</a:t>
            </a:r>
          </a:p>
          <a:p/>
          <a:p>
            <a:r>
              <a:t>&gt; 用户：上周买的耳机怎么还没到？  </a:t>
            </a:r>
          </a:p>
          <a:p>
            <a:r>
              <a:t>&gt; 助手：查询到您近期有两笔耳机订单，请选择需要查询的一笔。  </a:t>
            </a:r>
          </a:p>
          <a:p>
            <a:r>
              <a:t>&gt; 用户：第二个。  </a:t>
            </a:r>
          </a:p>
          <a:p>
            <a:r>
              <a:t>&gt; 助手：这笔订单已发货，当前物流状态为运输中。您可以在下方查看最新物流记录。</a:t>
            </a:r>
          </a:p>
          <a:p/>
          <a:p>
            <a:r>
              <a:t>这个过程需要连接订单和物流数据。</a:t>
            </a:r>
          </a:p>
          <a:p/>
          <a:p>
            <a:r>
              <a:t>### 场景二：处理售后诉求</a:t>
            </a:r>
          </a:p>
          <a:p/>
          <a:p>
            <a:r>
              <a:t>&gt; 用户：收到的耳机右边没有声音，我想换一个。  </a:t>
            </a:r>
          </a:p>
          <a:p>
            <a:r>
              <a:t>&gt; 助手：我先帮您确认需要处理的订单，请选择对应商品。  </a:t>
            </a:r>
          </a:p>
          <a:p>
            <a:r>
              <a:t>&gt; 用户：就是这个。  </a:t>
            </a:r>
          </a:p>
          <a:p>
            <a:r>
              <a:t>&gt; 助手：已确认订单。请问右侧耳机是收到后一直没有声音，还是使用过程中出现的？  </a:t>
            </a:r>
          </a:p>
          <a:p>
            <a:r>
              <a:t>&gt; 用户：收到就没有声音。  </a:t>
            </a:r>
          </a:p>
          <a:p>
            <a:r>
              <a:t>&gt; 助手：了解，我会根据这笔订单和适用的售后要求，继续引导您处理。</a:t>
            </a:r>
          </a:p>
          <a:p/>
          <a:p>
            <a:r>
              <a:t>这个过程除了查询订单，还需要理解故障、收集信息和查询政策。</a:t>
            </a:r>
          </a:p>
          <a:p/>
          <a:p>
            <a:r>
              <a:t>### 场景三：推荐商品</a:t>
            </a:r>
          </a:p>
          <a:p/>
          <a:p>
            <a:r>
              <a:t>&gt; 用户：想买个通勤用的耳机，预算三百以内。  </a:t>
            </a:r>
          </a:p>
          <a:p>
            <a:r>
              <a:t>&gt; 助手：您更看重降噪，还是佩戴舒适度？  </a:t>
            </a:r>
          </a:p>
          <a:p>
            <a:r>
              <a:t>&gt; 用户：降噪。  </a:t>
            </a:r>
          </a:p>
          <a:p>
            <a:r>
              <a:t>&gt; 助手：根据店铺当前商品资料，我为您筛选了以下候选，您可以比较价格、降噪功能和佩戴方式。</a:t>
            </a:r>
          </a:p>
          <a:p/>
          <a:p>
            <a:r>
              <a:t>这个过程主要依赖用户偏好和商品数据。</a:t>
            </a:r>
          </a:p>
          <a:p/>
          <a:p>
            <a:r>
              <a:t>三个场景使用同一个对话窗口，背后的处理方式却不同。</a:t>
            </a:r>
          </a:p>
          <a:p/>
          <a:p>
            <a:r>
              <a:t>所以，产品不能只依赖一个笼统的提示词：“你是一名专业电商客服，请回答用户的问题。”</a:t>
            </a:r>
          </a:p>
          <a:p/>
          <a:p>
            <a:r>
              <a:t>我们需要把具体的处理能力组织起来。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区分用户看到的产品和背后的处理流程。</a:t>
            </a:r>
          </a:p>
          <a:p/>
          <a:p>
            <a:r>
              <a:t>用户看到的，首先是一个客服界面：</a:t>
            </a:r>
          </a:p>
          <a:p/>
          <a:p>
            <a:r>
              <a:t>- 可以输入问题。</a:t>
            </a:r>
          </a:p>
          <a:p>
            <a:r>
              <a:t>- 可以选择订单或商品。</a:t>
            </a:r>
          </a:p>
          <a:p>
            <a:r>
              <a:t>- 可以补充信息。</a:t>
            </a:r>
          </a:p>
          <a:p>
            <a:r>
              <a:t>- 可以查看处理结果。</a:t>
            </a:r>
          </a:p>
          <a:p>
            <a:r>
              <a:t>- 必要时可以转人工。</a:t>
            </a:r>
          </a:p>
          <a:p/>
          <a:p>
            <a:r>
              <a:t>背后则有几部分协作：</a:t>
            </a:r>
          </a:p>
          <a:p/>
          <a:p>
            <a:r>
              <a:t>| 产品部分 | 具体作用 |</a:t>
            </a:r>
          </a:p>
          <a:p>
            <a:r>
              <a:t>|---|---|</a:t>
            </a:r>
          </a:p>
          <a:p>
            <a:r>
              <a:t>| 对话入口 | 接收文字、选择操作和其他必要输入 |</a:t>
            </a:r>
          </a:p>
          <a:p>
            <a:r>
              <a:t>| 主工作流 | 判断当前请求应该进入哪条处理路径 |</a:t>
            </a:r>
          </a:p>
          <a:p>
            <a:r>
              <a:t>| 子工作流 | 分别完成订单查询、售后处理、商品推荐等任务 |</a:t>
            </a:r>
          </a:p>
          <a:p>
            <a:r>
              <a:t>| 知识与业务系统 | 提供商品、政策、订单和售后信息 |</a:t>
            </a:r>
          </a:p>
          <a:p>
            <a:r>
              <a:t>| 人工服务 | 承接需要进一步处理的情况 |</a:t>
            </a:r>
          </a:p>
          <a:p>
            <a:r>
              <a:t>| 处理记录 | 保存必要的对话、状态和调用结果，便于继续服务与排查问题 |</a:t>
            </a:r>
          </a:p>
          <a:p/>
          <a:p>
            <a:r>
              <a:t>这里的“工作流”，可以先理解为：**系统收到请求以后，按什么步骤调用哪些能力，并根据结果决定下一步。**</a:t>
            </a:r>
          </a:p>
          <a:p/>
          <a:p>
            <a:r>
              <a:t>这一节不要求学员掌握全部节点配置。先看懂整体关系，后面再逐条拆开。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讲解四条主分支和主、子工作流的分工。</a:t>
            </a:r>
          </a:p>
          <a:p/>
          <a:p>
            <a:r>
              <a:t>按照知乎客服项目的主要分支，我们把助手组织为四条路径：</a:t>
            </a:r>
          </a:p>
          <a:p/>
          <a:p>
            <a:r>
              <a:t>```text</a:t>
            </a:r>
          </a:p>
          <a:p>
            <a:r>
              <a:t>用户消息或页面操作</a:t>
            </a:r>
          </a:p>
          <a:p>
            <a:r>
              <a:t>        ↓</a:t>
            </a:r>
          </a:p>
          <a:p>
            <a:r>
              <a:t>读取当前会话与已有任务信息</a:t>
            </a:r>
          </a:p>
          <a:p>
            <a:r>
              <a:t>        ↓</a:t>
            </a:r>
          </a:p>
          <a:p>
            <a:r>
              <a:t>判断用户意图与处理路径</a:t>
            </a:r>
          </a:p>
          <a:p>
            <a:r>
              <a:t>        ├─ 订单查询</a:t>
            </a:r>
          </a:p>
          <a:p>
            <a:r>
              <a:t>        ├─ 售后咨询与投诉处理</a:t>
            </a:r>
          </a:p>
          <a:p>
            <a:r>
              <a:t>        ├─ 商品咨询与推荐</a:t>
            </a:r>
          </a:p>
          <a:p>
            <a:r>
              <a:t>        └─ 闲聊、模糊请求与范围外问题</a:t>
            </a:r>
          </a:p>
          <a:p>
            <a:r>
              <a:t>        ↓</a:t>
            </a:r>
          </a:p>
          <a:p>
            <a:r>
              <a:t>返回回答、选择项或处理状态</a:t>
            </a:r>
          </a:p>
          <a:p>
            <a:r>
              <a:t>        ↓</a:t>
            </a:r>
          </a:p>
          <a:p>
            <a:r>
              <a:t>继续当前任务，或结束本次处理</a:t>
            </a:r>
          </a:p>
          <a:p>
            <a:r>
              <a:t>```</a:t>
            </a:r>
          </a:p>
          <a:p/>
          <a:p>
            <a:r>
              <a:t>人工接管不是只能在最后出现。用户明确要求人工，或者某个流程遇到无法处理的情况，都可以进入人工路径。</a:t>
            </a:r>
          </a:p>
          <a:p/>
          <a:p>
            <a:r>
              <a:t>这里先明确主工作流和子工作流的分工。</a:t>
            </a:r>
          </a:p>
          <a:p/>
          <a:p>
            <a:r>
              <a:t>### 主工作流：决定请求交给谁</a:t>
            </a:r>
          </a:p>
          <a:p/>
          <a:p>
            <a:r>
              <a:t>例如：</a:t>
            </a:r>
          </a:p>
          <a:p/>
          <a:p>
            <a:r>
              <a:t>&gt; “上周买的耳机怎么还没到？”</a:t>
            </a:r>
          </a:p>
          <a:p/>
          <a:p>
            <a:r>
              <a:t>主工作流需要判断它属于订单或物流查询，并把用户消息、账号信息和已有上下文传给查询流程。</a:t>
            </a:r>
          </a:p>
          <a:p/>
          <a:p>
            <a:r>
              <a:t>它不必在这个环节完成所有订单查询细节。</a:t>
            </a:r>
          </a:p>
          <a:p/>
          <a:p>
            <a:r>
              <a:t>### 子工作流：把具体任务处理下去</a:t>
            </a:r>
          </a:p>
          <a:p/>
          <a:p>
            <a:r>
              <a:t>订单查询流程再负责：</a:t>
            </a:r>
          </a:p>
          <a:p/>
          <a:p>
            <a:r>
              <a:t>- 信息是否足够。</a:t>
            </a:r>
          </a:p>
          <a:p>
            <a:r>
              <a:t>- 需要查哪笔订单。</a:t>
            </a:r>
          </a:p>
          <a:p>
            <a:r>
              <a:t>- 是否需要用户选择。</a:t>
            </a:r>
          </a:p>
          <a:p>
            <a:r>
              <a:t>- 调用什么查询工具。</a:t>
            </a:r>
          </a:p>
          <a:p>
            <a:r>
              <a:t>- 查不到或调用失败时怎么办。</a:t>
            </a:r>
          </a:p>
          <a:p>
            <a:r>
              <a:t>- 最后返回什么。</a:t>
            </a:r>
          </a:p>
          <a:p/>
          <a:p>
            <a:r>
              <a:t>这样拆分以后，修改订单查询流程，不需要同时重写商品推荐的全部逻辑。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四条分支需要先写清业务定义</a:t>
            </a:r>
          </a:p>
          <a:p/>
          <a:p>
            <a:r>
              <a:t>现在看主工作流最重要的一步：判断用户想做什么。</a:t>
            </a:r>
          </a:p>
          <a:p/>
          <a:p>
            <a:r>
              <a:t>如果只给模型四个标签——“查询、售后、推荐、闲聊”，并不能保证它理解我们的业务边界。</a:t>
            </a:r>
          </a:p>
          <a:p/>
          <a:p>
            <a:r>
              <a:t>例如：</a:t>
            </a:r>
          </a:p>
          <a:p/>
          <a:p>
            <a:r>
              <a:t>&gt; “这个耳机能不能换？”</a:t>
            </a:r>
          </a:p>
          <a:p/>
          <a:p>
            <a:r>
              <a:t>它可能是在问：</a:t>
            </a:r>
          </a:p>
          <a:p/>
          <a:p>
            <a:r>
              <a:t>- 未购买前，了解换货政策。</a:t>
            </a:r>
          </a:p>
          <a:p>
            <a:r>
              <a:t>- 已购买后，想申请换货。</a:t>
            </a:r>
          </a:p>
          <a:p>
            <a:r>
              <a:t>- 想把刚才推荐的耳机换成另一款。</a:t>
            </a:r>
          </a:p>
          <a:p/>
          <a:p>
            <a:r>
              <a:t>所以，意图识别需要结合当前消息和上下文，而不是只找一个关键词。</a:t>
            </a:r>
          </a:p>
          <a:p/>
          <a:p>
            <a:r>
              <a:t>我们先给各分支写出基本定义。</a:t>
            </a:r>
          </a:p>
          <a:p/>
          <a:p>
            <a:r>
              <a:t>| 分支 | 主要接收哪些需求 | 示例 |</a:t>
            </a:r>
          </a:p>
          <a:p>
            <a:r>
              <a:t>|---|---|---|</a:t>
            </a:r>
          </a:p>
          <a:p>
            <a:r>
              <a:t>| 订单查询 | 与具体订单、发货、物流有关的查询 | “耳机到哪了？” |</a:t>
            </a:r>
          </a:p>
          <a:p>
            <a:r>
              <a:t>| 售后咨询与投诉处理 | 售后政策、商品故障、退换货诉求、相关投诉 | “耳机坏了，我想换。” |</a:t>
            </a:r>
          </a:p>
          <a:p>
            <a:r>
              <a:t>| 商品咨询与推荐 | 商品功能、比较、使用场景与购买建议 | “通勤买哪款？” |</a:t>
            </a:r>
          </a:p>
          <a:p>
            <a:r>
              <a:t>| 其他与兜底 | 寒暄、表达不完整、超出服务范围等 | “你好。”“我想问一下。” |</a:t>
            </a:r>
          </a:p>
          <a:p/>
          <a:p>
            <a:r>
              <a:t>这张表是教学版本的初步定义，不是所有电商客服都必须采用的标准分类。</a:t>
            </a:r>
          </a:p>
          <a:p/>
          <a:p>
            <a:r>
              <a:t>真实业务可以继续拆分。当前先用少量清楚的类别，把主要流程跑通。</a:t>
            </a:r>
          </a:p>
          <a:p/>
          <a:p>
            <a:r>
              <a:t>### 一个识别提示词需要说明什么</a:t>
            </a:r>
          </a:p>
          <a:p/>
          <a:p>
            <a:r>
              <a:t>这里可以展示一个简化示意：</a:t>
            </a:r>
          </a:p>
          <a:p/>
          <a:p>
            <a:r>
              <a:t>```text</a:t>
            </a:r>
          </a:p>
          <a:p>
            <a:r>
              <a:t>根据用户当前消息、必要的对话历史和当前任务状态，</a:t>
            </a:r>
          </a:p>
          <a:p>
            <a:r>
              <a:t>判断应进入的处理路径。</a:t>
            </a:r>
          </a:p>
          <a:p/>
          <a:p>
            <a:r>
              <a:t>路径：</a:t>
            </a:r>
          </a:p>
          <a:p>
            <a:r>
              <a:t>1. order_query：订单、发货、物流查询</a:t>
            </a:r>
          </a:p>
          <a:p>
            <a:r>
              <a:t>2. aftersales：售后政策、故障、退换货与投诉</a:t>
            </a:r>
          </a:p>
          <a:p>
            <a:r>
              <a:t>3. product_advice：商品咨询、比较与推荐</a:t>
            </a:r>
          </a:p>
          <a:p>
            <a:r>
              <a:t>4. other：寒暄、范围外请求，或信息不足以确定路径</a:t>
            </a:r>
          </a:p>
          <a:p/>
          <a:p>
            <a:r>
              <a:t>要求：</a:t>
            </a:r>
          </a:p>
          <a:p>
            <a:r>
              <a:t>- 不要仅根据商品名称分类，要识别用户想完成的事情。</a:t>
            </a:r>
          </a:p>
          <a:p>
            <a:r>
              <a:t>- 如果当前消息是在回答上一轮问题，应结合当前任务理解。</a:t>
            </a:r>
          </a:p>
          <a:p>
            <a:r>
              <a:t>- 无法确定时返回需要澄清，不强行选择。</a:t>
            </a:r>
          </a:p>
          <a:p>
            <a:r>
              <a:t>- 用户明确要求人工时，标记人工请求。</a:t>
            </a:r>
          </a:p>
          <a:p>
            <a:r>
              <a:t>```</a:t>
            </a:r>
          </a:p>
          <a:p/>
          <a:p>
            <a:r>
              <a:t>这一段的重点不是让学员记住提示词，而是看到：**分类规则本身也是需要设计的产品内容。**</a:t>
            </a:r>
          </a:p>
          <a:p/>
          <a:p>
            <a:r>
              <a:t>类别定义含糊，后面即使每个子流程都配置正确，用户也可能被送错地方。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“这个耳机能不能换？”到底是什么意思</a:t>
            </a:r>
          </a:p>
          <a:p/>
          <a:p>
            <a:r>
              <a:t>现在看主工作流最重要的一步：判断用户想做什么。</a:t>
            </a:r>
          </a:p>
          <a:p/>
          <a:p>
            <a:r>
              <a:t>如果只给模型四个标签——“查询、售后、推荐、闲聊”，并不能保证它理解我们的业务边界。</a:t>
            </a:r>
          </a:p>
          <a:p/>
          <a:p>
            <a:r>
              <a:t>例如：</a:t>
            </a:r>
          </a:p>
          <a:p/>
          <a:p>
            <a:r>
              <a:t>&gt; “这个耳机能不能换？”</a:t>
            </a:r>
          </a:p>
          <a:p/>
          <a:p>
            <a:r>
              <a:t>它可能是在问：</a:t>
            </a:r>
          </a:p>
          <a:p/>
          <a:p>
            <a:r>
              <a:t>- 未购买前，了解换货政策。</a:t>
            </a:r>
          </a:p>
          <a:p>
            <a:r>
              <a:t>- 已购买后，想申请换货。</a:t>
            </a:r>
          </a:p>
          <a:p>
            <a:r>
              <a:t>- 想把刚才推荐的耳机换成另一款。</a:t>
            </a:r>
          </a:p>
          <a:p/>
          <a:p>
            <a:r>
              <a:t>所以，意图识别需要结合当前消息和上下文，而不是只找一个关键词。</a:t>
            </a:r>
          </a:p>
          <a:p/>
          <a:p>
            <a:r>
              <a:t>我们先给各分支写出基本定义。</a:t>
            </a:r>
          </a:p>
          <a:p/>
          <a:p>
            <a:r>
              <a:t>| 分支 | 主要接收哪些需求 | 示例 |</a:t>
            </a:r>
          </a:p>
          <a:p>
            <a:r>
              <a:t>|---|---|---|</a:t>
            </a:r>
          </a:p>
          <a:p>
            <a:r>
              <a:t>| 订单查询 | 与具体订单、发货、物流有关的查询 | “耳机到哪了？” |</a:t>
            </a:r>
          </a:p>
          <a:p>
            <a:r>
              <a:t>| 售后咨询与投诉处理 | 售后政策、商品故障、退换货诉求、相关投诉 | “耳机坏了，我想换。” |</a:t>
            </a:r>
          </a:p>
          <a:p>
            <a:r>
              <a:t>| 商品咨询与推荐 | 商品功能、比较、使用场景与购买建议 | “通勤买哪款？” |</a:t>
            </a:r>
          </a:p>
          <a:p>
            <a:r>
              <a:t>| 其他与兜底 | 寒暄、表达不完整、超出服务范围等 | “你好。”“我想问一下。” |</a:t>
            </a:r>
          </a:p>
          <a:p/>
          <a:p>
            <a:r>
              <a:t>这张表是教学版本的初步定义，不是所有电商客服都必须采用的标准分类。</a:t>
            </a:r>
          </a:p>
          <a:p/>
          <a:p>
            <a:r>
              <a:t>真实业务可以继续拆分。当前先用少量清楚的类别，把主要流程跑通。</a:t>
            </a:r>
          </a:p>
          <a:p/>
          <a:p>
            <a:r>
              <a:t>### 一个识别提示词需要说明什么</a:t>
            </a:r>
          </a:p>
          <a:p/>
          <a:p>
            <a:r>
              <a:t>这里可以展示一个简化示意：</a:t>
            </a:r>
          </a:p>
          <a:p/>
          <a:p>
            <a:r>
              <a:t>```text</a:t>
            </a:r>
          </a:p>
          <a:p>
            <a:r>
              <a:t>根据用户当前消息、必要的对话历史和当前任务状态，</a:t>
            </a:r>
          </a:p>
          <a:p>
            <a:r>
              <a:t>判断应进入的处理路径。</a:t>
            </a:r>
          </a:p>
          <a:p/>
          <a:p>
            <a:r>
              <a:t>路径：</a:t>
            </a:r>
          </a:p>
          <a:p>
            <a:r>
              <a:t>1. order_query：订单、发货、物流查询</a:t>
            </a:r>
          </a:p>
          <a:p>
            <a:r>
              <a:t>2. aftersales：售后政策、故障、退换货与投诉</a:t>
            </a:r>
          </a:p>
          <a:p>
            <a:r>
              <a:t>3. product_advice：商品咨询、比较与推荐</a:t>
            </a:r>
          </a:p>
          <a:p>
            <a:r>
              <a:t>4. other：寒暄、范围外请求，或信息不足以确定路径</a:t>
            </a:r>
          </a:p>
          <a:p/>
          <a:p>
            <a:r>
              <a:t>要求：</a:t>
            </a:r>
          </a:p>
          <a:p>
            <a:r>
              <a:t>- 不要仅根据商品名称分类，要识别用户想完成的事情。</a:t>
            </a:r>
          </a:p>
          <a:p>
            <a:r>
              <a:t>- 如果当前消息是在回答上一轮问题，应结合当前任务理解。</a:t>
            </a:r>
          </a:p>
          <a:p>
            <a:r>
              <a:t>- 无法确定时返回需要澄清，不强行选择。</a:t>
            </a:r>
          </a:p>
          <a:p>
            <a:r>
              <a:t>- 用户明确要求人工时，标记人工请求。</a:t>
            </a:r>
          </a:p>
          <a:p>
            <a:r>
              <a:t>```</a:t>
            </a:r>
          </a:p>
          <a:p/>
          <a:p>
            <a:r>
              <a:t>这一段的重点不是让学员记住提示词，而是看到：**分类规则本身也是需要设计的产品内容。**</a:t>
            </a:r>
          </a:p>
          <a:p/>
          <a:p>
            <a:r>
              <a:t>类别定义含糊，后面即使每个子流程都配置正确，用户也可能被送错地方。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用两个短句说明当前任务和等待字段的重要性。</a:t>
            </a:r>
          </a:p>
          <a:p/>
          <a:p>
            <a:r>
              <a:t>可以让学员先判断下面三条请求分别应该进入哪里。</a:t>
            </a:r>
          </a:p>
          <a:p/>
          <a:p>
            <a:r>
              <a:t>### 第一条：“耳机太差了，我要退。”</a:t>
            </a:r>
          </a:p>
          <a:p/>
          <a:p>
            <a:r>
              <a:t>容易出现的一种错误是：系统只识别出负面情绪，直接当作投诉处理。</a:t>
            </a:r>
          </a:p>
          <a:p/>
          <a:p>
            <a:r>
              <a:t>但这里已经有明确的退货诉求。</a:t>
            </a:r>
          </a:p>
          <a:p/>
          <a:p>
            <a:r>
              <a:t>更合理的做法，是进入售后路径，保留用户表达不满的信息，再根据具体情况决定是否需要人工介入。</a:t>
            </a:r>
          </a:p>
          <a:p/>
          <a:p>
            <a:r>
              <a:t>**负面情绪和业务意图不是同一件事。**一句话可以同时包含两者。</a:t>
            </a:r>
          </a:p>
          <a:p/>
          <a:p>
            <a:r>
              <a:t>### 第二条：“这个耳机适合跑步吗？”</a:t>
            </a:r>
          </a:p>
          <a:p/>
          <a:p>
            <a:r>
              <a:t>如果前面正在浏览某款商品，这属于商品咨询。</a:t>
            </a:r>
          </a:p>
          <a:p/>
          <a:p>
            <a:r>
              <a:t>系统应该结合当前商品资料回答，而不是因为出现“耳机”就进入订单查询，也不必马上推荐一堆新商品。</a:t>
            </a:r>
          </a:p>
          <a:p/>
          <a:p>
            <a:r>
              <a:t>如果上下文中没有对应商品，就需要先确认“这个”指哪一款。</a:t>
            </a:r>
          </a:p>
          <a:p/>
          <a:p>
            <a:r>
              <a:t>### 第三条：“第二个。”</a:t>
            </a:r>
          </a:p>
          <a:p/>
          <a:p>
            <a:r>
              <a:t>这句话单独看，无法判断是什么需求。</a:t>
            </a:r>
          </a:p>
          <a:p/>
          <a:p>
            <a:r>
              <a:t>但如果上一轮助手展示了两笔订单，它就是一次订单选择。</a:t>
            </a:r>
          </a:p>
          <a:p/>
          <a:p>
            <a:r>
              <a:t>此时应该继续订单查询或售后任务，而不是把“第二个”重新当成一个全新的问题进行分类。</a:t>
            </a:r>
          </a:p>
          <a:p/>
          <a:p>
            <a:r>
              <a:t>这也引出了主工作流中一个容易忽略的地方：**每条新消息到达后，都需要先知道当前正在做什么。**</a:t>
            </a:r>
          </a:p>
          <a:p/>
          <a:p>
            <a:r>
              <a:t>假设正在处理耳机换货：</a:t>
            </a:r>
          </a:p>
          <a:p/>
          <a:p>
            <a:r>
              <a:t>&gt; 助手：请问是两边都没有声音，还是只有一边？  </a:t>
            </a:r>
          </a:p>
          <a:p>
            <a:r>
              <a:t>&gt; 用户：右边。</a:t>
            </a:r>
          </a:p>
          <a:p/>
          <a:p>
            <a:r>
              <a:t>这时，系统应该把“右边”记录为故障信息，并继续当前流程。</a:t>
            </a:r>
          </a:p>
          <a:p/>
          <a:p>
            <a:r>
              <a:t>如果每轮都只拿最新一句话分类，模型看到“右边”，很可能不知道用户在说什么。</a:t>
            </a:r>
          </a:p>
          <a:p/>
          <a:p>
            <a:r>
              <a:t>因此，进入主工作流的，不应只有当前消息，还需要必要的任务信息。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"aftersales",</a:t>
            </a:r>
          </a:p>
          <a:p>
            <a:r>
              <a:t>  "order_id": "DEMO-102",</a:t>
            </a:r>
          </a:p>
          <a:p>
            <a:r>
              <a:t>  "requested_action": "exchange",</a:t>
            </a:r>
          </a:p>
          <a:p>
            <a:r>
              <a:t>  "issue_description": null,</a:t>
            </a:r>
          </a:p>
          <a:p>
            <a:r>
              <a:t>  "waiting_for": "fault_details"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这里的含义是：</a:t>
            </a:r>
          </a:p>
          <a:p/>
          <a:p>
            <a:r>
              <a:t>- 当前正在处理售后。</a:t>
            </a:r>
          </a:p>
          <a:p>
            <a:r>
              <a:t>- 已经确认订单。</a:t>
            </a:r>
          </a:p>
          <a:p>
            <a:r>
              <a:t>- 用户希望换货。</a:t>
            </a:r>
          </a:p>
          <a:p>
            <a:r>
              <a:t>- 故障描述尚未补齐。</a:t>
            </a:r>
          </a:p>
          <a:p>
            <a:r>
              <a:t>- 系统正在等待用户说明故障。</a:t>
            </a:r>
          </a:p>
          <a:p/>
          <a:p>
            <a:r>
              <a:t>收到“右边没有声音”后，就可以更新故障描述。</a:t>
            </a:r>
          </a:p>
          <a:p/>
          <a:p>
            <a:r>
              <a:t>但如果用户说：</a:t>
            </a:r>
          </a:p>
          <a:p/>
          <a:p>
            <a:r>
              <a:t>&gt; “先不换了，帮我看看物流。”</a:t>
            </a:r>
          </a:p>
          <a:p/>
          <a:p>
            <a:r>
              <a:t>系统还需要判断：用户是在切换任务，还是在查询换货后寄出的商品？</a:t>
            </a:r>
          </a:p>
          <a:p/>
          <a:p>
            <a:r>
              <a:t>信息不清楚时，应当澄清，不能随意覆盖原来的任务。</a:t>
            </a:r>
          </a:p>
          <a:p/>
          <a:p>
            <a:r>
              <a:t>这一节先建立这个概念。下一节和售后流程中，我们再具体看哪些信息需要保存、怎样更新。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四条业务分支与三种处理方式</a:t>
            </a:r>
          </a:p>
          <a:p/>
          <a:p>
            <a:r>
              <a:t>上一节我们说，客服会回答问题、查询信息，也会推动业务处理。</a:t>
            </a:r>
          </a:p>
          <a:p/>
          <a:p>
            <a:r>
              <a:t>这里为什么又分成订单、售后、商品和其他四条路径？</a:t>
            </a:r>
          </a:p>
          <a:p/>
          <a:p>
            <a:r>
              <a:t>因为它们是两个不同的观察角度。</a:t>
            </a:r>
          </a:p>
          <a:p/>
          <a:p>
            <a:r>
              <a:t>**四条分支，是按照业务需求组织产品。**</a:t>
            </a:r>
          </a:p>
          <a:p/>
          <a:p>
            <a:r>
              <a:t>而知识问答、业务查询、业务办理，是这些分支里面可能使用的处理方式。</a:t>
            </a:r>
          </a:p>
          <a:p/>
          <a:p>
            <a:r>
              <a:t>例如，售后分支就可能包含：</a:t>
            </a:r>
          </a:p>
          <a:p/>
          <a:p>
            <a:r>
              <a:t>| 用户正在做什么 | 需要的处理方式 |</a:t>
            </a:r>
          </a:p>
          <a:p>
            <a:r>
              <a:t>|---|---|</a:t>
            </a:r>
          </a:p>
          <a:p>
            <a:r>
              <a:t>| 询问换货政策 | 知识问答 |</a:t>
            </a:r>
          </a:p>
          <a:p>
            <a:r>
              <a:t>| 确认订单与已有申请 | 业务查询 |</a:t>
            </a:r>
          </a:p>
          <a:p>
            <a:r>
              <a:t>| 补充材料、确认并提交申请 | 业务办理 |</a:t>
            </a:r>
          </a:p>
          <a:p/>
          <a:p>
            <a:r>
              <a:t>所以，不是把所有知识问题都放在一个地方、所有接口操作都放在另一个地方，就完成了产品设计。</a:t>
            </a:r>
          </a:p>
          <a:p/>
          <a:p>
            <a:r>
              <a:t>**同一个用户任务，往往需要多种能力连续配合。**</a:t>
            </a:r>
          </a:p>
          <a:p/>
          <a:p>
            <a:r>
              <a:t>后面我们会沿着具体任务，决定在哪一步查知识、在哪一步查系统、在哪一步等待用户确认。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流程之间不能只传一句话</a:t>
            </a:r>
          </a:p>
          <a:p/>
          <a:p>
            <a:r>
              <a:t>主工作流把请求交给子工作流时，不能只传一句“处理售后”。</a:t>
            </a:r>
          </a:p>
          <a:p/>
          <a:p>
            <a:r>
              <a:t>至少要让接收方知道：</a:t>
            </a:r>
          </a:p>
          <a:p/>
          <a:p>
            <a:r>
              <a:t>- 用户当前说了什么。</a:t>
            </a:r>
          </a:p>
          <a:p>
            <a:r>
              <a:t>- 当前用户身份或可使用的身份标识。</a:t>
            </a:r>
          </a:p>
          <a:p>
            <a:r>
              <a:t>- 已经确认的订单、商品等信息。</a:t>
            </a:r>
          </a:p>
          <a:p>
            <a:r>
              <a:t>- 前面已经收集的必要内容。</a:t>
            </a:r>
          </a:p>
          <a:p>
            <a:r>
              <a:t>- 当前正在等待什么输入。</a:t>
            </a:r>
          </a:p>
          <a:p/>
          <a:p>
            <a:r>
              <a:t>子工作流完成后，也不应该只返回一段回复文字。</a:t>
            </a:r>
          </a:p>
          <a:p/>
          <a:p>
            <a:r>
              <a:t>它还需要告诉主流程，目前是什么状态。例如：</a:t>
            </a:r>
          </a:p>
          <a:p/>
          <a:p>
            <a:r>
              <a:t>| 返回状态 | 意味着什么 |</a:t>
            </a:r>
          </a:p>
          <a:p>
            <a:r>
              <a:t>|---|---|</a:t>
            </a:r>
          </a:p>
          <a:p>
            <a:r>
              <a:t>| 等待用户补充 | 任务还没完成，需要继续当前流程 |</a:t>
            </a:r>
          </a:p>
          <a:p>
            <a:r>
              <a:t>| 已完成查询 | 已获取并返回结果，可以继续提问或结束 |</a:t>
            </a:r>
          </a:p>
          <a:p>
            <a:r>
              <a:t>| 需要人工处理 | 自动流程暂停，准备交接 |</a:t>
            </a:r>
          </a:p>
          <a:p>
            <a:r>
              <a:t>| 执行失败 | 没有完成操作，需要明确的后续处理 |</a:t>
            </a:r>
          </a:p>
          <a:p/>
          <a:p>
            <a:r>
              <a:t>这会影响下一轮对话。</a:t>
            </a:r>
          </a:p>
          <a:p/>
          <a:p>
            <a:r>
              <a:t>尤其要避免一种情况：接口调用失败了，但模型仍然生成一句“已经帮您处理好了”。</a:t>
            </a:r>
          </a:p>
          <a:p/>
          <a:p>
            <a:r>
              <a:t>**回复内容和实际处理状态必须一致。**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意图已经识别出来，系统怎样找到用户真正问的那笔订单？</a:t>
            </a:r>
          </a:p>
          <a:p/>
          <a:p>
            <a:r>
              <a:t>上一节，我们已经把用户的请求分到了不同路径。</a:t>
            </a:r>
          </a:p>
          <a:p/>
          <a:p>
            <a:r>
              <a:t>现在进入第一条具体流程：**订单查询**。</a:t>
            </a:r>
          </a:p>
          <a:p/>
          <a:p>
            <a:r>
              <a:t>我们继续使用这句话：</a:t>
            </a:r>
          </a:p>
          <a:p/>
          <a:p>
            <a:r>
              <a:t>&gt; 用户：上周买的耳机怎么还没到？</a:t>
            </a:r>
          </a:p>
          <a:p/>
          <a:p>
            <a:r>
              <a:t>主工作流已经判断，这是一个订单或物流查询请求。但判断完意图，不等于已经知道答案。</a:t>
            </a:r>
          </a:p>
          <a:p/>
          <a:p>
            <a:r>
              <a:t>接下来要解决的是：找到用户说的那笔订单，获取对应的物流信息，再把结果清楚地告诉用户。</a:t>
            </a:r>
          </a:p>
          <a:p/>
          <a:p>
            <a:r>
              <a:t>## 一、先准备这个流程需要的数据</a:t>
            </a:r>
          </a:p>
          <a:p/>
          <a:p>
            <a:r>
              <a:t>假设用户已经登录商城，系统可以从登录状态中获取用户身份。</a:t>
            </a:r>
          </a:p>
          <a:p/>
          <a:p>
            <a:r>
              <a:t>这里的用户身份由系统提供，不能让模型根据用户说的话随意填写。</a:t>
            </a:r>
          </a:p>
          <a:p/>
          <a:p>
            <a:r>
              <a:t>我们准备三笔模拟订单：</a:t>
            </a:r>
          </a:p>
          <a:p/>
          <a:p>
            <a:r>
              <a:t>| 订单编号 | 商品 | 下单时间 | 订单状态 | 物流信息 |</a:t>
            </a:r>
          </a:p>
          <a:p>
            <a:r>
              <a:t>|---|---|---|---|---|</a:t>
            </a:r>
          </a:p>
          <a:p>
            <a:r>
              <a:t>| DEMO-101 | AirLite 蓝牙耳机，白色 | 9 月 1 日 | 已签收 | 9 月 4 日签收 |</a:t>
            </a:r>
          </a:p>
          <a:p>
            <a:r>
              <a:t>| DEMO-102 | AirLite Pro 降噪耳机，黑色 | 9 月 3 日 | 已发货 | 9 月 8 日到达目的地分拨中心 |</a:t>
            </a:r>
          </a:p>
          <a:p>
            <a:r>
              <a:t>| DEMO-103 | K68 无线键盘，灰色 | 9 月 5 日 | 待发货 | 暂无物流记录 |</a:t>
            </a:r>
          </a:p>
          <a:p/>
          <a:p>
            <a:r>
              <a:t>为了避免“上周”随着授课日期变化，**这组演示固定以 9 月 9 日为查询日，订单表也按这个时间背景准备。**</a:t>
            </a:r>
          </a:p>
          <a:p/>
          <a:p>
            <a:r>
              <a:t>用户说“上周买的耳机”，在这份数据里，可能对应两笔订单。</a:t>
            </a:r>
          </a:p>
          <a:p/>
          <a:p>
            <a:r>
              <a:t>系统不能因为第二笔还没签收，就直接认定用户问的是第二笔。第一笔虽然显示已签收，用户也可能没有实际收到。</a:t>
            </a:r>
          </a:p>
          <a:p/>
          <a:p>
            <a:r>
              <a:t>所以，第一步不是让模型生成物流回复，而是**确认查询对象**。</a:t>
            </a:r>
          </a:p>
          <a:p/>
          <a:p>
            <a:r>
              <a:t>## 二、没有订单号，应该怎样查询</a:t>
            </a:r>
          </a:p>
          <a:p/>
          <a:p>
            <a:r>
              <a:t>先给学员一个选择：</a:t>
            </a:r>
          </a:p>
          <a:p/>
          <a:p>
            <a:r>
              <a:t>&gt; 用户没有提供订单号，我们下一步应该怎样做？</a:t>
            </a:r>
          </a:p>
          <a:p/>
          <a:p>
            <a:r>
              <a:t>**A.** 要求用户先找到订单号，再继续查询。  </a:t>
            </a:r>
          </a:p>
          <a:p>
            <a:r>
              <a:t>**B.** 根据当前账号查询近期相关订单，让用户确认。  </a:t>
            </a:r>
          </a:p>
          <a:p>
            <a:r>
              <a:t>**C.** 直接选择最近一笔耳机订单，返回物流。</a:t>
            </a:r>
          </a:p>
          <a:p/>
          <a:p>
            <a:r>
              <a:t>在当前场景下，我们选择 **B**。</a:t>
            </a:r>
          </a:p>
          <a:p/>
          <a:p>
            <a:r>
              <a:t>因为用户已经登录，系统有条件查询这个账号的订单。可以先利用已有数据，减少用户查找和复制订单号的操作。</a:t>
            </a:r>
          </a:p>
          <a:p/>
          <a:p>
            <a:r>
              <a:t>A 不是永远不对。如果当前渠道无法关联账号，或者查询不到对应订单，就可能需要用户补充信息。</a:t>
            </a:r>
          </a:p>
          <a:p/>
          <a:p>
            <a:r>
              <a:t>C 的问题是，系统擅自替用户确定了订单。后面的接口即使全部调用成功，也可能回答了另一笔订单的物流。</a:t>
            </a:r>
          </a:p>
          <a:p/>
          <a:p>
            <a:r>
              <a:t>这里需要把两件事分开：</a:t>
            </a:r>
          </a:p>
          <a:p/>
          <a:p>
            <a:r>
              <a:t>- **筛选候选订单**：系统根据时间、商品等线索缩小范围。</a:t>
            </a:r>
          </a:p>
          <a:p>
            <a:r>
              <a:t>- **确认目标订单**：信息有歧义时，由用户确认。</a:t>
            </a:r>
          </a:p>
          <a:p/>
          <a:p>
            <a:r>
              <a:t>## 三、展开订单查询子工作流</a:t>
            </a:r>
          </a:p>
          <a:p/>
          <a:p>
            <a:r>
              <a:t>这条流程可以先画成：</a:t>
            </a:r>
          </a:p>
          <a:p/>
          <a:p>
            <a:r>
              <a:t>```text</a:t>
            </a:r>
          </a:p>
          <a:p>
            <a:r>
              <a:t>进入订单查询流程</a:t>
            </a:r>
          </a:p>
          <a:p>
            <a:r>
              <a:t>        ↓</a:t>
            </a:r>
          </a:p>
          <a:p>
            <a:r>
              <a:t>检查用户身份和已有订单信息</a:t>
            </a:r>
          </a:p>
          <a:p>
            <a:r>
              <a:t>        ↓</a:t>
            </a:r>
          </a:p>
          <a:p>
            <a:r>
              <a:t>是否已经明确目标订单？</a:t>
            </a:r>
          </a:p>
          <a:p>
            <a:r>
              <a:t>   ├─ 是 → 校验该订单是否属于当前用户</a:t>
            </a:r>
          </a:p>
          <a:p>
            <a:r>
              <a:t>   └─ 否 → 查询当前用户的候选订单</a:t>
            </a:r>
          </a:p>
          <a:p>
            <a:r>
              <a:t>                 ↓</a:t>
            </a:r>
          </a:p>
          <a:p>
            <a:r>
              <a:t>            判断候选结果</a:t>
            </a:r>
          </a:p>
          <a:p>
            <a:r>
              <a:t>            ├─ 0 笔：引导补充信息</a:t>
            </a:r>
          </a:p>
          <a:p>
            <a:r>
              <a:t>            ├─ 1 笔：展示商品，必要时确认</a:t>
            </a:r>
          </a:p>
          <a:p>
            <a:r>
              <a:t>            └─ 多笔：让用户选择</a:t>
            </a:r>
          </a:p>
          <a:p>
            <a:r>
              <a:t>                 ↓</a:t>
            </a:r>
          </a:p>
          <a:p>
            <a:r>
              <a:t>            确认目标订单</a:t>
            </a:r>
          </a:p>
          <a:p>
            <a:r>
              <a:t>                 ↓</a:t>
            </a:r>
          </a:p>
          <a:p>
            <a:r>
              <a:t>          查询订单详情及物流</a:t>
            </a:r>
          </a:p>
          <a:p>
            <a:r>
              <a:t>                 ↓</a:t>
            </a:r>
          </a:p>
          <a:p>
            <a:r>
              <a:t>           检查返回结果</a:t>
            </a:r>
          </a:p>
          <a:p>
            <a:r>
              <a:t>                 ↓</a:t>
            </a:r>
          </a:p>
          <a:p>
            <a:r>
              <a:t>      展示物流信息与后续操作</a:t>
            </a:r>
          </a:p>
          <a:p>
            <a:r>
              <a:t>```</a:t>
            </a:r>
          </a:p>
          <a:p/>
          <a:p>
            <a:r>
              <a:t>不要急着记住所有节点。我们沿着实际对话，把每一步拆开。</a:t>
            </a:r>
          </a:p>
          <a:p/>
          <a:p>
            <a:r>
              <a:t>### 1. 检查已有信息</a:t>
            </a:r>
          </a:p>
          <a:p/>
          <a:p>
            <a:r>
              <a:t>进入这个流程时，系统可能已经知道：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"user_message": "上周买的耳机怎么还没到？",</a:t>
            </a:r>
          </a:p>
          <a:p>
            <a:r>
              <a:t>  "order_id": null,</a:t>
            </a:r>
          </a:p>
          <a:p>
            <a:r>
              <a:t>  "product_keyword": "耳机",</a:t>
            </a:r>
          </a:p>
          <a:p>
            <a:r>
              <a:t>  "time_expression": "上周"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其中：</a:t>
            </a:r>
          </a:p>
          <a:p/>
          <a:p>
            <a:r>
              <a:t>- `order_id` 为空，表示还没有确认订单。</a:t>
            </a:r>
          </a:p>
          <a:p>
            <a:r>
              <a:t>- “耳机”和“上周”是查询线索，不是最终订单标识。</a:t>
            </a:r>
          </a:p>
          <a:p>
            <a:r>
              <a:t>- 当前用户身份由登录系统传入，不由这段自然语言决定。</a:t>
            </a:r>
          </a:p>
          <a:p/>
          <a:p>
            <a:r>
              <a:t>如果前面已经确认过订单，就应优先复用，而不是再次让用户选择。</a:t>
            </a:r>
          </a:p>
          <a:p/>
          <a:p>
            <a:r>
              <a:t>### 2. 查询候选订单</a:t>
            </a:r>
          </a:p>
          <a:p/>
          <a:p>
            <a:r>
              <a:t>教学查询工具可以设计为：</a:t>
            </a:r>
          </a:p>
          <a:p/>
          <a:p>
            <a:r>
              <a:t>```text</a:t>
            </a:r>
          </a:p>
          <a:p>
            <a:r>
              <a:t>工具：查询当前用户的订单</a:t>
            </a:r>
          </a:p>
          <a:p/>
          <a:p>
            <a:r>
              <a:t>输入：</a:t>
            </a:r>
          </a:p>
          <a:p>
            <a:r>
              <a:t>- 商品关键词</a:t>
            </a:r>
          </a:p>
          <a:p>
            <a:r>
              <a:t>- 查询时间范围</a:t>
            </a:r>
          </a:p>
          <a:p/>
          <a:p>
            <a:r>
              <a:t>身份：</a:t>
            </a:r>
          </a:p>
          <a:p>
            <a:r>
              <a:t>- 由服务端登录状态确定</a:t>
            </a:r>
          </a:p>
          <a:p/>
          <a:p>
            <a:r>
              <a:t>输出：</a:t>
            </a:r>
          </a:p>
          <a:p>
            <a:r>
              <a:t>- 候选订单列表</a:t>
            </a:r>
          </a:p>
          <a:p>
            <a:r>
              <a:t>- 每笔订单的编号、商品、规格、下单时间和状态</a:t>
            </a:r>
          </a:p>
          <a:p>
            <a:r>
              <a:t>```</a:t>
            </a:r>
          </a:p>
          <a:p/>
          <a:p>
            <a:r>
              <a:t>模型可以帮助理解“耳机”“上周”这些查询条件。</a:t>
            </a:r>
          </a:p>
          <a:p/>
          <a:p>
            <a:r>
              <a:t>但真正的订单筛选与访问权限检查，需要由系统完成。**不能仅凭一个订单号，就允许查询其他人的订单。**</a:t>
            </a:r>
          </a:p>
          <a:p/>
          <a:p>
            <a:r>
              <a:t>这里也不需要把整个订单数据库都发给模型，再让模型自己找。</a:t>
            </a:r>
          </a:p>
          <a:p/>
          <a:p>
            <a:r>
              <a:t>更合理的是：查询工具先返回当前用户有权查看的相关记录。</a:t>
            </a:r>
          </a:p>
          <a:p/>
          <a:p>
            <a:r>
              <a:t>### 3. 根据结果决定下一步</a:t>
            </a:r>
          </a:p>
          <a:p/>
          <a:p>
            <a:r>
              <a:t>这次查询返回了两笔耳机订单。</a:t>
            </a:r>
          </a:p>
          <a:p/>
          <a:p>
            <a:r>
              <a:t>系统应该展示足够的信息，帮助用户区分：</a:t>
            </a:r>
          </a:p>
          <a:p/>
          <a:p>
            <a:r>
              <a:t>&gt; 查询到您近期有两笔耳机订单，请选择需要查询的一笔：  </a:t>
            </a:r>
          </a:p>
          <a:p>
            <a:r>
              <a:t>&gt; ① AirLite 蓝牙耳机｜白色｜9 月 1 日下单  </a:t>
            </a:r>
          </a:p>
          <a:p>
            <a:r>
              <a:t>&gt; ② AirLite Pro 降噪耳机｜黑色｜9 月 3 日下单</a:t>
            </a:r>
          </a:p>
          <a:p/>
          <a:p>
            <a:r>
              <a:t>产品上可以做成可点击的订单卡片，而不只是两行文字。</a:t>
            </a:r>
          </a:p>
          <a:p/>
          <a:p>
            <a:r>
              <a:t>卡片至少要让用户看清商品、规格和时间，必要时展示缩略图及部分订单编号。</a:t>
            </a:r>
          </a:p>
          <a:p/>
          <a:p>
            <a:r>
              <a:t>## 四、用户说“第二个”，系统怎样接住</a:t>
            </a:r>
          </a:p>
          <a:p/>
          <a:p>
            <a:r>
              <a:t>用户接着回复：</a:t>
            </a:r>
          </a:p>
          <a:p/>
          <a:p>
            <a:r>
              <a:t>&gt; 第二个。</a:t>
            </a:r>
          </a:p>
          <a:p/>
          <a:p>
            <a:r>
              <a:t>这一句不能脱离前文单独处理。</a:t>
            </a:r>
          </a:p>
          <a:p/>
          <a:p>
            <a:r>
              <a:t>系统需要记住：刚才展示了哪些候选订单，以及它们在页面上的对应关系。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"order_selection",</a:t>
            </a:r>
          </a:p>
          <a:p>
            <a:r>
              <a:t>  "candidate_order_ids": [</a:t>
            </a:r>
          </a:p>
          <a:p>
            <a:r>
              <a:t>    "DEMO-101",</a:t>
            </a:r>
          </a:p>
          <a:p>
            <a:r>
              <a:t>    "DEMO-102"</a:t>
            </a:r>
          </a:p>
          <a:p>
            <a:r>
              <a:t>  ],</a:t>
            </a:r>
          </a:p>
          <a:p>
            <a:r>
              <a:t>  "selected_order_id":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如果用户点击第二张卡片，前端可以直接提交对应的订单 ID。</a:t>
            </a:r>
          </a:p>
          <a:p/>
          <a:p>
            <a:r>
              <a:t>如果用户输入“第二个”，系统则需要结合刚才展示的列表，将其对应到 `DEMO-102`。</a:t>
            </a:r>
          </a:p>
          <a:p/>
          <a:p>
            <a:r>
              <a:t>确认后更新：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null,</a:t>
            </a:r>
          </a:p>
          <a:p>
            <a:r>
              <a:t>  "selected_order_id": "DEMO-102"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这里有一个很实际的产品细节：</a:t>
            </a:r>
          </a:p>
          <a:p/>
          <a:p>
            <a:r>
              <a:t>**如果用户点击就能准确表达选择，就不必要求所有操作都通过自由文本完成。**</a:t>
            </a:r>
          </a:p>
          <a:p/>
          <a:p>
            <a:r>
              <a:t>大模型可以处理“第二个”这样的自然表达；页面上的订单卡片则提供更直接、确定的操作方式。两者可以同时存在。</a:t>
            </a:r>
          </a:p>
          <a:p/>
          <a:p>
            <a:r>
              <a:t>如果候选列表已经变化，或者用户说“之前那个”，无法确定指向，就应该再次确认，不能随意映射。</a:t>
            </a:r>
          </a:p>
          <a:p/>
          <a:p>
            <a:r>
              <a:t>## 五、查询订单详情与物流信息</a:t>
            </a:r>
          </a:p>
          <a:p/>
          <a:p>
            <a:r>
              <a:t>现在已经确定订单 `DEMO-102`，系统可以查询具体信息。</a:t>
            </a:r>
          </a:p>
          <a:p/>
          <a:p>
            <a:r>
              <a:t>这里可以有两个工具，也可以由后端封装成一个查询接口。产品设计首先要明确需要哪些数据，不必先纠结工具数量。</a:t>
            </a:r>
          </a:p>
          <a:p/>
          <a:p>
            <a:r>
              <a:t>教学返回结果可以是：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"DEMO-102",</a:t>
            </a:r>
          </a:p>
          <a:p>
            <a:r>
              <a:t>  "product_name": "AirLite Pro 降噪耳机",</a:t>
            </a:r>
          </a:p>
          <a:p>
            <a:r>
              <a:t>  "order_status": "shipped",</a:t>
            </a:r>
          </a:p>
          <a:p>
            <a:r>
              <a:t>  "latest_logistics_status": "运输中",</a:t>
            </a:r>
          </a:p>
          <a:p>
            <a:r>
              <a:t>  "latest_logistics_event": "快件已到达目的地分拨中心",</a:t>
            </a:r>
          </a:p>
          <a:p>
            <a:r>
              <a:t>  "event_time": "2026-09-08 18:20",</a:t>
            </a:r>
          </a:p>
          <a:p>
            <a:r>
              <a:t>  "estimated_delivery_time":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这份结果说明：</a:t>
            </a:r>
          </a:p>
          <a:p/>
          <a:p>
            <a:r>
              <a:t>- 订单已经发货。</a:t>
            </a:r>
          </a:p>
          <a:p>
            <a:r>
              <a:t>- 最新物流记录是到达目的地分拨中心。</a:t>
            </a:r>
          </a:p>
          <a:p>
            <a:r>
              <a:t>- 这条记录发生在 9 月 8 日。</a:t>
            </a:r>
          </a:p>
          <a:p>
            <a:r>
              <a:t>- 系统没有提供预计送达时间。</a:t>
            </a:r>
          </a:p>
          <a:p/>
          <a:p>
            <a:r>
              <a:t>接下来可以组织面向用户的回复：</a:t>
            </a:r>
          </a:p>
          <a:p/>
          <a:p>
            <a:r>
              <a:t>&gt; 您查询的是 9 月 3 日购买的 AirLite Pro 降噪耳机。订单已发货，最新物流记录显示：9 月 8 日 18:20 到达目的地分拨中心。  </a:t>
            </a:r>
          </a:p>
          <a:p>
            <a:r>
              <a:t>&gt; 当前查询结果未提供预计送达时间，您可以查看完整物流记录；如果需要进一步确认，可以联系人工客服。</a:t>
            </a:r>
          </a:p>
          <a:p/>
          <a:p>
            <a:r>
              <a:t>这里不能自行补一句：</a:t>
            </a:r>
          </a:p>
          <a:p/>
          <a:p>
            <a:r>
              <a:t>&gt; “预计明天一定能收到。”</a:t>
            </a:r>
          </a:p>
          <a:p/>
          <a:p>
            <a:r>
              <a:t>因为查询结果没有提供这个信息。</a:t>
            </a:r>
          </a:p>
          <a:p/>
          <a:p>
            <a:r>
              <a:t>用户原话是“怎么还没到”，但物流记录也不一定能解释延迟原因。**没有查到具体原因，就不能把“运输中”编成“由于天气原因延误”。**</a:t>
            </a:r>
          </a:p>
          <a:p/>
          <a:p>
            <a:r>
              <a:t>## 六、哪些内容需要模型，哪些可以直接展示</a:t>
            </a:r>
          </a:p>
          <a:p/>
          <a:p>
            <a:r>
              <a:t>到这里，可以让学员再判断一次：</a:t>
            </a:r>
          </a:p>
          <a:p/>
          <a:p>
            <a:r>
              <a:t>&gt; 拿到订单和物流数据以后，一定要再调用大模型吗？</a:t>
            </a:r>
          </a:p>
          <a:p/>
          <a:p>
            <a:r>
              <a:t>不一定。</a:t>
            </a:r>
          </a:p>
          <a:p/>
          <a:p>
            <a:r>
              <a:t>如果只是展示订单状态、物流时间和轨迹，使用页面卡片或固定模板就可以。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商品：{product_name}</a:t>
            </a:r>
          </a:p>
          <a:p>
            <a:r>
              <a:t>订单状态：{order_status}</a:t>
            </a:r>
          </a:p>
          <a:p>
            <a:r>
              <a:t>最新物流：{latest_logistics_event}</a:t>
            </a:r>
          </a:p>
          <a:p>
            <a:r>
              <a:t>更新时间：{event_time}</a:t>
            </a:r>
          </a:p>
          <a:p>
            <a:r>
              <a:t>```</a:t>
            </a:r>
          </a:p>
          <a:p/>
          <a:p>
            <a:r>
              <a:t>模型更适合承担的是：</a:t>
            </a:r>
          </a:p>
          <a:p/>
          <a:p>
            <a:r>
              <a:t>- 结合用户的问题，选择需要解释的信息。</a:t>
            </a:r>
          </a:p>
          <a:p>
            <a:r>
              <a:t>- 把多个字段组织成容易理解的说明。</a:t>
            </a:r>
          </a:p>
          <a:p>
            <a:r>
              <a:t>- 承接后续问题。</a:t>
            </a:r>
          </a:p>
          <a:p/>
          <a:p>
            <a:r>
              <a:t>但无论采用哪种方式，订单编号、时间、状态等关键事实都必须来自查询结果。</a:t>
            </a:r>
          </a:p>
          <a:p/>
          <a:p>
            <a:r>
              <a:t>如果使用模型生成回复，可以给它明确约束：</a:t>
            </a:r>
          </a:p>
          <a:p/>
          <a:p>
            <a:r>
              <a:t>```text</a:t>
            </a:r>
          </a:p>
          <a:p>
            <a:r>
              <a:t>根据已确认的订单和工具返回结果回答用户。</a:t>
            </a:r>
          </a:p>
          <a:p/>
          <a:p>
            <a:r>
              <a:t>要求：</a:t>
            </a:r>
          </a:p>
          <a:p>
            <a:r>
              <a:t>- 只能使用工具提供的订单与物流事实。</a:t>
            </a:r>
          </a:p>
          <a:p>
            <a:r>
              <a:t>- 没有预计送达时间时，不承诺送达日期。</a:t>
            </a:r>
          </a:p>
          <a:p>
            <a:r>
              <a:t>- 没有延误原因时，不编造原因。</a:t>
            </a:r>
          </a:p>
          <a:p>
            <a:r>
              <a:t>- 工具失败或结果为空时，不生成正常查询成功的回复。</a:t>
            </a:r>
          </a:p>
          <a:p>
            <a:r>
              <a:t>- 不展示与当前用户请求无关的个人信息。</a:t>
            </a:r>
          </a:p>
          <a:p>
            <a:r>
              <a:t>```</a:t>
            </a:r>
          </a:p>
          <a:p/>
          <a:p>
            <a:r>
              <a:t>这段提示词负责约束表达，**不能代替身份校验、权限控制和接口错误处理**。</a:t>
            </a:r>
          </a:p>
          <a:p/>
          <a:p>
            <a:r>
              <a:t>## 七、三种容易被混淆的查询结果</a:t>
            </a:r>
          </a:p>
          <a:p/>
          <a:p>
            <a:r>
              <a:t>下面三种情况，都可能导致用户暂时看不到物流，但产品处理不能一样。</a:t>
            </a:r>
          </a:p>
          <a:p/>
          <a:p>
            <a:r>
              <a:t>| 情况 | 实际含义 | 应怎样处理 |</a:t>
            </a:r>
          </a:p>
          <a:p>
            <a:r>
              <a:t>|---|---|---|</a:t>
            </a:r>
          </a:p>
          <a:p>
            <a:r>
              <a:t>| 没有找到订单 | 查询成功，但没有匹配记录 | 引导调整时间、确认账号或补充订单信息 |</a:t>
            </a:r>
          </a:p>
          <a:p>
            <a:r>
              <a:t>| 订单尚未发货 | 已找到订单，当前没有物流轨迹 | 如实展示待发货状态，按可用信息提供后续入口 |</a:t>
            </a:r>
          </a:p>
          <a:p>
            <a:r>
              <a:t>| 查询工具失败 | 系统没有成功获取数据 | 告知暂时无法查询，提供重试或人工处理 |</a:t>
            </a:r>
          </a:p>
          <a:p/>
          <a:p>
            <a:r>
              <a:t>### 情况一：没有找到订单</a:t>
            </a:r>
          </a:p>
          <a:p/>
          <a:p>
            <a:r>
              <a:t>可以回复：</a:t>
            </a:r>
          </a:p>
          <a:p/>
          <a:p>
            <a:r>
              <a:t>&gt; 当前账号下没有找到符合这些条件的订单。您可以确认购买时间，或者从订单列表中选择需要查询的商品。</a:t>
            </a:r>
          </a:p>
          <a:p/>
          <a:p>
            <a:r>
              <a:t>不能直接说：</a:t>
            </a:r>
          </a:p>
          <a:p/>
          <a:p>
            <a:r>
              <a:t>&gt; “您没有买过这个商品。”</a:t>
            </a:r>
          </a:p>
          <a:p/>
          <a:p>
            <a:r>
              <a:t>因为只是当前查询没有匹配，并不能排除账号、渠道或时间条件有误。</a:t>
            </a:r>
          </a:p>
          <a:p/>
          <a:p>
            <a:r>
              <a:t>### 情况二：订单还没发货</a:t>
            </a:r>
          </a:p>
          <a:p/>
          <a:p>
            <a:r>
              <a:t>可以回复：</a:t>
            </a:r>
          </a:p>
          <a:p/>
          <a:p>
            <a:r>
              <a:t>&gt; 已找到这笔订单，目前状态为待发货，暂时没有物流记录。</a:t>
            </a:r>
          </a:p>
          <a:p/>
          <a:p>
            <a:r>
              <a:t>如果系统没有明确的发货时间，就不能自行承诺“今天一定发”。</a:t>
            </a:r>
          </a:p>
          <a:p/>
          <a:p>
            <a:r>
              <a:t>### 情况三：工具调用失败</a:t>
            </a:r>
          </a:p>
          <a:p/>
          <a:p>
            <a:r>
              <a:t>可以回复：</a:t>
            </a:r>
          </a:p>
          <a:p/>
          <a:p>
            <a:r>
              <a:t>&gt; 当前暂时无法获取订单信息，您可以重试，或转人工继续查询。</a:t>
            </a:r>
          </a:p>
          <a:p/>
          <a:p>
            <a:r>
              <a:t>不能把接口超时解释成“没有这笔订单”，也不能使用模型的常识补一个结果。</a:t>
            </a:r>
          </a:p>
          <a:p/>
          <a:p>
            <a:r>
              <a:t>**“没有数据”和“没有成功获取数据”，是两种不同的产品状态。**</a:t>
            </a:r>
          </a:p>
          <a:p/>
          <a:p>
            <a:r>
              <a:t>## 八、用户继续问，流程怎样衔接</a:t>
            </a:r>
          </a:p>
          <a:p/>
          <a:p>
            <a:r>
              <a:t>查询完成后，用户可能继续说：</a:t>
            </a:r>
          </a:p>
          <a:p/>
          <a:p>
            <a:r>
              <a:t>&gt; “那如果到了以后有问题，可以换吗？”</a:t>
            </a:r>
          </a:p>
          <a:p/>
          <a:p>
            <a:r>
              <a:t>这已经从物流查询转向售后咨询。</a:t>
            </a:r>
          </a:p>
          <a:p/>
          <a:p>
            <a:r>
              <a:t>系统应当保留已经确认的订单和商品，不必再次询问“您买的是哪一款耳机”。</a:t>
            </a:r>
          </a:p>
          <a:p/>
          <a:p>
            <a:r>
              <a:t>但它需要切换处理路径，查询对应的售后资料。</a:t>
            </a:r>
          </a:p>
          <a:p/>
          <a:p>
            <a:r>
              <a:t>也就是说，一次查询结束后，除了回复文字，还应该保留必要的结果：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"task_status": "completed",</a:t>
            </a:r>
          </a:p>
          <a:p>
            <a:r>
              <a:t>  "selected_order_id": "DEMO-102",</a:t>
            </a:r>
          </a:p>
          <a:p>
            <a:r>
              <a:t>  "product_name": "AirLite Pro 降噪耳机",</a:t>
            </a:r>
          </a:p>
          <a:p>
            <a:r>
              <a:t>  "next_action": "await_user_message"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用户下一句话如果继续查询这笔订单，可以复用信息；如果进入售后流程，也可以传递已经确认的订单。</a:t>
            </a:r>
          </a:p>
          <a:p/>
          <a:p>
            <a:r>
              <a:t>如果用户明确开始查询另一笔订单，再重新定位，不能一直套用旧订单。</a:t>
            </a:r>
          </a:p>
          <a:p/>
          <a:p>
            <a:r>
              <a:t>## 九、用测试检查这条流程</a:t>
            </a:r>
          </a:p>
          <a:p/>
          <a:p>
            <a:r>
              <a:t>到这里，我们不要只看一段顺利对话就认为流程完成了。</a:t>
            </a:r>
          </a:p>
          <a:p/>
          <a:p>
            <a:r>
              <a:t>至少准备下面这些测试：</a:t>
            </a:r>
          </a:p>
          <a:p/>
          <a:p>
            <a:r>
              <a:t>| 测试输入或条件 | 预期行为 |</a:t>
            </a:r>
          </a:p>
          <a:p>
            <a:r>
              <a:t>|---|---|</a:t>
            </a:r>
          </a:p>
          <a:p>
            <a:r>
              <a:t>| 用户提供本人有效订单号 | 校验归属后查询 |</a:t>
            </a:r>
          </a:p>
          <a:p>
            <a:r>
              <a:t>| 用户没给订单号，但有商品和时间线索 | 查询候选订单 |</a:t>
            </a:r>
          </a:p>
          <a:p>
            <a:r>
              <a:t>| 查到两笔相似订单 | 让用户选择，不擅自确定 |</a:t>
            </a:r>
          </a:p>
          <a:p>
            <a:r>
              <a:t>| 用户回复“第二个” | 根据当前候选列表确认订单 |</a:t>
            </a:r>
          </a:p>
          <a:p>
            <a:r>
              <a:t>| 没有匹配订单 | 引导补充或调整条件 |</a:t>
            </a:r>
          </a:p>
          <a:p>
            <a:r>
              <a:t>| 订单尚未发货 | 展示待发货，不编造物流 |</a:t>
            </a:r>
          </a:p>
          <a:p>
            <a:r>
              <a:t>| 查询接口超时 | 返回失败状态，提供后续路径 |</a:t>
            </a:r>
          </a:p>
          <a:p>
            <a:r>
              <a:t>| 用户提供不属于自己的订单号 | 不泄露该订单信息 |</a:t>
            </a:r>
          </a:p>
          <a:p>
            <a:r>
              <a:t>| 工具没有预计送达时间 | 不承诺具体到货时间 |</a:t>
            </a:r>
          </a:p>
          <a:p/>
          <a:p>
            <a:r>
              <a:t>课堂可以重点运行三条：**正常查询、多订单选择、接口失败**。其余放进完整测试表。</a:t>
            </a:r>
          </a:p>
          <a:p/>
          <a:p>
            <a:r>
              <a:t>如果“第二个”选错了订单，就回到候选列表和状态保存环节检查；如果查询失败后仍说“已发货”，就检查错误分支和回复生成条件。</a:t>
            </a:r>
          </a:p>
          <a:p/>
          <a:p>
            <a:r>
              <a:t>每个错误都要对应具体步骤，而不是一律归结为“模型不够好”。</a:t>
            </a:r>
          </a:p>
          <a:p/>
          <a:p>
            <a:r>
              <a:t>## 十、本节完成了什么</a:t>
            </a:r>
          </a:p>
          <a:p/>
          <a:p>
            <a:r>
              <a:t>我们现在已经把一个订单查询请求拆成了完整过程：</a:t>
            </a:r>
          </a:p>
          <a:p/>
          <a:p>
            <a:r>
              <a:t>**理解查询线索 → 找到候选订单 → 确认目标 → 查询业务数据 → 检查结果 → 展示回答 → 保留必要上下文。**</a:t>
            </a:r>
          </a:p>
          <a:p/>
          <a:p>
            <a:r>
              <a:t>这里同时用到了自然语言理解、业务接口、确定性判断和页面选择，但用户感受到的应该只是：查询过程清楚，信息准确，不需要重复解释。</a:t>
            </a:r>
          </a:p>
          <a:p/>
          <a:p>
            <a:r>
              <a:t>下一节，我们进入更复杂的售后流程。</a:t>
            </a:r>
          </a:p>
          <a:p/>
          <a:p>
            <a:r>
              <a:t>用户不再只是问：</a:t>
            </a:r>
          </a:p>
          <a:p/>
          <a:p>
            <a:r>
              <a:t>&gt; “耳机到哪了？”</a:t>
            </a:r>
          </a:p>
          <a:p/>
          <a:p>
            <a:r>
              <a:t>而是说：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这时，订单查到只是第一步。系统还需要了解故障、查询政策、补齐信息，并把售后处理继续推进下去。</a:t>
            </a:r>
          </a:p>
          <a:p/>
          <a:p>
            <a:r>
              <a:t>---</a:t>
            </a:r>
          </a:p>
          <a:p/>
          <a:p>
            <a:r>
              <a:t>**素材说明：**订单查询子工作流的组织方式参考知乎第 7 课客服项目；多轮状态管理参考亚慧讲义第 4.22 节，查询问题排查参考第 8.8 节。订单数据、接口约定、提示词及测试样例为本课程教学设计，尚未运行验证。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先准备三笔可验证的模拟订单</a:t>
            </a:r>
          </a:p>
          <a:p/>
          <a:p>
            <a:r>
              <a:t>假设用户已经登录商城，系统可以从登录状态中获取用户身份。</a:t>
            </a:r>
          </a:p>
          <a:p/>
          <a:p>
            <a:r>
              <a:t>这里的用户身份由系统提供，不能让模型根据用户说的话随意填写。</a:t>
            </a:r>
          </a:p>
          <a:p/>
          <a:p>
            <a:r>
              <a:t>我们准备三笔模拟订单：</a:t>
            </a:r>
          </a:p>
          <a:p/>
          <a:p>
            <a:r>
              <a:t>| 订单编号 | 商品 | 下单时间 | 订单状态 | 物流信息 |</a:t>
            </a:r>
          </a:p>
          <a:p>
            <a:r>
              <a:t>|---|---|---|---|---|</a:t>
            </a:r>
          </a:p>
          <a:p>
            <a:r>
              <a:t>| DEMO-101 | AirLite 蓝牙耳机，白色 | 9 月 1 日 | 已签收 | 9 月 4 日签收 |</a:t>
            </a:r>
          </a:p>
          <a:p>
            <a:r>
              <a:t>| DEMO-102 | AirLite Pro 降噪耳机，黑色 | 9 月 3 日 | 已发货 | 9 月 8 日到达目的地分拨中心 |</a:t>
            </a:r>
          </a:p>
          <a:p>
            <a:r>
              <a:t>| DEMO-103 | K68 无线键盘，灰色 | 9 月 5 日 | 待发货 | 暂无物流记录 |</a:t>
            </a:r>
          </a:p>
          <a:p/>
          <a:p>
            <a:r>
              <a:t>为了避免“上周”随着授课日期变化，**这组演示固定以 9 月 9 日为查询日，订单表也按这个时间背景准备。**</a:t>
            </a:r>
          </a:p>
          <a:p/>
          <a:p>
            <a:r>
              <a:t>用户说“上周买的耳机”，在这份数据里，可能对应两笔订单。</a:t>
            </a:r>
          </a:p>
          <a:p/>
          <a:p>
            <a:r>
              <a:t>系统不能因为第二笔还没签收，就直接认定用户问的是第二笔。第一笔虽然显示已签收，用户也可能没有实际收到。</a:t>
            </a:r>
          </a:p>
          <a:p/>
          <a:p>
            <a:r>
              <a:t>所以，第一步不是让模型生成物流回复，而是**确认查询对象**。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用户没有订单号，下一步怎么做</a:t>
            </a:r>
          </a:p>
          <a:p/>
          <a:p>
            <a:r>
              <a:t>先给学员一个选择：</a:t>
            </a:r>
          </a:p>
          <a:p/>
          <a:p>
            <a:r>
              <a:t>&gt; 用户没有提供订单号，我们下一步应该怎样做？</a:t>
            </a:r>
          </a:p>
          <a:p/>
          <a:p>
            <a:r>
              <a:t>**A.** 要求用户先找到订单号，再继续查询。  </a:t>
            </a:r>
          </a:p>
          <a:p>
            <a:r>
              <a:t>**B.** 根据当前账号查询近期相关订单，让用户确认。  </a:t>
            </a:r>
          </a:p>
          <a:p>
            <a:r>
              <a:t>**C.** 直接选择最近一笔耳机订单，返回物流。</a:t>
            </a:r>
          </a:p>
          <a:p/>
          <a:p>
            <a:r>
              <a:t>在当前场景下，我们选择 **B**。</a:t>
            </a:r>
          </a:p>
          <a:p/>
          <a:p>
            <a:r>
              <a:t>因为用户已经登录，系统有条件查询这个账号的订单。可以先利用已有数据，减少用户查找和复制订单号的操作。</a:t>
            </a:r>
          </a:p>
          <a:p/>
          <a:p>
            <a:r>
              <a:t>A 不是永远不对。如果当前渠道无法关联账号，或者查询不到对应订单，就可能需要用户补充信息。</a:t>
            </a:r>
          </a:p>
          <a:p/>
          <a:p>
            <a:r>
              <a:t>C 的问题是，系统擅自替用户确定了订单。后面的接口即使全部调用成功，也可能回答了另一笔订单的物流。</a:t>
            </a:r>
          </a:p>
          <a:p/>
          <a:p>
            <a:r>
              <a:t>这里需要把两件事分开：</a:t>
            </a:r>
          </a:p>
          <a:p/>
          <a:p>
            <a:r>
              <a:t>- **筛选候选订单**：系统根据时间、商品等线索缩小范围。</a:t>
            </a:r>
          </a:p>
          <a:p>
            <a:r>
              <a:t>- **确认目标订单**：信息有歧义时，由用户确认。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完整讲解订单查询的六个步骤。</a:t>
            </a:r>
          </a:p>
          <a:p/>
          <a:p>
            <a:r>
              <a:t>这条流程可以先画成：</a:t>
            </a:r>
          </a:p>
          <a:p/>
          <a:p>
            <a:r>
              <a:t>```text</a:t>
            </a:r>
          </a:p>
          <a:p>
            <a:r>
              <a:t>进入订单查询流程</a:t>
            </a:r>
          </a:p>
          <a:p>
            <a:r>
              <a:t>        ↓</a:t>
            </a:r>
          </a:p>
          <a:p>
            <a:r>
              <a:t>检查用户身份和已有订单信息</a:t>
            </a:r>
          </a:p>
          <a:p>
            <a:r>
              <a:t>        ↓</a:t>
            </a:r>
          </a:p>
          <a:p>
            <a:r>
              <a:t>是否已经明确目标订单？</a:t>
            </a:r>
          </a:p>
          <a:p>
            <a:r>
              <a:t>   ├─ 是 → 校验该订单是否属于当前用户</a:t>
            </a:r>
          </a:p>
          <a:p>
            <a:r>
              <a:t>   └─ 否 → 查询当前用户的候选订单</a:t>
            </a:r>
          </a:p>
          <a:p>
            <a:r>
              <a:t>                 ↓</a:t>
            </a:r>
          </a:p>
          <a:p>
            <a:r>
              <a:t>            判断候选结果</a:t>
            </a:r>
          </a:p>
          <a:p>
            <a:r>
              <a:t>            ├─ 0 笔：引导补充信息</a:t>
            </a:r>
          </a:p>
          <a:p>
            <a:r>
              <a:t>            ├─ 1 笔：展示商品，必要时确认</a:t>
            </a:r>
          </a:p>
          <a:p>
            <a:r>
              <a:t>            └─ 多笔：让用户选择</a:t>
            </a:r>
          </a:p>
          <a:p>
            <a:r>
              <a:t>                 ↓</a:t>
            </a:r>
          </a:p>
          <a:p>
            <a:r>
              <a:t>            确认目标订单</a:t>
            </a:r>
          </a:p>
          <a:p>
            <a:r>
              <a:t>                 ↓</a:t>
            </a:r>
          </a:p>
          <a:p>
            <a:r>
              <a:t>          查询订单详情及物流</a:t>
            </a:r>
          </a:p>
          <a:p>
            <a:r>
              <a:t>                 ↓</a:t>
            </a:r>
          </a:p>
          <a:p>
            <a:r>
              <a:t>           检查返回结果</a:t>
            </a:r>
          </a:p>
          <a:p>
            <a:r>
              <a:t>                 ↓</a:t>
            </a:r>
          </a:p>
          <a:p>
            <a:r>
              <a:t>      展示物流信息与后续操作</a:t>
            </a:r>
          </a:p>
          <a:p>
            <a:r>
              <a:t>```</a:t>
            </a:r>
          </a:p>
          <a:p/>
          <a:p>
            <a:r>
              <a:t>不要急着记住所有节点。我们沿着实际对话，把每一步拆开。</a:t>
            </a:r>
          </a:p>
          <a:p/>
          <a:p>
            <a:r>
              <a:t>### 1. 检查已有信息</a:t>
            </a:r>
          </a:p>
          <a:p/>
          <a:p>
            <a:r>
              <a:t>进入这个流程时，系统可能已经知道：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"user_message": "上周买的耳机怎么还没到？",</a:t>
            </a:r>
          </a:p>
          <a:p>
            <a:r>
              <a:t>  "order_id": null,</a:t>
            </a:r>
          </a:p>
          <a:p>
            <a:r>
              <a:t>  "product_keyword": "耳机",</a:t>
            </a:r>
          </a:p>
          <a:p>
            <a:r>
              <a:t>  "time_expression": "上周"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其中：</a:t>
            </a:r>
          </a:p>
          <a:p/>
          <a:p>
            <a:r>
              <a:t>- `order_id` 为空，表示还没有确认订单。</a:t>
            </a:r>
          </a:p>
          <a:p>
            <a:r>
              <a:t>- “耳机”和“上周”是查询线索，不是最终订单标识。</a:t>
            </a:r>
          </a:p>
          <a:p>
            <a:r>
              <a:t>- 当前用户身份由登录系统传入，不由这段自然语言决定。</a:t>
            </a:r>
          </a:p>
          <a:p/>
          <a:p>
            <a:r>
              <a:t>如果前面已经确认过订单，就应优先复用，而不是再次让用户选择。</a:t>
            </a:r>
          </a:p>
          <a:p/>
          <a:p>
            <a:r>
              <a:t>### 2. 查询候选订单</a:t>
            </a:r>
          </a:p>
          <a:p/>
          <a:p>
            <a:r>
              <a:t>教学查询工具可以设计为：</a:t>
            </a:r>
          </a:p>
          <a:p/>
          <a:p>
            <a:r>
              <a:t>```text</a:t>
            </a:r>
          </a:p>
          <a:p>
            <a:r>
              <a:t>工具：查询当前用户的订单</a:t>
            </a:r>
          </a:p>
          <a:p/>
          <a:p>
            <a:r>
              <a:t>输入：</a:t>
            </a:r>
          </a:p>
          <a:p>
            <a:r>
              <a:t>- 商品关键词</a:t>
            </a:r>
          </a:p>
          <a:p>
            <a:r>
              <a:t>- 查询时间范围</a:t>
            </a:r>
          </a:p>
          <a:p/>
          <a:p>
            <a:r>
              <a:t>身份：</a:t>
            </a:r>
          </a:p>
          <a:p>
            <a:r>
              <a:t>- 由服务端登录状态确定</a:t>
            </a:r>
          </a:p>
          <a:p/>
          <a:p>
            <a:r>
              <a:t>输出：</a:t>
            </a:r>
          </a:p>
          <a:p>
            <a:r>
              <a:t>- 候选订单列表</a:t>
            </a:r>
          </a:p>
          <a:p>
            <a:r>
              <a:t>- 每笔订单的编号、商品、规格、下单时间和状态</a:t>
            </a:r>
          </a:p>
          <a:p>
            <a:r>
              <a:t>```</a:t>
            </a:r>
          </a:p>
          <a:p/>
          <a:p>
            <a:r>
              <a:t>模型可以帮助理解“耳机”“上周”这些查询条件。</a:t>
            </a:r>
          </a:p>
          <a:p/>
          <a:p>
            <a:r>
              <a:t>但真正的订单筛选与访问权限检查，需要由系统完成。**不能仅凭一个订单号，就允许查询其他人的订单。**</a:t>
            </a:r>
          </a:p>
          <a:p/>
          <a:p>
            <a:r>
              <a:t>这里也不需要把整个订单数据库都发给模型，再让模型自己找。</a:t>
            </a:r>
          </a:p>
          <a:p/>
          <a:p>
            <a:r>
              <a:t>更合理的是：查询工具先返回当前用户有权查看的相关记录。</a:t>
            </a:r>
          </a:p>
          <a:p/>
          <a:p>
            <a:r>
              <a:t>### 3. 根据结果决定下一步</a:t>
            </a:r>
          </a:p>
          <a:p/>
          <a:p>
            <a:r>
              <a:t>这次查询返回了两笔耳机订单。</a:t>
            </a:r>
          </a:p>
          <a:p/>
          <a:p>
            <a:r>
              <a:t>系统应该展示足够的信息，帮助用户区分：</a:t>
            </a:r>
          </a:p>
          <a:p/>
          <a:p>
            <a:r>
              <a:t>&gt; 查询到您近期有两笔耳机订单，请选择需要查询的一笔：  </a:t>
            </a:r>
          </a:p>
          <a:p>
            <a:r>
              <a:t>&gt; ① AirLite 蓝牙耳机｜白色｜9 月 1 日下单  </a:t>
            </a:r>
          </a:p>
          <a:p>
            <a:r>
              <a:t>&gt; ② AirLite Pro 降噪耳机｜黑色｜9 月 3 日下单</a:t>
            </a:r>
          </a:p>
          <a:p/>
          <a:p>
            <a:r>
              <a:t>产品上可以做成可点击的订单卡片，而不只是两行文字。</a:t>
            </a:r>
          </a:p>
          <a:p/>
          <a:p>
            <a:r>
              <a:t>卡片至少要让用户看清商品、规格和时间，必要时展示缩略图及部分订单编号。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讲解候选列表、等待状态和选择结果的对应。</a:t>
            </a:r>
          </a:p>
          <a:p/>
          <a:p>
            <a:r>
              <a:t>用户接着回复：</a:t>
            </a:r>
          </a:p>
          <a:p/>
          <a:p>
            <a:r>
              <a:t>&gt; 第二个。</a:t>
            </a:r>
          </a:p>
          <a:p/>
          <a:p>
            <a:r>
              <a:t>这一句不能脱离前文单独处理。</a:t>
            </a:r>
          </a:p>
          <a:p/>
          <a:p>
            <a:r>
              <a:t>系统需要记住：刚才展示了哪些候选订单，以及它们在页面上的对应关系。</a:t>
            </a:r>
          </a:p>
          <a:p/>
          <a:p>
            <a:r>
              <a:t>例如：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"order_selection",</a:t>
            </a:r>
          </a:p>
          <a:p>
            <a:r>
              <a:t>  "candidate_order_ids": [</a:t>
            </a:r>
          </a:p>
          <a:p>
            <a:r>
              <a:t>    "DEMO-101",</a:t>
            </a:r>
          </a:p>
          <a:p>
            <a:r>
              <a:t>    "DEMO-102"</a:t>
            </a:r>
          </a:p>
          <a:p>
            <a:r>
              <a:t>  ],</a:t>
            </a:r>
          </a:p>
          <a:p>
            <a:r>
              <a:t>  "selected_order_id":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如果用户点击第二张卡片，前端可以直接提交对应的订单 ID。</a:t>
            </a:r>
          </a:p>
          <a:p/>
          <a:p>
            <a:r>
              <a:t>如果用户输入“第二个”，系统则需要结合刚才展示的列表，将其对应到 `DEMO-102`。</a:t>
            </a:r>
          </a:p>
          <a:p/>
          <a:p>
            <a:r>
              <a:t>确认后更新：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"current_task": "order_query",</a:t>
            </a:r>
          </a:p>
          <a:p>
            <a:r>
              <a:t>  "waiting_for": null,</a:t>
            </a:r>
          </a:p>
          <a:p>
            <a:r>
              <a:t>  "selected_order_id": "DEMO-102"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这里有一个很实际的产品细节：</a:t>
            </a:r>
          </a:p>
          <a:p/>
          <a:p>
            <a:r>
              <a:t>**如果用户点击就能准确表达选择，就不必要求所有操作都通过自由文本完成。**</a:t>
            </a:r>
          </a:p>
          <a:p/>
          <a:p>
            <a:r>
              <a:t>大模型可以处理“第二个”这样的自然表达；页面上的订单卡片则提供更直接、确定的操作方式。两者可以同时存在。</a:t>
            </a:r>
          </a:p>
          <a:p/>
          <a:p>
            <a:r>
              <a:t>如果候选列表已经变化，或者用户说“之前那个”，无法确定指向，就应该再次确认，不能随意映射。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拿到查询结果以后，模型负责什么</a:t>
            </a:r>
          </a:p>
          <a:p/>
          <a:p>
            <a:r>
              <a:t>现在已经确定订单 `DEMO-102`，系统可以查询具体信息。</a:t>
            </a:r>
          </a:p>
          <a:p/>
          <a:p>
            <a:r>
              <a:t>这里可以有两个工具，也可以由后端封装成一个查询接口。产品设计首先要明确需要哪些数据，不必先纠结工具数量。</a:t>
            </a:r>
          </a:p>
          <a:p/>
          <a:p>
            <a:r>
              <a:t>教学返回结果可以是：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"DEMO-102",</a:t>
            </a:r>
          </a:p>
          <a:p>
            <a:r>
              <a:t>  "product_name": "AirLite Pro 降噪耳机",</a:t>
            </a:r>
          </a:p>
          <a:p>
            <a:r>
              <a:t>  "order_status": "shipped",</a:t>
            </a:r>
          </a:p>
          <a:p>
            <a:r>
              <a:t>  "latest_logistics_status": "运输中",</a:t>
            </a:r>
          </a:p>
          <a:p>
            <a:r>
              <a:t>  "latest_logistics_event": "快件已到达目的地分拨中心",</a:t>
            </a:r>
          </a:p>
          <a:p>
            <a:r>
              <a:t>  "event_time": "2026-09-08 18:20",</a:t>
            </a:r>
          </a:p>
          <a:p>
            <a:r>
              <a:t>  "estimated_delivery_time": null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这份结果说明：</a:t>
            </a:r>
          </a:p>
          <a:p/>
          <a:p>
            <a:r>
              <a:t>- 订单已经发货。</a:t>
            </a:r>
          </a:p>
          <a:p>
            <a:r>
              <a:t>- 最新物流记录是到达目的地分拨中心。</a:t>
            </a:r>
          </a:p>
          <a:p>
            <a:r>
              <a:t>- 这条记录发生在 9 月 8 日。</a:t>
            </a:r>
          </a:p>
          <a:p>
            <a:r>
              <a:t>- 系统没有提供预计送达时间。</a:t>
            </a:r>
          </a:p>
          <a:p/>
          <a:p>
            <a:r>
              <a:t>接下来可以组织面向用户的回复：</a:t>
            </a:r>
          </a:p>
          <a:p/>
          <a:p>
            <a:r>
              <a:t>&gt; 您查询的是 9 月 3 日购买的 AirLite Pro 降噪耳机。订单已发货，最新物流记录显示：9 月 8 日 18:20 到达目的地分拨中心。  </a:t>
            </a:r>
          </a:p>
          <a:p>
            <a:r>
              <a:t>&gt; 当前查询结果未提供预计送达时间，您可以查看完整物流记录；如果需要进一步确认，可以联系人工客服。</a:t>
            </a:r>
          </a:p>
          <a:p/>
          <a:p>
            <a:r>
              <a:t>这里不能自行补一句：</a:t>
            </a:r>
          </a:p>
          <a:p/>
          <a:p>
            <a:r>
              <a:t>&gt; “预计明天一定能收到。”</a:t>
            </a:r>
          </a:p>
          <a:p/>
          <a:p>
            <a:r>
              <a:t>因为查询结果没有提供这个信息。</a:t>
            </a:r>
          </a:p>
          <a:p/>
          <a:p>
            <a:r>
              <a:t>用户原话是“怎么还没到”，但物流记录也不一定能解释延迟原因。**没有查到具体原因，就不能把“运输中”编成“由于天气原因延误”。**</a:t>
            </a:r>
          </a:p>
          <a:p/>
          <a:p>
            <a:r>
              <a:t>到这里，可以让学员再判断一次：</a:t>
            </a:r>
          </a:p>
          <a:p/>
          <a:p>
            <a:r>
              <a:t>&gt; 拿到订单和物流数据以后，一定要再调用大模型吗？</a:t>
            </a:r>
          </a:p>
          <a:p/>
          <a:p>
            <a:r>
              <a:t>不一定。</a:t>
            </a:r>
          </a:p>
          <a:p/>
          <a:p>
            <a:r>
              <a:t>如果只是展示订单状态、物流时间和轨迹，使用页面卡片或固定模板就可以。</a:t>
            </a:r>
          </a:p>
          <a:p/>
          <a:p>
            <a:r>
              <a:t>例如：</a:t>
            </a:r>
          </a:p>
          <a:p/>
          <a:p>
            <a:r>
              <a:t>```text</a:t>
            </a:r>
          </a:p>
          <a:p>
            <a:r>
              <a:t>商品：{product_name}</a:t>
            </a:r>
          </a:p>
          <a:p>
            <a:r>
              <a:t>订单状态：{order_status}</a:t>
            </a:r>
          </a:p>
          <a:p>
            <a:r>
              <a:t>最新物流：{latest_logistics_event}</a:t>
            </a:r>
          </a:p>
          <a:p>
            <a:r>
              <a:t>更新时间：{event_time}</a:t>
            </a:r>
          </a:p>
          <a:p>
            <a:r>
              <a:t>```</a:t>
            </a:r>
          </a:p>
          <a:p/>
          <a:p>
            <a:r>
              <a:t>模型更适合承担的是：</a:t>
            </a:r>
          </a:p>
          <a:p/>
          <a:p>
            <a:r>
              <a:t>- 结合用户的问题，选择需要解释的信息。</a:t>
            </a:r>
          </a:p>
          <a:p>
            <a:r>
              <a:t>- 把多个字段组织成容易理解的说明。</a:t>
            </a:r>
          </a:p>
          <a:p>
            <a:r>
              <a:t>- 承接后续问题。</a:t>
            </a:r>
          </a:p>
          <a:p/>
          <a:p>
            <a:r>
              <a:t>但无论采用哪种方式，订单编号、时间、状态等关键事实都必须来自查询结果。</a:t>
            </a:r>
          </a:p>
          <a:p/>
          <a:p>
            <a:r>
              <a:t>如果使用模型生成回复，可以给它明确约束：</a:t>
            </a:r>
          </a:p>
          <a:p/>
          <a:p>
            <a:r>
              <a:t>```text</a:t>
            </a:r>
          </a:p>
          <a:p>
            <a:r>
              <a:t>根据已确认的订单和工具返回结果回答用户。</a:t>
            </a:r>
          </a:p>
          <a:p/>
          <a:p>
            <a:r>
              <a:t>要求：</a:t>
            </a:r>
          </a:p>
          <a:p>
            <a:r>
              <a:t>- 只能使用工具提供的订单与物流事实。</a:t>
            </a:r>
          </a:p>
          <a:p>
            <a:r>
              <a:t>- 没有预计送达时间时，不承诺送达日期。</a:t>
            </a:r>
          </a:p>
          <a:p>
            <a:r>
              <a:t>- 没有延误原因时，不编造原因。</a:t>
            </a:r>
          </a:p>
          <a:p>
            <a:r>
              <a:t>- 工具失败或结果为空时，不生成正常查询成功的回复。</a:t>
            </a:r>
          </a:p>
          <a:p>
            <a:r>
              <a:t>- 不展示与当前用户请求无关的个人信息。</a:t>
            </a:r>
          </a:p>
          <a:p>
            <a:r>
              <a:t>```</a:t>
            </a:r>
          </a:p>
          <a:p/>
          <a:p>
            <a:r>
              <a:t>这段提示词负责约束表达，**不能代替身份校验、权限控制和接口错误处理**。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看不到物流，不代表同一种情况</a:t>
            </a:r>
          </a:p>
          <a:p/>
          <a:p>
            <a:r>
              <a:t>下面三种情况，都可能导致用户暂时看不到物流，但产品处理不能一样。</a:t>
            </a:r>
          </a:p>
          <a:p/>
          <a:p>
            <a:r>
              <a:t>| 情况 | 实际含义 | 应怎样处理 |</a:t>
            </a:r>
          </a:p>
          <a:p>
            <a:r>
              <a:t>|---|---|---|</a:t>
            </a:r>
          </a:p>
          <a:p>
            <a:r>
              <a:t>| 没有找到订单 | 查询成功，但没有匹配记录 | 引导调整时间、确认账号或补充订单信息 |</a:t>
            </a:r>
          </a:p>
          <a:p>
            <a:r>
              <a:t>| 订单尚未发货 | 已找到订单，当前没有物流轨迹 | 如实展示待发货状态，按可用信息提供后续入口 |</a:t>
            </a:r>
          </a:p>
          <a:p>
            <a:r>
              <a:t>| 查询工具失败 | 系统没有成功获取数据 | 告知暂时无法查询，提供重试或人工处理 |</a:t>
            </a:r>
          </a:p>
          <a:p/>
          <a:p>
            <a:r>
              <a:t>### 情况一：没有找到订单</a:t>
            </a:r>
          </a:p>
          <a:p/>
          <a:p>
            <a:r>
              <a:t>可以回复：</a:t>
            </a:r>
          </a:p>
          <a:p/>
          <a:p>
            <a:r>
              <a:t>&gt; 当前账号下没有找到符合这些条件的订单。您可以确认购买时间，或者从订单列表中选择需要查询的商品。</a:t>
            </a:r>
          </a:p>
          <a:p/>
          <a:p>
            <a:r>
              <a:t>不能直接说：</a:t>
            </a:r>
          </a:p>
          <a:p/>
          <a:p>
            <a:r>
              <a:t>&gt; “您没有买过这个商品。”</a:t>
            </a:r>
          </a:p>
          <a:p/>
          <a:p>
            <a:r>
              <a:t>因为只是当前查询没有匹配，并不能排除账号、渠道或时间条件有误。</a:t>
            </a:r>
          </a:p>
          <a:p/>
          <a:p>
            <a:r>
              <a:t>### 情况二：订单还没发货</a:t>
            </a:r>
          </a:p>
          <a:p/>
          <a:p>
            <a:r>
              <a:t>可以回复：</a:t>
            </a:r>
          </a:p>
          <a:p/>
          <a:p>
            <a:r>
              <a:t>&gt; 已找到这笔订单，目前状态为待发货，暂时没有物流记录。</a:t>
            </a:r>
          </a:p>
          <a:p/>
          <a:p>
            <a:r>
              <a:t>如果系统没有明确的发货时间，就不能自行承诺“今天一定发”。</a:t>
            </a:r>
          </a:p>
          <a:p/>
          <a:p>
            <a:r>
              <a:t>### 情况三：工具调用失败</a:t>
            </a:r>
          </a:p>
          <a:p/>
          <a:p>
            <a:r>
              <a:t>可以回复：</a:t>
            </a:r>
          </a:p>
          <a:p/>
          <a:p>
            <a:r>
              <a:t>&gt; 当前暂时无法获取订单信息，您可以重试，或转人工继续查询。</a:t>
            </a:r>
          </a:p>
          <a:p/>
          <a:p>
            <a:r>
              <a:t>不能把接口超时解释成“没有这笔订单”，也不能使用模型的常识补一个结果。</a:t>
            </a:r>
          </a:p>
          <a:p/>
          <a:p>
            <a:r>
              <a:t>**“没有数据”和“没有成功获取数据”，是两种不同的产品状态。**</a:t>
            </a:r>
          </a:p>
          <a:p/>
          <a:p>
            <a:r>
              <a:t>到这里，我们不要只看一段顺利对话就认为流程完成了。</a:t>
            </a:r>
          </a:p>
          <a:p/>
          <a:p>
            <a:r>
              <a:t>至少准备下面这些测试：</a:t>
            </a:r>
          </a:p>
          <a:p/>
          <a:p>
            <a:r>
              <a:t>| 测试输入或条件 | 预期行为 |</a:t>
            </a:r>
          </a:p>
          <a:p>
            <a:r>
              <a:t>|---|---|</a:t>
            </a:r>
          </a:p>
          <a:p>
            <a:r>
              <a:t>| 用户提供本人有效订单号 | 校验归属后查询 |</a:t>
            </a:r>
          </a:p>
          <a:p>
            <a:r>
              <a:t>| 用户没给订单号，但有商品和时间线索 | 查询候选订单 |</a:t>
            </a:r>
          </a:p>
          <a:p>
            <a:r>
              <a:t>| 查到两笔相似订单 | 让用户选择，不擅自确定 |</a:t>
            </a:r>
          </a:p>
          <a:p>
            <a:r>
              <a:t>| 用户回复“第二个” | 根据当前候选列表确认订单 |</a:t>
            </a:r>
          </a:p>
          <a:p>
            <a:r>
              <a:t>| 没有匹配订单 | 引导补充或调整条件 |</a:t>
            </a:r>
          </a:p>
          <a:p>
            <a:r>
              <a:t>| 订单尚未发货 | 展示待发货，不编造物流 |</a:t>
            </a:r>
          </a:p>
          <a:p>
            <a:r>
              <a:t>| 查询接口超时 | 返回失败状态，提供后续路径 |</a:t>
            </a:r>
          </a:p>
          <a:p>
            <a:r>
              <a:t>| 用户提供不属于自己的订单号 | 不泄露该订单信息 |</a:t>
            </a:r>
          </a:p>
          <a:p>
            <a:r>
              <a:t>| 工具没有预计送达时间 | 不承诺具体到货时间 |</a:t>
            </a:r>
          </a:p>
          <a:p/>
          <a:p>
            <a:r>
              <a:t>课堂可以重点运行三条：**正常查询、多订单选择、接口失败**。其余放进完整测试表。</a:t>
            </a:r>
          </a:p>
          <a:p/>
          <a:p>
            <a:r>
              <a:t>如果“第二个”选错了订单，就回到候选列表和状态保存环节检查；如果查询失败后仍说“已发货”，就检查错误分支和回复生成条件。</a:t>
            </a:r>
          </a:p>
          <a:p/>
          <a:p>
            <a:r>
              <a:t>每个错误都要对应具体步骤，而不是一律归结为“模型不够好”。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从“想换一个”到“申请已受理”，中间还缺哪些产品步骤？</a:t>
            </a:r>
          </a:p>
          <a:p/>
          <a:p>
            <a:r>
              <a:t>上一节，我们完成了订单查询。</a:t>
            </a:r>
          </a:p>
          <a:p/>
          <a:p>
            <a:r>
              <a:t>但订单查询主要是在获取和解释已有信息。现在，用户提出了一个需要继续处理的要求：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这时，查到订单只是第一步。</a:t>
            </a:r>
          </a:p>
          <a:p/>
          <a:p>
            <a:r>
              <a:t>系统还需要了解商品问题、找到适用的售后要求、补齐必要信息，再告诉用户下一步怎样处理。</a:t>
            </a:r>
          </a:p>
          <a:p/>
          <a:p>
            <a:r>
              <a:t>这一节，我们就沿着这笔换货请求，把售后流程拆开。</a:t>
            </a:r>
          </a:p>
          <a:p/>
          <a:p>
            <a:r>
              <a:t>&gt; 本节继续使用教学模拟数据。为了与上一节的物流查询区分，这次使用已签收的订单 `DEMO-101`：AirLite 蓝牙耳机，9 月 4 日签收。查询日仍固定为 9 月 9 日。所有政策、接口和处理结果均为教学设计，尚未运行验证。</a:t>
            </a:r>
          </a:p>
          <a:p/>
          <a:p>
            <a:r>
              <a:t>## 一、先区分“问政策”和“要处理”</a:t>
            </a:r>
          </a:p>
          <a:p/>
          <a:p>
            <a:r>
              <a:t>先看三句话：</a:t>
            </a:r>
          </a:p>
          <a:p/>
          <a:p>
            <a:r>
              <a:t>&gt; ①“耳机坏了能换吗？”  </a:t>
            </a:r>
          </a:p>
          <a:p>
            <a:r>
              <a:t>&gt; ②“我买的耳机右边没有声音，能换吗？”  </a:t>
            </a:r>
          </a:p>
          <a:p>
            <a:r>
              <a:t>&gt; ③“我买的耳机右边没有声音，帮我申请换货。”</a:t>
            </a:r>
          </a:p>
          <a:p/>
          <a:p>
            <a:r>
              <a:t>这三句话都与换货有关，但系统下一步不应该完全一样。</a:t>
            </a:r>
          </a:p>
          <a:p/>
          <a:p>
            <a:r>
              <a:t>| 用户表达 | 当前需要做什么 |</a:t>
            </a:r>
          </a:p>
          <a:p>
            <a:r>
              <a:t>|---|---|</a:t>
            </a:r>
          </a:p>
          <a:p>
            <a:r>
              <a:t>| 泛泛询问换货政策 | 解释适用条件，必要时确认商品或问题类型 |</a:t>
            </a:r>
          </a:p>
          <a:p>
            <a:r>
              <a:t>| 询问自己的商品能否换货 | 结合订单、故障和适用政策继续确认 |</a:t>
            </a:r>
          </a:p>
          <a:p>
            <a:r>
              <a:t>| 明确要求申请换货 | 收集申请所需信息，引导确认和提交 |</a:t>
            </a:r>
          </a:p>
          <a:p/>
          <a:p>
            <a:r>
              <a:t>第一种情况，不一定需要一上来就要求用户提供订单和图片。</a:t>
            </a:r>
          </a:p>
          <a:p/>
          <a:p>
            <a:r>
              <a:t>第三种情况，如果系统仍然只返回一段政策，也没有完成用户的需求。</a:t>
            </a:r>
          </a:p>
          <a:p/>
          <a:p>
            <a:r>
              <a:t>因此，进入售后分支以后，还需要进一步理解：</a:t>
            </a:r>
          </a:p>
          <a:p/>
          <a:p>
            <a:r>
              <a:t>**用户是在了解规则，还是希望处理自己的问题？目前的信息足不足以继续？**</a:t>
            </a:r>
          </a:p>
          <a:p/>
          <a:p>
            <a:r>
              <a:t>本节重点处理第三种情况。</a:t>
            </a:r>
          </a:p>
          <a:p/>
          <a:p>
            <a:r>
              <a:t>## 二、先确定这条售后流程处理到哪里</a:t>
            </a:r>
          </a:p>
          <a:p/>
          <a:p>
            <a:r>
              <a:t>我们先把当前版本的服务范围说清楚。</a:t>
            </a:r>
          </a:p>
          <a:p/>
          <a:p>
            <a:r>
              <a:t>这条流程可以：</a:t>
            </a:r>
          </a:p>
          <a:p/>
          <a:p>
            <a:r>
              <a:t>- 确认对应订单和商品。</a:t>
            </a:r>
          </a:p>
          <a:p>
            <a:r>
              <a:t>- 了解故障以及用户希望的处理方式。</a:t>
            </a:r>
          </a:p>
          <a:p>
            <a:r>
              <a:t>- 查询适用的售后要求。</a:t>
            </a:r>
          </a:p>
          <a:p>
            <a:r>
              <a:t>- 收集必要材料。</a:t>
            </a:r>
          </a:p>
          <a:p>
            <a:r>
              <a:t>- 生成申请内容供用户确认。</a:t>
            </a:r>
          </a:p>
          <a:p>
            <a:r>
              <a:t>- 引导进入申请入口，或在模拟环境中提交申请。</a:t>
            </a:r>
          </a:p>
          <a:p>
            <a:r>
              <a:t>- 特殊情况交给人工处理。</a:t>
            </a:r>
          </a:p>
          <a:p/>
          <a:p>
            <a:r>
              <a:t>但它不直接完成以下事情：</a:t>
            </a:r>
          </a:p>
          <a:p/>
          <a:p>
            <a:r>
              <a:t>- 判断商品一定存在质量问题。</a:t>
            </a:r>
          </a:p>
          <a:p>
            <a:r>
              <a:t>- 批准所有换货请求。</a:t>
            </a:r>
          </a:p>
          <a:p>
            <a:r>
              <a:t>- 自动退款或决定赔偿金额。</a:t>
            </a:r>
          </a:p>
          <a:p>
            <a:r>
              <a:t>- 承诺换货一定通过、什么时候寄出。</a:t>
            </a:r>
          </a:p>
          <a:p/>
          <a:p>
            <a:r>
              <a:t>这里最重要的区别是：</a:t>
            </a:r>
          </a:p>
          <a:p/>
          <a:p>
            <a:r>
              <a:t>**受理申请，不等于批准申请。**</a:t>
            </a:r>
          </a:p>
          <a:p/>
          <a:p>
            <a:r>
              <a:t>用户提交了一份换货申请，系统可以告诉他“已提交，等待审核”。如果后面还需要人工审核或商品检测，就不能说“换货已通过”。</a:t>
            </a:r>
          </a:p>
          <a:p/>
          <a:p>
            <a:r>
              <a:t>为了看清完整过程，本节会展示模拟提交的设计。它是借鉴亚慧工单助手后补充的教学环节，不代表我们已经接入真实商家的售后系统。</a:t>
            </a:r>
          </a:p>
          <a:p/>
          <a:p>
            <a:r>
              <a:t>## 三、先看售后流程全貌</a:t>
            </a:r>
          </a:p>
          <a:p/>
          <a:p>
            <a:r>
              <a:t>```text</a:t>
            </a:r>
          </a:p>
          <a:p>
            <a:r>
              <a:t>用户提出售后问题</a:t>
            </a:r>
          </a:p>
          <a:p>
            <a:r>
              <a:t>        ↓</a:t>
            </a:r>
          </a:p>
          <a:p>
            <a:r>
              <a:t>判断是政策咨询，还是具体处理请求</a:t>
            </a:r>
          </a:p>
          <a:p>
            <a:r>
              <a:t>        ↓</a:t>
            </a:r>
          </a:p>
          <a:p>
            <a:r>
              <a:t>确认订单和商品</a:t>
            </a:r>
          </a:p>
          <a:p>
            <a:r>
              <a:t>        ↓</a:t>
            </a:r>
          </a:p>
          <a:p>
            <a:r>
              <a:t>识别诉求，收集必要的故障信息</a:t>
            </a:r>
          </a:p>
          <a:p>
            <a:r>
              <a:t>        ↓</a:t>
            </a:r>
          </a:p>
          <a:p>
            <a:r>
              <a:t>查询适用政策，检查基础条件</a:t>
            </a:r>
          </a:p>
          <a:p>
            <a:r>
              <a:t>        ↓</a:t>
            </a:r>
          </a:p>
          <a:p>
            <a:r>
              <a:t>补充材料，整理申请内容</a:t>
            </a:r>
          </a:p>
          <a:p>
            <a:r>
              <a:t>        ↓</a:t>
            </a:r>
          </a:p>
          <a:p>
            <a:r>
              <a:t>用户确认</a:t>
            </a:r>
          </a:p>
          <a:p>
            <a:r>
              <a:t>        ↓</a:t>
            </a:r>
          </a:p>
          <a:p>
            <a:r>
              <a:t>进入申请入口／模拟提交申请</a:t>
            </a:r>
          </a:p>
          <a:p>
            <a:r>
              <a:t>        ↓</a:t>
            </a:r>
          </a:p>
          <a:p>
            <a:r>
              <a:t>返回实际处理状态</a:t>
            </a:r>
          </a:p>
          <a:p>
            <a:r>
              <a:t>```</a:t>
            </a:r>
          </a:p>
          <a:p/>
          <a:p>
            <a:r>
              <a:t>在这条流程中，如果出现政策冲突、无法确认的信息、特殊要求或用户明确要求人工，就进入人工处理路径。</a:t>
            </a:r>
          </a:p>
          <a:p/>
          <a:p>
            <a:r>
              <a:t>下面逐步展开。</a:t>
            </a:r>
          </a:p>
          <a:p/>
          <a:p>
            <a:r>
              <a:t>## 四、确认订单，同时复用用户已经提供的信息</a:t>
            </a:r>
          </a:p>
          <a:p/>
          <a:p>
            <a:r>
              <a:t>用户说：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这句话已经提供了三项信息：</a:t>
            </a:r>
          </a:p>
          <a:p/>
          <a:p>
            <a:r>
              <a:t>- 商品出现了声音故障。</a:t>
            </a:r>
          </a:p>
          <a:p>
            <a:r>
              <a:t>- 问题发生在右侧。</a:t>
            </a:r>
          </a:p>
          <a:p>
            <a:r>
              <a:t>- 用户希望换货。</a:t>
            </a:r>
          </a:p>
          <a:p/>
          <a:p>
            <a:r>
              <a:t>这些信息应该先保留下来，不要确认完订单后再问：</a:t>
            </a:r>
          </a:p>
          <a:p/>
          <a:p>
            <a:r>
              <a:t>&gt; “请问您的商品出现了什么问题？”  </a:t>
            </a:r>
          </a:p>
          <a:p>
            <a:r>
              <a:t>&gt; “您是想退款还是换货？”</a:t>
            </a:r>
          </a:p>
          <a:p/>
          <a:p>
            <a:r>
              <a:t>如果当前会话已经确认了订单，可以继续使用；如果没有，就复用上一节的订单选择流程。</a:t>
            </a:r>
          </a:p>
          <a:p/>
          <a:p>
            <a:r>
              <a:t>假设用户选中了：</a:t>
            </a:r>
          </a:p>
          <a:p/>
          <a:p>
            <a:r>
              <a:t>&gt; DEMO-101｜AirLite 蓝牙耳机｜白色｜9 月 4 日签收。</a:t>
            </a:r>
          </a:p>
          <a:p/>
          <a:p>
            <a:r>
              <a:t>系统现在可以整理出：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"DEMO-101",</a:t>
            </a:r>
          </a:p>
          <a:p>
            <a:r>
              <a:t>  "requested_action": "exchange",</a:t>
            </a:r>
          </a:p>
          <a:p>
            <a:r>
              <a:t>  "issue_description": "右侧耳机没有声音",</a:t>
            </a:r>
          </a:p>
          <a:p>
            <a:r>
              <a:t>  "issue_start": null,</a:t>
            </a:r>
          </a:p>
          <a:p>
            <a:r>
              <a:t>  "materials": [],</a:t>
            </a:r>
          </a:p>
          <a:p>
            <a:r>
              <a:t>  "confirmed": false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这里仍然缺少的信息，要根据后面的处理要求来判断。</a:t>
            </a:r>
          </a:p>
          <a:p/>
          <a:p>
            <a:r>
              <a:t>**不是把所有字段都问一遍，而是先利用已有信息，再询问真正缺少的部分。**</a:t>
            </a:r>
          </a:p>
          <a:p/>
          <a:p>
            <a:r>
              <a:t>## 五、根据处理要求决定下一句问什么</a:t>
            </a:r>
          </a:p>
          <a:p/>
          <a:p>
            <a:r>
              <a:t>先让学员选择：</a:t>
            </a:r>
          </a:p>
          <a:p/>
          <a:p>
            <a:r>
              <a:t>&gt; 订单已经确认，用户也说了右侧没有声音。下面哪种做法更合适？</a:t>
            </a:r>
          </a:p>
          <a:p/>
          <a:p>
            <a:r>
              <a:t>**A.** 把完整售后表单的所有字段一次性发给用户。  </a:t>
            </a:r>
          </a:p>
          <a:p>
            <a:r>
              <a:t>**B.** 根据当前申请所缺的信息，继续问一个必要问题。  </a:t>
            </a:r>
          </a:p>
          <a:p>
            <a:r>
              <a:t>**C.** 直接生成换货申请，缺少的内容由模型补齐。</a:t>
            </a:r>
          </a:p>
          <a:p/>
          <a:p>
            <a:r>
              <a:t>当前选择 **B**。</a:t>
            </a:r>
          </a:p>
          <a:p/>
          <a:p>
            <a:r>
              <a:t>假设这类申请需要区分：收到时就存在问题，还是使用过程中出现问题。</a:t>
            </a:r>
          </a:p>
          <a:p/>
          <a:p>
            <a:r>
              <a:t>可以继续问：</a:t>
            </a:r>
          </a:p>
          <a:p/>
          <a:p>
            <a:r>
              <a:t>&gt; “请问右侧耳机是收到后一直没有声音，还是使用过程中才出现的？”</a:t>
            </a:r>
          </a:p>
          <a:p/>
          <a:p>
            <a:r>
              <a:t>用户回答：</a:t>
            </a:r>
          </a:p>
          <a:p/>
          <a:p>
            <a:r>
              <a:t>&gt; “收到就是这样。”</a:t>
            </a:r>
          </a:p>
          <a:p/>
          <a:p>
            <a:r>
              <a:t>系统记录后，不需要继续围绕这个问题反复追问。</a:t>
            </a:r>
          </a:p>
          <a:p/>
          <a:p>
            <a:r>
              <a:t>接下来，如果该型号的处理指引建议先确认左右耳是否正常连接，可以给出对应的基础检查步骤。但要注意两点：</a:t>
            </a:r>
          </a:p>
          <a:p/>
          <a:p>
            <a:r>
              <a:t>- 检查步骤应该来自商品使用资料，不由模型临时编造。</a:t>
            </a:r>
          </a:p>
          <a:p>
            <a:r>
              <a:t>- 用户已经尝试过的操作，不应无理由要求反复操作。</a:t>
            </a:r>
          </a:p>
          <a:p/>
          <a:p>
            <a:r>
              <a:t>例如：</a:t>
            </a:r>
          </a:p>
          <a:p/>
          <a:p>
            <a:r>
              <a:t>&gt; 用户：“我已经重新连接过了，还是没有声音。”</a:t>
            </a:r>
          </a:p>
          <a:p/>
          <a:p>
            <a:r>
              <a:t>就可以记录为已尝试，而不是再回复一遍相同教程。</a:t>
            </a:r>
          </a:p>
          <a:p/>
          <a:p>
            <a:r>
              <a:t>这里的产品设计不只是“让模型会追问”，还包括：</a:t>
            </a:r>
          </a:p>
          <a:p/>
          <a:p>
            <a:r>
              <a:t>**哪些问题必须问、哪些条件下才问、用户回答后怎样记录，以及什么时候停止追问。**</a:t>
            </a:r>
          </a:p>
          <a:p/>
          <a:p>
            <a:r>
              <a:t>## 六、售后知识库里应该准备什么</a:t>
            </a:r>
          </a:p>
          <a:p/>
          <a:p>
            <a:r>
              <a:t>现在需要查询售后要求。</a:t>
            </a:r>
          </a:p>
          <a:p/>
          <a:p>
            <a:r>
              <a:t>这里不能只放一份笼统的“支持退换货”说明。系统需要知道这份要求适用于什么商品、什么问题，以及下一步应该怎样处理。</a:t>
            </a:r>
          </a:p>
          <a:p/>
          <a:p>
            <a:r>
              <a:t>我们可以准备下面几类教学材料：</a:t>
            </a:r>
          </a:p>
          <a:p/>
          <a:p>
            <a:r>
              <a:t>| 材料 | 主要内容 | 在流程中的用途 |</a:t>
            </a:r>
          </a:p>
          <a:p>
            <a:r>
              <a:t>|---|---|---|</a:t>
            </a:r>
          </a:p>
          <a:p>
            <a:r>
              <a:t>| 商品使用与故障排查说明 | 型号、常见问题、基础检查步骤 | 帮助理解故障和提供使用指导 |</a:t>
            </a:r>
          </a:p>
          <a:p>
            <a:r>
              <a:t>| 售后申请受理指引 | 适用商品、问题类型、材料要求 | 确定申请需要收集什么 |</a:t>
            </a:r>
          </a:p>
          <a:p>
            <a:r>
              <a:t>| 售后处理流程说明 | 提交、审核、检测、后续通知 | 解释当前状态和下一步 |</a:t>
            </a:r>
          </a:p>
          <a:p>
            <a:r>
              <a:t>| 特殊情况处理说明 | 政策冲突、重复申请、异常订单等 | 确定何时转人工 |</a:t>
            </a:r>
          </a:p>
          <a:p/>
          <a:p>
            <a:r>
              <a:t>以一条教学知识为例：</a:t>
            </a:r>
          </a:p>
          <a:p/>
          <a:p>
            <a:r>
              <a:t>&gt; **标题：AirLite 耳机单侧无声问题的售后申请指引**  </a:t>
            </a:r>
          </a:p>
          <a:p>
            <a:r>
              <a:t>&gt; 适用商品：AirLite 系列耳机。  </a:t>
            </a:r>
          </a:p>
          <a:p>
            <a:r>
              <a:t>&gt; 问题类型：单侧无声。  </a:t>
            </a:r>
          </a:p>
          <a:p>
            <a:r>
              <a:t>&gt; 受理要求：确认订单、故障表现及已尝试的基础检查；按申请入口要求补充材料。  </a:t>
            </a:r>
          </a:p>
          <a:p>
            <a:r>
              <a:t>&gt; 处理说明：可提交售后申请，最终处理结果由审核或检测环节确认。  </a:t>
            </a:r>
          </a:p>
          <a:p>
            <a:r>
              <a:t>&gt; 文档状态：已发布。  </a:t>
            </a:r>
          </a:p>
          <a:p>
            <a:r>
              <a:t>&gt; 版本：教学版 V1。</a:t>
            </a:r>
          </a:p>
          <a:p/>
          <a:p>
            <a:r>
              <a:t>这段内容不是实际售后政策，而是用于说明知识应该怎样组织。</a:t>
            </a:r>
          </a:p>
          <a:p/>
          <a:p>
            <a:r>
              <a:t>### 检索时，不只看文字相似</a:t>
            </a:r>
          </a:p>
          <a:p/>
          <a:p>
            <a:r>
              <a:t>用户问的是 AirLite 耳机，不能因为“没有声音”很相似，就把另一款音箱的售后说明拿来回答。</a:t>
            </a:r>
          </a:p>
          <a:p/>
          <a:p>
            <a:r>
              <a:t>检索时需要利用已确认的信息：</a:t>
            </a:r>
          </a:p>
          <a:p/>
          <a:p>
            <a:r>
              <a:t>- 商品型号。</a:t>
            </a:r>
          </a:p>
          <a:p>
            <a:r>
              <a:t>- 故障类型。</a:t>
            </a:r>
          </a:p>
          <a:p>
            <a:r>
              <a:t>- 用户诉求。</a:t>
            </a:r>
          </a:p>
          <a:p>
            <a:r>
              <a:t>- 文档是否有效。</a:t>
            </a:r>
          </a:p>
          <a:p>
            <a:r>
              <a:t>- 适用的店铺或业务范围。</a:t>
            </a:r>
          </a:p>
          <a:p/>
          <a:p>
            <a:r>
              <a:t>这些可以作为检索条件或结果校验条件。</a:t>
            </a:r>
          </a:p>
          <a:p/>
          <a:p>
            <a:r>
              <a:t>如果材料中有多个版本，还要明确哪些已经失效，不能让模型在两份冲突政策之间随意选一份。</a:t>
            </a:r>
          </a:p>
          <a:p/>
          <a:p>
            <a:r>
              <a:t>### 看一眼模型实际拿到了什么</a:t>
            </a:r>
          </a:p>
          <a:p/>
          <a:p>
            <a:r>
              <a:t>课堂上，这里应该展示检索结果，而不是只展示最终回答。</a:t>
            </a:r>
          </a:p>
          <a:p/>
          <a:p>
            <a:r>
              <a:t>我们需要检查：</a:t>
            </a:r>
          </a:p>
          <a:p/>
          <a:p>
            <a:r>
              <a:t>- 是否找到了对应型号的材料。</a:t>
            </a:r>
          </a:p>
          <a:p>
            <a:r>
              <a:t>- 返回的片段是否包含当前需要的内容。</a:t>
            </a:r>
          </a:p>
          <a:p>
            <a:r>
              <a:t>- 有没有把重要前提切掉。</a:t>
            </a:r>
          </a:p>
          <a:p>
            <a:r>
              <a:t>- 是否混入不相关或过期内容。</a:t>
            </a:r>
          </a:p>
          <a:p/>
          <a:p>
            <a:r>
              <a:t>如果检索结果本身不对，后面再精心调整回复语气，也解决不了业务错误。</a:t>
            </a:r>
          </a:p>
          <a:p/>
          <a:p>
            <a:r>
              <a:t>## 七、知识库、规则和模型分别负责什么</a:t>
            </a:r>
          </a:p>
          <a:p/>
          <a:p>
            <a:r>
              <a:t>到这一步，很容易产生一个误解：</a:t>
            </a:r>
          </a:p>
          <a:p/>
          <a:p>
            <a:r>
              <a:t>&gt; “既然已经把售后政策交给大模型，那是不是让它决定能不能换就好了？”</a:t>
            </a:r>
          </a:p>
          <a:p/>
          <a:p>
            <a:r>
              <a:t>不能笼统地这样处理。</a:t>
            </a:r>
          </a:p>
          <a:p/>
          <a:p>
            <a:r>
              <a:t>我们沿着当前案例区分一下：</a:t>
            </a:r>
          </a:p>
          <a:p/>
          <a:p>
            <a:r>
              <a:t>| 工作 | 主要负责方 |</a:t>
            </a:r>
          </a:p>
          <a:p>
            <a:r>
              <a:t>|---|---|</a:t>
            </a:r>
          </a:p>
          <a:p>
            <a:r>
              <a:t>| 理解“右边没声音，想换一个” | 大模型 |</a:t>
            </a:r>
          </a:p>
          <a:p>
            <a:r>
              <a:t>| 确认购买商品和签收信息 | 订单系统 |</a:t>
            </a:r>
          </a:p>
          <a:p>
            <a:r>
              <a:t>| 找到适用的申请要求 | 知识检索与适用范围校验 |</a:t>
            </a:r>
          </a:p>
          <a:p>
            <a:r>
              <a:t>| 检查必要字段是否齐全 | 明确的字段规则 |</a:t>
            </a:r>
          </a:p>
          <a:p>
            <a:r>
              <a:t>| 检查是否已有同类未完成申请 | 售后系统与业务规则 |</a:t>
            </a:r>
          </a:p>
          <a:p>
            <a:r>
              <a:t>| 根据缺失信息生成自然追问 | 大模型 |</a:t>
            </a:r>
          </a:p>
          <a:p>
            <a:r>
              <a:t>| 提交售后申请 | 业务接口 |</a:t>
            </a:r>
          </a:p>
          <a:p>
            <a:r>
              <a:t>| 对特殊情况作最终处理决定 | 有相应权限的业务人员或系统 |</a:t>
            </a:r>
          </a:p>
          <a:p/>
          <a:p>
            <a:r>
              <a:t>这里要区分两个动作：</a:t>
            </a:r>
          </a:p>
          <a:p/>
          <a:p>
            <a:r>
              <a:t>- **解释规则**：把适用要求说明白。</a:t>
            </a:r>
          </a:p>
          <a:p>
            <a:r>
              <a:t>- **执行规则**：根据准确字段和确定条件作出处理。</a:t>
            </a:r>
          </a:p>
          <a:p/>
          <a:p>
            <a:r>
              <a:t>例如，是否存在一份重复申请，应该查询售后记录，不能让模型猜。</a:t>
            </a:r>
          </a:p>
          <a:p/>
          <a:p>
            <a:r>
              <a:t>是否允许进入申请流程，也应由明确的受理规则或售后系统判断。模型可以解释结果，但不能绕过限制。</a:t>
            </a:r>
          </a:p>
          <a:p/>
          <a:p>
            <a:r>
              <a:t>## 八、把已收集的信息整理成申请确认页</a:t>
            </a:r>
          </a:p>
          <a:p/>
          <a:p>
            <a:r>
              <a:t>假设现在已经确认：</a:t>
            </a:r>
          </a:p>
          <a:p/>
          <a:p>
            <a:r>
              <a:t>- 订单：DEMO-101。</a:t>
            </a:r>
          </a:p>
          <a:p>
            <a:r>
              <a:t>- 商品：AirLite 蓝牙耳机，白色。</a:t>
            </a:r>
          </a:p>
          <a:p>
            <a:r>
              <a:t>- 诉求：换货。</a:t>
            </a:r>
          </a:p>
          <a:p>
            <a:r>
              <a:t>- 故障：右侧没有声音，收到时就存在。</a:t>
            </a:r>
          </a:p>
          <a:p>
            <a:r>
              <a:t>- 已尝试操作：重新连接，问题仍然存在。</a:t>
            </a:r>
          </a:p>
          <a:p>
            <a:r>
              <a:t>- 所需材料：已按教学流程补充。</a:t>
            </a:r>
          </a:p>
          <a:p/>
          <a:p>
            <a:r>
              <a:t>接下来，不应该直接提交，而是让用户确认。</a:t>
            </a:r>
          </a:p>
          <a:p/>
          <a:p>
            <a:r>
              <a:t>页面可以展示：</a:t>
            </a:r>
          </a:p>
          <a:p/>
          <a:p>
            <a:r>
              <a:t>&gt; **请确认本次售后申请**</a:t>
            </a:r>
          </a:p>
          <a:p>
            <a:r>
              <a:t>&gt;</a:t>
            </a:r>
          </a:p>
          <a:p>
            <a:r>
              <a:t>&gt; 商品：AirLite 蓝牙耳机，白色  </a:t>
            </a:r>
          </a:p>
          <a:p>
            <a:r>
              <a:t>&gt; 订单：DEMO-101  </a:t>
            </a:r>
          </a:p>
          <a:p>
            <a:r>
              <a:t>&gt; 申请类型：换货  </a:t>
            </a:r>
          </a:p>
          <a:p>
            <a:r>
              <a:t>&gt; 问题描述：收到后右侧无声，重新连接后仍未恢复  </a:t>
            </a:r>
          </a:p>
          <a:p>
            <a:r>
              <a:t>&gt; 补充材料：已添加  </a:t>
            </a:r>
          </a:p>
          <a:p>
            <a:r>
              <a:t>&gt;</a:t>
            </a:r>
          </a:p>
          <a:p>
            <a:r>
              <a:t>&gt; 提交后进入售后审核，最终处理结果以审核通知为准。</a:t>
            </a:r>
          </a:p>
          <a:p>
            <a:r>
              <a:t>&gt;</a:t>
            </a:r>
          </a:p>
          <a:p>
            <a:r>
              <a:t>&gt; 【确认提交】　【修改信息】</a:t>
            </a:r>
          </a:p>
          <a:p/>
          <a:p>
            <a:r>
              <a:t>这个页面有两个作用：</a:t>
            </a:r>
          </a:p>
          <a:p/>
          <a:p>
            <a:r>
              <a:t>第一，让用户看到系统究竟理解成了什么，及时纠正。</a:t>
            </a:r>
          </a:p>
          <a:p/>
          <a:p>
            <a:r>
              <a:t>第二，把自然语言交流转成明确的业务操作。</a:t>
            </a:r>
          </a:p>
          <a:p/>
          <a:p>
            <a:r>
              <a:t>用户前面说“我想换一个”，表达了处理意愿；确认页则让他核对即将提交的具体内容。</a:t>
            </a:r>
          </a:p>
          <a:p/>
          <a:p>
            <a:r>
              <a:t>### 如果用户这时改口怎么办</a:t>
            </a:r>
          </a:p>
          <a:p/>
          <a:p>
            <a:r>
              <a:t>&gt; “算了，我想退货，不换了。”</a:t>
            </a:r>
          </a:p>
          <a:p/>
          <a:p>
            <a:r>
              <a:t>系统需要更新申请类型，并重新检查退货路径是否需要不同的信息或处理要求。</a:t>
            </a:r>
          </a:p>
          <a:p/>
          <a:p>
            <a:r>
              <a:t>可以保留已经核实的订单和故障，但不能沿用旧的“换货确认”直接提交。</a:t>
            </a:r>
          </a:p>
          <a:p/>
          <a:p>
            <a:r>
              <a:t>**修改关键申请内容后，之前的确认应当失效，需要重新确认。**</a:t>
            </a:r>
          </a:p>
          <a:p/>
          <a:p>
            <a:r>
              <a:t>## 九、模拟提交后，按真实结果回复</a:t>
            </a:r>
          </a:p>
          <a:p/>
          <a:p>
            <a:r>
              <a:t>假设当前教学工具支持模拟提交：</a:t>
            </a:r>
          </a:p>
          <a:p/>
          <a:p>
            <a:r>
              <a:t>```text</a:t>
            </a:r>
          </a:p>
          <a:p>
            <a:r>
              <a:t>工具：提交售后申请</a:t>
            </a:r>
          </a:p>
          <a:p/>
          <a:p>
            <a:r>
              <a:t>输入：</a:t>
            </a:r>
          </a:p>
          <a:p>
            <a:r>
              <a:t>- 已确认订单</a:t>
            </a:r>
          </a:p>
          <a:p>
            <a:r>
              <a:t>- 申请类型</a:t>
            </a:r>
          </a:p>
          <a:p>
            <a:r>
              <a:t>- 故障描述</a:t>
            </a:r>
          </a:p>
          <a:p>
            <a:r>
              <a:t>- 必要材料</a:t>
            </a:r>
          </a:p>
          <a:p>
            <a:r>
              <a:t>- 本次申请请求标识</a:t>
            </a:r>
          </a:p>
          <a:p/>
          <a:p>
            <a:r>
              <a:t>检查：</a:t>
            </a:r>
          </a:p>
          <a:p>
            <a:r>
              <a:t>- 当前用户是否有权操作该订单</a:t>
            </a:r>
          </a:p>
          <a:p>
            <a:r>
              <a:t>- 字段是否完整</a:t>
            </a:r>
          </a:p>
          <a:p>
            <a:r>
              <a:t>- 是否满足受理要求</a:t>
            </a:r>
          </a:p>
          <a:p>
            <a:r>
              <a:t>- 是否存在重复申请</a:t>
            </a:r>
          </a:p>
          <a:p/>
          <a:p>
            <a:r>
              <a:t>输出：</a:t>
            </a:r>
          </a:p>
          <a:p>
            <a:r>
              <a:t>- 是否成功受理</a:t>
            </a:r>
          </a:p>
          <a:p>
            <a:r>
              <a:t>- 申请编号</a:t>
            </a:r>
          </a:p>
          <a:p>
            <a:r>
              <a:t>- 当前状态</a:t>
            </a:r>
          </a:p>
          <a:p>
            <a:r>
              <a:t>- 失败原因（如有）</a:t>
            </a:r>
          </a:p>
          <a:p>
            <a:r>
              <a:t>```</a:t>
            </a:r>
          </a:p>
          <a:p/>
          <a:p>
            <a:r>
              <a:t>模拟成功结果：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"accepted": true,</a:t>
            </a:r>
          </a:p>
          <a:p>
            <a:r>
              <a:t>  "application_id": "AS-DEMO-001",</a:t>
            </a:r>
          </a:p>
          <a:p>
            <a:r>
              <a:t>  "status": "pending_review"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此时回复应该是：</a:t>
            </a:r>
          </a:p>
          <a:p/>
          <a:p>
            <a:r>
              <a:t>&gt; “换货申请已提交，申请编号为 AS-DEMO-001，目前等待审核。您可以在售后记录中查看后续进度。”</a:t>
            </a:r>
          </a:p>
          <a:p/>
          <a:p>
            <a:r>
              <a:t>而不是：</a:t>
            </a:r>
          </a:p>
          <a:p/>
          <a:p>
            <a:r>
              <a:t>&gt; “换货已经批准，新耳机马上寄出。”</a:t>
            </a:r>
          </a:p>
          <a:p/>
          <a:p>
            <a:r>
              <a:t>### 如果提交超时</a:t>
            </a:r>
          </a:p>
          <a:p/>
          <a:p>
            <a:r>
              <a:t>这里尤其要小心。</a:t>
            </a:r>
          </a:p>
          <a:p/>
          <a:p>
            <a:r>
              <a:t>超时可能是申请没有提交成功，也可能是已经提交，但响应没有返回。</a:t>
            </a:r>
          </a:p>
          <a:p/>
          <a:p>
            <a:r>
              <a:t>因此不能立刻让模型再提交一次。系统应利用申请请求标识查询结果，或者通过防重复机制重试；仍无法确认时，明确告诉用户当前状态待确认，并提供后续处理方式。</a:t>
            </a:r>
          </a:p>
          <a:p/>
          <a:p>
            <a:r>
              <a:t>这是售后流程与普通问答的重要区别：**它可能改变业务数据，不能只关心最后一句话是否流畅。**</a:t>
            </a:r>
          </a:p>
          <a:p/>
          <a:p>
            <a:r>
              <a:t>## 十、投诉与特殊情况怎样处理</a:t>
            </a:r>
          </a:p>
          <a:p/>
          <a:p>
            <a:r>
              <a:t>同样进入售后分支的用户，可能说：</a:t>
            </a:r>
          </a:p>
          <a:p/>
          <a:p>
            <a:r>
              <a:t>&gt; “已经问了三次了，别再让我重新描述，找人工。”</a:t>
            </a:r>
          </a:p>
          <a:p/>
          <a:p>
            <a:r>
              <a:t>这时不应该机械地继续问故障、材料、订单等问题。</a:t>
            </a:r>
          </a:p>
          <a:p/>
          <a:p>
            <a:r>
              <a:t>可以复用前面已经收集的信息，转交人工，并说明正在交接。</a:t>
            </a:r>
          </a:p>
          <a:p/>
          <a:p>
            <a:r>
              <a:t>但如果用户只是说：</a:t>
            </a:r>
          </a:p>
          <a:p/>
          <a:p>
            <a:r>
              <a:t>&gt; “这个耳机太差了，我要换一个。”</a:t>
            </a:r>
          </a:p>
          <a:p/>
          <a:p>
            <a:r>
              <a:t>不必仅因为表达负面情绪，就立即停止所有自动处理。可以先承接明确的换货诉求，再根据业务条件和用户反馈决定是否升级人工。</a:t>
            </a:r>
          </a:p>
          <a:p/>
          <a:p>
            <a:r>
              <a:t>另外几类情况需要单独处理：</a:t>
            </a:r>
          </a:p>
          <a:p/>
          <a:p>
            <a:r>
              <a:t>- 找不到适用政策。</a:t>
            </a:r>
          </a:p>
          <a:p>
            <a:r>
              <a:t>- 两份有效资料存在冲突。</a:t>
            </a:r>
          </a:p>
          <a:p>
            <a:r>
              <a:t>- 用户要求超出当前权限的补偿。</a:t>
            </a:r>
          </a:p>
          <a:p>
            <a:r>
              <a:t>- 订单与售后系统状态不一致。</a:t>
            </a:r>
          </a:p>
          <a:p>
            <a:r>
              <a:t>- 当前问题无法通过既定流程继续处理。</a:t>
            </a:r>
          </a:p>
          <a:p/>
          <a:p>
            <a:r>
              <a:t>转人工时，应带上订单、诉求、故障信息、已尝试操作、已有申请及未解决原因。</a:t>
            </a:r>
          </a:p>
          <a:p/>
          <a:p>
            <a:r>
              <a:t>## 十一、用三组案例检查这条流程</a:t>
            </a:r>
          </a:p>
          <a:p/>
          <a:p>
            <a:r>
              <a:t>课堂不必把所有异常一次性运行完，先看三组代表情况。</a:t>
            </a:r>
          </a:p>
          <a:p/>
          <a:p>
            <a:r>
              <a:t>### 案例一：正常受理</a:t>
            </a:r>
          </a:p>
          <a:p/>
          <a:p>
            <a:r>
              <a:t>订单明确，政策适用，信息和材料完整，用户确认后模拟提交。</a:t>
            </a:r>
          </a:p>
          <a:p/>
          <a:p>
            <a:r>
              <a:t>检查是否正确返回“等待审核”，而不是“已经批准”。</a:t>
            </a:r>
          </a:p>
          <a:p/>
          <a:p>
            <a:r>
              <a:t>### 案例二：用户改变诉求</a:t>
            </a:r>
          </a:p>
          <a:p/>
          <a:p>
            <a:r>
              <a:t>换货申请确认前，用户改成退货。</a:t>
            </a:r>
          </a:p>
          <a:p/>
          <a:p>
            <a:r>
              <a:t>检查是否更新申请类型、重新检查要求，并再次确认；不能继续提交旧申请。</a:t>
            </a:r>
          </a:p>
          <a:p/>
          <a:p>
            <a:r>
              <a:t>### 案例三：缺少政策或提交结果不明</a:t>
            </a:r>
          </a:p>
          <a:p/>
          <a:p>
            <a:r>
              <a:t>检查系统是否停在合适的位置：</a:t>
            </a:r>
          </a:p>
          <a:p/>
          <a:p>
            <a:r>
              <a:t>- 不能因为缺少政策，就生成一份听起来合理的规则。</a:t>
            </a:r>
          </a:p>
          <a:p>
            <a:r>
              <a:t>- 不能因为提交超时，就宣称失败或成功。</a:t>
            </a:r>
          </a:p>
          <a:p>
            <a:r>
              <a:t>- 需要人工时，不能丢失已经收集的信息。</a:t>
            </a:r>
          </a:p>
          <a:p/>
          <a:p>
            <a:r>
              <a:t>这几组案例分别检查：正常流程能否完成、对话变化能否接住、异常时能否可靠处理。</a:t>
            </a:r>
          </a:p>
          <a:p/>
          <a:p>
            <a:r>
              <a:t>## 十二、本节完成了什么</a:t>
            </a:r>
          </a:p>
          <a:p/>
          <a:p>
            <a:r>
              <a:t>我们已经把用户的一句换货请求，拆成了具体的售后过程：</a:t>
            </a:r>
          </a:p>
          <a:p/>
          <a:p>
            <a:r>
              <a:t>**确认订单 → 了解故障与诉求 → 查询适用要求 → 补齐信息 → 用户确认 → 引导申请或模拟提交 → 返回实际状态。**</a:t>
            </a:r>
          </a:p>
          <a:p/>
          <a:p>
            <a:r>
              <a:t>知乎的售后子工作流帮助我们组织处理路径；亚慧的工单助手帮助我们进一步看清字段检查、追问、确认和执行之间的关系。</a:t>
            </a:r>
          </a:p>
          <a:p/>
          <a:p>
            <a:r>
              <a:t>下一节，我们转向购买前的需求：**商品推荐与闲聊兜底**。</a:t>
            </a:r>
          </a:p>
          <a:p/>
          <a:p>
            <a:r>
              <a:t>用户不再要求处理已有订单，而是说：</a:t>
            </a:r>
          </a:p>
          <a:p/>
          <a:p>
            <a:r>
              <a:t>&gt; “想买个通勤用的耳机，预算三百以内。”</a:t>
            </a:r>
          </a:p>
          <a:p/>
          <a:p>
            <a:r>
              <a:t>我们会看这条路径与订单查询、售后处理有哪些共通之处，又有哪些不同。</a:t>
            </a:r>
          </a:p>
          <a:p/>
          <a:p>
            <a:r>
              <a:t>---</a:t>
            </a:r>
          </a:p>
          <a:p/>
          <a:p>
            <a:r>
              <a:t>**素材说明：**售后分支结构参考知乎第 7 课客服项目；字段补齐、确认及工具执行参考亚慧讲义第 6.4 节，多轮信息更新参考第 4.22 节。具体政策、数据、接口和测试案例为本课程教学设计，模拟提交属于补充方案，尚未运行验证。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先讲清问政策、具体咨询和申请处理的差别，再讲范围边界。</a:t>
            </a:r>
          </a:p>
          <a:p/>
          <a:p>
            <a:r>
              <a:t>先看三句话：</a:t>
            </a:r>
          </a:p>
          <a:p/>
          <a:p>
            <a:r>
              <a:t>&gt; ①“耳机坏了能换吗？”  </a:t>
            </a:r>
          </a:p>
          <a:p>
            <a:r>
              <a:t>&gt; ②“我买的耳机右边没有声音，能换吗？”  </a:t>
            </a:r>
          </a:p>
          <a:p>
            <a:r>
              <a:t>&gt; ③“我买的耳机右边没有声音，帮我申请换货。”</a:t>
            </a:r>
          </a:p>
          <a:p/>
          <a:p>
            <a:r>
              <a:t>这三句话都与换货有关，但系统下一步不应该完全一样。</a:t>
            </a:r>
          </a:p>
          <a:p/>
          <a:p>
            <a:r>
              <a:t>| 用户表达 | 当前需要做什么 |</a:t>
            </a:r>
          </a:p>
          <a:p>
            <a:r>
              <a:t>|---|---|</a:t>
            </a:r>
          </a:p>
          <a:p>
            <a:r>
              <a:t>| 泛泛询问换货政策 | 解释适用条件，必要时确认商品或问题类型 |</a:t>
            </a:r>
          </a:p>
          <a:p>
            <a:r>
              <a:t>| 询问自己的商品能否换货 | 结合订单、故障和适用政策继续确认 |</a:t>
            </a:r>
          </a:p>
          <a:p>
            <a:r>
              <a:t>| 明确要求申请换货 | 收集申请所需信息，引导确认和提交 |</a:t>
            </a:r>
          </a:p>
          <a:p/>
          <a:p>
            <a:r>
              <a:t>第一种情况，不一定需要一上来就要求用户提供订单和图片。</a:t>
            </a:r>
          </a:p>
          <a:p/>
          <a:p>
            <a:r>
              <a:t>第三种情况，如果系统仍然只返回一段政策，也没有完成用户的需求。</a:t>
            </a:r>
          </a:p>
          <a:p/>
          <a:p>
            <a:r>
              <a:t>因此，进入售后分支以后，还需要进一步理解：</a:t>
            </a:r>
          </a:p>
          <a:p/>
          <a:p>
            <a:r>
              <a:t>**用户是在了解规则，还是希望处理自己的问题？目前的信息足不足以继续？**</a:t>
            </a:r>
          </a:p>
          <a:p/>
          <a:p>
            <a:r>
              <a:t>本节重点处理第三种情况。</a:t>
            </a:r>
          </a:p>
          <a:p/>
          <a:p>
            <a:r>
              <a:t>我们先把当前版本的服务范围说清楚。</a:t>
            </a:r>
          </a:p>
          <a:p/>
          <a:p>
            <a:r>
              <a:t>这条流程可以：</a:t>
            </a:r>
          </a:p>
          <a:p/>
          <a:p>
            <a:r>
              <a:t>- 确认对应订单和商品。</a:t>
            </a:r>
          </a:p>
          <a:p>
            <a:r>
              <a:t>- 了解故障以及用户希望的处理方式。</a:t>
            </a:r>
          </a:p>
          <a:p>
            <a:r>
              <a:t>- 查询适用的售后要求。</a:t>
            </a:r>
          </a:p>
          <a:p>
            <a:r>
              <a:t>- 收集必要材料。</a:t>
            </a:r>
          </a:p>
          <a:p>
            <a:r>
              <a:t>- 生成申请内容供用户确认。</a:t>
            </a:r>
          </a:p>
          <a:p>
            <a:r>
              <a:t>- 引导进入申请入口，或在模拟环境中提交申请。</a:t>
            </a:r>
          </a:p>
          <a:p>
            <a:r>
              <a:t>- 特殊情况交给人工处理。</a:t>
            </a:r>
          </a:p>
          <a:p/>
          <a:p>
            <a:r>
              <a:t>但它不直接完成以下事情：</a:t>
            </a:r>
          </a:p>
          <a:p/>
          <a:p>
            <a:r>
              <a:t>- 判断商品一定存在质量问题。</a:t>
            </a:r>
          </a:p>
          <a:p>
            <a:r>
              <a:t>- 批准所有换货请求。</a:t>
            </a:r>
          </a:p>
          <a:p>
            <a:r>
              <a:t>- 自动退款或决定赔偿金额。</a:t>
            </a:r>
          </a:p>
          <a:p>
            <a:r>
              <a:t>- 承诺换货一定通过、什么时候寄出。</a:t>
            </a:r>
          </a:p>
          <a:p/>
          <a:p>
            <a:r>
              <a:t>这里最重要的区别是：</a:t>
            </a:r>
          </a:p>
          <a:p/>
          <a:p>
            <a:r>
              <a:t>**受理申请，不等于批准申请。**</a:t>
            </a:r>
          </a:p>
          <a:p/>
          <a:p>
            <a:r>
              <a:t>用户提交了一份换货申请，系统可以告诉他“已提交，等待审核”。如果后面还需要人工审核或商品检测，就不能说“换货已通过”。</a:t>
            </a:r>
          </a:p>
          <a:p/>
          <a:p>
            <a:r>
              <a:t>为了看清完整过程，本节会展示模拟提交的设计。它是借鉴亚慧工单助手后补充的教学环节，不代表我们已经接入真实商家的售后系统。</a:t>
            </a:r>
          </a:p>
          <a:p/>
          <a:p>
            <a:r>
              <a:t>```text</a:t>
            </a:r>
          </a:p>
          <a:p>
            <a:r>
              <a:t>用户提出售后问题</a:t>
            </a:r>
          </a:p>
          <a:p>
            <a:r>
              <a:t>        ↓</a:t>
            </a:r>
          </a:p>
          <a:p>
            <a:r>
              <a:t>判断是政策咨询，还是具体处理请求</a:t>
            </a:r>
          </a:p>
          <a:p>
            <a:r>
              <a:t>        ↓</a:t>
            </a:r>
          </a:p>
          <a:p>
            <a:r>
              <a:t>确认订单和商品</a:t>
            </a:r>
          </a:p>
          <a:p>
            <a:r>
              <a:t>        ↓</a:t>
            </a:r>
          </a:p>
          <a:p>
            <a:r>
              <a:t>识别诉求，收集必要的故障信息</a:t>
            </a:r>
          </a:p>
          <a:p>
            <a:r>
              <a:t>        ↓</a:t>
            </a:r>
          </a:p>
          <a:p>
            <a:r>
              <a:t>查询适用政策，检查基础条件</a:t>
            </a:r>
          </a:p>
          <a:p>
            <a:r>
              <a:t>        ↓</a:t>
            </a:r>
          </a:p>
          <a:p>
            <a:r>
              <a:t>补充材料，整理申请内容</a:t>
            </a:r>
          </a:p>
          <a:p>
            <a:r>
              <a:t>        ↓</a:t>
            </a:r>
          </a:p>
          <a:p>
            <a:r>
              <a:t>用户确认</a:t>
            </a:r>
          </a:p>
          <a:p>
            <a:r>
              <a:t>        ↓</a:t>
            </a:r>
          </a:p>
          <a:p>
            <a:r>
              <a:t>进入申请入口／模拟提交申请</a:t>
            </a:r>
          </a:p>
          <a:p>
            <a:r>
              <a:t>        ↓</a:t>
            </a:r>
          </a:p>
          <a:p>
            <a:r>
              <a:t>返回实际处理状态</a:t>
            </a:r>
          </a:p>
          <a:p>
            <a:r>
              <a:t>```</a:t>
            </a:r>
          </a:p>
          <a:p/>
          <a:p>
            <a:r>
              <a:t>在这条流程中，如果出现政策冲突、无法确认的信息、特殊要求或用户明确要求人工，就进入人工处理路径。</a:t>
            </a:r>
          </a:p>
          <a:p/>
          <a:p>
            <a:r>
              <a:t>下面逐步展开。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讲解复用信息、缺失字段、售后知识材料和模型/规则/系统/人工分工。</a:t>
            </a:r>
          </a:p>
          <a:p/>
          <a:p>
            <a:r>
              <a:t>用户说：</a:t>
            </a:r>
          </a:p>
          <a:p/>
          <a:p>
            <a:r>
              <a:t>&gt; “耳机收到了，但是右边没有声音，我想换一个。”</a:t>
            </a:r>
          </a:p>
          <a:p/>
          <a:p>
            <a:r>
              <a:t>这句话已经提供了三项信息：</a:t>
            </a:r>
          </a:p>
          <a:p/>
          <a:p>
            <a:r>
              <a:t>- 商品出现了声音故障。</a:t>
            </a:r>
          </a:p>
          <a:p>
            <a:r>
              <a:t>- 问题发生在右侧。</a:t>
            </a:r>
          </a:p>
          <a:p>
            <a:r>
              <a:t>- 用户希望换货。</a:t>
            </a:r>
          </a:p>
          <a:p/>
          <a:p>
            <a:r>
              <a:t>这些信息应该先保留下来，不要确认完订单后再问：</a:t>
            </a:r>
          </a:p>
          <a:p/>
          <a:p>
            <a:r>
              <a:t>&gt; “请问您的商品出现了什么问题？”  </a:t>
            </a:r>
          </a:p>
          <a:p>
            <a:r>
              <a:t>&gt; “您是想退款还是换货？”</a:t>
            </a:r>
          </a:p>
          <a:p/>
          <a:p>
            <a:r>
              <a:t>如果当前会话已经确认了订单，可以继续使用；如果没有，就复用上一节的订单选择流程。</a:t>
            </a:r>
          </a:p>
          <a:p/>
          <a:p>
            <a:r>
              <a:t>假设用户选中了：</a:t>
            </a:r>
          </a:p>
          <a:p/>
          <a:p>
            <a:r>
              <a:t>&gt; DEMO-101｜AirLite 蓝牙耳机｜白色｜9 月 4 日签收。</a:t>
            </a:r>
          </a:p>
          <a:p/>
          <a:p>
            <a:r>
              <a:t>系统现在可以整理出：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"order_id": "DEMO-101",</a:t>
            </a:r>
          </a:p>
          <a:p>
            <a:r>
              <a:t>  "requested_action": "exchange",</a:t>
            </a:r>
          </a:p>
          <a:p>
            <a:r>
              <a:t>  "issue_description": "右侧耳机没有声音",</a:t>
            </a:r>
          </a:p>
          <a:p>
            <a:r>
              <a:t>  "issue_start": null,</a:t>
            </a:r>
          </a:p>
          <a:p>
            <a:r>
              <a:t>  "materials": [],</a:t>
            </a:r>
          </a:p>
          <a:p>
            <a:r>
              <a:t>  "confirmed": false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这里仍然缺少的信息，要根据后面的处理要求来判断。</a:t>
            </a:r>
          </a:p>
          <a:p/>
          <a:p>
            <a:r>
              <a:t>**不是把所有字段都问一遍，而是先利用已有信息，再询问真正缺少的部分。**</a:t>
            </a:r>
          </a:p>
          <a:p/>
          <a:p>
            <a:r>
              <a:t>先让学员选择：</a:t>
            </a:r>
          </a:p>
          <a:p/>
          <a:p>
            <a:r>
              <a:t>&gt; 订单已经确认，用户也说了右侧没有声音。下面哪种做法更合适？</a:t>
            </a:r>
          </a:p>
          <a:p/>
          <a:p>
            <a:r>
              <a:t>**A.** 把完整售后表单的所有字段一次性发给用户。  </a:t>
            </a:r>
          </a:p>
          <a:p>
            <a:r>
              <a:t>**B.** 根据当前申请所缺的信息，继续问一个必要问题。  </a:t>
            </a:r>
          </a:p>
          <a:p>
            <a:r>
              <a:t>**C.** 直接生成换货申请，缺少的内容由模型补齐。</a:t>
            </a:r>
          </a:p>
          <a:p/>
          <a:p>
            <a:r>
              <a:t>当前选择 **B**。</a:t>
            </a:r>
          </a:p>
          <a:p/>
          <a:p>
            <a:r>
              <a:t>假设这类申请需要区分：收到时就存在问题，还是使用过程中出现问题。</a:t>
            </a:r>
          </a:p>
          <a:p/>
          <a:p>
            <a:r>
              <a:t>可以继续问：</a:t>
            </a:r>
          </a:p>
          <a:p/>
          <a:p>
            <a:r>
              <a:t>&gt; “请问右侧耳机是收到后一直没有声音，还是使用过程中才出现的？”</a:t>
            </a:r>
          </a:p>
          <a:p/>
          <a:p>
            <a:r>
              <a:t>用户回答：</a:t>
            </a:r>
          </a:p>
          <a:p/>
          <a:p>
            <a:r>
              <a:t>&gt; “收到就是这样。”</a:t>
            </a:r>
          </a:p>
          <a:p/>
          <a:p>
            <a:r>
              <a:t>系统记录后，不需要继续围绕这个问题反复追问。</a:t>
            </a:r>
          </a:p>
          <a:p/>
          <a:p>
            <a:r>
              <a:t>接下来，如果该型号的处理指引建议先确认左右耳是否正常连接，可以给出对应的基础检查步骤。但要注意两点：</a:t>
            </a:r>
          </a:p>
          <a:p/>
          <a:p>
            <a:r>
              <a:t>- 检查步骤应该来自商品使用资料，不由模型临时编造。</a:t>
            </a:r>
          </a:p>
          <a:p>
            <a:r>
              <a:t>- 用户已经尝试过的操作，不应无理由要求反复操作。</a:t>
            </a:r>
          </a:p>
          <a:p/>
          <a:p>
            <a:r>
              <a:t>例如：</a:t>
            </a:r>
          </a:p>
          <a:p/>
          <a:p>
            <a:r>
              <a:t>&gt; 用户：“我已经重新连接过了，还是没有声音。”</a:t>
            </a:r>
          </a:p>
          <a:p/>
          <a:p>
            <a:r>
              <a:t>就可以记录为已尝试，而不是再回复一遍相同教程。</a:t>
            </a:r>
          </a:p>
          <a:p/>
          <a:p>
            <a:r>
              <a:t>这里的产品设计不只是“让模型会追问”，还包括：</a:t>
            </a:r>
          </a:p>
          <a:p/>
          <a:p>
            <a:r>
              <a:t>**哪些问题必须问、哪些条件下才问、用户回答后怎样记录，以及什么时候停止追问。**</a:t>
            </a:r>
          </a:p>
          <a:p/>
          <a:p>
            <a:r>
              <a:t>现在需要查询售后要求。</a:t>
            </a:r>
          </a:p>
          <a:p/>
          <a:p>
            <a:r>
              <a:t>这里不能只放一份笼统的“支持退换货”说明。系统需要知道这份要求适用于什么商品、什么问题，以及下一步应该怎样处理。</a:t>
            </a:r>
          </a:p>
          <a:p/>
          <a:p>
            <a:r>
              <a:t>我们可以准备下面几类教学材料：</a:t>
            </a:r>
          </a:p>
          <a:p/>
          <a:p>
            <a:r>
              <a:t>| 材料 | 主要内容 | 在流程中的用途 |</a:t>
            </a:r>
          </a:p>
          <a:p>
            <a:r>
              <a:t>|---|---|---|</a:t>
            </a:r>
          </a:p>
          <a:p>
            <a:r>
              <a:t>| 商品使用与故障排查说明 | 型号、常见问题、基础检查步骤 | 帮助理解故障和提供使用指导 |</a:t>
            </a:r>
          </a:p>
          <a:p>
            <a:r>
              <a:t>| 售后申请受理指引 | 适用商品、问题类型、材料要求 | 确定申请需要收集什么 |</a:t>
            </a:r>
          </a:p>
          <a:p>
            <a:r>
              <a:t>| 售后处理流程说明 | 提交、审核、检测、后续通知 | 解释当前状态和下一步 |</a:t>
            </a:r>
          </a:p>
          <a:p>
            <a:r>
              <a:t>| 特殊情况处理说明 | 政策冲突、重复申请、异常订单等 | 确定何时转人工 |</a:t>
            </a:r>
          </a:p>
          <a:p/>
          <a:p>
            <a:r>
              <a:t>以一条教学知识为例：</a:t>
            </a:r>
          </a:p>
          <a:p/>
          <a:p>
            <a:r>
              <a:t>&gt; **标题：AirLite 耳机单侧无声问题的售后申请指引**  </a:t>
            </a:r>
          </a:p>
          <a:p>
            <a:r>
              <a:t>&gt; 适用商品：AirLite 系列耳机。  </a:t>
            </a:r>
          </a:p>
          <a:p>
            <a:r>
              <a:t>&gt; 问题类型：单侧无声。  </a:t>
            </a:r>
          </a:p>
          <a:p>
            <a:r>
              <a:t>&gt; 受理要求：确认订单、故障表现及已尝试的基础检查；按申请入口要求补充材料。  </a:t>
            </a:r>
          </a:p>
          <a:p>
            <a:r>
              <a:t>&gt; 处理说明：可提交售后申请，最终处理结果由审核或检测环节确认。  </a:t>
            </a:r>
          </a:p>
          <a:p>
            <a:r>
              <a:t>&gt; 文档状态：已发布。  </a:t>
            </a:r>
          </a:p>
          <a:p>
            <a:r>
              <a:t>&gt; 版本：教学版 V1。</a:t>
            </a:r>
          </a:p>
          <a:p/>
          <a:p>
            <a:r>
              <a:t>这段内容不是实际售后政策，而是用于说明知识应该怎样组织。</a:t>
            </a:r>
          </a:p>
          <a:p/>
          <a:p>
            <a:r>
              <a:t>### 检索时，不只看文字相似</a:t>
            </a:r>
          </a:p>
          <a:p/>
          <a:p>
            <a:r>
              <a:t>用户问的是 AirLite 耳机，不能因为“没有声音”很相似，就把另一款音箱的售后说明拿来回答。</a:t>
            </a:r>
          </a:p>
          <a:p/>
          <a:p>
            <a:r>
              <a:t>检索时需要利用已确认的信息：</a:t>
            </a:r>
          </a:p>
          <a:p/>
          <a:p>
            <a:r>
              <a:t>- 商品型号。</a:t>
            </a:r>
          </a:p>
          <a:p>
            <a:r>
              <a:t>- 故障类型。</a:t>
            </a:r>
          </a:p>
          <a:p>
            <a:r>
              <a:t>- 用户诉求。</a:t>
            </a:r>
          </a:p>
          <a:p>
            <a:r>
              <a:t>- 文档是否有效。</a:t>
            </a:r>
          </a:p>
          <a:p>
            <a:r>
              <a:t>- 适用的店铺或业务范围。</a:t>
            </a:r>
          </a:p>
          <a:p/>
          <a:p>
            <a:r>
              <a:t>这些可以作为检索条件或结果校验条件。</a:t>
            </a:r>
          </a:p>
          <a:p/>
          <a:p>
            <a:r>
              <a:t>如果材料中有多个版本，还要明确哪些已经失效，不能让模型在两份冲突政策之间随意选一份。</a:t>
            </a:r>
          </a:p>
          <a:p/>
          <a:p>
            <a:r>
              <a:t>### 看一眼模型实际拿到了什么</a:t>
            </a:r>
          </a:p>
          <a:p/>
          <a:p>
            <a:r>
              <a:t>课堂上，这里应该展示检索结果，而不是只展示最终回答。</a:t>
            </a:r>
          </a:p>
          <a:p/>
          <a:p>
            <a:r>
              <a:t>我们需要检查：</a:t>
            </a:r>
          </a:p>
          <a:p/>
          <a:p>
            <a:r>
              <a:t>- 是否找到了对应型号的材料。</a:t>
            </a:r>
          </a:p>
          <a:p>
            <a:r>
              <a:t>- 返回的片段是否包含当前需要的内容。</a:t>
            </a:r>
          </a:p>
          <a:p>
            <a:r>
              <a:t>- 有没有把重要前提切掉。</a:t>
            </a:r>
          </a:p>
          <a:p>
            <a:r>
              <a:t>- 是否混入不相关或过期内容。</a:t>
            </a:r>
          </a:p>
          <a:p/>
          <a:p>
            <a:r>
              <a:t>如果检索结果本身不对，后面再精心调整回复语气，也解决不了业务错误。</a:t>
            </a:r>
          </a:p>
          <a:p/>
          <a:p>
            <a:r>
              <a:t>到这一步，很容易产生一个误解：</a:t>
            </a:r>
          </a:p>
          <a:p/>
          <a:p>
            <a:r>
              <a:t>&gt; “既然已经把售后政策交给大模型，那是不是让它决定能不能换就好了？”</a:t>
            </a:r>
          </a:p>
          <a:p/>
          <a:p>
            <a:r>
              <a:t>不能笼统地这样处理。</a:t>
            </a:r>
          </a:p>
          <a:p/>
          <a:p>
            <a:r>
              <a:t>我们沿着当前案例区分一下：</a:t>
            </a:r>
          </a:p>
          <a:p/>
          <a:p>
            <a:r>
              <a:t>| 工作 | 主要负责方 |</a:t>
            </a:r>
          </a:p>
          <a:p>
            <a:r>
              <a:t>|---|---|</a:t>
            </a:r>
          </a:p>
          <a:p>
            <a:r>
              <a:t>| 理解“右边没声音，想换一个” | 大模型 |</a:t>
            </a:r>
          </a:p>
          <a:p>
            <a:r>
              <a:t>| 确认购买商品和签收信息 | 订单系统 |</a:t>
            </a:r>
          </a:p>
          <a:p>
            <a:r>
              <a:t>| 找到适用的申请要求 | 知识检索与适用范围校验 |</a:t>
            </a:r>
          </a:p>
          <a:p>
            <a:r>
              <a:t>| 检查必要字段是否齐全 | 明确的字段规则 |</a:t>
            </a:r>
          </a:p>
          <a:p>
            <a:r>
              <a:t>| 检查是否已有同类未完成申请 | 售后系统与业务规则 |</a:t>
            </a:r>
          </a:p>
          <a:p>
            <a:r>
              <a:t>| 根据缺失信息生成自然追问 | 大模型 |</a:t>
            </a:r>
          </a:p>
          <a:p>
            <a:r>
              <a:t>| 提交售后申请 | 业务接口 |</a:t>
            </a:r>
          </a:p>
          <a:p>
            <a:r>
              <a:t>| 对特殊情况作最终处理决定 | 有相应权限的业务人员或系统 |</a:t>
            </a:r>
          </a:p>
          <a:p/>
          <a:p>
            <a:r>
              <a:t>这里要区分两个动作：</a:t>
            </a:r>
          </a:p>
          <a:p/>
          <a:p>
            <a:r>
              <a:t>- **解释规则**：把适用要求说明白。</a:t>
            </a:r>
          </a:p>
          <a:p>
            <a:r>
              <a:t>- **执行规则**：根据准确字段和确定条件作出处理。</a:t>
            </a:r>
          </a:p>
          <a:p/>
          <a:p>
            <a:r>
              <a:t>例如，是否存在一份重复申请，应该查询售后记录，不能让模型猜。</a:t>
            </a:r>
          </a:p>
          <a:p/>
          <a:p>
            <a:r>
              <a:t>是否允许进入申请流程，也应由明确的受理规则或售后系统判断。模型可以解释结果，但不能绕过限制。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完整讲解确认页、修改失效、模拟提交、幂等与超时、投诉转人工和三组测试。</a:t>
            </a:r>
          </a:p>
          <a:p/>
          <a:p>
            <a:r>
              <a:t>假设现在已经确认：</a:t>
            </a:r>
          </a:p>
          <a:p/>
          <a:p>
            <a:r>
              <a:t>- 订单：DEMO-101。</a:t>
            </a:r>
          </a:p>
          <a:p>
            <a:r>
              <a:t>- 商品：AirLite 蓝牙耳机，白色。</a:t>
            </a:r>
          </a:p>
          <a:p>
            <a:r>
              <a:t>- 诉求：换货。</a:t>
            </a:r>
          </a:p>
          <a:p>
            <a:r>
              <a:t>- 故障：右侧没有声音，收到时就存在。</a:t>
            </a:r>
          </a:p>
          <a:p>
            <a:r>
              <a:t>- 已尝试操作：重新连接，问题仍然存在。</a:t>
            </a:r>
          </a:p>
          <a:p>
            <a:r>
              <a:t>- 所需材料：已按教学流程补充。</a:t>
            </a:r>
          </a:p>
          <a:p/>
          <a:p>
            <a:r>
              <a:t>接下来，不应该直接提交，而是让用户确认。</a:t>
            </a:r>
          </a:p>
          <a:p/>
          <a:p>
            <a:r>
              <a:t>页面可以展示：</a:t>
            </a:r>
          </a:p>
          <a:p/>
          <a:p>
            <a:r>
              <a:t>&gt; **请确认本次售后申请**</a:t>
            </a:r>
          </a:p>
          <a:p>
            <a:r>
              <a:t>&gt;</a:t>
            </a:r>
          </a:p>
          <a:p>
            <a:r>
              <a:t>&gt; 商品：AirLite 蓝牙耳机，白色  </a:t>
            </a:r>
          </a:p>
          <a:p>
            <a:r>
              <a:t>&gt; 订单：DEMO-101  </a:t>
            </a:r>
          </a:p>
          <a:p>
            <a:r>
              <a:t>&gt; 申请类型：换货  </a:t>
            </a:r>
          </a:p>
          <a:p>
            <a:r>
              <a:t>&gt; 问题描述：收到后右侧无声，重新连接后仍未恢复  </a:t>
            </a:r>
          </a:p>
          <a:p>
            <a:r>
              <a:t>&gt; 补充材料：已添加  </a:t>
            </a:r>
          </a:p>
          <a:p>
            <a:r>
              <a:t>&gt;</a:t>
            </a:r>
          </a:p>
          <a:p>
            <a:r>
              <a:t>&gt; 提交后进入售后审核，最终处理结果以审核通知为准。</a:t>
            </a:r>
          </a:p>
          <a:p>
            <a:r>
              <a:t>&gt;</a:t>
            </a:r>
          </a:p>
          <a:p>
            <a:r>
              <a:t>&gt; 【确认提交】　【修改信息】</a:t>
            </a:r>
          </a:p>
          <a:p/>
          <a:p>
            <a:r>
              <a:t>这个页面有两个作用：</a:t>
            </a:r>
          </a:p>
          <a:p/>
          <a:p>
            <a:r>
              <a:t>第一，让用户看到系统究竟理解成了什么，及时纠正。</a:t>
            </a:r>
          </a:p>
          <a:p/>
          <a:p>
            <a:r>
              <a:t>第二，把自然语言交流转成明确的业务操作。</a:t>
            </a:r>
          </a:p>
          <a:p/>
          <a:p>
            <a:r>
              <a:t>用户前面说“我想换一个”，表达了处理意愿；确认页则让他核对即将提交的具体内容。</a:t>
            </a:r>
          </a:p>
          <a:p/>
          <a:p>
            <a:r>
              <a:t>### 如果用户这时改口怎么办</a:t>
            </a:r>
          </a:p>
          <a:p/>
          <a:p>
            <a:r>
              <a:t>&gt; “算了，我想退货，不换了。”</a:t>
            </a:r>
          </a:p>
          <a:p/>
          <a:p>
            <a:r>
              <a:t>系统需要更新申请类型，并重新检查退货路径是否需要不同的信息或处理要求。</a:t>
            </a:r>
          </a:p>
          <a:p/>
          <a:p>
            <a:r>
              <a:t>可以保留已经核实的订单和故障，但不能沿用旧的“换货确认”直接提交。</a:t>
            </a:r>
          </a:p>
          <a:p/>
          <a:p>
            <a:r>
              <a:t>**修改关键申请内容后，之前的确认应当失效，需要重新确认。**</a:t>
            </a:r>
          </a:p>
          <a:p/>
          <a:p>
            <a:r>
              <a:t>假设当前教学工具支持模拟提交：</a:t>
            </a:r>
          </a:p>
          <a:p/>
          <a:p>
            <a:r>
              <a:t>```text</a:t>
            </a:r>
          </a:p>
          <a:p>
            <a:r>
              <a:t>工具：提交售后申请</a:t>
            </a:r>
          </a:p>
          <a:p/>
          <a:p>
            <a:r>
              <a:t>输入：</a:t>
            </a:r>
          </a:p>
          <a:p>
            <a:r>
              <a:t>- 已确认订单</a:t>
            </a:r>
          </a:p>
          <a:p>
            <a:r>
              <a:t>- 申请类型</a:t>
            </a:r>
          </a:p>
          <a:p>
            <a:r>
              <a:t>- 故障描述</a:t>
            </a:r>
          </a:p>
          <a:p>
            <a:r>
              <a:t>- 必要材料</a:t>
            </a:r>
          </a:p>
          <a:p>
            <a:r>
              <a:t>- 本次申请请求标识</a:t>
            </a:r>
          </a:p>
          <a:p/>
          <a:p>
            <a:r>
              <a:t>检查：</a:t>
            </a:r>
          </a:p>
          <a:p>
            <a:r>
              <a:t>- 当前用户是否有权操作该订单</a:t>
            </a:r>
          </a:p>
          <a:p>
            <a:r>
              <a:t>- 字段是否完整</a:t>
            </a:r>
          </a:p>
          <a:p>
            <a:r>
              <a:t>- 是否满足受理要求</a:t>
            </a:r>
          </a:p>
          <a:p>
            <a:r>
              <a:t>- 是否存在重复申请</a:t>
            </a:r>
          </a:p>
          <a:p/>
          <a:p>
            <a:r>
              <a:t>输出：</a:t>
            </a:r>
          </a:p>
          <a:p>
            <a:r>
              <a:t>- 是否成功受理</a:t>
            </a:r>
          </a:p>
          <a:p>
            <a:r>
              <a:t>- 申请编号</a:t>
            </a:r>
          </a:p>
          <a:p>
            <a:r>
              <a:t>- 当前状态</a:t>
            </a:r>
          </a:p>
          <a:p>
            <a:r>
              <a:t>- 失败原因（如有）</a:t>
            </a:r>
          </a:p>
          <a:p>
            <a:r>
              <a:t>```</a:t>
            </a:r>
          </a:p>
          <a:p/>
          <a:p>
            <a:r>
              <a:t>模拟成功结果：</a:t>
            </a:r>
          </a:p>
          <a:p/>
          <a:p>
            <a:r>
              <a:t>```json</a:t>
            </a:r>
          </a:p>
          <a:p>
            <a:r>
              <a:t>{</a:t>
            </a:r>
          </a:p>
          <a:p>
            <a:r>
              <a:t>  "accepted": true,</a:t>
            </a:r>
          </a:p>
          <a:p>
            <a:r>
              <a:t>  "application_id": "AS-DEMO-001",</a:t>
            </a:r>
          </a:p>
          <a:p>
            <a:r>
              <a:t>  "status": "pending_review"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此时回复应该是：</a:t>
            </a:r>
          </a:p>
          <a:p/>
          <a:p>
            <a:r>
              <a:t>&gt; “换货申请已提交，申请编号为 AS-DEMO-001，目前等待审核。您可以在售后记录中查看后续进度。”</a:t>
            </a:r>
          </a:p>
          <a:p/>
          <a:p>
            <a:r>
              <a:t>而不是：</a:t>
            </a:r>
          </a:p>
          <a:p/>
          <a:p>
            <a:r>
              <a:t>&gt; “换货已经批准，新耳机马上寄出。”</a:t>
            </a:r>
          </a:p>
          <a:p/>
          <a:p>
            <a:r>
              <a:t>### 如果提交超时</a:t>
            </a:r>
          </a:p>
          <a:p/>
          <a:p>
            <a:r>
              <a:t>这里尤其要小心。</a:t>
            </a:r>
          </a:p>
          <a:p/>
          <a:p>
            <a:r>
              <a:t>超时可能是申请没有提交成功，也可能是已经提交，但响应没有返回。</a:t>
            </a:r>
          </a:p>
          <a:p/>
          <a:p>
            <a:r>
              <a:t>因此不能立刻让模型再提交一次。系统应利用申请请求标识查询结果，或者通过防重复机制重试；仍无法确认时，明确告诉用户当前状态待确认，并提供后续处理方式。</a:t>
            </a:r>
          </a:p>
          <a:p/>
          <a:p>
            <a:r>
              <a:t>这是售后流程与普通问答的重要区别：**它可能改变业务数据，不能只关心最后一句话是否流畅。**</a:t>
            </a:r>
          </a:p>
          <a:p/>
          <a:p>
            <a:r>
              <a:t>同样进入售后分支的用户，可能说：</a:t>
            </a:r>
          </a:p>
          <a:p/>
          <a:p>
            <a:r>
              <a:t>&gt; “已经问了三次了，别再让我重新描述，找人工。”</a:t>
            </a:r>
          </a:p>
          <a:p/>
          <a:p>
            <a:r>
              <a:t>这时不应该机械地继续问故障、材料、订单等问题。</a:t>
            </a:r>
          </a:p>
          <a:p/>
          <a:p>
            <a:r>
              <a:t>可以复用前面已经收集的信息，转交人工，并说明正在交接。</a:t>
            </a:r>
          </a:p>
          <a:p/>
          <a:p>
            <a:r>
              <a:t>但如果用户只是说：</a:t>
            </a:r>
          </a:p>
          <a:p/>
          <a:p>
            <a:r>
              <a:t>&gt; “这个耳机太差了，我要换一个。”</a:t>
            </a:r>
          </a:p>
          <a:p/>
          <a:p>
            <a:r>
              <a:t>不必仅因为表达负面情绪，就立即停止所有自动处理。可以先承接明确的换货诉求，再根据业务条件和用户反馈决定是否升级人工。</a:t>
            </a:r>
          </a:p>
          <a:p/>
          <a:p>
            <a:r>
              <a:t>另外几类情况需要单独处理：</a:t>
            </a:r>
          </a:p>
          <a:p/>
          <a:p>
            <a:r>
              <a:t>- 找不到适用政策。</a:t>
            </a:r>
          </a:p>
          <a:p>
            <a:r>
              <a:t>- 两份有效资料存在冲突。</a:t>
            </a:r>
          </a:p>
          <a:p>
            <a:r>
              <a:t>- 用户要求超出当前权限的补偿。</a:t>
            </a:r>
          </a:p>
          <a:p>
            <a:r>
              <a:t>- 订单与售后系统状态不一致。</a:t>
            </a:r>
          </a:p>
          <a:p>
            <a:r>
              <a:t>- 当前问题无法通过既定流程继续处理。</a:t>
            </a:r>
          </a:p>
          <a:p/>
          <a:p>
            <a:r>
              <a:t>转人工时，应带上订单、诉求、故障信息、已尝试操作、已有申请及未解决原因。</a:t>
            </a:r>
          </a:p>
          <a:p/>
          <a:p>
            <a:r>
              <a:t>课堂不必把所有异常一次性运行完，先看三组代表情况。</a:t>
            </a:r>
          </a:p>
          <a:p/>
          <a:p>
            <a:r>
              <a:t>### 案例一：正常受理</a:t>
            </a:r>
          </a:p>
          <a:p/>
          <a:p>
            <a:r>
              <a:t>订单明确，政策适用，信息和材料完整，用户确认后模拟提交。</a:t>
            </a:r>
          </a:p>
          <a:p/>
          <a:p>
            <a:r>
              <a:t>检查是否正确返回“等待审核”，而不是“已经批准”。</a:t>
            </a:r>
          </a:p>
          <a:p/>
          <a:p>
            <a:r>
              <a:t>### 案例二：用户改变诉求</a:t>
            </a:r>
          </a:p>
          <a:p/>
          <a:p>
            <a:r>
              <a:t>换货申请确认前，用户改成退货。</a:t>
            </a:r>
          </a:p>
          <a:p/>
          <a:p>
            <a:r>
              <a:t>检查是否更新申请类型、重新检查要求，并再次确认；不能继续提交旧申请。</a:t>
            </a:r>
          </a:p>
          <a:p/>
          <a:p>
            <a:r>
              <a:t>### 案例三：缺少政策或提交结果不明</a:t>
            </a:r>
          </a:p>
          <a:p/>
          <a:p>
            <a:r>
              <a:t>检查系统是否停在合适的位置：</a:t>
            </a:r>
          </a:p>
          <a:p/>
          <a:p>
            <a:r>
              <a:t>- 不能因为缺少政策，就生成一份听起来合理的规则。</a:t>
            </a:r>
          </a:p>
          <a:p>
            <a:r>
              <a:t>- 不能因为提交超时，就宣称失败或成功。</a:t>
            </a:r>
          </a:p>
          <a:p>
            <a:r>
              <a:t>- 需要人工时，不能丢失已经收集的信息。</a:t>
            </a:r>
          </a:p>
          <a:p/>
          <a:p>
            <a:r>
              <a:t>这几组案例分别检查：正常流程能否完成、对话变化能否接住、异常时能否可靠处理。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/Users/keivn/Project/AI-Course/课程生产/第二阶段/04_第二课_电商智能客服项目实战_老师版完整讲义_v1.0.md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motif-loud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40080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978408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5F2E9"/>
                </a:solidFill>
                <a:latin typeface="Hiragino Sans GB"/>
                <a:ea typeface="Hiragino Sans GB"/>
              </a:rPr>
              <a:t>电商智能客服
项目实战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80944"/>
            <a:ext cx="804672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第二课｜从业务背景到订单查询与售后受理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3520440"/>
            <a:ext cx="192024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822191"/>
            <a:ext cx="859536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B5BC"/>
                </a:solidFill>
                <a:latin typeface="Hiragino Sans GB"/>
                <a:ea typeface="Hiragino Sans GB"/>
              </a:rPr>
              <a:t>不是做一个会聊天的窗口，而是把用户请求接进真实业务流程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4224528"/>
            <a:ext cx="1554480" cy="1097280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课程导入｜电商智能客服项目实战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7201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今天怎样拆开这个项目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四个部分，从业务问题逐步进入可执行流程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第一节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业务背景与项目任务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第二节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整体方案与主工作流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第三节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订单查询工作流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第四节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售后咨询与处理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先看业务，再看系统怎样把一次请求真正处理下去。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电商客服业务背景与项目任务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为什么不是做一个“会聊天的机器人”？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看懂购买前、下单后、收货后的客服任务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理解一句回复背后的查询与操作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确定本项目重点处理的业务范围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54402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电商客服覆盖购买前后的完整旅程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用户处在不同阶段，客服要完成的任务也不同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购买前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商品差异、使用场景、预算与推荐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下单后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发货、物流、地址与履约状态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收货后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使用问题、退换货、退款与投诉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客服不是只回答问题，还要帮助用户完成选择、查询和处理。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93003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用户只说了一句话，后台却要完成一串工作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示例：“上周买的耳机没有声音，我想换一个”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029968"/>
            <a:ext cx="2788920" cy="1078992"/>
          </a:xfrm>
          <a:prstGeom prst="roundRect">
            <a:avLst>
              <a:gd name="adj" fmla="val 13559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86584"/>
            <a:ext cx="2459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上周买的耳机没有声音，我想换一个。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97449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700723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203996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707270" y="255117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58768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9935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5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找订单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5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定位商品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2041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3209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3209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问问题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3209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确认故障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65315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6483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6483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查政策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6483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判断要求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8588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9756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9756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补材料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9756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整理申请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1862" y="1920240"/>
            <a:ext cx="1347825" cy="1426464"/>
          </a:xfrm>
          <a:prstGeom prst="roundRect">
            <a:avLst>
              <a:gd name="adj" fmla="val 1085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3030" y="212140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3030" y="2414016"/>
            <a:ext cx="945489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交接/提交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3030" y="2834640"/>
            <a:ext cx="945489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返回状态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489204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020055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评价标准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99262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不能只看回复像不像人，还要看用户要办的事情有没有被正确推进。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31604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客服自动化不是从大模型开始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四种能力会长期共存，而不是互相完全替代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21558" y="2935224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984748" y="2935224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647938" y="2935224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人工客服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理解灵活
成本较高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615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731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FAQ 机器人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731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稳定问答
难接复杂请求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50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流程机器人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50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步骤确定
表达受限制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12530" y="2057400"/>
            <a:ext cx="2507742" cy="1920240"/>
          </a:xfrm>
          <a:prstGeom prst="roundRect">
            <a:avLst>
              <a:gd name="adj" fmla="val 76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3698" y="22585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2551176"/>
            <a:ext cx="210540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大模型客服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2971800"/>
            <a:ext cx="210540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理解自然表达
连接既有能力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80060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928616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关键认识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90118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查询接口、固定流程和业务系统早已有之；大模型让自然表达更好地进入这些流程。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7020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引入大模型，最值得先改善什么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请学员先选择，再说明理由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回复更自然、更像真人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用户用自己的话表达，系统仍能进入正确流程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所有售后操作都不再需要人工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本项目优先选择第二项：自然表达之后，仍然要有清楚、可靠的处理步骤。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第一节｜电商客服业务背景与项目任务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08805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本项目要解决什么、暂时不做什么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把业务问题和课堂范围同时说清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4617720"/>
                <a:gridCol w="3630168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产品需要改善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本课边界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重复咨询多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复用商品、政策与流程资料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不建设完整客服中台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用户表达与字段不一致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把自然表达对应到订单、商品和诉求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不让模型绕过权限和规则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回答后不知道下一步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给出选择、补充、确认和状态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不做真实自动退款与赔付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转人工后信息断裂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携带订单、诉求、已问内容和失败原因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业务操作使用教学模拟环境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重点深入订单查询和售后处理；商品推荐与兜底用于补全整体结构。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整体方案与主工作流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用户发来一句话后，系统怎样知道该交给哪条流程？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先看三段真实感对话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区分用户界面和后台处理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设计分流、上下文与状态传递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86007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同一个对话入口，背后是三种不同处理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以下均为教学设计中的预期对话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47088"/>
            <a:ext cx="3017520" cy="3456432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48256"/>
            <a:ext cx="26151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78608"/>
            <a:ext cx="2688336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8833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935224"/>
            <a:ext cx="2359152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上周买的耳机怎么还没到？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75887"/>
            <a:ext cx="2688336" cy="1225296"/>
          </a:xfrm>
          <a:prstGeom prst="roundRect">
            <a:avLst>
              <a:gd name="adj" fmla="val 1194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785615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032503"/>
            <a:ext cx="2359152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查到两笔订单，请选择需要查询的一笔。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847088"/>
            <a:ext cx="3017520" cy="3456432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2048256"/>
            <a:ext cx="26151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售后处理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7952" y="2578608"/>
            <a:ext cx="2688336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268833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2935224"/>
            <a:ext cx="2359152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耳机右侧无声，我想换货。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3675887"/>
            <a:ext cx="2688336" cy="1225296"/>
          </a:xfrm>
          <a:prstGeom prst="roundRect">
            <a:avLst>
              <a:gd name="adj" fmla="val 11940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3785615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4032503"/>
            <a:ext cx="2359152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先确认订单，再了解故障和要求。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1847088"/>
            <a:ext cx="3017520" cy="3456432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048256"/>
            <a:ext cx="26151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商品推荐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61504" y="2578608"/>
            <a:ext cx="2688336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8636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688336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2935224"/>
            <a:ext cx="2359152" cy="49377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预算三百，通勤用。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61504" y="3675887"/>
            <a:ext cx="2688336" cy="1225296"/>
          </a:xfrm>
          <a:prstGeom prst="roundRect">
            <a:avLst>
              <a:gd name="adj" fmla="val 11940"/>
            </a:avLst>
          </a:prstGeom>
          <a:solidFill>
            <a:srgbClr val="133843"/>
          </a:solidFill>
          <a:ln w="8636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6" y="3785615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4032503"/>
            <a:ext cx="2359152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先确认更看重降噪还是舒适度。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24608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用户看到的是产品，背后运行的是处理系统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聊天窗口只是入口，不是完整方案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01952"/>
            <a:ext cx="10515600" cy="969264"/>
          </a:xfrm>
          <a:prstGeom prst="roundRect">
            <a:avLst>
              <a:gd name="adj" fmla="val 15094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57400"/>
            <a:ext cx="1828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D6C2"/>
                </a:solidFill>
                <a:latin typeface="Hiragino Sans GB"/>
                <a:ea typeface="Hiragino Sans GB"/>
              </a:rPr>
              <a:t>用户界面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039112"/>
            <a:ext cx="795527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iragino Sans GB"/>
                <a:ea typeface="Hiragino Sans GB"/>
              </a:rPr>
              <a:t>输入问题 · 选择订单或商品 · 补充信息 · 查看结果 · 转人工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919472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050024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180576" y="396849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主工作流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决定去哪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子工作流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处理任务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知识与系统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提供事实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14616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5784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人工服务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4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承接例外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45168" y="3383280"/>
            <a:ext cx="1975104" cy="1335024"/>
          </a:xfrm>
          <a:prstGeom prst="roundRect">
            <a:avLst>
              <a:gd name="adj" fmla="val 1095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46336" y="358444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3877056"/>
            <a:ext cx="157276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处理记录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6336" y="4297680"/>
            <a:ext cx="157276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保存状态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513892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26694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产品结构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23951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工作流负责组织步骤、调用能力，并根据实际结果决定下一步。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632089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主工作流：先判断请求要进入哪条业务路径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主流程负责分流，子流程负责把具体任务处理下去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865376"/>
            <a:ext cx="1920240" cy="1060704"/>
          </a:xfrm>
          <a:prstGeom prst="roundRect">
            <a:avLst>
              <a:gd name="adj" fmla="val 13793"/>
            </a:avLst>
          </a:prstGeom>
          <a:solidFill>
            <a:srgbClr val="133843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157276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用户消息
+ 当前状态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88336" y="2286000"/>
            <a:ext cx="54864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1920240"/>
            <a:ext cx="2011680" cy="932688"/>
          </a:xfrm>
          <a:prstGeom prst="roundRect">
            <a:avLst>
              <a:gd name="adj" fmla="val 15686"/>
            </a:avLst>
          </a:prstGeom>
          <a:solidFill>
            <a:srgbClr val="102B37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167128"/>
            <a:ext cx="1572768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iragino Sans GB"/>
                <a:ea typeface="Hiragino Sans GB"/>
              </a:rPr>
              <a:t>判断处理路径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30368" y="2286000"/>
            <a:ext cx="56692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2176272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B5BC"/>
                </a:solidFill>
                <a:latin typeface="Hiragino Sans GB"/>
                <a:ea typeface="Hiragino Sans GB"/>
              </a:rPr>
              <a:t>分流到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8832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3424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售后与投诉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4976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9567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商品咨询推荐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182112"/>
            <a:ext cx="2468880" cy="1060704"/>
          </a:xfrm>
          <a:prstGeom prst="roundRect">
            <a:avLst>
              <a:gd name="adj" fmla="val 13793"/>
            </a:avLst>
          </a:prstGeom>
          <a:solidFill>
            <a:srgbClr val="102B37"/>
          </a:solidFill>
          <a:ln w="1079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3511296"/>
            <a:ext cx="2139696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iragino Sans GB"/>
                <a:ea typeface="Hiragino Sans GB"/>
              </a:rPr>
              <a:t>其他与兜底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00176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129783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拆分原则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10235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订单流程的修改不应要求同时重写商品推荐流程。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01809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四条分支需要先写清业务定义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分类不是只列几个标签，还要说明边界和示例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474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4846320"/>
                <a:gridCol w="3584448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分支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主要接收的需求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用户示例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订单查询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具体订单、发货与物流查询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“耳机到哪了？”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售后与投诉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政策、故障、退换货诉求和投诉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“耳机坏了，我想换。”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商品咨询推荐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功能、比较、使用场景和购买建议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“通勤买哪款？”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其他与兜底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寒暄、表达不完整、范围外请求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“你好。”“我想问一下。”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分类规则本身也是产品设计：类别含糊，后面的流程再正确也会被送错。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“这个耳机能不能换？”到底是什么意思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719072"/>
            <a:ext cx="10497312" cy="1143000"/>
          </a:xfrm>
          <a:prstGeom prst="roundRect">
            <a:avLst>
              <a:gd name="adj" fmla="val 12800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11887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用户表达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10512"/>
            <a:ext cx="8823960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2E9"/>
                </a:solidFill>
                <a:latin typeface="Hiragino Sans GB"/>
                <a:ea typeface="Hiragino Sans GB"/>
              </a:rPr>
              <a:t>“这个耳机能不能换？”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182112"/>
            <a:ext cx="3389376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75888"/>
            <a:ext cx="29870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购买前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096512"/>
            <a:ext cx="2987040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询问某款商品的换货政策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064" y="3182112"/>
            <a:ext cx="3389376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3232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3232" y="3675888"/>
            <a:ext cx="29870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购买后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3232" y="4096512"/>
            <a:ext cx="2987040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想为自己的订单申请换货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6032" y="3182112"/>
            <a:ext cx="3389376" cy="2075688"/>
          </a:xfrm>
          <a:prstGeom prst="roundRect">
            <a:avLst>
              <a:gd name="adj" fmla="val 70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7200" y="338328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75888"/>
            <a:ext cx="29870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当前推荐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4096512"/>
            <a:ext cx="2987040" cy="10515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想把刚才推荐的耳机换成另一款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修改方向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同一句话可能对应不同任务，必须结合当前消息、页面对象和对话上下文。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79011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多轮对话：先知道“正在做什么”，再理解这一句话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“第二个”和“右边”脱离上下文都没有意义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874519"/>
            <a:ext cx="5074920" cy="3017520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7568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68296"/>
            <a:ext cx="467258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订单选择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2788920"/>
            <a:ext cx="4590288" cy="822960"/>
          </a:xfrm>
          <a:prstGeom prst="roundRect">
            <a:avLst>
              <a:gd name="adj" fmla="val 17777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2898648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145536"/>
            <a:ext cx="4261103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查询到两笔耳机订单，请选择一笔。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822191"/>
            <a:ext cx="2999232" cy="713232"/>
          </a:xfrm>
          <a:prstGeom prst="roundRect">
            <a:avLst>
              <a:gd name="adj" fmla="val 20512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3931920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178807"/>
            <a:ext cx="26700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第二个。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986784"/>
            <a:ext cx="1143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6D6C2"/>
                </a:solidFill>
                <a:latin typeface="Hiragino Sans GB"/>
                <a:ea typeface="Hiragino Sans GB"/>
              </a:rPr>
              <a:t>→ DEMO-102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874519"/>
            <a:ext cx="5074920" cy="3017520"/>
          </a:xfrm>
          <a:prstGeom prst="roundRect">
            <a:avLst>
              <a:gd name="adj" fmla="val 484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07568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368296"/>
            <a:ext cx="467258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故障补充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2788920"/>
            <a:ext cx="4590288" cy="822960"/>
          </a:xfrm>
          <a:prstGeom prst="roundRect">
            <a:avLst>
              <a:gd name="adj" fmla="val 17777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98648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145536"/>
            <a:ext cx="4261103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两边都没有声音，还是只有一边？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822191"/>
            <a:ext cx="2999232" cy="713232"/>
          </a:xfrm>
          <a:prstGeom prst="roundRect">
            <a:avLst>
              <a:gd name="adj" fmla="val 20512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3931920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178807"/>
            <a:ext cx="26700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右边。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986784"/>
            <a:ext cx="148132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7657"/>
                </a:solidFill>
                <a:latin typeface="Hiragino Sans GB"/>
                <a:ea typeface="Hiragino Sans GB"/>
              </a:rPr>
              <a:t>→ 补充故障信息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17611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四条业务分支与三种处理方式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分支按用户任务组织；处理方式在分支内部连续配合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2788920"/>
                <a:gridCol w="2788920"/>
                <a:gridCol w="2807208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业务分支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知识问答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业务查询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业务办理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订单查询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发货说明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订单与物流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改址入口／人工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售后与投诉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退换货政策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订单与申请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补材料、确认、提交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商品咨询推荐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参数与使用说明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库存与价格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加入对比／购买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其他与兜底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服务范围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已有任务状态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转人工／结束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不要把所有知识问答、接口操作割裂开；同一个用户任务往往需要它们连续协作。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第二节｜整体方案与主工作流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56212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流程之间不能只传一句话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输入要带上下文，输出要带处理状态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212080"/>
                <a:gridCol w="5321808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传入子流程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子流程返回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当前消息与用户身份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等待用户补充：任务继续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已确认的订单或商品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已完成查询：返回结果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已经收集的必要信息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需要人工：自动流程暂停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当前任务与等待内容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执行失败：进入重试或人工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回复内容必须和实际状态一致：接口失败时，模型不能说“已经处理好了”。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意图已经识别出来，系统怎样找到用户真正问的那笔订单？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准备可控的模拟订单数据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处理无订单号与多订单选择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区分无结果、待发货和接口失败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33414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先准备三笔可验证的模拟订单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查询日固定为 9 月 9 日，避免“上周”随授课日期变化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1455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91640"/>
                <a:gridCol w="2834640"/>
                <a:gridCol w="1508760"/>
                <a:gridCol w="1508760"/>
                <a:gridCol w="2990088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订单编号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商品与规格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下单时间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订单状态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最新物流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DEMO-101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AirLite 耳机｜白色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1 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已签收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4 日签收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DEMO-102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AirLite Pro 黑色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3 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已发货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9 月 8 日到达分拨中心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DEMO-103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K68 键盘｜灰色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9 月 5 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待发货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暂无物流记录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“上周买的耳机”可能对应两笔订单，不能直接替用户选择。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72014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用户没有订单号，下一步怎么做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先选择，再比较用户成本和业务风险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要求用户找到订单号后再查询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根据当前账号查询近期相关订单，请用户确认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直接选择最近一笔耳机订单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当前场景选择第二项：系统先筛选候选订单，信息有歧义时由用户确认。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1061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订单查询子工作流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从自然语言线索进入确定的订单与物流数据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3382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20928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474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6020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535668" y="2802636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检查信息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身份
已有订单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842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958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958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查询候选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958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商品
时间范围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388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504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504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判断数量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504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0 / 1 / 多笔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934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用户确认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50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目标订单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24799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596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596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查询详情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96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订单
物流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00260" y="1947672"/>
            <a:ext cx="1620012" cy="1874519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1428" y="2148840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1428" y="2441448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检查结果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1428" y="2862072"/>
            <a:ext cx="1217676" cy="85039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成功
失败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480060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928616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权限边界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490118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身份由登录系统提供；订单筛选和访问权限由系统完成，不把整个数据库交给模型。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49216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“第二个”怎样准确对应到 DEMO-102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自然语言与页面操作可以同时存在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847088"/>
            <a:ext cx="2971800" cy="3108960"/>
          </a:xfrm>
          <a:prstGeom prst="roundRect">
            <a:avLst>
              <a:gd name="adj" fmla="val 492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340864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候选订单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61488"/>
            <a:ext cx="2569464" cy="20848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① DEMO-101 白色
9 月 1 日下单
② DEMO-102 黑色
9 月 3 日下单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94760" y="2788920"/>
            <a:ext cx="676656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468880"/>
            <a:ext cx="1920240" cy="841248"/>
          </a:xfrm>
          <a:prstGeom prst="roundRect">
            <a:avLst>
              <a:gd name="adj" fmla="val 17391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578608"/>
            <a:ext cx="53035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825496"/>
            <a:ext cx="1591056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第二个。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10528" y="2788920"/>
            <a:ext cx="676656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51192" y="1847088"/>
            <a:ext cx="3913632" cy="3108960"/>
          </a:xfrm>
          <a:prstGeom prst="roundRect">
            <a:avLst>
              <a:gd name="adj" fmla="val 470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340864"/>
            <a:ext cx="351129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会话状态更新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761488"/>
            <a:ext cx="3511296" cy="20848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waiting_for: clear
selected_order_id: DEMO-102
current_task: order_query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3036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358383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产品细节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33095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点击订单卡片可以直接完成选择；输入“第二个”则必须结合刚才展示的候选列表。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87817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拿到查询结果以后，模型负责什么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事实来自系统，模型负责组织表达并遵守边界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系统直接提供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订单状态与物流节点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事件发生时间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是否存在预计送达时间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接口是否成功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模型可以完成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组合成清楚的用户回复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414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29869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说明当前已知与未知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193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3963924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提出可执行的下一步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8459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462915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不补写系统没有的事实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没有预计到达时间，不承诺日期；没有延误原因，不编造天气或运输问题。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第三节｜订单查询工作流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26417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看不到物流，不代表同一种情况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三个状态需要不同回复与后续处理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3886200"/>
                <a:gridCol w="4498848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实际状态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真正含义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产品处理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没有找到订单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查询成功，但没有匹配记录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调整时间、确认账号或补充信息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订单尚未发货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已经找到订单，暂时无物流轨迹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如实展示待发货，不承诺时间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查询工具失败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系统没有成功获取数据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说明暂时无法查询，提供重试或人工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课堂重点测试：正常查询、多订单选择、接口失败；错误必须定位到具体步骤。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658368"/>
            <a:ext cx="43891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371600"/>
            <a:ext cx="1600200" cy="100584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371600"/>
            <a:ext cx="8183879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5F2E9"/>
                </a:solidFill>
                <a:latin typeface="Hiragino Sans GB"/>
                <a:ea typeface="Hiragino Sans GB"/>
              </a:rPr>
              <a:t>售后咨询与处理工作流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2194560"/>
            <a:ext cx="2011680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2542032"/>
            <a:ext cx="80467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从“想换一个”到“申请已受理”，中间还缺哪些产品步骤？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9476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79476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区分问政策与发起处理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429768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复用订单和故障信息，查询适用要求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800600"/>
            <a:ext cx="4389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4800600"/>
            <a:ext cx="7223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iragino Sans GB"/>
                <a:ea typeface="Hiragino Sans GB"/>
              </a:rPr>
              <a:t>确认、模拟提交并返回真实状态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592531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第四节｜售后咨询与处理工作流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03619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售后主线：从政策咨询走到申请受理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本节使用订单编号为 DEMO-101 的已签收订单，处理右侧耳机无声的换货诉求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3382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20928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474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6020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535668" y="2624328"/>
            <a:ext cx="19202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判断诉求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问政策
还是要处理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842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958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958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确认订单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958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DEMO-101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388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504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504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了解故障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504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右侧无声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934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查询要求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50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政策与材料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24799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596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596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用户确认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96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申请内容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00260" y="1847088"/>
            <a:ext cx="1620012" cy="1719072"/>
          </a:xfrm>
          <a:prstGeom prst="roundRect">
            <a:avLst>
              <a:gd name="adj" fmla="val 903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1428" y="204825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1428" y="2340864"/>
            <a:ext cx="121767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提交申请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1428" y="2761488"/>
            <a:ext cx="1217676" cy="69494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iragino Sans GB"/>
                <a:ea typeface="Hiragino Sans GB"/>
              </a:rPr>
              <a:t>等待审核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4069080"/>
            <a:ext cx="4800600" cy="676656"/>
          </a:xfrm>
          <a:prstGeom prst="roundRect">
            <a:avLst>
              <a:gd name="adj" fmla="val 21621"/>
            </a:avLst>
          </a:prstGeom>
          <a:solidFill>
            <a:srgbClr val="102B37"/>
          </a:solidFill>
          <a:ln w="1079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270248"/>
            <a:ext cx="437083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可以：受理申请、返回编号和当前状态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53328" y="4069080"/>
            <a:ext cx="4800600" cy="676656"/>
          </a:xfrm>
          <a:prstGeom prst="roundRect">
            <a:avLst>
              <a:gd name="adj" fmla="val 21621"/>
            </a:avLst>
          </a:prstGeom>
          <a:solidFill>
            <a:srgbClr val="102B37"/>
          </a:solidFill>
          <a:ln w="1079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270248"/>
            <a:ext cx="437083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iragino Sans GB"/>
                <a:ea typeface="Hiragino Sans GB"/>
              </a:rPr>
              <a:t>不可以：自行批准、退款、赔偿或承诺寄出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166360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294376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核心边界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266944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受理申请，不等于批准申请。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第四节｜售后咨询与处理工作流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42220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售后流程怎样决定下一步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先复用用户已经说过的内容，再按业务要求补齐缺失信息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3246120" cy="3337560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8437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复用已有信息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43200"/>
            <a:ext cx="2843784" cy="23134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DEMO-101
换货诉求
收到后右侧无声
已经重新连接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828800"/>
            <a:ext cx="3246120" cy="3337560"/>
          </a:xfrm>
          <a:prstGeom prst="roundRect">
            <a:avLst>
              <a:gd name="adj" fmla="val 45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322576"/>
            <a:ext cx="284378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知识与规则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743200"/>
            <a:ext cx="2843784" cy="23134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知识：排查 · 受理 · 流程 · 特殊情况
规则：完整性 · 重复申请 · 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1828800"/>
            <a:ext cx="3547872" cy="3337560"/>
          </a:xfrm>
          <a:prstGeom prst="roundRect">
            <a:avLst>
              <a:gd name="adj" fmla="val 438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2322576"/>
            <a:ext cx="314553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责任分工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743200"/>
            <a:ext cx="3145536" cy="23134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7B5BC"/>
                </a:solidFill>
                <a:latin typeface="Hiragino Sans GB"/>
                <a:ea typeface="Hiragino Sans GB"/>
              </a:rPr>
              <a:t>模型：理解与追问
系统：查询、校验、提交
人工：例外和最终处理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37667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50468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提问原则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47725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不是把整张表单重新问一遍，而是只问当前真正缺少、会影响处理的内容。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第四节｜售后咨询与处理工作流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确认、提交与异常：最后一句话必须对应真实结果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申请会改变业务数据，不能只关注回复是否流畅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3310128" cy="3429000"/>
          </a:xfrm>
          <a:prstGeom prst="roundRect">
            <a:avLst>
              <a:gd name="adj" fmla="val 44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9077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申请确认页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43200"/>
            <a:ext cx="2907792" cy="24048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AirLite 白色
DEMO-101
换货｜收到后右侧无声
材料已添加
确认提交｜修改信息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828800"/>
            <a:ext cx="3310128" cy="3429000"/>
          </a:xfrm>
          <a:prstGeom prst="roundRect">
            <a:avLst>
              <a:gd name="adj" fmla="val 441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322576"/>
            <a:ext cx="29077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模拟提交结果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743200"/>
            <a:ext cx="2907792" cy="24048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accepted: true
AS-DEMO-001
pending_review
申请已提交
目前等待审核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828800"/>
            <a:ext cx="3456432" cy="3429000"/>
          </a:xfrm>
          <a:prstGeom prst="roundRect">
            <a:avLst>
              <a:gd name="adj" fmla="val 426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6" y="2029968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2322576"/>
            <a:ext cx="3054096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2E9"/>
                </a:solidFill>
                <a:latin typeface="Hiragino Sans GB"/>
                <a:ea typeface="Hiragino Sans GB"/>
              </a:rPr>
              <a:t>关键异常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743200"/>
            <a:ext cx="3054096" cy="24048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改诉求：重新确认
提交超时：先查状态
政策冲突：转人工
投诉升级：携带上下文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449824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577840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最终检查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550408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不能把“已提交”说成“已批准”，也不能把“超时未知”说成成功或失败。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