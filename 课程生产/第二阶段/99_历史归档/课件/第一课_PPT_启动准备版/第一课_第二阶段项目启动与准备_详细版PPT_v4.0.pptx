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3" r:id="rId14"/>
    <p:sldId id="274" r:id="rId15"/>
    <p:sldId id="275" r:id="rId16"/>
    <p:sldId id="276" r:id="rId17"/>
    <p:sldId id="277" r:id="rId18"/>
    <p:sldId id="279" r:id="rId19"/>
    <p:sldId id="280" r:id="rId20"/>
    <p:sldId id="281" r:id="rId21"/>
    <p:sldId id="282" r:id="rId22"/>
    <p:sldId id="284" r:id="rId23"/>
    <p:sldId id="285" r:id="rId24"/>
    <p:sldId id="286" r:id="rId25"/>
    <p:sldId id="287" r:id="rId26"/>
    <p:sldId id="289" r:id="rId27"/>
    <p:sldId id="290" r:id="rId28"/>
    <p:sldId id="291" r:id="rId29"/>
    <p:sldId id="292" r:id="rId30"/>
    <p:sldId id="293" r:id="rId31"/>
    <p:sldId id="295" r:id="rId32"/>
    <p:sldId id="296" r:id="rId33"/>
    <p:sldId id="297" r:id="rId34"/>
    <p:sldId id="298" r:id="rId35"/>
    <p:sldId id="299" r:id="rId36"/>
    <p:sldId id="301" r:id="rId37"/>
    <p:sldId id="303" r:id="rId38"/>
    <p:sldId id="304" r:id="rId39"/>
    <p:sldId id="306" r:id="rId40"/>
    <p:sldId id="307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595"/>
  </p:normalViewPr>
  <p:slideViewPr>
    <p:cSldViewPr snapToGrid="0" snapToObjects="1">
      <p:cViewPr varScale="1">
        <p:scale>
          <a:sx n="115" d="100"/>
          <a:sy n="115" d="100"/>
        </p:scale>
        <p:origin x="6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916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本课不要求正式选题、写PRD或画原型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&gt; 文档版本：v2.1 </a:t>
            </a:r>
            <a:r>
              <a:rPr dirty="0" err="1"/>
              <a:t>详细讲义版</a:t>
            </a:r>
            <a:r>
              <a:rPr dirty="0"/>
              <a:t>  </a:t>
            </a:r>
          </a:p>
          <a:p>
            <a:r>
              <a:rPr dirty="0"/>
              <a:t>&gt; </a:t>
            </a:r>
            <a:r>
              <a:rPr dirty="0" err="1"/>
              <a:t>建议时长：约</a:t>
            </a:r>
            <a:r>
              <a:rPr dirty="0"/>
              <a:t> 80—100 </a:t>
            </a:r>
            <a:r>
              <a:rPr dirty="0" err="1"/>
              <a:t>分钟，可根据课堂讨论适当延长</a:t>
            </a:r>
            <a:r>
              <a:rPr dirty="0"/>
              <a:t>  </a:t>
            </a:r>
          </a:p>
          <a:p>
            <a:r>
              <a:rPr dirty="0"/>
              <a:t>&gt; </a:t>
            </a:r>
            <a:r>
              <a:rPr dirty="0" err="1"/>
              <a:t>本课任务：让学员理解第二阶段的学习方式、三个公共项目的选择逻辑，并从自己的经历中找到可以迁移的个人项目方向</a:t>
            </a:r>
            <a:r>
              <a:rPr dirty="0"/>
              <a:t>  </a:t>
            </a:r>
          </a:p>
          <a:p>
            <a:r>
              <a:rPr dirty="0"/>
              <a:t>&gt; </a:t>
            </a:r>
            <a:r>
              <a:rPr dirty="0" err="1"/>
              <a:t>本课边界：暂不要求正式选题，不写</a:t>
            </a:r>
            <a:r>
              <a:rPr dirty="0"/>
              <a:t> </a:t>
            </a:r>
            <a:r>
              <a:rPr dirty="0" err="1"/>
              <a:t>PRD，不画原型，也不要求开发产品</a:t>
            </a:r>
            <a:endParaRPr dirty="0"/>
          </a:p>
          <a:p>
            <a:endParaRPr dirty="0"/>
          </a:p>
          <a:p>
            <a:r>
              <a:rPr dirty="0"/>
              <a:t>---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今天主要讲四件事</a:t>
            </a:r>
            <a:endParaRPr dirty="0"/>
          </a:p>
          <a:p>
            <a:endParaRPr dirty="0"/>
          </a:p>
          <a:p>
            <a:r>
              <a:rPr dirty="0"/>
              <a:t>&gt; 文档版本：v2.1 </a:t>
            </a:r>
            <a:r>
              <a:rPr dirty="0" err="1"/>
              <a:t>详细讲义版</a:t>
            </a:r>
            <a:r>
              <a:rPr dirty="0"/>
              <a:t>  </a:t>
            </a:r>
          </a:p>
          <a:p>
            <a:r>
              <a:rPr dirty="0"/>
              <a:t>&gt; </a:t>
            </a:r>
            <a:r>
              <a:rPr dirty="0" err="1"/>
              <a:t>建议时长：约</a:t>
            </a:r>
            <a:r>
              <a:rPr dirty="0"/>
              <a:t> 80—100 </a:t>
            </a:r>
            <a:r>
              <a:rPr dirty="0" err="1"/>
              <a:t>分钟，可根据课堂讨论适当延长</a:t>
            </a:r>
            <a:r>
              <a:rPr dirty="0"/>
              <a:t>  </a:t>
            </a:r>
          </a:p>
          <a:p>
            <a:r>
              <a:rPr dirty="0"/>
              <a:t>&gt; </a:t>
            </a:r>
            <a:r>
              <a:rPr dirty="0" err="1"/>
              <a:t>本课任务：让学员理解第二阶段的学习方式、三个公共项目的选择逻辑，并从自己的经历中找到可以迁移的个人项目方向</a:t>
            </a:r>
            <a:r>
              <a:rPr dirty="0"/>
              <a:t>  </a:t>
            </a:r>
          </a:p>
          <a:p>
            <a:r>
              <a:rPr dirty="0"/>
              <a:t>&gt; </a:t>
            </a:r>
            <a:r>
              <a:rPr dirty="0" err="1"/>
              <a:t>本课边界：暂不要求正式选题，不写</a:t>
            </a:r>
            <a:r>
              <a:rPr dirty="0"/>
              <a:t> </a:t>
            </a:r>
            <a:r>
              <a:rPr dirty="0" err="1"/>
              <a:t>PRD，不画原型，也不要求开发产品</a:t>
            </a:r>
            <a:endParaRPr dirty="0"/>
          </a:p>
          <a:p>
            <a:endParaRPr dirty="0"/>
          </a:p>
          <a:p>
            <a:r>
              <a:rPr dirty="0"/>
              <a:t>---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把已经学过的知识连续地用在真实项目中</a:t>
            </a:r>
            <a:endParaRPr dirty="0"/>
          </a:p>
          <a:p>
            <a:endParaRPr dirty="0"/>
          </a:p>
          <a:p>
            <a:r>
              <a:rPr dirty="0" err="1"/>
              <a:t>第一阶段的课程，是把</a:t>
            </a:r>
            <a:r>
              <a:rPr dirty="0"/>
              <a:t> AI </a:t>
            </a:r>
            <a:r>
              <a:rPr dirty="0" err="1"/>
              <a:t>产品经理需要掌握的关键问题逐个拆开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我们讨论过大模型能做什么、不能做什么；Prompt</a:t>
            </a:r>
            <a:r>
              <a:rPr dirty="0"/>
              <a:t> </a:t>
            </a:r>
            <a:r>
              <a:rPr dirty="0" err="1"/>
              <a:t>怎样设计；Workflow、RAG</a:t>
            </a:r>
            <a:r>
              <a:rPr dirty="0"/>
              <a:t> </a:t>
            </a:r>
            <a:r>
              <a:rPr dirty="0" err="1"/>
              <a:t>和</a:t>
            </a:r>
            <a:r>
              <a:rPr dirty="0"/>
              <a:t> Agent </a:t>
            </a:r>
            <a:r>
              <a:rPr dirty="0" err="1"/>
              <a:t>分别适合处理什么问题；怎样分析需求、定义</a:t>
            </a:r>
            <a:r>
              <a:rPr dirty="0"/>
              <a:t> </a:t>
            </a:r>
            <a:r>
              <a:rPr dirty="0" err="1"/>
              <a:t>MVP、编写</a:t>
            </a:r>
            <a:r>
              <a:rPr dirty="0"/>
              <a:t> AI </a:t>
            </a:r>
            <a:r>
              <a:rPr dirty="0" err="1"/>
              <a:t>产品</a:t>
            </a:r>
            <a:r>
              <a:rPr dirty="0"/>
              <a:t> </a:t>
            </a:r>
            <a:r>
              <a:rPr dirty="0" err="1"/>
              <a:t>PRD、设计原型；怎样准备评测集、分析</a:t>
            </a:r>
            <a:r>
              <a:rPr dirty="0"/>
              <a:t> Bad </a:t>
            </a:r>
            <a:r>
              <a:rPr dirty="0" err="1"/>
              <a:t>Case；也讨论过模型选择、成本和</a:t>
            </a:r>
            <a:r>
              <a:rPr dirty="0"/>
              <a:t> ROI。</a:t>
            </a:r>
          </a:p>
          <a:p>
            <a:endParaRPr dirty="0"/>
          </a:p>
          <a:p>
            <a:r>
              <a:rPr dirty="0" err="1"/>
              <a:t>这些知识并不是彼此独立的。真实工作中，不会有一个需求只考察</a:t>
            </a:r>
            <a:r>
              <a:rPr dirty="0"/>
              <a:t> </a:t>
            </a:r>
            <a:r>
              <a:rPr dirty="0" err="1"/>
              <a:t>Prompt，也很少有一个项目只使用</a:t>
            </a:r>
            <a:r>
              <a:rPr dirty="0"/>
              <a:t> RAG </a:t>
            </a:r>
            <a:r>
              <a:rPr dirty="0" err="1"/>
              <a:t>或只使用</a:t>
            </a:r>
            <a:r>
              <a:rPr dirty="0"/>
              <a:t> </a:t>
            </a:r>
            <a:r>
              <a:rPr dirty="0" err="1"/>
              <a:t>Workflow。业务方交给产品经理的，通常只是一个还很模糊的问题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客服团队每天重复回答大量问题，能不能用</a:t>
            </a:r>
            <a:r>
              <a:rPr dirty="0"/>
              <a:t> AI </a:t>
            </a:r>
            <a:r>
              <a:rPr dirty="0" err="1"/>
              <a:t>降低压力</a:t>
            </a:r>
            <a:r>
              <a:rPr dirty="0"/>
              <a:t>？</a:t>
            </a:r>
          </a:p>
          <a:p>
            <a:r>
              <a:rPr dirty="0"/>
              <a:t>- </a:t>
            </a:r>
            <a:r>
              <a:rPr dirty="0" err="1"/>
              <a:t>审核人员每天检查很多材料，能不能让</a:t>
            </a:r>
            <a:r>
              <a:rPr dirty="0"/>
              <a:t> AI </a:t>
            </a:r>
            <a:r>
              <a:rPr dirty="0" err="1"/>
              <a:t>先发现问题</a:t>
            </a:r>
            <a:r>
              <a:rPr dirty="0"/>
              <a:t>？</a:t>
            </a:r>
          </a:p>
          <a:p>
            <a:r>
              <a:rPr dirty="0"/>
              <a:t>- </a:t>
            </a:r>
            <a:r>
              <a:rPr dirty="0" err="1"/>
              <a:t>售前准备一份客户方案要花两三天，能不能把时间缩短</a:t>
            </a:r>
            <a:r>
              <a:rPr dirty="0"/>
              <a:t>？</a:t>
            </a:r>
          </a:p>
          <a:p>
            <a:endParaRPr dirty="0"/>
          </a:p>
          <a:p>
            <a:r>
              <a:rPr dirty="0" err="1"/>
              <a:t>面对这些问题，产品经理需要自己完成一连串判断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这到底是不是一个值得解决的问题</a:t>
            </a:r>
            <a:r>
              <a:rPr dirty="0"/>
              <a:t>；</a:t>
            </a:r>
          </a:p>
          <a:p>
            <a:r>
              <a:rPr dirty="0"/>
              <a:t>2. </a:t>
            </a:r>
            <a:r>
              <a:rPr dirty="0" err="1"/>
              <a:t>谁在什么情况下使用产品</a:t>
            </a:r>
            <a:r>
              <a:rPr dirty="0"/>
              <a:t>；</a:t>
            </a:r>
          </a:p>
          <a:p>
            <a:r>
              <a:rPr dirty="0"/>
              <a:t>3. </a:t>
            </a:r>
            <a:r>
              <a:rPr dirty="0" err="1"/>
              <a:t>现在的业务流程怎样运行</a:t>
            </a:r>
            <a:r>
              <a:rPr dirty="0"/>
              <a:t>；</a:t>
            </a:r>
          </a:p>
          <a:p>
            <a:r>
              <a:rPr dirty="0"/>
              <a:t>4. </a:t>
            </a:r>
            <a:r>
              <a:rPr dirty="0" err="1"/>
              <a:t>哪些环节适合交给大模型</a:t>
            </a:r>
            <a:r>
              <a:rPr dirty="0"/>
              <a:t>；</a:t>
            </a:r>
          </a:p>
          <a:p>
            <a:r>
              <a:rPr dirty="0"/>
              <a:t>5. </a:t>
            </a:r>
            <a:r>
              <a:rPr dirty="0" err="1"/>
              <a:t>哪些环节应该使用规则、知识库、业务接口或人工</a:t>
            </a:r>
            <a:r>
              <a:rPr dirty="0"/>
              <a:t>；</a:t>
            </a:r>
          </a:p>
          <a:p>
            <a:r>
              <a:rPr dirty="0"/>
              <a:t>6. </a:t>
            </a:r>
            <a:r>
              <a:rPr dirty="0" err="1"/>
              <a:t>第一版做到哪里就能够验证价值</a:t>
            </a:r>
            <a:r>
              <a:rPr dirty="0"/>
              <a:t>；</a:t>
            </a:r>
          </a:p>
          <a:p>
            <a:r>
              <a:rPr dirty="0"/>
              <a:t>7. </a:t>
            </a:r>
            <a:r>
              <a:rPr dirty="0" err="1"/>
              <a:t>怎样判断产品是真的有效，而不是只做出了一个演示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第一阶段解决的是“</a:t>
            </a:r>
            <a:r>
              <a:rPr dirty="0" err="1"/>
              <a:t>每一种方法分别是什么</a:t>
            </a:r>
            <a:r>
              <a:rPr dirty="0"/>
              <a:t>”。</a:t>
            </a:r>
            <a:r>
              <a:rPr dirty="0" err="1"/>
              <a:t>第二阶段要训练的是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&gt; </a:t>
            </a:r>
            <a:r>
              <a:rPr dirty="0" err="1"/>
              <a:t>面对一个不完整的业务问题，能否把已经学过的知识连续地组织起来，做成一套能够解释、验证和迭代的</a:t>
            </a:r>
            <a:r>
              <a:rPr dirty="0"/>
              <a:t> AI </a:t>
            </a:r>
            <a:r>
              <a:rPr dirty="0" err="1"/>
              <a:t>产品方案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因此，第二阶段不再按技术名词讲课。我们不会分别做一个</a:t>
            </a:r>
            <a:r>
              <a:rPr dirty="0"/>
              <a:t> RAG </a:t>
            </a:r>
            <a:r>
              <a:rPr dirty="0" err="1"/>
              <a:t>项目、一个</a:t>
            </a:r>
            <a:r>
              <a:rPr dirty="0"/>
              <a:t> Workflow </a:t>
            </a:r>
            <a:r>
              <a:rPr dirty="0" err="1"/>
              <a:t>项目、一个</a:t>
            </a:r>
            <a:r>
              <a:rPr dirty="0"/>
              <a:t> Agent </a:t>
            </a:r>
            <a:r>
              <a:rPr dirty="0" err="1"/>
              <a:t>项目。课程会先给出真实业务问题，再根据问题决定需要组合哪些能力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例如，企业智能客服与业务办理项目可能同时需要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大模型理解用户到底在问什么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知识库提供产品、制度和操作说明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业务接口查询订单、账户和服务状态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规则判断身份、权限和办理条件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工作流推动退款、报修、预约等任务继续执行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人工处理投诉、高风险请求和模型无法判断的情况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如果产品经理只是说“我要做一个</a:t>
            </a:r>
            <a:r>
              <a:rPr dirty="0"/>
              <a:t> RAG </a:t>
            </a:r>
            <a:r>
              <a:rPr dirty="0" err="1"/>
              <a:t>客服</a:t>
            </a:r>
            <a:r>
              <a:rPr dirty="0"/>
              <a:t>”，</a:t>
            </a:r>
            <a:r>
              <a:rPr dirty="0" err="1"/>
              <a:t>实际上还没有完成产品判断。RAG</a:t>
            </a:r>
            <a:r>
              <a:rPr dirty="0"/>
              <a:t> </a:t>
            </a:r>
            <a:r>
              <a:rPr dirty="0" err="1"/>
              <a:t>只解决了知识获取的一部分问题，并没有解释服务如何完成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第二阶段真正训练的是：为了让业务问题得到解决，产品经理怎样安排模型、规则、数据、系统和人工之间的关系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第一阶段已经解决的问题</a:t>
            </a:r>
            <a:endParaRPr dirty="0"/>
          </a:p>
          <a:p>
            <a:endParaRPr dirty="0"/>
          </a:p>
          <a:p>
            <a:r>
              <a:rPr dirty="0" err="1"/>
              <a:t>第一阶段的课程，是把</a:t>
            </a:r>
            <a:r>
              <a:rPr dirty="0"/>
              <a:t> AI </a:t>
            </a:r>
            <a:r>
              <a:rPr dirty="0" err="1"/>
              <a:t>产品经理需要掌握的关键问题逐个拆开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我们讨论过大模型能做什么、不能做什么；Prompt</a:t>
            </a:r>
            <a:r>
              <a:rPr dirty="0"/>
              <a:t> </a:t>
            </a:r>
            <a:r>
              <a:rPr dirty="0" err="1"/>
              <a:t>怎样设计；Workflow、RAG</a:t>
            </a:r>
            <a:r>
              <a:rPr dirty="0"/>
              <a:t> </a:t>
            </a:r>
            <a:r>
              <a:rPr dirty="0" err="1"/>
              <a:t>和</a:t>
            </a:r>
            <a:r>
              <a:rPr dirty="0"/>
              <a:t> Agent </a:t>
            </a:r>
            <a:r>
              <a:rPr dirty="0" err="1"/>
              <a:t>分别适合处理什么问题；怎样分析需求、定义</a:t>
            </a:r>
            <a:r>
              <a:rPr dirty="0"/>
              <a:t> </a:t>
            </a:r>
            <a:r>
              <a:rPr dirty="0" err="1"/>
              <a:t>MVP、编写</a:t>
            </a:r>
            <a:r>
              <a:rPr dirty="0"/>
              <a:t> AI </a:t>
            </a:r>
            <a:r>
              <a:rPr dirty="0" err="1"/>
              <a:t>产品</a:t>
            </a:r>
            <a:r>
              <a:rPr dirty="0"/>
              <a:t> </a:t>
            </a:r>
            <a:r>
              <a:rPr dirty="0" err="1"/>
              <a:t>PRD、设计原型；怎样准备评测集、分析</a:t>
            </a:r>
            <a:r>
              <a:rPr dirty="0"/>
              <a:t> Bad </a:t>
            </a:r>
            <a:r>
              <a:rPr dirty="0" err="1"/>
              <a:t>Case；也讨论过模型选择、成本和</a:t>
            </a:r>
            <a:r>
              <a:rPr dirty="0"/>
              <a:t> ROI。</a:t>
            </a:r>
          </a:p>
          <a:p>
            <a:endParaRPr dirty="0"/>
          </a:p>
          <a:p>
            <a:r>
              <a:rPr dirty="0" err="1"/>
              <a:t>这些知识并不是彼此独立的。真实工作中，不会有一个需求只考察</a:t>
            </a:r>
            <a:r>
              <a:rPr dirty="0"/>
              <a:t> </a:t>
            </a:r>
            <a:r>
              <a:rPr dirty="0" err="1"/>
              <a:t>Prompt，也很少有一个项目只使用</a:t>
            </a:r>
            <a:r>
              <a:rPr dirty="0"/>
              <a:t> RAG </a:t>
            </a:r>
            <a:r>
              <a:rPr dirty="0" err="1"/>
              <a:t>或只使用</a:t>
            </a:r>
            <a:r>
              <a:rPr dirty="0"/>
              <a:t> </a:t>
            </a:r>
            <a:r>
              <a:rPr dirty="0" err="1"/>
              <a:t>Workflow。业务方交给产品经理的，通常只是一个还很模糊的问题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客服团队每天重复回答大量问题，能不能用</a:t>
            </a:r>
            <a:r>
              <a:rPr dirty="0"/>
              <a:t> AI </a:t>
            </a:r>
            <a:r>
              <a:rPr dirty="0" err="1"/>
              <a:t>降低压力</a:t>
            </a:r>
            <a:r>
              <a:rPr dirty="0"/>
              <a:t>？</a:t>
            </a:r>
          </a:p>
          <a:p>
            <a:r>
              <a:rPr dirty="0"/>
              <a:t>- </a:t>
            </a:r>
            <a:r>
              <a:rPr dirty="0" err="1"/>
              <a:t>审核人员每天检查很多材料，能不能让</a:t>
            </a:r>
            <a:r>
              <a:rPr dirty="0"/>
              <a:t> AI </a:t>
            </a:r>
            <a:r>
              <a:rPr dirty="0" err="1"/>
              <a:t>先发现问题</a:t>
            </a:r>
            <a:r>
              <a:rPr dirty="0"/>
              <a:t>？</a:t>
            </a:r>
          </a:p>
          <a:p>
            <a:r>
              <a:rPr dirty="0"/>
              <a:t>- </a:t>
            </a:r>
            <a:r>
              <a:rPr dirty="0" err="1"/>
              <a:t>售前准备一份客户方案要花两三天，能不能把时间缩短</a:t>
            </a:r>
            <a:r>
              <a:rPr dirty="0"/>
              <a:t>？</a:t>
            </a:r>
          </a:p>
          <a:p>
            <a:endParaRPr dirty="0"/>
          </a:p>
          <a:p>
            <a:r>
              <a:rPr dirty="0" err="1"/>
              <a:t>面对这些问题，产品经理需要自己完成一连串判断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这到底是不是一个值得解决的问题</a:t>
            </a:r>
            <a:r>
              <a:rPr dirty="0"/>
              <a:t>；</a:t>
            </a:r>
          </a:p>
          <a:p>
            <a:r>
              <a:rPr dirty="0"/>
              <a:t>2. </a:t>
            </a:r>
            <a:r>
              <a:rPr dirty="0" err="1"/>
              <a:t>谁在什么情况下使用产品</a:t>
            </a:r>
            <a:r>
              <a:rPr dirty="0"/>
              <a:t>；</a:t>
            </a:r>
          </a:p>
          <a:p>
            <a:r>
              <a:rPr dirty="0"/>
              <a:t>3. </a:t>
            </a:r>
            <a:r>
              <a:rPr dirty="0" err="1"/>
              <a:t>现在的业务流程怎样运行</a:t>
            </a:r>
            <a:r>
              <a:rPr dirty="0"/>
              <a:t>；</a:t>
            </a:r>
          </a:p>
          <a:p>
            <a:r>
              <a:rPr dirty="0"/>
              <a:t>4. </a:t>
            </a:r>
            <a:r>
              <a:rPr dirty="0" err="1"/>
              <a:t>哪些环节适合交给大模型</a:t>
            </a:r>
            <a:r>
              <a:rPr dirty="0"/>
              <a:t>；</a:t>
            </a:r>
          </a:p>
          <a:p>
            <a:r>
              <a:rPr dirty="0"/>
              <a:t>5. </a:t>
            </a:r>
            <a:r>
              <a:rPr dirty="0" err="1"/>
              <a:t>哪些环节应该使用规则、知识库、业务接口或人工</a:t>
            </a:r>
            <a:r>
              <a:rPr dirty="0"/>
              <a:t>；</a:t>
            </a:r>
          </a:p>
          <a:p>
            <a:r>
              <a:rPr dirty="0"/>
              <a:t>6. </a:t>
            </a:r>
            <a:r>
              <a:rPr dirty="0" err="1"/>
              <a:t>第一版做到哪里就能够验证价值</a:t>
            </a:r>
            <a:r>
              <a:rPr dirty="0"/>
              <a:t>；</a:t>
            </a:r>
          </a:p>
          <a:p>
            <a:r>
              <a:rPr dirty="0"/>
              <a:t>7. </a:t>
            </a:r>
            <a:r>
              <a:rPr dirty="0" err="1"/>
              <a:t>怎样判断产品是真的有效，而不是只做出了一个演示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第一阶段解决的是“</a:t>
            </a:r>
            <a:r>
              <a:rPr dirty="0" err="1"/>
              <a:t>每一种方法分别是什么</a:t>
            </a:r>
            <a:r>
              <a:rPr dirty="0"/>
              <a:t>”。</a:t>
            </a:r>
            <a:r>
              <a:rPr dirty="0" err="1"/>
              <a:t>第二阶段要训练的是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&gt; </a:t>
            </a:r>
            <a:r>
              <a:rPr dirty="0" err="1"/>
              <a:t>面对一个不完整的业务问题，能否把已经学过的知识连续地组织起来，做成一套能够解释、验证和迭代的</a:t>
            </a:r>
            <a:r>
              <a:rPr dirty="0"/>
              <a:t> AI </a:t>
            </a:r>
            <a:r>
              <a:rPr dirty="0" err="1"/>
              <a:t>产品方案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因此，第二阶段不再按技术名词讲课。我们不会分别做一个</a:t>
            </a:r>
            <a:r>
              <a:rPr dirty="0"/>
              <a:t> RAG </a:t>
            </a:r>
            <a:r>
              <a:rPr dirty="0" err="1"/>
              <a:t>项目、一个</a:t>
            </a:r>
            <a:r>
              <a:rPr dirty="0"/>
              <a:t> Workflow </a:t>
            </a:r>
            <a:r>
              <a:rPr dirty="0" err="1"/>
              <a:t>项目、一个</a:t>
            </a:r>
            <a:r>
              <a:rPr dirty="0"/>
              <a:t> Agent </a:t>
            </a:r>
            <a:r>
              <a:rPr dirty="0" err="1"/>
              <a:t>项目。课程会先给出真实业务问题，再根据问题决定需要组合哪些能力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例如，企业智能客服与业务办理项目可能同时需要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大模型理解用户到底在问什么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知识库提供产品、制度和操作说明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业务接口查询订单、账户和服务状态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规则判断身份、权限和办理条件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工作流推动退款、报修、预约等任务继续执行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人工处理投诉、高风险请求和模型无法判断的情况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如果产品经理只是说“我要做一个</a:t>
            </a:r>
            <a:r>
              <a:rPr dirty="0"/>
              <a:t> RAG </a:t>
            </a:r>
            <a:r>
              <a:rPr dirty="0" err="1"/>
              <a:t>客服</a:t>
            </a:r>
            <a:r>
              <a:rPr dirty="0"/>
              <a:t>”，</a:t>
            </a:r>
            <a:r>
              <a:rPr dirty="0" err="1"/>
              <a:t>实际上还没有完成产品判断。RAG</a:t>
            </a:r>
            <a:r>
              <a:rPr dirty="0"/>
              <a:t> </a:t>
            </a:r>
            <a:r>
              <a:rPr dirty="0" err="1"/>
              <a:t>只解决了知识获取的一部分问题，并没有解释服务如何完成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第二阶段真正训练的是：为了让业务问题得到解决，产品经理怎样安排模型、规则、数据、系统和人工之间的关系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公共项目与个人项目</a:t>
            </a:r>
            <a:endParaRPr dirty="0"/>
          </a:p>
          <a:p>
            <a:endParaRPr dirty="0"/>
          </a:p>
          <a:p>
            <a:r>
              <a:rPr dirty="0" err="1"/>
              <a:t>第二阶段安排三个公共项目，也要求每位学员完成三个个人项目。这两类项目承担不同作用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1. </a:t>
            </a:r>
            <a:r>
              <a:rPr dirty="0" err="1"/>
              <a:t>公共项目解决“没有共同参照”的问题</a:t>
            </a:r>
            <a:endParaRPr dirty="0"/>
          </a:p>
          <a:p>
            <a:endParaRPr dirty="0"/>
          </a:p>
          <a:p>
            <a:r>
              <a:rPr dirty="0"/>
              <a:t>如果一开始就让每位学员自由选题，会出现一个很现实的问题：有人做客服，有人做医疗，有人做内容，有人做招聘。每个人的业务背景、材料和产品范围都不一样，课堂很难建立共同标准。</a:t>
            </a:r>
          </a:p>
          <a:p>
            <a:endParaRPr dirty="0"/>
          </a:p>
          <a:p>
            <a:r>
              <a:rPr dirty="0" err="1"/>
              <a:t>因此，每一轮先由老师完整讲解一个公共项目。公共项目要展示的不只是最终答案，而是整个判断过程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原始需求为什么不够清楚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怎样梳理用户和业务流程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怎样判断</a:t>
            </a:r>
            <a:r>
              <a:rPr dirty="0"/>
              <a:t> AI </a:t>
            </a:r>
            <a:r>
              <a:rPr dirty="0" err="1"/>
              <a:t>应该介入哪一步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为什么某些功能放进</a:t>
            </a:r>
            <a:r>
              <a:rPr dirty="0"/>
              <a:t> </a:t>
            </a:r>
            <a:r>
              <a:rPr dirty="0" err="1"/>
              <a:t>MVP，另一些暂时不做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页面怎样承载模型、规则和人工协作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测试时应该准备哪些问题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发现</a:t>
            </a:r>
            <a:r>
              <a:rPr dirty="0"/>
              <a:t> Bad Case </a:t>
            </a:r>
            <a:r>
              <a:rPr dirty="0" err="1"/>
              <a:t>后怎样修改方案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公共项目相当于一套教学母本。全班使用相同材料，才能讨论同一个问题，也才能看见不同方案之间的差异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2. </a:t>
            </a:r>
            <a:r>
              <a:rPr dirty="0" err="1"/>
              <a:t>个人项目解决“会听但不会做”的问题</a:t>
            </a:r>
            <a:endParaRPr dirty="0"/>
          </a:p>
          <a:p>
            <a:endParaRPr dirty="0"/>
          </a:p>
          <a:p>
            <a:r>
              <a:rPr dirty="0" err="1"/>
              <a:t>只听公共项目，学员很容易产生一种错觉：老师讲的时候都能听懂，所以自己已经会了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但当项目换成自己的行业，很多问题会重新出现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用户是谁并不明确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工作流程说不清楚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业务材料拿不到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规则和大模型的边界不知道怎样划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想做的功能太多，无法形成第一版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能做出演示，却不知道怎样验证结果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所以每讲完一个公共项目，学员都要把同一种产品方法迁移到自己的业务中，独立完成一个个人项目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公共项目证明老师讲清楚了，个人项目才证明学员真正掌握了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3. </a:t>
            </a:r>
            <a:r>
              <a:rPr dirty="0" err="1"/>
              <a:t>个人项目不是给公共项目换一个名字</a:t>
            </a:r>
            <a:endParaRPr dirty="0"/>
          </a:p>
          <a:p>
            <a:endParaRPr dirty="0"/>
          </a:p>
          <a:p>
            <a:r>
              <a:rPr dirty="0"/>
              <a:t>迁移不等于把“企业客服”改成“</a:t>
            </a:r>
            <a:r>
              <a:rPr dirty="0" err="1"/>
              <a:t>医疗客服</a:t>
            </a:r>
            <a:r>
              <a:rPr dirty="0"/>
              <a:t>”，</a:t>
            </a:r>
            <a:r>
              <a:rPr dirty="0" err="1"/>
              <a:t>也不等于更换页面颜色和行业词汇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一个项目真正发生迁移，至少要重新确定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用户是谁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用户在什么时刻遇到什么问题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当前流程怎样完成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可以使用哪些材料、数据和规则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哪些判断存在行业风险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第一版产品解决到什么程度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用什么案例判断产品有效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如果这些内容没有变化，项目仍然只是课堂案例的复制品。只有业务流程、输入材料、规则、异常情况和评测方式都进入自己的场景，项目才真正属于学员。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公共项目要展示判断过程</a:t>
            </a:r>
            <a:endParaRPr dirty="0"/>
          </a:p>
          <a:p>
            <a:endParaRPr dirty="0"/>
          </a:p>
          <a:p>
            <a:r>
              <a:rPr dirty="0"/>
              <a:t>如果一开始就让每位学员自由选题，会出现一个很现实的问题：有人做客服，有人做医疗，有人做内容，有人做招聘。每个人的业务背景、材料和产品范围都不一样，课堂很难建立共同标准。</a:t>
            </a:r>
          </a:p>
          <a:p>
            <a:endParaRPr dirty="0"/>
          </a:p>
          <a:p>
            <a:r>
              <a:rPr dirty="0" err="1"/>
              <a:t>因此，每一轮先由老师完整讲解一个公共项目。公共项目要展示的不只是最终答案，而是整个判断过程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原始需求为什么不够清楚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怎样梳理用户和业务流程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怎样判断</a:t>
            </a:r>
            <a:r>
              <a:rPr dirty="0"/>
              <a:t> AI </a:t>
            </a:r>
            <a:r>
              <a:rPr dirty="0" err="1"/>
              <a:t>应该介入哪一步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为什么某些功能放进</a:t>
            </a:r>
            <a:r>
              <a:rPr dirty="0"/>
              <a:t> </a:t>
            </a:r>
            <a:r>
              <a:rPr dirty="0" err="1"/>
              <a:t>MVP，另一些暂时不做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页面怎样承载模型、规则和人工协作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测试时应该准备哪些问题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发现</a:t>
            </a:r>
            <a:r>
              <a:rPr dirty="0"/>
              <a:t> Bad Case </a:t>
            </a:r>
            <a:r>
              <a:rPr dirty="0" err="1"/>
              <a:t>后怎样修改方案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公共项目相当于一套教学母本。全班使用相同材料，才能讨论同一个问题，也才能看见不同方案之间的差异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个人项目必须真正发生变化</a:t>
            </a:r>
            <a:endParaRPr dirty="0"/>
          </a:p>
          <a:p>
            <a:endParaRPr dirty="0"/>
          </a:p>
          <a:p>
            <a:r>
              <a:rPr dirty="0"/>
              <a:t>迁移不等于把“企业客服”改成“</a:t>
            </a:r>
            <a:r>
              <a:rPr dirty="0" err="1"/>
              <a:t>医疗客服</a:t>
            </a:r>
            <a:r>
              <a:rPr dirty="0"/>
              <a:t>”，</a:t>
            </a:r>
            <a:r>
              <a:rPr dirty="0" err="1"/>
              <a:t>也不等于更换页面颜色和行业词汇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一个项目真正发生迁移，至少要重新确定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用户是谁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用户在什么时刻遇到什么问题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当前流程怎样完成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可以使用哪些材料、数据和规则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哪些判断存在行业风险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第一版产品解决到什么程度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用什么案例判断产品有效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如果这些内容没有变化，项目仍然只是课堂案例的复制品。只有业务流程、输入材料、规则、异常情况和评测方式都进入自己的场景，项目才真正属于学员。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一轮项目的推进方式</a:t>
            </a:r>
            <a:endParaRPr dirty="0"/>
          </a:p>
          <a:p>
            <a:endParaRPr dirty="0"/>
          </a:p>
          <a:p>
            <a:r>
              <a:rPr dirty="0" err="1"/>
              <a:t>三个项目都使用同一套学习节奏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&gt; </a:t>
            </a:r>
            <a:r>
              <a:rPr dirty="0" err="1"/>
              <a:t>老师讲公共项目</a:t>
            </a:r>
            <a:r>
              <a:rPr dirty="0"/>
              <a:t> → </a:t>
            </a:r>
            <a:r>
              <a:rPr dirty="0" err="1"/>
              <a:t>学员完成个人项目</a:t>
            </a:r>
            <a:r>
              <a:rPr dirty="0"/>
              <a:t> V0.1 → </a:t>
            </a:r>
            <a:r>
              <a:rPr dirty="0" err="1"/>
              <a:t>小组互评</a:t>
            </a:r>
            <a:r>
              <a:rPr dirty="0"/>
              <a:t> → </a:t>
            </a:r>
            <a:r>
              <a:rPr dirty="0" err="1"/>
              <a:t>老师集中点评</a:t>
            </a:r>
            <a:r>
              <a:rPr dirty="0"/>
              <a:t> → </a:t>
            </a:r>
            <a:r>
              <a:rPr dirty="0" err="1"/>
              <a:t>学员修改为</a:t>
            </a:r>
            <a:r>
              <a:rPr dirty="0"/>
              <a:t> V1.0。</a:t>
            </a:r>
          </a:p>
          <a:p>
            <a:endParaRPr dirty="0"/>
          </a:p>
          <a:p>
            <a:r>
              <a:rPr dirty="0" err="1"/>
              <a:t>这套节奏不是为了增加作业，而是模拟真实产品工作的几个关键过程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1. </a:t>
            </a:r>
            <a:r>
              <a:rPr dirty="0" err="1"/>
              <a:t>老师完整讲解公共项目</a:t>
            </a:r>
            <a:endParaRPr dirty="0"/>
          </a:p>
          <a:p>
            <a:endParaRPr dirty="0"/>
          </a:p>
          <a:p>
            <a:r>
              <a:rPr dirty="0" err="1"/>
              <a:t>公共项目课可以讲到三小时。课堂不是快速浏览一份</a:t>
            </a:r>
            <a:r>
              <a:rPr dirty="0"/>
              <a:t> </a:t>
            </a:r>
            <a:r>
              <a:rPr dirty="0" err="1"/>
              <a:t>PRD，而是把一个项目从业务背景一直推进到产品方案、核心页面、测试和迭代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学员在这一环节要观察的，不只是“</a:t>
            </a:r>
            <a:r>
              <a:rPr dirty="0" err="1"/>
              <a:t>最后做了哪些功能</a:t>
            </a:r>
            <a:r>
              <a:rPr dirty="0"/>
              <a:t>”，</a:t>
            </a:r>
            <a:r>
              <a:rPr dirty="0" err="1"/>
              <a:t>而是每一个关键选择背后的理由。例如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为什么这个问题值得用</a:t>
            </a:r>
            <a:r>
              <a:rPr dirty="0"/>
              <a:t> AI；</a:t>
            </a:r>
          </a:p>
          <a:p>
            <a:r>
              <a:rPr dirty="0"/>
              <a:t>- </a:t>
            </a:r>
            <a:r>
              <a:rPr dirty="0" err="1"/>
              <a:t>为什么不是所有内容都交给模型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为什么必须保留人工接管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为什么某个看起来很高级的功能没有进入</a:t>
            </a:r>
            <a:r>
              <a:rPr dirty="0"/>
              <a:t> MVP；</a:t>
            </a:r>
          </a:p>
          <a:p>
            <a:r>
              <a:rPr dirty="0"/>
              <a:t>- </a:t>
            </a:r>
            <a:r>
              <a:rPr dirty="0" err="1"/>
              <a:t>为什么测试集要包含正常、异常和边界案例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2. </a:t>
            </a:r>
            <a:r>
              <a:rPr dirty="0" err="1"/>
              <a:t>学员独立完成个人项目</a:t>
            </a:r>
            <a:r>
              <a:rPr dirty="0"/>
              <a:t> V0.1</a:t>
            </a:r>
          </a:p>
          <a:p>
            <a:endParaRPr dirty="0"/>
          </a:p>
          <a:p>
            <a:r>
              <a:rPr dirty="0" err="1"/>
              <a:t>公共项目课后，每位学员围绕自己的业务场景完成第一个版本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V0.1 不追求精美，也不要求一次正确。它的价值是把学员当前的判断暴露出来：哪里讲清楚了，哪里只是一个想法，哪里缺少业务材料，哪里范围过大。</a:t>
            </a:r>
          </a:p>
          <a:p>
            <a:endParaRPr dirty="0"/>
          </a:p>
          <a:p>
            <a:r>
              <a:rPr dirty="0"/>
              <a:t>### 3. </a:t>
            </a:r>
            <a:r>
              <a:rPr dirty="0" err="1"/>
              <a:t>固定小组进行互评</a:t>
            </a:r>
            <a:endParaRPr dirty="0"/>
          </a:p>
          <a:p>
            <a:endParaRPr dirty="0"/>
          </a:p>
          <a:p>
            <a:r>
              <a:rPr dirty="0" err="1"/>
              <a:t>第二阶段采用固定的</a:t>
            </a:r>
            <a:r>
              <a:rPr dirty="0"/>
              <a:t> 4—5 </a:t>
            </a:r>
            <a:r>
              <a:rPr dirty="0" err="1"/>
              <a:t>人互评小组，但小组不共同完成一个项目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每个人仍然独立选题、独立制作、独立提交。小组的作用是让每位学员在老师点评之前，先获得几位同学的外部视角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互评时不要求同学替别人设计产品，只需要围绕统一问题判断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我能不能听懂这个项目到底解决什么问题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用户和使用时刻是否具体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现在的业务过程是否讲清楚</a:t>
            </a:r>
            <a:r>
              <a:rPr dirty="0"/>
              <a:t>；</a:t>
            </a:r>
          </a:p>
          <a:p>
            <a:r>
              <a:rPr dirty="0"/>
              <a:t>- AI </a:t>
            </a:r>
            <a:r>
              <a:rPr dirty="0" err="1"/>
              <a:t>的必要性是否成立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材料是否能够获得</a:t>
            </a:r>
            <a:r>
              <a:rPr dirty="0"/>
              <a:t>；</a:t>
            </a:r>
          </a:p>
          <a:p>
            <a:r>
              <a:rPr dirty="0"/>
              <a:t>- MVP </a:t>
            </a:r>
            <a:r>
              <a:rPr dirty="0" err="1"/>
              <a:t>是否过大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哪个地方最需要老师进一步点评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固定小组还有一个额外价值：同组成员会连续看到彼此三个项目的变化，更容易发现一个人反复出现的习惯问题，例如总是把范围做得太大、总是忽略异常流程，或者过早进入页面设计。</a:t>
            </a:r>
          </a:p>
          <a:p>
            <a:endParaRPr dirty="0"/>
          </a:p>
          <a:p>
            <a:r>
              <a:rPr dirty="0"/>
              <a:t>### 4. </a:t>
            </a:r>
            <a:r>
              <a:rPr dirty="0" err="1"/>
              <a:t>老师集中点评代表问题</a:t>
            </a:r>
            <a:endParaRPr dirty="0"/>
          </a:p>
          <a:p>
            <a:endParaRPr dirty="0"/>
          </a:p>
          <a:p>
            <a:r>
              <a:rPr dirty="0" err="1"/>
              <a:t>人数较多时，老师不可能逐页讲完每一份作业。因此，小组需要从成员项目中归纳最典型的问题，再由老师在课堂上集中点评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老师点评的重点不是判断“</a:t>
            </a:r>
            <a:r>
              <a:rPr dirty="0" err="1"/>
              <a:t>这个创意好不好</a:t>
            </a:r>
            <a:r>
              <a:rPr dirty="0"/>
              <a:t>”，</a:t>
            </a:r>
            <a:r>
              <a:rPr dirty="0" err="1"/>
              <a:t>而是示范怎样修改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一个模糊场景怎样缩小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一个功能清单怎样变成业务闭环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一个过度依赖大模型的方案怎样加入规则与人工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一个看起来普通的项目怎样通过业务深度变得专业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一个无法验证的项目怎样建立样本和指标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即使没有被单独点评，学员也要把典型问题映射回自己的项目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5. </a:t>
            </a:r>
            <a:r>
              <a:rPr dirty="0" err="1"/>
              <a:t>学员修改形成</a:t>
            </a:r>
            <a:r>
              <a:rPr dirty="0"/>
              <a:t> V1.0</a:t>
            </a:r>
          </a:p>
          <a:p>
            <a:endParaRPr dirty="0"/>
          </a:p>
          <a:p>
            <a:r>
              <a:rPr dirty="0"/>
              <a:t>点评后不能只“</a:t>
            </a:r>
            <a:r>
              <a:rPr dirty="0" err="1"/>
              <a:t>听懂</a:t>
            </a:r>
            <a:r>
              <a:rPr dirty="0"/>
              <a:t>”。</a:t>
            </a:r>
            <a:r>
              <a:rPr dirty="0" err="1"/>
              <a:t>每位学员都要提交修改后的</a:t>
            </a:r>
            <a:r>
              <a:rPr dirty="0"/>
              <a:t> V1.0，并保留修改记录：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原来怎样设计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收到了什么问题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修改了什么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为什么这样修改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哪些问题暂时没有解决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在作品集和面试中，修改过程往往比一张精美原型更能证明产品能力。因为真实产品工作从来不是一次写出正确答案，而是不断发现问题、做出取舍并留下依据。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固定小组怎样互评</a:t>
            </a:r>
            <a:endParaRPr dirty="0"/>
          </a:p>
          <a:p>
            <a:endParaRPr dirty="0"/>
          </a:p>
          <a:p>
            <a:r>
              <a:rPr dirty="0" err="1"/>
              <a:t>第二阶段采用固定的</a:t>
            </a:r>
            <a:r>
              <a:rPr dirty="0"/>
              <a:t> 4—5 </a:t>
            </a:r>
            <a:r>
              <a:rPr dirty="0" err="1"/>
              <a:t>人互评小组，但小组不共同完成一个项目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每个人仍然独立选题、独立制作、独立提交。小组的作用是让每位学员在老师点评之前，先获得几位同学的外部视角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互评时不要求同学替别人设计产品，只需要围绕统一问题判断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我能不能听懂这个项目到底解决什么问题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用户和使用时刻是否具体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现在的业务过程是否讲清楚</a:t>
            </a:r>
            <a:r>
              <a:rPr dirty="0"/>
              <a:t>；</a:t>
            </a:r>
          </a:p>
          <a:p>
            <a:r>
              <a:rPr dirty="0"/>
              <a:t>- AI </a:t>
            </a:r>
            <a:r>
              <a:rPr dirty="0" err="1"/>
              <a:t>的必要性是否成立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材料是否能够获得</a:t>
            </a:r>
            <a:r>
              <a:rPr dirty="0"/>
              <a:t>；</a:t>
            </a:r>
          </a:p>
          <a:p>
            <a:r>
              <a:rPr dirty="0"/>
              <a:t>- MVP </a:t>
            </a:r>
            <a:r>
              <a:rPr dirty="0" err="1"/>
              <a:t>是否过大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哪个地方最需要老师进一步点评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固定小组还有一个额外价值：同组成员会连续看到彼此三个项目的变化，更容易发现一个人反复出现的习惯问题，例如总是把范围做得太大、总是忽略异常流程，或者过早进入页面设计。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老师点评的重点</a:t>
            </a:r>
            <a:endParaRPr dirty="0"/>
          </a:p>
          <a:p>
            <a:endParaRPr dirty="0"/>
          </a:p>
          <a:p>
            <a:r>
              <a:rPr dirty="0" err="1"/>
              <a:t>人数较多时，老师不可能逐页讲完每一份作业。因此，小组需要从成员项目中归纳最典型的问题，再由老师在课堂上集中点评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老师点评的重点不是判断“</a:t>
            </a:r>
            <a:r>
              <a:rPr dirty="0" err="1"/>
              <a:t>这个创意好不好</a:t>
            </a:r>
            <a:r>
              <a:rPr dirty="0"/>
              <a:t>”，</a:t>
            </a:r>
            <a:r>
              <a:rPr dirty="0" err="1"/>
              <a:t>而是示范怎样修改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一个模糊场景怎样缩小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一个功能清单怎样变成业务闭环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一个过度依赖大模型的方案怎样加入规则与人工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一个看起来普通的项目怎样通过业务深度变得专业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一个无法验证的项目怎样建立样本和指标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即使没有被单独点评，学员也要把典型问题映射回自己的项目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为什么不共同完成一个项目</a:t>
            </a:r>
            <a:endParaRPr dirty="0"/>
          </a:p>
          <a:p>
            <a:endParaRPr dirty="0"/>
          </a:p>
          <a:p>
            <a:r>
              <a:rPr dirty="0"/>
              <a:t>线上项目课很容易想到“</a:t>
            </a:r>
            <a:r>
              <a:rPr dirty="0" err="1"/>
              <a:t>分组做项目</a:t>
            </a:r>
            <a:r>
              <a:rPr dirty="0"/>
              <a:t>”。</a:t>
            </a:r>
            <a:r>
              <a:rPr dirty="0" err="1"/>
              <a:t>但本阶段不采用小组共同交付，原因有三点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第一，小组项目很容易变成分工项目。有人写背景，有人画原型，有人做</a:t>
            </a:r>
            <a:r>
              <a:rPr dirty="0"/>
              <a:t> </a:t>
            </a:r>
            <a:r>
              <a:rPr dirty="0" err="1"/>
              <a:t>Demo，最终每个人只掌握其中一部分，无法独立讲清完整项目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第二，课程最终希望每位学员获得可以进入个人作品集和简历的成果。如果五个人共同完成同一个项目，很难界定每个人做过哪些关键判断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第三，学员的行业经历不同。独立项目更容易与自己的工作经验或目标岗位结合，也更容易在面试中讲出可信的业务细节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因此，我们保留小组互评的协作价值，但不牺牲个人完整交付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&gt; </a:t>
            </a:r>
            <a:r>
              <a:rPr dirty="0" err="1"/>
              <a:t>小组帮助你发现问题，项目仍然由你独立负责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第二阶段的最终成果</a:t>
            </a:r>
            <a:endParaRPr dirty="0"/>
          </a:p>
          <a:p>
            <a:endParaRPr dirty="0"/>
          </a:p>
          <a:p>
            <a:r>
              <a:rPr dirty="0" err="1"/>
              <a:t>每位学员最终至少获得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三个独立完成的个人</a:t>
            </a:r>
            <a:r>
              <a:rPr dirty="0"/>
              <a:t> AI </a:t>
            </a:r>
            <a:r>
              <a:rPr dirty="0" err="1"/>
              <a:t>产品项目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一个进一步做深的主项目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一套能够放进作品集的项目材料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一套能够在简历和面试中讲清楚的项目表达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三轮从问题、反馈到修改的完整记录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三个项目不要求全部开发成生产级系统，也不要求三个项目做成完全相同的深度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更合理的结果是：三个项目都能够完整说明业务和方案，其中一个主项目拥有更扎实的原型、样本、测试、迭代或</a:t>
            </a:r>
            <a:r>
              <a:rPr dirty="0"/>
              <a:t> Demo。</a:t>
            </a:r>
          </a:p>
          <a:p>
            <a:endParaRPr dirty="0"/>
          </a:p>
          <a:p>
            <a:r>
              <a:rPr dirty="0"/>
              <a:t>这也意味着，第二阶段的价值不只是“</a:t>
            </a:r>
            <a:r>
              <a:rPr dirty="0" err="1"/>
              <a:t>多做了三个作业</a:t>
            </a:r>
            <a:r>
              <a:rPr dirty="0"/>
              <a:t>”。</a:t>
            </a:r>
            <a:r>
              <a:rPr dirty="0" err="1"/>
              <a:t>学员会反复练习一套可以迁移的工作方法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&gt; </a:t>
            </a:r>
            <a:r>
              <a:rPr dirty="0" err="1"/>
              <a:t>看懂业务问题，组织产品方案，做出范围取舍，用材料和测试支撑判断，再把过程表达为职业成果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---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公共项目的六项标准</a:t>
            </a:r>
            <a:endParaRPr dirty="0"/>
          </a:p>
          <a:p>
            <a:endParaRPr dirty="0"/>
          </a:p>
          <a:p>
            <a:r>
              <a:rPr dirty="0" err="1"/>
              <a:t>课堂可以先请学员判断：什么项目最适合成为全班共同学习的公共项目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使用当前最热门的模型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名字听起来足够先进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很容易生成一个漂亮</a:t>
            </a:r>
            <a:r>
              <a:rPr dirty="0"/>
              <a:t> Demo；</a:t>
            </a:r>
          </a:p>
          <a:p>
            <a:r>
              <a:rPr dirty="0"/>
              <a:t>- </a:t>
            </a:r>
            <a:r>
              <a:rPr dirty="0" err="1"/>
              <a:t>有明确业务过程、真实材料和可判断结果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答案是最后一项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一个项目适不适合教学，不取决于名字是不是“</a:t>
            </a:r>
            <a:r>
              <a:rPr dirty="0" err="1"/>
              <a:t>智能体</a:t>
            </a:r>
            <a:r>
              <a:rPr dirty="0"/>
              <a:t>”，</a:t>
            </a:r>
            <a:r>
              <a:rPr dirty="0" err="1"/>
              <a:t>也不取决于技术栈看起来有多复杂。它至少要满足以下条件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1. </a:t>
            </a:r>
            <a:r>
              <a:rPr dirty="0" err="1"/>
              <a:t>对应真实、常见而且有价值的业务问题</a:t>
            </a:r>
            <a:endParaRPr dirty="0"/>
          </a:p>
          <a:p>
            <a:endParaRPr dirty="0"/>
          </a:p>
          <a:p>
            <a:r>
              <a:rPr dirty="0" err="1"/>
              <a:t>项目不能只是为了展示模型能力。用户必须在现实中持续遇到这个问题，组织也愿意投入时间或成本解决它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2. </a:t>
            </a:r>
            <a:r>
              <a:rPr dirty="0" err="1"/>
              <a:t>能够呈现完整业务过程</a:t>
            </a:r>
            <a:endParaRPr dirty="0"/>
          </a:p>
          <a:p>
            <a:endParaRPr dirty="0"/>
          </a:p>
          <a:p>
            <a:r>
              <a:rPr dirty="0" err="1"/>
              <a:t>课堂需要讲清输入从哪里来、谁做判断、结果交给谁、异常怎样处理，以及产品怎样进入现有流程。只有一句“上传文件，AI</a:t>
            </a:r>
            <a:r>
              <a:rPr dirty="0"/>
              <a:t> </a:t>
            </a:r>
            <a:r>
              <a:rPr dirty="0" err="1"/>
              <a:t>自动分析”是不够的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3. </a:t>
            </a:r>
            <a:r>
              <a:rPr dirty="0" err="1"/>
              <a:t>能自然组合多种</a:t>
            </a:r>
            <a:r>
              <a:rPr dirty="0"/>
              <a:t> AI </a:t>
            </a:r>
            <a:r>
              <a:rPr dirty="0" err="1"/>
              <a:t>产品能力</a:t>
            </a:r>
            <a:endParaRPr dirty="0"/>
          </a:p>
          <a:p>
            <a:endParaRPr dirty="0"/>
          </a:p>
          <a:p>
            <a:r>
              <a:rPr dirty="0" err="1"/>
              <a:t>好的公共项目不应该被某一种技术绑住。它应该允许我们讨论模型、知识库、规则、业务系统、工作流和人工怎样组合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4. </a:t>
            </a:r>
            <a:r>
              <a:rPr dirty="0" err="1"/>
              <a:t>能够准备材料和测试案例</a:t>
            </a:r>
            <a:endParaRPr dirty="0"/>
          </a:p>
          <a:p>
            <a:endParaRPr dirty="0"/>
          </a:p>
          <a:p>
            <a:r>
              <a:rPr dirty="0"/>
              <a:t>没有材料，就无法讨论模型输入；没有正常、异常和边界案例，就无法判断产品是否可靠。适合上课的项目必须能够形成可演示、可评测的样本。</a:t>
            </a:r>
          </a:p>
          <a:p>
            <a:endParaRPr dirty="0"/>
          </a:p>
          <a:p>
            <a:r>
              <a:rPr dirty="0"/>
              <a:t>### 5. </a:t>
            </a:r>
            <a:r>
              <a:rPr dirty="0" err="1"/>
              <a:t>能迁移到多个行业和岗位</a:t>
            </a:r>
            <a:endParaRPr dirty="0"/>
          </a:p>
          <a:p>
            <a:endParaRPr dirty="0"/>
          </a:p>
          <a:p>
            <a:r>
              <a:rPr dirty="0"/>
              <a:t>全班学员的背景不同。公共项目必须像一种“母题”：业务结构稳定，但可以换成不同领域的具体问题。这样每位学员才能从中找到与自己相关的个人项目。</a:t>
            </a:r>
          </a:p>
          <a:p>
            <a:endParaRPr dirty="0"/>
          </a:p>
          <a:p>
            <a:r>
              <a:rPr dirty="0"/>
              <a:t>### 6. </a:t>
            </a:r>
            <a:r>
              <a:rPr dirty="0" err="1"/>
              <a:t>最终能够形成作品集中的专业内容</a:t>
            </a:r>
            <a:endParaRPr dirty="0"/>
          </a:p>
          <a:p>
            <a:endParaRPr dirty="0"/>
          </a:p>
          <a:p>
            <a:r>
              <a:rPr dirty="0" err="1"/>
              <a:t>项目要允许学员展示业务理解、流程设计、AI</a:t>
            </a:r>
            <a:r>
              <a:rPr dirty="0"/>
              <a:t> </a:t>
            </a:r>
            <a:r>
              <a:rPr dirty="0" err="1"/>
              <a:t>边界、MVP</a:t>
            </a:r>
            <a:r>
              <a:rPr dirty="0"/>
              <a:t> </a:t>
            </a:r>
            <a:r>
              <a:rPr dirty="0" err="1"/>
              <a:t>取舍、测试与迭代，而不只是展示几张页面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公共项目还要便于学习和迁移</a:t>
            </a:r>
            <a:endParaRPr dirty="0"/>
          </a:p>
          <a:p>
            <a:endParaRPr dirty="0"/>
          </a:p>
          <a:p>
            <a:r>
              <a:rPr dirty="0" err="1"/>
              <a:t>课堂可以先请学员判断：什么项目最适合成为全班共同学习的公共项目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使用当前最热门的模型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名字听起来足够先进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很容易生成一个漂亮</a:t>
            </a:r>
            <a:r>
              <a:rPr dirty="0"/>
              <a:t> Demo；</a:t>
            </a:r>
          </a:p>
          <a:p>
            <a:r>
              <a:rPr dirty="0"/>
              <a:t>- </a:t>
            </a:r>
            <a:r>
              <a:rPr dirty="0" err="1"/>
              <a:t>有明确业务过程、真实材料和可判断结果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答案是最后一项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一个项目适不适合教学，不取决于名字是不是“</a:t>
            </a:r>
            <a:r>
              <a:rPr dirty="0" err="1"/>
              <a:t>智能体</a:t>
            </a:r>
            <a:r>
              <a:rPr dirty="0"/>
              <a:t>”，</a:t>
            </a:r>
            <a:r>
              <a:rPr dirty="0" err="1"/>
              <a:t>也不取决于技术栈看起来有多复杂。它至少要满足以下条件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1. </a:t>
            </a:r>
            <a:r>
              <a:rPr dirty="0" err="1"/>
              <a:t>对应真实、常见而且有价值的业务问题</a:t>
            </a:r>
            <a:endParaRPr dirty="0"/>
          </a:p>
          <a:p>
            <a:endParaRPr dirty="0"/>
          </a:p>
          <a:p>
            <a:r>
              <a:rPr dirty="0" err="1"/>
              <a:t>项目不能只是为了展示模型能力。用户必须在现实中持续遇到这个问题，组织也愿意投入时间或成本解决它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2. </a:t>
            </a:r>
            <a:r>
              <a:rPr dirty="0" err="1"/>
              <a:t>能够呈现完整业务过程</a:t>
            </a:r>
            <a:endParaRPr dirty="0"/>
          </a:p>
          <a:p>
            <a:endParaRPr dirty="0"/>
          </a:p>
          <a:p>
            <a:r>
              <a:rPr dirty="0" err="1"/>
              <a:t>课堂需要讲清输入从哪里来、谁做判断、结果交给谁、异常怎样处理，以及产品怎样进入现有流程。只有一句“上传文件，AI</a:t>
            </a:r>
            <a:r>
              <a:rPr dirty="0"/>
              <a:t> </a:t>
            </a:r>
            <a:r>
              <a:rPr dirty="0" err="1"/>
              <a:t>自动分析”是不够的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3. </a:t>
            </a:r>
            <a:r>
              <a:rPr dirty="0" err="1"/>
              <a:t>能自然组合多种</a:t>
            </a:r>
            <a:r>
              <a:rPr dirty="0"/>
              <a:t> AI </a:t>
            </a:r>
            <a:r>
              <a:rPr dirty="0" err="1"/>
              <a:t>产品能力</a:t>
            </a:r>
            <a:endParaRPr dirty="0"/>
          </a:p>
          <a:p>
            <a:endParaRPr dirty="0"/>
          </a:p>
          <a:p>
            <a:r>
              <a:rPr dirty="0" err="1"/>
              <a:t>好的公共项目不应该被某一种技术绑住。它应该允许我们讨论模型、知识库、规则、业务系统、工作流和人工怎样组合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4. </a:t>
            </a:r>
            <a:r>
              <a:rPr dirty="0" err="1"/>
              <a:t>能够准备材料和测试案例</a:t>
            </a:r>
            <a:endParaRPr dirty="0"/>
          </a:p>
          <a:p>
            <a:endParaRPr dirty="0"/>
          </a:p>
          <a:p>
            <a:r>
              <a:rPr dirty="0"/>
              <a:t>没有材料，就无法讨论模型输入；没有正常、异常和边界案例，就无法判断产品是否可靠。适合上课的项目必须能够形成可演示、可评测的样本。</a:t>
            </a:r>
          </a:p>
          <a:p>
            <a:endParaRPr dirty="0"/>
          </a:p>
          <a:p>
            <a:r>
              <a:rPr dirty="0"/>
              <a:t>### 5. </a:t>
            </a:r>
            <a:r>
              <a:rPr dirty="0" err="1"/>
              <a:t>能迁移到多个行业和岗位</a:t>
            </a:r>
            <a:endParaRPr dirty="0"/>
          </a:p>
          <a:p>
            <a:endParaRPr dirty="0"/>
          </a:p>
          <a:p>
            <a:r>
              <a:rPr dirty="0"/>
              <a:t>全班学员的背景不同。公共项目必须像一种“母题”：业务结构稳定，但可以换成不同领域的具体问题。这样每位学员才能从中找到与自己相关的个人项目。</a:t>
            </a:r>
          </a:p>
          <a:p>
            <a:endParaRPr dirty="0"/>
          </a:p>
          <a:p>
            <a:r>
              <a:rPr dirty="0"/>
              <a:t>### 6. </a:t>
            </a:r>
            <a:r>
              <a:rPr dirty="0" err="1"/>
              <a:t>最终能够形成作品集中的专业内容</a:t>
            </a:r>
            <a:endParaRPr dirty="0"/>
          </a:p>
          <a:p>
            <a:endParaRPr dirty="0"/>
          </a:p>
          <a:p>
            <a:r>
              <a:rPr dirty="0" err="1"/>
              <a:t>项目要允许学员展示业务理解、流程设计、AI</a:t>
            </a:r>
            <a:r>
              <a:rPr dirty="0"/>
              <a:t> </a:t>
            </a:r>
            <a:r>
              <a:rPr dirty="0" err="1"/>
              <a:t>边界、MVP</a:t>
            </a:r>
            <a:r>
              <a:rPr dirty="0"/>
              <a:t> </a:t>
            </a:r>
            <a:r>
              <a:rPr dirty="0" err="1"/>
              <a:t>取舍、测试与迭代，而不只是展示几张页面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真实项目往往同时使用多种能力</a:t>
            </a:r>
            <a:endParaRPr dirty="0"/>
          </a:p>
          <a:p>
            <a:endParaRPr dirty="0"/>
          </a:p>
          <a:p>
            <a:r>
              <a:rPr dirty="0" err="1"/>
              <a:t>按技术方向设计课程，看起来结构很整齐，但容易产生两个问题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第一，学员会形成“先选技术，再找场景”的习惯。比如先决定做</a:t>
            </a:r>
            <a:r>
              <a:rPr dirty="0"/>
              <a:t> </a:t>
            </a:r>
            <a:r>
              <a:rPr dirty="0" err="1"/>
              <a:t>Agent，然后把一个原本用普通流程就能完成的任务包装成</a:t>
            </a:r>
            <a:r>
              <a:rPr dirty="0"/>
              <a:t> Agent。</a:t>
            </a:r>
          </a:p>
          <a:p>
            <a:endParaRPr dirty="0"/>
          </a:p>
          <a:p>
            <a:r>
              <a:rPr dirty="0" err="1"/>
              <a:t>第二，同一个真实项目本来就可能使用多种能力。如果硬把它归类为某一种技术，反而会遮蔽真正重要的产品判断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以材料审核为例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OCR </a:t>
            </a:r>
            <a:r>
              <a:rPr dirty="0" err="1"/>
              <a:t>或文档解析负责读取材料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大模型负责理解非结构化表述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确定性规则负责金额、日期、资格等硬性校验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知识库提供制度和审核标准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工作流把风险交给不同审核人员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人工对高风险和不确定结果承担最终责任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它既可以包含</a:t>
            </a:r>
            <a:r>
              <a:rPr dirty="0"/>
              <a:t> </a:t>
            </a:r>
            <a:r>
              <a:rPr dirty="0" err="1"/>
              <a:t>RAG，也可以包含</a:t>
            </a:r>
            <a:r>
              <a:rPr dirty="0"/>
              <a:t> </a:t>
            </a:r>
            <a:r>
              <a:rPr dirty="0" err="1"/>
              <a:t>Workflow，还可能有类似</a:t>
            </a:r>
            <a:r>
              <a:rPr dirty="0"/>
              <a:t> Agent 的任务编排。但项目的主题仍然是“</a:t>
            </a:r>
            <a:r>
              <a:rPr dirty="0" err="1"/>
              <a:t>怎样更可靠地完成业务审核</a:t>
            </a:r>
            <a:r>
              <a:rPr dirty="0"/>
              <a:t>”，</a:t>
            </a:r>
            <a:r>
              <a:rPr dirty="0" err="1"/>
              <a:t>而不是“怎样用某项技术</a:t>
            </a:r>
            <a:r>
              <a:rPr dirty="0"/>
              <a:t>”。</a:t>
            </a:r>
          </a:p>
          <a:p>
            <a:endParaRPr dirty="0"/>
          </a:p>
          <a:p>
            <a:r>
              <a:rPr dirty="0" err="1"/>
              <a:t>产品经理的专业性，恰恰体现在不被技术名词牵着走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材料审核项目的能力组合</a:t>
            </a:r>
            <a:endParaRPr dirty="0"/>
          </a:p>
          <a:p>
            <a:endParaRPr dirty="0"/>
          </a:p>
          <a:p>
            <a:r>
              <a:rPr dirty="0" err="1"/>
              <a:t>按技术方向设计课程，看起来结构很整齐，但容易产生两个问题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第一，学员会形成“先选技术，再找场景”的习惯。比如先决定做</a:t>
            </a:r>
            <a:r>
              <a:rPr dirty="0"/>
              <a:t> </a:t>
            </a:r>
            <a:r>
              <a:rPr dirty="0" err="1"/>
              <a:t>Agent，然后把一个原本用普通流程就能完成的任务包装成</a:t>
            </a:r>
            <a:r>
              <a:rPr dirty="0"/>
              <a:t> Agent。</a:t>
            </a:r>
          </a:p>
          <a:p>
            <a:endParaRPr dirty="0"/>
          </a:p>
          <a:p>
            <a:r>
              <a:rPr dirty="0" err="1"/>
              <a:t>第二，同一个真实项目本来就可能使用多种能力。如果硬把它归类为某一种技术，反而会遮蔽真正重要的产品判断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以材料审核为例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OCR </a:t>
            </a:r>
            <a:r>
              <a:rPr dirty="0" err="1"/>
              <a:t>或文档解析负责读取材料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大模型负责理解非结构化表述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确定性规则负责金额、日期、资格等硬性校验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知识库提供制度和审核标准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工作流把风险交给不同审核人员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人工对高风险和不确定结果承担最终责任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它既可以包含</a:t>
            </a:r>
            <a:r>
              <a:rPr dirty="0"/>
              <a:t> </a:t>
            </a:r>
            <a:r>
              <a:rPr dirty="0" err="1"/>
              <a:t>RAG，也可以包含</a:t>
            </a:r>
            <a:r>
              <a:rPr dirty="0"/>
              <a:t> </a:t>
            </a:r>
            <a:r>
              <a:rPr dirty="0" err="1"/>
              <a:t>Workflow，还可能有类似</a:t>
            </a:r>
            <a:r>
              <a:rPr dirty="0"/>
              <a:t> Agent 的任务编排。但项目的主题仍然是“</a:t>
            </a:r>
            <a:r>
              <a:rPr dirty="0" err="1"/>
              <a:t>怎样更可靠地完成业务审核</a:t>
            </a:r>
            <a:r>
              <a:rPr dirty="0"/>
              <a:t>”，</a:t>
            </a:r>
            <a:r>
              <a:rPr dirty="0" err="1"/>
              <a:t>而不是“怎样用某项技术</a:t>
            </a:r>
            <a:r>
              <a:rPr dirty="0"/>
              <a:t>”。</a:t>
            </a:r>
          </a:p>
          <a:p>
            <a:endParaRPr dirty="0"/>
          </a:p>
          <a:p>
            <a:r>
              <a:rPr dirty="0" err="1"/>
              <a:t>产品经理的专业性，恰恰体现在不被技术名词牵着走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三个公共项目覆盖的业务入口</a:t>
            </a:r>
            <a:endParaRPr dirty="0"/>
          </a:p>
          <a:p>
            <a:endParaRPr dirty="0"/>
          </a:p>
          <a:p>
            <a:r>
              <a:rPr dirty="0" err="1"/>
              <a:t>三个公共项目不是三个随机案例，而是三种非常典型的工作入口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| </a:t>
            </a:r>
            <a:r>
              <a:rPr dirty="0" err="1"/>
              <a:t>公共项目</a:t>
            </a:r>
            <a:r>
              <a:rPr dirty="0"/>
              <a:t> | </a:t>
            </a:r>
            <a:r>
              <a:rPr dirty="0" err="1"/>
              <a:t>工作从哪里开始</a:t>
            </a:r>
            <a:r>
              <a:rPr dirty="0"/>
              <a:t> | </a:t>
            </a:r>
            <a:r>
              <a:rPr dirty="0" err="1"/>
              <a:t>产品要完成什么</a:t>
            </a:r>
            <a:r>
              <a:rPr dirty="0"/>
              <a:t> | </a:t>
            </a:r>
            <a:r>
              <a:rPr dirty="0" err="1"/>
              <a:t>主要业务价值</a:t>
            </a:r>
            <a:r>
              <a:rPr dirty="0"/>
              <a:t> |</a:t>
            </a:r>
          </a:p>
          <a:p>
            <a:r>
              <a:rPr dirty="0"/>
              <a:t>|---|---|---|---|</a:t>
            </a:r>
          </a:p>
          <a:p>
            <a:r>
              <a:rPr dirty="0"/>
              <a:t>| </a:t>
            </a:r>
            <a:r>
              <a:rPr dirty="0" err="1"/>
              <a:t>企业智能客服与业务办理</a:t>
            </a:r>
            <a:r>
              <a:rPr dirty="0"/>
              <a:t> | </a:t>
            </a:r>
            <a:r>
              <a:rPr dirty="0" err="1"/>
              <a:t>一个用户提出问题或请求</a:t>
            </a:r>
            <a:r>
              <a:rPr dirty="0"/>
              <a:t> | </a:t>
            </a:r>
            <a:r>
              <a:rPr dirty="0" err="1"/>
              <a:t>理解问题、调用知识与系统、推动服务完成</a:t>
            </a:r>
            <a:r>
              <a:rPr dirty="0"/>
              <a:t> | </a:t>
            </a:r>
            <a:r>
              <a:rPr dirty="0" err="1"/>
              <a:t>提升服务效率与体验</a:t>
            </a:r>
            <a:r>
              <a:rPr dirty="0"/>
              <a:t> |</a:t>
            </a:r>
          </a:p>
          <a:p>
            <a:r>
              <a:rPr dirty="0"/>
              <a:t>| </a:t>
            </a:r>
            <a:r>
              <a:rPr dirty="0" err="1"/>
              <a:t>业务材料审核与风险核验</a:t>
            </a:r>
            <a:r>
              <a:rPr dirty="0"/>
              <a:t> | </a:t>
            </a:r>
            <a:r>
              <a:rPr dirty="0" err="1"/>
              <a:t>一组材料进入业务流程</a:t>
            </a:r>
            <a:r>
              <a:rPr dirty="0"/>
              <a:t> | </a:t>
            </a:r>
            <a:r>
              <a:rPr dirty="0" err="1"/>
              <a:t>提取信息、核对规则、发现差异与风险</a:t>
            </a:r>
            <a:r>
              <a:rPr dirty="0"/>
              <a:t> | </a:t>
            </a:r>
            <a:r>
              <a:rPr dirty="0" err="1"/>
              <a:t>降低审核成本和业务风险</a:t>
            </a:r>
            <a:r>
              <a:rPr dirty="0"/>
              <a:t> |</a:t>
            </a:r>
          </a:p>
          <a:p>
            <a:r>
              <a:rPr dirty="0"/>
              <a:t>| </a:t>
            </a:r>
            <a:r>
              <a:rPr dirty="0" err="1"/>
              <a:t>专业研究与方案生成</a:t>
            </a:r>
            <a:r>
              <a:rPr dirty="0"/>
              <a:t> | </a:t>
            </a:r>
            <a:r>
              <a:rPr dirty="0" err="1"/>
              <a:t>专业人员接到复杂任务</a:t>
            </a:r>
            <a:r>
              <a:rPr dirty="0"/>
              <a:t> | </a:t>
            </a:r>
            <a:r>
              <a:rPr dirty="0" err="1"/>
              <a:t>拆解问题、组织资料、形成可审阅成果</a:t>
            </a:r>
            <a:r>
              <a:rPr dirty="0"/>
              <a:t> | </a:t>
            </a:r>
            <a:r>
              <a:rPr dirty="0" err="1"/>
              <a:t>提升知识工作的质量和速度</a:t>
            </a:r>
            <a:r>
              <a:rPr dirty="0"/>
              <a:t> |</a:t>
            </a:r>
          </a:p>
          <a:p>
            <a:endParaRPr dirty="0"/>
          </a:p>
          <a:p>
            <a:r>
              <a:rPr dirty="0" err="1"/>
              <a:t>可以把它们理解为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第一个项目处理“人</a:t>
            </a:r>
            <a:r>
              <a:rPr dirty="0"/>
              <a:t>”；</a:t>
            </a:r>
          </a:p>
          <a:p>
            <a:r>
              <a:rPr dirty="0"/>
              <a:t>- </a:t>
            </a:r>
            <a:r>
              <a:rPr dirty="0" err="1"/>
              <a:t>第二个项目处理“材料</a:t>
            </a:r>
            <a:r>
              <a:rPr dirty="0"/>
              <a:t>”；</a:t>
            </a:r>
          </a:p>
          <a:p>
            <a:r>
              <a:rPr dirty="0"/>
              <a:t>- </a:t>
            </a:r>
            <a:r>
              <a:rPr dirty="0" err="1"/>
              <a:t>第三个项目处理“复杂任务</a:t>
            </a:r>
            <a:r>
              <a:rPr dirty="0"/>
              <a:t>”。</a:t>
            </a:r>
          </a:p>
          <a:p>
            <a:endParaRPr dirty="0"/>
          </a:p>
          <a:p>
            <a:r>
              <a:rPr dirty="0" err="1"/>
              <a:t>这三种入口覆盖了大量企业工作，也分别考察不同的</a:t>
            </a:r>
            <a:r>
              <a:rPr dirty="0"/>
              <a:t> AI </a:t>
            </a:r>
            <a:r>
              <a:rPr dirty="0" err="1"/>
              <a:t>产品能力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1. </a:t>
            </a:r>
            <a:r>
              <a:rPr dirty="0" err="1"/>
              <a:t>企业智能客服与业务办理：从回答走向完成服务</a:t>
            </a:r>
            <a:endParaRPr dirty="0"/>
          </a:p>
          <a:p>
            <a:endParaRPr dirty="0"/>
          </a:p>
          <a:p>
            <a:r>
              <a:rPr dirty="0"/>
              <a:t>普通问答机器人只回答“</a:t>
            </a:r>
            <a:r>
              <a:rPr dirty="0" err="1"/>
              <a:t>怎么办</a:t>
            </a:r>
            <a:r>
              <a:rPr dirty="0"/>
              <a:t>”。</a:t>
            </a:r>
            <a:r>
              <a:rPr dirty="0" err="1"/>
              <a:t>真正的服务型</a:t>
            </a:r>
            <a:r>
              <a:rPr dirty="0"/>
              <a:t> AI </a:t>
            </a:r>
            <a:r>
              <a:rPr dirty="0" err="1"/>
              <a:t>产品还要知道用户是谁、当前业务状态是什么、是否满足办理条件，以及接下来应该推动什么动作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这个项目训练的是：怎样让对话、知识和业务流程形成闭环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2. </a:t>
            </a:r>
            <a:r>
              <a:rPr dirty="0" err="1"/>
              <a:t>业务材料审核与风险核验：让</a:t>
            </a:r>
            <a:r>
              <a:rPr dirty="0"/>
              <a:t> AI </a:t>
            </a:r>
            <a:r>
              <a:rPr dirty="0" err="1"/>
              <a:t>进入高责任流程</a:t>
            </a:r>
            <a:endParaRPr dirty="0"/>
          </a:p>
          <a:p>
            <a:endParaRPr dirty="0"/>
          </a:p>
          <a:p>
            <a:r>
              <a:rPr dirty="0" err="1"/>
              <a:t>材料审核不是简单总结文件。系统要在多份材料中找到关键字段、判断是否一致、引用规则、标记风险，并让人工能够回到原文复核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这个项目训练的是：怎样在确定性规则、语义判断和人工责任之间建立可靠边界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3. </a:t>
            </a:r>
            <a:r>
              <a:rPr dirty="0" err="1"/>
              <a:t>专业研究与方案生成：从生成文字走向专业交付</a:t>
            </a:r>
            <a:endParaRPr dirty="0"/>
          </a:p>
          <a:p>
            <a:endParaRPr dirty="0"/>
          </a:p>
          <a:p>
            <a:r>
              <a:rPr dirty="0"/>
              <a:t>普通写作助手可以很快生成一篇看起来通顺的文字，但专业工作要求来源可靠、问题拆解合理、观点有依据、信息缺口可见，并且允许专家持续修改。</a:t>
            </a:r>
          </a:p>
          <a:p>
            <a:endParaRPr dirty="0"/>
          </a:p>
          <a:p>
            <a:r>
              <a:rPr dirty="0" err="1"/>
              <a:t>这个项目训练的是：怎样把复杂知识工作变成可追踪、可核实、可协作的产品流程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项目的专业感来自业务复杂度</a:t>
            </a:r>
            <a:endParaRPr dirty="0"/>
          </a:p>
          <a:p>
            <a:endParaRPr dirty="0"/>
          </a:p>
          <a:p>
            <a:r>
              <a:rPr dirty="0" err="1"/>
              <a:t>项目高级不等于页面多、模型多或者名称复杂。真正的高级感来自产品必须处理真实业务中的复杂关系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这三个项目都不止是“</a:t>
            </a:r>
            <a:r>
              <a:rPr dirty="0" err="1"/>
              <a:t>用户输入一句话，模型输出一段话</a:t>
            </a:r>
            <a:r>
              <a:rPr dirty="0"/>
              <a:t>”。</a:t>
            </a:r>
            <a:r>
              <a:rPr dirty="0" err="1"/>
              <a:t>它们共同包含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多种输入材料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多个角色和权限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模型、规则、系统和人工协作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正常流程、异常流程和责任边界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能够被验证的业务结果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可以逐步演进的产品范围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因此，学员最终呈现的不是“</a:t>
            </a:r>
            <a:r>
              <a:rPr dirty="0" err="1"/>
              <a:t>我调用了一个模型</a:t>
            </a:r>
            <a:r>
              <a:rPr dirty="0"/>
              <a:t>”，</a:t>
            </a:r>
            <a:r>
              <a:rPr dirty="0" err="1"/>
              <a:t>而是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&gt; </a:t>
            </a:r>
            <a:r>
              <a:rPr dirty="0" err="1"/>
              <a:t>我理解了一个真实业务，知道</a:t>
            </a:r>
            <a:r>
              <a:rPr dirty="0"/>
              <a:t> AI </a:t>
            </a:r>
            <a:r>
              <a:rPr dirty="0" err="1"/>
              <a:t>在哪里创造价值，也知道哪些问题不能只依赖</a:t>
            </a:r>
            <a:r>
              <a:rPr dirty="0"/>
              <a:t> </a:t>
            </a:r>
            <a:r>
              <a:rPr dirty="0" err="1"/>
              <a:t>AI，并设计了可以验证和迭代的产品方案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这种内容既能用于课堂训练，也更容易在作品集和面试中体现产品判断力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为什么没有单独设置</a:t>
            </a:r>
            <a:r>
              <a:rPr dirty="0"/>
              <a:t> C </a:t>
            </a:r>
            <a:r>
              <a:rPr dirty="0" err="1"/>
              <a:t>端公共项目</a:t>
            </a:r>
            <a:endParaRPr dirty="0"/>
          </a:p>
          <a:p>
            <a:endParaRPr dirty="0"/>
          </a:p>
          <a:p>
            <a:r>
              <a:rPr dirty="0" err="1"/>
              <a:t>没有单独设置</a:t>
            </a:r>
            <a:r>
              <a:rPr dirty="0"/>
              <a:t> C </a:t>
            </a:r>
            <a:r>
              <a:rPr dirty="0" err="1"/>
              <a:t>端项目，不是因为</a:t>
            </a:r>
            <a:r>
              <a:rPr dirty="0"/>
              <a:t> C </a:t>
            </a:r>
            <a:r>
              <a:rPr dirty="0" err="1"/>
              <a:t>端不重要，也不是因为</a:t>
            </a:r>
            <a:r>
              <a:rPr dirty="0"/>
              <a:t> AI </a:t>
            </a:r>
            <a:r>
              <a:rPr dirty="0" err="1"/>
              <a:t>产品经理只需要学习</a:t>
            </a:r>
            <a:r>
              <a:rPr dirty="0"/>
              <a:t> B </a:t>
            </a:r>
            <a:r>
              <a:rPr dirty="0" err="1"/>
              <a:t>端产品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主要原因是公共教学项目需要具备共同材料和共同判断标准，而许多</a:t>
            </a:r>
            <a:r>
              <a:rPr dirty="0"/>
              <a:t> C </a:t>
            </a:r>
            <a:r>
              <a:rPr dirty="0" err="1"/>
              <a:t>端项目的核心成败条件不容易在课堂中还原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1. </a:t>
            </a:r>
            <a:r>
              <a:rPr dirty="0" err="1"/>
              <a:t>很多</a:t>
            </a:r>
            <a:r>
              <a:rPr dirty="0"/>
              <a:t> C </a:t>
            </a:r>
            <a:r>
              <a:rPr dirty="0" err="1"/>
              <a:t>端项目依赖真实用户行为</a:t>
            </a:r>
            <a:endParaRPr dirty="0"/>
          </a:p>
          <a:p>
            <a:endParaRPr dirty="0"/>
          </a:p>
          <a:p>
            <a:r>
              <a:rPr dirty="0" err="1"/>
              <a:t>陪伴、效率、内容、学习、健康等</a:t>
            </a:r>
            <a:r>
              <a:rPr dirty="0"/>
              <a:t> C </a:t>
            </a:r>
            <a:r>
              <a:rPr dirty="0" err="1"/>
              <a:t>端产品，最终要看用户是否持续使用、是否愿意付费、是否形成留存。这些结论不能只靠产品经理想象，也不能通过几张原型证明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2. </a:t>
            </a:r>
            <a:r>
              <a:rPr dirty="0" err="1"/>
              <a:t>很多</a:t>
            </a:r>
            <a:r>
              <a:rPr dirty="0"/>
              <a:t> C </a:t>
            </a:r>
            <a:r>
              <a:rPr dirty="0" err="1"/>
              <a:t>端项目依赖分发和增长</a:t>
            </a:r>
            <a:endParaRPr dirty="0"/>
          </a:p>
          <a:p>
            <a:endParaRPr dirty="0"/>
          </a:p>
          <a:p>
            <a:r>
              <a:rPr dirty="0" err="1"/>
              <a:t>产品本身可能不错，但没有渠道、流量和增长实验，仍然无法验证商业结果。课堂如果缺少真实用户，很容易把项目做成创意展示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3. C </a:t>
            </a:r>
            <a:r>
              <a:rPr dirty="0" err="1"/>
              <a:t>端需求更容易停留在宽泛概念</a:t>
            </a:r>
            <a:endParaRPr dirty="0"/>
          </a:p>
          <a:p>
            <a:endParaRPr dirty="0"/>
          </a:p>
          <a:p>
            <a:r>
              <a:rPr dirty="0"/>
              <a:t>“AI </a:t>
            </a:r>
            <a:r>
              <a:rPr dirty="0" err="1"/>
              <a:t>生活助手</a:t>
            </a:r>
            <a:r>
              <a:rPr dirty="0"/>
              <a:t>”“AI </a:t>
            </a:r>
            <a:r>
              <a:rPr dirty="0" err="1"/>
              <a:t>情绪陪伴</a:t>
            </a:r>
            <a:r>
              <a:rPr dirty="0"/>
              <a:t>”“AI </a:t>
            </a:r>
            <a:r>
              <a:rPr dirty="0" err="1"/>
              <a:t>学习助手”听起来都有吸引力，但如果没有真实用户和长期数据，范围很容易无限扩大，结果也很难评价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4. </a:t>
            </a:r>
            <a:r>
              <a:rPr dirty="0" err="1"/>
              <a:t>三个公共项目本身可以包含面向个人用户的场景</a:t>
            </a:r>
            <a:endParaRPr dirty="0"/>
          </a:p>
          <a:p>
            <a:endParaRPr dirty="0"/>
          </a:p>
          <a:p>
            <a:r>
              <a:rPr dirty="0"/>
              <a:t>“企业场景”和“个人用户”并不矛盾。电商售后、在线教育服务、保险理赔服务、医疗预约服务都直接面向个人用户，但背后有清楚的业务流程、规则和服务结果。</a:t>
            </a:r>
          </a:p>
          <a:p>
            <a:endParaRPr dirty="0"/>
          </a:p>
          <a:p>
            <a:r>
              <a:rPr dirty="0" err="1"/>
              <a:t>因此，本课程没有把“C</a:t>
            </a:r>
            <a:r>
              <a:rPr dirty="0"/>
              <a:t> </a:t>
            </a:r>
            <a:r>
              <a:rPr dirty="0" err="1"/>
              <a:t>端”单独当成一种项目能力。我们优先选择可以讲清业务、材料和结果的母题，再允许学员根据自己的条件迁移到</a:t>
            </a:r>
            <a:r>
              <a:rPr dirty="0"/>
              <a:t> C </a:t>
            </a:r>
            <a:r>
              <a:rPr dirty="0" err="1"/>
              <a:t>端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5. </a:t>
            </a:r>
            <a:r>
              <a:rPr dirty="0" err="1"/>
              <a:t>什么情况下学员可以做</a:t>
            </a:r>
            <a:r>
              <a:rPr dirty="0"/>
              <a:t> C </a:t>
            </a:r>
            <a:r>
              <a:rPr dirty="0" err="1"/>
              <a:t>端个人项目</a:t>
            </a:r>
            <a:endParaRPr dirty="0"/>
          </a:p>
          <a:p>
            <a:endParaRPr dirty="0"/>
          </a:p>
          <a:p>
            <a:r>
              <a:rPr dirty="0" err="1"/>
              <a:t>如果学员具备以下条件，完全可以选择</a:t>
            </a:r>
            <a:r>
              <a:rPr dirty="0"/>
              <a:t> C </a:t>
            </a:r>
            <a:r>
              <a:rPr dirty="0" err="1"/>
              <a:t>端个人项目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能够接触一批真实目标用户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能获得访谈、使用记录或行为数据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能把目标人群和使用时刻定义清楚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能设计留存、转化或任务完成等验证方式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能控制第一版范围，而不是做一个万能助手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课程评价的标准不是</a:t>
            </a:r>
            <a:r>
              <a:rPr dirty="0"/>
              <a:t> B </a:t>
            </a:r>
            <a:r>
              <a:rPr dirty="0" err="1"/>
              <a:t>端还是</a:t>
            </a:r>
            <a:r>
              <a:rPr dirty="0"/>
              <a:t> C </a:t>
            </a:r>
            <a:r>
              <a:rPr dirty="0" err="1"/>
              <a:t>端，而是：问题是否真实、材料是否可得、AI</a:t>
            </a:r>
            <a:r>
              <a:rPr dirty="0"/>
              <a:t> </a:t>
            </a:r>
            <a:r>
              <a:rPr dirty="0" err="1"/>
              <a:t>是否必要、结果是否能够验证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---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三个公共项目与个人项目方向</a:t>
            </a:r>
            <a:endParaRPr dirty="0"/>
          </a:p>
          <a:p>
            <a:endParaRPr dirty="0"/>
          </a:p>
          <a:p>
            <a:r>
              <a:rPr dirty="0" err="1"/>
              <a:t>这一节暂时不展开三个项目的完整</a:t>
            </a:r>
            <a:r>
              <a:rPr dirty="0"/>
              <a:t> </a:t>
            </a:r>
            <a:r>
              <a:rPr dirty="0" err="1"/>
              <a:t>PRD。重点是让学员感受到：三个项目并不是固定行业的模板，而是三种可以迁移到大量岗位和业务中的产品结构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听这一节时，学员只需要持续思考两个问题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哪一类工作与我的经历或目标岗位最接近</a:t>
            </a:r>
            <a:r>
              <a:rPr dirty="0"/>
              <a:t>？</a:t>
            </a:r>
          </a:p>
          <a:p>
            <a:r>
              <a:rPr dirty="0"/>
              <a:t>2. </a:t>
            </a:r>
            <a:r>
              <a:rPr dirty="0" err="1"/>
              <a:t>哪一类材料是我比较容易获得或合理模拟的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## </a:t>
            </a:r>
            <a:r>
              <a:rPr dirty="0" err="1"/>
              <a:t>一、企业智能客服与业务办理</a:t>
            </a:r>
            <a:endParaRPr dirty="0"/>
          </a:p>
          <a:p>
            <a:endParaRPr dirty="0"/>
          </a:p>
          <a:p>
            <a:r>
              <a:rPr dirty="0"/>
              <a:t>### 1. </a:t>
            </a:r>
            <a:r>
              <a:rPr dirty="0" err="1"/>
              <a:t>项目简介</a:t>
            </a:r>
            <a:endParaRPr dirty="0"/>
          </a:p>
          <a:p>
            <a:endParaRPr dirty="0"/>
          </a:p>
          <a:p>
            <a:r>
              <a:rPr dirty="0" err="1"/>
              <a:t>这是一个面向客户、员工或合作伙伴的统一服务入口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用户用自然语言提出问题或办理请求，系统需要判断用户意图，结合知识和业务数据给出回应；如果涉及实际操作，还要确认身份、判断条件、调用业务系统、推动流程，并在必要时转交人工。</a:t>
            </a:r>
          </a:p>
          <a:p>
            <a:endParaRPr dirty="0"/>
          </a:p>
          <a:p>
            <a:r>
              <a:rPr dirty="0" err="1"/>
              <a:t>它不是“把</a:t>
            </a:r>
            <a:r>
              <a:rPr dirty="0"/>
              <a:t> FAQ </a:t>
            </a:r>
            <a:r>
              <a:rPr dirty="0" err="1"/>
              <a:t>放进知识库</a:t>
            </a:r>
            <a:r>
              <a:rPr dirty="0"/>
              <a:t>”，</a:t>
            </a:r>
            <a:r>
              <a:rPr dirty="0" err="1"/>
              <a:t>而是把服务入口、知识、系统和流程连接起来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2. </a:t>
            </a:r>
            <a:r>
              <a:rPr dirty="0" err="1"/>
              <a:t>这个项目为什么值得学习</a:t>
            </a:r>
            <a:endParaRPr dirty="0"/>
          </a:p>
          <a:p>
            <a:endParaRPr dirty="0"/>
          </a:p>
          <a:p>
            <a:r>
              <a:rPr dirty="0" err="1"/>
              <a:t>大多数企业都有服务问题：客户找不到答案，员工不知道找哪个部门，合作伙伴反复询问订单和政策，客服人员在多个系统间切换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这些问题看起来普通，但真正做好并不简单。系统必须回答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用户到底想问什么或办理什么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回答需要公共知识还是用户自己的业务数据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当前用户有没有权限查看或办理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满足什么条件才能继续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哪一步可以自动完成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什么情况必须交给人工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服务是否真正结束，而不是只生成了一段话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因此，这个项目能训练对话产品、知识库、业务接口、工作流、异常分流和人工接管等多种能力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3. </a:t>
            </a:r>
            <a:r>
              <a:rPr dirty="0" err="1"/>
              <a:t>典型业务闭环</a:t>
            </a:r>
            <a:endParaRPr dirty="0"/>
          </a:p>
          <a:p>
            <a:endParaRPr dirty="0"/>
          </a:p>
          <a:p>
            <a:r>
              <a:rPr dirty="0" err="1"/>
              <a:t>一个完整的服务过程通常包含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用户提出问题或请求</a:t>
            </a:r>
            <a:r>
              <a:rPr dirty="0"/>
              <a:t>；</a:t>
            </a:r>
          </a:p>
          <a:p>
            <a:r>
              <a:rPr dirty="0"/>
              <a:t>2. </a:t>
            </a:r>
            <a:r>
              <a:rPr dirty="0" err="1"/>
              <a:t>系统识别意图和所需信息</a:t>
            </a:r>
            <a:r>
              <a:rPr dirty="0"/>
              <a:t>；</a:t>
            </a:r>
          </a:p>
          <a:p>
            <a:r>
              <a:rPr dirty="0"/>
              <a:t>3. </a:t>
            </a:r>
            <a:r>
              <a:rPr dirty="0" err="1"/>
              <a:t>必要时确认身份、对象和权限</a:t>
            </a:r>
            <a:r>
              <a:rPr dirty="0"/>
              <a:t>；</a:t>
            </a:r>
          </a:p>
          <a:p>
            <a:r>
              <a:rPr dirty="0"/>
              <a:t>4. </a:t>
            </a:r>
            <a:r>
              <a:rPr dirty="0" err="1"/>
              <a:t>查询知识或业务数据</a:t>
            </a:r>
            <a:r>
              <a:rPr dirty="0"/>
              <a:t>；</a:t>
            </a:r>
          </a:p>
          <a:p>
            <a:r>
              <a:rPr dirty="0"/>
              <a:t>5. </a:t>
            </a:r>
            <a:r>
              <a:rPr dirty="0" err="1"/>
              <a:t>判断是否满足办理条件</a:t>
            </a:r>
            <a:r>
              <a:rPr dirty="0"/>
              <a:t>；</a:t>
            </a:r>
          </a:p>
          <a:p>
            <a:r>
              <a:rPr dirty="0"/>
              <a:t>6. </a:t>
            </a:r>
            <a:r>
              <a:rPr dirty="0" err="1"/>
              <a:t>回答问题或发起业务动作</a:t>
            </a:r>
            <a:r>
              <a:rPr dirty="0"/>
              <a:t>；</a:t>
            </a:r>
          </a:p>
          <a:p>
            <a:r>
              <a:rPr dirty="0"/>
              <a:t>7. </a:t>
            </a:r>
            <a:r>
              <a:rPr dirty="0" err="1"/>
              <a:t>返回办理结果和下一步</a:t>
            </a:r>
            <a:r>
              <a:rPr dirty="0"/>
              <a:t>；</a:t>
            </a:r>
          </a:p>
          <a:p>
            <a:r>
              <a:rPr dirty="0"/>
              <a:t>8. </a:t>
            </a:r>
            <a:r>
              <a:rPr dirty="0" err="1"/>
              <a:t>无法判断、高风险或用户不满意时转人工</a:t>
            </a:r>
            <a:r>
              <a:rPr dirty="0"/>
              <a:t>；</a:t>
            </a:r>
          </a:p>
          <a:p>
            <a:r>
              <a:rPr dirty="0"/>
              <a:t>9. </a:t>
            </a:r>
            <a:r>
              <a:rPr dirty="0" err="1"/>
              <a:t>记录服务结果，用于后续评测和优化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公共项目课会进一步讨论：哪些环节使用大模型，哪些环节使用规则和接口，以及页面如何让用户知道系统当前正在做什么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4. </a:t>
            </a:r>
            <a:r>
              <a:rPr dirty="0" err="1"/>
              <a:t>可以迁移的项目变种</a:t>
            </a:r>
            <a:endParaRPr dirty="0"/>
          </a:p>
          <a:p>
            <a:endParaRPr dirty="0"/>
          </a:p>
          <a:p>
            <a:r>
              <a:rPr dirty="0"/>
              <a:t>#### </a:t>
            </a:r>
            <a:r>
              <a:rPr dirty="0" err="1"/>
              <a:t>面向消费者的服务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电商售后服务助手</a:t>
            </a:r>
            <a:r>
              <a:rPr dirty="0"/>
              <a:t>**  </a:t>
            </a:r>
          </a:p>
          <a:p>
            <a:r>
              <a:rPr dirty="0"/>
              <a:t>用户询问订单状态、退换货条件或商品问题。产品可以查询订单，解释政策，收集原因和图片，并发起售后申请。项目重点不只是回答政策，而是把咨询推进为可跟踪的售后任务。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在线教育学员服务助手</a:t>
            </a:r>
            <a:r>
              <a:rPr dirty="0"/>
              <a:t>**  </a:t>
            </a:r>
          </a:p>
          <a:p>
            <a:r>
              <a:rPr dirty="0" err="1"/>
              <a:t>学员咨询课程安排、请假、补课、延期、退款和证书。系统需要结合课程规则、学员购买记录和学习进度，处理不同服务请求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保险理赔服务助手</a:t>
            </a:r>
            <a:r>
              <a:rPr dirty="0"/>
              <a:t>**  </a:t>
            </a:r>
          </a:p>
          <a:p>
            <a:r>
              <a:rPr dirty="0" err="1"/>
              <a:t>用户描述事故后，系统判断可能的理赔类型，说明所需材料，检查基础信息并查询办理进度。高风险承诺和最终理赔结论仍由专业人员负责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医疗服务助手</a:t>
            </a:r>
            <a:r>
              <a:rPr dirty="0"/>
              <a:t>**  </a:t>
            </a:r>
          </a:p>
          <a:p>
            <a:r>
              <a:rPr dirty="0" err="1"/>
              <a:t>帮助患者选择科室、完成预约、了解检查前准备、查询报告状态和接收复诊提醒。项目要特别处理医疗建议边界、隐私和人工服务入口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银行业务服务助手</a:t>
            </a:r>
            <a:r>
              <a:rPr dirty="0"/>
              <a:t>**  </a:t>
            </a:r>
          </a:p>
          <a:p>
            <a:r>
              <a:rPr dirty="0" err="1"/>
              <a:t>解答账户、转账、信用卡和费用问题，并引导用户完成挂失、额度申请或材料准备。身份认证、权限和高风险交易是核心约束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本地生活服务助手</a:t>
            </a:r>
            <a:r>
              <a:rPr dirty="0"/>
              <a:t>**  </a:t>
            </a:r>
          </a:p>
          <a:p>
            <a:r>
              <a:rPr dirty="0" err="1"/>
              <a:t>处理预约、改期、退款、会员权益和门店服务。它适合展示对话如何进入预约和订单系统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旅游出行服务助手</a:t>
            </a:r>
            <a:r>
              <a:rPr dirty="0"/>
              <a:t>**  </a:t>
            </a:r>
          </a:p>
          <a:p>
            <a:r>
              <a:rPr dirty="0" err="1"/>
              <a:t>处理行程查询、退改政策、航班变化、酒店订单和异常出行。需要同时连接订单数据、供应商政策和人工服务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#### </a:t>
            </a:r>
            <a:r>
              <a:rPr dirty="0" err="1"/>
              <a:t>面向企业客户与合作伙伴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企业软件客户服务助手</a:t>
            </a:r>
            <a:r>
              <a:rPr dirty="0"/>
              <a:t>**  </a:t>
            </a:r>
          </a:p>
          <a:p>
            <a:r>
              <a:rPr dirty="0" err="1"/>
              <a:t>根据客户购买版本、账号权限和使用环境解答产品问题；无法解决时自动整理上下文并创建工单，减少客户重复描述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制造业设备售后助手</a:t>
            </a:r>
            <a:r>
              <a:rPr dirty="0"/>
              <a:t>**  </a:t>
            </a:r>
          </a:p>
          <a:p>
            <a:r>
              <a:rPr dirty="0" err="1"/>
              <a:t>识别设备型号和故障现象，调用说明书与维修知识，给出安全排查步骤，并在需要时预约工程师和准备备件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经销商服务助手</a:t>
            </a:r>
            <a:r>
              <a:rPr dirty="0"/>
              <a:t>**  </a:t>
            </a:r>
          </a:p>
          <a:p>
            <a:r>
              <a:rPr dirty="0" err="1"/>
              <a:t>让经销商查询产品政策、价格、库存、订单、返利和活动要求。项目重点是不同经销商等级、区域和权限下的差异化回答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供应商协同助手</a:t>
            </a:r>
            <a:r>
              <a:rPr dirty="0"/>
              <a:t>**  </a:t>
            </a:r>
          </a:p>
          <a:p>
            <a:r>
              <a:rPr dirty="0" err="1"/>
              <a:t>供应商可以查询采购要求、交货计划、验收状态和结算进度。系统既要回答制度问题，也要查询具体业务状态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大客户服务助手</a:t>
            </a:r>
            <a:r>
              <a:rPr dirty="0"/>
              <a:t>**  </a:t>
            </a:r>
          </a:p>
          <a:p>
            <a:r>
              <a:rPr dirty="0" err="1"/>
              <a:t>围绕交付、续费、增购、服务升级和异常处理建立统一入口，并把客户历史、合同权益和服务记录带给客户经理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#### </a:t>
            </a:r>
            <a:r>
              <a:rPr dirty="0" err="1"/>
              <a:t>面向企业内部员工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员工人事服务助手</a:t>
            </a:r>
            <a:r>
              <a:rPr dirty="0"/>
              <a:t>**  </a:t>
            </a:r>
          </a:p>
          <a:p>
            <a:r>
              <a:rPr dirty="0" err="1"/>
              <a:t>处理考勤、休假、薪酬、福利和证明申请。项目能够展示公共制度与个人数据之间的权限边界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企业</a:t>
            </a:r>
            <a:r>
              <a:rPr dirty="0"/>
              <a:t> IT </a:t>
            </a:r>
            <a:r>
              <a:rPr dirty="0" err="1"/>
              <a:t>服务助手</a:t>
            </a:r>
            <a:r>
              <a:rPr dirty="0"/>
              <a:t>**  </a:t>
            </a:r>
          </a:p>
          <a:p>
            <a:r>
              <a:rPr dirty="0" err="1"/>
              <a:t>处理账号、权限、软件、设备和网络问题。简单问题自动排查，复杂问题带着已收集的信息进入工单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财务共享服务助手</a:t>
            </a:r>
            <a:r>
              <a:rPr dirty="0"/>
              <a:t>**  </a:t>
            </a:r>
          </a:p>
          <a:p>
            <a:r>
              <a:rPr dirty="0" err="1"/>
              <a:t>回答报销、发票、付款和预算问题，查询单据状态，并提醒缺少的材料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采购服务助手</a:t>
            </a:r>
            <a:r>
              <a:rPr dirty="0"/>
              <a:t>**  </a:t>
            </a:r>
          </a:p>
          <a:p>
            <a:r>
              <a:rPr dirty="0" err="1"/>
              <a:t>帮助员工理解采购规则、提交采购申请、查询订单和供应商状态，并将异常情况交给采购人员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行政服务助手</a:t>
            </a:r>
            <a:r>
              <a:rPr dirty="0"/>
              <a:t>**  </a:t>
            </a:r>
          </a:p>
          <a:p>
            <a:r>
              <a:rPr dirty="0" err="1"/>
              <a:t>处理会议室、访客、办公用品、设备借用和证明开具等内部服务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5. </a:t>
            </a:r>
            <a:r>
              <a:rPr dirty="0" err="1"/>
              <a:t>适合哪些学员</a:t>
            </a:r>
            <a:endParaRPr dirty="0"/>
          </a:p>
          <a:p>
            <a:endParaRPr dirty="0"/>
          </a:p>
          <a:p>
            <a:r>
              <a:rPr dirty="0" err="1"/>
              <a:t>这一方向尤其适合有客服、运营、售后、销售支持、人事、行政、IT、财务共享、平台服务经验的学员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即使没有客服经验，只要过去的工作中存在“很多人反复询问同一类问题，并且后面还要继续办理”的场景，也可以迁移这个项目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6. </a:t>
            </a:r>
            <a:r>
              <a:rPr dirty="0" err="1"/>
              <a:t>个人项目可以展示什么</a:t>
            </a:r>
            <a:endParaRPr dirty="0"/>
          </a:p>
          <a:p>
            <a:endParaRPr dirty="0"/>
          </a:p>
          <a:p>
            <a:r>
              <a:rPr dirty="0" err="1"/>
              <a:t>一个有说服力的个人项目，可以重点展示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用户意图和服务场景分类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知识、业务数据与权限的关系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一条完整办理流程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正常、异常和转人工路径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核心对话及状态页面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一组真实或合理模拟的服务问题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对回答正确率、任务完成率和转人工率的设计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 </a:t>
            </a:r>
            <a:r>
              <a:rPr dirty="0" err="1"/>
              <a:t>二、业务材料审核与风险核验</a:t>
            </a:r>
            <a:endParaRPr dirty="0"/>
          </a:p>
          <a:p>
            <a:endParaRPr dirty="0"/>
          </a:p>
          <a:p>
            <a:r>
              <a:rPr dirty="0"/>
              <a:t>### 1. </a:t>
            </a:r>
            <a:r>
              <a:rPr dirty="0" err="1"/>
              <a:t>项目简介</a:t>
            </a:r>
            <a:endParaRPr dirty="0"/>
          </a:p>
          <a:p>
            <a:endParaRPr dirty="0"/>
          </a:p>
          <a:p>
            <a:r>
              <a:rPr dirty="0" err="1"/>
              <a:t>这是一个让</a:t>
            </a:r>
            <a:r>
              <a:rPr dirty="0"/>
              <a:t> AI </a:t>
            </a:r>
            <a:r>
              <a:rPr dirty="0" err="1"/>
              <a:t>进入企业审核流程的项目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用户提交合同、票据、申请表、资质证明、报告或其他业务材料。系统读取多份材料，提取关键信息，对照业务规则检查完整性和一致性，识别语义风险，并把结果连同原文依据交给审核人员。</a:t>
            </a:r>
          </a:p>
          <a:p>
            <a:endParaRPr dirty="0"/>
          </a:p>
          <a:p>
            <a:r>
              <a:rPr dirty="0" err="1"/>
              <a:t>它不是“上传文档，让</a:t>
            </a:r>
            <a:r>
              <a:rPr dirty="0"/>
              <a:t> AI </a:t>
            </a:r>
            <a:r>
              <a:rPr dirty="0" err="1"/>
              <a:t>总结</a:t>
            </a:r>
            <a:r>
              <a:rPr dirty="0"/>
              <a:t>”，</a:t>
            </a:r>
            <a:r>
              <a:rPr dirty="0" err="1"/>
              <a:t>也不是让模型直接代替审核人员做最终决定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2. </a:t>
            </a:r>
            <a:r>
              <a:rPr dirty="0" err="1"/>
              <a:t>这个项目为什么值得学习</a:t>
            </a:r>
            <a:endParaRPr dirty="0"/>
          </a:p>
          <a:p>
            <a:endParaRPr dirty="0"/>
          </a:p>
          <a:p>
            <a:r>
              <a:rPr dirty="0"/>
              <a:t>很多企业工作都围绕材料运行：报销、付款、合同、采购、准入、贷款、理赔、招聘、项目申报。人工审核通常耗时，也容易因为材料分散和规则复杂而遗漏问题。</a:t>
            </a:r>
          </a:p>
          <a:p>
            <a:endParaRPr dirty="0"/>
          </a:p>
          <a:p>
            <a:r>
              <a:rPr dirty="0" err="1"/>
              <a:t>但审核又是高责任场景，不能简单地相信模型结论。产品经理必须设计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哪些字段需要准确提取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哪些问题是确定性规则，可以直接校验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哪些问题需要模型理解语义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风险结论如何引用原文和规则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不确定结果怎样表达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哪些情况必须交给人工复核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审核人员如何修改和反馈结果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这个项目能非常集中地训练</a:t>
            </a:r>
            <a:r>
              <a:rPr dirty="0"/>
              <a:t> AI </a:t>
            </a:r>
            <a:r>
              <a:rPr dirty="0" err="1"/>
              <a:t>与规则的分工、可解释性、置信度、风险分级和人工责任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3. </a:t>
            </a:r>
            <a:r>
              <a:rPr dirty="0" err="1"/>
              <a:t>典型业务闭环</a:t>
            </a:r>
            <a:endParaRPr dirty="0"/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用户提交一份或多份业务材料</a:t>
            </a:r>
            <a:r>
              <a:rPr dirty="0"/>
              <a:t>；</a:t>
            </a:r>
          </a:p>
          <a:p>
            <a:r>
              <a:rPr dirty="0"/>
              <a:t>2. </a:t>
            </a:r>
            <a:r>
              <a:rPr dirty="0" err="1"/>
              <a:t>系统识别材料类型并检查是否齐全</a:t>
            </a:r>
            <a:r>
              <a:rPr dirty="0"/>
              <a:t>；</a:t>
            </a:r>
          </a:p>
          <a:p>
            <a:r>
              <a:rPr dirty="0"/>
              <a:t>3. </a:t>
            </a:r>
            <a:r>
              <a:rPr dirty="0" err="1"/>
              <a:t>提取关键字段、条款或结论</a:t>
            </a:r>
            <a:r>
              <a:rPr dirty="0"/>
              <a:t>；</a:t>
            </a:r>
          </a:p>
          <a:p>
            <a:r>
              <a:rPr dirty="0"/>
              <a:t>4. </a:t>
            </a:r>
            <a:r>
              <a:rPr dirty="0" err="1"/>
              <a:t>对照规则进行确定性检查</a:t>
            </a:r>
            <a:r>
              <a:rPr dirty="0"/>
              <a:t>；</a:t>
            </a:r>
          </a:p>
          <a:p>
            <a:r>
              <a:rPr dirty="0"/>
              <a:t>5. </a:t>
            </a:r>
            <a:r>
              <a:rPr dirty="0" err="1"/>
              <a:t>使用模型识别复杂表述、冲突和潜在风险</a:t>
            </a:r>
            <a:r>
              <a:rPr dirty="0"/>
              <a:t>；</a:t>
            </a:r>
          </a:p>
          <a:p>
            <a:r>
              <a:rPr dirty="0"/>
              <a:t>6. </a:t>
            </a:r>
            <a:r>
              <a:rPr dirty="0" err="1"/>
              <a:t>将问题按缺失、差异、规则不符、语义风险等类型分类</a:t>
            </a:r>
            <a:r>
              <a:rPr dirty="0"/>
              <a:t>；</a:t>
            </a:r>
          </a:p>
          <a:p>
            <a:r>
              <a:rPr dirty="0"/>
              <a:t>7. </a:t>
            </a:r>
            <a:r>
              <a:rPr dirty="0" err="1"/>
              <a:t>展示风险等级、依据和原文位置</a:t>
            </a:r>
            <a:r>
              <a:rPr dirty="0"/>
              <a:t>；</a:t>
            </a:r>
          </a:p>
          <a:p>
            <a:r>
              <a:rPr dirty="0"/>
              <a:t>8. </a:t>
            </a:r>
            <a:r>
              <a:rPr dirty="0" err="1"/>
              <a:t>审核人员确认、修改或驳回</a:t>
            </a:r>
            <a:r>
              <a:rPr dirty="0"/>
              <a:t>；</a:t>
            </a:r>
          </a:p>
          <a:p>
            <a:r>
              <a:rPr dirty="0"/>
              <a:t>9. </a:t>
            </a:r>
            <a:r>
              <a:rPr dirty="0" err="1"/>
              <a:t>结果进入后续审批或业务流程</a:t>
            </a:r>
            <a:r>
              <a:rPr dirty="0"/>
              <a:t>；</a:t>
            </a:r>
          </a:p>
          <a:p>
            <a:r>
              <a:rPr dirty="0"/>
              <a:t>10. </a:t>
            </a:r>
            <a:r>
              <a:rPr dirty="0" err="1"/>
              <a:t>人工反馈进入评测集和规则迭代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4. </a:t>
            </a:r>
            <a:r>
              <a:rPr dirty="0" err="1"/>
              <a:t>可以迁移的项目变种</a:t>
            </a:r>
            <a:endParaRPr dirty="0"/>
          </a:p>
          <a:p>
            <a:endParaRPr dirty="0"/>
          </a:p>
          <a:p>
            <a:r>
              <a:rPr dirty="0"/>
              <a:t>#### </a:t>
            </a:r>
            <a:r>
              <a:rPr dirty="0" err="1"/>
              <a:t>财务与费用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员工报销审核助手</a:t>
            </a:r>
            <a:r>
              <a:rPr dirty="0"/>
              <a:t>**  </a:t>
            </a:r>
          </a:p>
          <a:p>
            <a:r>
              <a:rPr dirty="0" err="1"/>
              <a:t>核对发票、报销单、行程、费用科目和企业制度，发现日期、金额、人员、行程不一致及超标问题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企业付款材料核验助手</a:t>
            </a:r>
            <a:r>
              <a:rPr dirty="0"/>
              <a:t>**  </a:t>
            </a:r>
          </a:p>
          <a:p>
            <a:r>
              <a:rPr dirty="0" err="1"/>
              <a:t>检查合同、采购订单、验收单、发票和付款申请之间是否一致，并判断是否满足付款条件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预算申请审核助手</a:t>
            </a:r>
            <a:r>
              <a:rPr dirty="0"/>
              <a:t>**  </a:t>
            </a:r>
          </a:p>
          <a:p>
            <a:r>
              <a:rPr dirty="0" err="1"/>
              <a:t>核对预算科目、历史支出、申请理由和审批要求，帮助管理者快速找到异常点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#### </a:t>
            </a:r>
            <a:r>
              <a:rPr dirty="0" err="1"/>
              <a:t>合同与法务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合同条款审核助手</a:t>
            </a:r>
            <a:r>
              <a:rPr dirty="0"/>
              <a:t>**  </a:t>
            </a:r>
          </a:p>
          <a:p>
            <a:r>
              <a:rPr dirty="0" err="1"/>
              <a:t>识别付款、交付、验收、违约、知识产权、数据安全和自动续约等风险，并引用原文条款和企业标准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合同履约检查助手</a:t>
            </a:r>
            <a:r>
              <a:rPr dirty="0"/>
              <a:t>**  </a:t>
            </a:r>
          </a:p>
          <a:p>
            <a:r>
              <a:rPr dirty="0" err="1"/>
              <a:t>对照合同约定和实际交付材料，判断是否达到验收、开票或付款条件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企业制度合规检查助手</a:t>
            </a:r>
            <a:r>
              <a:rPr dirty="0"/>
              <a:t>**  </a:t>
            </a:r>
          </a:p>
          <a:p>
            <a:r>
              <a:rPr dirty="0" err="1"/>
              <a:t>判断业务申请、营销文案或操作流程是否符合内部制度，并指出适用条款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#### </a:t>
            </a:r>
            <a:r>
              <a:rPr dirty="0" err="1"/>
              <a:t>采购与供应商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供应商准入审核助手</a:t>
            </a:r>
            <a:r>
              <a:rPr dirty="0"/>
              <a:t>**  </a:t>
            </a:r>
          </a:p>
          <a:p>
            <a:r>
              <a:rPr dirty="0" err="1"/>
              <a:t>核验营业执照、行业资质、财务信息和准入条件，发现过期、缺失和不一致材料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采购申请审核助手</a:t>
            </a:r>
            <a:r>
              <a:rPr dirty="0"/>
              <a:t>**  </a:t>
            </a:r>
          </a:p>
          <a:p>
            <a:r>
              <a:rPr dirty="0" err="1"/>
              <a:t>检查预算、需求说明、询价记录和供应商选择过程是否完整、合理并符合制度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招投标文件检查助手</a:t>
            </a:r>
            <a:r>
              <a:rPr dirty="0"/>
              <a:t>**  </a:t>
            </a:r>
          </a:p>
          <a:p>
            <a:r>
              <a:rPr dirty="0" err="1"/>
              <a:t>对照招标文件检查响应材料、资格证明、技术参数和签章，提前发现废标风险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#### </a:t>
            </a:r>
            <a:r>
              <a:rPr dirty="0" err="1"/>
              <a:t>金融与保险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企业开户材料审核助手</a:t>
            </a:r>
            <a:r>
              <a:rPr dirty="0"/>
              <a:t>**  </a:t>
            </a:r>
          </a:p>
          <a:p>
            <a:r>
              <a:rPr dirty="0" err="1"/>
              <a:t>检查企业身份、股权结构、受益人和经营证明材料，辅助识别缺失与冲突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贷款申请材料预审助手</a:t>
            </a:r>
            <a:r>
              <a:rPr dirty="0"/>
              <a:t>**  </a:t>
            </a:r>
          </a:p>
          <a:p>
            <a:r>
              <a:rPr dirty="0" err="1"/>
              <a:t>核对收入、资产、负债、交易记录和资金用途，帮助审核人员快速定位需要进一步核实的问题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保险理赔材料审核助手</a:t>
            </a:r>
            <a:r>
              <a:rPr dirty="0"/>
              <a:t>**  </a:t>
            </a:r>
          </a:p>
          <a:p>
            <a:r>
              <a:rPr dirty="0" err="1"/>
              <a:t>核对保单责任、事故证明、医疗或维修凭证和费用清单，识别材料缺失与异常对应关系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#### </a:t>
            </a:r>
            <a:r>
              <a:rPr dirty="0" err="1"/>
              <a:t>人事、行政与公共服务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招聘入职材料审核助手</a:t>
            </a:r>
            <a:r>
              <a:rPr dirty="0"/>
              <a:t>**  </a:t>
            </a:r>
          </a:p>
          <a:p>
            <a:r>
              <a:rPr dirty="0" err="1"/>
              <a:t>检查身份、学历、工作经历、资质和入职文件的完整性与一致性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项目申报材料预审助手</a:t>
            </a:r>
            <a:r>
              <a:rPr dirty="0"/>
              <a:t>**  </a:t>
            </a:r>
          </a:p>
          <a:p>
            <a:r>
              <a:rPr dirty="0" err="1"/>
              <a:t>对照申报指南检查企业资格、项目条件、预算和附件，提前发现形式和内容问题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政府办事材料预审助手</a:t>
            </a:r>
            <a:r>
              <a:rPr dirty="0"/>
              <a:t>**  </a:t>
            </a:r>
          </a:p>
          <a:p>
            <a:r>
              <a:rPr dirty="0" err="1"/>
              <a:t>让申请人在正式提交前了解所需条件、缺少材料和填写错误，减少往返办理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质量检测报告核验助手</a:t>
            </a:r>
            <a:r>
              <a:rPr dirty="0"/>
              <a:t>**  </a:t>
            </a:r>
          </a:p>
          <a:p>
            <a:r>
              <a:rPr dirty="0" err="1"/>
              <a:t>检查检测项目、数值、结论、标准、签章和样品信息，发现报告内部或多份报告之间的不一致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内容发布合规检查助手</a:t>
            </a:r>
            <a:r>
              <a:rPr dirty="0"/>
              <a:t>**  </a:t>
            </a:r>
          </a:p>
          <a:p>
            <a:r>
              <a:rPr dirty="0" err="1"/>
              <a:t>检查广告、商品详情、公开材料中的敏感表述、绝对化承诺和行业合规风险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5. </a:t>
            </a:r>
            <a:r>
              <a:rPr dirty="0" err="1"/>
              <a:t>适合哪些学员</a:t>
            </a:r>
            <a:endParaRPr dirty="0"/>
          </a:p>
          <a:p>
            <a:endParaRPr dirty="0"/>
          </a:p>
          <a:p>
            <a:r>
              <a:rPr dirty="0" err="1"/>
              <a:t>这一方向适合有财务、法务、采购、风控、金融、保险、人事、政务、质量管理、内容审核等经验的学员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如果过去的工作中经常出现“收到一组材料，对照标准判断能不能继续”的任务，就可以迁移到这个方向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6. </a:t>
            </a:r>
            <a:r>
              <a:rPr dirty="0" err="1"/>
              <a:t>个人项目可以展示什么</a:t>
            </a:r>
            <a:endParaRPr dirty="0"/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材料清单及相互关系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关键字段和风险分类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规则、大模型与人工的分工表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风险结果及原文依据页面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正常、缺失、冲突、模糊和高风险样本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审核人员确认和纠错流程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准确率、召回率、人工节省时间和严重漏检等指标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 </a:t>
            </a:r>
            <a:r>
              <a:rPr dirty="0" err="1"/>
              <a:t>三、专业研究与方案生成</a:t>
            </a:r>
            <a:endParaRPr dirty="0"/>
          </a:p>
          <a:p>
            <a:endParaRPr dirty="0"/>
          </a:p>
          <a:p>
            <a:r>
              <a:rPr dirty="0"/>
              <a:t>### 1. </a:t>
            </a:r>
            <a:r>
              <a:rPr dirty="0" err="1"/>
              <a:t>项目简介</a:t>
            </a:r>
            <a:endParaRPr dirty="0"/>
          </a:p>
          <a:p>
            <a:endParaRPr dirty="0"/>
          </a:p>
          <a:p>
            <a:r>
              <a:rPr dirty="0" err="1"/>
              <a:t>这是一个面向销售、售前、产品、咨询、研究和管理者的知识工作平台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用户不是让系统随便写一篇文章，而是提交一个复杂任务。系统需要理解目标，拆解问题，收集和组织多来源资料，识别信息冲突与缺口，形成带有依据和待核实项的研究结果或方案初稿，再由专业人员审阅和修改。</a:t>
            </a:r>
          </a:p>
          <a:p>
            <a:endParaRPr dirty="0"/>
          </a:p>
          <a:p>
            <a:r>
              <a:rPr dirty="0"/>
              <a:t>它的核心不是“</a:t>
            </a:r>
            <a:r>
              <a:rPr dirty="0" err="1"/>
              <a:t>生成得快</a:t>
            </a:r>
            <a:r>
              <a:rPr dirty="0"/>
              <a:t>”，</a:t>
            </a:r>
            <a:r>
              <a:rPr dirty="0" err="1"/>
              <a:t>而是让复杂知识工作的过程更系统、更透明、更容易复用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2. </a:t>
            </a:r>
            <a:r>
              <a:rPr dirty="0" err="1"/>
              <a:t>这个项目为什么值得学习</a:t>
            </a:r>
            <a:endParaRPr dirty="0"/>
          </a:p>
          <a:p>
            <a:endParaRPr dirty="0"/>
          </a:p>
          <a:p>
            <a:r>
              <a:rPr dirty="0" err="1"/>
              <a:t>生成一段通顺文字已经不难，真正困难的是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是否理解了任务和受众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是否提出了正确的问题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使用了哪些内部和外部资料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来源是否可信、是否过时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不同来源冲突时怎样处理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哪些结论可以确认，哪些仍需核实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方案是否符合企业能力和业务约束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专业人员怎样审阅、修改和承担责任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这个项目把普通“AI</a:t>
            </a:r>
            <a:r>
              <a:rPr dirty="0"/>
              <a:t> </a:t>
            </a:r>
            <a:r>
              <a:rPr dirty="0" err="1"/>
              <a:t>写作”升级为任务拆解、研究过程、信息治理和专业协作产品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3. </a:t>
            </a:r>
            <a:r>
              <a:rPr dirty="0" err="1"/>
              <a:t>典型业务闭环</a:t>
            </a:r>
            <a:endParaRPr dirty="0"/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用户输入任务目标、受众、范围和交付要求</a:t>
            </a:r>
            <a:r>
              <a:rPr dirty="0"/>
              <a:t>；</a:t>
            </a:r>
          </a:p>
          <a:p>
            <a:r>
              <a:rPr dirty="0"/>
              <a:t>2. </a:t>
            </a:r>
            <a:r>
              <a:rPr dirty="0" err="1"/>
              <a:t>系统将复杂任务拆解为需要回答的问题</a:t>
            </a:r>
            <a:r>
              <a:rPr dirty="0"/>
              <a:t>；</a:t>
            </a:r>
          </a:p>
          <a:p>
            <a:r>
              <a:rPr dirty="0"/>
              <a:t>3. </a:t>
            </a:r>
            <a:r>
              <a:rPr dirty="0" err="1"/>
              <a:t>搜索或读取内部材料与外部资料</a:t>
            </a:r>
            <a:r>
              <a:rPr dirty="0"/>
              <a:t>；</a:t>
            </a:r>
          </a:p>
          <a:p>
            <a:r>
              <a:rPr dirty="0"/>
              <a:t>4. </a:t>
            </a:r>
            <a:r>
              <a:rPr dirty="0" err="1"/>
              <a:t>对资料进行分类、去重、核实和关联</a:t>
            </a:r>
            <a:r>
              <a:rPr dirty="0"/>
              <a:t>；</a:t>
            </a:r>
          </a:p>
          <a:p>
            <a:r>
              <a:rPr dirty="0"/>
              <a:t>5. </a:t>
            </a:r>
            <a:r>
              <a:rPr dirty="0" err="1"/>
              <a:t>识别信息缺口、冲突和需要追问的内容</a:t>
            </a:r>
            <a:r>
              <a:rPr dirty="0"/>
              <a:t>；</a:t>
            </a:r>
          </a:p>
          <a:p>
            <a:r>
              <a:rPr dirty="0"/>
              <a:t>6. </a:t>
            </a:r>
            <a:r>
              <a:rPr dirty="0" err="1"/>
              <a:t>形成研究框架或方案结构</a:t>
            </a:r>
            <a:r>
              <a:rPr dirty="0"/>
              <a:t>；</a:t>
            </a:r>
          </a:p>
          <a:p>
            <a:r>
              <a:rPr dirty="0"/>
              <a:t>7. </a:t>
            </a:r>
            <a:r>
              <a:rPr dirty="0" err="1"/>
              <a:t>生成带来源、假设和待确认项的初稿</a:t>
            </a:r>
            <a:r>
              <a:rPr dirty="0"/>
              <a:t>；</a:t>
            </a:r>
          </a:p>
          <a:p>
            <a:r>
              <a:rPr dirty="0"/>
              <a:t>8. </a:t>
            </a:r>
            <a:r>
              <a:rPr dirty="0" err="1"/>
              <a:t>专业人员审阅、补充和修改</a:t>
            </a:r>
            <a:r>
              <a:rPr dirty="0"/>
              <a:t>；</a:t>
            </a:r>
          </a:p>
          <a:p>
            <a:r>
              <a:rPr dirty="0"/>
              <a:t>9. </a:t>
            </a:r>
            <a:r>
              <a:rPr dirty="0" err="1"/>
              <a:t>输出面向不同对象的正式成果</a:t>
            </a:r>
            <a:r>
              <a:rPr dirty="0"/>
              <a:t>；</a:t>
            </a:r>
          </a:p>
          <a:p>
            <a:r>
              <a:rPr dirty="0"/>
              <a:t>10. </a:t>
            </a:r>
            <a:r>
              <a:rPr dirty="0" err="1"/>
              <a:t>将模板、反馈和优质案例沉淀为组织能力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4. </a:t>
            </a:r>
            <a:r>
              <a:rPr dirty="0" err="1"/>
              <a:t>可以迁移的项目变种</a:t>
            </a:r>
            <a:endParaRPr dirty="0"/>
          </a:p>
          <a:p>
            <a:endParaRPr dirty="0"/>
          </a:p>
          <a:p>
            <a:r>
              <a:rPr dirty="0"/>
              <a:t>#### </a:t>
            </a:r>
            <a:r>
              <a:rPr dirty="0" err="1"/>
              <a:t>销售与售前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客户需求分析助手</a:t>
            </a:r>
            <a:r>
              <a:rPr dirty="0"/>
              <a:t>**  </a:t>
            </a:r>
          </a:p>
          <a:p>
            <a:r>
              <a:rPr dirty="0" err="1"/>
              <a:t>整理访谈纪要、需求文件、历史沟通和现有系统信息，形成需求地图、待确认问题和优先级建议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大客户拜访准备助手</a:t>
            </a:r>
            <a:r>
              <a:rPr dirty="0"/>
              <a:t>**  </a:t>
            </a:r>
          </a:p>
          <a:p>
            <a:r>
              <a:rPr dirty="0" err="1"/>
              <a:t>汇总客户背景、经营动态、关键人员、合作历史和潜在机会，生成拜访重点与提问清单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企业解决方案生成助手</a:t>
            </a:r>
            <a:r>
              <a:rPr dirty="0"/>
              <a:t>**  </a:t>
            </a:r>
          </a:p>
          <a:p>
            <a:r>
              <a:rPr dirty="0" err="1"/>
              <a:t>把客户需求、企业产品能力、行业案例和实施约束组织成一份可审阅的解决方案，而不是直接生成泛泛的销售文案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招标需求分析助手</a:t>
            </a:r>
            <a:r>
              <a:rPr dirty="0"/>
              <a:t>**  </a:t>
            </a:r>
          </a:p>
          <a:p>
            <a:r>
              <a:rPr dirty="0" err="1"/>
              <a:t>拆解资格条件、技术要求、评分标准和商务条款，形成响应任务和风险清单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投标响应助手</a:t>
            </a:r>
            <a:r>
              <a:rPr dirty="0"/>
              <a:t>**  </a:t>
            </a:r>
          </a:p>
          <a:p>
            <a:r>
              <a:rPr dirty="0" err="1"/>
              <a:t>将招标要求映射到产品能力、案例和证明材料，标记不能满足或需要确认的内容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#### </a:t>
            </a:r>
            <a:r>
              <a:rPr dirty="0" err="1"/>
              <a:t>产品与运营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竞品研究助手</a:t>
            </a:r>
            <a:r>
              <a:rPr dirty="0"/>
              <a:t>**  </a:t>
            </a:r>
          </a:p>
          <a:p>
            <a:r>
              <a:rPr dirty="0" err="1"/>
              <a:t>持续整理竞品功能、价格、用户评价、市场动作和版本变化，并区分事实、推断和待核实信息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产品机会分析助手</a:t>
            </a:r>
            <a:r>
              <a:rPr dirty="0"/>
              <a:t>**  </a:t>
            </a:r>
          </a:p>
          <a:p>
            <a:r>
              <a:rPr dirty="0" err="1"/>
              <a:t>把用户反馈、客服记录、销售反馈和业务数据结合起来，识别高频问题和潜在机会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产品规划助手</a:t>
            </a:r>
            <a:r>
              <a:rPr dirty="0"/>
              <a:t>**  </a:t>
            </a:r>
          </a:p>
          <a:p>
            <a:r>
              <a:rPr dirty="0" err="1"/>
              <a:t>根据战略目标、用户问题、业务约束和当前能力形成规划草案，并记录优先级依据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用户研究分析助手</a:t>
            </a:r>
            <a:r>
              <a:rPr dirty="0"/>
              <a:t>**  </a:t>
            </a:r>
          </a:p>
          <a:p>
            <a:r>
              <a:rPr dirty="0" err="1"/>
              <a:t>汇总访谈、问卷和反馈，形成用户类型、任务、痛点、反例和原始材料引用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运营活动方案助手</a:t>
            </a:r>
            <a:r>
              <a:rPr dirty="0"/>
              <a:t>**  </a:t>
            </a:r>
          </a:p>
          <a:p>
            <a:r>
              <a:rPr dirty="0" err="1"/>
              <a:t>结合目标、用户、渠道、资源和历史活动生成方案，同时标出关键假设和验证指标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#### </a:t>
            </a:r>
            <a:r>
              <a:rPr dirty="0" err="1"/>
              <a:t>行业研究与管理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行业研究助手</a:t>
            </a:r>
            <a:r>
              <a:rPr dirty="0"/>
              <a:t>**  </a:t>
            </a:r>
          </a:p>
          <a:p>
            <a:r>
              <a:rPr dirty="0" err="1"/>
              <a:t>组织市场规模、产业链、竞争格局、政策、技术趋势和代表企业资料，形成可追溯的研究框架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市场进入分析助手</a:t>
            </a:r>
            <a:r>
              <a:rPr dirty="0"/>
              <a:t>**  </a:t>
            </a:r>
          </a:p>
          <a:p>
            <a:r>
              <a:rPr dirty="0" err="1"/>
              <a:t>研究新地区或新行业的需求、竞争、渠道、政策和实施风险，帮助管理者判断是否进入以及如何进入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政策研究助手</a:t>
            </a:r>
            <a:r>
              <a:rPr dirty="0"/>
              <a:t>**  </a:t>
            </a:r>
          </a:p>
          <a:p>
            <a:r>
              <a:rPr dirty="0" err="1"/>
              <a:t>分析政策适用对象、时间范围、影响环节和企业行动，并保留原文依据和解释边界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经营分析助手</a:t>
            </a:r>
            <a:r>
              <a:rPr dirty="0"/>
              <a:t>**  </a:t>
            </a:r>
          </a:p>
          <a:p>
            <a:r>
              <a:rPr dirty="0" err="1"/>
              <a:t>汇总经营数据、部门反馈和异常事件，形成问题假设、需要补充的数据和行动建议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战略规划助手</a:t>
            </a:r>
            <a:r>
              <a:rPr dirty="0"/>
              <a:t>**  </a:t>
            </a:r>
          </a:p>
          <a:p>
            <a:r>
              <a:rPr dirty="0" err="1"/>
              <a:t>组织外部环境、企业能力、业务目标和资源约束，为战略讨论提供结构化输入，而不是代替管理层作决定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#### </a:t>
            </a:r>
            <a:r>
              <a:rPr dirty="0" err="1"/>
              <a:t>专业服务与组织能力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咨询项目研究助手</a:t>
            </a:r>
            <a:r>
              <a:rPr dirty="0"/>
              <a:t>**  </a:t>
            </a:r>
          </a:p>
          <a:p>
            <a:r>
              <a:rPr dirty="0" err="1"/>
              <a:t>围绕客户问题组织访谈、数据和外部资料，形成问题树、研究发现和交付材料初稿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投资研究助手</a:t>
            </a:r>
            <a:r>
              <a:rPr dirty="0"/>
              <a:t>**  </a:t>
            </a:r>
          </a:p>
          <a:p>
            <a:r>
              <a:rPr dirty="0" err="1"/>
              <a:t>汇总公司、行业、财务、竞争和风险信息，区分公开事实、分析假设和不确定因素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课程研发助手</a:t>
            </a:r>
            <a:r>
              <a:rPr dirty="0"/>
              <a:t>**  </a:t>
            </a:r>
          </a:p>
          <a:p>
            <a:r>
              <a:rPr dirty="0" err="1"/>
              <a:t>根据学习目标、学员背景和参考资料设计课程结构、案例、练习和评测方式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培训方案助手</a:t>
            </a:r>
            <a:r>
              <a:rPr dirty="0"/>
              <a:t>**  </a:t>
            </a:r>
          </a:p>
          <a:p>
            <a:r>
              <a:rPr dirty="0" err="1"/>
              <a:t>分析组织目标、岗位任务和能力差距，形成培训内容、练习和效果评估设计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技术选型研究助手</a:t>
            </a:r>
            <a:r>
              <a:rPr dirty="0"/>
              <a:t>**  </a:t>
            </a:r>
          </a:p>
          <a:p>
            <a:r>
              <a:rPr dirty="0" err="1"/>
              <a:t>对比技术路线、供应商、成本、实施条件和长期风险，保留比较依据和未确认信息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5. </a:t>
            </a:r>
            <a:r>
              <a:rPr dirty="0" err="1"/>
              <a:t>适合哪些学员</a:t>
            </a:r>
            <a:endParaRPr dirty="0"/>
          </a:p>
          <a:p>
            <a:endParaRPr dirty="0"/>
          </a:p>
          <a:p>
            <a:r>
              <a:rPr dirty="0" err="1"/>
              <a:t>这一方向适合产品、运营、销售、售前、市场、咨询、战略、研究、培训、管理和专业服务岗位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如果过去的工作经常需要“</a:t>
            </a:r>
            <a:r>
              <a:rPr dirty="0" err="1"/>
              <a:t>接到一个复杂问题，查很多资料，再形成报告或方案</a:t>
            </a:r>
            <a:r>
              <a:rPr dirty="0"/>
              <a:t>”，</a:t>
            </a:r>
            <a:r>
              <a:rPr dirty="0" err="1"/>
              <a:t>就可以从这个方向迁移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6. </a:t>
            </a:r>
            <a:r>
              <a:rPr dirty="0" err="1"/>
              <a:t>个人项目可以展示什么</a:t>
            </a:r>
            <a:endParaRPr dirty="0"/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任务定义和目标用户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复杂任务的拆解方式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内部与外部资料来源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信息筛选、核实和冲突处理机制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研究过程和方案生成工作流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来源引用、待核实项和人工审阅界面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一组输入任务与交付结果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对完整性、准确性、可用性和节省时间的评测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 </a:t>
            </a:r>
            <a:r>
              <a:rPr dirty="0" err="1"/>
              <a:t>四、怎样从公共项目找到自己的方向</a:t>
            </a:r>
            <a:endParaRPr dirty="0"/>
          </a:p>
          <a:p>
            <a:endParaRPr dirty="0"/>
          </a:p>
          <a:p>
            <a:r>
              <a:rPr dirty="0"/>
              <a:t>不要先问“</a:t>
            </a:r>
            <a:r>
              <a:rPr dirty="0" err="1"/>
              <a:t>我最想用哪种技术</a:t>
            </a:r>
            <a:r>
              <a:rPr dirty="0"/>
              <a:t>”，</a:t>
            </a:r>
            <a:r>
              <a:rPr dirty="0" err="1"/>
              <a:t>而要从自己的真实条件出发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1. </a:t>
            </a:r>
            <a:r>
              <a:rPr dirty="0" err="1"/>
              <a:t>先看过去做过的工作</a:t>
            </a:r>
            <a:endParaRPr dirty="0"/>
          </a:p>
          <a:p>
            <a:endParaRPr dirty="0"/>
          </a:p>
          <a:p>
            <a:r>
              <a:rPr dirty="0"/>
              <a:t>过去反复处理过的问题，往往最适合成为第一个项目。因为你知道谁在使用、流程怎样运行、哪里最麻烦，也更容易补充普通人不知道的异常情况。</a:t>
            </a:r>
          </a:p>
          <a:p>
            <a:endParaRPr dirty="0"/>
          </a:p>
          <a:p>
            <a:r>
              <a:rPr dirty="0" err="1"/>
              <a:t>例如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做过客服或运营，可以从服务问题切入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做过财务、采购或法务，可以从材料审核切入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做过销售、产品或咨询，可以从研究与方案切入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2. </a:t>
            </a:r>
            <a:r>
              <a:rPr dirty="0" err="1"/>
              <a:t>再看能够获得什么材料</a:t>
            </a:r>
            <a:endParaRPr dirty="0"/>
          </a:p>
          <a:p>
            <a:endParaRPr dirty="0"/>
          </a:p>
          <a:p>
            <a:r>
              <a:rPr dirty="0"/>
              <a:t>AI </a:t>
            </a:r>
            <a:r>
              <a:rPr dirty="0" err="1"/>
              <a:t>项目不能只有一句需求。至少要有一些可以支撑设计和测试的材料，例如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常见问题、服务规则、工单或对话记录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合同、票据、申请表、资质材料和审核标准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客户需求、访谈、行业资料、历史报告和方案模板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真实材料需要脱敏；拿不到真实材料时，可以参考真实业务结构进行合理模拟，但要说明哪些是模拟内容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3. </a:t>
            </a:r>
            <a:r>
              <a:rPr dirty="0" err="1"/>
              <a:t>最后看目标岗位</a:t>
            </a:r>
            <a:endParaRPr dirty="0"/>
          </a:p>
          <a:p>
            <a:endParaRPr dirty="0"/>
          </a:p>
          <a:p>
            <a:r>
              <a:rPr dirty="0" err="1"/>
              <a:t>如果学员正准备转岗，可以选择与目标岗位接近、同时又能利用过去经验的交叉场景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例如，过去做教育运营、希望转</a:t>
            </a:r>
            <a:r>
              <a:rPr dirty="0"/>
              <a:t> AI </a:t>
            </a:r>
            <a:r>
              <a:rPr dirty="0" err="1"/>
              <a:t>产品，可以做学员服务与业务办理；过去做财务、希望转</a:t>
            </a:r>
            <a:r>
              <a:rPr dirty="0"/>
              <a:t> AI </a:t>
            </a:r>
            <a:r>
              <a:rPr dirty="0" err="1"/>
              <a:t>产品，可以做付款材料核验；过去做销售、希望转</a:t>
            </a:r>
            <a:r>
              <a:rPr dirty="0"/>
              <a:t> AI </a:t>
            </a:r>
            <a:r>
              <a:rPr dirty="0" err="1"/>
              <a:t>产品，可以做客户研究与解决方案生成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这种项目既能体现</a:t>
            </a:r>
            <a:r>
              <a:rPr dirty="0"/>
              <a:t> AI </a:t>
            </a:r>
            <a:r>
              <a:rPr dirty="0" err="1"/>
              <a:t>产品能力，也能利用原有行业积累，通常比完全陌生的热门项目更可信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 </a:t>
            </a:r>
            <a:r>
              <a:rPr dirty="0" err="1"/>
              <a:t>五、课堂快速选择</a:t>
            </a:r>
            <a:endParaRPr dirty="0"/>
          </a:p>
          <a:p>
            <a:endParaRPr dirty="0"/>
          </a:p>
          <a:p>
            <a:r>
              <a:rPr dirty="0" err="1"/>
              <a:t>课堂上只做快速判断，不要求现在正式确定项目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问题一：你的工作更接近哪一类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- A. </a:t>
            </a:r>
            <a:r>
              <a:rPr dirty="0" err="1"/>
              <a:t>回答问题、提供服务或办理业务</a:t>
            </a:r>
            <a:r>
              <a:rPr dirty="0"/>
              <a:t>；</a:t>
            </a:r>
          </a:p>
          <a:p>
            <a:r>
              <a:rPr dirty="0"/>
              <a:t>- B. </a:t>
            </a:r>
            <a:r>
              <a:rPr dirty="0" err="1"/>
              <a:t>检查材料、核对规则或发现风险</a:t>
            </a:r>
            <a:r>
              <a:rPr dirty="0"/>
              <a:t>；</a:t>
            </a:r>
          </a:p>
          <a:p>
            <a:r>
              <a:rPr dirty="0"/>
              <a:t>- C. </a:t>
            </a:r>
            <a:r>
              <a:rPr dirty="0" err="1"/>
              <a:t>搜集信息、研究问题或输出方案</a:t>
            </a:r>
            <a:r>
              <a:rPr dirty="0"/>
              <a:t>；</a:t>
            </a:r>
          </a:p>
          <a:p>
            <a:r>
              <a:rPr dirty="0"/>
              <a:t>- D. </a:t>
            </a:r>
            <a:r>
              <a:rPr dirty="0" err="1"/>
              <a:t>暂时无法归类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问题二：你更容易获得哪一类材料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- A. </a:t>
            </a:r>
            <a:r>
              <a:rPr dirty="0" err="1"/>
              <a:t>常见问题、服务规则和业务记录</a:t>
            </a:r>
            <a:r>
              <a:rPr dirty="0"/>
              <a:t>；</a:t>
            </a:r>
          </a:p>
          <a:p>
            <a:r>
              <a:rPr dirty="0"/>
              <a:t>- B. </a:t>
            </a:r>
            <a:r>
              <a:rPr dirty="0" err="1"/>
              <a:t>合同、票据、申请表和审核标准</a:t>
            </a:r>
            <a:r>
              <a:rPr dirty="0"/>
              <a:t>；</a:t>
            </a:r>
          </a:p>
          <a:p>
            <a:r>
              <a:rPr dirty="0"/>
              <a:t>- C. </a:t>
            </a:r>
            <a:r>
              <a:rPr dirty="0" err="1"/>
              <a:t>客户需求、研究资料、历史报告和方案模板</a:t>
            </a:r>
            <a:r>
              <a:rPr dirty="0"/>
              <a:t>；</a:t>
            </a:r>
          </a:p>
          <a:p>
            <a:r>
              <a:rPr dirty="0"/>
              <a:t>- D. </a:t>
            </a:r>
            <a:r>
              <a:rPr dirty="0" err="1"/>
              <a:t>暂时不确定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问题三：刚才列出的项目变种中，哪三个与你的经历、资源或目标岗位最接近？如果没有完全对应，可以写出自己的变种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此时只需要留下候选方向，不需要为了“显得高级”仓促选择一个陌生项目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---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公共项目一：企业智能客服与业务办理</a:t>
            </a:r>
            <a:endParaRPr dirty="0"/>
          </a:p>
          <a:p>
            <a:endParaRPr dirty="0"/>
          </a:p>
          <a:p>
            <a:r>
              <a:rPr dirty="0"/>
              <a:t>普通问答机器人只回答“</a:t>
            </a:r>
            <a:r>
              <a:rPr dirty="0" err="1"/>
              <a:t>怎么办</a:t>
            </a:r>
            <a:r>
              <a:rPr dirty="0"/>
              <a:t>”。</a:t>
            </a:r>
            <a:r>
              <a:rPr dirty="0" err="1"/>
              <a:t>真正的服务型</a:t>
            </a:r>
            <a:r>
              <a:rPr dirty="0"/>
              <a:t> AI </a:t>
            </a:r>
            <a:r>
              <a:rPr dirty="0" err="1"/>
              <a:t>产品还要知道用户是谁、当前业务状态是什么、是否满足办理条件，以及接下来应该推动什么动作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这个项目训练的是：怎样让对话、知识和业务流程形成闭环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智能客服中的能力分工</a:t>
            </a:r>
            <a:endParaRPr dirty="0"/>
          </a:p>
          <a:p>
            <a:endParaRPr dirty="0"/>
          </a:p>
          <a:p>
            <a:r>
              <a:rPr dirty="0" err="1"/>
              <a:t>大多数企业都有服务问题：客户找不到答案，员工不知道找哪个部门，合作伙伴反复询问订单和政策，客服人员在多个系统间切换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这些问题看起来普通，但真正做好并不简单。系统必须回答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用户到底想问什么或办理什么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回答需要公共知识还是用户自己的业务数据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当前用户有没有权限查看或办理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满足什么条件才能继续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哪一步可以自动完成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什么情况必须交给人工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服务是否真正结束，而不是只生成了一段话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因此，这个项目能训练对话产品、知识库、业务接口、工作流、异常分流和人工接管等多种能力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智能客服变种：消费者服务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电商售后服务助手</a:t>
            </a:r>
            <a:r>
              <a:rPr dirty="0"/>
              <a:t>**  </a:t>
            </a:r>
          </a:p>
          <a:p>
            <a:r>
              <a:rPr dirty="0"/>
              <a:t>用户询问订单状态、退换货条件或商品问题。产品可以查询订单，解释政策，收集原因和图片，并发起售后申请。项目重点不只是回答政策，而是把咨询推进为可跟踪的售后任务。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在线教育学员服务助手</a:t>
            </a:r>
            <a:r>
              <a:rPr dirty="0"/>
              <a:t>**  </a:t>
            </a:r>
          </a:p>
          <a:p>
            <a:r>
              <a:rPr dirty="0" err="1"/>
              <a:t>学员咨询课程安排、请假、补课、延期、退款和证书。系统需要结合课程规则、学员购买记录和学习进度，处理不同服务请求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保险理赔服务助手</a:t>
            </a:r>
            <a:r>
              <a:rPr dirty="0"/>
              <a:t>**  </a:t>
            </a:r>
          </a:p>
          <a:p>
            <a:r>
              <a:rPr dirty="0" err="1"/>
              <a:t>用户描述事故后，系统判断可能的理赔类型，说明所需材料，检查基础信息并查询办理进度。高风险承诺和最终理赔结论仍由专业人员负责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医疗服务助手</a:t>
            </a:r>
            <a:r>
              <a:rPr dirty="0"/>
              <a:t>**  </a:t>
            </a:r>
          </a:p>
          <a:p>
            <a:r>
              <a:rPr dirty="0" err="1"/>
              <a:t>帮助患者选择科室、完成预约、了解检查前准备、查询报告状态和接收复诊提醒。项目要特别处理医疗建议边界、隐私和人工服务入口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银行业务服务助手</a:t>
            </a:r>
            <a:r>
              <a:rPr dirty="0"/>
              <a:t>**  </a:t>
            </a:r>
          </a:p>
          <a:p>
            <a:r>
              <a:rPr dirty="0" err="1"/>
              <a:t>解答账户、转账、信用卡和费用问题，并引导用户完成挂失、额度申请或材料准备。身份认证、权限和高风险交易是核心约束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本地生活服务助手</a:t>
            </a:r>
            <a:r>
              <a:rPr dirty="0"/>
              <a:t>**  </a:t>
            </a:r>
          </a:p>
          <a:p>
            <a:r>
              <a:rPr dirty="0" err="1"/>
              <a:t>处理预约、改期、退款、会员权益和门店服务。它适合展示对话如何进入预约和订单系统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旅游出行服务助手</a:t>
            </a:r>
            <a:r>
              <a:rPr dirty="0"/>
              <a:t>**  </a:t>
            </a:r>
          </a:p>
          <a:p>
            <a:r>
              <a:rPr dirty="0" err="1"/>
              <a:t>处理行程查询、退改政策、航班变化、酒店订单和异常出行。需要同时连接订单数据、供应商政策和人工服务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智能客服变种：企业客户与合作伙伴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企业软件客户服务助手</a:t>
            </a:r>
            <a:r>
              <a:rPr dirty="0"/>
              <a:t>**  </a:t>
            </a:r>
          </a:p>
          <a:p>
            <a:r>
              <a:rPr dirty="0" err="1"/>
              <a:t>根据客户购买版本、账号权限和使用环境解答产品问题；无法解决时自动整理上下文并创建工单，减少客户重复描述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制造业设备售后助手</a:t>
            </a:r>
            <a:r>
              <a:rPr dirty="0"/>
              <a:t>**  </a:t>
            </a:r>
          </a:p>
          <a:p>
            <a:r>
              <a:rPr dirty="0" err="1"/>
              <a:t>识别设备型号和故障现象，调用说明书与维修知识，给出安全排查步骤，并在需要时预约工程师和准备备件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经销商服务助手</a:t>
            </a:r>
            <a:r>
              <a:rPr dirty="0"/>
              <a:t>**  </a:t>
            </a:r>
          </a:p>
          <a:p>
            <a:r>
              <a:rPr dirty="0" err="1"/>
              <a:t>让经销商查询产品政策、价格、库存、订单、返利和活动要求。项目重点是不同经销商等级、区域和权限下的差异化回答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供应商协同助手</a:t>
            </a:r>
            <a:r>
              <a:rPr dirty="0"/>
              <a:t>**  </a:t>
            </a:r>
          </a:p>
          <a:p>
            <a:r>
              <a:rPr dirty="0" err="1"/>
              <a:t>供应商可以查询采购要求、交货计划、验收状态和结算进度。系统既要回答制度问题，也要查询具体业务状态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大客户服务助手</a:t>
            </a:r>
            <a:r>
              <a:rPr dirty="0"/>
              <a:t>**  </a:t>
            </a:r>
          </a:p>
          <a:p>
            <a:r>
              <a:rPr dirty="0" err="1"/>
              <a:t>围绕交付、续费、增购、服务升级和异常处理建立统一入口，并把客户历史、合同权益和服务记录带给客户经理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智能客服变种：企业内部服务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员工人事服务助手</a:t>
            </a:r>
            <a:r>
              <a:rPr dirty="0"/>
              <a:t>**  </a:t>
            </a:r>
          </a:p>
          <a:p>
            <a:r>
              <a:rPr dirty="0" err="1"/>
              <a:t>处理考勤、休假、薪酬、福利和证明申请。项目能够展示公共制度与个人数据之间的权限边界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企业</a:t>
            </a:r>
            <a:r>
              <a:rPr dirty="0"/>
              <a:t> IT </a:t>
            </a:r>
            <a:r>
              <a:rPr dirty="0" err="1"/>
              <a:t>服务助手</a:t>
            </a:r>
            <a:r>
              <a:rPr dirty="0"/>
              <a:t>**  </a:t>
            </a:r>
          </a:p>
          <a:p>
            <a:r>
              <a:rPr dirty="0" err="1"/>
              <a:t>处理账号、权限、软件、设备和网络问题。简单问题自动排查，复杂问题带着已收集的信息进入工单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财务共享服务助手</a:t>
            </a:r>
            <a:r>
              <a:rPr dirty="0"/>
              <a:t>**  </a:t>
            </a:r>
          </a:p>
          <a:p>
            <a:r>
              <a:rPr dirty="0" err="1"/>
              <a:t>回答报销、发票、付款和预算问题，查询单据状态，并提醒缺少的材料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采购服务助手</a:t>
            </a:r>
            <a:r>
              <a:rPr dirty="0"/>
              <a:t>**  </a:t>
            </a:r>
          </a:p>
          <a:p>
            <a:r>
              <a:rPr dirty="0" err="1"/>
              <a:t>帮助员工理解采购规则、提交采购申请、查询订单和供应商状态，并将异常情况交给采购人员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行政服务助手</a:t>
            </a:r>
            <a:r>
              <a:rPr dirty="0"/>
              <a:t>**  </a:t>
            </a:r>
          </a:p>
          <a:p>
            <a:r>
              <a:rPr dirty="0" err="1"/>
              <a:t>处理会议室、访客、办公用品、设备借用和证明开具等内部服务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公共项目二：业务材料审核与风险核验</a:t>
            </a:r>
            <a:endParaRPr dirty="0"/>
          </a:p>
          <a:p>
            <a:endParaRPr dirty="0"/>
          </a:p>
          <a:p>
            <a:r>
              <a:rPr dirty="0" err="1"/>
              <a:t>材料审核不是简单总结文件。系统要在多份材料中找到关键字段、判断是否一致、引用规则、标记风险，并让人工能够回到原文复核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这个项目训练的是：怎样在确定性规则、语义判断和人工责任之间建立可靠边界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材料审核的完整业务闭环</a:t>
            </a:r>
            <a:endParaRPr dirty="0"/>
          </a:p>
          <a:p>
            <a:endParaRPr dirty="0"/>
          </a:p>
          <a:p>
            <a:r>
              <a:rPr dirty="0" err="1"/>
              <a:t>一个完整的服务过程通常包含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用户提出问题或请求</a:t>
            </a:r>
            <a:r>
              <a:rPr dirty="0"/>
              <a:t>；</a:t>
            </a:r>
          </a:p>
          <a:p>
            <a:r>
              <a:rPr dirty="0"/>
              <a:t>2. </a:t>
            </a:r>
            <a:r>
              <a:rPr dirty="0" err="1"/>
              <a:t>系统识别意图和所需信息</a:t>
            </a:r>
            <a:r>
              <a:rPr dirty="0"/>
              <a:t>；</a:t>
            </a:r>
          </a:p>
          <a:p>
            <a:r>
              <a:rPr dirty="0"/>
              <a:t>3. </a:t>
            </a:r>
            <a:r>
              <a:rPr dirty="0" err="1"/>
              <a:t>必要时确认身份、对象和权限</a:t>
            </a:r>
            <a:r>
              <a:rPr dirty="0"/>
              <a:t>；</a:t>
            </a:r>
          </a:p>
          <a:p>
            <a:r>
              <a:rPr dirty="0"/>
              <a:t>4. </a:t>
            </a:r>
            <a:r>
              <a:rPr dirty="0" err="1"/>
              <a:t>查询知识或业务数据</a:t>
            </a:r>
            <a:r>
              <a:rPr dirty="0"/>
              <a:t>；</a:t>
            </a:r>
          </a:p>
          <a:p>
            <a:r>
              <a:rPr dirty="0"/>
              <a:t>5. </a:t>
            </a:r>
            <a:r>
              <a:rPr dirty="0" err="1"/>
              <a:t>判断是否满足办理条件</a:t>
            </a:r>
            <a:r>
              <a:rPr dirty="0"/>
              <a:t>；</a:t>
            </a:r>
          </a:p>
          <a:p>
            <a:r>
              <a:rPr dirty="0"/>
              <a:t>6. </a:t>
            </a:r>
            <a:r>
              <a:rPr dirty="0" err="1"/>
              <a:t>回答问题或发起业务动作</a:t>
            </a:r>
            <a:r>
              <a:rPr dirty="0"/>
              <a:t>；</a:t>
            </a:r>
          </a:p>
          <a:p>
            <a:r>
              <a:rPr dirty="0"/>
              <a:t>7. </a:t>
            </a:r>
            <a:r>
              <a:rPr dirty="0" err="1"/>
              <a:t>返回办理结果和下一步</a:t>
            </a:r>
            <a:r>
              <a:rPr dirty="0"/>
              <a:t>；</a:t>
            </a:r>
          </a:p>
          <a:p>
            <a:r>
              <a:rPr dirty="0"/>
              <a:t>8. </a:t>
            </a:r>
            <a:r>
              <a:rPr dirty="0" err="1"/>
              <a:t>无法判断、高风险或用户不满意时转人工</a:t>
            </a:r>
            <a:r>
              <a:rPr dirty="0"/>
              <a:t>；</a:t>
            </a:r>
          </a:p>
          <a:p>
            <a:r>
              <a:rPr dirty="0"/>
              <a:t>9. </a:t>
            </a:r>
            <a:r>
              <a:rPr dirty="0" err="1"/>
              <a:t>记录服务结果，用于后续评测和优化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公共项目课会进一步讨论：哪些环节使用大模型，哪些环节使用规则和接口，以及页面如何让用户知道系统当前正在做什么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审核项目中的判断边界</a:t>
            </a:r>
            <a:endParaRPr dirty="0"/>
          </a:p>
          <a:p>
            <a:endParaRPr dirty="0"/>
          </a:p>
          <a:p>
            <a:r>
              <a:rPr dirty="0" err="1"/>
              <a:t>大多数企业都有服务问题：客户找不到答案，员工不知道找哪个部门，合作伙伴反复询问订单和政策，客服人员在多个系统间切换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这些问题看起来普通，但真正做好并不简单。系统必须回答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用户到底想问什么或办理什么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回答需要公共知识还是用户自己的业务数据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当前用户有没有权限查看或办理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满足什么条件才能继续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哪一步可以自动完成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什么情况必须交给人工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服务是否真正结束，而不是只生成了一段话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因此，这个项目能训练对话产品、知识库、业务接口、工作流、异常分流和人工接管等多种能力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审核变种：财务、合同与采购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员工报销审核助手</a:t>
            </a:r>
            <a:r>
              <a:rPr dirty="0"/>
              <a:t>**  </a:t>
            </a:r>
          </a:p>
          <a:p>
            <a:r>
              <a:rPr dirty="0" err="1"/>
              <a:t>核对发票、报销单、行程、费用科目和企业制度，发现日期、金额、人员、行程不一致及超标问题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企业付款材料核验助手</a:t>
            </a:r>
            <a:r>
              <a:rPr dirty="0"/>
              <a:t>**  </a:t>
            </a:r>
          </a:p>
          <a:p>
            <a:r>
              <a:rPr dirty="0" err="1"/>
              <a:t>检查合同、采购订单、验收单、发票和付款申请之间是否一致，并判断是否满足付款条件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预算申请审核助手</a:t>
            </a:r>
            <a:r>
              <a:rPr dirty="0"/>
              <a:t>**  </a:t>
            </a:r>
          </a:p>
          <a:p>
            <a:r>
              <a:rPr dirty="0" err="1"/>
              <a:t>核对预算科目、历史支出、申请理由和审批要求，帮助管理者快速找到异常点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合同条款审核助手</a:t>
            </a:r>
            <a:r>
              <a:rPr dirty="0"/>
              <a:t>**  </a:t>
            </a:r>
          </a:p>
          <a:p>
            <a:r>
              <a:rPr dirty="0" err="1"/>
              <a:t>识别付款、交付、验收、违约、知识产权、数据安全和自动续约等风险，并引用原文条款和企业标准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合同履约检查助手</a:t>
            </a:r>
            <a:r>
              <a:rPr dirty="0"/>
              <a:t>**  </a:t>
            </a:r>
          </a:p>
          <a:p>
            <a:r>
              <a:rPr dirty="0" err="1"/>
              <a:t>对照合同约定和实际交付材料，判断是否达到验收、开票或付款条件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企业制度合规检查助手</a:t>
            </a:r>
            <a:r>
              <a:rPr dirty="0"/>
              <a:t>**  </a:t>
            </a:r>
          </a:p>
          <a:p>
            <a:r>
              <a:rPr dirty="0" err="1"/>
              <a:t>判断业务申请、营销文案或操作流程是否符合内部制度，并指出适用条款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供应商准入审核助手</a:t>
            </a:r>
            <a:r>
              <a:rPr dirty="0"/>
              <a:t>**  </a:t>
            </a:r>
          </a:p>
          <a:p>
            <a:r>
              <a:rPr dirty="0" err="1"/>
              <a:t>核验营业执照、行业资质、财务信息和准入条件，发现过期、缺失和不一致材料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采购申请审核助手</a:t>
            </a:r>
            <a:r>
              <a:rPr dirty="0"/>
              <a:t>**  </a:t>
            </a:r>
          </a:p>
          <a:p>
            <a:r>
              <a:rPr dirty="0" err="1"/>
              <a:t>检查预算、需求说明、询价记录和供应商选择过程是否完整、合理并符合制度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招投标文件检查助手</a:t>
            </a:r>
            <a:r>
              <a:rPr dirty="0"/>
              <a:t>**  </a:t>
            </a:r>
          </a:p>
          <a:p>
            <a:r>
              <a:rPr dirty="0" err="1"/>
              <a:t>对照招标文件检查响应材料、资格证明、技术参数和签章，提前发现废标风险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审核变种：金融、人事与公共服务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企业开户材料审核助手</a:t>
            </a:r>
            <a:r>
              <a:rPr dirty="0"/>
              <a:t>**  </a:t>
            </a:r>
          </a:p>
          <a:p>
            <a:r>
              <a:rPr dirty="0" err="1"/>
              <a:t>检查企业身份、股权结构、受益人和经营证明材料，辅助识别缺失与冲突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贷款申请材料预审助手</a:t>
            </a:r>
            <a:r>
              <a:rPr dirty="0"/>
              <a:t>**  </a:t>
            </a:r>
          </a:p>
          <a:p>
            <a:r>
              <a:rPr dirty="0" err="1"/>
              <a:t>核对收入、资产、负债、交易记录和资金用途，帮助审核人员快速定位需要进一步核实的问题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保险理赔材料审核助手</a:t>
            </a:r>
            <a:r>
              <a:rPr dirty="0"/>
              <a:t>**  </a:t>
            </a:r>
          </a:p>
          <a:p>
            <a:r>
              <a:rPr dirty="0" err="1"/>
              <a:t>核对保单责任、事故证明、医疗或维修凭证和费用清单，识别材料缺失与异常对应关系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招聘入职材料审核助手</a:t>
            </a:r>
            <a:r>
              <a:rPr dirty="0"/>
              <a:t>**  </a:t>
            </a:r>
          </a:p>
          <a:p>
            <a:r>
              <a:rPr dirty="0" err="1"/>
              <a:t>检查身份、学历、工作经历、资质和入职文件的完整性与一致性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项目申报材料预审助手</a:t>
            </a:r>
            <a:r>
              <a:rPr dirty="0"/>
              <a:t>**  </a:t>
            </a:r>
          </a:p>
          <a:p>
            <a:r>
              <a:rPr dirty="0" err="1"/>
              <a:t>对照申报指南检查企业资格、项目条件、预算和附件，提前发现形式和内容问题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政府办事材料预审助手</a:t>
            </a:r>
            <a:r>
              <a:rPr dirty="0"/>
              <a:t>**  </a:t>
            </a:r>
          </a:p>
          <a:p>
            <a:r>
              <a:rPr dirty="0" err="1"/>
              <a:t>让申请人在正式提交前了解所需条件、缺少材料和填写错误，减少往返办理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质量检测报告核验助手</a:t>
            </a:r>
            <a:r>
              <a:rPr dirty="0"/>
              <a:t>**  </a:t>
            </a:r>
          </a:p>
          <a:p>
            <a:r>
              <a:rPr dirty="0" err="1"/>
              <a:t>检查检测项目、数值、结论、标准、签章和样品信息，发现报告内部或多份报告之间的不一致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内容发布合规检查助手</a:t>
            </a:r>
            <a:r>
              <a:rPr dirty="0"/>
              <a:t>**  </a:t>
            </a:r>
          </a:p>
          <a:p>
            <a:r>
              <a:rPr dirty="0" err="1"/>
              <a:t>检查广告、商品详情、公开材料中的敏感表述、绝对化承诺和行业合规风险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公共项目三：专业研究与方案生成</a:t>
            </a:r>
            <a:endParaRPr dirty="0"/>
          </a:p>
          <a:p>
            <a:endParaRPr dirty="0"/>
          </a:p>
          <a:p>
            <a:r>
              <a:rPr dirty="0"/>
              <a:t>普通写作助手可以很快生成一篇看起来通顺的文字，但专业工作要求来源可靠、问题拆解合理、观点有依据、信息缺口可见，并且允许专家持续修改。</a:t>
            </a:r>
          </a:p>
          <a:p>
            <a:endParaRPr dirty="0"/>
          </a:p>
          <a:p>
            <a:r>
              <a:rPr dirty="0" err="1"/>
              <a:t>这个项目训练的是：怎样把复杂知识工作变成可追踪、可核实、可协作的产品流程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研究与方案生成的完整闭环</a:t>
            </a:r>
            <a:endParaRPr dirty="0"/>
          </a:p>
          <a:p>
            <a:endParaRPr dirty="0"/>
          </a:p>
          <a:p>
            <a:r>
              <a:rPr dirty="0" err="1"/>
              <a:t>一个完整的服务过程通常包含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用户提出问题或请求</a:t>
            </a:r>
            <a:r>
              <a:rPr dirty="0"/>
              <a:t>；</a:t>
            </a:r>
          </a:p>
          <a:p>
            <a:r>
              <a:rPr dirty="0"/>
              <a:t>2. </a:t>
            </a:r>
            <a:r>
              <a:rPr dirty="0" err="1"/>
              <a:t>系统识别意图和所需信息</a:t>
            </a:r>
            <a:r>
              <a:rPr dirty="0"/>
              <a:t>；</a:t>
            </a:r>
          </a:p>
          <a:p>
            <a:r>
              <a:rPr dirty="0"/>
              <a:t>3. </a:t>
            </a:r>
            <a:r>
              <a:rPr dirty="0" err="1"/>
              <a:t>必要时确认身份、对象和权限</a:t>
            </a:r>
            <a:r>
              <a:rPr dirty="0"/>
              <a:t>；</a:t>
            </a:r>
          </a:p>
          <a:p>
            <a:r>
              <a:rPr dirty="0"/>
              <a:t>4. </a:t>
            </a:r>
            <a:r>
              <a:rPr dirty="0" err="1"/>
              <a:t>查询知识或业务数据</a:t>
            </a:r>
            <a:r>
              <a:rPr dirty="0"/>
              <a:t>；</a:t>
            </a:r>
          </a:p>
          <a:p>
            <a:r>
              <a:rPr dirty="0"/>
              <a:t>5. </a:t>
            </a:r>
            <a:r>
              <a:rPr dirty="0" err="1"/>
              <a:t>判断是否满足办理条件</a:t>
            </a:r>
            <a:r>
              <a:rPr dirty="0"/>
              <a:t>；</a:t>
            </a:r>
          </a:p>
          <a:p>
            <a:r>
              <a:rPr dirty="0"/>
              <a:t>6. </a:t>
            </a:r>
            <a:r>
              <a:rPr dirty="0" err="1"/>
              <a:t>回答问题或发起业务动作</a:t>
            </a:r>
            <a:r>
              <a:rPr dirty="0"/>
              <a:t>；</a:t>
            </a:r>
          </a:p>
          <a:p>
            <a:r>
              <a:rPr dirty="0"/>
              <a:t>7. </a:t>
            </a:r>
            <a:r>
              <a:rPr dirty="0" err="1"/>
              <a:t>返回办理结果和下一步</a:t>
            </a:r>
            <a:r>
              <a:rPr dirty="0"/>
              <a:t>；</a:t>
            </a:r>
          </a:p>
          <a:p>
            <a:r>
              <a:rPr dirty="0"/>
              <a:t>8. </a:t>
            </a:r>
            <a:r>
              <a:rPr dirty="0" err="1"/>
              <a:t>无法判断、高风险或用户不满意时转人工</a:t>
            </a:r>
            <a:r>
              <a:rPr dirty="0"/>
              <a:t>；</a:t>
            </a:r>
          </a:p>
          <a:p>
            <a:r>
              <a:rPr dirty="0"/>
              <a:t>9. </a:t>
            </a:r>
            <a:r>
              <a:rPr dirty="0" err="1"/>
              <a:t>记录服务结果，用于后续评测和优化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公共项目课会进一步讨论：哪些环节使用大模型，哪些环节使用规则和接口，以及页面如何让用户知道系统当前正在做什么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专业交付比生成文字多什么</a:t>
            </a:r>
            <a:endParaRPr dirty="0"/>
          </a:p>
          <a:p>
            <a:endParaRPr dirty="0"/>
          </a:p>
          <a:p>
            <a:r>
              <a:rPr dirty="0" err="1"/>
              <a:t>大多数企业都有服务问题：客户找不到答案，员工不知道找哪个部门，合作伙伴反复询问订单和政策，客服人员在多个系统间切换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这些问题看起来普通，但真正做好并不简单。系统必须回答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用户到底想问什么或办理什么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回答需要公共知识还是用户自己的业务数据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当前用户有没有权限查看或办理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满足什么条件才能继续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哪一步可以自动完成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什么情况必须交给人工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服务是否真正结束，而不是只生成了一段话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因此，这个项目能训练对话产品、知识库、业务接口、工作流、异常分流和人工接管等多种能力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研究变种：销售、产品与运营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客户需求分析助手</a:t>
            </a:r>
            <a:r>
              <a:rPr dirty="0"/>
              <a:t>**  </a:t>
            </a:r>
          </a:p>
          <a:p>
            <a:r>
              <a:rPr dirty="0" err="1"/>
              <a:t>整理访谈纪要、需求文件、历史沟通和现有系统信息，形成需求地图、待确认问题和优先级建议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大客户拜访准备助手</a:t>
            </a:r>
            <a:r>
              <a:rPr dirty="0"/>
              <a:t>**  </a:t>
            </a:r>
          </a:p>
          <a:p>
            <a:r>
              <a:rPr dirty="0" err="1"/>
              <a:t>汇总客户背景、经营动态、关键人员、合作历史和潜在机会，生成拜访重点与提问清单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企业解决方案生成助手</a:t>
            </a:r>
            <a:r>
              <a:rPr dirty="0"/>
              <a:t>**  </a:t>
            </a:r>
          </a:p>
          <a:p>
            <a:r>
              <a:rPr dirty="0" err="1"/>
              <a:t>把客户需求、企业产品能力、行业案例和实施约束组织成一份可审阅的解决方案，而不是直接生成泛泛的销售文案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招标需求分析助手</a:t>
            </a:r>
            <a:r>
              <a:rPr dirty="0"/>
              <a:t>**  </a:t>
            </a:r>
          </a:p>
          <a:p>
            <a:r>
              <a:rPr dirty="0" err="1"/>
              <a:t>拆解资格条件、技术要求、评分标准和商务条款，形成响应任务和风险清单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投标响应助手</a:t>
            </a:r>
            <a:r>
              <a:rPr dirty="0"/>
              <a:t>**  </a:t>
            </a:r>
          </a:p>
          <a:p>
            <a:r>
              <a:rPr dirty="0" err="1"/>
              <a:t>将招标要求映射到产品能力、案例和证明材料，标记不能满足或需要确认的内容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竞品研究助手</a:t>
            </a:r>
            <a:r>
              <a:rPr dirty="0"/>
              <a:t>**  </a:t>
            </a:r>
          </a:p>
          <a:p>
            <a:r>
              <a:rPr dirty="0" err="1"/>
              <a:t>持续整理竞品功能、价格、用户评价、市场动作和版本变化，并区分事实、推断和待核实信息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产品机会分析助手</a:t>
            </a:r>
            <a:r>
              <a:rPr dirty="0"/>
              <a:t>**  </a:t>
            </a:r>
          </a:p>
          <a:p>
            <a:r>
              <a:rPr dirty="0" err="1"/>
              <a:t>把用户反馈、客服记录、销售反馈和业务数据结合起来，识别高频问题和潜在机会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产品规划助手</a:t>
            </a:r>
            <a:r>
              <a:rPr dirty="0"/>
              <a:t>**  </a:t>
            </a:r>
          </a:p>
          <a:p>
            <a:r>
              <a:rPr dirty="0" err="1"/>
              <a:t>根据战略目标、用户问题、业务约束和当前能力形成规划草案，并记录优先级依据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用户研究分析助手</a:t>
            </a:r>
            <a:r>
              <a:rPr dirty="0"/>
              <a:t>**  </a:t>
            </a:r>
          </a:p>
          <a:p>
            <a:r>
              <a:rPr dirty="0" err="1"/>
              <a:t>汇总访谈、问卷和反馈，形成用户类型、任务、痛点、反例和原始材料引用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运营活动方案助手</a:t>
            </a:r>
            <a:r>
              <a:rPr dirty="0"/>
              <a:t>**  </a:t>
            </a:r>
          </a:p>
          <a:p>
            <a:r>
              <a:rPr dirty="0" err="1"/>
              <a:t>结合目标、用户、渠道、资源和历史活动生成方案，同时标出关键假设和验证指标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研究变种：行业、管理与专业服务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行业研究助手</a:t>
            </a:r>
            <a:r>
              <a:rPr dirty="0"/>
              <a:t>**  </a:t>
            </a:r>
          </a:p>
          <a:p>
            <a:r>
              <a:rPr dirty="0" err="1"/>
              <a:t>组织市场规模、产业链、竞争格局、政策、技术趋势和代表企业资料，形成可追溯的研究框架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市场进入分析助手</a:t>
            </a:r>
            <a:r>
              <a:rPr dirty="0"/>
              <a:t>**  </a:t>
            </a:r>
          </a:p>
          <a:p>
            <a:r>
              <a:rPr dirty="0" err="1"/>
              <a:t>研究新地区或新行业的需求、竞争、渠道、政策和实施风险，帮助管理者判断是否进入以及如何进入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政策研究助手</a:t>
            </a:r>
            <a:r>
              <a:rPr dirty="0"/>
              <a:t>**  </a:t>
            </a:r>
          </a:p>
          <a:p>
            <a:r>
              <a:rPr dirty="0" err="1"/>
              <a:t>分析政策适用对象、时间范围、影响环节和企业行动，并保留原文依据和解释边界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经营分析助手</a:t>
            </a:r>
            <a:r>
              <a:rPr dirty="0"/>
              <a:t>**  </a:t>
            </a:r>
          </a:p>
          <a:p>
            <a:r>
              <a:rPr dirty="0" err="1"/>
              <a:t>汇总经营数据、部门反馈和异常事件，形成问题假设、需要补充的数据和行动建议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战略规划助手</a:t>
            </a:r>
            <a:r>
              <a:rPr dirty="0"/>
              <a:t>**  </a:t>
            </a:r>
          </a:p>
          <a:p>
            <a:r>
              <a:rPr dirty="0" err="1"/>
              <a:t>组织外部环境、企业能力、业务目标和资源约束，为战略讨论提供结构化输入，而不是代替管理层作决定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咨询项目研究助手</a:t>
            </a:r>
            <a:r>
              <a:rPr dirty="0"/>
              <a:t>**  </a:t>
            </a:r>
          </a:p>
          <a:p>
            <a:r>
              <a:rPr dirty="0" err="1"/>
              <a:t>围绕客户问题组织访谈、数据和外部资料，形成问题树、研究发现和交付材料初稿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投资研究助手</a:t>
            </a:r>
            <a:r>
              <a:rPr dirty="0"/>
              <a:t>**  </a:t>
            </a:r>
          </a:p>
          <a:p>
            <a:r>
              <a:rPr dirty="0" err="1"/>
              <a:t>汇总公司、行业、财务、竞争和风险信息，区分公开事实、分析假设和不确定因素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课程研发助手</a:t>
            </a:r>
            <a:r>
              <a:rPr dirty="0"/>
              <a:t>**  </a:t>
            </a:r>
          </a:p>
          <a:p>
            <a:r>
              <a:rPr dirty="0" err="1"/>
              <a:t>根据学习目标、学员背景和参考资料设计课程结构、案例、练习和评测方式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培训方案助手</a:t>
            </a:r>
            <a:r>
              <a:rPr dirty="0"/>
              <a:t>**  </a:t>
            </a:r>
          </a:p>
          <a:p>
            <a:r>
              <a:rPr dirty="0" err="1"/>
              <a:t>分析组织目标、岗位任务和能力差距，形成培训内容、练习和效果评估设计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技术选型研究助手</a:t>
            </a:r>
            <a:r>
              <a:rPr dirty="0"/>
              <a:t>**  </a:t>
            </a:r>
          </a:p>
          <a:p>
            <a:r>
              <a:rPr dirty="0" err="1"/>
              <a:t>对比技术路线、供应商、成本、实施条件和长期风险，保留比较依据和未确认信息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怎样找到自己的项目方向</a:t>
            </a:r>
            <a:endParaRPr dirty="0"/>
          </a:p>
          <a:p>
            <a:endParaRPr dirty="0"/>
          </a:p>
          <a:p>
            <a:r>
              <a:rPr dirty="0"/>
              <a:t>不要先问“</a:t>
            </a:r>
            <a:r>
              <a:rPr dirty="0" err="1"/>
              <a:t>我最想用哪种技术</a:t>
            </a:r>
            <a:r>
              <a:rPr dirty="0"/>
              <a:t>”，</a:t>
            </a:r>
            <a:r>
              <a:rPr dirty="0" err="1"/>
              <a:t>而要从自己的真实条件出发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1. </a:t>
            </a:r>
            <a:r>
              <a:rPr dirty="0" err="1"/>
              <a:t>先看过去做过的工作</a:t>
            </a:r>
            <a:endParaRPr dirty="0"/>
          </a:p>
          <a:p>
            <a:endParaRPr dirty="0"/>
          </a:p>
          <a:p>
            <a:r>
              <a:rPr dirty="0"/>
              <a:t>过去反复处理过的问题，往往最适合成为第一个项目。因为你知道谁在使用、流程怎样运行、哪里最麻烦，也更容易补充普通人不知道的异常情况。</a:t>
            </a:r>
          </a:p>
          <a:p>
            <a:endParaRPr dirty="0"/>
          </a:p>
          <a:p>
            <a:r>
              <a:rPr dirty="0" err="1"/>
              <a:t>例如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做过客服或运营，可以从服务问题切入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做过财务、采购或法务，可以从材料审核切入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做过销售、产品或咨询，可以从研究与方案切入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2. </a:t>
            </a:r>
            <a:r>
              <a:rPr dirty="0" err="1"/>
              <a:t>再看能够获得什么材料</a:t>
            </a:r>
            <a:endParaRPr dirty="0"/>
          </a:p>
          <a:p>
            <a:endParaRPr dirty="0"/>
          </a:p>
          <a:p>
            <a:r>
              <a:rPr dirty="0"/>
              <a:t>AI </a:t>
            </a:r>
            <a:r>
              <a:rPr dirty="0" err="1"/>
              <a:t>项目不能只有一句需求。至少要有一些可以支撑设计和测试的材料，例如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常见问题、服务规则、工单或对话记录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合同、票据、申请表、资质材料和审核标准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客户需求、访谈、行业资料、历史报告和方案模板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真实材料需要脱敏；拿不到真实材料时，可以参考真实业务结构进行合理模拟，但要说明哪些是模拟内容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### 3. </a:t>
            </a:r>
            <a:r>
              <a:rPr dirty="0" err="1"/>
              <a:t>最后看目标岗位</a:t>
            </a:r>
            <a:endParaRPr dirty="0"/>
          </a:p>
          <a:p>
            <a:endParaRPr dirty="0"/>
          </a:p>
          <a:p>
            <a:r>
              <a:rPr dirty="0" err="1"/>
              <a:t>如果学员正准备转岗，可以选择与目标岗位接近、同时又能利用过去经验的交叉场景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例如，过去做教育运营、希望转</a:t>
            </a:r>
            <a:r>
              <a:rPr dirty="0"/>
              <a:t> AI </a:t>
            </a:r>
            <a:r>
              <a:rPr dirty="0" err="1"/>
              <a:t>产品，可以做学员服务与业务办理；过去做财务、希望转</a:t>
            </a:r>
            <a:r>
              <a:rPr dirty="0"/>
              <a:t> AI </a:t>
            </a:r>
            <a:r>
              <a:rPr dirty="0" err="1"/>
              <a:t>产品，可以做付款材料核验；过去做销售、希望转</a:t>
            </a:r>
            <a:r>
              <a:rPr dirty="0"/>
              <a:t> AI </a:t>
            </a:r>
            <a:r>
              <a:rPr dirty="0" err="1"/>
              <a:t>产品，可以做客户研究与解决方案生成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这种项目既能体现</a:t>
            </a:r>
            <a:r>
              <a:rPr dirty="0"/>
              <a:t> AI </a:t>
            </a:r>
            <a:r>
              <a:rPr dirty="0" err="1"/>
              <a:t>产品能力，也能利用原有行业积累，通常比完全陌生的热门项目更可信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第一课课后准备</a:t>
            </a:r>
            <a:endParaRPr dirty="0"/>
          </a:p>
          <a:p>
            <a:endParaRPr dirty="0"/>
          </a:p>
          <a:p>
            <a:r>
              <a:rPr dirty="0" err="1"/>
              <a:t>第一课和第二课之间，学员还没有完整学习第一个公共项目，所以这次作业只做场景和材料准备，不要求提前完成产品方案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 </a:t>
            </a:r>
            <a:r>
              <a:rPr dirty="0" err="1"/>
              <a:t>一、找到三个候选场景</a:t>
            </a:r>
            <a:endParaRPr dirty="0"/>
          </a:p>
          <a:p>
            <a:endParaRPr dirty="0"/>
          </a:p>
          <a:p>
            <a:r>
              <a:rPr dirty="0" err="1"/>
              <a:t>从自己的经历、所在行业或目标岗位中，写出三个可能的业务场景。每个场景只回答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谁在使用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要完成什么事情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现在怎样完成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最主要的问题是什么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会使用哪些材料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这些材料能否获得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每项写一两句话即可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 </a:t>
            </a:r>
            <a:r>
              <a:rPr dirty="0" err="1"/>
              <a:t>二、准备一个场景的基础材料</a:t>
            </a:r>
            <a:endParaRPr dirty="0"/>
          </a:p>
          <a:p>
            <a:endParaRPr dirty="0"/>
          </a:p>
          <a:p>
            <a:r>
              <a:rPr dirty="0" err="1"/>
              <a:t>从三个场景中选最熟悉的一个，准备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- 5 </a:t>
            </a:r>
            <a:r>
              <a:rPr dirty="0" err="1"/>
              <a:t>个常见问题或业务案例</a:t>
            </a:r>
            <a:r>
              <a:rPr dirty="0"/>
              <a:t>；</a:t>
            </a:r>
          </a:p>
          <a:p>
            <a:r>
              <a:rPr dirty="0"/>
              <a:t>- 1—3 </a:t>
            </a:r>
            <a:r>
              <a:rPr dirty="0" err="1"/>
              <a:t>份相关材料</a:t>
            </a:r>
            <a:r>
              <a:rPr dirty="0"/>
              <a:t>；</a:t>
            </a:r>
          </a:p>
          <a:p>
            <a:r>
              <a:rPr dirty="0"/>
              <a:t>- 1 </a:t>
            </a:r>
            <a:r>
              <a:rPr dirty="0" err="1"/>
              <a:t>个正常情况</a:t>
            </a:r>
            <a:r>
              <a:rPr dirty="0"/>
              <a:t>；</a:t>
            </a:r>
          </a:p>
          <a:p>
            <a:r>
              <a:rPr dirty="0"/>
              <a:t>- 1 </a:t>
            </a:r>
            <a:r>
              <a:rPr dirty="0" err="1"/>
              <a:t>个特殊情况</a:t>
            </a:r>
            <a:r>
              <a:rPr dirty="0"/>
              <a:t>；</a:t>
            </a:r>
          </a:p>
          <a:p>
            <a:r>
              <a:rPr dirty="0"/>
              <a:t>- 2 </a:t>
            </a:r>
            <a:r>
              <a:rPr dirty="0" err="1"/>
              <a:t>个目前还不知道答案的问题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材料可以脱敏，也可以基于真实业务合理模拟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## </a:t>
            </a:r>
            <a:r>
              <a:rPr dirty="0" err="1"/>
              <a:t>三、这次不需要做什么</a:t>
            </a:r>
            <a:endParaRPr dirty="0"/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不需要确定最终选题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不需要写</a:t>
            </a:r>
            <a:r>
              <a:rPr dirty="0"/>
              <a:t> PRD；</a:t>
            </a:r>
          </a:p>
          <a:p>
            <a:r>
              <a:rPr dirty="0"/>
              <a:t>- </a:t>
            </a:r>
            <a:r>
              <a:rPr dirty="0" err="1"/>
              <a:t>不需要画原型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不需要选择模型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不需要开发</a:t>
            </a:r>
            <a:r>
              <a:rPr dirty="0"/>
              <a:t> Demo。</a:t>
            </a:r>
          </a:p>
          <a:p>
            <a:endParaRPr dirty="0"/>
          </a:p>
          <a:p>
            <a:r>
              <a:rPr dirty="0" err="1"/>
              <a:t>第二课完整学习“企业智能客服与业务办理”之后，再确定第一个个人项目并制作</a:t>
            </a:r>
            <a:r>
              <a:rPr dirty="0"/>
              <a:t> V0.1。</a:t>
            </a:r>
          </a:p>
          <a:p>
            <a:endParaRPr dirty="0"/>
          </a:p>
          <a:p>
            <a:r>
              <a:rPr dirty="0"/>
              <a:t>## </a:t>
            </a:r>
            <a:r>
              <a:rPr dirty="0" err="1"/>
              <a:t>四、提交格式</a:t>
            </a:r>
            <a:endParaRPr dirty="0"/>
          </a:p>
          <a:p>
            <a:endParaRPr dirty="0"/>
          </a:p>
          <a:p>
            <a:r>
              <a:rPr dirty="0"/>
              <a:t>| </a:t>
            </a:r>
            <a:r>
              <a:rPr dirty="0" err="1"/>
              <a:t>候选场景</a:t>
            </a:r>
            <a:r>
              <a:rPr dirty="0"/>
              <a:t> | </a:t>
            </a:r>
            <a:r>
              <a:rPr dirty="0" err="1"/>
              <a:t>使用者</a:t>
            </a:r>
            <a:r>
              <a:rPr dirty="0"/>
              <a:t> | </a:t>
            </a:r>
            <a:r>
              <a:rPr dirty="0" err="1"/>
              <a:t>要完成的事情</a:t>
            </a:r>
            <a:r>
              <a:rPr dirty="0"/>
              <a:t> | </a:t>
            </a:r>
            <a:r>
              <a:rPr dirty="0" err="1"/>
              <a:t>当前问题</a:t>
            </a:r>
            <a:r>
              <a:rPr dirty="0"/>
              <a:t> | </a:t>
            </a:r>
            <a:r>
              <a:rPr dirty="0" err="1"/>
              <a:t>可用材料</a:t>
            </a:r>
            <a:r>
              <a:rPr dirty="0"/>
              <a:t> |</a:t>
            </a:r>
          </a:p>
          <a:p>
            <a:r>
              <a:rPr dirty="0"/>
              <a:t>|---|---|---|---|---|</a:t>
            </a:r>
          </a:p>
          <a:p>
            <a:r>
              <a:rPr dirty="0"/>
              <a:t>| </a:t>
            </a:r>
            <a:r>
              <a:rPr dirty="0" err="1"/>
              <a:t>场景一</a:t>
            </a:r>
            <a:r>
              <a:rPr dirty="0"/>
              <a:t> |  |  |  |  |</a:t>
            </a:r>
          </a:p>
          <a:p>
            <a:r>
              <a:rPr dirty="0"/>
              <a:t>| </a:t>
            </a:r>
            <a:r>
              <a:rPr dirty="0" err="1"/>
              <a:t>场景二</a:t>
            </a:r>
            <a:r>
              <a:rPr dirty="0"/>
              <a:t> |  |  |  |  |</a:t>
            </a:r>
          </a:p>
          <a:p>
            <a:r>
              <a:rPr dirty="0"/>
              <a:t>| </a:t>
            </a:r>
            <a:r>
              <a:rPr dirty="0" err="1"/>
              <a:t>场景三</a:t>
            </a:r>
            <a:r>
              <a:rPr dirty="0"/>
              <a:t> |  |  |  |  |</a:t>
            </a:r>
          </a:p>
          <a:p>
            <a:endParaRPr dirty="0"/>
          </a:p>
          <a:p>
            <a:r>
              <a:rPr dirty="0" err="1"/>
              <a:t>另外附上最熟悉场景的</a:t>
            </a:r>
            <a:r>
              <a:rPr dirty="0"/>
              <a:t> 5 个问题或案例、1—3 份材料、1 个正常情况、1 </a:t>
            </a:r>
            <a:r>
              <a:rPr dirty="0" err="1"/>
              <a:t>个特殊情况和</a:t>
            </a:r>
            <a:r>
              <a:rPr dirty="0"/>
              <a:t> 2 </a:t>
            </a:r>
            <a:r>
              <a:rPr dirty="0" err="1"/>
              <a:t>个未知问题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---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三个候选业务场景</a:t>
            </a:r>
            <a:endParaRPr dirty="0"/>
          </a:p>
          <a:p>
            <a:endParaRPr dirty="0"/>
          </a:p>
          <a:p>
            <a:r>
              <a:rPr dirty="0" err="1"/>
              <a:t>从自己的经历、所在行业或目标岗位中，写出三个可能的业务场景。每个场景只回答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谁在使用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要完成什么事情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现在怎样完成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最主要的问题是什么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会使用哪些材料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这些材料能否获得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每项写一两句话即可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下一课之前的任务边界</a:t>
            </a:r>
            <a:endParaRPr dirty="0"/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不需要确定最终选题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不需要写</a:t>
            </a:r>
            <a:r>
              <a:rPr dirty="0"/>
              <a:t> PRD；</a:t>
            </a:r>
          </a:p>
          <a:p>
            <a:r>
              <a:rPr dirty="0"/>
              <a:t>- </a:t>
            </a:r>
            <a:r>
              <a:rPr dirty="0" err="1"/>
              <a:t>不需要画原型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不需要选择模型</a:t>
            </a:r>
            <a:r>
              <a:rPr dirty="0"/>
              <a:t>；</a:t>
            </a:r>
          </a:p>
          <a:p>
            <a:r>
              <a:rPr dirty="0"/>
              <a:t>- </a:t>
            </a:r>
            <a:r>
              <a:rPr dirty="0" err="1"/>
              <a:t>不需要开发</a:t>
            </a:r>
            <a:r>
              <a:rPr dirty="0"/>
              <a:t> Demo。</a:t>
            </a:r>
          </a:p>
          <a:p>
            <a:endParaRPr dirty="0"/>
          </a:p>
          <a:p>
            <a:r>
              <a:rPr dirty="0" err="1"/>
              <a:t>第二课完整学习“企业智能客服与业务办理”之后，再确定第一个个人项目并制作</a:t>
            </a:r>
            <a:r>
              <a:rPr dirty="0"/>
              <a:t> V0.1。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先建立共同参照，再开始个人项目</a:t>
            </a:r>
            <a:endParaRPr dirty="0"/>
          </a:p>
          <a:p>
            <a:endParaRPr dirty="0"/>
          </a:p>
          <a:p>
            <a:r>
              <a:rPr dirty="0" err="1"/>
              <a:t>第一课不是让学员立刻做项目，而是先完成四件事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理解第二阶段为什么从知识学习转向连续项目实践</a:t>
            </a:r>
            <a:r>
              <a:rPr dirty="0"/>
              <a:t>；</a:t>
            </a:r>
          </a:p>
          <a:p>
            <a:r>
              <a:rPr dirty="0"/>
              <a:t>2. </a:t>
            </a:r>
            <a:r>
              <a:rPr dirty="0" err="1"/>
              <a:t>理解公共项目、个人项目、互评和老师点评怎样共同工作</a:t>
            </a:r>
            <a:r>
              <a:rPr dirty="0"/>
              <a:t>；</a:t>
            </a:r>
          </a:p>
          <a:p>
            <a:r>
              <a:rPr dirty="0"/>
              <a:t>3. </a:t>
            </a:r>
            <a:r>
              <a:rPr dirty="0" err="1"/>
              <a:t>理解为什么选择服务、审核和研究方案这三个公共项目</a:t>
            </a:r>
            <a:r>
              <a:rPr dirty="0"/>
              <a:t>；</a:t>
            </a:r>
          </a:p>
          <a:p>
            <a:r>
              <a:rPr dirty="0"/>
              <a:t>4. </a:t>
            </a:r>
            <a:r>
              <a:rPr dirty="0" err="1"/>
              <a:t>从自己的经历中找到可能迁移的场景，并准备最基础的业务材料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本课最终需要学员记住的，不是三个项目名称，而是第二阶段的工作方式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&gt; </a:t>
            </a:r>
            <a:r>
              <a:rPr dirty="0" err="1"/>
              <a:t>老师用公共项目讲清方法，学员用个人项目完成迁移；先做出</a:t>
            </a:r>
            <a:r>
              <a:rPr dirty="0"/>
              <a:t> V0.1，再通过互评、点评和修改形成 V1.0。</a:t>
            </a:r>
          </a:p>
          <a:p>
            <a:endParaRPr dirty="0"/>
          </a:p>
          <a:p>
            <a:r>
              <a:rPr dirty="0"/>
              <a:t>下一课将进入第一个公共项目“</a:t>
            </a:r>
            <a:r>
              <a:rPr dirty="0" err="1"/>
              <a:t>企业智能客服与业务办理</a:t>
            </a:r>
            <a:r>
              <a:rPr dirty="0"/>
              <a:t>”，</a:t>
            </a:r>
            <a:r>
              <a:rPr dirty="0" err="1"/>
              <a:t>完整走一遍从业务问题到产品方案、核心页面和测试迭代的过程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---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讲义来源</a:t>
            </a:r>
            <a:r>
              <a:rPr dirty="0"/>
              <a:t>]</a:t>
            </a:r>
          </a:p>
          <a:p>
            <a:r>
              <a:rPr dirty="0"/>
              <a:t>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第二阶段</a:t>
            </a:r>
            <a:r>
              <a:rPr dirty="0"/>
              <a:t>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5303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iragino Sans GB"/>
                <a:ea typeface="Hiragino Sans GB"/>
              </a:rPr>
              <a:t>AI PRODUCT MANAGER · PROJECT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98448"/>
            <a:ext cx="987552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第二阶段项目</a:t>
            </a:r>
            <a:r>
              <a:rPr sz="4300" b="1" i="0" dirty="0">
                <a:solidFill>
                  <a:srgbClr val="F5F2E9"/>
                </a:solidFill>
                <a:latin typeface="Hiragino Sans GB"/>
                <a:ea typeface="Hiragino Sans GB"/>
              </a:rPr>
              <a:t>
</a:t>
            </a:r>
            <a:r>
              <a:rPr sz="4300" b="1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启动与准备</a:t>
            </a:r>
            <a:endParaRPr sz="4300" b="1" i="0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9536" y="2971800"/>
            <a:ext cx="93268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第一课｜学习方式、公共项目与个人素材准备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474720"/>
            <a:ext cx="1901952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37192" y="4315968"/>
            <a:ext cx="123444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6144768"/>
            <a:ext cx="4389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第二阶段 · 项目实战班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课程导入｜第二阶段项目启动与准备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1570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今天主要讲四件事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第一课先建立方向和共同参照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学习方式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第二阶段怎样上课、做作业和接受点评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选择逻辑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为什么选择这三个公共项目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项目方向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三个项目怎样迁移到不同业务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课后准备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盘点场景并准备少量材料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本课不正式选题，也不写</a:t>
            </a:r>
            <a:r>
              <a:rPr sz="1500" b="1" i="0" dirty="0">
                <a:solidFill>
                  <a:srgbClr val="F5F2E9"/>
                </a:solidFill>
                <a:latin typeface="Hiragino Sans GB"/>
                <a:ea typeface="Hiragino Sans GB"/>
              </a:rPr>
              <a:t> PRD。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2355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第二阶段的学习目标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把已经学过的知识连续地用在真实项目中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学员需要从一个不完整的业务问题出发，完成分析、方案、页面、测试和修改。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3140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第一阶段已经解决的问题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知识点已经具备，接下来要练习组合使用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2377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5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产品判断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产品方案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产品实现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效果与经营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需求分析</a:t>
                      </a:r>
                    </a:p>
                    <a:p>
                      <a:r>
                        <a:t>AI 是否必要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MVP、PRD</a:t>
                      </a:r>
                    </a:p>
                    <a:p>
                      <a:r>
                        <a:t>AI 与规则分工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Prompt、RAG</a:t>
                      </a:r>
                    </a:p>
                    <a:p>
                      <a:r>
                        <a:t>Workflow、Agent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评测、Bad Case</a:t>
                      </a:r>
                    </a:p>
                    <a:p>
                      <a:r>
                        <a:t>模型、成本、ROI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第二阶段不再逐个重复概念，而是把这些能力放进同一个项目。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66280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公共项目与个人项目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两类项目承担不同作用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公共项目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全班使用相同材料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老师展示完整判断过程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建立共同分析标准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iragino Sans GB"/>
                <a:ea typeface="Hiragino Sans GB"/>
              </a:rPr>
              <a:t>个人项目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结合自己的行业或经历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重新定义流程、材料和边界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证明能够独立迁移方法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公共项目提供参照，个人项目证明学员真正掌握。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87065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91314"/>
            <a:ext cx="10716768" cy="501035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公共项目</a:t>
            </a:r>
            <a:r>
              <a:rPr lang="zh-CN" altLang="en-US" sz="2900" b="1" i="0" dirty="0">
                <a:solidFill>
                  <a:srgbClr val="F5F2E9"/>
                </a:solidFill>
                <a:latin typeface="Hiragino Sans GB"/>
                <a:ea typeface="Hiragino Sans GB"/>
              </a:rPr>
              <a:t>会</a:t>
            </a:r>
            <a:r>
              <a:rPr sz="2900" b="1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展示判断过程</a:t>
            </a:r>
            <a:endParaRPr sz="2900" b="1" i="0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dirty="0" err="1">
                <a:solidFill>
                  <a:srgbClr val="A7B5BC"/>
                </a:solidFill>
                <a:latin typeface="Hiragino Sans GB"/>
                <a:ea typeface="Hiragino Sans GB"/>
              </a:rPr>
              <a:t>课堂不只阅读最终</a:t>
            </a:r>
            <a:r>
              <a:rPr sz="1450" b="0" i="0" dirty="0">
                <a:solidFill>
                  <a:srgbClr val="A7B5BC"/>
                </a:solidFill>
                <a:latin typeface="Hiragino Sans GB"/>
                <a:ea typeface="Hiragino Sans GB"/>
              </a:rPr>
              <a:t> PRD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需求变化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原始需求为什么不够清楚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方案选择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AI、规则和人工怎样分工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范围取舍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什么进入 MVP，什么暂时不做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产品承载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页面如何支撑业务闭环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验证修改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测试发现问题后怎样调整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全班先看同一个项目，才能讨论同一个问题。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07850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91314"/>
            <a:ext cx="10716768" cy="501035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个人项目</a:t>
            </a:r>
            <a:endParaRPr sz="2900" b="1" i="0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27930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0" i="0" dirty="0">
                <a:solidFill>
                  <a:srgbClr val="A7B5BC"/>
                </a:solidFill>
                <a:latin typeface="Hiragino Sans GB"/>
                <a:ea typeface="Hiragino Sans GB"/>
              </a:rPr>
              <a:t>重点要符合每个</a:t>
            </a:r>
            <a:r>
              <a:rPr lang="zh-CN" altLang="en-US" sz="1450" dirty="0">
                <a:solidFill>
                  <a:srgbClr val="A7B5BC"/>
                </a:solidFill>
                <a:latin typeface="Hiragino Sans GB"/>
                <a:ea typeface="Hiragino Sans GB"/>
              </a:rPr>
              <a:t>同学的实际工作场景</a:t>
            </a:r>
            <a:endParaRPr sz="1450" b="0" i="0" dirty="0">
              <a:solidFill>
                <a:srgbClr val="A7B5BC"/>
              </a:solidFill>
              <a:latin typeface="Hiragino Sans GB"/>
              <a:ea typeface="Hiragino Sans GB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73151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谁在使用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时刻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73151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什么时候遇到问题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73151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现在怎样完成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15968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736592"/>
            <a:ext cx="2999232" cy="73151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有哪些数据、文档和规则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17136" y="4023359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315968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736592"/>
            <a:ext cx="2999232" cy="73151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哪些判断不能只靠模型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3296" y="4023359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315968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736592"/>
            <a:ext cx="2999232" cy="73151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用什么案例判断有效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业务流程、材料和异常情况改变后，项目才真正属于学员。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28635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一轮项目的推进方式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三个项目都使用同一套节奏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老师完整讲解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30398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85846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87014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014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个人 V0.1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独立完成初稿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6436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21884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23052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小组互评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提前发现问题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0247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157923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59091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9091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老师点评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讲代表案例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3851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293961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95129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5129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个人 V1.0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5129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修改并记录原因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从 V0.1 到 V1.0 的变化，也是项目能力的一部分。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49420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固定小组怎样互评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4—5 人一组，每个人仍然独立完成项目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能否听懂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项目到底解决什么问题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场景是否具体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用户和使用时刻是否清楚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AI 是否必要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模型介入能否改善业务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415864"/>
            <a:ext cx="1572767" cy="30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材料</a:t>
            </a:r>
            <a:r>
              <a:rPr lang="zh-CN" altLang="en-US" sz="1650" b="1" i="0" dirty="0">
                <a:solidFill>
                  <a:srgbClr val="F5F2E9"/>
                </a:solidFill>
                <a:latin typeface="Hiragino Sans GB"/>
                <a:ea typeface="Hiragino Sans GB"/>
              </a:rPr>
              <a:t>是否完整</a:t>
            </a:r>
            <a:endParaRPr sz="1650" b="1" i="0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设计和测试是否有基础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err="1">
                <a:solidFill>
                  <a:srgbClr val="F5F2E9"/>
                </a:solidFill>
                <a:latin typeface="Hiragino Sans GB"/>
                <a:ea typeface="Hiragino Sans GB"/>
              </a:rPr>
              <a:t>范围是否可控</a:t>
            </a:r>
            <a:endParaRPr sz="1650" b="1" i="0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第一版能否形成闭环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互评负责提出问题，不替别人重新设计项目。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70205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老师点评的重点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课堂示范一个项目怎样被修改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缩小场景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把宽泛想法变成具体任务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补全闭环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把功能清单放回业务流程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调整分工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减少对大模型的盲目依赖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建立验证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补充样本、标准和指标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没有被单独点评的学员，也要把典型问题映射回自己的项目。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90990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为什么不共同完成一个项目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协作发生在互评，成果仍由个人负责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小组共同交付的风险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容易变成写文档、画原型和做 Demo 的分工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每个人只掌握一部分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难以界定个人判断与贡献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个人项目加互评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每个人走完完整项目过程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项目能够结合个人经历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作品集和面试表达更可信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小组帮助发现问题，项目始终由个人独立负责。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32560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第二阶段的最终成果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三个完整项目，其中一个继续做深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3 个个人项目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都能完整说明业务、方案、页面和测试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 个主项目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补充更扎实的验证、迭代或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修改记录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保留从 V0.1 到 V1.0 的关键变化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职业表达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5878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dirty="0" err="1">
                <a:solidFill>
                  <a:srgbClr val="A7B5BC"/>
                </a:solidFill>
                <a:latin typeface="Hiragino Sans GB"/>
                <a:ea typeface="Hiragino Sans GB"/>
              </a:rPr>
              <a:t>形成作品集</a:t>
            </a:r>
            <a:endParaRPr sz="1320" b="0" i="0" dirty="0">
              <a:solidFill>
                <a:srgbClr val="A7B5BC"/>
              </a:solidFill>
              <a:latin typeface="Hiragino Sans GB"/>
              <a:ea typeface="Hiragino Sans GB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第二阶段的产出，是项目成果与独立判断能力。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74130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公共项目的六项标准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前三项判断项目能否讲清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真实问题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企业持续遇到，也愿意投入成本解决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完整过程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输入、判断、结果和异常都能说明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能力组合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模型、知识、规则、系统和人工自然协作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项目必须先成立，技术复杂度才有意义。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94915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公共项目还要便于学习和迁移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后三项决定课堂价值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可以准备材料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能够形成输入样本和测试案例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容易迁移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可以发展为多个行业和岗位变种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能够形成作品集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可以展示判断、取舍和迭代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公共项目是一类业务问题的母题，不是固定答案。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15700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项目不按技术方向划分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真实项目往往同时使用多种能力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先做一个 RAG、Workflow 或 Agent 项目，会让学员养成先选技术再找问题的习惯。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36485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材料审核项目的能力组合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项目主题是可靠完成审核，而不是使用某项技术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5844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9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能力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负责的工作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文档解析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读取合同、票据、申请表和图片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大模型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理解复杂表述和语义风险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规则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校验金额、日期、资格等确定条件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知识库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提供制度和审核标准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工作流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把不同风险交给对应人员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人工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复核不确定和高风险结果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产品经理的专业性体现在能力分工，而不是堆叠技术名词。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57270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三个公共项目覆盖的业务入口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分别从人、材料和复杂任务切入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625328" cy="28529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公共项目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工作从哪里开始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要完成什么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主要价值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智能客服与业务办理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用户提出问题或请求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回答并推动服务完成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服务效率与体验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材料审核与风险核验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材料进入业务流程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发现缺失、差异与风险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审核效率与风险控制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专业研究与方案生成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专业人员接到复杂任务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组织资料并形成成果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知识工作质量与速度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三个母题覆盖大量企业服务、运营、风控和知识工作。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98840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项目的专业感来自业务复杂度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名称、页面数量和模型数量都不是标准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多种材料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知识、数据、文档与样本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多个角色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用户、运营、审核者与专家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多方协作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模型、规则、系统和人工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异常与责任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失败路径、风险和接管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结果可验证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业务结果和评测案例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作品集展示的是对真实业务的理解和产品判断。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19625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为什么没有单独设置 C 端公共项目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公共教学更需要共同材料和共同标准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1883664"/>
            <a:ext cx="10533888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3047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sz="1800" b="1" i="0" dirty="0">
              <a:solidFill>
                <a:srgbClr val="FF7657"/>
              </a:solidFill>
              <a:latin typeface="Hiragino Sans GB"/>
              <a:ea typeface="Hiragino Sans GB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204720" y="2717059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42464" y="2642183"/>
            <a:ext cx="4352544" cy="27776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40" dirty="0">
                <a:solidFill>
                  <a:srgbClr val="F5F2E9"/>
                </a:solidFill>
                <a:latin typeface="Hiragino Sans GB"/>
                <a:ea typeface="Hiragino Sans GB"/>
              </a:rPr>
              <a:t>成熟的</a:t>
            </a:r>
            <a:r>
              <a:rPr lang="en-US" altLang="zh-CN" sz="1440" dirty="0">
                <a:solidFill>
                  <a:srgbClr val="F5F2E9"/>
                </a:solidFill>
                <a:latin typeface="Hiragino Sans GB"/>
                <a:ea typeface="Hiragino Sans GB"/>
              </a:rPr>
              <a:t>C</a:t>
            </a:r>
            <a:r>
              <a:rPr lang="zh-CN" altLang="en-US" sz="1440" dirty="0">
                <a:solidFill>
                  <a:srgbClr val="F5F2E9"/>
                </a:solidFill>
                <a:latin typeface="Hiragino Sans GB"/>
                <a:ea typeface="Hiragino Sans GB"/>
              </a:rPr>
              <a:t>端项目不多，硬凑无异议</a:t>
            </a:r>
            <a:endParaRPr sz="1440" b="0" i="0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204720" y="3604027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42464" y="3529151"/>
            <a:ext cx="4352544" cy="27776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0" dirty="0" err="1">
                <a:solidFill>
                  <a:srgbClr val="F5F2E9"/>
                </a:solidFill>
                <a:latin typeface="Hiragino Sans GB"/>
                <a:ea typeface="Hiragino Sans GB"/>
              </a:rPr>
              <a:t>目前的C端引用比较好的项目</a:t>
            </a:r>
            <a:r>
              <a:rPr lang="zh-CN" altLang="en-US" sz="1440" dirty="0">
                <a:solidFill>
                  <a:srgbClr val="F5F2E9"/>
                </a:solidFill>
                <a:latin typeface="Hiragino Sans GB"/>
                <a:ea typeface="Hiragino Sans GB"/>
              </a:rPr>
              <a:t>，内核依然是</a:t>
            </a:r>
            <a:r>
              <a:rPr lang="en-US" altLang="zh-CN" sz="1440" dirty="0">
                <a:solidFill>
                  <a:srgbClr val="F5F2E9"/>
                </a:solidFill>
                <a:latin typeface="Hiragino Sans GB"/>
                <a:ea typeface="Hiragino Sans GB"/>
              </a:rPr>
              <a:t>B</a:t>
            </a:r>
            <a:r>
              <a:rPr lang="zh-CN" altLang="en-US" sz="1440" dirty="0">
                <a:solidFill>
                  <a:srgbClr val="F5F2E9"/>
                </a:solidFill>
                <a:latin typeface="Hiragino Sans GB"/>
                <a:ea typeface="Hiragino Sans GB"/>
              </a:rPr>
              <a:t>端</a:t>
            </a:r>
            <a:endParaRPr sz="1440" b="0" i="0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204720" y="4490995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42464" y="4416119"/>
            <a:ext cx="4352544" cy="27776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40" b="0" i="0" dirty="0">
                <a:solidFill>
                  <a:srgbClr val="F5F2E9"/>
                </a:solidFill>
                <a:latin typeface="Hiragino Sans GB"/>
                <a:ea typeface="Hiragino Sans GB"/>
              </a:rPr>
              <a:t>可以将</a:t>
            </a:r>
            <a:r>
              <a:rPr lang="en-US" altLang="zh-CN" sz="1440" b="0" i="0" dirty="0">
                <a:solidFill>
                  <a:srgbClr val="F5F2E9"/>
                </a:solidFill>
                <a:latin typeface="Hiragino Sans GB"/>
                <a:ea typeface="Hiragino Sans GB"/>
              </a:rPr>
              <a:t>B</a:t>
            </a:r>
            <a:r>
              <a:rPr lang="zh-CN" altLang="en-US" sz="1440" b="0" i="0" dirty="0">
                <a:solidFill>
                  <a:srgbClr val="F5F2E9"/>
                </a:solidFill>
                <a:latin typeface="Hiragino Sans GB"/>
                <a:ea typeface="Hiragino Sans GB"/>
              </a:rPr>
              <a:t>端项目改为</a:t>
            </a:r>
            <a:r>
              <a:rPr lang="en-US" altLang="zh-CN" sz="1440" b="0" i="0" dirty="0">
                <a:solidFill>
                  <a:srgbClr val="F5F2E9"/>
                </a:solidFill>
                <a:latin typeface="Hiragino Sans GB"/>
                <a:ea typeface="Hiragino Sans GB"/>
              </a:rPr>
              <a:t>C</a:t>
            </a:r>
            <a:r>
              <a:rPr lang="zh-CN" altLang="en-US" sz="1440" b="0" i="0" dirty="0">
                <a:solidFill>
                  <a:srgbClr val="F5F2E9"/>
                </a:solidFill>
                <a:latin typeface="Hiragino Sans GB"/>
                <a:ea typeface="Hiragino Sans GB"/>
              </a:rPr>
              <a:t>端场景</a:t>
            </a:r>
            <a:endParaRPr sz="1440" b="0" i="0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项目是否成立，比 B 端或 C 端标签更重要。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4041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三个公共项目与个人项目方向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听项目时持续关注两个问题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84648" cy="3694175"/>
          </a:xfrm>
          <a:prstGeom prst="roundRect">
            <a:avLst>
              <a:gd name="adj" fmla="val 396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47823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与经历的距离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478231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哪类工作和自己的岗位、行业最接近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1883664"/>
            <a:ext cx="5184648" cy="3694175"/>
          </a:xfrm>
          <a:prstGeom prst="roundRect">
            <a:avLst>
              <a:gd name="adj" fmla="val 396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377440"/>
            <a:ext cx="47823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材料可获得性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798064"/>
            <a:ext cx="478231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哪类资料、规则或案例比较容易找到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本课只形成候选方向，不急着正式选题。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61195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公共项目一：企业智能客服与业务办理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面向客户、员工或合作伙伴的统一服务入口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理解请求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识别意图和信息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9836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24428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5596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获取答案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知识与业务数据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80760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8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推动办理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规则、接口与工作流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2500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7092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38260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260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处理异常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人工接管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" y="5084064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项目价值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56632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把咨询、查询、办理和转人工连接成完整服务流程。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02765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智能客服中的能力分工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不同环节使用不同能力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7" cy="34015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3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参与方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主要职责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典型问题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大模型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理解表达、追问和组织回答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用户说得不完整或不标准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知识库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提供产品、制度和操作信息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政策或说明从哪里获得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业务系统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查询订单、账户和服务状态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用户自己的业务现在怎样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规则与权限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判断身份、条件和可执行范围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当前用户能否办理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6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人工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处理投诉、高风险和特殊情况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系统无法安全完成时怎么办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服务型 AI 产品必须同时考虑效果、权限、流程和责任。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2355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智能客服变种：消费者服务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面向个人用户，也可以拥有清楚的业务闭环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484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6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可以解决的核心任务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电商售后服务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查询订单、解释政策、收集信息并发起售后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在线教育学员服务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处理课程咨询、请假、补课、延期和退款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保险理赔服务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识别理赔类型、说明材料并查询进度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医疗服务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科室选择、预约、检查准备和复诊提醒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银行业务服务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账户问题、信用卡服务和业务办理引导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旅游与本地生活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预约、改期、退款、退改政策和行程变化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C 端服务项目同样要处理业务数据、办理条件和异常情况。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44335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智能客服变种：企业客户与合作伙伴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服务对象不同，权限和业务数据也会变化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4564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6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可以解决的核心任务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企业软件客户服务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产品使用、账户权限、问题排查和工单创建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制造业设备售后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识别设备与故障，指导排查并预约工程师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经销商服务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查询价格、库存、订单、返利和活动要求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供应商协同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查询采购要求、交货、验收和结算状态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大客户服务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处理交付、续费、增购和服务升级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企业服务项目要把客户身份、合同权益和服务记录带入流程。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6512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智能客服变种：企业内部服务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员工同样需要统一服务入口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4564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6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可以解决的核心任务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员工人事服务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考勤、休假、薪酬、福利和证明申请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企业 IT 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账号、权限、软件、设备和网络问题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财务共享服务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报销、发票、付款、预算和单据状态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采购服务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采购规则、申请、订单和供应商状态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行政服务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会议室、访客、办公用品和设备借用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只要存在反复咨询并继续办理的工作，就可以迁移这个项目。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06690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公共项目二：业务材料审核与风险核验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处理合同、票据、申请表、资质和报告等材料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识别材料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类型与完整性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9836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24428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5596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提取信息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字段、条款与关系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80760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8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执行核验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规则与语义判断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2500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7092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38260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260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人工复核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依据、风险与处理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" y="5084064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项目价值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56632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在多份材料中发现缺失、差异和风险，并让审核人员能够复核。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27475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材料审核的完整业务闭环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系统先检查，人工承担最终责任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提交材料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一份或多份文件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30398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85846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87014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014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识别提取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类型、字段和条款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6436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21884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23052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规则核验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硬性条件与一致性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0247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157923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59091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9091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风险定位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语义问题和原文依据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3851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293961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95129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5129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人工处理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5129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确认、修改或驳回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人工反馈继续进入测试集和规则优化。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48260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审核项目中的判断边界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不是所有问题都交给大模型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7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问题类型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适合的处理方式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示例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明确字段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解析、结构化提取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名称、日期、金额、编号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确定条件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规则校验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金额超限、证照过期、附件缺失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复杂表述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大模型理解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责任条款、模糊承诺、语义冲突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高风险结论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人工复核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拒绝申请、合同重大风险、合规判断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结果需要给出风险等级、原文位置和适用规则。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69045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审核变种：财务、合同与采购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材料关系与审核规则构成项目深度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484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7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需要核对的主要内容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报销审核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发票、报销单、行程、费用科目和企业制度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付款材料核验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合同、订单、验收单、发票和付款条件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预算申请审核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预算科目、历史支出、理由和审批要求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合同条款审核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付款、交付、违约、知识产权和数据安全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供应商准入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营业执照、行业资质、财务信息和准入条件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招投标文件检查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响应材料、资格证明、技术参数和签章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同一种审核方法可以随着材料和规则迁移。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89830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审核变种：金融、人事与公共服务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高责任场景必须保留人工判断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484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7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需要核对的主要内容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企业开户预审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企业身份、股权结构、受益人和经营证明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贷款申请预审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收入、资产、负债、交易记录和资金用途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保险理赔审核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保单、事故证明、费用凭证和责任范围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招聘入职审核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身份、学历、经历、资质和入职文件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项目申报预审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申报资格、项目条件、预算和附件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质量报告核验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检测项目、数值、标准、结论和签章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项目价值来自减少重复检查，同时降低严重漏检。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31400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公共项目三：专业研究与方案生成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面向销售、产品、咨询、研究与管理者的知识工作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理解任务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目标、受众与限制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9836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24428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5596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组织资料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内部与外部来源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80760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8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形成成果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研究、简报或方案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2500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7092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38260" y="217627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260" y="2468880"/>
            <a:ext cx="21076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专业审阅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2889504"/>
            <a:ext cx="2107692" cy="113385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依据、缺口与责任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" y="5084064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iragino Sans GB"/>
                <a:ea typeface="Hiragino Sans GB"/>
              </a:rPr>
              <a:t>项目价值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56632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让复杂知识工作的过程可以追踪、核实、修改和复用。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5218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研究与方案生成的完整闭环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专业交付从问题拆解开始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定义任务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目标、受众和范围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30398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85846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87014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014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拆解问题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明确需要回答什么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6436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21884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23052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组织资料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分类、核实和关联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0247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157923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59091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9091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形成初稿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依据、假设和待确认项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3851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293961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95129" y="2139696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5129" y="2432304"/>
            <a:ext cx="158739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专家审阅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5129" y="2852928"/>
            <a:ext cx="1587398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修改并正式交付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模板、反馈和优质案例继续沉淀为组织能力。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72970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专业交付比生成文字多什么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文字通顺只是最低要求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理解任务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受众、目标和交付要求是否明确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拆解问题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是否提出了正确的问题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核实来源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资料是否可信、过时或互相冲突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暴露缺口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哪些结论仍需确认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专业审阅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谁修改判断并承担责任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项目将普通 AI 写作升级为可以检查的专业工作流程。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9375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研究变种：销售、产品与运营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复杂任务不同，方法可以迁移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484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7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需要组织的主要信息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客户需求分析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访谈、需求文件、历史沟通和待确认问题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大客户拜访准备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客户背景、经营动态、合作历史和提问清单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解决方案与投标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客户要求、产品能力、案例和证明材料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竞品与机会研究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功能、价格、评价、市场动作和用户反馈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产品规划与用户研究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战略目标、业务约束、访谈和问卷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运营活动方案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目标用户、渠道、资源、历史活动和指标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优先选择自己能够判断内容对错的专业领域。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14540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研究变种：行业、管理与专业服务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从信息收集走向有依据的专业建议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484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7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需要组织的主要信息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行业研究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市场、产业链、竞争、政策和趋势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市场进入分析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需求、竞争、渠道、政策和实施风险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政策研究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适用对象、时间、影响环节和企业行动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经营与战略分析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经营数据、部门反馈、目标和资源约束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咨询或投资研究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访谈、公司、行业、财务和风险资料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课程或技术选型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学习目标、参考资料、方案、成本和风险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这一方向适合产品、运营、销售、咨询、研究、培训和管理岗位。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56110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怎样找到自己的项目方向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按照真实条件逐步缩小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过去的工作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优先选择自己了解流程和异常的场景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可用的材料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确认能获得文档、规则、案例或数据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目标岗位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让项目与下一份工作形成联系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熟悉的业务做深，比陌生的热门项目更可信。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97680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第一课课后准备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本次只完成两项轻量准备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84648" cy="3694175"/>
          </a:xfrm>
          <a:prstGeom prst="roundRect">
            <a:avLst>
              <a:gd name="adj" fmla="val 396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47823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三个候选场景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478231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从工作经历、所在行业或目标岗位中寻找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1883664"/>
            <a:ext cx="5184648" cy="3694175"/>
          </a:xfrm>
          <a:prstGeom prst="roundRect">
            <a:avLst>
              <a:gd name="adj" fmla="val 396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377440"/>
            <a:ext cx="47823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一组基础材料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798064"/>
            <a:ext cx="4782312" cy="26700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从最熟悉的场景准备少量问题和样本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第二课完整学习公共项目后，再确定第一个个人项目。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18465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三个候选业务场景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每个问题写一两句话即可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候选场景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使用者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要完成的事情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当前问题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可用材料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场景一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场景二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场景三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先确认场景和材料，不需要现在设计解决方案。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60035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下一课之前的任务边界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先准备业务素材，再进入正式项目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本次不用完成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最终选题和完整 PRD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页面原型与技术方案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模型选择和 Demo 开发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下一步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第二课学习智能客服公共项目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课后确定第一个个人项目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完成 V0.1 并参加第三课点评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第一课和第二课之间，只准备场景与材料。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80820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第一课总结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先建立共同参照，再开始个人项目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理解学习方式、项目选择逻辑和迁移方向后，下一课将完整拆解企业智能客服与业务办理。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7645</Words>
  <Application>Microsoft Macintosh PowerPoint</Application>
  <PresentationFormat>宽屏</PresentationFormat>
  <Paragraphs>2108</Paragraphs>
  <Slides>40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4" baseType="lpstr">
      <vt:lpstr>Hiragino Sans GB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didi</cp:lastModifiedBy>
  <cp:revision>3</cp:revision>
  <dcterms:created xsi:type="dcterms:W3CDTF">2013-01-27T09:14:16Z</dcterms:created>
  <dcterms:modified xsi:type="dcterms:W3CDTF">2026-09-07T14:10:18Z</dcterms:modified>
  <cp:category/>
</cp:coreProperties>
</file>