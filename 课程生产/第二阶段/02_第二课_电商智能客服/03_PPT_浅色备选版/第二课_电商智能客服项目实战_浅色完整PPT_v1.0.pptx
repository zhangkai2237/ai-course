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300" r:id="rId4"/>
    <p:sldId id="298" r:id="rId5"/>
    <p:sldId id="259" r:id="rId6"/>
    <p:sldId id="299" r:id="rId7"/>
    <p:sldId id="260" r:id="rId8"/>
    <p:sldId id="261" r:id="rId9"/>
    <p:sldId id="262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9" r:id="rId28"/>
    <p:sldId id="290" r:id="rId29"/>
    <p:sldId id="292" r:id="rId30"/>
    <p:sldId id="293" r:id="rId31"/>
    <p:sldId id="294" r:id="rId32"/>
    <p:sldId id="295" r:id="rId33"/>
    <p:sldId id="297" r:id="rId34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第五节：商品推荐与闲聊兜底</a:t>
            </a:r>
          </a:p>
          <a:p/>
          <a:p>
            <a:r>
              <a:t>前面两条流程处理的都是用户已经购买之后的问题：</a:t>
            </a:r>
          </a:p>
          <a:p/>
          <a:p>
            <a:r>
              <a:t>- 订单查询：用户想知道订单现在怎么样。</a:t>
            </a:r>
          </a:p>
          <a:p>
            <a:r>
              <a:t>- 售后处理：用户想解决已经发生的问题。</a:t>
            </a:r>
          </a:p>
          <a:p/>
          <a:p>
            <a:r>
              <a:t>但电商客服还有一类很常见的需求，发生在购买之前：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这类问题不能直接进入订单或售后流程，也不能只从知识库里复制一段答案。它要求系统理解需求、查询商品、比较差异，再帮助用户缩小选择范围。</a:t>
            </a:r>
          </a:p>
          <a:p/>
          <a:p>
            <a:r>
              <a:t>所以这一节，我们补齐购买前的商品推荐，以及无法进入明确业务流程时的闲聊兜底。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一、商品推荐与订单查询有什么不同</a:t>
            </a:r>
          </a:p>
          <a:p/>
          <a:p>
            <a:r>
              <a:t>订单查询的目标非常明确：</a:t>
            </a:r>
          </a:p>
          <a:p/>
          <a:p>
            <a:r>
              <a:t>&gt; 找到某一个订单，返回它的真实状态。</a:t>
            </a:r>
          </a:p>
          <a:p/>
          <a:p>
            <a:r>
              <a:t>商品推荐没有唯一正确答案。同样是三百元以内的耳机，有人看重降噪，有人看重佩戴舒适，有人看重续航。</a:t>
            </a:r>
          </a:p>
          <a:p/>
          <a:p>
            <a:r>
              <a:t>因此，推荐流程要解决三个问题：</a:t>
            </a:r>
          </a:p>
          <a:p/>
          <a:p>
            <a:r>
              <a:t>1. 用户真正关心什么？</a:t>
            </a:r>
          </a:p>
          <a:p>
            <a:r>
              <a:t>2. 哪些商品符合这些条件？</a:t>
            </a:r>
          </a:p>
          <a:p>
            <a:r>
              <a:t>3. 为什么推荐这些，而不是另外一些？</a:t>
            </a:r>
          </a:p>
          <a:p/>
          <a:p>
            <a:r>
              <a:t>这里最重要的区别是：</a:t>
            </a:r>
          </a:p>
          <a:p/>
          <a:p>
            <a:r>
              <a:t>- 查询是在寻找一个确定结果。</a:t>
            </a:r>
          </a:p>
          <a:p>
            <a:r>
              <a:t>- 推荐是在多个可行结果中帮助用户选择。</a:t>
            </a:r>
          </a:p>
          <a:p/>
          <a:p>
            <a:r>
              <a:t>因此，不能把商品推荐做成一句提示词：</a:t>
            </a:r>
          </a:p>
          <a:p/>
          <a:p>
            <a:r>
              <a:t>&gt; 请根据用户需求推荐合适的商品。</a:t>
            </a:r>
          </a:p>
          <a:p/>
          <a:p>
            <a:r>
              <a:t>这样虽然可能生成一段流畅的话，但模型可能推荐不存在的商品、使用过期价格，或者忽略用户真正关心的条件。</a:t>
            </a:r>
          </a:p>
          <a:p/>
          <a:p/>
          <a:p>
            <a:r>
              <a:t>## 三、推荐流程需要收集哪些信息</a:t>
            </a:r>
          </a:p>
          <a:p/>
          <a:p>
            <a:r>
              <a:t>商品推荐不能为所有商品使用同一套固定字段。</a:t>
            </a:r>
          </a:p>
          <a:p/>
          <a:p>
            <a:r>
              <a:t>例如推荐耳机时，常见条件包括：</a:t>
            </a:r>
          </a:p>
          <a:p/>
          <a:p>
            <a:r>
              <a:t>- 预算。</a:t>
            </a:r>
          </a:p>
          <a:p>
            <a:r>
              <a:t>- 使用场景。</a:t>
            </a:r>
          </a:p>
          <a:p>
            <a:r>
              <a:t>- 佩戴方式。</a:t>
            </a:r>
          </a:p>
          <a:p>
            <a:r>
              <a:t>- 是否需要主动降噪。</a:t>
            </a:r>
          </a:p>
          <a:p>
            <a:r>
              <a:t>- 续航要求。</a:t>
            </a:r>
          </a:p>
          <a:p>
            <a:r>
              <a:t>- 品牌或外观偏好。</a:t>
            </a:r>
          </a:p>
          <a:p/>
          <a:p>
            <a:r>
              <a:t>推荐护肤品、办公软件或者旅游套餐时，所需信息会完全不同。</a:t>
            </a:r>
          </a:p>
          <a:p/>
          <a:p>
            <a:r>
              <a:t>因此，产品经理需要为不同商品类别设计对应的需求字段。</a:t>
            </a:r>
          </a:p>
          <a:p/>
          <a:p>
            <a:r>
              <a:t>但也不能要求用户一次填写所有信息。比较合理的做法是：</a:t>
            </a:r>
          </a:p>
          <a:p/>
          <a:p>
            <a:r>
              <a:t>1. 从用户原话中提取已经明确的信息。</a:t>
            </a:r>
          </a:p>
          <a:p>
            <a:r>
              <a:t>2. 判断当前信息能否完成初步推荐。</a:t>
            </a:r>
          </a:p>
          <a:p>
            <a:r>
              <a:t>3. 只追问最影响结果的一个问题。</a:t>
            </a:r>
          </a:p>
          <a:p>
            <a:r>
              <a:t>4. 查询候选商品。</a:t>
            </a:r>
          </a:p>
          <a:p>
            <a:r>
              <a:t>5. 如果结果仍然太多，再继续缩小范围。</a:t>
            </a:r>
          </a:p>
          <a:p/>
          <a:p>
            <a:r>
              <a:t>例如：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系统：你更看重降噪，还是佩戴舒适？  </a:t>
            </a:r>
          </a:p>
          <a:p>
            <a:r>
              <a:t>&gt; 用户：主要坐地铁，还是希望降噪好一点。</a:t>
            </a:r>
          </a:p>
          <a:p/>
          <a:p>
            <a:r>
              <a:t>系统更新后的需求可以表示为：</a:t>
            </a:r>
          </a:p>
          <a:p/>
          <a:p>
            <a:r>
              <a:t>```text</a:t>
            </a:r>
          </a:p>
          <a:p>
            <a:r>
              <a:t>商品类别：耳机</a:t>
            </a:r>
          </a:p>
          <a:p>
            <a:r>
              <a:t>预算上限：300 元</a:t>
            </a:r>
          </a:p>
          <a:p>
            <a:r>
              <a:t>使用场景：地铁通勤</a:t>
            </a:r>
          </a:p>
          <a:p>
            <a:r>
              <a:t>核心偏好：降噪</a:t>
            </a:r>
          </a:p>
          <a:p>
            <a:r>
              <a:t>其他偏好：暂未说明</a:t>
            </a:r>
          </a:p>
          <a:p>
            <a:r>
              <a:t>```</a:t>
            </a:r>
          </a:p>
          <a:p/>
          <a:p>
            <a:r>
              <a:t>这时，通勤降噪款就成为更合适的候选商品。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二、先准备一份模拟商品数据</a:t>
            </a:r>
          </a:p>
          <a:p/>
          <a:p>
            <a:r>
              <a:t>为了便于课堂演示，我们先准备四款虚拟耳机：</a:t>
            </a:r>
          </a:p>
          <a:p/>
          <a:p>
            <a:r>
              <a:t>| 商品 | 价格 | 佩戴方式 | 降噪 | 单次续航 | 更适合的场景 |</a:t>
            </a:r>
          </a:p>
          <a:p>
            <a:r>
              <a:t>|---|---:|---|---|---:|---|</a:t>
            </a:r>
          </a:p>
          <a:p>
            <a:r>
              <a:t>| 通勤降噪款 | 269 元 | 入耳式 | 支持 | 7 小时 | 地铁、公交、办公室 |</a:t>
            </a:r>
          </a:p>
          <a:p>
            <a:r>
              <a:t>| 舒适轻听款 | 199 元 | 半入耳式 | 不支持 | 8 小时 | 长时间佩戴、安静环境 |</a:t>
            </a:r>
          </a:p>
          <a:p>
            <a:r>
              <a:t>| 深度降噪款 | 329 元 | 入耳式 | 支持 | 6 小时 | 对降噪和音质要求较高 |</a:t>
            </a:r>
          </a:p>
          <a:p>
            <a:r>
              <a:t>| 运动稳固款 | 239 元 | 耳挂式 | 不支持 | 9 小时 | 跑步、健身、户外 |</a:t>
            </a:r>
          </a:p>
          <a:p/>
          <a:p>
            <a:r>
              <a:t>这些数据都是课堂模拟数据，不对应真实商品。</a:t>
            </a:r>
          </a:p>
          <a:p/>
          <a:p>
            <a:r>
              <a:t>现在用户说：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系统至少已经获得两个条件：</a:t>
            </a:r>
          </a:p>
          <a:p/>
          <a:p>
            <a:r>
              <a:t>- 使用场景：通勤。</a:t>
            </a:r>
          </a:p>
          <a:p>
            <a:r>
              <a:t>- 预算上限：300 元。</a:t>
            </a:r>
          </a:p>
          <a:p/>
          <a:p>
            <a:r>
              <a:t>按照这两个条件，可以先排除价格 329 元的深度降噪款。</a:t>
            </a:r>
          </a:p>
          <a:p/>
          <a:p>
            <a:r>
              <a:t>但剩下三款仍然有明显差异。此时系统可以追问：</a:t>
            </a:r>
          </a:p>
          <a:p/>
          <a:p>
            <a:r>
              <a:t>&gt; “通勤时你更在意降噪效果，还是长时间佩戴的舒适度？”</a:t>
            </a:r>
          </a:p>
          <a:p/>
          <a:p>
            <a:r>
              <a:t>这个问题的作用不是把对话拉长，而是快速找到真正影响选择的条件。</a:t>
            </a:r>
          </a:p>
          <a:p/>
          <a:p/>
          <a:p>
            <a:r>
              <a:t>## 六、推荐结果不能脱离真实商品数据</a:t>
            </a:r>
          </a:p>
          <a:p/>
          <a:p>
            <a:r>
              <a:t>商品推荐最容易出现三类问题。</a:t>
            </a:r>
          </a:p>
          <a:p/>
          <a:p>
            <a:r>
              <a:t>### 1. 推荐不存在的商品</a:t>
            </a:r>
          </a:p>
          <a:p/>
          <a:p>
            <a:r>
              <a:t>模型可能根据常见命名方式，编出一个看起来很真实的商品。</a:t>
            </a:r>
          </a:p>
          <a:p/>
          <a:p>
            <a:r>
              <a:t>因此，最终可推荐的商品必须来自商品查询结果。</a:t>
            </a:r>
          </a:p>
          <a:p/>
          <a:p>
            <a:r>
              <a:t>### 2. 使用过期价格或库存</a:t>
            </a:r>
          </a:p>
          <a:p/>
          <a:p>
            <a:r>
              <a:t>价格、库存和促销活动变化很快，不能依赖模型训练时记住的信息。</a:t>
            </a:r>
          </a:p>
          <a:p/>
          <a:p>
            <a:r>
              <a:t>这些内容应实时查询商品系统。</a:t>
            </a:r>
          </a:p>
          <a:p/>
          <a:p>
            <a:r>
              <a:t>### 3. 夸大商品能力</a:t>
            </a:r>
          </a:p>
          <a:p/>
          <a:p>
            <a:r>
              <a:t>商品资料只写了“支持通话降噪”，模型却回复成“支持主动环境降噪”，就会产生误导。</a:t>
            </a:r>
          </a:p>
          <a:p/>
          <a:p>
            <a:r>
              <a:t>因此，模型可以重新组织语言，但不能超出商品资料中的事实。</a:t>
            </a:r>
          </a:p>
          <a:p/>
          <a:p>
            <a:r>
              <a:t>在这条流程里：</a:t>
            </a:r>
          </a:p>
          <a:p/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四、展开商品推荐工作流</a:t>
            </a:r>
          </a:p>
          <a:p/>
          <a:p>
            <a:r>
              <a:t>完整的推荐过程可以拆成：</a:t>
            </a:r>
          </a:p>
          <a:p/>
          <a:p>
            <a:r>
              <a:t>**理解需求 → 判断信息是否足够 → 必要时追问 → 查询商品 → 筛选候选商品 → 比较差异 → 生成推荐理由 → 接住后续问题**</a:t>
            </a:r>
          </a:p>
          <a:p/>
          <a:p>
            <a:r>
              <a:t>### 1. 理解需求</a:t>
            </a:r>
          </a:p>
          <a:p/>
          <a:p>
            <a:r>
              <a:t>模型从用户表达中提取商品类别、预算、使用场景和偏好。</a:t>
            </a:r>
          </a:p>
          <a:p/>
          <a:p>
            <a:r>
              <a:t>模型适合处理这一环，是因为用户不一定会按照标准字段表达：</a:t>
            </a:r>
          </a:p>
          <a:p/>
          <a:p>
            <a:r>
              <a:t>- “每天挤地铁用。”</a:t>
            </a:r>
          </a:p>
          <a:p>
            <a:r>
              <a:t>- “别超过三百。”</a:t>
            </a:r>
          </a:p>
          <a:p>
            <a:r>
              <a:t>- “戴久了耳朵别太疼。”</a:t>
            </a:r>
          </a:p>
          <a:p>
            <a:r>
              <a:t>- “我不喜欢塞得特别紧的。”</a:t>
            </a:r>
          </a:p>
          <a:p/>
          <a:p>
            <a:r>
              <a:t>这些表达需要转成系统能够继续处理的信息。</a:t>
            </a:r>
          </a:p>
          <a:p/>
          <a:p>
            <a:r>
              <a:t>### 2. 判断信息是否足够</a:t>
            </a:r>
          </a:p>
          <a:p/>
          <a:p>
            <a:r>
              <a:t>不能只判断字段是否全部填写，而要判断当前信息能否明显缩小商品范围。</a:t>
            </a:r>
          </a:p>
          <a:p/>
          <a:p>
            <a:r>
              <a:t>如果用户说：</a:t>
            </a:r>
          </a:p>
          <a:p/>
          <a:p>
            <a:r>
              <a:t>&gt; “给我推荐个耳机。”</a:t>
            </a:r>
          </a:p>
          <a:p/>
          <a:p>
            <a:r>
              <a:t>条件太少，可以追问预算和主要使用场景。</a:t>
            </a:r>
          </a:p>
          <a:p/>
          <a:p>
            <a:r>
              <a:t>如果用户说：</a:t>
            </a:r>
          </a:p>
          <a:p/>
          <a:p>
            <a:r>
              <a:t>&gt; “三百以内，主要坐地铁，希望有降噪。”</a:t>
            </a:r>
          </a:p>
          <a:p/>
          <a:p>
            <a:r>
              <a:t>虽然没有说明品牌、颜色和续航，但已经足以完成第一轮推荐，不必继续盘问。</a:t>
            </a:r>
          </a:p>
          <a:p/>
          <a:p>
            <a:r>
              <a:t>### 3. 查询商品</a:t>
            </a:r>
          </a:p>
          <a:p/>
          <a:p>
            <a:r>
              <a:t>商品名称、价格、库存、活动和商品参数，都应该来自商品系统，而不是让模型凭记忆生成。</a:t>
            </a:r>
          </a:p>
          <a:p/>
          <a:p>
            <a:r>
              <a:t>查询条件可以是：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"category": "耳机",</a:t>
            </a:r>
          </a:p>
          <a:p>
            <a:r>
              <a:t>  "max_price": 300,</a:t>
            </a:r>
          </a:p>
          <a:p>
            <a:r>
              <a:t>  "scenario": "通勤",</a:t>
            </a:r>
          </a:p>
          <a:p>
            <a:r>
              <a:t>  "noise_cancelling": true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商品系统返回符合条件的真实商品，模型再负责解释和比较。</a:t>
            </a:r>
          </a:p>
          <a:p/>
          <a:p>
            <a:r>
              <a:t>### 4. 排序与比较</a:t>
            </a:r>
          </a:p>
          <a:p/>
          <a:p>
            <a:r>
              <a:t>商品系统可能返回多个候选结果。</a:t>
            </a:r>
          </a:p>
          <a:p/>
          <a:p>
            <a:r>
              <a:t>排序可以综合考虑：</a:t>
            </a:r>
          </a:p>
          <a:p/>
          <a:p>
            <a:r>
              <a:t>- 是否满足硬性条件。</a:t>
            </a:r>
          </a:p>
          <a:p>
            <a:r>
              <a:t>- 与核心偏好的匹配程度。</a:t>
            </a:r>
          </a:p>
          <a:p>
            <a:r>
              <a:t>- 当前库存。</a:t>
            </a:r>
          </a:p>
          <a:p>
            <a:r>
              <a:t>- 销量或用户评价。</a:t>
            </a:r>
          </a:p>
          <a:p>
            <a:r>
              <a:t>- 商家的推荐策略。</a:t>
            </a:r>
          </a:p>
          <a:p/>
          <a:p>
            <a:r>
              <a:t>其中，预算上限通常属于硬条件；颜色偏好可能只是软条件。</a:t>
            </a:r>
          </a:p>
          <a:p/>
          <a:p>
            <a:r>
              <a:t>如果用户明确说“不超过三百”，系统就不应把 329 元的商品作为首选，然后用“稍微加一点预算”强行说服用户。</a:t>
            </a:r>
          </a:p>
          <a:p/>
          <a:p>
            <a:r>
              <a:t>### 5. 生成推荐理由</a:t>
            </a:r>
          </a:p>
          <a:p/>
          <a:p>
            <a:r>
              <a:t>最终回复不能只给出商品列表：</a:t>
            </a:r>
          </a:p>
          <a:p/>
          <a:p>
            <a:r>
              <a:t>&gt; 推荐通勤降噪款和舒适轻听款。</a:t>
            </a:r>
          </a:p>
          <a:p/>
          <a:p>
            <a:r>
              <a:t>更好的表达是：</a:t>
            </a:r>
          </a:p>
          <a:p/>
          <a:p>
            <a:r>
              <a:t>&gt; 如果你主要坐地铁，我更建议通勤降噪款，价格 269 元，支持主动降噪，比较符合你的使用场景。  </a:t>
            </a:r>
          </a:p>
          <a:p>
            <a:r>
              <a:t>&gt; 如果你更在意长时间佩戴舒适，可以看舒适轻听款，价格更低，但它不支持主动降噪。</a:t>
            </a:r>
          </a:p>
          <a:p/>
          <a:p>
            <a:r>
              <a:t>推荐理由必须来自用户需求和商品数据之间的对应关系，而不是泛泛地说“性价比高”“值得购买”。</a:t>
            </a:r>
          </a:p>
          <a:p/>
          <a:p/>
          <a:p>
            <a:r>
              <a:t>## 六、推荐结果不能脱离真实商品数据</a:t>
            </a:r>
          </a:p>
          <a:p/>
          <a:p>
            <a:r>
              <a:t>商品推荐最容易出现三类问题。</a:t>
            </a:r>
          </a:p>
          <a:p/>
          <a:p>
            <a:r>
              <a:t>### 1. 推荐不存在的商品</a:t>
            </a:r>
          </a:p>
          <a:p/>
          <a:p>
            <a:r>
              <a:t>模型可能根据常见命名方式，编出一个看起来很真实的商品。</a:t>
            </a:r>
          </a:p>
          <a:p/>
          <a:p>
            <a:r>
              <a:t>因此，最终可推荐的商品必须来自商品查询结果。</a:t>
            </a:r>
          </a:p>
          <a:p/>
          <a:p>
            <a:r>
              <a:t>### 2. 使用过期价格或库存</a:t>
            </a:r>
          </a:p>
          <a:p/>
          <a:p>
            <a:r>
              <a:t>价格、库存和促销活动变化很快，不能依赖模型训练时记住的信息。</a:t>
            </a:r>
          </a:p>
          <a:p/>
          <a:p>
            <a:r>
              <a:t>这些内容应实时查询商品系统。</a:t>
            </a:r>
          </a:p>
          <a:p/>
          <a:p>
            <a:r>
              <a:t>### 3. 夸大商品能力</a:t>
            </a:r>
          </a:p>
          <a:p/>
          <a:p>
            <a:r>
              <a:t>商品资料只写了“支持通话降噪”，模型却回复成“支持主动环境降噪”，就会产生误导。</a:t>
            </a:r>
          </a:p>
          <a:p/>
          <a:p>
            <a:r>
              <a:t>因此，模型可以重新组织语言，但不能超出商品资料中的事实。</a:t>
            </a:r>
          </a:p>
          <a:p/>
          <a:p>
            <a:r>
              <a:t>在这条流程里：</a:t>
            </a:r>
          </a:p>
          <a:p/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五、用户继续追问时怎样处理</a:t>
            </a:r>
          </a:p>
          <a:p/>
          <a:p>
            <a:r>
              <a:t>推荐完成后，用户很可能不会重新描述完整需求，而是继续说：</a:t>
            </a:r>
          </a:p>
          <a:p/>
          <a:p>
            <a:r>
              <a:t>&gt; “第二个呢？”  </a:t>
            </a:r>
          </a:p>
          <a:p>
            <a:r>
              <a:t>&gt; “有没有便宜一点的？”  </a:t>
            </a:r>
          </a:p>
          <a:p>
            <a:r>
              <a:t>&gt; “第一个戴久了会不会不舒服？”  </a:t>
            </a:r>
          </a:p>
          <a:p>
            <a:r>
              <a:t>&gt; “那还是给我看看降噪更好的。”  </a:t>
            </a:r>
          </a:p>
          <a:p>
            <a:r>
              <a:t>&gt; “这个有黑色吗？”</a:t>
            </a:r>
          </a:p>
          <a:p/>
          <a:p>
            <a:r>
              <a:t>系统需要记住：</a:t>
            </a:r>
          </a:p>
          <a:p/>
          <a:p>
            <a:r>
              <a:t>- 当前推荐的候选商品。</a:t>
            </a:r>
          </a:p>
          <a:p>
            <a:r>
              <a:t>- 每个商品的排列顺序。</a:t>
            </a:r>
          </a:p>
          <a:p>
            <a:r>
              <a:t>- 用户已经说明的预算和场景。</a:t>
            </a:r>
          </a:p>
          <a:p>
            <a:r>
              <a:t>- 用户刚刚新增或修改的条件。</a:t>
            </a:r>
          </a:p>
          <a:p/>
          <a:p>
            <a:r>
              <a:t>例如用户说：</a:t>
            </a:r>
          </a:p>
          <a:p/>
          <a:p>
            <a:r>
              <a:t>&gt; “有没有便宜一点的？”</a:t>
            </a:r>
          </a:p>
          <a:p/>
          <a:p>
            <a:r>
              <a:t>这不是一个新的商品推荐请求，而是在当前结果上增加条件：</a:t>
            </a:r>
          </a:p>
          <a:p/>
          <a:p>
            <a:r>
              <a:t>```text</a:t>
            </a:r>
          </a:p>
          <a:p>
            <a:r>
              <a:t>原有条件：</a:t>
            </a:r>
          </a:p>
          <a:p>
            <a:r>
              <a:t>通勤、300 元以内、需要降噪</a:t>
            </a:r>
          </a:p>
          <a:p/>
          <a:p>
            <a:r>
              <a:t>新增偏好：</a:t>
            </a:r>
          </a:p>
          <a:p>
            <a:r>
              <a:t>希望价格更低</a:t>
            </a:r>
          </a:p>
          <a:p>
            <a:r>
              <a:t>```</a:t>
            </a:r>
          </a:p>
          <a:p/>
          <a:p>
            <a:r>
              <a:t>系统应该重新查询或重新排序，而不是从头问：</a:t>
            </a:r>
          </a:p>
          <a:p/>
          <a:p>
            <a:r>
              <a:t>&gt; “请问您的预算是多少？”</a:t>
            </a:r>
          </a:p>
          <a:p/>
          <a:p>
            <a:r>
              <a:t>这里与订单查询中的“第二个”是同一类问题：都需要保留上一轮对话中的对象和状态。</a:t>
            </a:r>
          </a:p>
          <a:p/>
          <a:p/>
          <a:p>
            <a:r>
              <a:t>当前商品表没有更便宜且支持主动降噪的型号。应说明没有匹配项，询问用户是否愿意调整条件。</a:t>
            </a:r>
          </a:p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七、什么情况下进入闲聊兜底</a:t>
            </a:r>
          </a:p>
          <a:p/>
          <a:p>
            <a:r>
              <a:t>不是所有用户表达都能直接进入订单、售后或推荐流程。</a:t>
            </a:r>
          </a:p>
          <a:p/>
          <a:p>
            <a:r>
              <a:t>例如：</a:t>
            </a:r>
          </a:p>
          <a:p/>
          <a:p>
            <a:r>
              <a:t>&gt; “你好。”  </a:t>
            </a:r>
          </a:p>
          <a:p>
            <a:r>
              <a:t>&gt; “你是机器人吗？”  </a:t>
            </a:r>
          </a:p>
          <a:p>
            <a:r>
              <a:t>&gt; “今天心情不好。”  </a:t>
            </a:r>
          </a:p>
          <a:p>
            <a:r>
              <a:t>&gt; “你们老板是谁？”  </a:t>
            </a:r>
          </a:p>
          <a:p>
            <a:r>
              <a:t>&gt; “给我讲个笑话。”</a:t>
            </a:r>
          </a:p>
          <a:p/>
          <a:p>
            <a:r>
              <a:t>这时需要一条兜底分支。</a:t>
            </a:r>
          </a:p>
          <a:p/>
          <a:p>
            <a:r>
              <a:t>但“兜底”不等于让模型变成什么都聊的通用助手。它首先仍然是一个电商客服产品。</a:t>
            </a:r>
          </a:p>
          <a:p/>
          <a:p>
            <a:r>
              <a:t>可以把兜底情况分成三类。</a:t>
            </a:r>
          </a:p>
          <a:p/>
          <a:p>
            <a:r>
              <a:t>### 1. 简单寒暄</a:t>
            </a:r>
          </a:p>
          <a:p/>
          <a:p>
            <a:r>
              <a:t>用户说：</a:t>
            </a:r>
          </a:p>
          <a:p/>
          <a:p>
            <a:r>
              <a:t>&gt; “你好。”</a:t>
            </a:r>
          </a:p>
          <a:p/>
          <a:p>
            <a:r>
              <a:t>系统可以简短回应，并主动说明自己能做什么：</a:t>
            </a:r>
          </a:p>
          <a:p/>
          <a:p>
            <a:r>
              <a:t>&gt; “你好，我可以帮你查订单、处理售后问题，也可以根据预算和使用场景推荐商品。”</a:t>
            </a:r>
          </a:p>
          <a:p/>
          <a:p>
            <a:r>
              <a:t>### 2. 表达不清楚，但可能与业务有关</a:t>
            </a:r>
          </a:p>
          <a:p/>
          <a:p>
            <a:r>
              <a:t>用户说：</a:t>
            </a:r>
          </a:p>
          <a:p/>
          <a:p>
            <a:r>
              <a:t>&gt; “这个怎么办？”</a:t>
            </a:r>
          </a:p>
          <a:p/>
          <a:p>
            <a:r>
              <a:t>如果上下文里有明确商品或订单，就结合上下文继续处理。</a:t>
            </a:r>
          </a:p>
          <a:p/>
          <a:p>
            <a:r>
              <a:t>如果完全没有上下文，可以问：</a:t>
            </a:r>
          </a:p>
          <a:p/>
          <a:p>
            <a:r>
              <a:t>&gt; “你是想了解商品、查询订单，还是处理售后问题？”</a:t>
            </a:r>
          </a:p>
          <a:p/>
          <a:p>
            <a:r>
              <a:t>### 3. 明显超出业务范围</a:t>
            </a:r>
          </a:p>
          <a:p/>
          <a:p>
            <a:r>
              <a:t>用户要求回答与电商服务无关的问题时，可以简短回应并把对话拉回服务范围：</a:t>
            </a:r>
          </a:p>
          <a:p/>
          <a:p>
            <a:r>
              <a:t>&gt; “这个问题我暂时处理不了。如果你需要查询订单、了解商品或申请售后，我可以继续帮你。”</a:t>
            </a:r>
          </a:p>
          <a:p/>
          <a:p>
            <a:r>
              <a:t>不需要生硬地回复“无法识别意图”，但也不必无限延伸。</a:t>
            </a:r>
          </a:p>
          <a:p/>
          <a:p/>
          <a:p>
            <a:r>
              <a:t>## 八、闲聊兜底与转人工不是一回事</a:t>
            </a:r>
          </a:p>
          <a:p/>
          <a:p>
            <a:r>
              <a:t>识别不出意图，不代表一定要转人工。</a:t>
            </a:r>
          </a:p>
          <a:p/>
          <a:p>
            <a:r>
              <a:t>如果每次用户表达稍微模糊，就直接转人工，系统的实际价值会很低。</a:t>
            </a:r>
          </a:p>
          <a:p/>
          <a:p>
            <a:r>
              <a:t>比较合理的处理顺序是：</a:t>
            </a:r>
          </a:p>
          <a:p/>
          <a:p>
            <a:r>
              <a:t>1. 结合上下文再次理解。</a:t>
            </a:r>
          </a:p>
          <a:p>
            <a:r>
              <a:t>2. 给出几个业务方向，让用户选择。</a:t>
            </a:r>
          </a:p>
          <a:p>
            <a:r>
              <a:t>3. 如果仍然无法继续，再考虑转人工。</a:t>
            </a:r>
          </a:p>
          <a:p/>
          <a:p>
            <a:r>
              <a:t>但是以下情况应更积极地转人工：</a:t>
            </a:r>
          </a:p>
          <a:p/>
          <a:p>
            <a:r>
              <a:t>- 用户明确要求人工客服。</a:t>
            </a:r>
          </a:p>
          <a:p>
            <a:r>
              <a:t>- 用户已经多次描述，但系统仍然无法理解。</a:t>
            </a:r>
          </a:p>
          <a:p>
            <a:r>
              <a:t>- 用户情绪强烈，并且问题没有得到解决。</a:t>
            </a:r>
          </a:p>
          <a:p>
            <a:r>
              <a:t>- 请求超出系统权限。</a:t>
            </a:r>
          </a:p>
          <a:p>
            <a:r>
              <a:t>- 商品、订单或售后状态存在冲突。</a:t>
            </a:r>
          </a:p>
          <a:p/>
          <a:p>
            <a:r>
              <a:t>转人工时，应同时传递已知信息，不能让用户重新说一遍。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九、用几组对话检查推荐与兜底</a:t>
            </a:r>
          </a:p>
          <a:p/>
          <a:p>
            <a:r>
              <a:t>### 案例一：信息足够的商品推荐</a:t>
            </a:r>
          </a:p>
          <a:p/>
          <a:p>
            <a:r>
              <a:t>&gt; 用户：“三百以内，坐地铁用，希望降噪好一点。”</a:t>
            </a:r>
          </a:p>
          <a:p/>
          <a:p>
            <a:r>
              <a:t>检查系统是否：</a:t>
            </a:r>
          </a:p>
          <a:p/>
          <a:p>
            <a:r>
              <a:t>- 正确提取预算、场景和偏好。</a:t>
            </a:r>
          </a:p>
          <a:p>
            <a:r>
              <a:t>- 查询真实商品。</a:t>
            </a:r>
          </a:p>
          <a:p>
            <a:r>
              <a:t>- 排除不符合预算的商品。</a:t>
            </a:r>
          </a:p>
          <a:p>
            <a:r>
              <a:t>- 说明推荐理由。</a:t>
            </a:r>
          </a:p>
          <a:p/>
          <a:p>
            <a:r>
              <a:t>### 案例二：信息不足</a:t>
            </a:r>
          </a:p>
          <a:p/>
          <a:p>
            <a:r>
              <a:t>&gt; 用户：“推荐个耳机。”</a:t>
            </a:r>
          </a:p>
          <a:p/>
          <a:p>
            <a:r>
              <a:t>检查系统是否追问真正影响结果的问题，而不是一次询问所有字段。</a:t>
            </a:r>
          </a:p>
          <a:p/>
          <a:p>
            <a:r>
              <a:t>### 案例三：继续修改条件</a:t>
            </a:r>
          </a:p>
          <a:p/>
          <a:p>
            <a:r>
              <a:t>&gt; 用户：“有没有更便宜一点的？”</a:t>
            </a:r>
          </a:p>
          <a:p/>
          <a:p>
            <a:r>
              <a:t>检查系统是否保留原来的通勤和降噪需求，只更新价格偏好。</a:t>
            </a:r>
          </a:p>
          <a:p/>
          <a:p>
            <a:r>
              <a:t>### 案例四：动态数据变化</a:t>
            </a:r>
          </a:p>
          <a:p/>
          <a:p>
            <a:r>
              <a:t>候选商品已经缺货。</a:t>
            </a:r>
          </a:p>
          <a:p/>
          <a:p>
            <a:r>
              <a:t>检查系统是否根据最新库存更新推荐，而不是继续推荐无法购买的商品。</a:t>
            </a:r>
          </a:p>
          <a:p/>
          <a:p>
            <a:r>
              <a:t>### 案例五：无法判断意图</a:t>
            </a:r>
          </a:p>
          <a:p/>
          <a:p>
            <a:r>
              <a:t>&gt; 用户：“这个不太行。”</a:t>
            </a:r>
          </a:p>
          <a:p/>
          <a:p>
            <a:r>
              <a:t>检查系统是否先结合上一轮对话判断“这个”指什么；没有上下文时，再引导用户选择业务方向。</a:t>
            </a:r>
          </a:p>
          <a:p/>
          <a:p/>
          <a:p>
            <a:r>
              <a:t>## 十、本节完成了什么</a:t>
            </a:r>
          </a:p>
          <a:p/>
          <a:p>
            <a:r>
              <a:t>这一节，我们补齐了购买前的商品推荐流程：</a:t>
            </a:r>
          </a:p>
          <a:p/>
          <a:p>
            <a:r>
              <a:t>**提取需求 → 判断是否需要追问 → 查询商品 → 筛选和排序 → 说明推荐理由 → 接住后续调整。**</a:t>
            </a:r>
          </a:p>
          <a:p/>
          <a:p>
            <a:r>
              <a:t>同时增加了闲聊兜底，用来处理无法直接进入订单、售后和推荐流程的表达。</a:t>
            </a:r>
          </a:p>
          <a:p/>
          <a:p>
            <a:r>
              <a:t>到这里，客服助手已经覆盖了三类主要业务任务：</a:t>
            </a:r>
          </a:p>
          <a:p/>
          <a:p>
            <a:r>
              <a:t>- 购买前：商品推荐。</a:t>
            </a:r>
          </a:p>
          <a:p>
            <a:r>
              <a:t>- 购买后：订单查询。</a:t>
            </a:r>
          </a:p>
          <a:p>
            <a:r>
              <a:t>- 出现问题后：售后咨询与处理。</a:t>
            </a:r>
          </a:p>
          <a:p/>
          <a:p>
            <a:r>
              <a:t>再加上闲聊兜底，就形成了一套相对完整的电商智能客服主流程。</a:t>
            </a:r>
          </a:p>
          <a:p/>
          <a:p>
            <a:r>
              <a:t>不过，目前我们只是分别把几条流程设计出来了。下一节需要把它们重新放回同一个产品中，讨论：</a:t>
            </a:r>
          </a:p>
          <a:p/>
          <a:p>
            <a:r>
              <a:t>**多个工作流如何共用用户信息、统一对话状态，并在流程切换时不丢失上下文。**</a:t>
            </a:r>
          </a:p>
          <a:p/>
          <a:p>
            <a:r>
              <a:t>---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第六节：多条业务流程怎样在同一个客服产品中协同</a:t>
            </a:r>
          </a:p>
          <a:p/>
          <a:p>
            <a:r>
              <a:t>前面我们分别完成了三条主要业务流程：</a:t>
            </a:r>
          </a:p>
          <a:p/>
          <a:p>
            <a:r>
              <a:t>- 商品推荐。</a:t>
            </a:r>
          </a:p>
          <a:p>
            <a:r>
              <a:t>- 订单查询。</a:t>
            </a:r>
          </a:p>
          <a:p>
            <a:r>
              <a:t>- 售后咨询与处理。</a:t>
            </a:r>
          </a:p>
          <a:p/>
          <a:p>
            <a:r>
              <a:t>单独看，每条流程都能工作。但用户在真实对话里不会按照我们的流程图，一个问题处理完再开始下一个问题。</a:t>
            </a:r>
          </a:p>
          <a:p/>
          <a:p>
            <a:r>
              <a:t>他可能这样说：</a:t>
            </a:r>
          </a:p>
          <a:p/>
          <a:p>
            <a:r>
              <a:t>&gt; “想买个通勤用的耳机，三百以内。”  </a:t>
            </a:r>
          </a:p>
          <a:p>
            <a:r>
              <a:t>&gt; “对了，我上周买的那个怎么还没到？”  </a:t>
            </a:r>
          </a:p>
          <a:p>
            <a:r>
              <a:t>&gt; “那刚才推荐的第一个，适合跑步吗？”</a:t>
            </a:r>
          </a:p>
          <a:p/>
          <a:p>
            <a:r>
              <a:t>这段对话先进入商品推荐，中间切到订单查询，最后又回到商品推荐。</a:t>
            </a:r>
          </a:p>
          <a:p/>
          <a:p>
            <a:r>
              <a:t>因此，这一节不是再增加一条新流程，而是解决一个产品层面的问题：</a:t>
            </a:r>
          </a:p>
          <a:p/>
          <a:p>
            <a:r>
              <a:t>&gt; 多条流程如何放进同一个客服助手，并在来回切换时不丢失用户已经说过的信息？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二、先看一段跨流程对话</a:t>
            </a:r>
          </a:p>
          <a:p/>
          <a:p>
            <a:r>
              <a:t>我们来看完整例子。</a:t>
            </a:r>
          </a:p>
          <a:p/>
          <a:p>
            <a:r>
              <a:t>### 第一轮：进入商品推荐</a:t>
            </a:r>
          </a:p>
          <a:p/>
          <a:p>
            <a:r>
              <a:t>&gt; 用户：想买个通勤用的耳机，预算三百以内。</a:t>
            </a:r>
          </a:p>
          <a:p/>
          <a:p>
            <a:r>
              <a:t>系统识别到：</a:t>
            </a:r>
          </a:p>
          <a:p/>
          <a:p>
            <a:r>
              <a:t>```text</a:t>
            </a:r>
          </a:p>
          <a:p>
            <a:r>
              <a:t>当前任务：商品推荐</a:t>
            </a:r>
          </a:p>
          <a:p>
            <a:r>
              <a:t>商品类别：耳机</a:t>
            </a:r>
          </a:p>
          <a:p>
            <a:r>
              <a:t>使用场景：通勤</a:t>
            </a:r>
          </a:p>
          <a:p>
            <a:r>
              <a:t>预算上限：300 元</a:t>
            </a:r>
          </a:p>
          <a:p>
            <a:r>
              <a:t>```</a:t>
            </a:r>
          </a:p>
          <a:p/>
          <a:p>
            <a:r>
              <a:t>系统进入商品推荐流程，并给出两款候选商品。</a:t>
            </a:r>
          </a:p>
          <a:p/>
          <a:p>
            <a:r>
              <a:t>### 第二轮：用户临时询问订单</a:t>
            </a:r>
          </a:p>
          <a:p/>
          <a:p>
            <a:r>
              <a:t>&gt; 用户：对了，我上周买的那个怎么还没到？</a:t>
            </a:r>
          </a:p>
          <a:p/>
          <a:p>
            <a:r>
              <a:t>用户没有结束商品推荐，只是临时切换到订单查询。</a:t>
            </a:r>
          </a:p>
          <a:p/>
          <a:p>
            <a:r>
              <a:t>系统需要：</a:t>
            </a:r>
          </a:p>
          <a:p/>
          <a:p>
            <a:r>
              <a:t>1. 暂时保留刚才的推荐条件和候选商品。</a:t>
            </a:r>
          </a:p>
          <a:p>
            <a:r>
              <a:t>2. 将当前任务切换成订单查询。</a:t>
            </a:r>
          </a:p>
          <a:p>
            <a:r>
              <a:t>3. 查询用户最近的订单。</a:t>
            </a:r>
          </a:p>
          <a:p>
            <a:r>
              <a:t>4. 返回物流状态。</a:t>
            </a:r>
          </a:p>
          <a:p/>
          <a:p>
            <a:r>
              <a:t>如果系统只保留最后一句话，那么之前的推荐过程就丢失了。</a:t>
            </a:r>
          </a:p>
          <a:p/>
          <a:p>
            <a:r>
              <a:t>### 第三轮：回到之前的推荐</a:t>
            </a:r>
          </a:p>
          <a:p/>
          <a:p>
            <a:r>
              <a:t>&gt; 用户：那刚才推荐的第一个，适合跑步吗？</a:t>
            </a:r>
          </a:p>
          <a:p/>
          <a:p>
            <a:r>
              <a:t>“第一个”指的是前面推荐的第一款商品，不是订单查询返回的第一笔订单。</a:t>
            </a:r>
          </a:p>
          <a:p/>
          <a:p>
            <a:r>
              <a:t>系统需要恢复商品推荐时的候选列表，找到第一款商品，再结合“跑步”这个新场景回答。</a:t>
            </a:r>
          </a:p>
          <a:p/>
          <a:p>
            <a:r>
              <a:t>这说明系统不能只保存完整聊天记录，还需要保存经过整理的业务信息。</a:t>
            </a:r>
          </a:p>
          <a:p/>
          <a:p/>
          <a:p>
            <a:r>
              <a:t>## 六、继续、切换和返回，需要分别处理</a:t>
            </a:r>
          </a:p>
          <a:p/>
          <a:p>
            <a:r>
              <a:t>这三种情况看起来相似，但产品行为不同。</a:t>
            </a:r>
          </a:p>
          <a:p/>
          <a:p>
            <a:r>
              <a:t>### 1. 继续当前流程</a:t>
            </a:r>
          </a:p>
          <a:p/>
          <a:p>
            <a:r>
              <a:t>&gt; 系统：你更看重降噪还是佩戴舒适？  </a:t>
            </a:r>
          </a:p>
          <a:p>
            <a:r>
              <a:t>&gt; 用户：降噪。</a:t>
            </a:r>
          </a:p>
          <a:p/>
          <a:p>
            <a:r>
              <a:t>这只是补充推荐条件，不需要重新判断全部流程。</a:t>
            </a:r>
          </a:p>
          <a:p/>
          <a:p>
            <a:r>
              <a:t>### 2. 切换到另一条流程</a:t>
            </a:r>
          </a:p>
          <a:p/>
          <a:p>
            <a:r>
              <a:t>&gt; 用户：对了，我之前买的耳机什么时候到？</a:t>
            </a:r>
          </a:p>
          <a:p/>
          <a:p>
            <a:r>
              <a:t>系统暂时保留推荐流程，进入订单查询。</a:t>
            </a:r>
          </a:p>
          <a:p/>
          <a:p>
            <a:r>
              <a:t>可以自然回应：</a:t>
            </a:r>
          </a:p>
          <a:p/>
          <a:p>
            <a:r>
              <a:t>&gt; “可以，我先帮你查之前的订单。刚才的推荐结果我会保留。”</a:t>
            </a:r>
          </a:p>
          <a:p/>
          <a:p>
            <a:r>
              <a:t>### 3. 返回之前的流程</a:t>
            </a:r>
          </a:p>
          <a:p/>
          <a:p>
            <a:r>
              <a:t>&gt; 用户：订单知道了。刚才推荐的第一款呢？</a:t>
            </a:r>
          </a:p>
          <a:p/>
          <a:p>
            <a:r>
              <a:t>系统恢复推荐候选列表，继续回答。</a:t>
            </a:r>
          </a:p>
          <a:p/>
          <a:p>
            <a:r>
              <a:t>不需要重新问预算、场景和偏好。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三、系统需要记住哪些信息</a:t>
            </a:r>
          </a:p>
          <a:p/>
          <a:p>
            <a:r>
              <a:t>为了让多条流程能够衔接，至少要记录四类信息。</a:t>
            </a:r>
          </a:p>
          <a:p/>
          <a:p>
            <a:r>
              <a:t>### 1. 当前正在处理的事情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当前任务：订单查询</a:t>
            </a:r>
          </a:p>
          <a:p>
            <a:r>
              <a:t>上一个任务：商品推荐</a:t>
            </a:r>
          </a:p>
          <a:p>
            <a:r>
              <a:t>当前进度：已找到候选订单，等待用户选择</a:t>
            </a:r>
          </a:p>
          <a:p>
            <a:r>
              <a:t>```</a:t>
            </a:r>
          </a:p>
          <a:p/>
          <a:p>
            <a:r>
              <a:t>这样系统才能判断用户下一句话是在继续当前流程，还是回到上一个问题。</a:t>
            </a:r>
          </a:p>
          <a:p/>
          <a:p>
            <a:r>
              <a:t>### 2. 用户已经明确的信息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预算：300 元以内</a:t>
            </a:r>
          </a:p>
          <a:p>
            <a:r>
              <a:t>使用场景：通勤</a:t>
            </a:r>
          </a:p>
          <a:p>
            <a:r>
              <a:t>关注点：降噪</a:t>
            </a:r>
          </a:p>
          <a:p>
            <a:r>
              <a:t>```</a:t>
            </a:r>
          </a:p>
          <a:p/>
          <a:p>
            <a:r>
              <a:t>用户已经说过的内容，不应该在切换流程之后全部丢失。</a:t>
            </a:r>
          </a:p>
          <a:p/>
          <a:p>
            <a:r>
              <a:t>### 3. 当前对话中的对象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推荐商品列表：</a:t>
            </a:r>
          </a:p>
          <a:p>
            <a:r>
              <a:t>1. 通勤降噪款</a:t>
            </a:r>
          </a:p>
          <a:p>
            <a:r>
              <a:t>2. 舒适轻听款</a:t>
            </a:r>
          </a:p>
          <a:p/>
          <a:p>
            <a:r>
              <a:t>候选订单列表：</a:t>
            </a:r>
          </a:p>
          <a:p>
            <a:r>
              <a:t>1. DEMO-101</a:t>
            </a:r>
          </a:p>
          <a:p>
            <a:r>
              <a:t>2. DEMO-102</a:t>
            </a:r>
          </a:p>
          <a:p>
            <a:r>
              <a:t>```</a:t>
            </a:r>
          </a:p>
          <a:p/>
          <a:p>
            <a:r>
              <a:t>这类信息决定了“第一个”“第二个”“这个”“刚才那个”分别指什么。</a:t>
            </a:r>
          </a:p>
          <a:p/>
          <a:p>
            <a:r>
              <a:t>### 4. 尚未完成的操作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售后申请：尚未提交</a:t>
            </a:r>
          </a:p>
          <a:p>
            <a:r>
              <a:t>缺少信息：故障照片</a:t>
            </a:r>
          </a:p>
          <a:p>
            <a:r>
              <a:t>等待用户确认：是</a:t>
            </a:r>
          </a:p>
          <a:p>
            <a:r>
              <a:t>```</a:t>
            </a:r>
          </a:p>
          <a:p/>
          <a:p>
            <a:r>
              <a:t>如果用户中途问了另一个问题，回来之后系统要知道售后申请进行到了哪一步。</a:t>
            </a:r>
          </a:p>
          <a:p/>
          <a:p/>
          <a:p>
            <a:r>
              <a:t>## 四、为什么不能只把整段聊天记录交给模型</a:t>
            </a:r>
          </a:p>
          <a:p/>
          <a:p>
            <a:r>
              <a:t>最简单的方案是：</a:t>
            </a:r>
          </a:p>
          <a:p/>
          <a:p>
            <a:r>
              <a:t>&gt; 把用户和客服的所有历史消息都发给模型，让模型自己判断。</a:t>
            </a:r>
          </a:p>
          <a:p/>
          <a:p>
            <a:r>
              <a:t>短对话中，这种方式可能有效。但对话变长后，会出现几个问题：</a:t>
            </a:r>
          </a:p>
          <a:p/>
          <a:p>
            <a:r>
              <a:t>- 模型未必能稳定找到真正重要的信息。</a:t>
            </a:r>
          </a:p>
          <a:p>
            <a:r>
              <a:t>- 商品列表和订单列表可能混在一起。</a:t>
            </a:r>
          </a:p>
          <a:p>
            <a:r>
              <a:t>- 用户修改过的条件可能与旧条件冲突。</a:t>
            </a:r>
          </a:p>
          <a:p>
            <a:r>
              <a:t>- 已提交和未提交的操作可能被混淆。</a:t>
            </a:r>
          </a:p>
          <a:p>
            <a:r>
              <a:t>- 对话越长，处理成本越高。</a:t>
            </a:r>
          </a:p>
          <a:p/>
          <a:p>
            <a:r>
              <a:t>例如用户先说：</a:t>
            </a:r>
          </a:p>
          <a:p/>
          <a:p>
            <a:r>
              <a:t>&gt; “预算三百。”</a:t>
            </a:r>
          </a:p>
          <a:p/>
          <a:p>
            <a:r>
              <a:t>后来又说：</a:t>
            </a:r>
          </a:p>
          <a:p/>
          <a:p>
            <a:r>
              <a:t>&gt; “如果降噪好，最多可以到四百。”</a:t>
            </a:r>
          </a:p>
          <a:p/>
          <a:p>
            <a:r>
              <a:t>如果只是保存聊天记录，模型需要自行判断哪个预算是最新的。</a:t>
            </a:r>
          </a:p>
          <a:p/>
          <a:p>
            <a:r>
              <a:t>更稳妥的做法是，在保留对话原文的同时，再维护一份整理后的当前信息：</a:t>
            </a:r>
          </a:p>
          <a:p/>
          <a:p>
            <a:r>
              <a:t>```text</a:t>
            </a:r>
          </a:p>
          <a:p>
            <a:r>
              <a:t>当前预算上限：400 元</a:t>
            </a:r>
          </a:p>
          <a:p>
            <a:r>
              <a:t>修改原因：用户愿意为更好的降噪提高预算</a:t>
            </a:r>
          </a:p>
          <a:p>
            <a:r>
              <a:t>原预算：300 元</a:t>
            </a:r>
          </a:p>
          <a:p>
            <a:r>
              <a:t>```</a:t>
            </a:r>
          </a:p>
          <a:p/>
          <a:p>
            <a:r>
              <a:t>对话记录用于理解用户原话；整理后的信息用于继续执行业务流程。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五、主流程每一轮需要做什么</a:t>
            </a:r>
          </a:p>
          <a:p/>
          <a:p>
            <a:r>
              <a:t>主流程可以按照下面的顺序运行。</a:t>
            </a:r>
          </a:p>
          <a:p/>
          <a:p>
            <a:r>
              <a:t>### 第一步：读取当前情况</a:t>
            </a:r>
          </a:p>
          <a:p/>
          <a:p>
            <a:r>
              <a:t>系统先读取：</a:t>
            </a:r>
          </a:p>
          <a:p/>
          <a:p>
            <a:r>
              <a:t>- 当前正在处理的任务。</a:t>
            </a:r>
          </a:p>
          <a:p>
            <a:r>
              <a:t>- 上一轮系统问了什么。</a:t>
            </a:r>
          </a:p>
          <a:p>
            <a:r>
              <a:t>- 当前商品、订单或售后申请。</a:t>
            </a:r>
          </a:p>
          <a:p>
            <a:r>
              <a:t>- 是否有尚未完成的操作。</a:t>
            </a:r>
          </a:p>
          <a:p/>
          <a:p>
            <a:r>
              <a:t>### 第二步：理解用户这句话</a:t>
            </a:r>
          </a:p>
          <a:p/>
          <a:p>
            <a:r>
              <a:t>系统判断用户当前表达属于哪一种情况：</a:t>
            </a:r>
          </a:p>
          <a:p/>
          <a:p>
            <a:r>
              <a:t>1. 继续当前任务。</a:t>
            </a:r>
          </a:p>
          <a:p>
            <a:r>
              <a:t>2. 修改当前任务中的条件。</a:t>
            </a:r>
          </a:p>
          <a:p>
            <a:r>
              <a:t>3. 切换到另一个任务。</a:t>
            </a:r>
          </a:p>
          <a:p>
            <a:r>
              <a:t>4. 回到之前暂停的任务。</a:t>
            </a:r>
          </a:p>
          <a:p>
            <a:r>
              <a:t>5. 表达不清，需要澄清。</a:t>
            </a:r>
          </a:p>
          <a:p>
            <a:r>
              <a:t>6. 请求人工服务。</a:t>
            </a:r>
          </a:p>
          <a:p/>
          <a:p>
            <a:r>
              <a:t>### 第三步：决定调用哪条流程</a:t>
            </a:r>
          </a:p>
          <a:p/>
          <a:p>
            <a:r>
              <a:t>例如：</a:t>
            </a:r>
          </a:p>
          <a:p/>
          <a:p>
            <a:r>
              <a:t>- “有黑色吗？”继续商品推荐。</a:t>
            </a:r>
          </a:p>
          <a:p>
            <a:r>
              <a:t>- “我的快递呢？”切换到订单查询。</a:t>
            </a:r>
          </a:p>
          <a:p>
            <a:r>
              <a:t>- “那我还是退掉吧。”可能进入售后流程。</a:t>
            </a:r>
          </a:p>
          <a:p>
            <a:r>
              <a:t>- “刚才第一款呢？”返回商品推荐。</a:t>
            </a:r>
          </a:p>
          <a:p/>
          <a:p>
            <a:r>
              <a:t>### 第四步：准备子流程需要的信息</a:t>
            </a:r>
          </a:p>
          <a:p/>
          <a:p>
            <a:r>
              <a:t>主流程把已有信息整理好，再交给具体流程。</a:t>
            </a:r>
          </a:p>
          <a:p/>
          <a:p>
            <a:r>
              <a:t>例如进入订单查询时，可以传入：</a:t>
            </a:r>
          </a:p>
          <a:p/>
          <a:p>
            <a:r>
              <a:t>```text</a:t>
            </a:r>
          </a:p>
          <a:p>
            <a:r>
              <a:t>用户身份：当前已登录用户</a:t>
            </a:r>
          </a:p>
          <a:p>
            <a:r>
              <a:t>订单线索：上周购买</a:t>
            </a:r>
          </a:p>
          <a:p>
            <a:r>
              <a:t>商品线索：暂未明确</a:t>
            </a:r>
          </a:p>
          <a:p>
            <a:r>
              <a:t>```</a:t>
            </a:r>
          </a:p>
          <a:p/>
          <a:p>
            <a:r>
              <a:t>进入售后处理时，可以传入：</a:t>
            </a:r>
          </a:p>
          <a:p/>
          <a:p>
            <a:r>
              <a:t>```text</a:t>
            </a:r>
          </a:p>
          <a:p>
            <a:r>
              <a:t>当前订单：DEMO-101</a:t>
            </a:r>
          </a:p>
          <a:p>
            <a:r>
              <a:t>用户诉求：退货</a:t>
            </a:r>
          </a:p>
          <a:p>
            <a:r>
              <a:t>已知原因：佩戴不舒适</a:t>
            </a:r>
          </a:p>
          <a:p>
            <a:r>
              <a:t>```</a:t>
            </a:r>
          </a:p>
          <a:p/>
          <a:p>
            <a:r>
              <a:t>### 第五步：保存处理结果</a:t>
            </a:r>
          </a:p>
          <a:p/>
          <a:p>
            <a:r>
              <a:t>子流程完成当前步骤后，需要返回：</a:t>
            </a:r>
          </a:p>
          <a:p/>
          <a:p>
            <a:r>
              <a:t>- 本轮处理结果。</a:t>
            </a:r>
          </a:p>
          <a:p>
            <a:r>
              <a:t>- 更新后的业务信息。</a:t>
            </a:r>
          </a:p>
          <a:p>
            <a:r>
              <a:t>- 下一步等待什么。</a:t>
            </a:r>
          </a:p>
          <a:p>
            <a:r>
              <a:t>- 是否已经完成。</a:t>
            </a:r>
          </a:p>
          <a:p>
            <a:r>
              <a:t>- 是否需要转人工。</a:t>
            </a:r>
          </a:p>
          <a:p/>
          <a:p>
            <a:r>
              <a:t>主流程再根据这些结果组织最终回复。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七、中途切换时，哪些操作可以暂停</a:t>
            </a:r>
          </a:p>
          <a:p/>
          <a:p>
            <a:r>
              <a:t>不是所有流程都可以随时切换。</a:t>
            </a:r>
          </a:p>
          <a:p/>
          <a:p>
            <a:r>
              <a:t>### 可以暂停的情况</a:t>
            </a:r>
          </a:p>
          <a:p/>
          <a:p>
            <a:r>
              <a:t>- 正在收集推荐条件。</a:t>
            </a:r>
          </a:p>
          <a:p>
            <a:r>
              <a:t>- 正在让用户选择订单。</a:t>
            </a:r>
          </a:p>
          <a:p>
            <a:r>
              <a:t>- 正在解释售后政策。</a:t>
            </a:r>
          </a:p>
          <a:p>
            <a:r>
              <a:t>- 售后申请尚未提交。</a:t>
            </a:r>
          </a:p>
          <a:p/>
          <a:p>
            <a:r>
              <a:t>这些操作没有改变业务数据，可以先处理其他问题，再回来继续。</a:t>
            </a:r>
          </a:p>
          <a:p/>
          <a:p>
            <a:r>
              <a:t>### 需要谨慎的情况</a:t>
            </a:r>
          </a:p>
          <a:p/>
          <a:p>
            <a:r>
              <a:t>- 正在提交售后申请。</a:t>
            </a:r>
          </a:p>
          <a:p>
            <a:r>
              <a:t>- 正在取消订单。</a:t>
            </a:r>
          </a:p>
          <a:p>
            <a:r>
              <a:t>- 正在修改收货地址。</a:t>
            </a:r>
          </a:p>
          <a:p>
            <a:r>
              <a:t>- 正在执行退款或补偿。</a:t>
            </a:r>
          </a:p>
          <a:p/>
          <a:p>
            <a:r>
              <a:t>这些操作可能已经改变业务数据。</a:t>
            </a:r>
          </a:p>
          <a:p/>
          <a:p>
            <a:r>
              <a:t>如果系统没有拿到明确结果，不能因为用户切换了话题，就假设操作没有发生；也不能回来之后直接再执行一次。</a:t>
            </a:r>
          </a:p>
          <a:p/>
          <a:p>
            <a:r>
              <a:t>因此需要保存：</a:t>
            </a:r>
          </a:p>
          <a:p/>
          <a:p>
            <a:r>
              <a:t>```text</a:t>
            </a:r>
          </a:p>
          <a:p>
            <a:r>
              <a:t>操作类型：提交换货申请</a:t>
            </a:r>
          </a:p>
          <a:p>
            <a:r>
              <a:t>请求标识：REQ-001</a:t>
            </a:r>
          </a:p>
          <a:p>
            <a:r>
              <a:t>当前状态：结果待确认</a:t>
            </a:r>
          </a:p>
          <a:p>
            <a:r>
              <a:t>是否允许再次提交：否</a:t>
            </a:r>
          </a:p>
          <a:p>
            <a:r>
              <a:t>```</a:t>
            </a:r>
          </a:p>
          <a:p/>
          <a:p>
            <a:r>
              <a:t>这与前面讲到的提交超时属于同一个问题。</a:t>
            </a:r>
          </a:p>
          <a:p/>
          <a:p/>
          <a:p>
            <a:r>
              <a:t>## 十、用三段对话检查流程协同</a:t>
            </a:r>
          </a:p>
          <a:p/>
          <a:p>
            <a:r>
              <a:t>### 案例一：商品推荐切换到订单查询</a:t>
            </a:r>
          </a:p>
          <a:p/>
          <a:p>
            <a:r>
              <a:t>&gt; 用户：想买个三百以内的通勤耳机。  </a:t>
            </a:r>
          </a:p>
          <a:p>
            <a:r>
              <a:t>&gt; 用户：对了，我上周的订单什么时候到？  </a:t>
            </a:r>
          </a:p>
          <a:p>
            <a:r>
              <a:t>&gt; 用户：查到了。刚才第一款有黑色吗？</a:t>
            </a:r>
          </a:p>
          <a:p/>
          <a:p>
            <a:r>
              <a:t>检查：</a:t>
            </a:r>
          </a:p>
          <a:p/>
          <a:p>
            <a:r>
              <a:t>- 推荐条件是否保留。</a:t>
            </a:r>
          </a:p>
          <a:p>
            <a:r>
              <a:t>- 订单查询是否正常完成。</a:t>
            </a:r>
          </a:p>
          <a:p>
            <a:r>
              <a:t>- “刚才第一款”能否重新对应到推荐商品。</a:t>
            </a:r>
          </a:p>
          <a:p/>
          <a:p>
            <a:r>
              <a:t>### 案例二：售后处理中修改诉求</a:t>
            </a:r>
          </a:p>
          <a:p/>
          <a:p>
            <a:r>
              <a:t>&gt; 用户：我要换货。  </a:t>
            </a:r>
          </a:p>
          <a:p>
            <a:r>
              <a:t>&gt; 系统已经收集订单和故障情况。  </a:t>
            </a:r>
          </a:p>
          <a:p>
            <a:r>
              <a:t>&gt; 用户：算了，我还是想退。</a:t>
            </a:r>
          </a:p>
          <a:p/>
          <a:p>
            <a:r>
              <a:t>检查：</a:t>
            </a:r>
          </a:p>
          <a:p/>
          <a:p>
            <a:r>
              <a:t>- 是否将换货修改为退货。</a:t>
            </a:r>
          </a:p>
          <a:p>
            <a:r>
              <a:t>- 是否重新检查退货条件。</a:t>
            </a:r>
          </a:p>
          <a:p>
            <a:r>
              <a:t>- 是否废弃旧的确认内容。</a:t>
            </a:r>
          </a:p>
          <a:p>
            <a:r>
              <a:t>- 是否避免提交错误的申请。</a:t>
            </a:r>
          </a:p>
          <a:p/>
          <a:p>
            <a:r>
              <a:t>### 案例三：提交过程中切换话题</a:t>
            </a:r>
          </a:p>
          <a:p/>
          <a:p>
            <a:r>
              <a:t>&gt; 用户确认提交换货申请。  </a:t>
            </a:r>
          </a:p>
          <a:p>
            <a:r>
              <a:t>&gt; 接口响应超时。  </a:t>
            </a:r>
          </a:p>
          <a:p>
            <a:r>
              <a:t>&gt; 用户突然问：“新的大概多久能寄出？”</a:t>
            </a:r>
          </a:p>
          <a:p/>
          <a:p>
            <a:r>
              <a:t>检查：</a:t>
            </a:r>
          </a:p>
          <a:p/>
          <a:p>
            <a:r>
              <a:t>- 系统是否保留“提交结果待确认”的状态。</a:t>
            </a:r>
          </a:p>
          <a:p>
            <a:r>
              <a:t>- 是否避免重复提交。</a:t>
            </a:r>
          </a:p>
          <a:p>
            <a:r>
              <a:t>- 是否在回答时说明当前申请状态尚未确认。</a:t>
            </a:r>
          </a:p>
          <a:p>
            <a:r>
              <a:t>- 是否在后续继续查询真实提交结果。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八、用户一句话里可能包含多个任务</a:t>
            </a:r>
          </a:p>
          <a:p/>
          <a:p>
            <a:r>
              <a:t>用户有时会说：</a:t>
            </a:r>
          </a:p>
          <a:p/>
          <a:p>
            <a:r>
              <a:t>&gt; “帮我查一下订单什么时候到，到了以后如果不合适能退吗？”</a:t>
            </a:r>
          </a:p>
          <a:p/>
          <a:p>
            <a:r>
              <a:t>这句话同时包含：</a:t>
            </a:r>
          </a:p>
          <a:p/>
          <a:p>
            <a:r>
              <a:t>- 查询物流状态。</a:t>
            </a:r>
          </a:p>
          <a:p>
            <a:r>
              <a:t>- 咨询退货政策。</a:t>
            </a:r>
          </a:p>
          <a:p/>
          <a:p>
            <a:r>
              <a:t>系统可以把它拆成两个任务，但不一定要同时执行所有流程。</a:t>
            </a:r>
          </a:p>
          <a:p/>
          <a:p>
            <a:r>
              <a:t>一种自然的处理方式是：</a:t>
            </a:r>
          </a:p>
          <a:p/>
          <a:p>
            <a:r>
              <a:t>&gt; “我先帮你查一下物流状态，再说明这笔订单适用的退货规则。”</a:t>
            </a:r>
          </a:p>
          <a:p/>
          <a:p>
            <a:r>
              <a:t>先查到具体订单，再根据订单、商品和时间判断售后政策，结果会更准确。</a:t>
            </a:r>
          </a:p>
          <a:p/>
          <a:p>
            <a:r>
              <a:t>如果两个任务没有依赖关系，也可以分别处理：</a:t>
            </a:r>
          </a:p>
          <a:p/>
          <a:p>
            <a:r>
              <a:t>&gt; “这笔订单预计明天送达。签收后如果商品符合退货条件，可以在订单详情中发起申请。”</a:t>
            </a:r>
          </a:p>
          <a:p/>
          <a:p>
            <a:r>
              <a:t>产品经理需要决定：</a:t>
            </a:r>
          </a:p>
          <a:p/>
          <a:p>
            <a:r>
              <a:t>- 多任务是否允许同时处理。</a:t>
            </a:r>
          </a:p>
          <a:p>
            <a:r>
              <a:t>- 哪个任务优先。</a:t>
            </a:r>
          </a:p>
          <a:p>
            <a:r>
              <a:t>- 两个任务是否存在数据依赖。</a:t>
            </a:r>
          </a:p>
          <a:p>
            <a:r>
              <a:t>- 回复时如何让用户看清每个问题的结果。</a:t>
            </a:r>
          </a:p>
          <a:p/>
          <a:p/>
          <a:p>
            <a:r>
              <a:t>## 九、要不要为每条流程设计一个 Agent</a:t>
            </a:r>
          </a:p>
          <a:p/>
          <a:p>
            <a:r>
              <a:t>看到商品推荐、订单查询和售后处理，有人可能会自然地想到：</a:t>
            </a:r>
          </a:p>
          <a:p/>
          <a:p>
            <a:r>
              <a:t>&gt; 每条业务都做成一个独立 Agent，再让一个主 Agent 管理它们。</a:t>
            </a:r>
          </a:p>
          <a:p/>
          <a:p>
            <a:r>
              <a:t>技术上可以这样做，但这个项目没有必要一开始就做成多个自主 Agent。</a:t>
            </a:r>
          </a:p>
          <a:p/>
          <a:p>
            <a:r>
              <a:t>因为这些业务的处理目标和步骤相对明确：</a:t>
            </a:r>
          </a:p>
          <a:p/>
          <a:p>
            <a:r>
              <a:t>- 订单查询有固定的数据来源和结果。</a:t>
            </a:r>
          </a:p>
          <a:p>
            <a:r>
              <a:t>- 售后处理有明确的字段、政策与提交步骤。</a:t>
            </a:r>
          </a:p>
          <a:p>
            <a:r>
              <a:t>- 商品推荐有相对清楚的查询和筛选过程。</a:t>
            </a:r>
          </a:p>
          <a:p/>
          <a:p>
            <a:r>
              <a:t>它们更适合先做成可控的业务工作流。</a:t>
            </a:r>
          </a:p>
          <a:p/>
          <a:p>
            <a:r>
              <a:t>主流程负责识别和调度，子流程负责执行。这样更容易：</a:t>
            </a:r>
          </a:p>
          <a:p/>
          <a:p>
            <a:r>
              <a:t>- 看清每一步发生了什么。</a:t>
            </a:r>
          </a:p>
          <a:p>
            <a:r>
              <a:t>- 控制哪些操作可以执行。</a:t>
            </a:r>
          </a:p>
          <a:p>
            <a:r>
              <a:t>- 定位错误发生在哪个环节。</a:t>
            </a:r>
          </a:p>
          <a:p>
            <a:r>
              <a:t>- 对关键业务状态进行记录。</a:t>
            </a:r>
          </a:p>
          <a:p>
            <a:r>
              <a:t>- 做针对性的测试。</a:t>
            </a:r>
          </a:p>
          <a:p/>
          <a:p>
            <a:r>
              <a:t>只有当某个任务需要自主制定计划、反复选择工具，并且处理路径难以提前确定时，才更有必要考虑独立 Agent。</a:t>
            </a:r>
          </a:p>
          <a:p/>
          <a:p>
            <a:r>
              <a:t>这个项目的重点不是 Agent 数量，而是多条业务流程能否可靠协同。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第七节：人工接管与客服工作台</a:t>
            </a:r>
          </a:p>
          <a:p/>
          <a:p>
            <a:r>
              <a:t>前面我们一直在讨论 AI 怎样处理问题，但一个真实的客服产品不能只设计“AI 成功处理”的路径。</a:t>
            </a:r>
          </a:p>
          <a:p/>
          <a:p>
            <a:r>
              <a:t>用户可能明确要求人工，也可能遇到系统权限之外的问题：</a:t>
            </a:r>
          </a:p>
          <a:p/>
          <a:p>
            <a:r>
              <a:t>&gt; “你别再问了，直接转人工。”  </a:t>
            </a:r>
          </a:p>
          <a:p>
            <a:r>
              <a:t>&gt; “平台显示已经退款，但银行卡没有收到。”  </a:t>
            </a:r>
          </a:p>
          <a:p>
            <a:r>
              <a:t>&gt; “你们的两份售后规则为什么不一样？”  </a:t>
            </a:r>
          </a:p>
          <a:p>
            <a:r>
              <a:t>&gt; “这个问题已经解决三次都没解决。”</a:t>
            </a:r>
          </a:p>
          <a:p/>
          <a:p>
            <a:r>
              <a:t>所以，转人工不是 AI 客服失败后的临时补丁，而是完整服务流程的一部分。</a:t>
            </a:r>
          </a:p>
          <a:p/>
          <a:p>
            <a:r>
              <a:t>这一节重点解决两个问题：</a:t>
            </a:r>
          </a:p>
          <a:p/>
          <a:p>
            <a:r>
              <a:t>1. 什么情况下应该转人工？</a:t>
            </a:r>
          </a:p>
          <a:p>
            <a:r>
              <a:t>2. 转过去以后，人工客服应该看到什么？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一、哪些问题应该转人工</a:t>
            </a:r>
          </a:p>
          <a:p/>
          <a:p>
            <a:r>
              <a:t>不能把所有复杂问题都转给人工，否则 AI 只能处理最简单的问答。</a:t>
            </a:r>
          </a:p>
          <a:p/>
          <a:p>
            <a:r>
              <a:t>但也不能为了提高自动解决率，强行让 AI 继续处理超出能力和权限的问题。</a:t>
            </a:r>
          </a:p>
          <a:p/>
          <a:p>
            <a:r>
              <a:t>可以从六类情况判断。</a:t>
            </a:r>
          </a:p>
          <a:p/>
          <a:p>
            <a:r>
              <a:t>### 1. 用户明确要求人工</a:t>
            </a:r>
          </a:p>
          <a:p/>
          <a:p>
            <a:r>
              <a:t>&gt; “给我转人工。”  </a:t>
            </a:r>
          </a:p>
          <a:p>
            <a:r>
              <a:t>&gt; “我不想再跟机器人说了。”</a:t>
            </a:r>
          </a:p>
          <a:p/>
          <a:p>
            <a:r>
              <a:t>如果用户已经明确提出要求，系统通常不应该继续用多轮话术阻止转接。</a:t>
            </a:r>
          </a:p>
          <a:p/>
          <a:p>
            <a:r>
              <a:t>可以简单确认：</a:t>
            </a:r>
          </a:p>
          <a:p/>
          <a:p>
            <a:r>
              <a:t>&gt; “好的，我正在为你转接人工客服。刚才的订单和问题信息会一并转交。”</a:t>
            </a:r>
          </a:p>
          <a:p/>
          <a:p>
            <a:r>
              <a:t>### 2. 多次澄清仍无法理解</a:t>
            </a:r>
          </a:p>
          <a:p/>
          <a:p>
            <a:r>
              <a:t>例如：</a:t>
            </a:r>
          </a:p>
          <a:p/>
          <a:p>
            <a:r>
              <a:t>&gt; 用户：这个就是不行。  </a:t>
            </a:r>
          </a:p>
          <a:p>
            <a:r>
              <a:t>&gt; 系统：你是指商品无法使用，还是想申请退货？  </a:t>
            </a:r>
          </a:p>
          <a:p>
            <a:r>
              <a:t>&gt; 用户：就是之前那个问题，我都说过了。</a:t>
            </a:r>
          </a:p>
          <a:p/>
          <a:p>
            <a:r>
              <a:t>系统已经尝试澄清，但仍无法确定用户诉求。继续追问只会让体验更差。</a:t>
            </a:r>
          </a:p>
          <a:p/>
          <a:p>
            <a:r>
              <a:t>### 3. 缺少可靠依据</a:t>
            </a:r>
          </a:p>
          <a:p/>
          <a:p>
            <a:r>
              <a:t>例如：</a:t>
            </a:r>
          </a:p>
          <a:p/>
          <a:p>
            <a:r>
              <a:t>- 知识库中没有适用政策。</a:t>
            </a:r>
          </a:p>
          <a:p>
            <a:r>
              <a:t>- 两份政策内容互相冲突。</a:t>
            </a:r>
          </a:p>
          <a:p>
            <a:r>
              <a:t>- 商品系统和订单系统状态不一致。</a:t>
            </a:r>
          </a:p>
          <a:p>
            <a:r>
              <a:t>- 用户的情况不符合现有处理规则。</a:t>
            </a:r>
          </a:p>
          <a:p/>
          <a:p>
            <a:r>
              <a:t>这时 AI 不能根据常识自行补充一条规则。</a:t>
            </a:r>
          </a:p>
          <a:p/>
          <a:p>
            <a:r>
              <a:t>### 4. 超出系统权限</a:t>
            </a:r>
          </a:p>
          <a:p/>
          <a:p>
            <a:r>
              <a:t>例如：</a:t>
            </a:r>
          </a:p>
          <a:p/>
          <a:p>
            <a:r>
              <a:t>- 用户要求额外补偿。</a:t>
            </a:r>
          </a:p>
          <a:p>
            <a:r>
              <a:t>- 需要修改已经发货订单的地址。</a:t>
            </a:r>
          </a:p>
          <a:p>
            <a:r>
              <a:t>- 需要特殊退款。</a:t>
            </a:r>
          </a:p>
          <a:p>
            <a:r>
              <a:t>- 需要取消已经进入处理阶段的售后申请。</a:t>
            </a:r>
          </a:p>
          <a:p/>
          <a:p>
            <a:r>
              <a:t>AI 可以收集信息、解释现状，但最终决定需要由有权限的人完成。</a:t>
            </a:r>
          </a:p>
          <a:p/>
          <a:p>
            <a:r>
              <a:t>### 5. 高风险或强烈投诉</a:t>
            </a:r>
          </a:p>
          <a:p/>
          <a:p>
            <a:r>
              <a:t>例如：</a:t>
            </a:r>
          </a:p>
          <a:p/>
          <a:p>
            <a:r>
              <a:t>&gt; “如果你们不处理，我马上投诉。”  </a:t>
            </a:r>
          </a:p>
          <a:p>
            <a:r>
              <a:t>&gt; “商品使用后导致我受伤。”  </a:t>
            </a:r>
          </a:p>
          <a:p>
            <a:r>
              <a:t>&gt; “我怀疑有人盗用了我的账户。”</a:t>
            </a:r>
          </a:p>
          <a:p/>
          <a:p>
            <a:r>
              <a:t>这类问题不仅是普通客服问题，还可能涉及安全、合规和投诉处理。</a:t>
            </a:r>
          </a:p>
          <a:p/>
          <a:p>
            <a:r>
              <a:t>### 6. 系统无法继续工作</a:t>
            </a:r>
          </a:p>
          <a:p/>
          <a:p>
            <a:r>
              <a:t>例如：</a:t>
            </a:r>
          </a:p>
          <a:p/>
          <a:p>
            <a:r>
              <a:t>- 订单接口持续失败。</a:t>
            </a:r>
          </a:p>
          <a:p>
            <a:r>
              <a:t>- 售后申请结果无法确认。</a:t>
            </a:r>
          </a:p>
          <a:p>
            <a:r>
              <a:t>- 用户身份验证不通过。</a:t>
            </a:r>
          </a:p>
          <a:p>
            <a:r>
              <a:t>- 关键业务系统不可用。</a:t>
            </a:r>
          </a:p>
          <a:p/>
          <a:p>
            <a:r>
              <a:t>此时转人工不是让人工重新尝试相同接口，而是让人工使用其他处理渠道或发起后续跟进。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二、转人工之前要告诉用户什么</a:t>
            </a:r>
          </a:p>
          <a:p/>
          <a:p>
            <a:r>
              <a:t>很多客服系统只回复一句：</a:t>
            </a:r>
          </a:p>
          <a:p/>
          <a:p>
            <a:r>
              <a:t>&gt; “正在为您转接人工客服。”</a:t>
            </a:r>
          </a:p>
          <a:p/>
          <a:p>
            <a:r>
              <a:t>但用户不知道：</a:t>
            </a:r>
          </a:p>
          <a:p/>
          <a:p>
            <a:r>
              <a:t>- 是否已经开始排队。</a:t>
            </a:r>
          </a:p>
          <a:p>
            <a:r>
              <a:t>- 预计要等多久。</a:t>
            </a:r>
          </a:p>
          <a:p>
            <a:r>
              <a:t>- 刚才的信息会不会丢失。</a:t>
            </a:r>
          </a:p>
          <a:p>
            <a:r>
              <a:t>- 是否需要留在当前页面。</a:t>
            </a:r>
          </a:p>
          <a:p>
            <a:r>
              <a:t>- 人工客服是否真的能处理这个问题。</a:t>
            </a:r>
          </a:p>
          <a:p/>
          <a:p>
            <a:r>
              <a:t>比较完整的回复可以是：</a:t>
            </a:r>
          </a:p>
          <a:p/>
          <a:p>
            <a:r>
              <a:t>&gt; “这个问题需要人工进一步核实。我已经整理了订单、售后申请状态和你刚才反馈的情况，会一并转交。当前预计等待 3—5 分钟，你不需要重新描述。”</a:t>
            </a:r>
          </a:p>
          <a:p/>
          <a:p>
            <a:r>
              <a:t>如果人工暂时不在线，可以提供其他选择：</a:t>
            </a:r>
          </a:p>
          <a:p/>
          <a:p>
            <a:r>
              <a:t>- 留下问题，稍后由客服回复。</a:t>
            </a:r>
          </a:p>
          <a:p>
            <a:r>
              <a:t>- 创建服务单。</a:t>
            </a:r>
          </a:p>
          <a:p>
            <a:r>
              <a:t>- 提供客服电话或工作时间。</a:t>
            </a:r>
          </a:p>
          <a:p>
            <a:r>
              <a:t>- 允许用户查看处理进度。</a:t>
            </a:r>
          </a:p>
          <a:p/>
          <a:p>
            <a:r>
              <a:t>转人工本身也需要有明确的产品状态：</a:t>
            </a:r>
          </a:p>
          <a:p/>
          <a:p>
            <a:r>
              <a:t>```text</a:t>
            </a:r>
          </a:p>
          <a:p>
            <a:r>
              <a:t>准备转接</a:t>
            </a:r>
          </a:p>
          <a:p>
            <a:r>
              <a:t>正在排队</a:t>
            </a:r>
          </a:p>
          <a:p>
            <a:r>
              <a:t>已经接入</a:t>
            </a:r>
          </a:p>
          <a:p>
            <a:r>
              <a:t>暂时无人接入</a:t>
            </a:r>
          </a:p>
          <a:p>
            <a:r>
              <a:t>已经创建服务单</a:t>
            </a:r>
          </a:p>
          <a:p>
            <a:r>
              <a:t>转接失败</a:t>
            </a:r>
          </a:p>
          <a:p>
            <a:r>
              <a:t>```</a:t>
            </a:r>
          </a:p>
          <a:p/>
          <a:p>
            <a:r>
              <a:t>不能只有一个无限转圈的加载状态。</a:t>
            </a:r>
          </a:p>
          <a:p/>
          <a:p/>
          <a:p>
            <a:r>
              <a:t>本案例未提供排队估时，不承诺具体等待分钟数。</a:t>
            </a:r>
          </a:p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三、人工客服需要收到哪些信息</a:t>
            </a:r>
          </a:p>
          <a:p/>
          <a:p>
            <a:r>
              <a:t>我们来看一个例子。</a:t>
            </a:r>
          </a:p>
          <a:p/>
          <a:p>
            <a:r>
              <a:t>用户与 AI 已经完成了这些对话：</a:t>
            </a:r>
          </a:p>
          <a:p/>
          <a:p>
            <a:r>
              <a:t>&gt; 用户：耳机右边没声音，想换一个。  </a:t>
            </a:r>
          </a:p>
          <a:p>
            <a:r>
              <a:t>&gt; AI：找到订单 DEMO-101，请问是否是这笔订单？  </a:t>
            </a:r>
          </a:p>
          <a:p>
            <a:r>
              <a:t>&gt; 用户：是。  </a:t>
            </a:r>
          </a:p>
          <a:p>
            <a:r>
              <a:t>&gt; AI：请尝试重新连接和恢复出厂设置。  </a:t>
            </a:r>
          </a:p>
          <a:p>
            <a:r>
              <a:t>&gt; 用户：都试过了，还是不行。  </a:t>
            </a:r>
          </a:p>
          <a:p>
            <a:r>
              <a:t>&gt; AI：请上传故障视频。  </a:t>
            </a:r>
          </a:p>
          <a:p>
            <a:r>
              <a:t>&gt; 用户：我现在没办法拍，直接找人工吧。</a:t>
            </a:r>
          </a:p>
          <a:p/>
          <a:p>
            <a:r>
              <a:t>如果人工接入后只看到：</a:t>
            </a:r>
          </a:p>
          <a:p/>
          <a:p>
            <a:r>
              <a:t>&gt; 用户需要换货。</a:t>
            </a:r>
          </a:p>
          <a:p/>
          <a:p>
            <a:r>
              <a:t>这远远不够。</a:t>
            </a:r>
          </a:p>
          <a:p/>
          <a:p>
            <a:r>
              <a:t>人工客服至少需要看到以下信息。</a:t>
            </a:r>
          </a:p>
          <a:p/>
          <a:p>
            <a:r>
              <a:t>### 1. 用户信息</a:t>
            </a:r>
          </a:p>
          <a:p/>
          <a:p>
            <a:r>
              <a:t>```text</a:t>
            </a:r>
          </a:p>
          <a:p>
            <a:r>
              <a:t>用户：当前登录用户</a:t>
            </a:r>
          </a:p>
          <a:p>
            <a:r>
              <a:t>会员等级：普通会员</a:t>
            </a:r>
          </a:p>
          <a:p>
            <a:r>
              <a:t>联系方式：已隐藏部分号码</a:t>
            </a:r>
          </a:p>
          <a:p>
            <a:r>
              <a:t>```</a:t>
            </a:r>
          </a:p>
          <a:p/>
          <a:p>
            <a:r>
              <a:t>### 2. 当前问题</a:t>
            </a:r>
          </a:p>
          <a:p/>
          <a:p>
            <a:r>
              <a:t>```text</a:t>
            </a:r>
          </a:p>
          <a:p>
            <a:r>
              <a:t>当前诉求：换货</a:t>
            </a:r>
          </a:p>
          <a:p>
            <a:r>
              <a:t>问题商品：无线耳机</a:t>
            </a:r>
          </a:p>
          <a:p>
            <a:r>
              <a:t>故障现象：右耳无声音</a:t>
            </a:r>
          </a:p>
          <a:p>
            <a:r>
              <a:t>```</a:t>
            </a:r>
          </a:p>
          <a:p/>
          <a:p>
            <a:r>
              <a:t>### 3. 关联业务信息</a:t>
            </a:r>
          </a:p>
          <a:p/>
          <a:p>
            <a:r>
              <a:t>```text</a:t>
            </a:r>
          </a:p>
          <a:p>
            <a:r>
              <a:t>订单号：DEMO-101</a:t>
            </a:r>
          </a:p>
          <a:p>
            <a:r>
              <a:t>订单状态：已签收</a:t>
            </a:r>
          </a:p>
          <a:p>
            <a:r>
              <a:t>签收时间：2026 年 9 月 4 日</a:t>
            </a:r>
          </a:p>
          <a:p>
            <a:r>
              <a:t>当前售后申请：尚未提交</a:t>
            </a:r>
          </a:p>
          <a:p>
            <a:r>
              <a:t>```</a:t>
            </a:r>
          </a:p>
          <a:p/>
          <a:p>
            <a:r>
              <a:t>### 4. 已经完成的步骤</a:t>
            </a:r>
          </a:p>
          <a:p/>
          <a:p>
            <a:r>
              <a:t>```text</a:t>
            </a:r>
          </a:p>
          <a:p>
            <a:r>
              <a:t>已确认订单</a:t>
            </a:r>
          </a:p>
          <a:p>
            <a:r>
              <a:t>已尝试重新连接</a:t>
            </a:r>
          </a:p>
          <a:p>
            <a:r>
              <a:t>已尝试恢复出厂设置</a:t>
            </a:r>
          </a:p>
          <a:p>
            <a:r>
              <a:t>尚未上传故障视频</a:t>
            </a:r>
          </a:p>
          <a:p>
            <a:r>
              <a:t>```</a:t>
            </a:r>
          </a:p>
          <a:p/>
          <a:p>
            <a:r>
              <a:t>### 5. 转人工原因</a:t>
            </a:r>
          </a:p>
          <a:p/>
          <a:p>
            <a:r>
              <a:t>```text</a:t>
            </a:r>
          </a:p>
          <a:p>
            <a:r>
              <a:t>用户明确要求人工</a:t>
            </a:r>
          </a:p>
          <a:p>
            <a:r>
              <a:t>当前缺少故障视频</a:t>
            </a:r>
          </a:p>
          <a:p>
            <a:r>
              <a:t>AI 尚未执行任何售后提交操作</a:t>
            </a:r>
          </a:p>
          <a:p>
            <a:r>
              <a:t>```</a:t>
            </a:r>
          </a:p>
          <a:p/>
          <a:p>
            <a:r>
              <a:t>### 6. 建议的下一步</a:t>
            </a:r>
          </a:p>
          <a:p/>
          <a:p>
            <a:r>
              <a:t>```text</a:t>
            </a:r>
          </a:p>
          <a:p>
            <a:r>
              <a:t>人工核实是否可以暂缓材料提交</a:t>
            </a:r>
          </a:p>
          <a:p>
            <a:r>
              <a:t>确认后决定继续换货申请或创建服务单</a:t>
            </a:r>
          </a:p>
          <a:p>
            <a:r>
              <a:t>```</a:t>
            </a:r>
          </a:p>
          <a:p/>
          <a:p>
            <a:r>
              <a:t>人工看到这些信息后，就可以直接继续处理，而不是再次问：</a:t>
            </a:r>
          </a:p>
          <a:p/>
          <a:p>
            <a:r>
              <a:t>&gt; “请问你遇到了什么问题？”</a:t>
            </a:r>
          </a:p>
          <a:p/>
          <a:p/>
          <a:p>
            <a:r>
              <a:t>## 四、不能只把聊天记录扔给人工</a:t>
            </a:r>
          </a:p>
          <a:p/>
          <a:p>
            <a:r>
              <a:t>一种很常见的产品设计是：</a:t>
            </a:r>
          </a:p>
          <a:p/>
          <a:p>
            <a:r>
              <a:t>&gt; 转人工后，把前面几十轮聊天记录完整展示给客服。</a:t>
            </a:r>
          </a:p>
          <a:p/>
          <a:p>
            <a:r>
              <a:t>这当然比完全看不到历史好，但仍然不够。</a:t>
            </a:r>
          </a:p>
          <a:p/>
          <a:p>
            <a:r>
              <a:t>人工需要自己从大量对话中寻找：</a:t>
            </a:r>
          </a:p>
          <a:p/>
          <a:p>
            <a:r>
              <a:t>- 用户到底要什么。</a:t>
            </a:r>
          </a:p>
          <a:p>
            <a:r>
              <a:t>- 对应哪一笔订单。</a:t>
            </a:r>
          </a:p>
          <a:p>
            <a:r>
              <a:t>- 系统已经做过什么。</a:t>
            </a:r>
          </a:p>
          <a:p>
            <a:r>
              <a:t>- 哪一步没有完成。</a:t>
            </a:r>
          </a:p>
          <a:p>
            <a:r>
              <a:t>- 是否已经产生业务操作。</a:t>
            </a:r>
          </a:p>
          <a:p/>
          <a:p>
            <a:r>
              <a:t>如果每次都要重新阅读完整对话，转人工虽然减少了用户重复描述，却没有真正减少客服的工作。</a:t>
            </a:r>
          </a:p>
          <a:p/>
          <a:p>
            <a:r>
              <a:t>比较合理的方式是同时提供两部分：</a:t>
            </a:r>
          </a:p>
          <a:p/>
          <a:p>
            <a:r>
              <a:t>1. 原始聊天记录：方便查看具体表达。</a:t>
            </a:r>
          </a:p>
          <a:p>
            <a:r>
              <a:t>2. 结构化交接信息：帮助客服快速接手。</a:t>
            </a:r>
          </a:p>
          <a:p/>
          <a:p>
            <a:r>
              <a:t>结构化信息是为了提高处理效率，原始记录是为了核对事实和理解语气。</a:t>
            </a:r>
          </a:p>
          <a:p/>
          <a:p/>
          <a:p>
            <a:r>
              <a:t>签收日期统一为 9 月 4 日；完整聊天记录同时保留。</a:t>
            </a:r>
          </a:p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五、客服工作台应该怎样组织</a:t>
            </a:r>
          </a:p>
          <a:p/>
          <a:p>
            <a:r>
              <a:t>人工客服接入后，通常需要同时查看对话、订单、商品、售后和系统建议。</a:t>
            </a:r>
          </a:p>
          <a:p/>
          <a:p>
            <a:r>
              <a:t>课堂上可以先把客服工作台分成四个区域。</a:t>
            </a:r>
          </a:p>
          <a:p/>
          <a:p>
            <a:r>
              <a:t>### 区域一：用户与当前任务</a:t>
            </a:r>
          </a:p>
          <a:p/>
          <a:p>
            <a:r>
              <a:t>显示：</a:t>
            </a:r>
          </a:p>
          <a:p/>
          <a:p>
            <a:r>
              <a:t>- 用户身份。</a:t>
            </a:r>
          </a:p>
          <a:p>
            <a:r>
              <a:t>- 当前问题类型。</a:t>
            </a:r>
          </a:p>
          <a:p>
            <a:r>
              <a:t>- 紧急程度。</a:t>
            </a:r>
          </a:p>
          <a:p>
            <a:r>
              <a:t>- 是否为重复咨询。</a:t>
            </a:r>
          </a:p>
          <a:p>
            <a:r>
              <a:t>- 当前等待时长。</a:t>
            </a:r>
          </a:p>
          <a:p/>
          <a:p>
            <a:r>
              <a:t>让客服一眼知道“这是哪个用户、在处理什么事”。</a:t>
            </a:r>
          </a:p>
          <a:p/>
          <a:p>
            <a:r>
              <a:t>### 区域二：完整对话</a:t>
            </a:r>
          </a:p>
          <a:p/>
          <a:p>
            <a:r>
              <a:t>保留用户与 AI 的原始聊天记录。</a:t>
            </a:r>
          </a:p>
          <a:p/>
          <a:p>
            <a:r>
              <a:t>重要消息可以进行标记，例如：</a:t>
            </a:r>
          </a:p>
          <a:p/>
          <a:p>
            <a:r>
              <a:t>- 用户明确诉求。</a:t>
            </a:r>
          </a:p>
          <a:p>
            <a:r>
              <a:t>- 订单选择结果。</a:t>
            </a:r>
          </a:p>
          <a:p>
            <a:r>
              <a:t>- 用户确认。</a:t>
            </a:r>
          </a:p>
          <a:p>
            <a:r>
              <a:t>- AI 已经调用的业务操作。</a:t>
            </a:r>
          </a:p>
          <a:p>
            <a:r>
              <a:t>- 接口错误。</a:t>
            </a:r>
          </a:p>
          <a:p/>
          <a:p>
            <a:r>
              <a:t>### 区域三：业务信息与交接摘要</a:t>
            </a:r>
          </a:p>
          <a:p/>
          <a:p>
            <a:r>
              <a:t>集中展示：</a:t>
            </a:r>
          </a:p>
          <a:p/>
          <a:p>
            <a:r>
              <a:t>- 订单信息。</a:t>
            </a:r>
          </a:p>
          <a:p>
            <a:r>
              <a:t>- 商品信息。</a:t>
            </a:r>
          </a:p>
          <a:p>
            <a:r>
              <a:t>- 售后申请状态。</a:t>
            </a:r>
          </a:p>
          <a:p>
            <a:r>
              <a:t>- 已收集字段。</a:t>
            </a:r>
          </a:p>
          <a:p>
            <a:r>
              <a:t>- 已尝试操作。</a:t>
            </a:r>
          </a:p>
          <a:p>
            <a:r>
              <a:t>- 转人工原因。</a:t>
            </a:r>
          </a:p>
          <a:p>
            <a:r>
              <a:t>- 尚未解决的问题。</a:t>
            </a:r>
          </a:p>
          <a:p/>
          <a:p>
            <a:r>
              <a:t>### 区域四：人工操作区</a:t>
            </a:r>
          </a:p>
          <a:p/>
          <a:p>
            <a:r>
              <a:t>客服可以在这里：</a:t>
            </a:r>
          </a:p>
          <a:p/>
          <a:p>
            <a:r>
              <a:t>- 回复用户。</a:t>
            </a:r>
          </a:p>
          <a:p>
            <a:r>
              <a:t>- 查询订单。</a:t>
            </a:r>
          </a:p>
          <a:p>
            <a:r>
              <a:t>- 创建或修改服务单。</a:t>
            </a:r>
          </a:p>
          <a:p>
            <a:r>
              <a:t>- 发起退款、退货或换货。</a:t>
            </a:r>
          </a:p>
          <a:p>
            <a:r>
              <a:t>- 添加备注。</a:t>
            </a:r>
          </a:p>
          <a:p>
            <a:r>
              <a:t>- 调整问题分类。</a:t>
            </a:r>
          </a:p>
          <a:p>
            <a:r>
              <a:t>- 结束会话。</a:t>
            </a:r>
          </a:p>
          <a:p/>
          <a:p>
            <a:r>
              <a:t>高风险操作仍然需要人工明确点击确认，不能因为 AI 生成了建议就自动执行。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六、AI 在人工工作台里还能做什么</a:t>
            </a:r>
          </a:p>
          <a:p/>
          <a:p>
            <a:r>
              <a:t>转人工并不意味着 AI 完全退出。</a:t>
            </a:r>
          </a:p>
          <a:p/>
          <a:p>
            <a:r>
              <a:t>AI 可以继续帮助人工客服：</a:t>
            </a:r>
          </a:p>
          <a:p/>
          <a:p>
            <a:r>
              <a:t>- 总结当前问题。</a:t>
            </a:r>
          </a:p>
          <a:p>
            <a:r>
              <a:t>- 从对话中提取订单号和故障信息。</a:t>
            </a:r>
          </a:p>
          <a:p>
            <a:r>
              <a:t>- 查找可能适用的政策。</a:t>
            </a:r>
          </a:p>
          <a:p>
            <a:r>
              <a:t>- 推荐下一步处理动作。</a:t>
            </a:r>
          </a:p>
          <a:p>
            <a:r>
              <a:t>- 根据处理结果生成回复草稿。</a:t>
            </a:r>
          </a:p>
          <a:p>
            <a:r>
              <a:t>- 提醒缺少哪些必要信息。</a:t>
            </a:r>
          </a:p>
          <a:p>
            <a:r>
              <a:t>- 检查回复是否与业务状态一致。</a:t>
            </a:r>
          </a:p>
          <a:p/>
          <a:p>
            <a:r>
              <a:t>但这里需要区分“建议”和“执行”。</a:t>
            </a:r>
          </a:p>
          <a:p/>
          <a:p>
            <a:r>
              <a:t>例如 AI 可以提示：</a:t>
            </a:r>
          </a:p>
          <a:p/>
          <a:p>
            <a:r>
              <a:t>&gt; “该订单可能符合换货条件，仍需补充故障证明。”</a:t>
            </a:r>
          </a:p>
          <a:p/>
          <a:p>
            <a:r>
              <a:t>但最终是否创建换货申请，应由人工客服确认。</a:t>
            </a:r>
          </a:p>
          <a:p/>
          <a:p>
            <a:r>
              <a:t>工作台上可以明确显示：</a:t>
            </a:r>
          </a:p>
          <a:p/>
          <a:p>
            <a:r>
              <a:t>```text</a:t>
            </a:r>
          </a:p>
          <a:p>
            <a:r>
              <a:t>AI 建议</a:t>
            </a:r>
          </a:p>
          <a:p>
            <a:r>
              <a:t>适用依据</a:t>
            </a:r>
          </a:p>
          <a:p>
            <a:r>
              <a:t>待确认信息</a:t>
            </a:r>
          </a:p>
          <a:p>
            <a:r>
              <a:t>人工操作</a:t>
            </a:r>
          </a:p>
          <a:p>
            <a:r>
              <a:t>```</a:t>
            </a:r>
          </a:p>
          <a:p/>
          <a:p>
            <a:r>
              <a:t>不能把 AI 生成的内容伪装成已经确认的业务结论。</a:t>
            </a:r>
          </a:p>
          <a:p/>
          <a:p/>
          <a:p>
            <a:r>
              <a:t>## 七、人工修改的信息怎样返回系统</a:t>
            </a:r>
          </a:p>
          <a:p/>
          <a:p>
            <a:r>
              <a:t>假设 AI 把用户问题识别成“退货”，人工客服发现用户真正想要的是“价格保护”。</a:t>
            </a:r>
          </a:p>
          <a:p/>
          <a:p>
            <a:r>
              <a:t>如果人工只是处理完问题，然后结束会话，系统不会知道自己之前判断错了。</a:t>
            </a:r>
          </a:p>
          <a:p/>
          <a:p>
            <a:r>
              <a:t>因此，人工处理结束后，可以记录少量关键信息：</a:t>
            </a:r>
          </a:p>
          <a:p/>
          <a:p>
            <a:r>
              <a:t>```text</a:t>
            </a:r>
          </a:p>
          <a:p>
            <a:r>
              <a:t>AI 判断：退货</a:t>
            </a:r>
          </a:p>
          <a:p>
            <a:r>
              <a:t>人工修正：价格保护</a:t>
            </a:r>
          </a:p>
          <a:p>
            <a:r>
              <a:t>错误原因：用户表达中包含“不想吃亏”，被误判为退货</a:t>
            </a:r>
          </a:p>
          <a:p>
            <a:r>
              <a:t>最终处理结果：创建价格保护服务单</a:t>
            </a:r>
          </a:p>
          <a:p>
            <a:r>
              <a:t>```</a:t>
            </a:r>
          </a:p>
          <a:p/>
          <a:p>
            <a:r>
              <a:t>这些信息后续可以用于：</a:t>
            </a:r>
          </a:p>
          <a:p/>
          <a:p>
            <a:r>
              <a:t>- 发现经常被误判的用户表达。</a:t>
            </a:r>
          </a:p>
          <a:p>
            <a:r>
              <a:t>- 补充测试案例。</a:t>
            </a:r>
          </a:p>
          <a:p>
            <a:r>
              <a:t>- 修改意图判断提示词。</a:t>
            </a:r>
          </a:p>
          <a:p>
            <a:r>
              <a:t>- 调整业务分类。</a:t>
            </a:r>
          </a:p>
          <a:p>
            <a:r>
              <a:t>- 完善知识库。</a:t>
            </a:r>
          </a:p>
          <a:p>
            <a:r>
              <a:t>- 判断哪些问题应该更早转人工。</a:t>
            </a:r>
          </a:p>
          <a:p/>
          <a:p>
            <a:r>
              <a:t>这一节只需要让学员知道这些信息应该被记录，不需要重新展开第九课的完整评测方法。</a:t>
            </a:r>
          </a:p>
          <a:p/>
          <a:p/>
          <a:p>
            <a:r>
              <a:t>## 九、怎样检查人工接管是否设计完整</a:t>
            </a:r>
          </a:p>
          <a:p/>
          <a:p>
            <a:r>
              <a:t>可以使用下面几组情况进行检查。</a:t>
            </a:r>
          </a:p>
          <a:p/>
          <a:p>
            <a:r>
              <a:t>### 情况一：用户主动要求人工</a:t>
            </a:r>
          </a:p>
          <a:p/>
          <a:p>
            <a:r>
              <a:t>检查系统是否及时转接，而不是不断劝用户继续与 AI 对话。</a:t>
            </a:r>
          </a:p>
          <a:p/>
          <a:p>
            <a:r>
              <a:t>### 情况二：AI 多次无法理解</a:t>
            </a:r>
          </a:p>
          <a:p/>
          <a:p>
            <a:r>
              <a:t>检查是否设置合理的澄清次数，避免无限追问。</a:t>
            </a:r>
          </a:p>
          <a:p/>
          <a:p>
            <a:r>
              <a:t>### 情况三：涉及高风险操作</a:t>
            </a:r>
          </a:p>
          <a:p/>
          <a:p>
            <a:r>
              <a:t>检查 AI 是否只提供建议，没有越权执行。</a:t>
            </a:r>
          </a:p>
          <a:p/>
          <a:p>
            <a:r>
              <a:t>### 情况四：转人工时已有业务状态</a:t>
            </a:r>
          </a:p>
          <a:p/>
          <a:p>
            <a:r>
              <a:t>检查人工是否知道：</a:t>
            </a:r>
          </a:p>
          <a:p/>
          <a:p>
            <a:r>
              <a:t>- 哪些操作已经执行。</a:t>
            </a:r>
          </a:p>
          <a:p>
            <a:r>
              <a:t>- 哪些操作没有执行。</a:t>
            </a:r>
          </a:p>
          <a:p>
            <a:r>
              <a:t>- 哪些结果仍然待确认。</a:t>
            </a:r>
          </a:p>
          <a:p/>
          <a:p>
            <a:r>
              <a:t>### 情况五：人工暂时不可用</a:t>
            </a:r>
          </a:p>
          <a:p/>
          <a:p>
            <a:r>
              <a:t>检查是否提供留言、服务单或其他联系渠道。</a:t>
            </a:r>
          </a:p>
          <a:p/>
          <a:p>
            <a:r>
              <a:t>### 情况六：人工完成处理</a:t>
            </a:r>
          </a:p>
          <a:p/>
          <a:p>
            <a:r>
              <a:t>检查最终分类、处理结果和修正信息是否被记录。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第八节：个人项目选题与课后作业</a:t>
            </a:r>
          </a:p>
          <a:p/>
          <a:p>
            <a:r>
              <a:t>本节大约 10—15 分钟，让学员明确三件事：回去做什么、做到什么程度、下次怎么点评。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一、把今天的公共项目换成自己的业务场景</a:t>
            </a:r>
          </a:p>
          <a:p/>
          <a:p>
            <a:r>
              <a:t>可以先对学员说：</a:t>
            </a:r>
          </a:p>
          <a:p/>
          <a:p>
            <a:r>
              <a:t>&gt; 今天我们一起拆解了电商智能客服。课后，你需要选择一个自己熟悉的场景，完成自己的客服项目方案，并用 Coze 把至少一条核心业务流程搭出来、实际运行和测试。</a:t>
            </a:r>
          </a:p>
          <a:p>
            <a:r>
              <a:t>&gt;</a:t>
            </a:r>
          </a:p>
          <a:p>
            <a:r>
              <a:t>&gt; 可以继续做电商，也可以选择你所在行业的场景。关键是你能说清楚用户遇到了什么问题，以及这件事实际应该怎么处理。</a:t>
            </a:r>
          </a:p>
          <a:p/>
          <a:p>
            <a:r>
              <a:t>给出一些可选方向，帮助学员对号入座：</a:t>
            </a:r>
          </a:p>
          <a:p/>
          <a:p>
            <a:r>
              <a:t>| 业务场景 | 用户可能提出的问题 | 可以完成的核心流程 |</a:t>
            </a:r>
          </a:p>
          <a:p>
            <a:r>
              <a:t>|---|---|---|</a:t>
            </a:r>
          </a:p>
          <a:p>
            <a:r>
              <a:t>| 电商 | “耳机坏了，我想换货。” | 确认订单、收集故障信息、登记售后申请 |</a:t>
            </a:r>
          </a:p>
          <a:p>
            <a:r>
              <a:t>| 教育培训 | “周六的课上不了，能调课吗？” | 查询报名、了解调课要求、登记申请 |</a:t>
            </a:r>
          </a:p>
          <a:p>
            <a:r>
              <a:t>| 企业软件 | “账号登录不上去了。” | 了解故障、查询解决方法、创建服务单 |</a:t>
            </a:r>
          </a:p>
          <a:p>
            <a:r>
              <a:t>| 家电服务 | “洗衣机不排水了，能上门维修吗？” | 确认设备、收集故障、登记维修需求 |</a:t>
            </a:r>
          </a:p>
          <a:p>
            <a:r>
              <a:t>| 物流服务 | “快递三天没动了，帮我查一下。” | 查询运单、说明状态、登记异常跟进 |</a:t>
            </a:r>
          </a:p>
          <a:p>
            <a:r>
              <a:t>| 酒店住宿 | “订好的房间想往后延一天。” | 查询预订、核实变更条件、登记或转交处理 |</a:t>
            </a:r>
          </a:p>
          <a:p/>
          <a:p>
            <a:r>
              <a:t>选题时优先考虑自己熟悉、能准备资料的业务。不必追求场景特别新，能把实际处理过程讲清楚更重要。</a:t>
            </a:r>
          </a:p>
          <a:p/>
          <a:p>
            <a:r>
              <a:t>个人项目需要体现你所选场景的用户、业务规则、数据和处理步骤。可以借鉴公共项目的方法，但只替换商品或项目名称，不算完成了自己的项目。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二、这次只完成一条核心流程</a:t>
            </a:r>
          </a:p>
          <a:p/>
          <a:p>
            <a:r>
              <a:t>这里要给学员明确减负：</a:t>
            </a:r>
          </a:p>
          <a:p/>
          <a:p>
            <a:r>
              <a:t>&gt; 今天展示了一个客服产品可以包含哪些部分，但你这次作业先完成其中一条核心流程即可。</a:t>
            </a:r>
          </a:p>
          <a:p/>
          <a:p>
            <a:r>
              <a:t>例如选择家电维修，第一版可以做到：</a:t>
            </a:r>
          </a:p>
          <a:p/>
          <a:p>
            <a:r>
              <a:t>&gt; 用户描述故障 → 确认设备信息 → 查询适用的基础排查方法 → 问题仍未解决 → 收集预约信息 → 用户确认 → 模拟生成维修需求单。</a:t>
            </a:r>
          </a:p>
          <a:p/>
          <a:p>
            <a:r>
              <a:t>做到“维修需求已登记”就可以结束，不必同时开发师傅派单、上门定位、维修报价和支付。</a:t>
            </a:r>
          </a:p>
          <a:p/>
          <a:p>
            <a:r>
              <a:t>最终的核心流程要实际运行：根据模拟业务数据完成查询、必要的信息收集或申请登记，并返回明确结果。只上传一份资料，让机器人解释“怎样报修”，还没有完成本次项目要求。若选择查询类项目，应完成对象确认、准确查询和相应异常处理；若选择申请类项目，还要完成确认及模拟登记，不必让所有项目都包含写入操作。</a:t>
            </a:r>
          </a:p>
          <a:p/>
          <a:p>
            <a:r>
              <a:t>同时，要写清楚完成状态：</a:t>
            </a:r>
          </a:p>
          <a:p/>
          <a:p>
            <a:r>
              <a:t>&gt; “需求已登记，等待工作人员联系”与“预约成功，师傅明天上门”是不同的承诺。系统实际做到哪一步，就返回哪一步的结果。</a:t>
            </a:r>
          </a:p>
          <a:p/>
          <a:p/>
          <a:p>
            <a:r>
              <a:t>## 三、先准备材料，再去 Coze 搭建</a:t>
            </a:r>
          </a:p>
          <a:p/>
          <a:p>
            <a:r>
              <a:t>学员动手之前，先准备三样东西：</a:t>
            </a:r>
          </a:p>
          <a:p/>
          <a:p>
            <a:r>
              <a:t>- **业务资料：**商品介绍、服务规则、故障排查说明等，只准备这条流程需要的内容。</a:t>
            </a:r>
          </a:p>
          <a:p>
            <a:r>
              <a:t>- **模拟数据：**几条订单、报名、设备或预订记录，让查询有具体对象。</a:t>
            </a:r>
          </a:p>
          <a:p>
            <a:r>
              <a:t>- **流程图：**每一步需要什么信息、缺少信息怎么问、满足条件后做什么、无法处理时怎么办。</a:t>
            </a:r>
          </a:p>
          <a:p/>
          <a:p>
            <a:r>
              <a:t>比如做调课助手，至少要有几条模拟报名记录和一份明确的调课规则。没有这些材料，即使助手能流畅对话，也很难判断它处理得对不对。</a:t>
            </a:r>
          </a:p>
          <a:p/>
          <a:p>
            <a:r>
              <a:t>涉及客户或公司的真实资料时，作业使用虚构或脱敏后的数据即可。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>
            <a:r>
              <a:t>## 五、下次课怎么点评</a:t>
            </a:r>
          </a:p>
          <a:p/>
          <a:p>
            <a:r>
              <a:t>最后告诉学员，我们会沿着同一个顺序看作业：</a:t>
            </a:r>
          </a:p>
          <a:p/>
          <a:p>
            <a:r>
              <a:t>&gt; 先看业务是否说得清楚，再看流程能否完成任务，最后看用户改口或者系统出错时，产品怎样继续处理。</a:t>
            </a:r>
          </a:p>
          <a:p/>
          <a:p>
            <a:r>
              <a:t>不会按节点数量或者提示词长度判断项目好坏。</a:t>
            </a:r>
          </a:p>
          <a:p/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/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/>
          <a:p>
            <a:r>
              <a:t>今天下课前，可以让每位学员先写一句选题：</a:t>
            </a:r>
          </a:p>
          <a:p/>
          <a:p>
            <a:r>
              <a:t>&gt; **我想为哪类用户，解决什么具体问题；这次先把流程做到哪一步。**</a:t>
            </a:r>
          </a:p>
          <a:p/>
          <a:p>
            <a:r>
              <a:t>比如：</a:t>
            </a:r>
          </a:p>
          <a:p/>
          <a:p>
            <a:r>
              <a:t>&gt; 我想为购买家电的用户提供维修咨询，这次先完成从故障描述到维修需求登记的流程。</a:t>
            </a:r>
          </a:p>
          <a:p/>
          <a:p>
            <a:r>
              <a:t>这句话确定下来，他们回去就知道从哪里开始了。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五、下次课怎么点评</a:t>
            </a:r>
          </a:p>
          <a:p/>
          <a:p>
            <a:r>
              <a:t>最后告诉学员，我们会沿着同一个顺序看作业：</a:t>
            </a:r>
          </a:p>
          <a:p/>
          <a:p>
            <a:r>
              <a:t>&gt; 先看业务是否说得清楚，再看流程能否完成任务，最后看用户改口或者系统出错时，产品怎样继续处理。</a:t>
            </a:r>
          </a:p>
          <a:p/>
          <a:p>
            <a:r>
              <a:t>不会按节点数量或者提示词长度判断项目好坏。</a:t>
            </a:r>
          </a:p>
          <a:p/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/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/>
          <a:p>
            <a:r>
              <a:t>今天下课前，可以让每位学员先写一句选题：</a:t>
            </a:r>
          </a:p>
          <a:p/>
          <a:p>
            <a:r>
              <a:t>&gt; **我想为哪类用户，解决什么具体问题；这次先把流程做到哪一步。**</a:t>
            </a:r>
          </a:p>
          <a:p/>
          <a:p>
            <a:r>
              <a:t>比如：</a:t>
            </a:r>
          </a:p>
          <a:p/>
          <a:p>
            <a:r>
              <a:t>&gt; 我想为购买家电的用户提供维修咨询，这次先完成从故障描述到维修需求登记的流程。</a:t>
            </a:r>
          </a:p>
          <a:p/>
          <a:p>
            <a:r>
              <a:t>这句话确定下来，他们回去就知道从哪里开始了。</a:t>
            </a:r>
          </a:p>
          <a:p/>
          <a:p/>
          <a:p>
            <a:r>
              <a:t>## 六、整课收尾</a:t>
            </a:r>
          </a:p>
          <a:p/>
          <a:p>
            <a:r>
              <a:t>最后用两三分钟收尾即可：</a:t>
            </a:r>
          </a:p>
          <a:p/>
          <a:p>
            <a:r>
              <a:t>&gt; 今天我们从电商客服的实际问题出发，设计了整体方案，再逐步展开查询、售后、推荐和人工接管。课后大家选择自己的业务场景，完成项目方案，用 Coze 跑通一条核心流程。下次课带着初版、实际测试结果或具体卡点来点评，点评后继续完善，最终交付可运行的项目、三组实际测试记录和演示录屏。</a:t>
            </a:r>
          </a:p>
          <a:p/>
          <a:p>
            <a:r>
              <a:t>**授课提示：**到第八节，本次课结束，不再增加新知识点。上课时间优先留给第三、四节的具体案例，第六、七节结合前面的案例讲衔接和交接，避免重复展开。</a:t>
            </a:r>
          </a:p>
          <a:p/>
          <a:p/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display: 'flex', flexDirection: 'row', padding: 0 }}&gt;&#10;    &lt;Box style={{ width: 620, height: '100%', background: 'linear-gradient(135deg,#123A78 0%,#2F6FD0 100%)', padding: '64px 56px', justifyContent: 'space-between' }}&gt;&#10;        &lt;Box style={{ gap: 0 }}&gt;&#10;            &lt;Box style={{ width: 120, height: 4, background: '#FFFFFF', opacity: 0.55, borderRadius: 2 }} /&gt;&#10;            &lt;Text style={{ fontSize: 16, color: '#FFFFFF', opacity: 0.88, marginTop: 22, letterSpacing: 3 }}&gt;AI 应用开发课程 · 第二阶段&lt;/Text&gt;&#10;            &lt;Text style={{ fontSize: 56, color: '#FFFFFF', fontWeight: 'bold', marginTop: 26, lineHeight: 1.15 }}&gt;电商智能客服&lt;/Text&gt;&#10;            &lt;Text style={{ fontSize: 56, color: '#FFFFFF', fontWeight: 'bold', lineHeight: 1.15 }}&gt;项目实战&lt;/Text&gt;&#10;            &lt;Text style={{ fontSize: 22, color: '#E9F0FA', marginTop: 30, lineHeight: 1.5 }}&gt;&#10;                把用户的自然语言，接到确定的业务流程上&#10;            &lt;/Text&gt;&#10;        &lt;/Box&gt;&#10;        &lt;Box&gt;&#10;            &lt;Box style={{ width: 500, height: 1, background: 'rgba(255,255,255,0.32)' }} /&gt;&#10;            &lt;Box style={{ flexDirection: 'row', marginTop: 20, gap: 44 }}&gt;&#10;                &lt;Box&gt;&#10;                    &lt;Text style={{ fontSize: 14, color: '#FFFFFF', opacity: 0.72 }}&gt;课时&lt;/Text&gt;&#10;                    &lt;Text style={{ fontSize: 22, color: '#FFFFFF', fontWeight: 'bold', marginTop: 6 }}&gt;第二课&lt;/Text&gt;&#10;                &lt;/Box&gt;&#10;                &lt;Box&gt;&#10;                    &lt;Text style={{ fontSize: 14, color: '#FFFFFF', opacity: 0.72 }}&gt;讲义版本&lt;/Text&gt;&#10;                    &lt;Text style={{ fontSize: 22, color: '#FFFFFF', fontWeight: 'bold', marginTop: 6 }}&gt;v1.0&lt;/Text&gt;&#10;                &lt;/Box&gt;&#10;                &lt;Box&gt;&#10;                    &lt;Text style={{ fontSize: 14, color: '#FFFFFF', opacity: 0.72 }}&gt;案例性质&lt;/Text&gt;&#10;                    &lt;Text style={{ fontSize: 22, color: '#FFFFFF', fontWeight: 'bold', marginTop: 6 }}&gt;教学模拟&lt;/Text&gt;&#10;                &lt;/Box&gt;&#10;            &lt;/Box&gt;&#10;        &lt;/Box&gt;&#10;    &lt;/Box&gt;&#10;    &lt;Box style={{ flex: 1, background: '#F7F9FC', justifyContent: 'center', alignItems: 'center' }}&gt;&#10;        &lt;svg width={540} height={560} viewBox='0 0 540 560'&gt;&#10;            &lt;rect x='16' y='40' width='300' height='420' rx='18' fill='#FFFFFF' stroke='#D6DCE5' strokeWidth='2' /&gt;&#10;            &lt;rect x='16' y='40' width='300' height='60' rx='18' fill='#123A78' /&gt;&#10;            &lt;rect x='16' y='82' width='300' height='18' fill='#123A78' /&gt;&#10;            &lt;rect x='44' y='64' width='110' height='10' rx='5' fill='#FFFFFF' opacity='0.85' /&gt;&#10;            &lt;circle cx='292' cy='70' r='7' fill='#FFFFFF' opacity='0.6' /&gt;&#10;            &lt;rect x='44' y='126' width='150' height='46' rx='14' fill='#E9F0FA' /&gt;&#10;            &lt;rect x='122' y='192' width='172' height='62' rx='14' fill='#123A78' /&gt;&#10;            &lt;rect x='44' y='274' width='196' height='62' rx='14' fill='#E9F0FA' /&gt;&#10;            &lt;rect x='88' y='356' width='152' height='46' rx='14' fill='#E9F0FA' /&gt;&#10;            &lt;rect x='56' y='144' width='112' height='6' rx='3' fill='#2F6FD0' opacity='0.55' /&gt;&#10;            &lt;rect x='140' y='214' width='124' height='6' rx='3' fill='#FFFFFF' opacity='0.75' /&gt;&#10;            &lt;rect x='140' y='230' width='90' height='6' rx='3' fill='#FFFFFF' opacity='0.45' /&gt;&#10;            &lt;rect x='64' y='296' width='150' height='6' rx='3' fill='#2F6FD0' opacity='0.55' /&gt;&#10;            &lt;rect x='64' y='312' width='104' height='6' rx='3' fill='#2F6FD0' opacity='0.35' /&gt;&#10;            &lt;rect x='108' y='374' width='108' height='6' rx='3' fill='#2F6FD0' opacity='0.55' /&gt;&#10;            &lt;line x1='252' y1='149' x2='330' y2='149' stroke='#2F6FD0' strokeWidth='2' strokeDasharray='5 4' /&gt;&#10;            &lt;line x1='252' y1='223' x2='330' y2='223' stroke='#2F6FD0' strokeWidth='2' strokeDasharray='5 4' /&gt;&#10;            &lt;line x1='252' y1='305' x2='330' y2='305' stroke='#2F6FD0' strokeWidth='2' strokeDasharray='5 4' /&gt;&#10;            &lt;line x1='252' y1='379' x2='330' y2='379' stroke='#2F6FD0' strokeWidth='2' strokeDasharray='5 4' /&gt;&#10;            &lt;rect x='336' y='120' width='188' height='58' rx='12' fill='#FFFFFF' stroke='#2F6FD0' strokeWidth='2' /&gt;&#10;            &lt;text x='366' y='156' fontFamily='Source Han Sans SC' fontSize='19' fill='#123A78' fontWeight='600'&gt;订单查询&lt;/text&gt;&#10;            &lt;rect x='336' y='194' width='188' height='58' rx='12' fill='#123A78' /&gt;&#10;            &lt;text x='366' y='230' fontFamily='Source Han Sans SC' fontSize='19' fill='#FFFFFF' fontWeight='600'&gt;售后处理&lt;/text&gt;&#10;            &lt;rect x='336' y='276' width='188' height='58' rx='12' fill='#FFFFFF' stroke='#2F6FD0' strokeWidth='2' /&gt;&#10;            &lt;text x='366' y='312' fontFamily='Source Han Sans SC' fontSize='19' fill='#123A78' fontWeight='600'&gt;商品推荐&lt;/text&gt;&#10;            &lt;rect x='336' y='350' width='188' height='58' rx='12' fill='#FFFFFF' stroke='#2F6FD0' strokeWidth='2' /&gt;&#10;            &lt;text x='366' y='386' fontFamily='Source Han Sans SC' fontSize='19' fill='#123A78' fontWeight='600'&gt;转人工 / 兜底&lt;/text&gt;&#10;            &lt;text x='336' y='500' fontFamily='Source Han Sans SC' fontSize='17' fill='#8B97A8'&gt;同一个对话窗口，四种处理方式&lt;/text&gt;&#10;        &lt;/svg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29540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</a:rPr>
              <a:t>电商智能客服</a:t>
            </a:r>
            <a:endParaRPr dirty="0"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203835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项目实战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33400" y="3067050"/>
            <a:ext cx="48387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E9F0FA"/>
                </a:solidFill>
                <a:latin typeface="Microsoft YaHei"/>
                <a:ea typeface="Microsoft YaHei"/>
              </a:rPr>
              <a:t>把用户的自然语言，接到确定的业务流程上</a:t>
            </a:r>
            <a:endParaRPr/>
          </a:p>
        </p:txBody>
      </p:sp>
      <p:sp>
        <p:nvSpPr>
          <p:cNvPr id="7" name="矩形 6"/>
          <p:cNvSpPr/>
          <p:nvPr/>
        </p:nvSpPr>
        <p:spPr>
          <a:xfrm>
            <a:off x="533400" y="5572125"/>
            <a:ext cx="4762500" cy="9525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5991225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第二课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581150" y="5991225"/>
            <a:ext cx="533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v1.0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2533650" y="5991225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教学模拟</a:t>
            </a:r>
            <a:endParaRPr/>
          </a:p>
        </p:txBody>
      </p:sp>
      <p:sp>
        <p:nvSpPr>
          <p:cNvPr id="11" name="矩形 10"/>
          <p:cNvSpPr/>
          <p:nvPr/>
        </p:nvSpPr>
        <p:spPr>
          <a:xfrm>
            <a:off x="5905500" y="0"/>
            <a:ext cx="6286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762000"/>
            <a:ext cx="5143500" cy="5334000"/>
          </a:xfrm>
          <a:prstGeom prst="rect">
            <a:avLst/>
          </a:prstGeom>
          <a:ln/>
        </p:spPr>
      </p:pic>
      <p:sp>
        <p:nvSpPr>
          <p:cNvPr id="13" name="圆角矩形 12"/>
          <p:cNvSpPr/>
          <p:nvPr/>
        </p:nvSpPr>
        <p:spPr>
          <a:xfrm>
            <a:off x="533400" y="60960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533400" y="857250"/>
            <a:ext cx="4838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应用开发课程</a:t>
            </a: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533400" y="5772150"/>
            <a:ext cx="628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课时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581150" y="577215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讲义版本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2533650" y="5772150"/>
            <a:ext cx="838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案例性质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3099954" y="2442513"/>
            <a:ext cx="5992091" cy="1972974"/>
          </a:xfrm>
          <a:prstGeom prst="rect">
            <a:avLst/>
          </a:prstGeom>
        </p:spPr>
        <p:txBody>
          <a:bodyPr wrap="none" lIns="0" tIns="0" rIns="0" bIns="0"/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侧重内容生成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侧重判断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侧重对话</a:t>
            </a:r>
            <a:endParaRPr sz="2800" dirty="0"/>
          </a:p>
        </p:txBody>
      </p:sp>
      <p:sp>
        <p:nvSpPr>
          <p:cNvPr id="667" name="矩形 66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文本框 1" descr="{&quot;isTemplate&quot;:true,&quot;type&quot;:&quot;text&quot;}">
            <a:extLst>
              <a:ext uri="{FF2B5EF4-FFF2-40B4-BE49-F238E27FC236}">
                <a16:creationId xmlns:a16="http://schemas.microsoft.com/office/drawing/2014/main" id="{D506C9A6-C3FA-9754-1BD2-7565ECC7786B}"/>
              </a:ext>
            </a:extLst>
          </p:cNvPr>
          <p:cNvSpPr txBox="1"/>
          <p:nvPr/>
        </p:nvSpPr>
        <p:spPr>
          <a:xfrm>
            <a:off x="381000" y="504825"/>
            <a:ext cx="4232564" cy="710911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应用的几个方向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CB34C4EA-AAFE-0D54-CFED-A6C67E32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9E37467A-1482-669C-24FC-8BF5A06F3E5B}"/>
              </a:ext>
            </a:extLst>
          </p:cNvPr>
          <p:cNvSpPr txBox="1"/>
          <p:nvPr/>
        </p:nvSpPr>
        <p:spPr>
          <a:xfrm>
            <a:off x="3099954" y="2935756"/>
            <a:ext cx="5992091" cy="986487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25000"/>
              </a:lnSpc>
            </a:pPr>
            <a:r>
              <a:rPr lang="zh-CN" altLang="en-US" sz="3600" b="1" dirty="0">
                <a:solidFill>
                  <a:srgbClr val="123A78"/>
                </a:solidFill>
                <a:latin typeface="Microsoft YaHei"/>
                <a:ea typeface="Microsoft YaHei"/>
              </a:rPr>
              <a:t>一切对话皆客服</a:t>
            </a:r>
            <a:endParaRPr sz="3600"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FFE50C9F-969B-ECE1-8FA4-96255E53C05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357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73E782A7-08E6-AB32-E32B-07338855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文本框 655" descr="{&quot;isTemplate&quot;:true,&quot;type&quot;:&quot;text&quot;}">
            <a:extLst>
              <a:ext uri="{FF2B5EF4-FFF2-40B4-BE49-F238E27FC236}">
                <a16:creationId xmlns:a16="http://schemas.microsoft.com/office/drawing/2014/main" id="{FD8BB5DD-EC20-1BC0-8467-6557091BC433}"/>
              </a:ext>
            </a:extLst>
          </p:cNvPr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34CEEDD2-3E58-9CEE-DB1D-1FB1817400EF}"/>
              </a:ext>
            </a:extLst>
          </p:cNvPr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文本框 657" descr="{&quot;isTemplate&quot;:true,&quot;type&quot;:&quot;text&quot;}">
            <a:extLst>
              <a:ext uri="{FF2B5EF4-FFF2-40B4-BE49-F238E27FC236}">
                <a16:creationId xmlns:a16="http://schemas.microsoft.com/office/drawing/2014/main" id="{9A232879-5B22-9E65-2CCD-B521540E61C9}"/>
              </a:ext>
            </a:extLst>
          </p:cNvPr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P.04 – 14</a:t>
            </a:r>
            <a:endParaRPr/>
          </a:p>
        </p:txBody>
      </p:sp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07EE60C7-F637-47A5-768A-58D357A4DF27}"/>
              </a:ext>
            </a:extLst>
          </p:cNvPr>
          <p:cNvSpPr txBox="1"/>
          <p:nvPr/>
        </p:nvSpPr>
        <p:spPr>
          <a:xfrm>
            <a:off x="4017818" y="2557462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电商客服业务背景</a:t>
            </a:r>
            <a:endParaRPr dirty="0"/>
          </a:p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与项目任务</a:t>
            </a:r>
            <a:endParaRPr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58A9BC14-12A3-B1BA-355C-59F8A390FAE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853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矩形 9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客服每天在处理什么</a:t>
            </a:r>
            <a:endParaRPr dirty="0"/>
          </a:p>
        </p:txBody>
      </p:sp>
      <p:sp>
        <p:nvSpPr>
          <p:cNvPr id="945" name="矩形 94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46" name="图形 9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609600" cy="5143500"/>
          </a:xfrm>
          <a:prstGeom prst="rect">
            <a:avLst/>
          </a:prstGeom>
          <a:ln/>
        </p:spPr>
      </p:pic>
      <p:sp>
        <p:nvSpPr>
          <p:cNvPr id="947" name="圆角矩形 946"/>
          <p:cNvSpPr/>
          <p:nvPr/>
        </p:nvSpPr>
        <p:spPr>
          <a:xfrm>
            <a:off x="1181100" y="10668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1390650" y="12573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购买前</a:t>
            </a:r>
            <a:endParaRPr/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2219325" y="12858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帮助用户了解和选择商品</a:t>
            </a:r>
            <a:endParaRPr/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1390650" y="16192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用户会问：「这两款耳机有什么区别？」「预算三百以内有没有推荐？」</a:t>
            </a:r>
            <a:endParaRPr/>
          </a:p>
        </p:txBody>
      </p:sp>
      <p:sp>
        <p:nvSpPr>
          <p:cNvPr id="951" name="文本框 950" descr="{&quot;isTemplate&quot;:true,&quot;type&quot;:&quot;text&quot;}"/>
          <p:cNvSpPr txBox="1"/>
          <p:nvPr/>
        </p:nvSpPr>
        <p:spPr>
          <a:xfrm>
            <a:off x="1390650" y="20288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客服的作用不只是回答参数，还要结合使用场景帮用户做选择。</a:t>
            </a:r>
            <a:endParaRPr/>
          </a:p>
        </p:txBody>
      </p:sp>
      <p:sp>
        <p:nvSpPr>
          <p:cNvPr id="952" name="圆角矩形 951"/>
          <p:cNvSpPr/>
          <p:nvPr/>
        </p:nvSpPr>
        <p:spPr>
          <a:xfrm>
            <a:off x="1181100" y="28956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1390650" y="30861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下单后</a:t>
            </a:r>
            <a:endParaRPr/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2219325" y="3114675"/>
            <a:ext cx="2476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帮助用户了解订单和履约情况</a:t>
            </a:r>
            <a:endParaRPr/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390650" y="34480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「今天买什么时候发货？」「上周买的耳机怎么还没到？」</a:t>
            </a:r>
            <a:endParaRPr/>
          </a:p>
        </p:txBody>
      </p:sp>
      <p:sp>
        <p:nvSpPr>
          <p:cNvPr id="956" name="文本框 955" descr="{&quot;isTemplate&quot;:true,&quot;type&quot;:&quot;text&quot;}"/>
          <p:cNvSpPr txBox="1"/>
          <p:nvPr/>
        </p:nvSpPr>
        <p:spPr>
          <a:xfrm>
            <a:off x="1390650" y="38576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必须查询具体订单：同一个问题，不同用户、不同订单答案完全不同。</a:t>
            </a:r>
            <a:endParaRPr/>
          </a:p>
        </p:txBody>
      </p:sp>
      <p:sp>
        <p:nvSpPr>
          <p:cNvPr id="957" name="圆角矩形 956"/>
          <p:cNvSpPr/>
          <p:nvPr/>
        </p:nvSpPr>
        <p:spPr>
          <a:xfrm>
            <a:off x="1181100" y="47244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1390650" y="49149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收货后</a:t>
            </a:r>
            <a:endParaRPr/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2219325" y="49434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解决使用问题和售后诉求</a:t>
            </a:r>
            <a:endParaRPr/>
          </a:p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1390650" y="52768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「耳机连接不上手机。」「发错颜色了，我想换一个。」</a:t>
            </a:r>
            <a:endParaRPr/>
          </a:p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1390650" y="56864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有的靠使用说明，有的要查进度，有的需要收材料、提交申请或交给人工。</a:t>
            </a:r>
            <a:endParaRPr/>
          </a:p>
        </p:txBody>
      </p:sp>
      <p:sp>
        <p:nvSpPr>
          <p:cNvPr id="962" name="圆角矩形 961"/>
          <p:cNvSpPr/>
          <p:nvPr/>
        </p:nvSpPr>
        <p:spPr>
          <a:xfrm>
            <a:off x="8953500" y="1066800"/>
            <a:ext cx="2857500" cy="5143500"/>
          </a:xfrm>
          <a:prstGeom prst="roundRect">
            <a:avLst>
              <a:gd name="adj" fmla="val 333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9163050" y="1571625"/>
            <a:ext cx="2438400" cy="800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不是聊天窗口，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而是三条不同的业务线</a:t>
            </a:r>
            <a:endParaRPr/>
          </a:p>
        </p:txBody>
      </p:sp>
      <p:sp>
        <p:nvSpPr>
          <p:cNvPr id="964" name="文本框 963" descr="{&quot;isTemplate&quot;:true,&quot;type&quot;:&quot;text&quot;}"/>
          <p:cNvSpPr txBox="1"/>
          <p:nvPr/>
        </p:nvSpPr>
        <p:spPr>
          <a:xfrm>
            <a:off x="9163050" y="3429000"/>
            <a:ext cx="24384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我们要做的「电商智能客服」，需要承接购买前后的不同需求，并把它们接到对应的信息和处理流程上。</a:t>
            </a:r>
            <a:endParaRPr/>
          </a:p>
        </p:txBody>
      </p:sp>
      <p:sp>
        <p:nvSpPr>
          <p:cNvPr id="965" name="任意形状 96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05 / 59</a:t>
            </a:r>
            <a:endParaRPr/>
          </a:p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9163050" y="129540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SO WHAT</a:t>
            </a:r>
            <a:endParaRPr/>
          </a:p>
        </p:txBody>
      </p:sp>
      <p:sp>
        <p:nvSpPr>
          <p:cNvPr id="969" name="矩形 968"/>
          <p:cNvSpPr/>
          <p:nvPr/>
        </p:nvSpPr>
        <p:spPr>
          <a:xfrm>
            <a:off x="9163050" y="5953125"/>
            <a:ext cx="68580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>
          <a:extLst>
            <a:ext uri="{FF2B5EF4-FFF2-40B4-BE49-F238E27FC236}">
              <a16:creationId xmlns:a16="http://schemas.microsoft.com/office/drawing/2014/main" id="{3EBCF85E-3A03-211C-2DB1-111CD6E4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文本框 942" descr="{&quot;isTemplate&quot;:true,&quot;type&quot;:&quot;text&quot;}">
            <a:extLst>
              <a:ext uri="{FF2B5EF4-FFF2-40B4-BE49-F238E27FC236}">
                <a16:creationId xmlns:a16="http://schemas.microsoft.com/office/drawing/2014/main" id="{66C96FAC-3DC7-3BF5-3DC7-AB70EC7768A3}"/>
              </a:ext>
            </a:extLst>
          </p:cNvPr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>
            <a:extLst>
              <a:ext uri="{FF2B5EF4-FFF2-40B4-BE49-F238E27FC236}">
                <a16:creationId xmlns:a16="http://schemas.microsoft.com/office/drawing/2014/main" id="{E96F2DEE-33EB-541D-294F-09A84E465FE5}"/>
              </a:ext>
            </a:extLst>
          </p:cNvPr>
          <p:cNvSpPr txBox="1"/>
          <p:nvPr/>
        </p:nvSpPr>
        <p:spPr>
          <a:xfrm>
            <a:off x="381000" y="504825"/>
            <a:ext cx="3661064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altLang="en-US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客服的核心场景和功能</a:t>
            </a:r>
            <a:endParaRPr dirty="0"/>
          </a:p>
        </p:txBody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83A9D6C6-00C4-A50C-708A-E036482C2603}"/>
              </a:ext>
            </a:extLst>
          </p:cNvPr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5" name="任意形状 964">
            <a:extLst>
              <a:ext uri="{FF2B5EF4-FFF2-40B4-BE49-F238E27FC236}">
                <a16:creationId xmlns:a16="http://schemas.microsoft.com/office/drawing/2014/main" id="{DA254A00-527F-7788-1A8A-99B2C253E6F3}"/>
              </a:ext>
            </a:extLst>
          </p:cNvPr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>
            <a:extLst>
              <a:ext uri="{FF2B5EF4-FFF2-40B4-BE49-F238E27FC236}">
                <a16:creationId xmlns:a16="http://schemas.microsoft.com/office/drawing/2014/main" id="{5E82C597-55E9-98E2-E89B-4FFD52A62636}"/>
              </a:ext>
            </a:extLst>
          </p:cNvPr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>
            <a:extLst>
              <a:ext uri="{FF2B5EF4-FFF2-40B4-BE49-F238E27FC236}">
                <a16:creationId xmlns:a16="http://schemas.microsoft.com/office/drawing/2014/main" id="{F5097EB5-FBC8-4A0C-8A3E-19C0421CF425}"/>
              </a:ext>
            </a:extLst>
          </p:cNvPr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06 / 59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07D7EB-8409-AAB1-2CD2-73C4CA66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362825"/>
            <a:ext cx="7003473" cy="45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5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用户看到的是聊天，客服做的是一串操作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00, height: 540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资料或系统', textStyle: { bold: true, color: '#FFFFFF', fontSize: 20 }, cellStyle: { background: { color: '#123A78' } } },&#10;                        { text: '提供什么', textStyle: { bold: true, color: '#FFFFFF', fontSize: 20 }, cellStyle: { background: { color: '#123A78' } } },&#10;                    ],&#10;                    [&#10;                        { text: '商品资料', textStyle: { bold: true, color: '#123A78' }, cellStyle: { background: { color: '#F7F9FC' } } },&#10;                        { text: '型号、功能、使用说明', cellStyle: { background: { color: '#F7F9FC' } } },&#10;                    ],&#10;                    [&#10;                        { text: '订单与物流系统', textStyle: { bold: true, color: '#123A78' } },&#10;                        { text: '买了什么、是否发货、是否签收' },&#10;                    ],&#10;                    [&#10;                        { text: '售后政策', textStyle: { bold: true, color: '#123A78' }, cellStyle: { background: { color: '#F7F9FC' } } },&#10;                        { text: '适用条件、所需材料、处理步骤', cellStyle: { background: { color: '#F7F9FC' } } },&#10;                    ],&#10;                    [&#10;                        { text: '售后系统', textStyle: { bold: true, color: '#123A78' } },&#10;                        { text: '申请记录、处理进度、执行结果' },&#10;                    ],&#10;                    [&#10;                        { text: '客服工作台', textStyle: { bold: true, color: '#123A78' }, cellStyle: { background: { color: '#F7F9FC' } } },&#10;                        { text: '对话记录、人员接待与转交', cellStyle: { background: { color: '#F7F9FC' } } },&#10;                    ],&#10;                ]}&#10;            /&gt;&#10;        &lt;/Box&gt;&#10;        &lt;Box style={{ flex: 1, justifyContent: 'space-between' }}&gt;&#10;            &lt;Box style={{ background: '#E9F0FA', borderRadius: 10, padding: '18px 22px', borderLeft: '5px solid #123A78' }}&gt;&#10;                &lt;Text style={{ fontSize: 14, color: '#2F6FD0', letterSpacing: 2 }}&gt;看一个具体请求&lt;/Text&gt;&#10;                &lt;Text style={{ fontSize: 21, color: '#123A78', marginTop: 10, lineHeight: 1.5 }}&gt;&#10;                    用户：上周买的耳机没有声音，我想换一个。&#10;                &lt;/Text&gt;&#10;            &lt;/Box&gt;&#10;            &lt;Box style={{ gap: 12 }}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0, color: '#1A2230', lineHeight: 1.5, flex: 1 }}&gt;找到订单：「上周买的耳机」不是订单号，买过两款还要确认是哪一笔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0, color: '#1A2230', lineHeight: 1.5, flex: 1 }}&gt;了解问题：是两边都没声音，还是一边？是设置问题还是商品故障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0, color: '#1A2230', lineHeight: 1.5, flex: 1 }}&gt;查询适用政策：没确认情况之前，不能直接承诺一定可以换货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4&lt;/Text&gt;&#10;                    &lt;/Box&gt;&#10;                    &lt;Text style={{ fontSize: 20, color: '#1A2230', lineHeight: 1.5, flex: 1 }}&gt;协助继续处理：补材料、确认申请、提交，或转给其他人员审核&lt;/Text&gt;&#10;                &lt;/Box&gt;&#10;            &lt;/Box&gt;&#10;            &lt;Box style={{ background: '#123A78', borderRadius: 10, padding: '16px 22px' }}&gt;&#10;                &lt;Text style={{ fontSize: 19, color: '#FFFFFF', lineHeight: 1.5 }}&gt;&#10;                    评价客服产品不能只问「这句话回答得怎么样」——要看&lt;span style={{ fontWeight: 'bold' }}&gt;用户要办的事有没有被正确推进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矩形 10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381000" y="266700"/>
            <a:ext cx="5829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381000" y="504825"/>
            <a:ext cx="58293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用户看到的是聊天，客服做的是一串操作</a:t>
            </a:r>
            <a:endParaRPr/>
          </a:p>
        </p:txBody>
      </p:sp>
      <p:sp>
        <p:nvSpPr>
          <p:cNvPr id="1067" name="矩形 106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8" name="圆角矩形 1067"/>
          <p:cNvSpPr/>
          <p:nvPr/>
        </p:nvSpPr>
        <p:spPr>
          <a:xfrm>
            <a:off x="381000" y="1066800"/>
            <a:ext cx="6667500" cy="5143500"/>
          </a:xfrm>
          <a:prstGeom prst="roundRect">
            <a:avLst>
              <a:gd name="adj" fmla="val 185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69" name="表格 1068"/>
          <p:cNvGraphicFramePr/>
          <p:nvPr/>
        </p:nvGraphicFramePr>
        <p:xfrm>
          <a:off x="381000" y="1066800"/>
          <a:ext cx="6667500" cy="5143500"/>
        </p:xfrm>
        <a:graphic>
          <a:graphicData uri="http://schemas.openxmlformats.org/drawingml/2006/table">
            <a:tbl>
              <a:tblPr/>
              <a:tblGrid>
                <a:gridCol w="227351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39398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8761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资料或系统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提供什么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商品资料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型号、功能、使用说明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订单与物流系统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买了什么、是否发货、是否签收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适用条件、所需材料、处理步骤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申请记录、处理进度、执行结果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客服工作台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对话记录、人员接待与转交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1070" name="圆角矩形 1069"/>
          <p:cNvSpPr/>
          <p:nvPr/>
        </p:nvSpPr>
        <p:spPr>
          <a:xfrm>
            <a:off x="7477125" y="1066800"/>
            <a:ext cx="4381500" cy="1323975"/>
          </a:xfrm>
          <a:prstGeom prst="roundRect">
            <a:avLst>
              <a:gd name="adj" fmla="val 719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1" name="任意形状 1070"/>
          <p:cNvSpPr/>
          <p:nvPr/>
        </p:nvSpPr>
        <p:spPr>
          <a:xfrm>
            <a:off x="7477125" y="1066800"/>
            <a:ext cx="4381500" cy="1323975"/>
          </a:xfrm>
          <a:custGeom>
            <a:avLst/>
            <a:gdLst/>
            <a:ahLst/>
            <a:cxnLst/>
            <a:rect l="0" t="0" r="0" b="0"/>
            <a:pathLst>
              <a:path w="460" h="13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4"/>
                </a:lnTo>
                <a:cubicBezTo>
                  <a:pt x="5" y="136"/>
                  <a:pt x="7" y="138"/>
                  <a:pt x="9" y="139"/>
                </a:cubicBezTo>
                <a:cubicBezTo>
                  <a:pt x="4" y="138"/>
                  <a:pt x="0" y="134"/>
                  <a:pt x="0" y="12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7686675" y="1238250"/>
            <a:ext cx="391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F6FD0"/>
                </a:solidFill>
                <a:latin typeface="Microsoft YaHei"/>
                <a:ea typeface="Microsoft YaHei"/>
              </a:rPr>
              <a:t>看一个具体请求</a:t>
            </a:r>
            <a:endParaRPr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7686675" y="1495425"/>
            <a:ext cx="39147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用户：上周买的耳机没有声音，我想换一个。</a:t>
            </a:r>
            <a:endParaRPr/>
          </a:p>
        </p:txBody>
      </p:sp>
      <p:sp>
        <p:nvSpPr>
          <p:cNvPr id="1074" name="圆角矩形 1073"/>
          <p:cNvSpPr/>
          <p:nvPr/>
        </p:nvSpPr>
        <p:spPr>
          <a:xfrm>
            <a:off x="7429500" y="23907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7543800" y="24574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7867650" y="23907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找到订单：「上周买的耳机」不是订单号，买过两款还要确认是哪一笔</a:t>
            </a:r>
            <a:endParaRPr/>
          </a:p>
        </p:txBody>
      </p:sp>
      <p:sp>
        <p:nvSpPr>
          <p:cNvPr id="1077" name="圆角矩形 1076"/>
          <p:cNvSpPr/>
          <p:nvPr/>
        </p:nvSpPr>
        <p:spPr>
          <a:xfrm>
            <a:off x="7429500" y="3190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7543800" y="32575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7867650" y="31908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了解问题：是两边都没声音，还是一边？是设置问题还是商品故障</a:t>
            </a:r>
            <a:endParaRPr/>
          </a:p>
        </p:txBody>
      </p:sp>
      <p:sp>
        <p:nvSpPr>
          <p:cNvPr id="1080" name="圆角矩形 1079"/>
          <p:cNvSpPr/>
          <p:nvPr/>
        </p:nvSpPr>
        <p:spPr>
          <a:xfrm>
            <a:off x="7429500" y="3990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1" name="文本框 1080" descr="{&quot;isTemplate&quot;:true,&quot;type&quot;:&quot;text&quot;}"/>
          <p:cNvSpPr txBox="1"/>
          <p:nvPr/>
        </p:nvSpPr>
        <p:spPr>
          <a:xfrm>
            <a:off x="7543800" y="40576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67650" y="39909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查询适用政策：没确认情况之前，不能直接承诺一定可以换货</a:t>
            </a:r>
            <a:endParaRPr/>
          </a:p>
        </p:txBody>
      </p:sp>
      <p:sp>
        <p:nvSpPr>
          <p:cNvPr id="1083" name="圆角矩形 1082"/>
          <p:cNvSpPr/>
          <p:nvPr/>
        </p:nvSpPr>
        <p:spPr>
          <a:xfrm>
            <a:off x="7429500" y="47910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543800" y="48577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7867650" y="47910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协助继续处理：补材料、确认申请、提交，或转给其他人员审核</a:t>
            </a:r>
            <a:endParaRPr/>
          </a:p>
        </p:txBody>
      </p:sp>
      <p:sp>
        <p:nvSpPr>
          <p:cNvPr id="1086" name="圆角矩形 1085"/>
          <p:cNvSpPr/>
          <p:nvPr/>
        </p:nvSpPr>
        <p:spPr>
          <a:xfrm>
            <a:off x="7429500" y="5476875"/>
            <a:ext cx="43815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7639050" y="5629275"/>
            <a:ext cx="39624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评价客服产品不能只问「这句话回答得怎么样」——要看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用户要办的事有没有被正确推进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8" name="任意形状 108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9" name="文本框 108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90" name="文本框 108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07 / 59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一句换货请求，背后是五步操作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300, justifyContent: 'space-between' }}&gt;&#10;            &lt;Box&gt;&#10;                &lt;Text style={{ fontSize: 120, fontWeight: 'bold', color: '#123A78', lineHeight: 1, fontFamily: 'JetBrains Mono' }}&gt;5&lt;/Text&gt;&#10;                &lt;Text style={{ fontSize: 25, fontWeight: '600', color: '#1A2230', marginTop: 10 }}&gt;步连续处理&lt;/Text&gt;&#10;                &lt;Box style={{ width: 160, height: 4, background: '#2F6FD0', marginTop: 18 }} /&gt;&#10;            &lt;/Box&gt;&#10;            &lt;Box style={{ background: '#E9F0FA', borderRadius: 10, padding: '20px 22px', borderLeft: '5px solid #123A78' }}&gt;&#10;                &lt;Text style={{ fontSize: 20, color: '#123A78', lineHeight: 1.55 }}&gt;&#10;                    用户只看到客服回复了几句话，&lt;span style={{ fontWeight: 'bold' }}&gt;背后却是查询、核对、解释、录入和转交&lt;/span&gt;。&#10;                &lt;/Text&gt;&#10;            &lt;/Box&gt;&#10;            &lt;Text style={{ fontSize: 18, color: '#8B97A8', lineHeight: 1.5 }}&gt;&#10;                其中最容易出现问题的，是第 1 步与第 2 步：信息没接住，用户就要从头再说一遍。&#10;            &lt;/Text&gt;&#10;        &lt;/Box&gt;&#10;        &lt;Box style={{ flex: 1, justifyContent: 'center' }}&gt;&#10;            &lt;svg width={844} height={536} viewBox='0 0 844 536'&gt;&#10;                &lt;rect x='0' y='0' width='844' height='82' rx='12' fill='#FFFFFF' stroke='#2F6FD0' strokeWidth='2' /&gt;&#10;                &lt;circle cx='48' cy='41' r='24' fill='#123A78' /&gt;&#10;                &lt;text x='48' y='49' textAnchor='middle' fontFamily='JetBrains Mono' fontSize='20' fill='#FFFFFF' fontWeight='bold'&gt;1&lt;/text&gt;&#10;                &lt;text x='92' y='36' fontFamily='Source Han Sans SC' fontSize='23' fill='#123A78' fontWeight='bold'&gt;找到订单&lt;/text&gt;&#10;                &lt;text x='92' y='64' fontFamily='Source Han Sans SC' fontSize='18' fill='#4A5568'&gt;确定是「上周买的耳机」里的哪一笔&lt;/text&gt;&#10;                &lt;rect x='40' y='82' width='4' height='24' fill='#2F6FD0' /&gt;&#10;&#10;                &lt;rect x='0' y='106' width='844' height='82' rx='12' fill='#FFFFFF' stroke='#2F6FD0' strokeWidth='2' /&gt;&#10;                &lt;circle cx='48' cy='147' r='24' fill='#123A78' /&gt;&#10;                &lt;text x='48' y='155' textAnchor='middle' fontFamily='JetBrains Mono' fontSize='20' fill='#FFFFFF' fontWeight='bold'&gt;2&lt;/text&gt;&#10;                &lt;text x='92' y='142' fontFamily='Source Han Sans SC' fontSize='23' fill='#123A78' fontWeight='bold'&gt;了解问题&lt;/text&gt;&#10;                &lt;text x='92' y='170' fontFamily='Source Han Sans SC' fontSize='18' fill='#4A5568'&gt;两侧无声还是单侧？使用设置问题还是商品故障&lt;/text&gt;&#10;                &lt;rect x='40' y='188' width='4' height='24' fill='#2F6FD0' /&gt;&#10;&#10;                &lt;rect x='0' y='212' width='844' height='82' rx='12' fill='#123A78' /&gt;&#10;                &lt;circle cx='48' cy='253' r='24' fill='#FFFFFF' /&gt;&#10;                &lt;text x='48' y='261' textAnchor='middle' fontFamily='JetBrains Mono' fontSize='20' fill='#123A78' fontWeight='bold'&gt;3&lt;/text&gt;&#10;                &lt;text x='92' y='248' fontFamily='Source Han Sans SC' fontSize='23' fill='#FFFFFF' fontWeight='bold'&gt;查询适用的售后政策&lt;/text&gt;&#10;                &lt;text x='92' y='276' fontFamily='Source Han Sans SC' fontSize='18' fill='#E9F0FA'&gt;不同商品、订单状态与问题，对应的处理要求不同&lt;/text&gt;&#10;                &lt;rect x='40' y='294' width='4' height='24' fill='#2F6FD0' /&gt;&#10;&#10;                &lt;rect x='0' y='318' width='844' height='82' rx='12' fill='#FFFFFF' stroke='#2F6FD0' strokeWidth='2' /&gt;&#10;                &lt;circle cx='48' cy='359' r='24' fill='#123A78' /&gt;&#10;                &lt;text x='48' y='367' textAnchor='middle' fontFamily='JetBrains Mono' fontSize='20' fill='#FFFFFF' fontWeight='bold'&gt;4&lt;/text&gt;&#10;                &lt;text x='92' y='354' fontFamily='Source Han Sans SC' fontSize='23' fill='#123A78' fontWeight='bold'&gt;帮助用户继续处理&lt;/text&gt;&#10;                &lt;text x='92' y='382' fontFamily='Source Han Sans SC' fontSize='18' fill='#4A5568'&gt;补充材料、确认申请内容、提交申请或转审核&lt;/text&gt;&#10;                &lt;rect x='40' y='400' width='4' height='24' fill='#2F6FD0' /&gt;&#10;&#10;                &lt;rect x='0' y='424' width='844' height='82' rx='12' fill='#FFFFFF' stroke='#2F6FD0' strokeWidth='2' /&gt;&#10;                &lt;circle cx='48' cy='465' r='24' fill='#123A78' /&gt;&#10;                &lt;text x='48' y='473' textAnchor='middle' fontFamily='JetBrains Mono' fontSize='20' fill='#FFFFFF' fontWeight='bold'&gt;5&lt;/text&gt;&#10;                &lt;text x='92' y='460' fontFamily='Source Han Sans SC' fontSize='23' fill='#123A78' fontWeight='bold'&gt;记录与交接&lt;/text&gt;&#10;                &lt;text x='92' y='488' fontFamily='Source Han Sans SC' fontSize='18' fill='#4A5568'&gt;保存对话、状态与调用结果，必要时完整转人工&lt;/text&gt;&#10;            &lt;/svg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矩形 10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一句换货请求，背后是五步操作</a:t>
            </a:r>
            <a:endParaRPr/>
          </a:p>
        </p:txBody>
      </p:sp>
      <p:sp>
        <p:nvSpPr>
          <p:cNvPr id="1095" name="矩形 109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381000" y="1066800"/>
            <a:ext cx="2857500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23A7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1097" name="文本框 1096" descr="{&quot;isTemplate&quot;:true,&quot;type&quot;:&quot;text&quot;}"/>
          <p:cNvSpPr txBox="1"/>
          <p:nvPr/>
        </p:nvSpPr>
        <p:spPr>
          <a:xfrm>
            <a:off x="381000" y="2533650"/>
            <a:ext cx="2857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步连续处理</a:t>
            </a:r>
            <a:endParaRPr/>
          </a:p>
        </p:txBody>
      </p:sp>
      <p:sp>
        <p:nvSpPr>
          <p:cNvPr id="1098" name="矩形 1097"/>
          <p:cNvSpPr/>
          <p:nvPr/>
        </p:nvSpPr>
        <p:spPr>
          <a:xfrm>
            <a:off x="381000" y="2990850"/>
            <a:ext cx="1524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9" name="圆角矩形 1098"/>
          <p:cNvSpPr/>
          <p:nvPr/>
        </p:nvSpPr>
        <p:spPr>
          <a:xfrm>
            <a:off x="428625" y="3429000"/>
            <a:ext cx="2857500" cy="1447800"/>
          </a:xfrm>
          <a:prstGeom prst="roundRect">
            <a:avLst>
              <a:gd name="adj" fmla="val 657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0" name="任意形状 1099"/>
          <p:cNvSpPr/>
          <p:nvPr/>
        </p:nvSpPr>
        <p:spPr>
          <a:xfrm>
            <a:off x="428625" y="3429000"/>
            <a:ext cx="2857500" cy="1447800"/>
          </a:xfrm>
          <a:custGeom>
            <a:avLst/>
            <a:gdLst/>
            <a:ahLst/>
            <a:cxnLst/>
            <a:rect l="0" t="0" r="0" b="0"/>
            <a:pathLst>
              <a:path w="300" h="15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7"/>
                </a:lnTo>
                <a:cubicBezTo>
                  <a:pt x="5" y="149"/>
                  <a:pt x="7" y="151"/>
                  <a:pt x="9" y="152"/>
                </a:cubicBezTo>
                <a:cubicBezTo>
                  <a:pt x="4" y="151"/>
                  <a:pt x="0" y="147"/>
                  <a:pt x="0" y="14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1" name="文本框 1100" descr="{&quot;isTemplate&quot;:true,&quot;type&quot;:&quot;text&quot;}"/>
          <p:cNvSpPr txBox="1"/>
          <p:nvPr/>
        </p:nvSpPr>
        <p:spPr>
          <a:xfrm>
            <a:off x="638175" y="3619500"/>
            <a:ext cx="239077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用户只看到客服回复了几句话，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背后却是查询、核对、解释、录入和转交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381000" y="5276850"/>
            <a:ext cx="28575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其中最容易出现问题的，是第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步与第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步：信息没接住，用户就要从头再说一遍。</a:t>
            </a:r>
            <a:endParaRPr/>
          </a:p>
        </p:txBody>
      </p:sp>
      <p:pic>
        <p:nvPicPr>
          <p:cNvPr id="1103" name="图形 11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1400" y="1085850"/>
            <a:ext cx="8039100" cy="5105400"/>
          </a:xfrm>
          <a:prstGeom prst="rect">
            <a:avLst/>
          </a:prstGeom>
          <a:ln/>
        </p:spPr>
      </p:pic>
      <p:sp>
        <p:nvSpPr>
          <p:cNvPr id="1104" name="任意形状 11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08 / 59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从人工客服到大模型客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78 }}&gt;&#10;            &lt;svg width={1200} height={78} viewBox='0 0 1200 78'&gt;&#10;                &lt;line x1='40' y1='30' x2='1160' y2='30' stroke='#D6DCE5' strokeWidth='3' /&gt;&#10;                &lt;circle cx='120' cy='30' r='13' fill='#123A78' /&gt;&#10;                &lt;circle cx='430' cy='30' r='13' fill='#123A78' /&gt;&#10;                &lt;circle cx='740' cy='30' r='13' fill='#123A78' /&gt;&#10;                &lt;circle cx='1050' cy='30' r='13' fill='#2F6FD0' /&gt;&#10;                &lt;text x='120' y='68' textAnchor='middle' fontFamily='Source Han Sans SC' fontSize='18' fill='#8B97A8'&gt;由人承担&lt;/text&gt;&#10;                &lt;text x='430' y='68' textAnchor='middle' fontFamily='Source Han Sans SC' fontSize='18' fill='#8B97A8'&gt;机器人承担回答&lt;/text&gt;&#10;                &lt;text x='740' y='68' textAnchor='middle' fontFamily='Source Han Sans SC' fontSize='18' fill='#8B97A8'&gt;机器人承担办理&lt;/text&gt;&#10;                &lt;text x='1050' y='68' textAnchor='middle' fontFamily='Source Han Sans SC' fontSize='18' fill='#123A78' fontWeight='bold'&gt;自然表达 + 业务办理&lt;/text&gt;&#10;            &lt;/svg&gt;&#10;        &lt;/Box&gt;&#10;        &lt;Box style={{ height: 396, flexDirection: 'row', gap: 24 }}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人工客服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由人理解诉求，结合上下文灵活组织整个处理过程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能回看记录、核对政策，处理「之前那个客服说可以换」这类争议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重复咨询、高峰排队、新人培训、跨系统查询成本高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FAQ 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提前维护常见问题与答案，靠问题匹配返回答案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企业容易控制回答内容，适合常见且稳定的问题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一句话里常含多条线索，通用答案碰不到实际情况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流程型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按预设步骤收集信息、调用接口、创建申请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步骤明确，容易知道用户当前在哪一步、还缺哪些信息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不沿流程走：中途改口、一次提两个诉求&lt;/Text&gt;&#10;                &lt;/Box&gt;&#10;            &lt;/Box&gt;&#10;            &lt;Box style={{ width: 282, height: 396, background: '#123A78', borderRadius: 10, padding: '18px 20px', justifyContent: 'space-between' }}&gt;&#10;                &lt;Box&gt;&#10;                    &lt;Box style={{ width: 40, height: 4, background: '#FFFFFF', opacity: 0.7 }} /&gt;&#10;                    &lt;Text style={{ fontSize: 25, fontWeight: '600', color: '#FFFFFF', marginTop: 12 }}&gt;大模型客服&lt;/Text&gt;&#10;                &lt;/Box&gt;&#10;                &lt;Box style={{ gap: 6 }}&gt;&#10;                    &lt;Text style={{ fontSize: 16, color: '#E9F0FA', letterSpacing: 1, opacity: 0.8 }}&gt;怎么工作&lt;/Text&gt;&#10;                    &lt;Text style={{ fontSize: 18, color: '#FFFFFF', lineHeight: 1.45 }}&gt;理解表达、提取信息、组织回复，并选择处理路径&lt;/Text&gt;&#10;                &lt;/Box&gt;&#10;                &lt;Box style={{ gap: 6 }}&gt;&#10;                    &lt;Text style={{ fontSize: 16, color: '#E9F0FA', letterSpacing: 1, opacity: 0.8 }}&gt;主要价值&lt;/Text&gt;&#10;                    &lt;Text style={{ fontSize: 18, color: '#FFFFFF', lineHeight: 1.45 }}&gt;用户说过的信息不必再问一遍，自然表达也能进入流程&lt;/Text&gt;&#10;                &lt;/Box&gt;&#10;                &lt;Box style={{ gap: 6, background: 'rgba(255,255,255,0.12)', borderRadius: 8, padding: '10px 12px' }}&gt;&#10;                    &lt;Text style={{ fontSize: 16, color: '#E9F0FA', letterSpacing: 1 }}&gt;卡在哪里&lt;/Text&gt;&#10;                    &lt;Text style={{ fontSize: 18, color: '#FFFFFF', lineHeight: 1.45 }}&gt;业务事实必须来自订单、政策等外部系统，不能凭空生成&lt;/Text&gt;&#10;                &lt;/Box&gt;&#10;            &lt;/Box&gt;&#10;        &lt;/Box&gt;&#10;        &lt;Box style={{ height: 40, background: '#E9F0FA', borderRadius: 10, justifyContent: 'center', paddingLeft: 22, borderLeft: '4px solid #123A78' }}&gt;&#10;            &lt;Text style={{ fontSize: 19, color: '#123A78', lineHeight: 1.4 }}&gt;&#10;                大模型不是客服自动化的起点；实际产品通常是让它&lt;span style={{ fontWeight: 'bold' }}&gt;与知识库、固定流程、业务规则和人工客服配合&lt;/span&gt;，而不是替换掉全部旧能力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矩形 1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从人工客服到大模型客服</a:t>
            </a:r>
            <a:endParaRPr/>
          </a:p>
        </p:txBody>
      </p:sp>
      <p:sp>
        <p:nvSpPr>
          <p:cNvPr id="1111" name="矩形 111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12" name="图形 11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11430000" cy="742950"/>
          </a:xfrm>
          <a:prstGeom prst="rect">
            <a:avLst/>
          </a:prstGeom>
          <a:ln/>
        </p:spPr>
      </p:pic>
      <p:sp>
        <p:nvSpPr>
          <p:cNvPr id="1113" name="圆角矩形 1112"/>
          <p:cNvSpPr/>
          <p:nvPr/>
        </p:nvSpPr>
        <p:spPr>
          <a:xfrm>
            <a:off x="3810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4" name="矩形 1113"/>
          <p:cNvSpPr/>
          <p:nvPr/>
        </p:nvSpPr>
        <p:spPr>
          <a:xfrm>
            <a:off x="5715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5715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人工客服</a:t>
            </a:r>
            <a:endParaRPr/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57150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57150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由人理解诉求，结合上下文灵活组织整个处理过程</a:t>
            </a:r>
            <a:endParaRPr/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57150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571500" y="3638550"/>
            <a:ext cx="23050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能回看记录、核对政策，处理「之前那个客服说可以换」这类争议</a:t>
            </a:r>
            <a:endParaRPr/>
          </a:p>
        </p:txBody>
      </p:sp>
      <p:sp>
        <p:nvSpPr>
          <p:cNvPr id="1120" name="圆角矩形 1119"/>
          <p:cNvSpPr/>
          <p:nvPr/>
        </p:nvSpPr>
        <p:spPr>
          <a:xfrm>
            <a:off x="571500" y="45339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1" name="文本框 1120" descr="{&quot;isTemplate&quot;:true,&quot;type&quot;:&quot;text&quot;}"/>
          <p:cNvSpPr txBox="1"/>
          <p:nvPr/>
        </p:nvSpPr>
        <p:spPr>
          <a:xfrm>
            <a:off x="685800" y="46291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685800" y="48768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重复咨询、高峰排队、新人培训、跨系统查询成本高</a:t>
            </a:r>
            <a:endParaRPr/>
          </a:p>
        </p:txBody>
      </p:sp>
      <p:sp>
        <p:nvSpPr>
          <p:cNvPr id="1123" name="圆角矩形 1122"/>
          <p:cNvSpPr/>
          <p:nvPr/>
        </p:nvSpPr>
        <p:spPr>
          <a:xfrm>
            <a:off x="32956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4" name="矩形 1123"/>
          <p:cNvSpPr/>
          <p:nvPr/>
        </p:nvSpPr>
        <p:spPr>
          <a:xfrm>
            <a:off x="348615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34861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23A78"/>
                </a:solidFill>
                <a:latin typeface="Microsoft YaHei"/>
                <a:ea typeface="Microsoft YaHei"/>
              </a:rPr>
              <a:t>FAQ </a:t>
            </a: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34861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27" name="文本框 1126" descr="{&quot;isTemplate&quot;:true,&quot;type&quot;:&quot;text&quot;}"/>
          <p:cNvSpPr txBox="1"/>
          <p:nvPr/>
        </p:nvSpPr>
        <p:spPr>
          <a:xfrm>
            <a:off x="34861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提前维护常见问题与答案，靠问题匹配返回答案</a:t>
            </a:r>
            <a:endParaRPr/>
          </a:p>
        </p:txBody>
      </p:sp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34861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34861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企业容易控制回答内容，适合常见且稳定的问题</a:t>
            </a:r>
            <a:endParaRPr/>
          </a:p>
        </p:txBody>
      </p:sp>
      <p:sp>
        <p:nvSpPr>
          <p:cNvPr id="1130" name="圆角矩形 1129"/>
          <p:cNvSpPr/>
          <p:nvPr/>
        </p:nvSpPr>
        <p:spPr>
          <a:xfrm>
            <a:off x="34861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36004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36004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用户一句话里常含多条线索，通用答案碰不到实际情况</a:t>
            </a:r>
            <a:endParaRPr/>
          </a:p>
        </p:txBody>
      </p:sp>
      <p:sp>
        <p:nvSpPr>
          <p:cNvPr id="1133" name="圆角矩形 1132"/>
          <p:cNvSpPr/>
          <p:nvPr/>
        </p:nvSpPr>
        <p:spPr>
          <a:xfrm>
            <a:off x="62103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4" name="矩形 1133"/>
          <p:cNvSpPr/>
          <p:nvPr/>
        </p:nvSpPr>
        <p:spPr>
          <a:xfrm>
            <a:off x="64008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64008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流程型机器人</a:t>
            </a:r>
            <a:endParaRPr/>
          </a:p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6400800" y="2628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6400800" y="2876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按预设步骤收集信息、调用接口、创建申请</a:t>
            </a:r>
            <a:endParaRPr/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6400800" y="356235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6400800" y="381000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步骤明确，容易知道用户当前在哪一步、还缺哪些信息</a:t>
            </a:r>
            <a:endParaRPr/>
          </a:p>
        </p:txBody>
      </p:sp>
      <p:sp>
        <p:nvSpPr>
          <p:cNvPr id="1140" name="圆角矩形 1139"/>
          <p:cNvSpPr/>
          <p:nvPr/>
        </p:nvSpPr>
        <p:spPr>
          <a:xfrm>
            <a:off x="6400800" y="44958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6515100" y="45910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6515100" y="48387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用户不沿流程走：中途改口、一次提两个诉求</a:t>
            </a:r>
            <a:endParaRPr/>
          </a:p>
        </p:txBody>
      </p:sp>
      <p:sp>
        <p:nvSpPr>
          <p:cNvPr id="1143" name="圆角矩形 1142"/>
          <p:cNvSpPr/>
          <p:nvPr/>
        </p:nvSpPr>
        <p:spPr>
          <a:xfrm>
            <a:off x="91249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93154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大模型客服</a:t>
            </a:r>
            <a:endParaRPr/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93154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理解表达、提取信息、组织回复，并选择处理路径</a:t>
            </a:r>
            <a:endParaRPr/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93154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用户说过的信息不必再问一遍，自然表达也能进入流程</a:t>
            </a:r>
            <a:endParaRPr/>
          </a:p>
        </p:txBody>
      </p:sp>
      <p:sp>
        <p:nvSpPr>
          <p:cNvPr id="1147" name="圆角矩形 1146"/>
          <p:cNvSpPr/>
          <p:nvPr/>
        </p:nvSpPr>
        <p:spPr>
          <a:xfrm>
            <a:off x="93154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8" name="文本框 1147" descr="{&quot;isTemplate&quot;:true,&quot;type&quot;:&quot;text&quot;}"/>
          <p:cNvSpPr txBox="1"/>
          <p:nvPr/>
        </p:nvSpPr>
        <p:spPr>
          <a:xfrm>
            <a:off x="94297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94297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业务事实必须来自订单、政策等外部系统，不能凭空生成</a:t>
            </a:r>
            <a:endParaRPr/>
          </a:p>
        </p:txBody>
      </p:sp>
      <p:sp>
        <p:nvSpPr>
          <p:cNvPr id="1150" name="圆角矩形 1149"/>
          <p:cNvSpPr/>
          <p:nvPr/>
        </p:nvSpPr>
        <p:spPr>
          <a:xfrm>
            <a:off x="419100" y="5829300"/>
            <a:ext cx="11430000" cy="381000"/>
          </a:xfrm>
          <a:prstGeom prst="roundRect">
            <a:avLst>
              <a:gd name="adj" fmla="val 2500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1" name="任意形状 1150"/>
          <p:cNvSpPr/>
          <p:nvPr/>
        </p:nvSpPr>
        <p:spPr>
          <a:xfrm>
            <a:off x="419100" y="5829300"/>
            <a:ext cx="11430000" cy="381000"/>
          </a:xfrm>
          <a:custGeom>
            <a:avLst/>
            <a:gdLst/>
            <a:ahLst/>
            <a:cxnLst/>
            <a:rect l="0" t="0" r="0" b="0"/>
            <a:pathLst>
              <a:path w="1200" h="4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4"/>
                </a:lnTo>
                <a:cubicBezTo>
                  <a:pt x="4" y="37"/>
                  <a:pt x="6" y="39"/>
                  <a:pt x="9" y="40"/>
                </a:cubicBezTo>
                <a:cubicBezTo>
                  <a:pt x="4" y="39"/>
                  <a:pt x="0" y="35"/>
                  <a:pt x="0" y="3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628650" y="5867400"/>
            <a:ext cx="111823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大模型不是客服自动化的起点；实际产品通常是让它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与知识库、固定流程、业务规则和人工客服配合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，而不是替换掉全部旧能力。</a:t>
            </a:r>
            <a:endParaRPr/>
          </a:p>
        </p:txBody>
      </p:sp>
      <p:sp>
        <p:nvSpPr>
          <p:cNvPr id="1153" name="任意形状 11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09 / 59</a:t>
            </a:r>
            <a:endParaRPr/>
          </a:p>
        </p:txBody>
      </p:sp>
      <p:sp>
        <p:nvSpPr>
          <p:cNvPr id="1156" name="矩形 1155"/>
          <p:cNvSpPr/>
          <p:nvPr/>
        </p:nvSpPr>
        <p:spPr>
          <a:xfrm>
            <a:off x="9315450" y="2105025"/>
            <a:ext cx="3810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93154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93154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课堂互动 01&lt;/Text&gt;&#10;            &lt;Text style={{ fontSize: 34, fontWeight: '600', color: '#123A78', marginTop: 8, lineHeight: 1.25 }}&gt;引入大模型，最该优先改善什么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1, color: '#123A78', marginTop: 10, lineHeight: 1.5 }}&gt;&#10;                    假设店铺已经有常见问题、自助查单和售后申请入口，你认为引入大模型&lt;span style={{ fontWeight: 'bold' }}&gt;最值得优先改善&lt;/span&gt;什么？&#10;                &lt;/Text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1, color: '#1A2230', lineHeight: 1.5, flex: 1 }}&gt;让客服回复更自然、更像真人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1, color: '#1A2230', lineHeight: 1.5, flex: 1 }}&gt;让用户用自己的话描述需求，系统仍能理解并进入正确的处理流程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1, color: '#1A2230', lineHeight: 1.5, flex: 1 }}&gt;让全部售后操作不再需要人工参与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1, color: '#E9F0FA', marginTop: 14, lineHeight: 1.55 }}&gt;&#10;                    让用户用自己的话描述需求，系统仍能理解并进入&lt;span style={{ fontWeight: 'bold', color: '#FFFFFF' }}&gt;正确的处理流程&lt;/span&gt;。&#10;                &lt;/Text&gt;&#10;            &lt;/Box&gt;&#10;            &lt;Box style={{ background: '#FFFFFF', border: '1px solid #D6DCE5', borderRadius: 10, padding: '20px 22px' }}&gt;&#10;                &lt;Text style={{ fontSize: 20, color: '#2F6FD0', fontWeight: 'bold', lineHeight: 1.45 }}&gt;A 有价值，但不够&lt;/Text&gt;&#10;                &lt;Text style={{ fontSize: 19, color: '#1A2230', marginTop: 10, lineHeight: 1.5 }}&gt;&#10;                    回复清楚、自然确实影响体验。但说得很自然却查错订单、没有推进申请，服务仍然没有完成。&#10;                &lt;/Text&gt;&#10;            &lt;/Box&gt;&#10;            &lt;Box style={{ background: '#FFFFFF', border: '1px solid #D6DCE5', borderRadius: 10, padding: '20px 22px' }}&gt;&#10;                &lt;Text style={{ fontSize: 20, color: '#C0392B', fontWeight: 'bold', lineHeight: 1.45 }}&gt;C 不能作为默认目标&lt;/Text&gt;&#10;                &lt;Text style={{ fontSize: 19, color: '#1A2230', marginTop: 10, lineHeight: 1.5 }}&gt;&#10;                    是否自动处理要结合业务规则、权限和风险。不能因为模型理解了退款诉求，就让它自行批准退款。&#10;                &lt;/Text&gt;&#10;            &lt;/Box&gt;&#10;            &lt;Box style={{ background: '#E9F0FA', borderRadius: 10, padding: '18px 22px', borderLeft: '5px solid #123A78' }}&gt;&#10;                &lt;Text style={{ fontSize: 20, color: '#123A78', lineHeight: 1.5 }}&gt;&#10;                    我们要的是：&lt;span style={{ fontWeight: 'bold' }}&gt;让用户表达得自然，也让后面的处理有明确步骤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引入大模型，最该优先改善什么</a:t>
            </a:r>
            <a:endParaRPr/>
          </a:p>
        </p:txBody>
      </p:sp>
      <p:sp>
        <p:nvSpPr>
          <p:cNvPr id="22" name="矩形 2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圆角矩形 22"/>
          <p:cNvSpPr/>
          <p:nvPr/>
        </p:nvSpPr>
        <p:spPr>
          <a:xfrm>
            <a:off x="428625" y="1066800"/>
            <a:ext cx="6096000" cy="1390650"/>
          </a:xfrm>
          <a:prstGeom prst="roundRect">
            <a:avLst>
              <a:gd name="adj" fmla="val 684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任意形状 23"/>
          <p:cNvSpPr/>
          <p:nvPr/>
        </p:nvSpPr>
        <p:spPr>
          <a:xfrm>
            <a:off x="428625" y="1066800"/>
            <a:ext cx="6096000" cy="1390650"/>
          </a:xfrm>
          <a:custGeom>
            <a:avLst/>
            <a:gdLst/>
            <a:ahLst/>
            <a:cxnLst/>
            <a:rect l="0" t="0" r="0" b="0"/>
            <a:pathLst>
              <a:path w="640" h="14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1"/>
                </a:lnTo>
                <a:cubicBezTo>
                  <a:pt x="5" y="143"/>
                  <a:pt x="7" y="145"/>
                  <a:pt x="9" y="146"/>
                </a:cubicBezTo>
                <a:cubicBezTo>
                  <a:pt x="4" y="145"/>
                  <a:pt x="0" y="141"/>
                  <a:pt x="0" y="1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57225" y="1543050"/>
            <a:ext cx="55911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假设店铺已经有常见问题、自助查单和售后申请入口，你认为引入大模型</a:t>
            </a: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最值得优先改善</a:t>
            </a: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什么？</a:t>
            </a:r>
            <a:endParaRPr/>
          </a:p>
        </p:txBody>
      </p:sp>
      <p:sp>
        <p:nvSpPr>
          <p:cNvPr id="27" name="圆角矩形 26"/>
          <p:cNvSpPr/>
          <p:nvPr/>
        </p:nvSpPr>
        <p:spPr>
          <a:xfrm>
            <a:off x="381000" y="2752725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圆角矩形 27"/>
          <p:cNvSpPr/>
          <p:nvPr/>
        </p:nvSpPr>
        <p:spPr>
          <a:xfrm>
            <a:off x="609600" y="29432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71525" y="30575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257300" y="2943225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让客服回复更自然、更像真人</a:t>
            </a:r>
            <a:endParaRPr/>
          </a:p>
        </p:txBody>
      </p:sp>
      <p:sp>
        <p:nvSpPr>
          <p:cNvPr id="31" name="圆角矩形 30"/>
          <p:cNvSpPr/>
          <p:nvPr/>
        </p:nvSpPr>
        <p:spPr>
          <a:xfrm>
            <a:off x="381000" y="3933825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圆角矩形 31"/>
          <p:cNvSpPr/>
          <p:nvPr/>
        </p:nvSpPr>
        <p:spPr>
          <a:xfrm>
            <a:off x="609600" y="41243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71525" y="42386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1257300" y="4124325"/>
            <a:ext cx="49911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让用户用自己的话描述需求，系统仍能理解并进入正确的处理流程</a:t>
            </a:r>
            <a:endParaRPr/>
          </a:p>
        </p:txBody>
      </p:sp>
      <p:sp>
        <p:nvSpPr>
          <p:cNvPr id="35" name="圆角矩形 34"/>
          <p:cNvSpPr/>
          <p:nvPr/>
        </p:nvSpPr>
        <p:spPr>
          <a:xfrm>
            <a:off x="381000" y="5334000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圆角矩形 35"/>
          <p:cNvSpPr/>
          <p:nvPr/>
        </p:nvSpPr>
        <p:spPr>
          <a:xfrm>
            <a:off x="609600" y="5524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71525" y="56388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257300" y="5524500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让全部售后操作不再需要人工参与</a:t>
            </a:r>
            <a:endParaRPr/>
          </a:p>
        </p:txBody>
      </p:sp>
      <p:sp>
        <p:nvSpPr>
          <p:cNvPr id="53" name="任意形状 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2&lt;/Text&gt;&#10;            &lt;Box style={{ width: 200, height: 4, background: '#2F6FD0' }} /&gt;&#10;            &lt;Text style={{ fontSize: 16, color: '#8B97A8', letterSpacing: 3, fontFamily: 'JetBrains Mono' }}&gt;P.16 – 24&lt;/Text&gt;&#10;        &lt;/Box&gt;&#10;        &lt;Box style={{ flex: 1, gap: 20 }}&gt;&#10;            &lt;Text style={{ fontSize: 44, fontWeight: '700', color: '#123A78', lineHeight: 1.25 }}&gt;整体方案&lt;br /&gt;与主工作流&lt;/Text&gt;&#10;            &lt;Text style={{ fontSize: 22, color: '#4A5568', lineHeight: 1.55 }}&gt;&#10;                先回答这个问题：用户发来一句话之后，系统怎样知道该做什么，把这个请求交给哪一条流程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拆开「用户看到的产品」与「背后的处理流程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条路径怎么分、意图分类为什么不能只写标签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上下文与任务状态：不是每一句话都重新从头分流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6" name="矩形 175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P.16 – 24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整体方案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与主工作流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先回答这个问题：用户发来一句话之后，系统怎样知道该做什么，把这个请求交给哪一条流程。</a:t>
            </a:r>
            <a:endParaRPr dirty="0"/>
          </a:p>
        </p:txBody>
      </p:sp>
      <p:sp>
        <p:nvSpPr>
          <p:cNvPr id="180" name="圆角矩形 179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拆开「用户看到的产品」与「背后的处理流程」</a:t>
            </a:r>
            <a:endParaRPr/>
          </a:p>
        </p:txBody>
      </p:sp>
      <p:sp>
        <p:nvSpPr>
          <p:cNvPr id="182" name="圆角矩形 181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四条路径怎么分、意图分类为什么不能只写标签</a:t>
            </a:r>
            <a:endParaRPr/>
          </a:p>
        </p:txBody>
      </p:sp>
      <p:sp>
        <p:nvSpPr>
          <p:cNvPr id="184" name="圆角矩形 183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上下文与任务状态：不是每一句话都重新从头分流</a:t>
            </a:r>
            <a:endParaRPr/>
          </a:p>
        </p:txBody>
      </p:sp>
      <p:sp>
        <p:nvSpPr>
          <p:cNvPr id="186" name="矩形 18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看这个产品应该怎样工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4, background: '#123A78', borderRadius: 10, justifyContent: 'center', paddingLeft: 22, flexDirection: 'row', alignItems: 'center', gap: 18 }}&gt;&#10;            &lt;Text style={{ fontSize: 20, color: '#FFFFFF', fontWeight: '600' }}&gt;同一个客服窗口 · 三段目标对话&lt;/Text&gt;&#10;            &lt;Text style={{ fontSize: 17, color: '#E9F0FA', opacity: 0.85 }}&gt;教学设计的预期效果，不是已运行验证的结果&lt;/Text&gt;&#10;        &lt;/Box&gt;&#10;        &lt;Box style={{ height: 400, flexDirection: 'row', gap: 21, alignItems: 'flex-start' }}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22, fontWeight: '600', color: '#123A78' }}&gt;查询订单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上周买的耳机怎么还没到？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查询到您近期有两笔耳机订单，请选择需要查询的一笔。&lt;/Text&gt;&#10;                &lt;/Box&gt;&#10;                &lt;Box style={{ background: '#E9F0FA', borderRadius: 8, padding: '10px 12px' }}&gt;&#10;                    &lt;Text style={{ fontSize: 16, color: '#2F6FD0' }}&gt;用户&lt;/Text&gt;&#10;                    &lt;Text style={{ fontSize: 18, color: '#123A78', marginTop: 4, lineHeight: 1.45 }}&gt;第二个。&lt;/Text&gt;&#10;                &lt;/Box&gt;&#10;                &lt;Text style={{ fontSize: 17, color: '#2F6FD0', marginTop: 12, lineHeight: 1.45 }}&gt;背后要连接：订单系统 + 物流数据&lt;/Text&gt;&#10;            &lt;/Box&gt;&#10;            &lt;Box style={{ width: 386, background: '#FFFFFF', border: '2px solid #123A78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22, fontWeight: '600', color: '#123A78' }}&gt;处理售后诉求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收到的耳机右边没有声音，我想换一个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我先帮您确认需要处理的订单，请选择对应商品。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已确认订单。请问右侧耳机是收到后一直没有声音，还是使用过程中出现的？&lt;/Text&gt;&#10;                &lt;/Box&gt;&#10;                &lt;Text style={{ fontSize: 17, color: '#2F6FD0', marginTop: 12, lineHeight: 1.45 }}&gt;背后还要：理解故障 + 收集信息 + 查询政策&lt;/Text&gt;&#10;            &lt;/Box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22, fontWeight: '600', color: '#123A78' }}&gt;推荐商品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想买个通勤用的耳机，预算三百以内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您更看重降噪，还是佩戴舒适度？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根据店铺当前商品资料，我为您筛选了以下候选，您可以比较价格、降噪与佩戴方式。&lt;/Text&gt;&#10;                &lt;/Box&gt;&#10;                &lt;Text style={{ fontSize: 17, color: '#2F6FD0', marginTop: 12, lineHeight: 1.45 }}&gt;背后主要依赖：用户偏好 + 商品数据&lt;/Text&gt;&#10;            &lt;/Box&gt;&#10;        &lt;/Box&gt;&#10;        &lt;Box style={{ height: 62, background: '#E9F0FA', borderRadius: 10, justifyContent: 'center', paddingLeft: 22, borderLeft: '5px solid #123A78' }}&gt;&#10;            &lt;Text style={{ fontSize: 20, color: '#123A78', lineHeight: 1.45 }}&gt;&#10;                三个场景用同一个对话窗口，处理方式却完全不同 —— 所以产品&lt;span style={{ fontWeight: 'bold' }}&gt;不能只依赖一句笼统的提示词&lt;/span&gt;：「你是一名专业电商客服，请回答用户的问题。」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先看这个产品应该怎样工作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圆角矩形 191"/>
          <p:cNvSpPr/>
          <p:nvPr/>
        </p:nvSpPr>
        <p:spPr>
          <a:xfrm>
            <a:off x="381000" y="106680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3171825" y="1162050"/>
            <a:ext cx="2647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同一个客服窗口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三段目标对话</a:t>
            </a:r>
            <a:endParaRPr/>
          </a:p>
        </p:txBody>
      </p:sp>
      <p:sp>
        <p:nvSpPr>
          <p:cNvPr id="194" name="圆角矩形 193"/>
          <p:cNvSpPr/>
          <p:nvPr/>
        </p:nvSpPr>
        <p:spPr>
          <a:xfrm>
            <a:off x="381000" y="1647825"/>
            <a:ext cx="3676650" cy="374332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圆角矩形 194"/>
          <p:cNvSpPr/>
          <p:nvPr/>
        </p:nvSpPr>
        <p:spPr>
          <a:xfrm>
            <a:off x="55245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6675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95250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查询订单</a:t>
            </a:r>
            <a:endParaRPr/>
          </a:p>
        </p:txBody>
      </p:sp>
      <p:sp>
        <p:nvSpPr>
          <p:cNvPr id="198" name="圆角矩形 197"/>
          <p:cNvSpPr/>
          <p:nvPr/>
        </p:nvSpPr>
        <p:spPr>
          <a:xfrm>
            <a:off x="55245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6675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6675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01" name="圆角矩形 200"/>
          <p:cNvSpPr/>
          <p:nvPr/>
        </p:nvSpPr>
        <p:spPr>
          <a:xfrm>
            <a:off x="552450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6675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66750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查询到您近期有两笔耳机订单，请选择需要查询的一笔。</a:t>
            </a:r>
            <a:endParaRPr/>
          </a:p>
        </p:txBody>
      </p:sp>
      <p:sp>
        <p:nvSpPr>
          <p:cNvPr id="204" name="圆角矩形 203"/>
          <p:cNvSpPr/>
          <p:nvPr/>
        </p:nvSpPr>
        <p:spPr>
          <a:xfrm>
            <a:off x="552450" y="4114800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66750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66750" y="4438650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第二个。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52450" y="4953000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背后要连接：订单系统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物流数据</a:t>
            </a:r>
            <a:endParaRPr/>
          </a:p>
        </p:txBody>
      </p:sp>
      <p:sp>
        <p:nvSpPr>
          <p:cNvPr id="208" name="圆角矩形 207"/>
          <p:cNvSpPr/>
          <p:nvPr/>
        </p:nvSpPr>
        <p:spPr>
          <a:xfrm>
            <a:off x="4257675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5400">
            <a:solidFill>
              <a:srgbClr val="123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圆角矩形 208"/>
          <p:cNvSpPr/>
          <p:nvPr/>
        </p:nvSpPr>
        <p:spPr>
          <a:xfrm>
            <a:off x="4429125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543425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829175" y="1828800"/>
            <a:ext cx="12573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处理售后诉求</a:t>
            </a:r>
            <a:endParaRPr/>
          </a:p>
        </p:txBody>
      </p:sp>
      <p:sp>
        <p:nvSpPr>
          <p:cNvPr id="212" name="圆角矩形 211"/>
          <p:cNvSpPr/>
          <p:nvPr/>
        </p:nvSpPr>
        <p:spPr>
          <a:xfrm>
            <a:off x="4429125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543425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4543425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收到的耳机右边没有声音，我想换一个。</a:t>
            </a:r>
            <a:endParaRPr/>
          </a:p>
        </p:txBody>
      </p:sp>
      <p:sp>
        <p:nvSpPr>
          <p:cNvPr id="215" name="圆角矩形 214"/>
          <p:cNvSpPr/>
          <p:nvPr/>
        </p:nvSpPr>
        <p:spPr>
          <a:xfrm>
            <a:off x="4429125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543425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543425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我先帮您确认需要处理的订单，请选择对应商品。</a:t>
            </a:r>
            <a:endParaRPr/>
          </a:p>
        </p:txBody>
      </p:sp>
      <p:sp>
        <p:nvSpPr>
          <p:cNvPr id="218" name="圆角矩形 217"/>
          <p:cNvSpPr/>
          <p:nvPr/>
        </p:nvSpPr>
        <p:spPr>
          <a:xfrm>
            <a:off x="4429125" y="4114800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543425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543425" y="4438650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已确认订单。请问右侧耳机是收到后一直没有声音，还是使用过程中出现的？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429125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背后还要：理解故障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收集信息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查询政策</a:t>
            </a:r>
            <a:endParaRPr/>
          </a:p>
        </p:txBody>
      </p:sp>
      <p:sp>
        <p:nvSpPr>
          <p:cNvPr id="222" name="圆角矩形 221"/>
          <p:cNvSpPr/>
          <p:nvPr/>
        </p:nvSpPr>
        <p:spPr>
          <a:xfrm>
            <a:off x="8134350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圆角矩形 222"/>
          <p:cNvSpPr/>
          <p:nvPr/>
        </p:nvSpPr>
        <p:spPr>
          <a:xfrm>
            <a:off x="830580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42010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70585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推荐商品</a:t>
            </a:r>
            <a:endParaRPr/>
          </a:p>
        </p:txBody>
      </p:sp>
      <p:sp>
        <p:nvSpPr>
          <p:cNvPr id="226" name="圆角矩形 225"/>
          <p:cNvSpPr/>
          <p:nvPr/>
        </p:nvSpPr>
        <p:spPr>
          <a:xfrm>
            <a:off x="830580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842010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42010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想买个通勤用的耳机，预算三百以内。</a:t>
            </a:r>
            <a:endParaRPr/>
          </a:p>
        </p:txBody>
      </p:sp>
      <p:sp>
        <p:nvSpPr>
          <p:cNvPr id="229" name="圆角矩形 228"/>
          <p:cNvSpPr/>
          <p:nvPr/>
        </p:nvSpPr>
        <p:spPr>
          <a:xfrm>
            <a:off x="8305800" y="30194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842010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420100" y="33432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您更看重降噪，还是佩戴舒适度？</a:t>
            </a:r>
            <a:endParaRPr/>
          </a:p>
        </p:txBody>
      </p:sp>
      <p:sp>
        <p:nvSpPr>
          <p:cNvPr id="232" name="圆角矩形 231"/>
          <p:cNvSpPr/>
          <p:nvPr/>
        </p:nvSpPr>
        <p:spPr>
          <a:xfrm>
            <a:off x="8305800" y="3819525"/>
            <a:ext cx="3333750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8420100" y="39147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420100" y="4143375"/>
            <a:ext cx="31051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根据店铺当前商品资料，我为您筛选了以下候选，您可以比较价格、降噪与佩戴方式。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8305800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背后主要依赖：用户偏好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商品数据</a:t>
            </a:r>
            <a:endParaRPr/>
          </a:p>
        </p:txBody>
      </p:sp>
      <p:sp>
        <p:nvSpPr>
          <p:cNvPr id="239" name="任意形状 23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12 / 59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5991225" y="1181100"/>
            <a:ext cx="3238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0FA">
                    <a:alpha val="85000"/>
                  </a:srgbClr>
                </a:solidFill>
                <a:latin typeface="Microsoft YaHei"/>
                <a:ea typeface="Microsoft YaHei"/>
              </a:rPr>
              <a:t>教学设计的预期效果，不是已运行验证的结果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区分「用户看到的产品」和「背后的处理流程」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400, height: 540, justifyContent: 'space-between' }}&gt;&#10;            &lt;Box&gt;&#10;                &lt;Text style={{ fontSize: 24, fontWeight: '600', color: '#123A78' }}&gt;用户看到的：一个客服界面&lt;/Text&gt;&#10;                &lt;Box style={{ width: 90, height: 3, background: '#2F6FD0', marginTop: 10 }} /&gt;&#10;            &lt;/Box&gt;&#10;            &lt;svg width={400} height={330} viewBox='0 0 400 330'&gt;&#10;                &lt;rect x='10' y='0' width='300' height='320' rx='16' fill='#FFFFFF' stroke='#D6DCE5' strokeWidth='2' /&gt;&#10;                &lt;rect x='10' y='0' width='300' height='46' rx='16' fill='#123A78' /&gt;&#10;                &lt;rect x='10' y='30' width='300' height='16' fill='#123A78' /&gt;&#10;                &lt;rect x='34' y='18' width='86' height='9' rx='4' fill='#FFFFFF' opacity='0.85' /&gt;&#10;                &lt;rect x='34' y='64' width='150' height='40' rx='12' fill='#E9F0FA' /&gt;&#10;                &lt;rect x='130' y='116' width='152' height='40' rx='12' fill='#F7F9FC' /&gt;&#10;                &lt;rect x='34' y='170' width='248' height='46' rx='12' fill='#FFFFFF' stroke='#2F6FD0' strokeWidth='2' /&gt;&#10;                &lt;circle cx='58' cy='193' r='10' fill='#123A78' /&gt;&#10;                &lt;rect x='80' y='186' width='150' height='8' rx='4' fill='#123A78' opacity='0.7' /&gt;&#10;                &lt;rect x='80' y='200' width='104' height='7' rx='3' fill='#8B97A8' opacity='0.6' /&gt;&#10;                &lt;rect x='34' y='230' width='116' height='34' rx='8' fill='#123A78' /&gt;&#10;                &lt;rect x='166' y='230' width='116' height='34' rx='8' fill='#FFFFFF' stroke='#D6DCE5' strokeWidth='2' /&gt;&#10;                &lt;rect x='34' y='280' width='248' height='28' rx='14' fill='#F7F9FC' stroke='#D6DCE5' strokeWidth='2' /&gt;&#10;                &lt;text x='48' y='252' fontFamily='Source Han Sans SC' fontSize='15' fill='#FFFFFF'&gt;确认提交&lt;/text&gt;&#10;                &lt;text x='188' y='252' fontFamily='Source Han Sans SC' fontSize='15' fill='#4A5568'&gt;修改信息&lt;/text&gt;&#10;                &lt;text x='326' y='82' fontFamily='Source Han Sans SC' fontSize='15' fill='#123A78'&gt;输入&lt;/text&gt;&#10;                &lt;text x='326' y='128' fontFamily='Source Han Sans SC' fontSize='15' fill='#123A78'&gt;选择&lt;/text&gt;&#10;                &lt;text x='326' y='206' fontFamily='Source Han Sans SC' fontSize='15' fill='#123A78'&gt;订单卡&lt;/text&gt;&#10;                &lt;text x='326' y='252' fontFamily='Source Han Sans SC' fontSize='15' fill='#123A78'&gt;按钮&lt;/text&gt;&#10;                &lt;text x='326' y='298' fontFamily='Source Han Sans SC' fontSize='15' fill='#123A78'&gt;结果&lt;/text&gt;&#10;            &lt;/svg&gt;&#10;            &lt;Box style={{ background: '#F7F9FC', borderRadius: 10, padding: '14px 18px', borderLeft: '4px solid #8B97A8' }}&gt;&#10;                &lt;Text style={{ fontSize: 18, color: '#4A5568', lineHeight: 1.5 }}&gt;&#10;                    用户在这个界面里能做的事：输入问题、选择订单或商品、补充信息、查看处理结果、必要时转人工。&#10;                &lt;/Text&gt;&#10;            &lt;/Box&gt;&#10;        &lt;/Box&gt;&#10;        &lt;Box style={{ flex: 1, height: 540, justifyContent: 'space-between' }}&gt;&#10;            &lt;Box style={{ height: 46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背后的产品部分', textStyle: { bold: true, color: '#FFFFFF', fontSize: 20 }, cellStyle: { background: { color: '#123A78' } } },&#10;                            { text: '具体作用', textStyle: { bold: true, color: '#FFFFFF', fontSize: 20 }, cellStyle: { background: { color: '#123A78' } } },&#10;                        ],&#10;                        [&#10;                            { text: '对话入口', textStyle: { bold: true, color: '#123A78' }, cellStyle: { background: { color: '#F7F9FC' } } },&#10;                            { text: '接收文字、选择操作和其他必要输入', cellStyle: { background: { color: '#F7F9FC' } } },&#10;                        ],&#10;                        [&#10;                            { text: '主工作流', textStyle: { bold: true, color: '#123A78' } },&#10;                            { text: '判断当前请求应该进入哪一条处理路径' },&#10;                        ],&#10;                        [&#10;                            { text: '子工作流', textStyle: { bold: true, color: '#123A78' }, cellStyle: { background: { color: '#F7F9FC' } } },&#10;                            { text: '分别完成订单查询、售后处理、商品推荐等任务', cellStyle: { background: { color: '#F7F9FC' } } },&#10;                        ],&#10;                        [&#10;                            { text: '知识与业务系统', textStyle: { bold: true, color: '#123A78' } },&#10;                            { text: '提供商品、政策、订单和售后信息' },&#10;                        ],&#10;                        [&#10;                            { text: '人工服务', textStyle: { bold: true, color: '#123A78' }, cellStyle: { background: { color: '#F7F9FC' } } },&#10;                            { text: '承接需要进一步处理的情况', cellStyle: { background: { color: '#F7F9FC' } } },&#10;                        ],&#10;                        [&#10;                            { text: '处理记录', textStyle: { bold: true, color: '#123A78' } },&#10;                            { text: '保存必要的对话、状态和调用结果，便于继续服务与排查问题' },&#10;                        ],&#10;                    ]}&#10;                /&gt;&#10;            &lt;/Box&gt;&#10;            &lt;Box style={{ height: 64, background: '#123A78', borderRadius: 10, justifyContent: 'center', paddingLeft: 22, paddingRight: 20 }}&gt;&#10;                &lt;Text style={{ fontSize: 19, color: '#FFFFFF', lineHeight: 1.45 }}&gt;&#10;                    这里的「工作流」，可以先理解为：&lt;span style={{ fontWeight: 'bold' }}&gt;系统收到请求以后，按什么步骤调用哪些能力，并根据结果决定下一步&lt;/span&gt;。本节先看懂整体关系，后面再逐条拆开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381000" y="266700"/>
            <a:ext cx="712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81000" y="504825"/>
            <a:ext cx="71247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先区分「用户看到的产品」和「背后的处理流程」</a:t>
            </a:r>
            <a:endParaRPr/>
          </a:p>
        </p:txBody>
      </p:sp>
      <p:sp>
        <p:nvSpPr>
          <p:cNvPr id="247" name="矩形 2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81000" y="1066800"/>
            <a:ext cx="3810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23A78"/>
                </a:solidFill>
                <a:latin typeface="Microsoft YaHei"/>
                <a:ea typeface="Microsoft YaHei"/>
              </a:rPr>
              <a:t>用户看到的：一个客服界面</a:t>
            </a:r>
            <a:endParaRPr/>
          </a:p>
        </p:txBody>
      </p:sp>
      <p:sp>
        <p:nvSpPr>
          <p:cNvPr id="249" name="矩形 248"/>
          <p:cNvSpPr/>
          <p:nvPr/>
        </p:nvSpPr>
        <p:spPr>
          <a:xfrm>
            <a:off x="381000" y="1438275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0" name="图形 2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666875"/>
            <a:ext cx="3810000" cy="3143250"/>
          </a:xfrm>
          <a:prstGeom prst="rect">
            <a:avLst/>
          </a:prstGeom>
          <a:ln/>
        </p:spPr>
      </p:pic>
      <p:sp>
        <p:nvSpPr>
          <p:cNvPr id="251" name="圆角矩形 250"/>
          <p:cNvSpPr/>
          <p:nvPr/>
        </p:nvSpPr>
        <p:spPr>
          <a:xfrm>
            <a:off x="419100" y="5010150"/>
            <a:ext cx="3810000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任意形状 251"/>
          <p:cNvSpPr/>
          <p:nvPr/>
        </p:nvSpPr>
        <p:spPr>
          <a:xfrm>
            <a:off x="419100" y="5010150"/>
            <a:ext cx="3810000" cy="1200150"/>
          </a:xfrm>
          <a:custGeom>
            <a:avLst/>
            <a:gdLst/>
            <a:ahLst/>
            <a:cxnLst/>
            <a:rect l="0" t="0" r="0" b="0"/>
            <a:pathLst>
              <a:path w="400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590550" y="5143500"/>
            <a:ext cx="3429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用户在这个界面里能做的事：输入问题、选择订单或商品、补充信息、查看处理结果、必要时转人工。</a:t>
            </a:r>
            <a:endParaRPr/>
          </a:p>
        </p:txBody>
      </p:sp>
      <p:sp>
        <p:nvSpPr>
          <p:cNvPr id="254" name="圆角矩形 253"/>
          <p:cNvSpPr/>
          <p:nvPr/>
        </p:nvSpPr>
        <p:spPr>
          <a:xfrm>
            <a:off x="4533900" y="1066800"/>
            <a:ext cx="7277100" cy="4381500"/>
          </a:xfrm>
          <a:prstGeom prst="roundRect">
            <a:avLst>
              <a:gd name="adj" fmla="val 2174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55" name="表格 254"/>
          <p:cNvGraphicFramePr/>
          <p:nvPr/>
        </p:nvGraphicFramePr>
        <p:xfrm>
          <a:off x="4533900" y="1066800"/>
          <a:ext cx="7277100" cy="4381497"/>
        </p:xfrm>
        <a:graphic>
          <a:graphicData uri="http://schemas.openxmlformats.org/drawingml/2006/table">
            <a:tbl>
              <a:tblPr/>
              <a:tblGrid>
                <a:gridCol w="161953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65756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6401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背后的产品部分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具体作用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对话入口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接收文字、选择操作和其他必要输入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主工作流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判断当前请求应该进入哪一条处理路径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子工作流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分别完成订单查询、售后处理、商品推荐等任务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知识与业务系统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提供商品、政策、订单和售后信息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人工服务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承接需要进一步处理的情况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处理记录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保存必要的对话、状态和调用结果，便于继续服务与排查问题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256" name="圆角矩形 255"/>
          <p:cNvSpPr/>
          <p:nvPr/>
        </p:nvSpPr>
        <p:spPr>
          <a:xfrm>
            <a:off x="4533900" y="5600700"/>
            <a:ext cx="7277100" cy="609600"/>
          </a:xfrm>
          <a:prstGeom prst="roundRect">
            <a:avLst>
              <a:gd name="adj" fmla="val 15625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743450" y="5591175"/>
            <a:ext cx="68770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这里的「工作流」，可以先理解为：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系统收到请求以后，按什么步骤调用哪些能力，并根据结果决定下一步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。本节先看懂整体关系，后面再逐条拆开。</a:t>
            </a:r>
            <a:endParaRPr/>
          </a:p>
        </p:txBody>
      </p:sp>
      <p:sp>
        <p:nvSpPr>
          <p:cNvPr id="258" name="任意形状 25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13 / 59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：把请求交给正确的分支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420' y='0' width='360' height='58' rx='10' fill='#FFFFFF' stroke='#2F6FD0' strokeWidth='2' /&gt;&#10;            &lt;text x='600' y='37' textAnchor='middle' fontFamily='Source Han Sans SC' fontSize='21' fill='#123A78' fontWeight='bold'&gt;用户消息或页面操作&lt;/text&gt;&#10;            &lt;line x1='600' y1='58' x2='600' y2='86' stroke='#2F6FD0' strokeWidth='2' /&gt;&#10;            &lt;path d='M600 86 L594 76 L606 76 Z' fill='#2F6FD0' /&gt;&#10;&#10;            &lt;rect x='420' y='88' width='360' height='58' rx='10' fill='#FFFFFF' stroke='#2F6FD0' strokeWidth='2' /&gt;&#10;            &lt;text x='600' y='125' textAnchor='middle' fontFamily='Source Han Sans SC' fontSize='21' fill='#123A78' fontWeight='bold'&gt;读取当前会话与已有任务信息&lt;/text&gt;&#10;            &lt;line x1='600' y1='146' x2='600' y2='172' stroke='#2F6FD0' strokeWidth='2' /&gt;&#10;            &lt;path d='M600 172 L594 162 L606 162 Z' fill='#2F6FD0' /&gt;&#10;&#10;            &lt;rect x='340' y='174' width='520' height='62' rx='10' fill='#123A78' /&gt;&#10;            &lt;text x='600' y='203' textAnchor='middle' fontFamily='Source Han Sans SC' fontSize='23' fill='#FFFFFF' fontWeight='bold'&gt;判断用户意图与处理路径&lt;/text&gt;&#10;            &lt;text x='600' y='225' textAnchor='middle' fontFamily='JetBrains Mono' fontSize='15' fill='#E9F0FA'&gt;combine current message + task state&lt;/text&gt;&#10;&#10;            &lt;rect x='862' y='182' width='318' height='82' rx='10' fill='#FDF2F0' stroke='#C0392B' strokeWidth='2' strokeDasharray='6 4' /&gt;&#10;            &lt;text x='882' y='212' fontFamily='Source Han Sans SC' fontSize='18' fill='#C0392B' fontWeight='bold'&gt;人工接管不只出现在最后&lt;/text&gt;&#10;            &lt;text x='882' y='236' fontFamily='Source Han Sans SC' fontSize='16' fill='#C0392B'&gt;用户明确要求，或流程无法继续时&lt;/text&gt;&#10;            &lt;text x='882' y='255' fontFamily='Source Han Sans SC' fontSize='16' fill='#C0392B'&gt;都可以进入人工路径&lt;/text&gt;&#10;            &lt;line x1='860' y1='205' x2='862' y2='205' stroke='#C0392B' strokeWidth='2' strokeDasharray='4 3' /&gt;&#10;&#10;            &lt;line x1='600' y1='236' x2='600' y2='266' stroke='#2F6FD0' strokeWidth='2' /&gt;&#10;            &lt;line x1='168' y1='266' x2='1032' y2='266' stroke='#2F6FD0' strokeWidth='2' /&gt;&#10;            &lt;line x1='168' y1='266' x2='168' y2='286' stroke='#2F6FD0' strokeWidth='2' /&gt;&#10;            &lt;line x1='456' y1='266' x2='456' y2='286' stroke='#2F6FD0' strokeWidth='2' /&gt;&#10;            &lt;line x1='744' y1='266' x2='744' y2='286' stroke='#2F6FD0' strokeWidth='2' /&gt;&#10;            &lt;line x1='1032' y1='266' x2='1032' y2='286' stroke='#2F6FD0' strokeWidth='2' /&gt;&#10;&#10;            &lt;rect x='34' y='288' width='268' height='70' rx='10' fill='#FFFFFF' stroke='#2F6FD0' strokeWidth='2' /&gt;&#10;            &lt;text x='52' y='318' fontFamily='Source Han Sans SC' fontSize='20' fill='#123A78' fontWeight='bold'&gt;1 · 订单查询&lt;/text&gt;&#10;            &lt;text x='52' y='342' fontFamily='JetBrains Mono' fontSize='15' fill='#8B97A8'&gt;order_query&lt;/text&gt;&#10;&#10;            &lt;rect x='322' y='288' width='268' height='70' rx='10' fill='#123A78' /&gt;&#10;            &lt;text x='340' y='318' fontFamily='Source Han Sans SC' fontSize='20' fill='#FFFFFF' fontWeight='bold'&gt;2 · 售后咨询与投诉&lt;/text&gt;&#10;            &lt;text x='340' y='342' fontFamily='JetBrains Mono' fontSize='15' fill='#E9F0FA'&gt;aftersales&lt;/text&gt;&#10;&#10;            &lt;rect x='610' y='288' width='268' height='70' rx='10' fill='#FFFFFF' stroke='#2F6FD0' strokeWidth='2' /&gt;&#10;            &lt;text x='628' y='318' fontFamily='Source Han Sans SC' fontSize='20' fill='#123A78' fontWeight='bold'&gt;3 · 商品咨询与推荐&lt;/text&gt;&#10;            &lt;text x='628' y='342' fontFamily='JetBrains Mono' fontSize='15' fill='#8B97A8'&gt;product_advice&lt;/text&gt;&#10;&#10;            &lt;rect x='898' y='288' width='268' height='70' rx='10' fill='#FFFFFF' stroke='#2F6FD0' strokeWidth='2' /&gt;&#10;            &lt;text x='916' y='318' fontFamily='Source Han Sans SC' fontSize='20' fill='#123A78' fontWeight='bold'&gt;4 · 闲聊 / 模糊 / 超范围&lt;/text&gt;&#10;            &lt;text x='916' y='342' fontFamily='JetBrains Mono' fontSize='15' fill='#8B97A8'&gt;other&lt;/text&gt;&#10;&#10;            &lt;line x1='168' y1='358' x2='168' y2='386' stroke='#2F6FD0' strokeWidth='2' /&gt;&#10;            &lt;line x1='456' y1='358' x2='456' y2='386' stroke='#2F6FD0' strokeWidth='2' /&gt;&#10;            &lt;line x1='744' y1='358' x2='744' y2='386' stroke='#2F6FD0' strokeWidth='2' /&gt;&#10;            &lt;line x1='1032' y1='358' x2='1032' y2='386' stroke='#2F6FD0' strokeWidth='2' /&gt;&#10;            &lt;line x1='168' y1='386' x2='1032' y2='386' stroke='#2F6FD0' strokeWidth='2' /&gt;&#10;            &lt;line x1='600' y1='386' x2='600' y2='414' stroke='#2F6FD0' strokeWidth='2' /&gt;&#10;            &lt;path d='M600 414 L594 404 L606 404 Z' fill='#2F6FD0' /&gt;&#10;&#10;            &lt;rect x='420' y='416' width='360' height='58' rx='10' fill='#F7F9FC' stroke='#2F6FD0' strokeWidth='2' /&gt;&#10;            &lt;text x='600' y='453' textAnchor='middle' fontFamily='Source Han Sans SC' fontSize='21' fill='#123A78' fontWeight='bold'&gt;返回回答、选择项或处理状态&lt;/text&gt;&#10;            &lt;line x1='600' y1='474' x2='600' y2='492' stroke='#2F6FD0' strokeWidth='2' strokeDasharray='5 4' /&gt;&#10;&#10;            &lt;rect x='420' y='494' width='360' height='40' rx='10' fill='#FFFFFF' stroke='#8B97A8' strokeWidth='2' strokeDasharray='6 4' /&gt;&#10;            &lt;text x='600' y='520' textAnchor='middle' fontFamily='Source Han Sans SC' fontSize='18' fill='#4A5568'&gt;继续当前任务，或结束本次处理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381000" y="266700"/>
            <a:ext cx="4857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381000" y="504825"/>
            <a:ext cx="48577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主工作流：把请求交给正确的分支</a:t>
            </a:r>
            <a:endParaRPr/>
          </a:p>
        </p:txBody>
      </p:sp>
      <p:sp>
        <p:nvSpPr>
          <p:cNvPr id="265" name="矩形 26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任意形状 266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14 / 59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E4D60-7A9F-A36C-5282-EFE8C6AB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1" y="1327393"/>
            <a:ext cx="11819337" cy="45019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与子工作流怎么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62, flexDirection: 'row', gap: 32 }}&gt;&#10;            &lt;Box style={{ width: 716, height: 462, background: '#FFFFFF', border: '1px solid #D6DCE5', borderRadius: 10, padding: '24px 26px', justifyContent: 'space-between', boxShadow: '0 4px 16px rgba(18,58,120,0.08)' }}&gt;&#10;                &lt;Box&gt;&#10;                    &lt;Box style={{ flexDirection: 'row', alignItems: 'center', gap: 14 }}&gt;&#10;                        &lt;Box style={{ width: 44, height: 44, background: '#123A78', borderRadius: 10, justifyContent: 'center', alignItems: 'center' }}&gt;&#10;                            &lt;Text style={{ fontSize: 20, color: '#FFFFFF', fontWeight: 'bold', fontFamily: 'JetBrains Mono' }}&gt;M&lt;/Text&gt;&#10;                        &lt;/Box&gt;&#10;                        &lt;Text style={{ fontSize: 28, fontWeight: '600', color: '#123A78' }}&gt;主工作流：决定请求交给谁&lt;/Text&gt;&#10;                    &lt;/Box&gt;&#10;                    &lt;Box style={{ width: 120, height: 3, background: '#2F6FD0', marginTop: 14 }} /&gt;&#10;                &lt;/Box&gt;&#10;                &lt;Box style={{ background: '#E9F0FA', borderRadius: 10, padding: '16px 20px', borderLeft: '5px solid #2F6FD0' }}&gt;&#10;                    &lt;Text style={{ fontSize: 17, color: '#2F6FD0', lineHeight: 1.4 }}&gt;用户消息&lt;/Text&gt;&#10;                    &lt;Text style={{ fontSize: 22, color: '#123A78', marginTop: 8, lineHeight: 1.5 }}&gt;&#10;                        上周买的耳机怎么还没到？&#10;                    &lt;/Text&gt;&#10;                &lt;/Box&gt;&#10;                &lt;Text style={{ fontSize: 21, color: '#1A2230', lineHeight: 1.55 }}&gt;&#10;                    它需要判断这句话属于&lt;span style={{ fontWeight: 'bold' }}&gt;订单或物流查询&lt;/span&gt;，然后把用户消息、账号信息和已有上下文一起传给查询流程。&#10;                &lt;/Text&gt;&#10;                &lt;Box style={{ background: '#F7F9FC', borderRadius: 8, padding: '14px 18px' }}&gt;&#10;                    &lt;Text style={{ fontSize: 20, color: '#4A5568', lineHeight: 1.5 }}&gt;&#10;                        注意：主工作流&lt;span style={{ fontWeight: 'bold' }}&gt;不必在这个环节完成所有查询细节&lt;/span&gt;，它是调度者，不是执行者。&#10;                    &lt;/Text&gt;&#10;                &lt;/Box&gt;&#10;                &lt;svg width={664} height={92} viewBox='0 0 664 92'&gt;&#10;                    &lt;rect x='0' y='0' width='180' height='56' rx='10' fill='#123A78' /&gt;&#10;                    &lt;text x='90' y='35' textAnchor='middle' fontFamily='Source Han Sans SC' fontSize='18' fill='#FFFFFF' fontWeight='bold'&gt;主工作流&lt;/text&gt;&#10;                    &lt;line x1='180' y1='28' x2='300' y2='28' stroke='#2F6FD0' strokeWidth='2' /&gt;&#10;                    &lt;path d='M300 28 L290 22 L290 34 Z' fill='#2F6FD0' /&gt;&#10;                    &lt;rect x='306' y='0' width='160' height='56' rx='10' fill='#FFFFFF' stroke='#2F6FD0' strokeWidth='2' /&gt;&#10;                    &lt;text x='386' y='35' textAnchor='middle' fontFamily='Source Han Sans SC' fontSize='18' fill='#123A78' fontWeight='bold'&gt;订单查询流程&lt;/text&gt;&#10;                    &lt;line x1='466' y1='28' x2='586' y2='28' stroke='#2F6FD0' strokeWidth='2' /&gt;&#10;                    &lt;path d='M586 28 L576 22 L576 34 Z' fill='#2F6FD0' /&gt;&#10;                    &lt;rect x='592' y='0' width='72' height='56' rx='10' fill='#F7F9FC' stroke='#8B97A8' strokeWidth='2' /&gt;&#10;                    &lt;text x='628' y='35' textAnchor='middle' fontFamily='Source Han Sans SC' fontSize='17' fill='#4A5568'&gt;结果&lt;/text&gt;&#10;                    &lt;text x='0' y='84' fontFamily='Source Han Sans SC' fontSize='16' fill='#8B97A8'&gt;传下去的是「处理请求 + 必要的上下文」，不是一句「处理一下售后」&lt;/text&gt;&#10;                &lt;/svg&gt;&#10;            &lt;/Box&gt;&#10;            &lt;Box style={{ flex: 1, height: 462, background: '#123A78', borderRadius: 10, padding: '24px 24px', justifyContent: 'space-between' }}&gt;&#10;                &lt;Box&gt;&#10;                    &lt;Box style={{ flexDirection: 'row', alignItems: 'center', gap: 14 }}&gt;&#10;                        &lt;Box style={{ width: 44, height: 44, background: '#FFFFFF', borderRadius: 10, justifyContent: 'center', alignItems: 'center' }}&gt;&#10;                            &lt;Text style={{ fontSize: 20, color: '#123A78', fontWeight: 'bold', fontFamily: 'JetBrains Mono' }}&gt;S&lt;/Text&gt;&#10;                        &lt;/Box&gt;&#10;                        &lt;Text style={{ fontSize: 28, fontWeight: '600', color: '#FFFFFF' }}&gt;子工作流：把具体任务处理下去&lt;/Text&gt;&#10;                    &lt;/Box&gt;&#10;                    &lt;Box style={{ width: 110, height: 3, background: '#FFFFFF', opacity: 0.6, marginTop: 14 }} /&gt;&#10;                &lt;/Box&gt;&#10;                &lt;Text style={{ fontSize: 20, color: '#E9F0FA', lineHeight: 1.5 }}&gt;&#10;                    订单查询流程接手之后，要自己负责以下判断：&#10;                &lt;/Text&gt;&#10;                &lt;Box style={{ gap: 12 }}&gt;&#10;                    &lt;Box style={{ flexDirection: 'row', alignItems: 'center', gap: 12 }}&gt;&#10;                        &lt;Text style={{ fontSize: 18, color: '#FFFFFF', fontFamily: 'JetBrains Mono', opacity: 0.7 }}&gt;01&lt;/Text&gt;&#10;                        &lt;Text style={{ fontSize: 20, color: '#FFFFFF', lineHeight: 1.45, flex: 1 }}&gt;信息是否足够&lt;/Text&gt;&#10;                    &lt;/Box&gt;&#10;                    &lt;Box style={{ flexDirection: 'row', alignItems: 'center', gap: 12 }}&gt;&#10;                        &lt;Text style={{ fontSize: 18, color: '#FFFFFF', fontFamily: 'JetBrains Mono', opacity: 0.7 }}&gt;02&lt;/Text&gt;&#10;                        &lt;Text style={{ fontSize: 20, color: '#FFFFFF', lineHeight: 1.45, flex: 1 }}&gt;需要查哪笔订单&lt;/Text&gt;&#10;                    &lt;/Box&gt;&#10;                    &lt;Box style={{ flexDirection: 'row', alignItems: 'center', gap: 12 }}&gt;&#10;                        &lt;Text style={{ fontSize: 18, color: '#FFFFFF', fontFamily: 'JetBrains Mono', opacity: 0.7 }}&gt;03&lt;/Text&gt;&#10;                        &lt;Text style={{ fontSize: 20, color: '#FFFFFF', lineHeight: 1.45, flex: 1 }}&gt;是否需要用户选择&lt;/Text&gt;&#10;                    &lt;/Box&gt;&#10;                    &lt;Box style={{ flexDirection: 'row', alignItems: 'center', gap: 12 }}&gt;&#10;                        &lt;Text style={{ fontSize: 18, color: '#FFFFFF', fontFamily: 'JetBrains Mono', opacity: 0.7 }}&gt;04&lt;/Text&gt;&#10;                        &lt;Text style={{ fontSize: 20, color: '#FFFFFF', lineHeight: 1.45, flex: 1 }}&gt;调用什么查询工具&lt;/Text&gt;&#10;                    &lt;/Box&gt;&#10;                    &lt;Box style={{ flexDirection: 'row', alignItems: 'center', gap: 12 }}&gt;&#10;                        &lt;Text style={{ fontSize: 18, color: '#FFFFFF', fontFamily: 'JetBrains Mono', opacity: 0.7 }}&gt;05&lt;/Text&gt;&#10;                        &lt;Text style={{ fontSize: 20, color: '#FFFFFF', lineHeight: 1.45, flex: 1 }}&gt;查不到或调用失败时怎么办&lt;/Text&gt;&#10;                    &lt;/Box&gt;&#10;                    &lt;Box style={{ flexDirection: 'row', alignItems: 'center', gap: 12 }}&gt;&#10;                        &lt;Text style={{ fontSize: 18, color: '#FFFFFF', fontFamily: 'JetBrains Mono', opacity: 0.7 }}&gt;06&lt;/Text&gt;&#10;                        &lt;Text style={{ fontSize: 20, color: '#FFFFFF', lineHeight: 1.45, flex: 1 }}&gt;最后返回什么给主流程&lt;/Text&gt;&#10;                    &lt;/Box&gt;&#10;                &lt;/Box&gt;&#10;                &lt;Box style={{ background: 'rgba(255,255,255,0.12)', borderRadius: 8, padding: '14px 16px' }}&gt;&#10;                    &lt;Text style={{ fontSize: 19, color: '#FFFFFF', lineHeight: 1.5 }}&gt;&#10;                        这也是为什么要拆分：职责清楚，出错时才能定位到具体环节。&#10;                    &lt;/Text&gt;&#10;                &lt;/Box&gt;&#10;            &lt;/Box&gt;&#10;        &lt;/Box&gt;&#10;        &lt;Box style={{ height: 54, background: '#E9F0FA', borderRadius: 10, justifyContent: 'center', paddingLeft: 22, borderLeft: '5px solid #123A78' }}&gt;&#10;            &lt;Text style={{ fontSize: 20, color: '#123A78', lineHeight: 1.45 }}&gt;&#10;                拆开以后，&lt;span style={{ fontWeight: 'bold' }}&gt;修改订单查询流程，不需要同时重写商品推荐的全部逻辑&lt;/span&gt; —— 这是后续能持续迭代的前提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 2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主工作流与子工作流怎么分工</a:t>
            </a:r>
            <a:endParaRPr/>
          </a:p>
        </p:txBody>
      </p:sp>
      <p:sp>
        <p:nvSpPr>
          <p:cNvPr id="274" name="矩形 2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5" name="圆角矩形 274"/>
          <p:cNvSpPr/>
          <p:nvPr/>
        </p:nvSpPr>
        <p:spPr>
          <a:xfrm>
            <a:off x="381000" y="1066800"/>
            <a:ext cx="6819900" cy="4400550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6" name="圆角矩形 275"/>
          <p:cNvSpPr/>
          <p:nvPr/>
        </p:nvSpPr>
        <p:spPr>
          <a:xfrm>
            <a:off x="62865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62000" y="1390650"/>
            <a:ext cx="161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M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181100" y="1343025"/>
            <a:ext cx="3200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23A78"/>
                </a:solidFill>
                <a:latin typeface="Microsoft YaHei"/>
                <a:ea typeface="Microsoft YaHei"/>
              </a:rPr>
              <a:t>主工作流：决定请求交给谁</a:t>
            </a:r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628650" y="1847850"/>
            <a:ext cx="11430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圆角矩形 279"/>
          <p:cNvSpPr/>
          <p:nvPr/>
        </p:nvSpPr>
        <p:spPr>
          <a:xfrm>
            <a:off x="676275" y="1876425"/>
            <a:ext cx="6324600" cy="1038225"/>
          </a:xfrm>
          <a:prstGeom prst="roundRect">
            <a:avLst>
              <a:gd name="adj" fmla="val 91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任意形状 280"/>
          <p:cNvSpPr/>
          <p:nvPr/>
        </p:nvSpPr>
        <p:spPr>
          <a:xfrm>
            <a:off x="676275" y="1876425"/>
            <a:ext cx="6324600" cy="1038225"/>
          </a:xfrm>
          <a:custGeom>
            <a:avLst/>
            <a:gdLst/>
            <a:ahLst/>
            <a:cxnLst/>
            <a:rect l="0" t="0" r="0" b="0"/>
            <a:pathLst>
              <a:path w="664" h="10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4"/>
                </a:lnTo>
                <a:cubicBezTo>
                  <a:pt x="5" y="106"/>
                  <a:pt x="7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866775" y="2028825"/>
            <a:ext cx="58959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用户消息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866775" y="2381250"/>
            <a:ext cx="58959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28650" y="2914650"/>
            <a:ext cx="63246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它需要判断这句话属于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订单或物流查询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，然后把用户消息、账号信息和已有上下文一起传给查询流程。</a:t>
            </a:r>
            <a:endParaRPr/>
          </a:p>
        </p:txBody>
      </p:sp>
      <p:sp>
        <p:nvSpPr>
          <p:cNvPr id="285" name="圆角矩形 284"/>
          <p:cNvSpPr/>
          <p:nvPr/>
        </p:nvSpPr>
        <p:spPr>
          <a:xfrm>
            <a:off x="628650" y="3667125"/>
            <a:ext cx="63246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00100" y="3800475"/>
            <a:ext cx="59817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注意：主工作流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不必在这个环节完成所有查询细节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，它是调度者，不是执行者。</a:t>
            </a:r>
            <a:endParaRPr/>
          </a:p>
        </p:txBody>
      </p:sp>
      <p:pic>
        <p:nvPicPr>
          <p:cNvPr id="287" name="图形 28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4619625"/>
            <a:ext cx="6324600" cy="876300"/>
          </a:xfrm>
          <a:prstGeom prst="rect">
            <a:avLst/>
          </a:prstGeom>
          <a:ln/>
        </p:spPr>
      </p:pic>
      <p:sp>
        <p:nvSpPr>
          <p:cNvPr id="288" name="圆角矩形 287"/>
          <p:cNvSpPr/>
          <p:nvPr/>
        </p:nvSpPr>
        <p:spPr>
          <a:xfrm>
            <a:off x="7505700" y="1066800"/>
            <a:ext cx="4305300" cy="4400550"/>
          </a:xfrm>
          <a:prstGeom prst="roundRect">
            <a:avLst>
              <a:gd name="adj" fmla="val 2212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圆角矩形 288"/>
          <p:cNvSpPr/>
          <p:nvPr/>
        </p:nvSpPr>
        <p:spPr>
          <a:xfrm>
            <a:off x="773430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77175" y="1390650"/>
            <a:ext cx="133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3A78"/>
                </a:solidFill>
                <a:latin typeface="JetBrains Mono"/>
                <a:ea typeface="JetBrains Mono"/>
              </a:rPr>
              <a:t>S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239125" y="1343025"/>
            <a:ext cx="33432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子工作流：把具体任务处理下去</a:t>
            </a:r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734300" y="1876425"/>
            <a:ext cx="38481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订单查询流程接手之后，要自己负责以下判断：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8048625" y="25622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信息是否足够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048625" y="30099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需要查哪笔订单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048625" y="345757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是否需要用户选择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048625" y="390525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调用什么查询工具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048625" y="43529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查不到或调用失败时怎么办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048625" y="48006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最后返回什么给主流程</a:t>
            </a:r>
            <a:endParaRPr/>
          </a:p>
        </p:txBody>
      </p:sp>
      <p:sp>
        <p:nvSpPr>
          <p:cNvPr id="299" name="圆角矩形 298"/>
          <p:cNvSpPr/>
          <p:nvPr/>
        </p:nvSpPr>
        <p:spPr>
          <a:xfrm>
            <a:off x="7734300" y="5133975"/>
            <a:ext cx="3848100" cy="923925"/>
          </a:xfrm>
          <a:prstGeom prst="roundRect">
            <a:avLst>
              <a:gd name="adj" fmla="val 824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7886700" y="5267325"/>
            <a:ext cx="35433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这也是为什么要拆分：职责清楚，出错时才能定位到具体环节。</a:t>
            </a:r>
            <a:endParaRPr/>
          </a:p>
        </p:txBody>
      </p:sp>
      <p:sp>
        <p:nvSpPr>
          <p:cNvPr id="301" name="圆角矩形 300"/>
          <p:cNvSpPr/>
          <p:nvPr/>
        </p:nvSpPr>
        <p:spPr>
          <a:xfrm>
            <a:off x="428625" y="5695950"/>
            <a:ext cx="11430000" cy="514350"/>
          </a:xfrm>
          <a:prstGeom prst="roundRect">
            <a:avLst>
              <a:gd name="adj" fmla="val 1851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任意形状 301"/>
          <p:cNvSpPr/>
          <p:nvPr/>
        </p:nvSpPr>
        <p:spPr>
          <a:xfrm>
            <a:off x="428625" y="5695950"/>
            <a:ext cx="11430000" cy="514350"/>
          </a:xfrm>
          <a:custGeom>
            <a:avLst/>
            <a:gdLst/>
            <a:ahLst/>
            <a:cxnLst/>
            <a:rect l="0" t="0" r="0" b="0"/>
            <a:pathLst>
              <a:path w="1200" h="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9"/>
                </a:lnTo>
                <a:cubicBezTo>
                  <a:pt x="5" y="51"/>
                  <a:pt x="7" y="53"/>
                  <a:pt x="9" y="54"/>
                </a:cubicBezTo>
                <a:cubicBezTo>
                  <a:pt x="4" y="53"/>
                  <a:pt x="0" y="49"/>
                  <a:pt x="0" y="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38175" y="5791200"/>
            <a:ext cx="111728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拆开以后，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修改订单查询流程，不需要同时重写商品推荐的全部逻辑</a:t>
            </a:r>
            <a:r>
              <a:rPr lang="en-US" sz="1500">
                <a:solidFill>
                  <a:srgbClr val="123A78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这是后续能持续迭代的前提。</a:t>
            </a:r>
            <a:endParaRPr/>
          </a:p>
        </p:txBody>
      </p:sp>
      <p:sp>
        <p:nvSpPr>
          <p:cNvPr id="304" name="任意形状 3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15 / 59</a:t>
            </a:r>
            <a:endParaRPr/>
          </a:p>
        </p:txBody>
      </p:sp>
      <p:sp>
        <p:nvSpPr>
          <p:cNvPr id="307" name="矩形 306"/>
          <p:cNvSpPr/>
          <p:nvPr/>
        </p:nvSpPr>
        <p:spPr>
          <a:xfrm>
            <a:off x="7734300" y="1847850"/>
            <a:ext cx="104775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734300" y="26289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734300" y="30765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734300" y="352425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734300" y="397192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734300" y="44196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734300" y="48672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意图分类的四个分支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96, flexDirection: 'row', gap: 20 }}&gt;&#10;            &lt;Box style={{ width: 470, background: '#FDF2F0', borderRadius: 10, padding: '14px 18px', borderLeft: '5px solid #C0392B', justifyContent: 'center' }}&gt;&#10;                &lt;Text style={{ fontSize: 18, color: '#C0392B', lineHeight: 1.45 }}&gt;&#10;                    如果只给模型四个标签 ——「查询 / 售后 / 推荐 / 闲聊」，并不能保证它理解我们的业务边界。&#10;                &lt;/Text&gt;&#10;            &lt;/Box&gt;&#10;            &lt;Box style={{ flex: 1, background: '#E9F0FA', borderRadius: 10, padding: '14px 18px', borderLeft: '5px solid #123A78' }}&gt;&#10;                &lt;Text style={{ fontSize: 18, color: '#123A78', lineHeight: 1.5, fontWeight: 'bold' }}&gt;&#10;                    「这个耳机能不能换？」可能是在问：&#10;                &lt;/Text&gt;&#10;                &lt;Text style={{ fontSize: 18, color: '#123A78', lineHeight: 1.5, marginTop: 6 }}&gt;&#10;                    ① 未购买前了解换货政策　② 已购买后想申请换货　③ 想把刚才推荐的耳机换成另一款&#10;                &lt;/Text&gt;&#10;            &lt;/Box&gt;&#10;        &lt;/Box&gt;&#10;        &lt;Box style={{ height: 322, border: '1px solid #D6DCE5', borderRadius: 10, overflow: 'hidden' }}&gt;&#10;            &lt;Table&#10;                style={{ width: '100%', height: '100%' }}&#10;                defaultTextStyle={{ fontSize: 20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分支', textStyle: { bold: true, color: '#FFFFFF', fontSize: 20 }, cellStyle: { background: { color: '#123A78' } } },&#10;                        { text: '主要接收哪些需求', textStyle: { bold: true, color: '#FFFFFF', fontSize: 20 }, cellStyle: { background: { color: '#123A78' } } },&#10;                        { text: '示例', textStyle: { bold: true, color: '#FFFFFF', fontSize: 20 }, cellStyle: { background: { color: '#123A78' } } },&#10;                    ],&#10;                    [&#10;                        { text: '订单查询', textStyle: { bold: true, color: '#123A78' }, cellStyle: { background: { color: '#F7F9FC' } } },&#10;                        { text: '与具体订单、发货、物流有关的查询', cellStyle: { background: { color: '#F7F9FC' } } },&#10;                        { text: '「耳机到哪了？」', textStyle: { color: '#2F6FD0' }, cellStyle: { background: { color: '#F7F9FC' } } },&#10;                    ],&#10;                    [&#10;                        { text: '售后咨询与投诉处理', textStyle: { bold: true, color: '#123A78' } },&#10;                        { text: '售后政策、商品故障、退换货诉求、相关投诉' },&#10;                        { text: '「耳机坏了，我想换。」', textStyle: { color: '#2F6FD0' } },&#10;                    ],&#10;                    [&#10;                        { text: '商品咨询与推荐', textStyle: { bold: true, color: '#123A78' }, cellStyle: { background: { color: '#F7F9FC' } } },&#10;                        { text: '商品功能、比较、使用场景与购买建议', cellStyle: { background: { color: '#F7F9FC' } } },&#10;                        { text: '「通勤买哪款？」', textStyle: { color: '#2F6FD0' }, cellStyle: { background: { color: '#F7F9FC' } } },&#10;                    ],&#10;                    [&#10;                        { text: '其他与兜底', textStyle: { bold: true, color: '#123A78' } },&#10;                        { text: '寒暄、表达不完整、超出服务范围等' },&#10;                        { text: '「你好。」「我想问一下。」', textStyle: { color: '#2F6FD0' } },&#10;                    ],&#10;                ]}&#10;            /&gt;&#10;        &lt;/Box&gt;&#10;        &lt;Box style={{ height: 70, flexDirection: 'row', gap: 20 }}&gt;&#10;            &lt;Box style={{ flex: 1, background: '#F7F9FC', borderRadius: 10, padding: '14px 20px', borderLeft: '4px solid #8B97A8', justifyContent: 'center' }}&gt;&#10;                &lt;Text style={{ fontSize: 19, color: '#4A5568', lineHeight: 1.45 }}&gt;&#10;                    这张表是教学版本的初步定义，不是所有电商客服都必须采用的标准分类；真实业务可以继续拆分，当前先用少量清楚的类别把主要流程跑通。&#10;                &lt;/Text&gt;&#10;            &lt;/Box&gt;&#10;            &lt;Box style={{ width: 340, background: '#123A78', borderRadius: 10, padding: '14px 20px', justifyContent: 'center' }}&gt;&#10;                &lt;Text style={{ fontSize: 19, color: '#FFFFFF', lineHeight: 1.45 }}&gt;&#10;                    意图识别要结合&lt;span style={{ fontWeight: 'bold' }}&gt;当前消息 + 上下文&lt;/span&gt;，而不是只找一个关键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矩形 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381000" y="266700"/>
            <a:ext cx="2914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意图分类的四个分支</a:t>
            </a:r>
            <a:endParaRPr/>
          </a:p>
        </p:txBody>
      </p:sp>
      <p:sp>
        <p:nvSpPr>
          <p:cNvPr id="348" name="矩形 34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圆角矩形 348"/>
          <p:cNvSpPr/>
          <p:nvPr/>
        </p:nvSpPr>
        <p:spPr>
          <a:xfrm>
            <a:off x="428625" y="1066800"/>
            <a:ext cx="4429125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任意形状 349"/>
          <p:cNvSpPr/>
          <p:nvPr/>
        </p:nvSpPr>
        <p:spPr>
          <a:xfrm>
            <a:off x="428625" y="1066800"/>
            <a:ext cx="4429125" cy="914400"/>
          </a:xfrm>
          <a:custGeom>
            <a:avLst/>
            <a:gdLst/>
            <a:ahLst/>
            <a:cxnLst/>
            <a:rect l="0" t="0" r="0" b="0"/>
            <a:pathLst>
              <a:path w="465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00075" y="1228725"/>
            <a:ext cx="40862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如果只给模型四个标签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「查询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售后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推荐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闲聊」，并不能保证它理解我们的业务边界。</a:t>
            </a:r>
            <a:endParaRPr/>
          </a:p>
        </p:txBody>
      </p:sp>
      <p:sp>
        <p:nvSpPr>
          <p:cNvPr id="352" name="圆角矩形 351"/>
          <p:cNvSpPr/>
          <p:nvPr/>
        </p:nvSpPr>
        <p:spPr>
          <a:xfrm>
            <a:off x="5095875" y="1066800"/>
            <a:ext cx="6762750" cy="1257300"/>
          </a:xfrm>
          <a:prstGeom prst="roundRect">
            <a:avLst>
              <a:gd name="adj" fmla="val 757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任意形状 352"/>
          <p:cNvSpPr/>
          <p:nvPr/>
        </p:nvSpPr>
        <p:spPr>
          <a:xfrm>
            <a:off x="5095875" y="1066800"/>
            <a:ext cx="6762750" cy="1257300"/>
          </a:xfrm>
          <a:custGeom>
            <a:avLst/>
            <a:gdLst/>
            <a:ahLst/>
            <a:cxnLst/>
            <a:rect l="0" t="0" r="0" b="0"/>
            <a:pathLst>
              <a:path w="710" h="13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7"/>
                </a:lnTo>
                <a:cubicBezTo>
                  <a:pt x="5" y="129"/>
                  <a:pt x="7" y="131"/>
                  <a:pt x="9" y="132"/>
                </a:cubicBezTo>
                <a:cubicBezTo>
                  <a:pt x="4" y="131"/>
                  <a:pt x="0" y="127"/>
                  <a:pt x="0" y="12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267325" y="1200150"/>
            <a:ext cx="63722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「这个耳机能不能换？」可能是在问：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267325" y="1571625"/>
            <a:ext cx="63722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①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未购买前了解换货政策　②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已购买后想申请换货　③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想把刚才推荐的耳机换成另一款</a:t>
            </a:r>
            <a:endParaRPr/>
          </a:p>
        </p:txBody>
      </p:sp>
      <p:sp>
        <p:nvSpPr>
          <p:cNvPr id="356" name="圆角矩形 355"/>
          <p:cNvSpPr/>
          <p:nvPr/>
        </p:nvSpPr>
        <p:spPr>
          <a:xfrm>
            <a:off x="381000" y="2228850"/>
            <a:ext cx="11430000" cy="3067050"/>
          </a:xfrm>
          <a:prstGeom prst="roundRect">
            <a:avLst>
              <a:gd name="adj" fmla="val 3106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357" name="表格 356"/>
          <p:cNvGraphicFramePr/>
          <p:nvPr/>
        </p:nvGraphicFramePr>
        <p:xfrm>
          <a:off x="381000" y="2228850"/>
          <a:ext cx="11429999" cy="3067050"/>
        </p:xfrm>
        <a:graphic>
          <a:graphicData uri="http://schemas.openxmlformats.org/drawingml/2006/table">
            <a:tbl>
              <a:tblPr/>
              <a:tblGrid>
                <a:gridCol w="249439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38872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54687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主要接收哪些需求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示例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与具体订单、发货、物流有关的查询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「耳机到哪了？」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售后咨询与投诉处理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售后政策、商品故障、退换货诉求、相关投诉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「耳机坏了，我想换。」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商品咨询与推荐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商品功能、比较、使用场景与购买建议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「通勤买哪款？」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其他与兜底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寒暄、表达不完整、超出服务范围等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「你好。」「我想问一下。」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358" name="圆角矩形 357"/>
          <p:cNvSpPr/>
          <p:nvPr/>
        </p:nvSpPr>
        <p:spPr>
          <a:xfrm>
            <a:off x="419100" y="5543550"/>
            <a:ext cx="8001000" cy="904875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9" name="任意形状 358"/>
          <p:cNvSpPr/>
          <p:nvPr/>
        </p:nvSpPr>
        <p:spPr>
          <a:xfrm>
            <a:off x="419100" y="5543550"/>
            <a:ext cx="8001000" cy="904875"/>
          </a:xfrm>
          <a:custGeom>
            <a:avLst/>
            <a:gdLst/>
            <a:ahLst/>
            <a:cxnLst/>
            <a:rect l="0" t="0" r="0" b="0"/>
            <a:pathLst>
              <a:path w="840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09600" y="5676900"/>
            <a:ext cx="75819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这张表是教学版本的初步定义，不是所有电商客服都必须采用的标准分类；真实业务可以继续拆分，当前先用少量清楚的类别把主要流程跑通。</a:t>
            </a:r>
            <a:endParaRPr/>
          </a:p>
        </p:txBody>
      </p:sp>
      <p:sp>
        <p:nvSpPr>
          <p:cNvPr id="361" name="圆角矩形 360"/>
          <p:cNvSpPr/>
          <p:nvPr/>
        </p:nvSpPr>
        <p:spPr>
          <a:xfrm>
            <a:off x="8572500" y="5543550"/>
            <a:ext cx="3238500" cy="904875"/>
          </a:xfrm>
          <a:prstGeom prst="roundRect">
            <a:avLst>
              <a:gd name="adj" fmla="val 1052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8763000" y="5676900"/>
            <a:ext cx="28575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意图识别要结合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当前消息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上下文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，而不是只找一个关键词。</a:t>
            </a:r>
            <a:endParaRPr/>
          </a:p>
        </p:txBody>
      </p:sp>
      <p:sp>
        <p:nvSpPr>
          <p:cNvPr id="363" name="任意形状 36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16 / 59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一个识别提示词需要说明什么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意图分类提示词（教学示意版）&lt;/Text&gt;&#10;            &lt;/Box&gt;&#10;            &lt;CodeBlock&#10;                code={`根据用户当前消息、必要的对话历史&#10;和当前任务状态，判断应进入的处理路径。&#10;&#10;路径：&#10;1. order_query  订单、发货、物流查询&#10;2. aftersales   售后政策、故障、退换货与投诉&#10;3. product_advice  商品咨询、比较与推荐&#10;4. other  寒暄、范围外请求，或信息不足以确定路径&#10;&#10;要求：&#10;- 不要仅根据商品名称分类，&#10;  要识别用户想完成的事情。&#10;- 如果当前消息是在回答上一轮问题，&#10;  应结合当前任务理解。&#10;- 无法确定时返回需要澄清，不强行选择。&#10;- 用户明确要求人工时，标记人工请求。`}&#10;                language='text'&#10;                theme='github-light'&#10;                width={660}&#10;                fontSize={18}&#10;                macHeader={false}&#10;            /&gt;&#10;            &lt;Box style={{ background: '#F7F9FC', borderRadius: 8, padding: '12px 16px' }}&gt;&#10;                &lt;Text style={{ fontSize: 17, color: '#8B97A8', lineHeight: 1.45 }}&gt;&#10;                    仅供课堂示意，尚未在平台上运行验证。&#10;                &lt;/Text&gt;&#10;            &lt;/Box&gt;&#10;        &lt;/Box&gt;&#10;        &lt;Box style={{ flex: 1, height: 540, justifyContent: 'space-between' }}&gt;&#10;            &lt;Text style={{ fontSize: 22, fontWeight: '600', color: '#123A78', lineHeight: 1.45 }}&gt;这里真正要设计的，是分类规则本身&lt;/Text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19, fontWeight: '600', color: '#123A78', flex: 1 }}&gt;识别「想完成的事」&lt;/Text&gt;&#10;                &lt;/Box&gt;&#10;                &lt;Text style={{ fontSize: 18, color: '#4A5568', marginTop: 10, lineHeight: 1.5 }}&gt;不要仅根据商品名称分类，要看用户想做什么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19, fontWeight: '600', color: '#123A78', flex: 1 }}&gt;结合当前任务&lt;/Text&gt;&#10;                &lt;/Box&gt;&#10;                &lt;Text style={{ fontSize: 18, color: '#4A5568', marginTop: 10, lineHeight: 1.5 }}&gt;当前消息是在回答上一轮问题时，要连着任务一起理解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19, fontWeight: '600', color: '#123A78', flex: 1 }}&gt;允许「不确定」&lt;/Text&gt;&#10;                &lt;/Box&gt;&#10;                &lt;Text style={{ fontSize: 18, color: '#4A5568', marginTop: 10, lineHeight: 1.5 }}&gt;无法确定时返回需要澄清，不强行选择一个路径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4&lt;/Text&gt;&#10;                    &lt;/Box&gt;&#10;                    &lt;Text style={{ fontSize: 19, fontWeight: '600', color: '#123A78', flex: 1 }}&gt;标记人工请求&lt;/Text&gt;&#10;                &lt;/Box&gt;&#10;                &lt;Text style={{ fontSize: 18, color: '#4A5568', marginTop: 10, lineHeight: 1.5 }}&gt;用户明确要求人工时，必须能被主工作流识别出来。&lt;/Text&gt;&#10;            &lt;/Box&gt;&#10;            &lt;Box style={{ background: '#123A78', borderRadius: 10, padding: '16px 18px' }}&gt;&#10;                &lt;Text style={{ fontSize: 19, color: '#FFFFFF', lineHeight: 1.5 }}&gt;&#10;                    类别定义含糊，&lt;span style={{ fontWeight: 'bold' }}&gt;后面即使每个子流程都配置正确，用户也可能被送错地方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一个识别提示词需要说明什么</a:t>
            </a:r>
            <a:endParaRPr/>
          </a:p>
        </p:txBody>
      </p:sp>
      <p:sp>
        <p:nvSpPr>
          <p:cNvPr id="370" name="矩形 36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1" name="圆角矩形 370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意图分类提示词（教学示意版）</a:t>
            </a:r>
            <a:endParaRPr/>
          </a:p>
        </p:txBody>
      </p:sp>
      <p:sp>
        <p:nvSpPr>
          <p:cNvPr id="373" name="圆角矩形 372"/>
          <p:cNvSpPr/>
          <p:nvPr/>
        </p:nvSpPr>
        <p:spPr>
          <a:xfrm>
            <a:off x="381000" y="6200775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6972300" y="1066800"/>
            <a:ext cx="48387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这里真正要设计的，是分类规则本身</a:t>
            </a:r>
            <a:endParaRPr/>
          </a:p>
        </p:txBody>
      </p:sp>
      <p:sp>
        <p:nvSpPr>
          <p:cNvPr id="376" name="圆角矩形 375"/>
          <p:cNvSpPr/>
          <p:nvPr/>
        </p:nvSpPr>
        <p:spPr>
          <a:xfrm>
            <a:off x="6972300" y="143827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7" name="圆角矩形 376"/>
          <p:cNvSpPr/>
          <p:nvPr/>
        </p:nvSpPr>
        <p:spPr>
          <a:xfrm>
            <a:off x="7143750" y="15906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7267575" y="165735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7581900" y="164782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识别「想完成的事」</a:t>
            </a:r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7143750" y="200977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不要仅根据商品名称分类，要看用户想做什么。</a:t>
            </a:r>
            <a:endParaRPr/>
          </a:p>
        </p:txBody>
      </p:sp>
      <p:sp>
        <p:nvSpPr>
          <p:cNvPr id="381" name="圆角矩形 380"/>
          <p:cNvSpPr/>
          <p:nvPr/>
        </p:nvSpPr>
        <p:spPr>
          <a:xfrm>
            <a:off x="6972300" y="247650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2" name="圆角矩形 381"/>
          <p:cNvSpPr/>
          <p:nvPr/>
        </p:nvSpPr>
        <p:spPr>
          <a:xfrm>
            <a:off x="7143750" y="26289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267575" y="26955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7581900" y="268605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结合当前任务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7143750" y="304800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当前消息是在回答上一轮问题时，要连着任务一起理解。</a:t>
            </a:r>
            <a:endParaRPr/>
          </a:p>
        </p:txBody>
      </p:sp>
      <p:sp>
        <p:nvSpPr>
          <p:cNvPr id="386" name="圆角矩形 385"/>
          <p:cNvSpPr/>
          <p:nvPr/>
        </p:nvSpPr>
        <p:spPr>
          <a:xfrm>
            <a:off x="6972300" y="351472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圆角矩形 386"/>
          <p:cNvSpPr/>
          <p:nvPr/>
        </p:nvSpPr>
        <p:spPr>
          <a:xfrm>
            <a:off x="7143750" y="36671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7267575" y="373380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7581900" y="372427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允许「不确定」</a:t>
            </a:r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7143750" y="408622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无法确定时返回需要澄清，不强行选择一个路径。</a:t>
            </a:r>
            <a:endParaRPr/>
          </a:p>
        </p:txBody>
      </p:sp>
      <p:sp>
        <p:nvSpPr>
          <p:cNvPr id="391" name="圆角矩形 390"/>
          <p:cNvSpPr/>
          <p:nvPr/>
        </p:nvSpPr>
        <p:spPr>
          <a:xfrm>
            <a:off x="6972300" y="455295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圆角矩形 391"/>
          <p:cNvSpPr/>
          <p:nvPr/>
        </p:nvSpPr>
        <p:spPr>
          <a:xfrm>
            <a:off x="7143750" y="4705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267575" y="477202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7581900" y="476250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标记人工请求</a:t>
            </a:r>
            <a:endParaRPr/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7143750" y="512445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用户明确要求人工时，必须能被主工作流识别出来。</a:t>
            </a:r>
            <a:endParaRPr/>
          </a:p>
        </p:txBody>
      </p:sp>
      <p:sp>
        <p:nvSpPr>
          <p:cNvPr id="396" name="圆角矩形 395"/>
          <p:cNvSpPr/>
          <p:nvPr/>
        </p:nvSpPr>
        <p:spPr>
          <a:xfrm>
            <a:off x="6972300" y="5634990"/>
            <a:ext cx="48387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7143750" y="5743575"/>
            <a:ext cx="44958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类别定义含糊，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后面即使每个子流程都配置正确，用户也可能被送错地方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8" name="任意形状 39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17 / 59</a:t>
            </a:r>
            <a:endParaRPr/>
          </a:p>
        </p:txBody>
      </p:sp>
      <p:sp>
        <p:nvSpPr>
          <p:cNvPr id="401" name="圆角矩形 400"/>
          <p:cNvSpPr/>
          <p:nvPr/>
        </p:nvSpPr>
        <p:spPr>
          <a:xfrm>
            <a:off x="381000" y="1323975"/>
            <a:ext cx="6286500" cy="4876800"/>
          </a:xfrm>
          <a:prstGeom prst="roundRect">
            <a:avLst>
              <a:gd name="adj" fmla="val 15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2" name="文本框 401"/>
          <p:cNvSpPr txBox="1"/>
          <p:nvPr/>
        </p:nvSpPr>
        <p:spPr>
          <a:xfrm>
            <a:off x="533400" y="1457325"/>
            <a:ext cx="5981700" cy="46101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根据用户当前消息、必要的对话历史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和当前任务状态，判断应进入的处理路径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1.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订单、发货、物流查询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2. aftersales 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售后政策、故障、退换货与投诉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3.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product_advice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商品咨询、比较与推荐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4. other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寒暄、范围外请求，或信息不足以确定路径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不要仅根据商品名称分类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要识别用户想完成的事情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如果当前消息是在回答上一轮问题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应结合当前任务理解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无法确定时返回需要澄清，不强行选择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用户明确要求人工时，标记人工请求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难判的三句话：回到上下文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716, height: 540, justifyContent: 'space-between' }}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2, fontWeight: '600', color: '#123A78', flex: 1 }}&gt;「耳机太差了，我要退。」&lt;/Text&gt;&#10;                &lt;/Box&gt;&#10;                &lt;Text style={{ fontSize: 18, color: '#1A2230', marginTop: 8, lineHeight: 1.45 }}&gt;&#10;                    常见错误：只识别出负面情绪就当投诉处理。但这里已有明确的退货诉求。&#10;                &lt;/Text&gt;&#10;                &lt;Text style={{ fontSize: 18, color: '#2F6FD0', marginTop: 6, lineHeight: 1.45 }}&gt;&#10;                    更合理：进入售后路径，保留不满信息，再决定是否升级人工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2, fontWeight: '600', color: '#123A78', flex: 1 }}&gt;「这个耳机适合跑步吗？」&lt;/Text&gt;&#10;                &lt;/Box&gt;&#10;                &lt;Text style={{ fontSize: 18, color: '#1A2230', marginTop: 8, lineHeight: 1.45 }}&gt;&#10;                    若前面正在浏览某款商品，这属于&lt;span style={{ fontWeight: 'bold' }}&gt;商品咨询&lt;/span&gt;，应结合当前商品资料回答。&#10;                &lt;/Text&gt;&#10;                &lt;Text style={{ fontSize: 18, color: '#2F6FD0', marginTop: 6, lineHeight: 1.45 }}&gt;&#10;                    没有上下文时，先确认「这个」指哪一款，而不是因为出现「耳机」就进入订单查询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2, fontWeight: '600', color: '#123A78', flex: 1 }}&gt;「第二个。」&lt;/Text&gt;&#10;                &lt;/Box&gt;&#10;                &lt;Text style={{ fontSize: 18, color: '#1A2230', marginTop: 8, lineHeight: 1.45 }}&gt;&#10;                    单独看无法判断是什么需求；但上一轮刚展示过两笔订单时，它就是一次订单选择。&#10;                &lt;/Text&gt;&#10;                &lt;Text style={{ fontSize: 18, color: '#2F6FD0', marginTop: 6, lineHeight: 1.45 }}&gt;&#10;                    应继续当前任务，而不是把「第二个」当成全新的问题重新分类。&#10;                &lt;/Text&gt;&#10;            &lt;/Box&gt;&#10;            &lt;Box style={{ height: 56, background: '#FDF2F0', borderRadius: 10, justifyContent: 'center', paddingLeft: 20, borderLeft: '5px solid #C0392B' }}&gt;&#10;                &lt;Text style={{ fontSize: 18, color: '#C0392B', lineHeight: 1.45 }}&gt;&#10;                    &lt;span style={{ fontWeight: 'bold' }}&gt;负面情绪和业务意图不是同一件事&lt;/span&gt; —— 每条新消息到达后，都要先知道「当前正在做什么」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2px 14px' }}&gt;&#10;                &lt;CodeBlock&#10;                    code={`{&#10;  &quot;current_task&quot;: &quot;aftersales&quot;,&#10;  &quot;order_id&quot;: &quot;DEMO-102&quot;,&#10;  &quot;requested_action&quot;: &quot;exchange&quot;,&#10;  &quot;issue_description&quot;: null,&#10;  &quot;waiting_for&quot;: &quot;fault_details&quot;&#10;}`}&#10;                    language='json'&#10;                    theme='github-light'&#10;                    width={424}&#10;                    fontSize={16}&#10;                    macHeader={false}&#10;                /&gt;&#10;            &lt;/Box&gt;&#10;            &lt;Box style={{ background: '#123A78', borderRadius: 10, padding: '14px 16px', gap: 8 }}&gt;&#10;                &lt;Text style={{ fontSize: 19, fontWeight: '600', color: '#FFFFFF' }}&gt;这段状态告诉主工作流什么&lt;/Text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当前正在处理售后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订单已经确认好了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用户希望换货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故障描述还没补齐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系统正在等用户说明故障&lt;/Text&gt;&#10;                &lt;/Box&gt;&#10;            &lt;/Box&gt;&#10;            &lt;Box style={{ background: '#E9F0FA', borderRadius: 10, padding: '12px 16px', borderLeft: '5px solid #123A78' }}&gt;&#10;                &lt;Text style={{ fontSize: 17, color: '#123A78', lineHeight: 1.45 }}&gt;&#10;                    收到「右边」时更新故障描述并继续；若说「先不换了，帮我看看物流」，&lt;span style={{ fontWeight: 'bold' }}&gt;不清楚时应澄清，不能随意覆盖原任务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难判的三句话：回到上下文</a:t>
            </a:r>
            <a:endParaRPr/>
          </a:p>
        </p:txBody>
      </p:sp>
      <p:sp>
        <p:nvSpPr>
          <p:cNvPr id="407" name="矩形 40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8" name="圆角矩形 407"/>
          <p:cNvSpPr/>
          <p:nvPr/>
        </p:nvSpPr>
        <p:spPr>
          <a:xfrm>
            <a:off x="381000" y="1066800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9" name="圆角矩形 408"/>
          <p:cNvSpPr/>
          <p:nvPr/>
        </p:nvSpPr>
        <p:spPr>
          <a:xfrm>
            <a:off x="571500" y="1219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85800" y="12858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1009650" y="1257300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「耳机太差了，我要退。」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71500" y="161925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常见错误：只识别出负面情绪就当投诉处理。但这里已有明确的退货诉求。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571500" y="198120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更合理：进入售后路径，保留不满信息，再决定是否升级人工。</a:t>
            </a:r>
            <a:endParaRPr/>
          </a:p>
        </p:txBody>
      </p:sp>
      <p:sp>
        <p:nvSpPr>
          <p:cNvPr id="414" name="圆角矩形 413"/>
          <p:cNvSpPr/>
          <p:nvPr/>
        </p:nvSpPr>
        <p:spPr>
          <a:xfrm>
            <a:off x="381000" y="2505075"/>
            <a:ext cx="681990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5" name="圆角矩形 414"/>
          <p:cNvSpPr/>
          <p:nvPr/>
        </p:nvSpPr>
        <p:spPr>
          <a:xfrm>
            <a:off x="571500" y="2657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685800" y="27241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1009650" y="269557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「这个耳机适合跑步吗？」</a:t>
            </a:r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571500" y="30575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若前面正在浏览某款商品，这属于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商品咨询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，应结合当前商品资料回答。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571500" y="3419475"/>
            <a:ext cx="64389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没有上下文时，先确认「这个」指哪一款，而不是因为出现「耳机」就进入订单查询。</a:t>
            </a:r>
            <a:endParaRPr/>
          </a:p>
        </p:txBody>
      </p:sp>
      <p:sp>
        <p:nvSpPr>
          <p:cNvPr id="420" name="圆角矩形 419"/>
          <p:cNvSpPr/>
          <p:nvPr/>
        </p:nvSpPr>
        <p:spPr>
          <a:xfrm>
            <a:off x="381000" y="4238625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1" name="圆角矩形 420"/>
          <p:cNvSpPr/>
          <p:nvPr/>
        </p:nvSpPr>
        <p:spPr>
          <a:xfrm>
            <a:off x="571500" y="43910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85800" y="445770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009650" y="442912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「第二个。」</a:t>
            </a:r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571500" y="479107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单独看无法判断是什么需求；但上一轮刚展示过两笔订单时，它就是一次订单选择。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571500" y="51530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应继续当前任务，而不是把「第二个」当成全新的问题重新分类。</a:t>
            </a:r>
            <a:endParaRPr/>
          </a:p>
        </p:txBody>
      </p:sp>
      <p:sp>
        <p:nvSpPr>
          <p:cNvPr id="426" name="圆角矩形 425"/>
          <p:cNvSpPr/>
          <p:nvPr/>
        </p:nvSpPr>
        <p:spPr>
          <a:xfrm>
            <a:off x="428625" y="5676900"/>
            <a:ext cx="6819900" cy="533400"/>
          </a:xfrm>
          <a:prstGeom prst="roundRect">
            <a:avLst>
              <a:gd name="adj" fmla="val 1785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任意形状 426"/>
          <p:cNvSpPr/>
          <p:nvPr/>
        </p:nvSpPr>
        <p:spPr>
          <a:xfrm>
            <a:off x="428625" y="5676900"/>
            <a:ext cx="6819900" cy="533400"/>
          </a:xfrm>
          <a:custGeom>
            <a:avLst/>
            <a:gdLst/>
            <a:ahLst/>
            <a:cxnLst/>
            <a:rect l="0" t="0" r="0" b="0"/>
            <a:pathLst>
              <a:path w="716" h="5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1"/>
                </a:lnTo>
                <a:cubicBezTo>
                  <a:pt x="5" y="53"/>
                  <a:pt x="7" y="55"/>
                  <a:pt x="9" y="56"/>
                </a:cubicBezTo>
                <a:cubicBezTo>
                  <a:pt x="4" y="55"/>
                  <a:pt x="0" y="51"/>
                  <a:pt x="0" y="4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619125" y="5648325"/>
            <a:ext cx="65817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负面情绪和业务意图不是同一件事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每条新消息到达后，都要先知道「当前正在做什么」。</a:t>
            </a:r>
            <a:endParaRPr/>
          </a:p>
        </p:txBody>
      </p:sp>
      <p:sp>
        <p:nvSpPr>
          <p:cNvPr id="429" name="圆角矩形 428"/>
          <p:cNvSpPr/>
          <p:nvPr/>
        </p:nvSpPr>
        <p:spPr>
          <a:xfrm>
            <a:off x="7505700" y="1066800"/>
            <a:ext cx="43053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圆角矩形 429"/>
          <p:cNvSpPr/>
          <p:nvPr/>
        </p:nvSpPr>
        <p:spPr>
          <a:xfrm>
            <a:off x="7505700" y="3362325"/>
            <a:ext cx="4305300" cy="2390775"/>
          </a:xfrm>
          <a:prstGeom prst="roundRect">
            <a:avLst>
              <a:gd name="adj" fmla="val 3984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7658100" y="3495675"/>
            <a:ext cx="4000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这段状态告诉主工作流什么</a:t>
            </a:r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7658100" y="3790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810500" y="3790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当前正在处理售后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658100" y="4171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810500" y="4171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订单已经确认好了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658100" y="4552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810500" y="4552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用户希望换货</a:t>
            </a:r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7658100" y="4933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7810500" y="4933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故障描述还没补齐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7658100" y="5314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7810500" y="5314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系统正在等用户说明故障</a:t>
            </a:r>
            <a:endParaRPr/>
          </a:p>
        </p:txBody>
      </p:sp>
      <p:sp>
        <p:nvSpPr>
          <p:cNvPr id="442" name="圆角矩形 441"/>
          <p:cNvSpPr/>
          <p:nvPr/>
        </p:nvSpPr>
        <p:spPr>
          <a:xfrm>
            <a:off x="7553325" y="5753100"/>
            <a:ext cx="4305300" cy="1076325"/>
          </a:xfrm>
          <a:prstGeom prst="roundRect">
            <a:avLst>
              <a:gd name="adj" fmla="val 885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任意形状 442"/>
          <p:cNvSpPr/>
          <p:nvPr/>
        </p:nvSpPr>
        <p:spPr>
          <a:xfrm>
            <a:off x="7553325" y="5753100"/>
            <a:ext cx="4305300" cy="1076325"/>
          </a:xfrm>
          <a:custGeom>
            <a:avLst/>
            <a:gdLst/>
            <a:ahLst/>
            <a:cxnLst/>
            <a:rect l="0" t="0" r="0" b="0"/>
            <a:pathLst>
              <a:path w="452" h="11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8"/>
                </a:lnTo>
                <a:cubicBezTo>
                  <a:pt x="5" y="110"/>
                  <a:pt x="7" y="112"/>
                  <a:pt x="9" y="113"/>
                </a:cubicBezTo>
                <a:cubicBezTo>
                  <a:pt x="4" y="112"/>
                  <a:pt x="0" y="108"/>
                  <a:pt x="0" y="10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7705725" y="5867400"/>
            <a:ext cx="39528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收到「右边」时更新故障描述并继续；若说「先不换了，帮我看看物流」，</a:t>
            </a:r>
            <a:r>
              <a:rPr lang="zh-CN" sz="1275" b="1">
                <a:solidFill>
                  <a:srgbClr val="123A78"/>
                </a:solidFill>
                <a:latin typeface="Microsoft YaHei"/>
                <a:ea typeface="Microsoft YaHei"/>
              </a:rPr>
              <a:t>不清楚时应澄清，不能随意覆盖原任务</a:t>
            </a: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5" name="任意形状 44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18 / 59</a:t>
            </a:r>
            <a:endParaRPr/>
          </a:p>
        </p:txBody>
      </p:sp>
      <p:sp>
        <p:nvSpPr>
          <p:cNvPr id="448" name="圆角矩形 447"/>
          <p:cNvSpPr/>
          <p:nvPr/>
        </p:nvSpPr>
        <p:spPr>
          <a:xfrm>
            <a:off x="7639050" y="1181100"/>
            <a:ext cx="4038600" cy="2066925"/>
          </a:xfrm>
          <a:prstGeom prst="roundRect">
            <a:avLst>
              <a:gd name="adj" fmla="val 368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9" name="文本框 448"/>
          <p:cNvSpPr txBox="1"/>
          <p:nvPr/>
        </p:nvSpPr>
        <p:spPr>
          <a:xfrm>
            <a:off x="7791450" y="1314450"/>
            <a:ext cx="3733800" cy="1800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"requested_action"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"issue_description"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"waiting_for"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"fault_details"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分支、处理方式与返回状态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&gt;&#10;                &lt;Text style={{ fontSize: 26, fontWeight: '600', color: '#123A78' }}&gt;「三类任务」和「四条分支」什么关系&lt;/Text&gt;&#10;                &lt;Text style={{ fontSize: 19, color: '#4A5568', marginTop: 8, lineHeight: 1.5 }}&gt;&#10;                    四条分支是按&lt;span style={{ fontWeight: 'bold' }}&gt;业务需求&lt;/span&gt;组织产品；知识问答、业务查询、业务办理是这些分支里可能使用的&lt;span style={{ fontWeight: 'bold' }}&gt;处理方式&lt;/span&gt;。&#10;                &lt;/Text&gt;&#10;            &lt;/Box&gt;&#10;            &lt;Box style={{ height: 236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售后分支里的用户行为', textStyle: { bold: true, color: '#FFFFFF', fontSize: 19 }, cellStyle: { background: { color: '#123A78' } } },&#10;                            { text: '需要的处理方式', textStyle: { bold: true, color: '#FFFFFF', fontSize: 19 }, cellStyle: { background: { color: '#123A78' } } },&#10;                        ],&#10;                        [&#10;                            { text: '询问换货政策', textStyle: { bold: true, color: '#123A78' }, cellStyle: { background: { color: '#F7F9FC' } } },&#10;                            { text: '知识问答', cellStyle: { background: { color: '#F7F9FC' } } },&#10;                        ],&#10;                        [&#10;                            { text: '确认订单与已有申请', textStyle: { bold: true, color: '#123A78' } },&#10;                            { text: '业务查询' },&#10;                        ],&#10;                        [&#10;                            { text: '补充材料、确认并提交申请', textStyle: { bold: true, color: '#123A78' }, cellStyle: { background: { color: '#F7F9FC' } } },&#10;                            { text: '业务办理', cellStyle: { background: { color: '#F7F9FC' } } },&#10;                        ],&#10;                    ]}&#10;                /&gt;&#10;            &lt;/Box&gt;&#10;            &lt;Box style={{ height: 116, background: '#123A78', borderRadius: 10, padding: '16px 20px', justifyContent: 'center' }}&gt;&#10;                &lt;Text style={{ fontSize: 20, color: '#FFFFFF', lineHeight: 1.5 }}&gt;&#10;                    不是把所有知识问题放一处、所有接口操作放另一处就完成了设计：&#10;                &lt;/Text&gt;&#10;                &lt;Text style={{ fontSize: 21, color: '#FFFFFF', fontWeight: 'bold', marginTop: 10, lineHeight: 1.45 }}&gt;&#10;                    同一个用户任务，往往需要多种能力连续配合。&#10;                &lt;/Text&gt;&#10;            &lt;/Box&gt;&#10;        &lt;/Box&gt;&#10;        &lt;Box style={{ flex: 1, height: 540, justifyContent: 'space-between' }}&gt;&#10;            &lt;Box&gt;&#10;                &lt;Text style={{ fontSize: 26, fontWeight: '600', color: '#123A78' }}&gt;子工作流要告诉主流程什么&lt;/Text&gt;&#10;                &lt;Text style={{ fontSize: 19, color: '#4A5568', marginTop: 8, lineHeight: 1.5 }}&gt;&#10;                    不能只返回一段回复文字，还要交代清楚&lt;span style={{ fontWeight: 'bold' }}&gt;当前处于什么状态&lt;/span&gt;，因为它决定下一轮怎么走。&#10;                &lt;/Text&gt;&#10;            &lt;/Box&gt;&#10;            &lt;Box style={{ height: 30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返回状态', textStyle: { bold: true, color: '#FFFFFF', fontSize: 19 }, cellStyle: { background: { color: '#123A78' } } },&#10;                            { text: '意味着什么', textStyle: { bold: true, color: '#FFFFFF', fontSize: 19 }, cellStyle: { background: { color: '#123A78' } } },&#10;                        ],&#10;                        [&#10;                            { text: '等待用户补充', textStyle: { bold: true, color: '#123A78' }, cellStyle: { background: { color: '#F7F9FC' } } },&#10;                            { text: '任务还没完成，需要继续当前流程', cellStyle: { background: { color: '#F7F9FC' } } },&#10;                        ],&#10;                        [&#10;                            { text: '已完成查询', textStyle: { bold: true, color: '#123A78' } },&#10;                            { text: '已获取并返回结果，可以继续提问或结束' },&#10;                        ],&#10;                        [&#10;                            { text: '需要人工处理', textStyle: { bold: true, color: '#123A78' }, cellStyle: { background: { color: '#F7F9FC' } } },&#10;                            { text: '自动流程暂停，准备交接', cellStyle: { background: { color: '#F7F9FC' } } },&#10;                        ],&#10;                        [&#10;                            { text: '执行失败', textStyle: { bold: true, color: '#C0392B' }, cellStyle: { background: { color: '#FDF2F0' } } },&#10;                            { text: '没有完成操作，需要明确的后续处理', cellStyle: { background: { color: '#FDF2F0' } } },&#10;                        ],&#10;                    ]}&#10;                /&gt;&#10;            &lt;/Box&gt;&#10;            &lt;Box style={{ height: 100, background: '#FDF2F0', borderRadius: 10, padding: '16px 20px', justifyContent: 'center', borderLeft: '5px solid #C0392B' }}&gt;&#10;                &lt;Text style={{ fontSize: 19, color: '#C0392B', lineHeight: 1.5 }}&gt;&#10;                    尤其要避免一种情况：接口调用失败了，模型却仍生成一句「已经帮您处理好了」。&#10;                &lt;/Text&gt;&#10;                &lt;Text style={{ fontSize: 20, color: '#C0392B', fontWeight: 'bold', marginTop: 8, lineHeight: 1.45 }}&gt;&#10;                    回复内容和实际处理状态必须一致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3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矩形 4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分支、处理方式与返回状态</a:t>
            </a:r>
            <a:endParaRPr/>
          </a:p>
        </p:txBody>
      </p:sp>
      <p:sp>
        <p:nvSpPr>
          <p:cNvPr id="454" name="矩形 45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381000" y="1066800"/>
            <a:ext cx="6096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 dirty="0">
                <a:solidFill>
                  <a:srgbClr val="123A78"/>
                </a:solidFill>
                <a:latin typeface="Microsoft YaHei"/>
                <a:ea typeface="Microsoft YaHei"/>
              </a:rPr>
              <a:t>「三类任务」和「四条分支」什么关系</a:t>
            </a:r>
            <a:endParaRPr dirty="0"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381000" y="1447800"/>
            <a:ext cx="6096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四条分支是按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业务需求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组织产品；知识问答、业务查询、业务办理是这些分支里可能使用的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处理方式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57" name="圆角矩形 456"/>
          <p:cNvSpPr/>
          <p:nvPr/>
        </p:nvSpPr>
        <p:spPr>
          <a:xfrm>
            <a:off x="381000" y="2486025"/>
            <a:ext cx="6096000" cy="2247900"/>
          </a:xfrm>
          <a:prstGeom prst="roundRect">
            <a:avLst>
              <a:gd name="adj" fmla="val 4237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58" name="表格 457"/>
          <p:cNvGraphicFramePr/>
          <p:nvPr/>
        </p:nvGraphicFramePr>
        <p:xfrm>
          <a:off x="381000" y="2486025"/>
          <a:ext cx="6096000" cy="2247900"/>
        </p:xfrm>
        <a:graphic>
          <a:graphicData uri="http://schemas.openxmlformats.org/drawingml/2006/table">
            <a:tbl>
              <a:tblPr/>
              <a:tblGrid>
                <a:gridCol w="380959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28640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售后分支里的用户行为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需要的处理方式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知识问答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确认订单与已有申请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补充材料、确认并提交申请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业务办理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459" name="圆角矩形 458"/>
          <p:cNvSpPr/>
          <p:nvPr/>
        </p:nvSpPr>
        <p:spPr>
          <a:xfrm>
            <a:off x="381000" y="51054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571500" y="5267325"/>
            <a:ext cx="5715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不是把所有知识问题放一处、所有接口操作放另一处就完成了设计：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571500" y="5705475"/>
            <a:ext cx="57150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同一个用户任务，往往需要多种能力连续配合。</a:t>
            </a:r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781800" y="106680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3A78"/>
                </a:solidFill>
                <a:latin typeface="Microsoft YaHei"/>
                <a:ea typeface="Microsoft YaHei"/>
              </a:rPr>
              <a:t>子工作流要告诉主流程什么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781800" y="1447800"/>
            <a:ext cx="5029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不能只返回一段回复文字，还要交代清楚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当前处于什么状态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，因为它决定下一轮怎么走。</a:t>
            </a:r>
            <a:endParaRPr/>
          </a:p>
        </p:txBody>
      </p:sp>
      <p:sp>
        <p:nvSpPr>
          <p:cNvPr id="464" name="圆角矩形 463"/>
          <p:cNvSpPr/>
          <p:nvPr/>
        </p:nvSpPr>
        <p:spPr>
          <a:xfrm>
            <a:off x="6781800" y="2257425"/>
            <a:ext cx="5029200" cy="2857500"/>
          </a:xfrm>
          <a:prstGeom prst="roundRect">
            <a:avLst>
              <a:gd name="adj" fmla="val 333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65" name="表格 464"/>
          <p:cNvGraphicFramePr/>
          <p:nvPr/>
        </p:nvGraphicFramePr>
        <p:xfrm>
          <a:off x="6781800" y="2257425"/>
          <a:ext cx="5029200" cy="2902966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返回状态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意味着什么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等待用户补充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任务还没完成，需要继续当前流程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已完成查询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已获取并返回结果，可以继续提问或结束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需要人工处理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自动流程暂停，准备交接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执行失败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没有完成操作，需要明确的后续处理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466" name="圆角矩形 465"/>
          <p:cNvSpPr/>
          <p:nvPr/>
        </p:nvSpPr>
        <p:spPr>
          <a:xfrm>
            <a:off x="6829425" y="5257800"/>
            <a:ext cx="5029200" cy="952500"/>
          </a:xfrm>
          <a:prstGeom prst="roundRect">
            <a:avLst>
              <a:gd name="adj" fmla="val 10000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任意形状 466"/>
          <p:cNvSpPr/>
          <p:nvPr/>
        </p:nvSpPr>
        <p:spPr>
          <a:xfrm>
            <a:off x="6829425" y="5257800"/>
            <a:ext cx="5029200" cy="952500"/>
          </a:xfrm>
          <a:custGeom>
            <a:avLst/>
            <a:gdLst/>
            <a:ahLst/>
            <a:cxnLst/>
            <a:rect l="0" t="0" r="0" b="0"/>
            <a:pathLst>
              <a:path w="528" h="10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5"/>
                </a:lnTo>
                <a:cubicBezTo>
                  <a:pt x="5" y="97"/>
                  <a:pt x="7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7019925" y="5200650"/>
            <a:ext cx="46005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C0392B"/>
                </a:solidFill>
                <a:latin typeface="Microsoft YaHei"/>
                <a:ea typeface="Microsoft YaHei"/>
              </a:rPr>
              <a:t>尤其要避免一种情况：接口调用失败了，模型却仍生成一句「已经帮您处理好了」。</a:t>
            </a:r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7019925" y="5934075"/>
            <a:ext cx="46005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C0392B"/>
                </a:solidFill>
                <a:latin typeface="Microsoft YaHei"/>
                <a:ea typeface="Microsoft YaHei"/>
              </a:rPr>
              <a:t>回复内容和实际处理状态必须一致。</a:t>
            </a:r>
            <a:endParaRPr/>
          </a:p>
        </p:txBody>
      </p:sp>
      <p:sp>
        <p:nvSpPr>
          <p:cNvPr id="470" name="任意形状 4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19 / 59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3&lt;/Text&gt;&#10;            &lt;Box style={{ width: 200, height: 4, background: '#2F6FD0' }} /&gt;&#10;            &lt;Text style={{ fontSize: 16, color: '#8B97A8', letterSpacing: 3, fontFamily: 'JetBrains Mono' }}&gt;P.26 – 33&lt;/Text&gt;&#10;        &lt;/Box&gt;&#10;        &lt;Box style={{ flex: 1, gap: 20 }}&gt;&#10;            &lt;Text style={{ fontSize: 44, fontWeight: '700', color: '#123A78', lineHeight: 1.25 }}&gt;订单查询&lt;br /&gt;工作流&lt;/Text&gt;&#10;            &lt;Text style={{ fontSize: 22, color: '#4A5568', lineHeight: 1.55 }}&gt;&#10;                先跑通最容易理解的一条路径。就从这句话开始 —— &lt;span style={{ fontWeight: 'bold', color: '#123A78' }}&gt;「上周买的耳机怎么还没到？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没有订单号时，怎样找到正确的那一笔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查不到、查到多笔、接口失败分别怎么办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回复里哪些话能说、哪些话不能编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矩形 5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14" name="矩形 513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P.26 – 33</a:t>
            </a:r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订单查询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先跑通最容易理解的一条路径。就从这句话开始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「上周买的耳机怎么还没到？」</a:t>
            </a:r>
            <a:endParaRPr/>
          </a:p>
        </p:txBody>
      </p:sp>
      <p:sp>
        <p:nvSpPr>
          <p:cNvPr id="518" name="圆角矩形 517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没有订单号时，怎样找到正确的那一笔</a:t>
            </a:r>
            <a:endParaRPr/>
          </a:p>
        </p:txBody>
      </p:sp>
      <p:sp>
        <p:nvSpPr>
          <p:cNvPr id="520" name="圆角矩形 519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查不到、查到多笔、接口失败分别怎么办</a:t>
            </a:r>
            <a:endParaRPr/>
          </a:p>
        </p:txBody>
      </p:sp>
      <p:sp>
        <p:nvSpPr>
          <p:cNvPr id="522" name="圆角矩形 521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回复里哪些话能说、哪些话不能编</a:t>
            </a:r>
            <a:endParaRPr/>
          </a:p>
        </p:txBody>
      </p:sp>
      <p:sp>
        <p:nvSpPr>
          <p:cNvPr id="524" name="矩形 52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课堂互动 03&lt;/Text&gt;&#10;            &lt;Text style={{ fontSize: 34, fontWeight: '600', color: '#123A78', marginTop: 8, lineHeight: 1.25 }}&gt;没有订单号，下一步该怎么做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「上周买的耳机怎么还没到？」，&lt;span style={{ fontWeight: 'bold' }}&gt;但没有给出订单号&lt;/span&gt;。&#10;                &lt;/Text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0, color: '#1A2230', lineHeight: 1.5, flex: 1 }}&gt;要求用户先找到订单号，再继续查询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0, color: '#1A2230', lineHeight: 1.5, flex: 1 }}&gt;根据当前账号查询近期相关订单，让用户确认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0, color: '#1A2230', lineHeight: 1.5, flex: 1 }}&gt;直接选择最近一笔耳机订单，返回物流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0, color: '#E9F0FA', marginTop: 14, lineHeight: 1.55 }}&gt;&#10;                    用户已经登录，系统有条件查询这个账号的订单。先利用已有数据，&lt;span style={{ fontWeight: 'bold', color: '#FFFFFF' }}&gt;减少用户查找和复制订单号的操作&lt;/span&gt;。&#10;                &lt;/Text&gt;&#10;            &lt;/Box&gt;&#10;            &lt;Box style={{ background: '#FFFFFF', border: '1px solid #D6DCE5', borderRadius: 10, padding: '16px 20px' }}&gt;&#10;                &lt;Text style={{ fontSize: 19, color: '#2F6FD0', fontWeight: 'bold', lineHeight: 1.45 }}&gt;A 不是永远不对&lt;/Text&gt;&#10;                &lt;Text style={{ fontSize: 18, color: '#1A2230', marginTop: 8, lineHeight: 1.5 }}&gt;&#10;                    如果当前渠道无法关联账号，或者查询不到对应订单，就可能需要用户补充信息。&#10;                &lt;/Text&gt;&#10;            &lt;/Box&gt;&#10;            &lt;Box style={{ background: '#FDF2F0', borderRadius: 10, padding: '16px 20px' }}&gt;&#10;                &lt;Text style={{ fontSize: 19, color: '#C0392B', fontWeight: 'bold', lineHeight: 1.45 }}&gt;C 的风险&lt;/Text&gt;&#10;                &lt;Text style={{ fontSize: 18, color: '#1A2230', marginTop: 8, lineHeight: 1.5 }}&gt;&#10;                    系统擅自替用户确定了订单。后面接口即使全部调用成功，也可能回答的是另一笔订单的物流。&#10;                &lt;/Text&gt;&#10;            &lt;/Box&gt;&#10;            &lt;Box style={{ height: 152, border: '1px solid #D6DCE5', borderRadius: 10, padding: '14px 18px', justifyContent: 'space-between' }}&gt;&#10;                &lt;Text style={{ fontSize: 19, fontWeight: '600', color: '#123A78' }}&gt;这里要把两件事分开&lt;/Text&gt;&#10;                &lt;Box style={{ flexDirection: 'row', gap: 12 }}&gt;&#10;                    &lt;Box style={{ flex: 1, background: '#F7F9FC', borderRadius: 8, padding: '10px 12px' }}&gt;&#10;                        &lt;Text style={{ fontSize: 18, color: '#123A78', fontWeight: 'bold', textAlign: 'center' }}&gt;筛选候选订单&lt;/Text&gt;&#10;                        &lt;Text style={{ fontSize: 16, color: '#4A5568', marginTop: 6, lineHeight: 1.4, textAlign: 'center' }}&gt;系统按时间、商品等线索缩小范围&lt;/Text&gt;&#10;                    &lt;/Box&gt;&#10;                    &lt;Box style={{ flex: 1, background: '#E9F0FA', borderRadius: 8, padding: '10px 12px' }}&gt;&#10;                        &lt;Text style={{ fontSize: 18, color: '#123A78', fontWeight: 'bold', textAlign: 'center' }}&gt;确认目标订单&lt;/Text&gt;&#10;                        &lt;Text style={{ fontSize: 16, color: '#4A5568', marginTop: 6, lineHeight: 1.4, textAlign: 'center' }}&gt;信息有歧义时，由用户来确认&lt;/Text&gt;&#10;                    &lt;/Box&gt;&#10;                &lt;/Box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没有订单号，下一步该怎么做</a:t>
            </a:r>
            <a:endParaRPr/>
          </a:p>
        </p:txBody>
      </p:sp>
      <p:sp>
        <p:nvSpPr>
          <p:cNvPr id="566" name="矩形 56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圆角矩形 566"/>
          <p:cNvSpPr/>
          <p:nvPr/>
        </p:nvSpPr>
        <p:spPr>
          <a:xfrm>
            <a:off x="428625" y="1066800"/>
            <a:ext cx="6096000" cy="1428750"/>
          </a:xfrm>
          <a:prstGeom prst="roundRect">
            <a:avLst>
              <a:gd name="adj" fmla="val 6667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8" name="任意形状 567"/>
          <p:cNvSpPr/>
          <p:nvPr/>
        </p:nvSpPr>
        <p:spPr>
          <a:xfrm>
            <a:off x="428625" y="1066800"/>
            <a:ext cx="6096000" cy="1428750"/>
          </a:xfrm>
          <a:custGeom>
            <a:avLst/>
            <a:gdLst/>
            <a:ahLst/>
            <a:cxnLst/>
            <a:rect l="0" t="0" r="0" b="0"/>
            <a:pathLst>
              <a:path w="640" h="15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5"/>
                </a:lnTo>
                <a:cubicBezTo>
                  <a:pt x="5" y="147"/>
                  <a:pt x="7" y="149"/>
                  <a:pt x="9" y="150"/>
                </a:cubicBezTo>
                <a:cubicBezTo>
                  <a:pt x="4" y="149"/>
                  <a:pt x="0" y="145"/>
                  <a:pt x="0" y="14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657225" y="1543050"/>
            <a:ext cx="559117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用户说「上周买的耳机怎么还没到？」，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但没有给出订单号</a:t>
            </a: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1" name="圆角矩形 570"/>
          <p:cNvSpPr/>
          <p:nvPr/>
        </p:nvSpPr>
        <p:spPr>
          <a:xfrm>
            <a:off x="381000" y="28956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2" name="圆角矩形 571"/>
          <p:cNvSpPr/>
          <p:nvPr/>
        </p:nvSpPr>
        <p:spPr>
          <a:xfrm>
            <a:off x="590550" y="30670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752475" y="31813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238250" y="30670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要求用户先找到订单号，再继续查询</a:t>
            </a:r>
            <a:endParaRPr/>
          </a:p>
        </p:txBody>
      </p:sp>
      <p:sp>
        <p:nvSpPr>
          <p:cNvPr id="575" name="圆角矩形 574"/>
          <p:cNvSpPr/>
          <p:nvPr/>
        </p:nvSpPr>
        <p:spPr>
          <a:xfrm>
            <a:off x="381000" y="413385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6" name="圆角矩形 575"/>
          <p:cNvSpPr/>
          <p:nvPr/>
        </p:nvSpPr>
        <p:spPr>
          <a:xfrm>
            <a:off x="590550" y="4305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752475" y="44196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1238250" y="430530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根据当前账号查询近期相关订单，让用户确认</a:t>
            </a:r>
            <a:endParaRPr/>
          </a:p>
        </p:txBody>
      </p:sp>
      <p:sp>
        <p:nvSpPr>
          <p:cNvPr id="579" name="圆角矩形 578"/>
          <p:cNvSpPr/>
          <p:nvPr/>
        </p:nvSpPr>
        <p:spPr>
          <a:xfrm>
            <a:off x="381000" y="53721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0" name="圆角矩形 579"/>
          <p:cNvSpPr/>
          <p:nvPr/>
        </p:nvSpPr>
        <p:spPr>
          <a:xfrm>
            <a:off x="590550" y="5543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752475" y="56578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1238250" y="55435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直接选择最近一笔耳机订单，返回物流</a:t>
            </a:r>
            <a:endParaRPr/>
          </a:p>
        </p:txBody>
      </p:sp>
      <p:sp>
        <p:nvSpPr>
          <p:cNvPr id="602" name="任意形状 601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展开订单查询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60' y='0' width='560' height='52' rx='10' fill='#FFFFFF' stroke='#2F6FD0' strokeWidth='2' /&gt;&#10;            &lt;text x='340' y='33' textAnchor='middle' fontFamily='Source Han Sans SC' fontSize='20' fill='#123A78' fontWeight='bold'&gt;进入订单查询流程&lt;/text&gt;&#10;            &lt;line x1='340' y1='52' x2='340' y2='76' stroke='#2F6FD0' strokeWidth='2' /&gt;&#10;            &lt;path d='M340 76 L334 66 L346 66 Z' fill='#2F6FD0' /&gt;&#10;&#10;            &lt;rect x='60' y='78' width='560' height='52' rx='10' fill='#FFFFFF' stroke='#2F6FD0' strokeWidth='2' /&gt;&#10;            &lt;text x='340' y='111' textAnchor='middle' fontFamily='Source Han Sans SC' fontSize='20' fill='#123A78' fontWeight='bold'&gt;检查用户身份和已有订单信息&lt;/text&gt;&#10;            &lt;line x1='340' y1='130' x2='340' y2='152' stroke='#2F6FD0' strokeWidth='2' /&gt;&#10;            &lt;path d='M340 152 L334 142 L346 142 Z' fill='#2F6FD0' /&gt;&#10;&#10;            &lt;rect x='60' y='154' width='560' height='58' rx='10' fill='#123A78' /&gt;&#10;            &lt;text x='340' y='190' textAnchor='middle' fontFamily='Source Han Sans SC' fontSize='21' fill='#FFFFFF' fontWeight='bold'&gt;是否已经明确目标订单？&lt;/text&gt;&#10;            &lt;text x='640' y='190' fontFamily='Source Han Sans SC' fontSize='17' fill='#2F6FD0'&gt;是&lt;/text&gt;&#10;            &lt;text x='336' y='228' fontFamily='Source Han Sans SC' fontSize='16' fill='#8B97A8'&gt;否&lt;/text&gt;&#10;&#10;            &lt;rect x='680' y='154' width='520' height='58' rx='10' fill='#E9F0FA' stroke='#2F6FD0' strokeWidth='2' /&gt;&#10;            &lt;text x='940' y='182' textAnchor='middle' fontFamily='Source Han Sans SC' fontSize='19' fill='#123A78' fontWeight='bold'&gt;校验该订单是否属于当前用户&lt;/text&gt;&#10;            &lt;text x='940' y='202' textAnchor='middle' fontFamily='JetBrains Mono' fontSize='14' fill='#8B97A8'&gt;权限校验，不能跳过&lt;/text&gt;&#10;            &lt;path d='M680 212 L640 212 L640 290 L620 290' fill='none' stroke='#2F6FD0' strokeWidth='2' strokeDasharray='6 4' /&gt;&#10;            &lt;path d='M620 290 L630 285 L630 295 Z' fill='#2F6FD0' /&gt;&#10;&#10;            &lt;line x1='340' y1='212' x2='340' y2='230' stroke='#2F6FD0' strokeWidth='2' /&gt;&#10;            &lt;path d='M340 230 L334 220 L346 220 Z' fill='#2F6FD0' /&gt;&#10;&#10;            &lt;rect x='60' y='232' width='560' height='52' rx='10' fill='#FFFFFF' stroke='#2F6FD0' strokeWidth='2' /&gt;&#10;            &lt;text x='340' y='265' textAnchor='middle' fontFamily='Source Han Sans SC' fontSize='20' fill='#123A78' fontWeight='bold'&gt;查询当前用户的候选订单&lt;/text&gt;&#10;            &lt;line x1='620' y1='258' x2='660' y2='258' stroke='#2F6FD0' strokeWidth='2' /&gt;&#10;            &lt;line x1='660' y1='240' x2='660' y2='368' stroke='#2F6FD0' strokeWidth='2' /&gt;&#10;&#10;            &lt;rect x='680' y='228' width='520' height='46' rx='10' fill='#FFFFFF' stroke='#2F6FD0' strokeWidth='2' /&gt;&#10;            &lt;line x1='660' y1='251' x2='680' y2='251' stroke='#2F6FD0' strokeWidth='2' /&gt;&#10;            &lt;text x='700' y='257' fontFamily='Source Han Sans SC' fontSize='18' fill='#123A78' fontWeight='bold'&gt;0 笔&lt;/text&gt;&#10;            &lt;text x='760' y='257' fontFamily='Source Han Sans SC' fontSize='18' fill='#4A5568'&gt;引导补充信息&lt;/text&gt;&#10;&#10;            &lt;rect x='680' y='284' width='520' height='46' rx='10' fill='#FFFFFF' stroke='#2F6FD0' strokeWidth='2' /&gt;&#10;            &lt;line x1='660' y1='307' x2='680' y2='307' stroke='#2F6FD0' strokeWidth='2' /&gt;&#10;            &lt;text x='700' y='313' fontFamily='Source Han Sans SC' fontSize='18' fill='#123A78' fontWeight='bold'&gt;1 笔&lt;/text&gt;&#10;            &lt;text x='760' y='313' fontFamily='Source Han Sans SC' fontSize='18' fill='#4A5568'&gt;展示商品，必要时再确认一次&lt;/text&gt;&#10;&#10;            &lt;rect x='680' y='340' width='520' height='46' rx='10' fill='#123A78' /&gt;&#10;            &lt;line x1='660' y1='363' x2='680' y2='363' stroke='#123A78' strokeWidth='2' /&gt;&#10;            &lt;text x='700' y='369' fontFamily='Source Han Sans SC' fontSize='18' fill='#FFFFFF' fontWeight='bold'&gt;多笔&lt;/text&gt;&#10;            &lt;text x='760' y='369' fontFamily='Source Han Sans SC' fontSize='18' fill='#E9F0FA'&gt;让用户选择，不擅自决定&lt;/text&gt;&#10;&#10;            &lt;line x1='340' y1='284' x2='340' y2='304' stroke='#2F6FD0' strokeWidth='2' /&gt;&#10;            &lt;path d='M340 304 L334 294 L346 294 Z' fill='#2F6FD0' /&gt;&#10;&#10;            &lt;rect x='60' y='306' width='560' height='52' rx='10' fill='#FFFFFF' stroke='#2F6FD0' strokeWidth='2' /&gt;&#10;            &lt;text x='340' y='339' textAnchor='middle' fontFamily='Source Han Sans SC' fontSize='20' fill='#123A78' fontWeight='bold'&gt;确认目标订单&lt;/text&gt;&#10;            &lt;line x1='340' y1='358' x2='340' y2='380' stroke='#2F6FD0' strokeWidth='2' /&gt;&#10;            &lt;path d='M340 380 L334 370 L346 370 Z' fill='#2F6FD0' /&gt;&#10;&#10;            &lt;rect x='60' y='382' width='560' height='52' rx='10' fill='#FFFFFF' stroke='#2F6FD0' strokeWidth='2' /&gt;&#10;            &lt;text x='340' y='415' textAnchor='middle' fontFamily='Source Han Sans SC' fontSize='20' fill='#123A78' fontWeight='bold'&gt;查询订单详情及物流&lt;/text&gt;&#10;            &lt;line x1='340' y1='434' x2='340' y2='456' stroke='#2F6FD0' strokeWidth='2' /&gt;&#10;            &lt;path d='M340 456 L334 446 L346 446 Z' fill='#2F6FD0' /&gt;&#10;&#10;            &lt;rect x='60' y='458' width='560' height='52' rx='10' fill='#F7F9FC' stroke='#8B97A8' strokeWidth='2' /&gt;&#10;            &lt;text x='340' y='491' textAnchor='middle' fontFamily='Source Han Sans SC' fontSize='20' fill='#4A5568' fontWeight='bold'&gt;检查返回结果 → 展示物流信息与后续操作&lt;/text&gt;&#10;&#10;            &lt;text x='60' y='528' fontFamily='Source Han Sans SC' fontSize='15' fill='#8B97A8'&gt;不要急着记住所有节点，接下来我们沿着一段实际对话，把每一步拆开看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矩形 6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展开订单查询子工作流</a:t>
            </a:r>
            <a:endParaRPr/>
          </a:p>
        </p:txBody>
      </p:sp>
      <p:sp>
        <p:nvSpPr>
          <p:cNvPr id="609" name="矩形 608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10" name="图形 6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611" name="任意形状 610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22 / 59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先检查已有信息，再谈调用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进入流程时，系统可能已经知道&lt;/Text&gt;&#10;            &lt;/Box&gt;&#10;            &lt;CodeBlock&#10;                code={`{&#10;  &quot;current_task&quot;: &quot;order_query&quot;,&#10;  &quot;user_message&quot;: &quot;上周买的耳机怎么还没到？&quot;,&#10;  &quot;order_id&quot;: null,&#10;  &quot;product_keyword&quot;: &quot;耳机&quot;,&#10;  &quot;time_expression&quot;: &quot;上周&quot;&#10;}`}&#10;                language='json'&#10;                theme='github-light'&#10;                width={640}&#10;                fontSize={18}&#10;                macHeader={false}&#10;            /&gt;&#10;            &lt;Box style={{ background: '#FFFFFF', border: '1px solid #D6DCE5', borderRadius: 10, padding: '14px 18px', gap: 8 }}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order_id 为空：还没有确认订单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「耳机」「上周」是查询线索，不是最终订单标识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当前用户身份由登录系统传入，不由这段自然语言决定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如果前面已经确认过订单，就&lt;span style={{ fontWeight: 'bold' }}&gt;优先复用&lt;/span&gt;，而不是再次让用户选择一次。&#10;                &lt;/Text&gt;&#10;            &lt;/Box&gt;&#10;        &lt;/Box&gt;&#10;        &lt;Box style={{ flex: 1, height: 540, justifyContent: 'space-between' }}&gt;&#10;            &lt;Box style={{ flexDirection: 'row', alignItems: 'center', gap: 12 }}&gt;&#10;                &lt;Box style={{ width: 8, height: 26, background: '#2F6FD0', borderRadius: 3 }} /&gt;&#10;                &lt;Text style={{ fontSize: 22, fontWeight: '600', color: '#123A78' }}&gt;教学查询工具可以设计为&lt;/Text&gt;&#10;            &lt;/Box&gt;&#10;            &lt;Box style={{ background: '#F7F9FC', border: '1px solid #D6DCE5', borderRadius: 10, padding: '16px 18px', gap: 10 }}&gt;&#10;                &lt;Box style={{ gap: 4 }}&gt;&#10;                    &lt;Text style={{ fontSize: 17, color: '#8B97A8', letterSpacing: 1 }}&gt;工具&lt;/Text&gt;&#10;                    &lt;Text style={{ fontSize: 19, color: '#123A78', fontWeight: 'bold', lineHeight: 1.4 }}&gt;查询当前用户的订单&lt;/Text&gt;&#10;                &lt;/Box&gt;&#10;                &lt;Box style={{ gap: 4 }}&gt;&#10;                    &lt;Text style={{ fontSize: 17, color: '#8B97A8', letterSpacing: 1 }}&gt;输入&lt;/Text&gt;&#10;                    &lt;Text style={{ fontSize: 18, color: '#1A2230', lineHeight: 1.4 }}&gt;商品关键词、查询时间范围&lt;/Text&gt;&#10;                &lt;/Box&gt;&#10;                &lt;Box style={{ gap: 4 }}&gt;&#10;                    &lt;Text style={{ fontSize: 17, color: '#8B97A8', letterSpacing: 1 }}&gt;身份&lt;/Text&gt;&#10;                    &lt;Text style={{ fontSize: 18, color: '#1A2230', lineHeight: 1.4 }}&gt;由服务端登录状态确定&lt;/Text&gt;&#10;                &lt;/Box&gt;&#10;                &lt;Box style={{ gap: 4 }}&gt;&#10;                    &lt;Text style={{ fontSize: 17, color: '#8B97A8', letterSpacing: 1 }}&gt;输出&lt;/Text&gt;&#10;                    &lt;Text style={{ fontSize: 18, color: '#1A2230', lineHeight: 1.4 }}&gt;候选订单列表：每笔的编号、商品、规格、下单时间和状态&lt;/Text&gt;&#10;                &lt;/Box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模型可以帮助理解「耳机」「上周」这些查询条件；但&lt;span style={{ fontWeight: 'bold' }}&gt;真正的订单筛选与访问权限检查，需要由系统完成&lt;/span&gt;。&#10;                &lt;/Text&gt;&#10;            &lt;/Box&gt;&#10;            &lt;Box style={{ background: '#FDF2F0', borderRadius: 10, padding: '14px 18px', borderLeft: '5px solid #C0392B' }}&gt;&#10;                &lt;Text style={{ fontSize: 18, color: '#C0392B', lineHeight: 1.5, fontWeight: 'bold' }}&gt;&#10;                    红线：不能仅凭一个订单号，就允许查询其他人的订单。&#10;                &lt;/Text&gt;&#10;            &lt;/Box&gt;&#10;            &lt;Box style={{ background: '#123A78', borderRadius: 10, padding: '14px 18px' }}&gt;&#10;                &lt;Text style={{ fontSize: 18, color: '#FFFFFF', lineHeight: 1.5 }}&gt;&#10;                    也不需要把整个订单数据库都发给模型再让它自己找 —— 更合理的是：&lt;span style={{ fontWeight: 'bold' }}&gt;查询工具先返回当前用户有权查看的相关记录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矩形 6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先检查已有信息，再谈调用</a:t>
            </a:r>
            <a:endParaRPr/>
          </a:p>
        </p:txBody>
      </p:sp>
      <p:sp>
        <p:nvSpPr>
          <p:cNvPr id="618" name="矩形 61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9" name="圆角矩形 618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进入流程时，系统可能已经知道</a:t>
            </a:r>
            <a:endParaRPr/>
          </a:p>
        </p:txBody>
      </p:sp>
      <p:sp>
        <p:nvSpPr>
          <p:cNvPr id="621" name="圆角矩形 620"/>
          <p:cNvSpPr/>
          <p:nvPr/>
        </p:nvSpPr>
        <p:spPr>
          <a:xfrm>
            <a:off x="381000" y="405765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552450" y="4191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704850" y="4191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order_id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为空：还没有确认订单</a:t>
            </a:r>
            <a:endParaRPr/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552450" y="4572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704850" y="4572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「耳机」「上周」是查询线索，不是最终订单标识</a:t>
            </a:r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552450" y="4953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704850" y="4953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当前用户身份由登录系统传入，不由这段自然语言决定</a:t>
            </a:r>
            <a:endParaRPr/>
          </a:p>
        </p:txBody>
      </p:sp>
      <p:sp>
        <p:nvSpPr>
          <p:cNvPr id="628" name="圆角矩形 627"/>
          <p:cNvSpPr/>
          <p:nvPr/>
        </p:nvSpPr>
        <p:spPr>
          <a:xfrm>
            <a:off x="428625" y="5610225"/>
            <a:ext cx="6096000" cy="600075"/>
          </a:xfrm>
          <a:prstGeom prst="roundRect">
            <a:avLst>
              <a:gd name="adj" fmla="val 15873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9" name="任意形状 628"/>
          <p:cNvSpPr/>
          <p:nvPr/>
        </p:nvSpPr>
        <p:spPr>
          <a:xfrm>
            <a:off x="428625" y="5610225"/>
            <a:ext cx="6096000" cy="600075"/>
          </a:xfrm>
          <a:custGeom>
            <a:avLst/>
            <a:gdLst/>
            <a:ahLst/>
            <a:cxnLst/>
            <a:rect l="0" t="0" r="0" b="0"/>
            <a:pathLst>
              <a:path w="640" h="6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8"/>
                </a:lnTo>
                <a:cubicBezTo>
                  <a:pt x="5" y="60"/>
                  <a:pt x="7" y="62"/>
                  <a:pt x="9" y="63"/>
                </a:cubicBezTo>
                <a:cubicBezTo>
                  <a:pt x="4" y="62"/>
                  <a:pt x="0" y="58"/>
                  <a:pt x="0" y="5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600075" y="5743575"/>
            <a:ext cx="57054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如果前面已经确认过订单，就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优先复用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，而不是再次让用户选择一次。</a:t>
            </a:r>
            <a:endParaRPr/>
          </a:p>
        </p:txBody>
      </p:sp>
      <p:sp>
        <p:nvSpPr>
          <p:cNvPr id="631" name="圆角矩形 630"/>
          <p:cNvSpPr/>
          <p:nvPr/>
        </p:nvSpPr>
        <p:spPr>
          <a:xfrm>
            <a:off x="67818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6972300" y="1066800"/>
            <a:ext cx="2305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教学查询工具可以设计为</a:t>
            </a:r>
            <a:endParaRPr/>
          </a:p>
        </p:txBody>
      </p:sp>
      <p:sp>
        <p:nvSpPr>
          <p:cNvPr id="633" name="圆角矩形 632"/>
          <p:cNvSpPr/>
          <p:nvPr/>
        </p:nvSpPr>
        <p:spPr>
          <a:xfrm>
            <a:off x="6781800" y="1323975"/>
            <a:ext cx="5029200" cy="2733675"/>
          </a:xfrm>
          <a:prstGeom prst="roundRect">
            <a:avLst>
              <a:gd name="adj" fmla="val 348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6953250" y="1476375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6953250" y="1714500"/>
            <a:ext cx="4686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查询当前用户的订单</a:t>
            </a:r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6953250" y="21145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6953250" y="23526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商品关键词、查询时间范围</a:t>
            </a:r>
            <a:endParaRPr/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6953250" y="274320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6953250" y="298132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由服务端登录状态确定</a:t>
            </a:r>
            <a:endParaRPr/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953250" y="33718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953250" y="36099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候选订单列表：每笔的编号、商品、规格、下单时间和状态</a:t>
            </a:r>
            <a:endParaRPr/>
          </a:p>
        </p:txBody>
      </p:sp>
      <p:sp>
        <p:nvSpPr>
          <p:cNvPr id="642" name="圆角矩形 641"/>
          <p:cNvSpPr/>
          <p:nvPr/>
        </p:nvSpPr>
        <p:spPr>
          <a:xfrm>
            <a:off x="6781800" y="405765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6953250" y="419100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模型可以帮助理解「耳机」「上周」这些查询条件；但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真正的订单筛选与访问权限检查，需要由系统完成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4" name="圆角矩形 643"/>
          <p:cNvSpPr/>
          <p:nvPr/>
        </p:nvSpPr>
        <p:spPr>
          <a:xfrm>
            <a:off x="6829425" y="4943475"/>
            <a:ext cx="5029200" cy="581025"/>
          </a:xfrm>
          <a:prstGeom prst="roundRect">
            <a:avLst>
              <a:gd name="adj" fmla="val 16393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5" name="任意形状 644"/>
          <p:cNvSpPr/>
          <p:nvPr/>
        </p:nvSpPr>
        <p:spPr>
          <a:xfrm>
            <a:off x="6829425" y="4943475"/>
            <a:ext cx="5029200" cy="581025"/>
          </a:xfrm>
          <a:custGeom>
            <a:avLst/>
            <a:gdLst/>
            <a:ahLst/>
            <a:cxnLst/>
            <a:rect l="0" t="0" r="0" b="0"/>
            <a:pathLst>
              <a:path w="528" h="6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6"/>
                </a:lnTo>
                <a:cubicBezTo>
                  <a:pt x="5" y="58"/>
                  <a:pt x="7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7000875" y="5076825"/>
            <a:ext cx="463867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红线：不能仅凭一个订单号，就允许查询其他人的订单。</a:t>
            </a:r>
            <a:endParaRPr/>
          </a:p>
        </p:txBody>
      </p:sp>
      <p:sp>
        <p:nvSpPr>
          <p:cNvPr id="647" name="圆角矩形 646"/>
          <p:cNvSpPr/>
          <p:nvPr/>
        </p:nvSpPr>
        <p:spPr>
          <a:xfrm>
            <a:off x="6781800" y="552450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6953250" y="565785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也不需要把整个订单数据库都发给模型再让它自己找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更合理的是：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查询工具先返回当前用户有权查看的相关记录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9" name="任意形状 64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23 / 59</a:t>
            </a:r>
            <a:endParaRPr/>
          </a:p>
        </p:txBody>
      </p:sp>
      <p:sp>
        <p:nvSpPr>
          <p:cNvPr id="652" name="圆角矩形 651"/>
          <p:cNvSpPr/>
          <p:nvPr/>
        </p:nvSpPr>
        <p:spPr>
          <a:xfrm>
            <a:off x="381000" y="1543050"/>
            <a:ext cx="60960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3" name="文本框 652"/>
          <p:cNvSpPr txBox="1"/>
          <p:nvPr/>
        </p:nvSpPr>
        <p:spPr>
          <a:xfrm>
            <a:off x="533400" y="1676400"/>
            <a:ext cx="57912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"order_query"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"user_message"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"上周买的耳机怎么还没到？"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"product_keyword"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"time_expression"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多笔候选时，让用户来选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20, height: 540, justifyContent: 'space-between' }}&gt;&#10;            &lt;Box style={{ background: '#F7F9FC', borderRadius: 10, padding: '14px 18px', borderLeft: '5px solid #8B97A8' }}&gt;&#10;                &lt;Text style={{ fontSize: 17, color: '#8B97A8', letterSpacing: 1 }}&gt;助手返回&lt;/Text&gt;&#10;                &lt;Text style={{ fontSize: 20, color: '#1A2230', marginTop: 8, lineHeight: 1.5 }}&gt;&#10;                    查询到您近期有两笔耳机订单，请选择需要查询的一笔：&#10;                &lt;/Text&gt;&#10;            &lt;/Box&gt;&#10;            &lt;Box style={{ flexDirection: 'row', gap: 14 }}&gt;&#10;                &lt;Box style={{ flex: 1, background: '#FFFFFF', border: '2px solid #2F6FD0', borderRadius: 10, padding: '14px 16px' }}&gt;&#10;                    &lt;Box style={{ width: 32, height: 32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19, color: '#123A78', fontWeight: 'bold', marginTop: 10, lineHeight: 1.4 }}&gt;AirLite 蓝牙耳机&lt;/Text&gt;&#10;                    &lt;Text style={{ fontSize: 17, color: '#4A5568', marginTop: 6, lineHeight: 1.4 }}&gt;白色 · 9 月 1 日下单&lt;/Text&gt;&#10;                &lt;/Box&gt;&#10;                &lt;Box style={{ flex: 1, background: '#123A78', borderRadius: 10, padding: '14px 16px' }}&gt;&#10;                    &lt;Box style={{ width: 32, height: 32, background: '#FFFFFF', borderRadius: 8, justifyContent: 'center', alignItems: 'center' }}&gt;&#10;                        &lt;Text style={{ fontSize: 17, color: '#123A78', fontWeight: 'bold', fontFamily: 'JetBrains Mono' }}&gt;2&lt;/Text&gt;&#10;                    &lt;/Box&gt;&#10;                    &lt;Text style={{ fontSize: 19, color: '#FFFFFF', fontWeight: 'bold', marginTop: 10, lineHeight: 1.4 }}&gt;AirLite Pro 降噪耳机&lt;/Text&gt;&#10;                    &lt;Text style={{ fontSize: 17, color: '#E9F0FA', marginTop: 6, lineHeight: 1.4 }}&gt;黑色 · 9 月 3 日下单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产品上可以做成&lt;span style={{ fontWeight: 'bold' }}&gt;可点击的订单卡片&lt;/span&gt;，而不只是两行文字：至少要让用户看清商品、规格和时间，必要时展示缩略图及部分订单编号。&#10;                &lt;/Text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系统要记住：刚才展示了哪些候选订单，以及它们在页面上的对应关系 —— 否则「第二个」就无从映射。&#10;                &lt;/Text&gt;&#10;            &lt;/Box&gt;&#10;        &lt;/Box&gt;&#10;        &lt;Box style={{ flex: 1, height: 540, justifyContent: 'space-between' }}&gt;&#10;            &lt;Box&gt;&#10;                &lt;Text style={{ fontSize: 21, fontWeight: '600', color: '#123A78' }}&gt;用户说「第二个」，系统怎样接住&lt;/Text&gt;&#10;                &lt;Box style={{ width: 90, height: 3, background: '#2F6FD0', marginTop: 10 }} /&gt;&#10;            &lt;/Box&gt;&#10;            &lt;Box style={{ background: '#FFFFFF', border: '1px solid #D6DCE5', borderRadius: 10, padding: '12px 14px' }}&gt;&#10;                &lt;Text style={{ fontSize: 16, color: '#8B97A8', marginBottom: 8 }}&gt;状态怎么更新（前 → 后）&lt;/Text&gt;&#10;                &lt;CodeBlock&#10;                    code={`&quot;current_task&quot;: &quot;order_query&quot;&#10;&quot;waiting_for&quot;: &quot;order_selection&quot;   →  null&#10;&quot;candidate_order_ids&quot;: [&quot;DEMO-101&quot;, &quot;DEMO-102&quot;]&#10;&quot;selected_order_id&quot;:  null  →  &quot;DEMO-102&quot;`}&#10;                    language='text'&#10;                    theme='github-light'&#10;                    width={470}&#10;                    fontSize={16}&#10;                    macHeader={false}&#10;                /&gt;&#10;            &lt;/Box&gt;&#10;            &lt;Box style={{ background: '#123A78', borderRadius: 10, padding: '14px 18px' }}&gt;&#10;                &lt;Text style={{ fontSize: 18, color: '#FFFFFF', lineHeight: 1.5 }}&gt;&#10;                    如果用户点击就能准确表达选择，&lt;span style={{ fontWeight: 'bold' }}&gt;就不必要求所有操作都通过自由文本完成&lt;/span&gt;：大模型理解「第二个」，卡片提供更直接的操作，两者可以同时存在。&#10;                &lt;/Text&gt;&#10;            &lt;/Box&gt;&#10;            &lt;Box style={{ background: '#FFFFFF', border: '1px solid #D6DCE5', borderRadius: 10, padding: '12px 16px' }}&gt;&#10;                &lt;Text style={{ fontSize: 17, color: '#4A5568', lineHeight: 1.45 }}&gt;&#10;                    点击卡片：前端直接提交对应订单 ID；输入「第二个」：结合刚才展示的列表映射到 DEMO-102。&#10;                &lt;/Text&gt;&#10;            &lt;/Box&gt;&#10;            &lt;Box style={{ background: '#FDF2F0', borderRadius: 10, padding: '12px 16px', borderLeft: '5px solid #C0392B' }}&gt;&#10;                &lt;Text style={{ fontSize: 17, color: '#C0392B', lineHeight: 1.45 }}&gt;&#10;                    如果候选列表已经变化，或用户说「之前那个」无法确定指向，就应该再次确认，&lt;span style={{ fontWeight: 'bold' }}&gt;不能随意映射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矩形 6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多笔候选时，让用户来选</a:t>
            </a:r>
            <a:endParaRPr/>
          </a:p>
        </p:txBody>
      </p:sp>
      <p:sp>
        <p:nvSpPr>
          <p:cNvPr id="672" name="矩形 67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3" name="圆角矩形 672"/>
          <p:cNvSpPr/>
          <p:nvPr/>
        </p:nvSpPr>
        <p:spPr>
          <a:xfrm>
            <a:off x="428625" y="1066800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4" name="任意形状 673"/>
          <p:cNvSpPr/>
          <p:nvPr/>
        </p:nvSpPr>
        <p:spPr>
          <a:xfrm>
            <a:off x="428625" y="1066800"/>
            <a:ext cx="5905500" cy="885825"/>
          </a:xfrm>
          <a:custGeom>
            <a:avLst/>
            <a:gdLst/>
            <a:ahLst/>
            <a:cxnLst/>
            <a:rect l="0" t="0" r="0" b="0"/>
            <a:pathLst>
              <a:path w="620" h="9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88"/>
                </a:lnTo>
                <a:cubicBezTo>
                  <a:pt x="5" y="90"/>
                  <a:pt x="7" y="92"/>
                  <a:pt x="9" y="93"/>
                </a:cubicBezTo>
                <a:cubicBezTo>
                  <a:pt x="4" y="92"/>
                  <a:pt x="0" y="88"/>
                  <a:pt x="0" y="8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600075" y="12001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助手返回</a:t>
            </a:r>
            <a:endParaRPr/>
          </a:p>
        </p:txBody>
      </p:sp>
      <p:sp>
        <p:nvSpPr>
          <p:cNvPr id="676" name="文本框 675" descr="{&quot;isTemplate&quot;:true,&quot;type&quot;:&quot;text&quot;}"/>
          <p:cNvSpPr txBox="1"/>
          <p:nvPr/>
        </p:nvSpPr>
        <p:spPr>
          <a:xfrm>
            <a:off x="600075" y="1476375"/>
            <a:ext cx="55149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查询到您近期有两笔耳机订单，请选择需要查询的一笔：</a:t>
            </a:r>
            <a:endParaRPr/>
          </a:p>
        </p:txBody>
      </p:sp>
      <p:sp>
        <p:nvSpPr>
          <p:cNvPr id="677" name="圆角矩形 676"/>
          <p:cNvSpPr/>
          <p:nvPr/>
        </p:nvSpPr>
        <p:spPr>
          <a:xfrm>
            <a:off x="381000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25400">
            <a:solidFill>
              <a:srgbClr val="2F6F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8" name="圆角矩形 677"/>
          <p:cNvSpPr/>
          <p:nvPr/>
        </p:nvSpPr>
        <p:spPr>
          <a:xfrm>
            <a:off x="533400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638175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33400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23A78"/>
                </a:solidFill>
                <a:latin typeface="Microsoft YaHei"/>
                <a:ea typeface="Microsoft YaHei"/>
              </a:rPr>
              <a:t>AirLite 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33400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白色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2" name="圆角矩形 681"/>
          <p:cNvSpPr/>
          <p:nvPr/>
        </p:nvSpPr>
        <p:spPr>
          <a:xfrm>
            <a:off x="3400425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3" name="圆角矩形 682"/>
          <p:cNvSpPr/>
          <p:nvPr/>
        </p:nvSpPr>
        <p:spPr>
          <a:xfrm>
            <a:off x="3552825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3657600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3A78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3552825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AirLite Pro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降噪耳机</a:t>
            </a:r>
            <a:endParaRPr/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3552825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黑色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7" name="圆角矩形 686"/>
          <p:cNvSpPr/>
          <p:nvPr/>
        </p:nvSpPr>
        <p:spPr>
          <a:xfrm>
            <a:off x="428625" y="4019550"/>
            <a:ext cx="5905500" cy="923925"/>
          </a:xfrm>
          <a:prstGeom prst="roundRect">
            <a:avLst>
              <a:gd name="adj" fmla="val 1030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8" name="任意形状 687"/>
          <p:cNvSpPr/>
          <p:nvPr/>
        </p:nvSpPr>
        <p:spPr>
          <a:xfrm>
            <a:off x="428625" y="4019550"/>
            <a:ext cx="5905500" cy="923925"/>
          </a:xfrm>
          <a:custGeom>
            <a:avLst/>
            <a:gdLst/>
            <a:ahLst/>
            <a:cxnLst/>
            <a:rect l="0" t="0" r="0" b="0"/>
            <a:pathLst>
              <a:path w="620" h="9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2"/>
                </a:lnTo>
                <a:cubicBezTo>
                  <a:pt x="5" y="94"/>
                  <a:pt x="7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600075" y="4152900"/>
            <a:ext cx="55149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产品上可以做成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可点击的订单卡片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，而不只是两行文字：至少要让用户看清商品、规格和时间，必要时展示缩略图及部分订单编号。</a:t>
            </a:r>
            <a:endParaRPr/>
          </a:p>
        </p:txBody>
      </p:sp>
      <p:sp>
        <p:nvSpPr>
          <p:cNvPr id="690" name="圆角矩形 689"/>
          <p:cNvSpPr/>
          <p:nvPr/>
        </p:nvSpPr>
        <p:spPr>
          <a:xfrm>
            <a:off x="381000" y="5324475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552450" y="5457825"/>
            <a:ext cx="5562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系统要记住：刚才展示了哪些候选订单，以及它们在页面上的对应关系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否则「第二个」就无从映射。</a:t>
            </a:r>
            <a:endParaRPr/>
          </a:p>
        </p:txBody>
      </p:sp>
      <p:sp>
        <p:nvSpPr>
          <p:cNvPr id="692" name="文本框 691" descr="{&quot;isTemplate&quot;:true,&quot;type&quot;:&quot;text&quot;}"/>
          <p:cNvSpPr txBox="1"/>
          <p:nvPr/>
        </p:nvSpPr>
        <p:spPr>
          <a:xfrm>
            <a:off x="6667500" y="1066800"/>
            <a:ext cx="5143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用户说「第二个」，系统怎样接住</a:t>
            </a:r>
            <a:endParaRPr/>
          </a:p>
        </p:txBody>
      </p:sp>
      <p:sp>
        <p:nvSpPr>
          <p:cNvPr id="693" name="矩形 692"/>
          <p:cNvSpPr/>
          <p:nvPr/>
        </p:nvSpPr>
        <p:spPr>
          <a:xfrm>
            <a:off x="6667500" y="1409700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4" name="圆角矩形 693"/>
          <p:cNvSpPr/>
          <p:nvPr/>
        </p:nvSpPr>
        <p:spPr>
          <a:xfrm>
            <a:off x="6667500" y="1485900"/>
            <a:ext cx="5143500" cy="17907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6800850" y="1600200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状态怎么更新（前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后）</a:t>
            </a:r>
            <a:endParaRPr/>
          </a:p>
        </p:txBody>
      </p:sp>
      <p:sp>
        <p:nvSpPr>
          <p:cNvPr id="696" name="圆角矩形 695"/>
          <p:cNvSpPr/>
          <p:nvPr/>
        </p:nvSpPr>
        <p:spPr>
          <a:xfrm>
            <a:off x="6667500" y="3324225"/>
            <a:ext cx="51435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6838950" y="3457575"/>
            <a:ext cx="48006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如果用户点击就能准确表达选择，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就不必要求所有操作都通过自由文本完成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：大模型理解「第二个」，卡片提供更直接的操作，两者可以同时存在。</a:t>
            </a:r>
            <a:endParaRPr/>
          </a:p>
        </p:txBody>
      </p:sp>
      <p:sp>
        <p:nvSpPr>
          <p:cNvPr id="698" name="圆角矩形 697"/>
          <p:cNvSpPr/>
          <p:nvPr/>
        </p:nvSpPr>
        <p:spPr>
          <a:xfrm>
            <a:off x="6667500" y="4562475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6819900" y="4676775"/>
            <a:ext cx="4838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点击卡片：前端直接提交对应订单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ID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；输入「第二个」：结合刚才展示的列表映射到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DEMO-102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0" name="圆角矩形 699"/>
          <p:cNvSpPr/>
          <p:nvPr/>
        </p:nvSpPr>
        <p:spPr>
          <a:xfrm>
            <a:off x="6715125" y="5410200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1" name="任意形状 700"/>
          <p:cNvSpPr/>
          <p:nvPr/>
        </p:nvSpPr>
        <p:spPr>
          <a:xfrm>
            <a:off x="6715125" y="5410200"/>
            <a:ext cx="5143500" cy="800100"/>
          </a:xfrm>
          <a:custGeom>
            <a:avLst/>
            <a:gdLst/>
            <a:ahLst/>
            <a:cxnLst/>
            <a:rect l="0" t="0" r="0" b="0"/>
            <a:pathLst>
              <a:path w="540" h="8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9"/>
                </a:lnTo>
                <a:cubicBezTo>
                  <a:pt x="5" y="81"/>
                  <a:pt x="7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6867525" y="5524500"/>
            <a:ext cx="47910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如果候选列表已经变化，或用户说「之前那个」无法确定指向，就应该再次确认，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不能随意映射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3" name="任意形状 70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24 / 59</a:t>
            </a:r>
            <a:endParaRPr/>
          </a:p>
        </p:txBody>
      </p:sp>
      <p:sp>
        <p:nvSpPr>
          <p:cNvPr id="706" name="圆角矩形 705"/>
          <p:cNvSpPr/>
          <p:nvPr/>
        </p:nvSpPr>
        <p:spPr>
          <a:xfrm>
            <a:off x="6800850" y="1866900"/>
            <a:ext cx="4876800" cy="1295400"/>
          </a:xfrm>
          <a:prstGeom prst="roundRect">
            <a:avLst>
              <a:gd name="adj" fmla="val 5882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7" name="文本框 706"/>
          <p:cNvSpPr txBox="1"/>
          <p:nvPr/>
        </p:nvSpPr>
        <p:spPr>
          <a:xfrm>
            <a:off x="6953250" y="2000250"/>
            <a:ext cx="45720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current_task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waiting_for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order_selection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   →  null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candidate_order_ids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["DEMO-101", "DEMO-102"]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selected_order_id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 null  →  "DEMO-102"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查到以后，怎样把结果说清楚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2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1, fontWeight: '600', color: '#123A78' }}&gt;教学返回结果可以是&lt;/Text&gt;&#10;            &lt;/Box&gt;&#10;            &lt;CodeBlock&#10;                code={`{&#10;  &quot;order_id&quot;: &quot;DEMO-102&quot;,&#10;  &quot;product_name&quot;: &quot;AirLite Pro 降噪耳机&quot;,&#10;  &quot;order_status&quot;: &quot;shipped&quot;,&#10;  &quot;latest_logistics_status&quot;: &quot;运输中&quot;,&#10;  &quot;latest_logistics_event&quot;: &quot;快件已到达目的地分拨中心&quot;,&#10;  &quot;event_time&quot;: &quot;2026-09-08 18:20&quot;,&#10;  &quot;estimated_delivery_time&quot;: null&#10;}`}&#10;                language='json'&#10;                theme='github-light'&#10;                width={620}&#10;                fontSize={17}&#10;                macHeader={false}&#10;            /&gt;&#10;            &lt;Box style={{ background: '#F7F9FC', borderRadius: 8, padding: '12px 16px', gap: 6 }}&gt;&#10;                &lt;Text style={{ fontSize: 18, color: '#1A2230', lineHeight: 1.45 }}&gt;· 订单已经发货，最新记录是到达目的地分拨中心&lt;/Text&gt;&#10;                &lt;Text style={{ fontSize: 18, color: '#1A2230', lineHeight: 1.45 }}&gt;· 这条记录发生在 9 月 8 日&lt;/Text&gt;&#10;                &lt;Text style={{ fontSize: 18, color: '#C0392B', lineHeight: 1.45 }}&gt;· 系统没有提供预计送达时间&lt;/Text&gt;&#10;            &lt;/Box&gt;&#10;            &lt;Box style={{ background: '#E9F0FA', borderRadius: 10, padding: '14px 18px', borderLeft: '5px solid #123A78' }}&gt;&#10;                &lt;Text style={{ fontSize: 17, color: '#2F6FD0', marginBottom: 6 }}&gt;可以这样回复用户&lt;/Text&gt;&#10;                &lt;Text style={{ fontSize: 18, color: '#123A78', lineHeight: 1.5 }}&gt;&#10;                    您查询的是 9 月 3 日购买的 AirLite Pro 降噪耳机。订单已发货，最新记录：9 月 8 日 18:20 到达目的地分拨中心。当前结果未提供预计送达时间，您可以查看完整物流记录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4px 16px' }}&gt;&#10;                &lt;Text style={{ fontSize: 17, color: '#8B97A8', letterSpacing: 1 }}&gt;模板就够了的情况&lt;/Text&gt;&#10;                &lt;Text style={{ fontSize: 18, color: '#1A2230', marginTop: 8, lineHeight: 1.5 }}&gt;&#10;                    商品：{`{product_name}`}　订单状态：{`{order_status}`}&lt;br /&gt;&#10;                    最新物流：{`{latest_logistics_event}`}　更新时间：{`{event_time}`}&#10;                &lt;/Text&gt;&#10;            &lt;/Box&gt;&#10;            &lt;Box style={{ background: '#FFFFFF', border: '1px solid #D6DCE5', borderRadius: 10, padding: '12px 16px', gap: 4 }}&gt;&#10;                &lt;Text style={{ fontSize: 18, color: '#123A78', fontWeight: 'bold' }}&gt;模型更适合承担的是&lt;/Text&gt;&#10;                &lt;Text style={{ fontSize: 18, color: '#1A2230', lineHeight: 1.45 }}&gt;· 结合用户的问题，选择需要解释的信息&lt;/Text&gt;&#10;                &lt;Text style={{ fontSize: 17, color: '#1A2230', lineHeight: 1.4 }}&gt;· 把多个字段组织成容易理解的说明&lt;/Text&gt;&#10;                &lt;Text style={{ fontSize: 17, color: '#1A2230', lineHeight: 1.4 }}&gt;· 承接后续问题&lt;/Text&gt;&#10;            &lt;/Box&gt;&#10;            &lt;Box style={{ background: '#FFFFFF', border: '1px solid #D6DCE5', borderRadius: 10, padding: '12px 14px' }}&gt;&#10;                &lt;Text style={{ fontSize: 16, color: '#8B97A8', marginBottom: 8 }}&gt;给模型的回复约束（示意）&lt;/Text&gt;&#10;                &lt;CodeBlock&#10;                    code={`根据已确认的订单和工具返回结果回答用户。&#10;&#10;- 只能使用工具提供的订单与物流事实&#10;- 没有预计送达时间，不承诺送达日期&#10;- 没有延误原因，不编造原因&#10;- 工具失败或结果为空，不生成成功回复`}&#10;                    language='text'&#10;                    theme='github-light'&#10;                    width={460}&#10;                    fontSize={14}&#10;                    macHeader={false}&#10;                /&gt;&#10;            &lt;/Box&gt;&#10;            &lt;Box style={{ background: '#FDF2F0', borderRadius: 10, padding: '10px 14px', borderLeft: '5px solid #C0392B' }}&gt;&#10;                &lt;Text style={{ fontSize: 16, color: '#C0392B', lineHeight: 1.4 }}&gt;&#10;                    不能自行补「预计明天一定能收到」；也不能把「运输中」编成「由于天气原因延误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矩形 7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查到以后，怎样把结果说清楚</a:t>
            </a:r>
            <a:endParaRPr/>
          </a:p>
        </p:txBody>
      </p:sp>
      <p:sp>
        <p:nvSpPr>
          <p:cNvPr id="712" name="矩形 71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3" name="圆角矩形 712"/>
          <p:cNvSpPr/>
          <p:nvPr/>
        </p:nvSpPr>
        <p:spPr>
          <a:xfrm>
            <a:off x="381000" y="1066800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571500" y="1066800"/>
            <a:ext cx="1800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教学返回结果可以是</a:t>
            </a:r>
            <a:endParaRPr/>
          </a:p>
        </p:txBody>
      </p:sp>
      <p:sp>
        <p:nvSpPr>
          <p:cNvPr id="715" name="圆角矩形 714"/>
          <p:cNvSpPr/>
          <p:nvPr/>
        </p:nvSpPr>
        <p:spPr>
          <a:xfrm>
            <a:off x="381000" y="4038600"/>
            <a:ext cx="59055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533400" y="41529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订单已经发货，最新记录是到达目的地分拨中心</a:t>
            </a:r>
            <a:endParaRPr/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533400" y="451485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这条记录发生在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533400" y="48768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系统没有提供预计送达时间</a:t>
            </a:r>
            <a:endParaRPr/>
          </a:p>
        </p:txBody>
      </p:sp>
      <p:sp>
        <p:nvSpPr>
          <p:cNvPr id="719" name="圆角矩形 718"/>
          <p:cNvSpPr/>
          <p:nvPr/>
        </p:nvSpPr>
        <p:spPr>
          <a:xfrm>
            <a:off x="428625" y="5295900"/>
            <a:ext cx="5905500" cy="1457325"/>
          </a:xfrm>
          <a:prstGeom prst="roundRect">
            <a:avLst>
              <a:gd name="adj" fmla="val 653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0" name="任意形状 719"/>
          <p:cNvSpPr/>
          <p:nvPr/>
        </p:nvSpPr>
        <p:spPr>
          <a:xfrm>
            <a:off x="428625" y="5295900"/>
            <a:ext cx="5905500" cy="1457325"/>
          </a:xfrm>
          <a:custGeom>
            <a:avLst/>
            <a:gdLst/>
            <a:ahLst/>
            <a:cxnLst/>
            <a:rect l="0" t="0" r="0" b="0"/>
            <a:pathLst>
              <a:path w="620" h="15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8"/>
                </a:lnTo>
                <a:cubicBezTo>
                  <a:pt x="5" y="150"/>
                  <a:pt x="7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600075" y="54292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可以这样回复用户</a:t>
            </a:r>
            <a:endParaRPr/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600075" y="5686425"/>
            <a:ext cx="55149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您查询的是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日购买的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AirLite Pro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降噪耳机。订单已发货，最新记录：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18:20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到达目的地分拨中心。当前结果未提供预计送达时间，您可以查看完整物流记录。</a:t>
            </a:r>
            <a:endParaRPr/>
          </a:p>
        </p:txBody>
      </p:sp>
      <p:sp>
        <p:nvSpPr>
          <p:cNvPr id="723" name="圆角矩形 722"/>
          <p:cNvSpPr/>
          <p:nvPr/>
        </p:nvSpPr>
        <p:spPr>
          <a:xfrm>
            <a:off x="6591300" y="1066800"/>
            <a:ext cx="5219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6743700" y="1200150"/>
            <a:ext cx="4914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模板就够了的情况</a:t>
            </a:r>
            <a:endParaRPr/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6743700" y="1476375"/>
            <a:ext cx="4914900" cy="619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{product_name}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订单状态：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{order_status}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最新物流：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{latest_logistics_event}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更新时间：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{event_time}</a:t>
            </a:r>
            <a:endParaRPr/>
          </a:p>
        </p:txBody>
      </p:sp>
      <p:sp>
        <p:nvSpPr>
          <p:cNvPr id="726" name="圆角矩形 725"/>
          <p:cNvSpPr/>
          <p:nvPr/>
        </p:nvSpPr>
        <p:spPr>
          <a:xfrm>
            <a:off x="6591300" y="2228850"/>
            <a:ext cx="52197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6743700" y="2343150"/>
            <a:ext cx="4914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模型更适合承担的是</a:t>
            </a:r>
            <a:endParaRPr/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6743700" y="2590800"/>
            <a:ext cx="4914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结合用户的问题，选择需要解释的信息</a:t>
            </a:r>
            <a:endParaRPr/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743700" y="29337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把多个字段组织成容易理解的说明</a:t>
            </a:r>
            <a:endParaRPr/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743700" y="3248025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承接后续问题</a:t>
            </a:r>
            <a:endParaRPr/>
          </a:p>
        </p:txBody>
      </p:sp>
      <p:sp>
        <p:nvSpPr>
          <p:cNvPr id="731" name="圆角矩形 730"/>
          <p:cNvSpPr/>
          <p:nvPr/>
        </p:nvSpPr>
        <p:spPr>
          <a:xfrm>
            <a:off x="6591300" y="3638550"/>
            <a:ext cx="5219700" cy="211455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6724650" y="3752850"/>
            <a:ext cx="4953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给模型的回复约束（示意）</a:t>
            </a:r>
            <a:endParaRPr/>
          </a:p>
        </p:txBody>
      </p:sp>
      <p:sp>
        <p:nvSpPr>
          <p:cNvPr id="733" name="圆角矩形 732"/>
          <p:cNvSpPr/>
          <p:nvPr/>
        </p:nvSpPr>
        <p:spPr>
          <a:xfrm>
            <a:off x="6638925" y="5753100"/>
            <a:ext cx="5219700" cy="704850"/>
          </a:xfrm>
          <a:prstGeom prst="roundRect">
            <a:avLst>
              <a:gd name="adj" fmla="val 135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4" name="任意形状 733"/>
          <p:cNvSpPr/>
          <p:nvPr/>
        </p:nvSpPr>
        <p:spPr>
          <a:xfrm>
            <a:off x="6638925" y="5753100"/>
            <a:ext cx="5219700" cy="704850"/>
          </a:xfrm>
          <a:custGeom>
            <a:avLst/>
            <a:gdLst/>
            <a:ahLst/>
            <a:cxnLst/>
            <a:rect l="0" t="0" r="0" b="0"/>
            <a:pathLst>
              <a:path w="548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6772275" y="5848350"/>
            <a:ext cx="49053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200">
                <a:solidFill>
                  <a:srgbClr val="C0392B"/>
                </a:solidFill>
                <a:latin typeface="Microsoft YaHei"/>
                <a:ea typeface="Microsoft YaHei"/>
              </a:rPr>
              <a:t>不能自行补「预计明天一定能收到」；也不能把「运输中」编成「由于天气原因延误」。</a:t>
            </a:r>
            <a:endParaRPr/>
          </a:p>
        </p:txBody>
      </p:sp>
      <p:sp>
        <p:nvSpPr>
          <p:cNvPr id="736" name="任意形状 73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25 / 59</a:t>
            </a:r>
            <a:endParaRPr/>
          </a:p>
        </p:txBody>
      </p:sp>
      <p:sp>
        <p:nvSpPr>
          <p:cNvPr id="739" name="圆角矩形 738"/>
          <p:cNvSpPr/>
          <p:nvPr/>
        </p:nvSpPr>
        <p:spPr>
          <a:xfrm>
            <a:off x="381000" y="1314450"/>
            <a:ext cx="5905500" cy="2724150"/>
          </a:xfrm>
          <a:prstGeom prst="roundRect">
            <a:avLst>
              <a:gd name="adj" fmla="val 279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" name="文本框 739"/>
          <p:cNvSpPr txBox="1"/>
          <p:nvPr/>
        </p:nvSpPr>
        <p:spPr>
          <a:xfrm>
            <a:off x="533400" y="1447800"/>
            <a:ext cx="5600700" cy="2457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"product_name"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"AirLite Pro 降噪耳机"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"shipped"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"运输中"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"latest_logistics_event"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"快件已到达目的地分拨中心"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"event_time"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"2026-09-08 18:20"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"estimated_delivery_time"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741" name="圆角矩形 740"/>
          <p:cNvSpPr/>
          <p:nvPr/>
        </p:nvSpPr>
        <p:spPr>
          <a:xfrm>
            <a:off x="6724650" y="401955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" name="文本框 741"/>
          <p:cNvSpPr txBox="1"/>
          <p:nvPr/>
        </p:nvSpPr>
        <p:spPr>
          <a:xfrm>
            <a:off x="6877050" y="4152900"/>
            <a:ext cx="4648200" cy="1352550"/>
          </a:xfrm>
          <a:prstGeom prst="rect">
            <a:avLst/>
          </a:prstGeom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根据已确认的订单和工具返回结果回答用户。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只能使用工具提供的订单与物流事实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没有预计送达时间，不承诺送达日期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没有延误原因，不编造原因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工具失败或结果为空，不生成成功回复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三种容易被混淆的查询结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244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情况', textStyle: { bold: true, color: '#FFFFFF', fontSize: 19 }, cellStyle: { background: { color: '#123A78' } } },&#10;                        { text: '实际含义', textStyle: { bold: true, color: '#FFFFFF', fontSize: 19 }, cellStyle: { background: { color: '#123A78' } } },&#10;                        { text: '应怎样处理', textStyle: { bold: true, color: '#FFFFFF', fontSize: 19 }, cellStyle: { background: { color: '#123A78' } } },&#10;                    ],&#10;                    [&#10;                        { text: '没有找到订单', textStyle: { bold: true, color: '#123A78' }, cellStyle: { background: { color: '#F7F9FC' } } },&#10;                        { text: '查询成功，但没有匹配记录', cellStyle: { background: { color: '#F7F9FC' } } },&#10;                        { text: '引导调整时间、确认账号或补充订单信息', cellStyle: { background: { color: '#F7F9FC' } } },&#10;                    ],&#10;                    [&#10;                        { text: '订单尚未发货', textStyle: { bold: true, color: '#123A78' } },&#10;                        { text: '已找到订单，当前没有物流轨迹' },&#10;                        { text: '如实展示待发货状态，按可用信息提供后续入口' },&#10;                    ],&#10;                    [&#10;                        { text: '查询工具失败', textStyle: { bold: true, color: '#C0392B' }, cellStyle: { background: { color: '#FDF2F0' } } },&#10;                        { text: '系统没有成功获取数据', cellStyle: { background: { color: '#FDF2F0' } } },&#10;                        { text: '告知暂时无法查询，提供重试或人工处理', cellStyle: { background: { color: '#FDF2F0' } } },&#10;                    ],&#10;                ]}&#10;            /&gt;&#10;        &lt;/Box&gt;&#10;        &lt;Box style={{ height: 210, flexDirection: 'row', gap: 20 }}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1&lt;/Text&gt;&#10;                    &lt;/Box&gt;&#10;                    &lt;Text style={{ fontSize: 20, fontWeight: '600', color: '#123A78' }}&gt;没有找到订单&lt;/Text&gt;&#10;                &lt;/Box&gt;&#10;                &lt;Text style={{ fontSize: 17, color: '#1A2230', lineHeight: 1.45 }}&gt;&#10;                    可以说：当前账号下没有找到符合这些条件的订单，您可以确认购买时间，或从订单列表中选择。&#10;                &lt;/Text&gt;&#10;                &lt;Text style={{ fontSize: 17, color: '#C0392B', lineHeight: 1.45 }}&gt;&#10;                    不能说：「您没有买过这个商品」—— 只是当前查询没匹配，不能排除账号或时间条件有误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2&lt;/Text&gt;&#10;                    &lt;/Box&gt;&#10;                    &lt;Text style={{ fontSize: 20, fontWeight: '600', color: '#123A78' }}&gt;订单还没发货&lt;/Text&gt;&#10;                &lt;/Box&gt;&#10;                &lt;Text style={{ fontSize: 17, color: '#1A2230', lineHeight: 1.45 }}&gt;&#10;                    可以说：已找到这笔订单，目前状态为待发货，暂时没有物流记录。&#10;                &lt;/Text&gt;&#10;                &lt;Text style={{ fontSize: 17, color: '#C0392B', lineHeight: 1.45 }}&gt;&#10;                    不能说：「今天一定发」—— 系统没有明确的发货时间，就不能替它承诺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C0392B', borderRadius: 8, justifyContent: 'center', alignItems: 'center' }}&gt;&#10;                        &lt;Text style={{ fontSize: 15, color: '#FFFFFF', fontWeight: 'bold', fontFamily: 'JetBrains Mono' }}&gt;3&lt;/Text&gt;&#10;                    &lt;/Box&gt;&#10;                    &lt;Text style={{ fontSize: 20, fontWeight: '600', color: '#123A78' }}&gt;工具调用失败&lt;/Text&gt;&#10;                &lt;/Box&gt;&#10;                &lt;Text style={{ fontSize: 17, color: '#1A2230', lineHeight: 1.45 }}&gt;&#10;                    可以说：当前暂时无法获取订单信息，您可以重试，或转人工继续查询。&#10;                &lt;/Text&gt;&#10;                &lt;Text style={{ fontSize: 17, color: '#C0392B', lineHeight: 1.45 }}&gt;&#10;                    不能说：「没有这笔订单」，也不能用模型常识补一个结果。&#10;                &lt;/Text&gt;&#10;            &lt;/Box&gt;&#10;        &lt;/Box&gt;&#10;        &lt;Box style={{ height: 62, borderRadius: 10, background: 'linear-gradient(135deg,#123A78 0%,#2F6FD0 100%)', justifyContent: 'center', alignItems: 'center' }}&gt;&#10;            &lt;Text style={{ fontSize: 24, color: '#FFFFFF', fontWeight: '600', lineHeight: 1.4, textAlign: 'center' }}&gt;&#10;                「没有数据」和「没有成功获取数据」，是两种不同的产品状态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矩形 7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三种容易被混淆的查询结果</a:t>
            </a:r>
            <a:endParaRPr/>
          </a:p>
        </p:txBody>
      </p:sp>
      <p:sp>
        <p:nvSpPr>
          <p:cNvPr id="747" name="矩形 7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8" name="圆角矩形 747"/>
          <p:cNvSpPr/>
          <p:nvPr/>
        </p:nvSpPr>
        <p:spPr>
          <a:xfrm>
            <a:off x="381000" y="1066800"/>
            <a:ext cx="11430000" cy="2324100"/>
          </a:xfrm>
          <a:prstGeom prst="roundRect">
            <a:avLst>
              <a:gd name="adj" fmla="val 4098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749" name="表格 748"/>
          <p:cNvGraphicFramePr/>
          <p:nvPr/>
        </p:nvGraphicFramePr>
        <p:xfrm>
          <a:off x="381000" y="1066800"/>
          <a:ext cx="11430000" cy="2324100"/>
        </p:xfrm>
        <a:graphic>
          <a:graphicData uri="http://schemas.openxmlformats.org/drawingml/2006/table">
            <a:tbl>
              <a:tblPr/>
              <a:tblGrid>
                <a:gridCol w="174888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899614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781503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实际含义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应怎样处理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没有找到订单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查询成功，但没有匹配记录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引导调整时间、确认账号或补充订单信息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订单尚未发货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已找到订单，当前没有物流轨迹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如实展示待发货状态，按可用信息提供后续入口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查询工具失败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系统没有成功获取数据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告知暂时无法查询，提供重试或人工处理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750" name="圆角矩形 749"/>
          <p:cNvSpPr/>
          <p:nvPr/>
        </p:nvSpPr>
        <p:spPr>
          <a:xfrm>
            <a:off x="381000" y="3505200"/>
            <a:ext cx="3686175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1" name="圆角矩形 750"/>
          <p:cNvSpPr/>
          <p:nvPr/>
        </p:nvSpPr>
        <p:spPr>
          <a:xfrm>
            <a:off x="552450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657225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933450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没有找到订单</a:t>
            </a:r>
            <a:endParaRPr/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552450" y="3924300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可以说：当前账号下没有找到符合这些条件的订单，您可以确认购买时间，或从订单列表中选择。</a:t>
            </a:r>
            <a:endParaRPr/>
          </a:p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552450" y="4772025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不能说：「您没有买过这个商品」——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只是当前查询没匹配，不能排除账号或时间条件有误。</a:t>
            </a:r>
            <a:endParaRPr/>
          </a:p>
        </p:txBody>
      </p:sp>
      <p:sp>
        <p:nvSpPr>
          <p:cNvPr id="756" name="圆角矩形 755"/>
          <p:cNvSpPr/>
          <p:nvPr/>
        </p:nvSpPr>
        <p:spPr>
          <a:xfrm>
            <a:off x="4257675" y="3505200"/>
            <a:ext cx="367665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7" name="圆角矩形 756"/>
          <p:cNvSpPr/>
          <p:nvPr/>
        </p:nvSpPr>
        <p:spPr>
          <a:xfrm>
            <a:off x="442912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453390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481012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订单还没发货</a:t>
            </a:r>
            <a:endParaRPr/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4429125" y="40767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可以说：已找到这笔订单，目前状态为待发货，暂时没有物流记录。</a:t>
            </a:r>
            <a:endParaRPr/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4429125" y="48006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不能说：「今天一定发」——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系统没有明确的发货时间，就不能替它承诺。</a:t>
            </a:r>
            <a:endParaRPr/>
          </a:p>
        </p:txBody>
      </p:sp>
      <p:sp>
        <p:nvSpPr>
          <p:cNvPr id="762" name="圆角矩形 761"/>
          <p:cNvSpPr/>
          <p:nvPr/>
        </p:nvSpPr>
        <p:spPr>
          <a:xfrm>
            <a:off x="8124825" y="3505200"/>
            <a:ext cx="3686175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3" name="圆角矩形 762"/>
          <p:cNvSpPr/>
          <p:nvPr/>
        </p:nvSpPr>
        <p:spPr>
          <a:xfrm>
            <a:off x="829627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840105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867727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工具调用失败</a:t>
            </a:r>
            <a:endParaRPr/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8296275" y="40767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可以说：当前暂时无法获取订单信息，您可以重试，或转人工继续查询。</a:t>
            </a:r>
            <a:endParaRPr/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8296275" y="48006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不能说：「没有这笔订单」，也不能用模型常识补一个结果。</a:t>
            </a:r>
            <a:endParaRPr/>
          </a:p>
        </p:txBody>
      </p:sp>
      <p:sp>
        <p:nvSpPr>
          <p:cNvPr id="768" name="圆角矩形 767"/>
          <p:cNvSpPr/>
          <p:nvPr/>
        </p:nvSpPr>
        <p:spPr>
          <a:xfrm>
            <a:off x="381000" y="5619750"/>
            <a:ext cx="11430000" cy="59055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2895600" y="5724525"/>
            <a:ext cx="640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「没有数据」和「没有成功获取数据」，是两种不同的产品状态</a:t>
            </a:r>
            <a:endParaRPr/>
          </a:p>
        </p:txBody>
      </p:sp>
      <p:sp>
        <p:nvSpPr>
          <p:cNvPr id="770" name="任意形状 7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26 / 59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4&lt;/Text&gt;&#10;            &lt;Box style={{ width: 200, height: 4, background: '#2F6FD0' }} /&gt;&#10;            &lt;Text style={{ fontSize: 16, color: '#8B97A8', letterSpacing: 3, fontFamily: 'JetBrains Mono' }}&gt;P.35 – 41&lt;/Text&gt;&#10;        &lt;/Box&gt;&#10;        &lt;Box style={{ flex: 1, gap: 20 }}&gt;&#10;            &lt;Text style={{ fontSize: 44, fontWeight: '700', color: '#123A78', lineHeight: 1.25 }}&gt;售后咨询&lt;br /&gt;与处理工作流&lt;/Text&gt;&#10;            &lt;Text style={{ fontSize: 22, color: '#4A5568', lineHeight: 1.55 }}&gt;&#10;                订单查到只是第一步。现在用户说的是：&lt;span style={{ fontWeight: 'bold', color: '#123A78' }}&gt;「耳机收到了，但是右边没有声音，我想换一个。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先区分「问政策」和「要处理」这两种诉求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知识检索、字段补齐、用户确认与提交执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条红线：受理申请，不等于批准申请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矩形 7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795" name="矩形 794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P.35 – 41</a:t>
            </a:r>
            <a:endParaRPr/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售后咨询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与处理工作流</a:t>
            </a:r>
            <a:endParaRPr/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订单查到只是第一步。现在用户说的是：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「耳机收到了，但是右边没有声音，我想换一个。」</a:t>
            </a:r>
            <a:endParaRPr/>
          </a:p>
        </p:txBody>
      </p:sp>
      <p:sp>
        <p:nvSpPr>
          <p:cNvPr id="799" name="圆角矩形 798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先区分「问政策」和「要处理」这两种诉求</a:t>
            </a:r>
            <a:endParaRPr/>
          </a:p>
        </p:txBody>
      </p:sp>
      <p:sp>
        <p:nvSpPr>
          <p:cNvPr id="801" name="圆角矩形 800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知识检索、字段补齐、用户确认与提交执行</a:t>
            </a:r>
            <a:endParaRPr/>
          </a:p>
        </p:txBody>
      </p:sp>
      <p:sp>
        <p:nvSpPr>
          <p:cNvPr id="803" name="圆角矩形 802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一条红线：受理申请，不等于批准申请</a:t>
            </a:r>
            <a:endParaRPr/>
          </a:p>
        </p:txBody>
      </p:sp>
      <p:sp>
        <p:nvSpPr>
          <p:cNvPr id="805" name="矩形 80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先区分「问政策」和「要处理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18, flexDirection: 'row', gap: 32 }}&gt;&#10;            &lt;Box style={{ width: 760, height: 418, border: '1px solid #D6DCE5', borderRadius: 10, overflow: 'hidden' }}&gt;&#10;                &lt;Table&#10;                    style={{ width: '100%', height: '100%' }}&#10;                    defaultTextStyle={{ fontSize: 20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用户表达', textStyle: { bold: true, color: '#FFFFFF', fontSize: 20 }, cellStyle: { background: { color: '#123A78' } } },&#10;                            { text: '当前需要做什么', textStyle: { bold: true, color: '#FFFFFF', fontSize: 20 }, cellStyle: { background: { color: '#123A78' } } },&#10;                        ],&#10;                        [&#10;                            { text: '①「耳机坏了能换吗？」\n泛泛询问换货政策', textStyle: { color: '#123A78' }, cellStyle: { background: { color: '#F7F9FC' } } },&#10;                            { text: '解释适用条件，必要时确认商品或问题类型', cellStyle: { background: { color: '#F7F9FC' } } },&#10;                        ],&#10;                        [&#10;                            { text: '②「我买的耳机右边没有声音，能换吗？」\n询问自己的商品能否换货', textStyle: { color: '#123A78' } },&#10;                            { text: '结合订单、故障和适用政策继续确认' },&#10;                        ],&#10;                        [&#10;                            { text: '③「我买的耳机右边没有声音，帮我申请换货。」\n明确要求申请换货', textStyle: { color: '#123A78', bold: true }, cellStyle: { background: { color: '#E9F0FA' } } },&#10;                            { text: '收集申请所需信息，引导确认和提交', textStyle: { bold: true }, cellStyle: { background: { color: '#E9F0FA' } } },&#10;                        ],&#10;                    ]}&#10;                /&gt;&#10;            &lt;/Box&gt;&#10;            &lt;Box style={{ flex: 1, height: 418, justifyContent: 'space-between' }}&gt;&#10;                &lt;Box&gt;&#10;                    &lt;Box style={{ flexDirection: 'row', alignItems: 'center', gap: 10 }}&gt;&#10;                        &lt;Box style={{ width: 34, height: 34, background: '#123A78', borderRadius: 8, justifyContent: 'center', alignItems: 'center' }}&gt;&#10;                            &lt;Text style={{ fontSize: 17, color: '#FFFFFF', fontWeight: 'bold', fontFamily: 'JetBrains Mono' }}&gt;3&lt;/Text&gt;&#10;                        &lt;/Box&gt;&#10;                        &lt;Text style={{ fontSize: 22, fontWeight: '600', color: '#123A78' }}&gt;本节重点&lt;/Text&gt;&#10;                    &lt;/Box&gt;&#10;                    &lt;Text style={{ fontSize: 19, color: '#1A2230', marginTop: 12, lineHeight: 1.5 }}&gt;&#10;                        三句话都与换货有关，但系统下一步不应该完全一样。我们重点处理&lt;span style={{ fontWeight: 'bold' }}&gt;第三种&lt;/span&gt;。&#10;                    &lt;/Text&gt;&#10;                &lt;/Box&gt;&#10;                &lt;Box style={{ background: '#FFFFFF', border: '1px solid #D6DCE5', borderRadius: 10, padding: '14px 16px' }}&gt;&#10;                    &lt;Text style={{ fontSize: 18, color: '#2F6FD0', fontWeight: 'bold', lineHeight: 1.45 }}&gt;第一种&lt;/Text&gt;&#10;                    &lt;Text style={{ fontSize: 17, color: '#1A2230', marginTop: 6, lineHeight: 1.45 }}&gt;不一定一上来就要用户提供订单和图片。&lt;/Text&gt;&#10;                &lt;/Box&gt;&#10;                &lt;Box style={{ background: '#FDF2F0', borderRadius: 10, padding: '14px 16px', borderLeft: '5px solid #C0392B' }}&gt;&#10;                    &lt;Text style={{ fontSize: 18, color: '#C0392B', fontWeight: 'bold', lineHeight: 1.45 }}&gt;第三种的问题&lt;/Text&gt;&#10;                    &lt;Text style={{ fontSize: 17, color: '#1A2230', marginTop: 6, lineHeight: 1.45 }}&gt;如果系统仍然只返回一段政策，用户的需求并没有被完成。&lt;/Text&gt;&#10;                &lt;/Box&gt;&#10;                &lt;Box style={{ background: '#123A78', borderRadius: 10, padding: '14px 16px' }}&gt;&#10;                    &lt;Text style={{ fontSize: 18, color: '#FFFFFF', lineHeight: 1.5 }}&gt;&#10;                        所以进入售后分支后还要再判断：用户是在&lt;span style={{ fontWeight: 'bold' }}&gt;了解规则&lt;/span&gt;，还是希望&lt;span style={{ fontWeight: 'bold' }}&gt;处理自己的问题&lt;/span&gt;？目前的信息够不够继续？&#10;                    &lt;/Text&gt;&#10;                &lt;/Box&gt;&#10;            &lt;/Box&gt;&#10;        &lt;/Box&gt;&#10;        &lt;Box style={{ height: 96, background: '#F7F9FC', borderRadius: 10, padding: '16px 20px', borderLeft: '5px solid #8B97A8', justifyContent: 'center' }}&gt;&#10;            &lt;Text style={{ fontSize: 18, color: '#4A5568', lineHeight: 1.5 }}&gt;&#10;                本节继续使用教学模拟数据：为了与上一节的物流查询区分，这次使用&lt;span style={{ fontWeight: 'bold' }}&gt;已签收的订单 DEMO-101（AirLite 蓝牙耳机，9 月 4 日签收）&lt;/span&gt;，查询日仍固定为 9 月 9 日。所有政策、接口与处理结果均为教学设计，尚未运行验证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矩形 8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先区分「问政策」和「要处理」</a:t>
            </a:r>
            <a:endParaRPr/>
          </a:p>
        </p:txBody>
      </p:sp>
      <p:sp>
        <p:nvSpPr>
          <p:cNvPr id="810" name="矩形 80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1" name="圆角矩形 810"/>
          <p:cNvSpPr/>
          <p:nvPr/>
        </p:nvSpPr>
        <p:spPr>
          <a:xfrm>
            <a:off x="381000" y="1066800"/>
            <a:ext cx="7239000" cy="3981450"/>
          </a:xfrm>
          <a:prstGeom prst="roundRect">
            <a:avLst>
              <a:gd name="adj" fmla="val 239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12" name="表格 811"/>
          <p:cNvGraphicFramePr/>
          <p:nvPr/>
        </p:nvGraphicFramePr>
        <p:xfrm>
          <a:off x="381000" y="1066800"/>
          <a:ext cx="7239000" cy="3981451"/>
        </p:xfrm>
        <a:graphic>
          <a:graphicData uri="http://schemas.openxmlformats.org/drawingml/2006/table">
            <a:tbl>
              <a:tblPr/>
              <a:tblGrid>
                <a:gridCol w="387828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360718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83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用户表达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当前需要做什么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①「耳机坏了能换吗？」
泛泛询问换货政策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解释适用条件，必要时确认商品或问题类型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②「我买的耳机右边没有声音，能换吗？」
询问自己的商品能否换货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结合订单、故障和适用政策继续确认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14223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③「我买的耳机右边没有声音，帮我申请换货。」
明确要求申请换货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收集申请所需信息，引导确认和提交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813" name="圆角矩形 812"/>
          <p:cNvSpPr/>
          <p:nvPr/>
        </p:nvSpPr>
        <p:spPr>
          <a:xfrm>
            <a:off x="7924800" y="1066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8039100" y="11334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8343900" y="11049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本节重点</a:t>
            </a:r>
            <a:endParaRPr/>
          </a:p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924800" y="1504950"/>
            <a:ext cx="3886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三句话都与换货有关，但系统下一步不应该完全一样。我们重点处理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第三种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17" name="圆角矩形 816"/>
          <p:cNvSpPr/>
          <p:nvPr/>
        </p:nvSpPr>
        <p:spPr>
          <a:xfrm>
            <a:off x="7924800" y="2162175"/>
            <a:ext cx="38862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8077200" y="2295525"/>
            <a:ext cx="35814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2F6FD0"/>
                </a:solidFill>
                <a:latin typeface="Microsoft YaHei"/>
                <a:ea typeface="Microsoft YaHei"/>
              </a:rPr>
              <a:t>第一种</a:t>
            </a:r>
            <a:endParaRPr/>
          </a:p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8077200" y="2657475"/>
            <a:ext cx="3581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不一定一上来就要用户提供订单和图片。</a:t>
            </a:r>
            <a:endParaRPr/>
          </a:p>
        </p:txBody>
      </p:sp>
      <p:sp>
        <p:nvSpPr>
          <p:cNvPr id="820" name="圆角矩形 819"/>
          <p:cNvSpPr/>
          <p:nvPr/>
        </p:nvSpPr>
        <p:spPr>
          <a:xfrm>
            <a:off x="7972425" y="307657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1" name="任意形状 820"/>
          <p:cNvSpPr/>
          <p:nvPr/>
        </p:nvSpPr>
        <p:spPr>
          <a:xfrm>
            <a:off x="7972425" y="3076575"/>
            <a:ext cx="3886200" cy="1200150"/>
          </a:xfrm>
          <a:custGeom>
            <a:avLst/>
            <a:gdLst/>
            <a:ahLst/>
            <a:cxnLst/>
            <a:rect l="0" t="0" r="0" b="0"/>
            <a:pathLst>
              <a:path w="408" h="12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1"/>
                </a:lnTo>
                <a:cubicBezTo>
                  <a:pt x="5" y="123"/>
                  <a:pt x="7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8124825" y="3209925"/>
            <a:ext cx="35337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第三种的问题</a:t>
            </a:r>
            <a:endParaRPr/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8124825" y="3571875"/>
            <a:ext cx="35337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如果系统仍然只返回一段政策，用户的需求并没有被完成。</a:t>
            </a:r>
            <a:endParaRPr/>
          </a:p>
        </p:txBody>
      </p:sp>
      <p:sp>
        <p:nvSpPr>
          <p:cNvPr id="824" name="圆角矩形 823"/>
          <p:cNvSpPr/>
          <p:nvPr/>
        </p:nvSpPr>
        <p:spPr>
          <a:xfrm>
            <a:off x="7924800" y="427672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8077200" y="4410075"/>
            <a:ext cx="35814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所以进入售后分支后还要再判断：用户是在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了解规则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，还是希望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处理自己的问题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？目前的信息够不够继续？</a:t>
            </a:r>
            <a:endParaRPr/>
          </a:p>
        </p:txBody>
      </p:sp>
      <p:sp>
        <p:nvSpPr>
          <p:cNvPr id="826" name="圆角矩形 825"/>
          <p:cNvSpPr/>
          <p:nvPr/>
        </p:nvSpPr>
        <p:spPr>
          <a:xfrm>
            <a:off x="428625" y="52959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7" name="任意形状 826"/>
          <p:cNvSpPr/>
          <p:nvPr/>
        </p:nvSpPr>
        <p:spPr>
          <a:xfrm>
            <a:off x="428625" y="5295900"/>
            <a:ext cx="11430000" cy="914400"/>
          </a:xfrm>
          <a:custGeom>
            <a:avLst/>
            <a:gdLst/>
            <a:ahLst/>
            <a:cxnLst/>
            <a:rect l="0" t="0" r="0" b="0"/>
            <a:pathLst>
              <a:path w="1200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619125" y="5448300"/>
            <a:ext cx="110013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本节继续使用教学模拟数据：为了与上一节的物流查询区分，这次使用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已签收的订单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DEMO-101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 b="1" dirty="0" err="1">
                <a:solidFill>
                  <a:srgbClr val="4A5568"/>
                </a:solidFill>
                <a:latin typeface="Microsoft YaHei"/>
                <a:ea typeface="Microsoft YaHei"/>
              </a:rPr>
              <a:t>AirLite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蓝牙耳机，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9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日签收）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，查询日仍固定为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日。所有政策、接口与处理结果均为教学设计，尚未运行验证。</a:t>
            </a:r>
            <a:endParaRPr dirty="0"/>
          </a:p>
        </p:txBody>
      </p:sp>
      <p:sp>
        <p:nvSpPr>
          <p:cNvPr id="829" name="任意形状 82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28 / 59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展开售后处理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280' y='0' width='560' height='44' rx='10' fill='#FFFFFF' stroke='#2F6FD0' strokeWidth='2' /&gt;&#10;            &lt;text x='560' y='29' textAnchor='middle' fontFamily='Source Han Sans SC' fontSize='20' fill='#123A78' fontWeight='bold'&gt;进入售后处理流程&lt;/text&gt;&#10;            &lt;line x1='560' y1='44' x2='560' y2='62' stroke='#2F6FD0' strokeWidth='2' /&gt;&#10;            &lt;path d='M560 62 L554 52 L566 52 Z' fill='#2F6FD0' /&gt;&#10;&#10;            &lt;rect x='280' y='62' width='560' height='44' rx='10' fill='#FFFFFF' stroke='#2F6FD0' strokeWidth='2' /&gt;&#10;            &lt;text x='560' y='91' textAnchor='middle' fontFamily='Source Han Sans SC' fontSize='20' fill='#123A78' fontWeight='bold'&gt;判断类型：了解规则 / 处理问题&lt;/text&gt;&#10;            &lt;line x1='560' y1='106' x2='560' y2='124' stroke='#2F6FD0' strokeWidth='2' /&gt;&#10;            &lt;path d='M560 124 L554 114 L566 114 Z' fill='#2F6FD0' /&gt;&#10;&#10;            &lt;rect x='280' y='124' width='560' height='54' rx='10' fill='#123A78' /&gt;&#10;            &lt;text x='540' y='153' textAnchor='middle' fontFamily='Source Han Sans SC' fontSize='21' fill='#FFFFFF' fontWeight='bold'&gt;是否已明确订单与商品？&lt;/text&gt;&#10;            &lt;text x='556' y='192' fontFamily='Source Han Sans SC' fontSize='16' fill='#2F6FD0'&gt;是 ↓&lt;/text&gt;&#10;            &lt;text x='848' y='151' fontFamily='Source Han Sans SC' fontSize='16' fill='#8B97A8'&gt;否 →&lt;/text&gt;&#10;            &lt;line x1='560' y1='178' x2='560' y2='196' stroke='#2F6FD0' strokeWidth='2' /&gt;&#10;            &lt;path d='M560 196 L554 186 L566 186 Z' fill='#2F6FD0' /&gt;&#10;            &lt;line x1='840' y1='151' x2='900' y2='165' stroke='#2F6FD0' strokeWidth='2' strokeDasharray='6 4' /&gt;&#10;            &lt;path d='M900 165 L890 160 L890 170 Z' fill='#2F6FD0' /&gt;&#10;&#10;            &lt;rect x='900' y='130' width='280' height='72' rx='10' fill='#E9F0FA' stroke='#2F6FD0' strokeWidth='2' /&gt;&#10;            &lt;text x='920' y='160' fontFamily='Source Han Sans SC' fontSize='18' fill='#123A78' fontWeight='bold'&gt;查当前用户订单（DEMO-101）&lt;/text&gt;&#10;            &lt;text x='920' y='184' fontFamily='Source Han Sans SC' fontSize='17' fill='#4A5568'&gt;确认具体商品与故障类型&lt;/text&gt;&#10;            &lt;line x1='900' y1='202' x2='840' y2='218' stroke='#2F6FD0' strokeWidth='2' strokeDasharray='6 4' /&gt;&#10;            &lt;path d='M840 218 L850 213 L850 223 Z' fill='#2F6FD0' /&gt;&#10;&#10;            &lt;rect x='280' y='196' width='560' height='44' rx='10' fill='#FFFFFF' stroke='#2F6FD0' strokeWidth='2' /&gt;&#10;            &lt;text x='560' y='225' textAnchor='middle' fontFamily='Source Han Sans SC' fontSize='20' fill='#123A78' fontWeight='bold'&gt;识别诉求，收集故障信息&lt;/text&gt;&#10;            &lt;line x1='560' y1='240' x2='560' y2='254' stroke='#2F6FD0' strokeWidth='2' /&gt;&#10;            &lt;path d='M560 254 L554 244 L566 244 Z' fill='#2F6FD0' /&gt;&#10;&#10;            &lt;rect x='280' y='254' width='560' height='44' rx='10' fill='#FFFFFF' stroke='#2F6FD0' strokeWidth='2' /&gt;&#10;            &lt;text x='560' y='283' textAnchor='middle' fontFamily='Source Han Sans SC' fontSize='20' fill='#123A78' fontWeight='bold'&gt;查政策与适用条件&lt;/text&gt;&#10;            &lt;line x1='560' y1='298' x2='560' y2='312' stroke='#2F6FD0' strokeWidth='2' /&gt;&#10;            &lt;path d='M560 312 L554 302 L566 302 Z' fill='#2F6FD0' /&gt;&#10;&#10;            &lt;rect x='280' y='312' width='560' height='44' rx='10' fill='#FFFFFF' stroke='#2F6FD0' strokeWidth='2' /&gt;&#10;            &lt;text x='560' y='341' textAnchor='middle' fontFamily='Source Han Sans SC' fontSize='20' fill='#123A78' fontWeight='bold'&gt;补齐材料，整理申请内容&lt;/text&gt;&#10;            &lt;line x1='840' y1='334' x2='900' y2='346' stroke='#C0392B' strokeWidth='2' strokeDasharray='6 4' /&gt;&#10;            &lt;path d='M900 346 L890 341 L890 351 Z' fill='#C0392B' /&gt;&#10;            &lt;line x1='560' y1='356' x2='560' y2='370' stroke='#2F6FD0' strokeWidth='2' /&gt;&#10;            &lt;path d='M560 370 L554 360 L566 360 Z' fill='#2F6FD0' /&gt;&#10;&#10;            &lt;rect x='280' y='370' width='560' height='44' rx='10' fill='#123A78' /&gt;&#10;            &lt;text x='560' y='399' textAnchor='middle' fontFamily='Source Han Sans SC' fontSize='20' fill='#FFFFFF' fontWeight='bold'&gt;用户确认申请信息&lt;/text&gt;&#10;            &lt;line x1='560' y1='414' x2='560' y2='428' stroke='#2F6FD0' strokeWidth='2' /&gt;&#10;            &lt;path d='M560 428 L554 418 L566 418 Z' fill='#2F6FD0' /&gt;&#10;&#10;            &lt;rect x='280' y='428' width='560' height='54' rx='10' fill='#FFFFFF' stroke='#2F6FD0' strokeWidth='2' /&gt;&#10;            &lt;text x='560' y='454' textAnchor='middle' fontFamily='Source Han Sans SC' fontSize='20' fill='#123A78' fontWeight='bold'&gt;提交申请入口（模拟提交）&lt;/text&gt;&#10;            &lt;text x='560' y='475' textAnchor='middle' fontFamily='JetBrains Mono' fontSize='15' fill='#8B97A8'&gt;→ 返回真实状态 pending_review（待审核）&lt;/text&gt;&#10;&#10;            &lt;rect x='900' y='300' width='280' height='92' rx='10' fill='#FDF2F0' stroke='#C0392B' strokeWidth='2' strokeDasharray='6 4' /&gt;&#10;            &lt;text x='920' y='330' fontFamily='Source Han Sans SC' fontSize='18' fill='#C0392B' fontWeight='bold'&gt;异常 / 信息无法继续&lt;/text&gt;&#10;            &lt;text x='920' y='354' fontFamily='Source Han Sans SC' fontSize='17' fill='#C0392B'&gt;→ 转人工客服&lt;/text&gt;&#10;            &lt;text x='920' y='376' fontFamily='Source Han Sans SC' fontSize='16' fill='#C0392B'&gt;（携带已收集上下文）&lt;/text&gt;&#10;&#10;            &lt;text x='280' y='514' fontFamily='Source Han Sans SC' fontSize='16' fill='#8B97A8'&gt;这条流程的重点不是「更会聊」，而是把诉求、政策、材料、状态一步步接到确定步骤上；下一页我们用一段真实对话拆开看。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矩形 8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5" name="文本框 874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展开售后处理子工作流</a:t>
            </a:r>
            <a:endParaRPr/>
          </a:p>
        </p:txBody>
      </p:sp>
      <p:sp>
        <p:nvSpPr>
          <p:cNvPr id="877" name="矩形 87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78" name="图形 8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879" name="任意形状 87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29 / 59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课堂互动 04&lt;/Text&gt;&#10;            &lt;Text style={{ fontSize: 34, fontWeight: '600', color: '#123A78', marginTop: 8, lineHeight: 1.25 }}&gt;复用已说信息，再问真正缺的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2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：&lt;span style={{ fontWeight: 'bold' }}&gt;「我买的 AirLite 右耳没声音，想换个新的。」&lt;/span&gt;&#10;                &lt;/Text&gt;&#10;                &lt;Text style={{ fontSize: 19, color: '#4A5568', marginTop: 10, lineHeight: 1.5 }}&gt;&#10;                    这句话已经带了三样东西：商品 = AirLite、故障 = 右耳无声、诉求 = 换货。&#10;                &lt;/Text&gt;&#10;            &lt;/Box&gt;&#10;            &lt;CodeBlock&#10;                code={`{&#10;  &quot;current_task&quot;: &quot;aftersales&quot;,&#10;  &quot;product&quot;: &quot;AirLite 蓝牙耳机&quot;,&#10;  &quot;fault&quot;: &quot;右耳无声音&quot;,&#10;  &quot;intent&quot;: &quot;exchange&quot;,&#10;  &quot;order_id&quot;: null,&#10;  &quot;missing&quot;: [&quot;order_id&quot;]&#10;}`}&#10;                language='json'&#10;                theme='github-light'&#10;                width={720}&#10;                fontSize={18}&#10;                macHeader={false}&#10;            /&gt;&#10;            &lt;Box style={{ background: '#FFFFFF', border: '1px solid #D6DCE5', borderRadius: 10, padding: '16px 20px' }}&gt;&#10;                &lt;Text style={{ fontSize: 19, color: '#123A78', fontWeight: 'bold', lineHeight: 1.45 }}&gt;追问三要素&lt;/Text&gt;&#10;                &lt;Text style={{ fontSize: 18, color: '#1A2230', marginTop: 8, lineHeight: 1.5 }}&gt;&#10;                    &lt;span style={{ fontWeight: 'bold' }}&gt;必问什么&lt;/span&gt;：只问还缺的字段 · &lt;span style={{ fontWeight: 'bold' }}&gt;什么时候停&lt;/span&gt;：字段齐了就停 · &lt;span style={{ fontWeight: 'bold' }}&gt;怎么记录&lt;/span&gt;：写回上下文，下一轮不再重问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A&lt;/Text&gt;&#10;                    &lt;/Box&gt;&#10;                    &lt;Text style={{ fontSize: 18, color: '#1A2230', lineHeight: 1.45, flex: 1 }}&gt;从头重新问一遍商品、故障和诉求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B&lt;/Text&gt;&#10;                    &lt;/Box&gt;&#10;                    &lt;Text style={{ fontSize: 18, color: '#1A2230', lineHeight: 1.45, flex: 1 }}&gt;只追问还缺的字段（如订单号），其余复用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C&lt;/Text&gt;&#10;                    &lt;/Box&gt;&#10;                    &lt;Text style={{ fontSize: 18, color: '#1A2230', lineHeight: 1.45, flex: 1 }}&gt;不再追问，直接帮用户提交换货申请&lt;/Text&gt;&#10;                &lt;/Box&gt;&#10;            &lt;/Box&gt;&#10;            &lt;Box style={{ background: '#123A78', borderRadius: 10, padding: '18px 20px' }}&gt;&#10;                &lt;Box style={{ flexDirection: 'row', alignItems: 'center', gap: 12 }}&gt;&#10;                    &lt;Box style={{ background: '#F2A21C', borderRadius: 6, padding: '5px 11px' }}&gt;&#10;                        &lt;Text style={{ fontSize: 15, color: '#FFFFFF', fontWeight: 'bold' }}&gt;答案&lt;/Text&gt;&#10;                    &lt;/Box&gt;&#10;                    &lt;Text style={{ fontSize: 25, color: '#FFFFFF', fontWeight: '600' }}&gt;B&lt;/Text&gt;&#10;                &lt;/Box&gt;&#10;                &lt;Text style={{ fontSize: 18, color: '#E9F0FA', marginTop: 10, lineHeight: 1.5 }}&gt;&#10;                    已经说过的不要重问，只问真正缺的那一项，把对话成本降下来。&#10;                &lt;/Text&gt;&#10;            &lt;/Box&gt;&#10;            &lt;Box style={{ background: '#FDF2F0', borderRadius: 10, padding: '14px 18px', borderLeft: '5px solid #C0392B' }}&gt;&#10;                &lt;Text style={{ fontSize: 17, color: '#C0392B', fontWeight: 'bold', lineHeight: 1.45 }}&gt;C 的风险&lt;/Text&gt;&#10;                &lt;Text style={{ fontSize: 17, color: '#1A2230', marginTop: 6, lineHeight: 1.45 }}&gt;没拿到订单号就提交，等于替用户决定了一笔订单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04</a:t>
            </a:r>
            <a:endParaRPr/>
          </a:p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复用已说信息，再问真正缺的</a:t>
            </a:r>
            <a:endParaRPr/>
          </a:p>
        </p:txBody>
      </p:sp>
      <p:sp>
        <p:nvSpPr>
          <p:cNvPr id="886" name="矩形 88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7" name="圆角矩形 886"/>
          <p:cNvSpPr/>
          <p:nvPr/>
        </p:nvSpPr>
        <p:spPr>
          <a:xfrm>
            <a:off x="428625" y="1066800"/>
            <a:ext cx="6858000" cy="1476375"/>
          </a:xfrm>
          <a:prstGeom prst="roundRect">
            <a:avLst>
              <a:gd name="adj" fmla="val 64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8" name="任意形状 887"/>
          <p:cNvSpPr/>
          <p:nvPr/>
        </p:nvSpPr>
        <p:spPr>
          <a:xfrm>
            <a:off x="428625" y="1066800"/>
            <a:ext cx="6858000" cy="1476375"/>
          </a:xfrm>
          <a:custGeom>
            <a:avLst/>
            <a:gdLst/>
            <a:ahLst/>
            <a:cxnLst/>
            <a:rect l="0" t="0" r="0" b="0"/>
            <a:pathLst>
              <a:path w="720" h="155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0"/>
                </a:lnTo>
                <a:cubicBezTo>
                  <a:pt x="5" y="152"/>
                  <a:pt x="7" y="154"/>
                  <a:pt x="9" y="155"/>
                </a:cubicBezTo>
                <a:cubicBezTo>
                  <a:pt x="4" y="154"/>
                  <a:pt x="0" y="150"/>
                  <a:pt x="0" y="1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657225" y="1257300"/>
            <a:ext cx="6353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657225" y="1543050"/>
            <a:ext cx="63531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「我买的</a:t>
            </a:r>
            <a:r>
              <a:rPr lang="en-US" sz="1650" b="1">
                <a:solidFill>
                  <a:srgbClr val="123A78"/>
                </a:solidFill>
                <a:latin typeface="Microsoft YaHei"/>
                <a:ea typeface="Microsoft YaHei"/>
              </a:rPr>
              <a:t> AirLite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右耳没声音，想换个新的。」</a:t>
            </a:r>
            <a:endParaRPr/>
          </a:p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657225" y="2019300"/>
            <a:ext cx="63531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这句话已经带了三样东西：商品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AirLite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、故障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右耳无声、诉求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换货。</a:t>
            </a:r>
            <a:endParaRPr/>
          </a:p>
        </p:txBody>
      </p:sp>
      <p:sp>
        <p:nvSpPr>
          <p:cNvPr id="892" name="圆角矩形 891"/>
          <p:cNvSpPr/>
          <p:nvPr/>
        </p:nvSpPr>
        <p:spPr>
          <a:xfrm>
            <a:off x="381000" y="5114925"/>
            <a:ext cx="68580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571500" y="5267325"/>
            <a:ext cx="6477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追问三要素</a:t>
            </a:r>
            <a:endParaRPr/>
          </a:p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571500" y="5667375"/>
            <a:ext cx="64770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必问什么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：只问还缺的字段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什么时候停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：字段齐了就停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怎么记录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：写回上下文，下一轮不再重问</a:t>
            </a:r>
            <a:endParaRPr/>
          </a:p>
        </p:txBody>
      </p:sp>
      <p:sp>
        <p:nvSpPr>
          <p:cNvPr id="895" name="圆角矩形 894"/>
          <p:cNvSpPr/>
          <p:nvPr/>
        </p:nvSpPr>
        <p:spPr>
          <a:xfrm>
            <a:off x="7620000" y="1066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6" name="圆角矩形 895"/>
          <p:cNvSpPr/>
          <p:nvPr/>
        </p:nvSpPr>
        <p:spPr>
          <a:xfrm>
            <a:off x="7810500" y="1219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7962900" y="1323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8401050" y="1219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从头重新问一遍商品、故障和诉求</a:t>
            </a:r>
            <a:endParaRPr/>
          </a:p>
        </p:txBody>
      </p:sp>
      <p:sp>
        <p:nvSpPr>
          <p:cNvPr id="899" name="圆角矩形 898"/>
          <p:cNvSpPr/>
          <p:nvPr/>
        </p:nvSpPr>
        <p:spPr>
          <a:xfrm>
            <a:off x="7620000" y="1952625"/>
            <a:ext cx="41910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" name="圆角矩形 899"/>
          <p:cNvSpPr/>
          <p:nvPr/>
        </p:nvSpPr>
        <p:spPr>
          <a:xfrm>
            <a:off x="7810500" y="2105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1" name="文本框 900" descr="{&quot;isTemplate&quot;:true,&quot;type&quot;:&quot;text&quot;}"/>
          <p:cNvSpPr txBox="1"/>
          <p:nvPr/>
        </p:nvSpPr>
        <p:spPr>
          <a:xfrm>
            <a:off x="7962900" y="2209800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902" name="文本框 901" descr="{&quot;isTemplate&quot;:true,&quot;type&quot;:&quot;text&quot;}"/>
          <p:cNvSpPr txBox="1"/>
          <p:nvPr/>
        </p:nvSpPr>
        <p:spPr>
          <a:xfrm>
            <a:off x="8401050" y="2105025"/>
            <a:ext cx="3219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只追问还缺的字段（如订单号），其余复用</a:t>
            </a:r>
            <a:endParaRPr/>
          </a:p>
        </p:txBody>
      </p:sp>
      <p:sp>
        <p:nvSpPr>
          <p:cNvPr id="903" name="圆角矩形 902"/>
          <p:cNvSpPr/>
          <p:nvPr/>
        </p:nvSpPr>
        <p:spPr>
          <a:xfrm>
            <a:off x="7620000" y="2971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4" name="圆角矩形 903"/>
          <p:cNvSpPr/>
          <p:nvPr/>
        </p:nvSpPr>
        <p:spPr>
          <a:xfrm>
            <a:off x="7810500" y="3124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7962900" y="3228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8401050" y="3124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不再追问，直接帮用户提交换货申请</a:t>
            </a:r>
            <a:endParaRPr/>
          </a:p>
        </p:txBody>
      </p:sp>
      <p:sp>
        <p:nvSpPr>
          <p:cNvPr id="916" name="任意形状 91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19" name="圆角矩形 918"/>
          <p:cNvSpPr/>
          <p:nvPr/>
        </p:nvSpPr>
        <p:spPr>
          <a:xfrm>
            <a:off x="381000" y="2543175"/>
            <a:ext cx="6858000" cy="257175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0" name="文本框 919"/>
          <p:cNvSpPr txBox="1"/>
          <p:nvPr/>
        </p:nvSpPr>
        <p:spPr>
          <a:xfrm>
            <a:off x="533400" y="2676525"/>
            <a:ext cx="6553200" cy="2305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"intent"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"missing"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[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售后知识库内容与三类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32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知识材料', textStyle: { bold: true, color: '#FFFFFF', fontSize: 20 }, cellStyle: { background: { color: '#123A78' } } },&#10;                        { text: '解决的问题', textStyle: { bold: true, color: '#FFFFFF', fontSize: 20 }, cellStyle: { background: { color: '#123A78' } } },&#10;                        { text: '检索条件', textStyle: { bold: true, color: '#FFFFFF', fontSize: 20 }, cellStyle: { background: { color: '#123A78' } } },&#10;                    ],&#10;                    [&#10;                        { text: '换货 / 维修政策', textStyle: { color: '#123A78', bold: true } },&#10;                        { text: '是否支持、时限、所需材料' },&#10;                        { text: '商品类目 + 故障类型' },&#10;                    ],&#10;                    [&#10;                        { text: '商品规格与故障说明', textStyle: { color: '#123A78', bold: true } },&#10;                        { text: '什么现象对应什么部件' },&#10;                        { text: '型号 + 故障关键词' },&#10;                    ],&#10;                    [&#10;                        { text: '申请流程与表单字段', textStyle: { color: '#123A78', bold: true } },&#10;                        { text: '要填哪些信息、怎么提交' },&#10;                        { text: '业务类型（换货 / 维修）' },&#10;                    ],&#10;                    [&#10;                        { text: '受理范围与边界', textStyle: { color: '#123A78', bold: true } },&#10;                        { text: '哪些需转人工、哪些超范围' },&#10;                        { text: '业务范围 + 有效性' },&#10;                    ],&#10;                    [&#10;                        { text: '教学示例（DEMO-101）\nAirLite 右耳无声 → 符合换货，需订单号与故障描述', textStyle: { color: '#123A78', bold: true }, cellStyle: { background: { color: '#E9F0FA' } } },&#10;                        { text: '本次对话可直接命中', cellStyle: { background: { color: '#E9F0FA' } } },&#10;                        { text: '型号 AirLite + 故障 右耳无声', cellStyle: { background: { color: '#E9F0FA' } } },&#10;                    ],&#10;                ]}&#10;            /&gt;&#10;        &lt;/Box&gt;&#10;        &lt;Box style={{ height: 96, flexDirection: 'row', gap: 24, alignItems: 'stretch' }}&gt;&#10;            &lt;Box style={{ flex: 1, background: '#E9F0FA', borderRadius: 10, padding: '14px 20px', borderLeft: '5px solid #123A78' }}&gt;&#10;                &lt;Text style={{ fontSize: 19, color: '#123A78', fontWeight: 'bold', lineHeight: 1.4 }}&gt;解释规则（知识库）&lt;/Text&gt;&#10;                &lt;Text style={{ fontSize: 18, color: '#1A2230', marginTop: 6, lineHeight: 1.45 }}&gt;由内容 / 运营维护，回答「什么情况符合政策」。&lt;/Text&gt;&#10;            &lt;/Box&gt;&#10;            &lt;Box style={{ flex: 1, background: '#FFFFFF', border: '1px solid #D6DCE5', borderRadius: 10, padding: '14px 20px', borderLeft: '5px solid #2F6FD0' }}&gt;&#10;                &lt;Text style={{ fontSize: 19, color: '#2F6FD0', fontWeight: 'bold', lineHeight: 1.4 }}&gt;执行规则（系统 / 业务）&lt;/Text&gt;&#10;                &lt;Text style={{ fontSize: 18, color: '#1A2230', marginTop: 6, lineHeight: 1.45 }}&gt;由流程代码决定，回答「这次要不要受理、提交到哪」。&lt;/Text&gt;&#10;            &lt;/Box&gt;&#10;            &lt;Box style={{ width: 300, background: '#F7F9FC', borderRadius: 10, padding: '14px 18px', justifyContent: 'center' }}&gt;&#10;                &lt;Text style={{ fontSize: 18, color: '#4A5568', lineHeight: 1.5 }}&gt;两者分开，才不会把一篇文档当成判决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矩形 9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3" name="文本框 922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24" name="文本框 923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售后知识库内容与三类分工</a:t>
            </a:r>
            <a:endParaRPr/>
          </a:p>
        </p:txBody>
      </p:sp>
      <p:sp>
        <p:nvSpPr>
          <p:cNvPr id="925" name="矩形 92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6" name="圆角矩形 925"/>
          <p:cNvSpPr/>
          <p:nvPr/>
        </p:nvSpPr>
        <p:spPr>
          <a:xfrm>
            <a:off x="381000" y="1066800"/>
            <a:ext cx="11430000" cy="4114800"/>
          </a:xfrm>
          <a:prstGeom prst="roundRect">
            <a:avLst>
              <a:gd name="adj" fmla="val 2315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27" name="表格 926"/>
          <p:cNvGraphicFramePr/>
          <p:nvPr/>
        </p:nvGraphicFramePr>
        <p:xfrm>
          <a:off x="381000" y="1066800"/>
          <a:ext cx="11430000" cy="4114801"/>
        </p:xfrm>
        <a:graphic>
          <a:graphicData uri="http://schemas.openxmlformats.org/drawingml/2006/table">
            <a:tbl>
              <a:tblPr/>
              <a:tblGrid>
                <a:gridCol w="547876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0829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042941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263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知识材料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解决的问题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检索条件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换货 / 维修政策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是否支持、时限、所需材料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商品类目 + 故障类型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商品规格与故障说明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什么现象对应什么部件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+ 故障关键词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申请流程与表单字段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要填哪些信息、怎么提交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业务类型（换货 / 维修）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受理范围与边界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哪些需转人工、哪些超范围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业务范围 + 有效性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104817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教学示例（DEMO-101）
AirLite 右耳无声 → 符合换货，需订单号与故障描述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本次对话可直接命中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AirLite + 故障 右耳无声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928" name="圆角矩形 927"/>
          <p:cNvSpPr/>
          <p:nvPr/>
        </p:nvSpPr>
        <p:spPr>
          <a:xfrm>
            <a:off x="42862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9" name="任意形状 928"/>
          <p:cNvSpPr/>
          <p:nvPr/>
        </p:nvSpPr>
        <p:spPr>
          <a:xfrm>
            <a:off x="42862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61912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解释规则（知识库）</a:t>
            </a:r>
            <a:endParaRPr/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61912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由内容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运营维护，回答「什么情况符合政策」。</a:t>
            </a:r>
            <a:endParaRPr/>
          </a:p>
        </p:txBody>
      </p:sp>
      <p:sp>
        <p:nvSpPr>
          <p:cNvPr id="932" name="圆角矩形 931"/>
          <p:cNvSpPr/>
          <p:nvPr/>
        </p:nvSpPr>
        <p:spPr>
          <a:xfrm>
            <a:off x="471487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3" name="任意形状 932"/>
          <p:cNvSpPr/>
          <p:nvPr/>
        </p:nvSpPr>
        <p:spPr>
          <a:xfrm>
            <a:off x="471487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490537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执行规则（系统</a:t>
            </a:r>
            <a:r>
              <a:rPr lang="en-US" sz="1425" b="1">
                <a:solidFill>
                  <a:srgbClr val="2F6FD0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业务）</a:t>
            </a:r>
            <a:endParaRPr/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490537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由流程代码决定，回答「这次要不要受理、提交到哪」。</a:t>
            </a:r>
            <a:endParaRPr/>
          </a:p>
        </p:txBody>
      </p:sp>
      <p:sp>
        <p:nvSpPr>
          <p:cNvPr id="936" name="圆角矩形 935"/>
          <p:cNvSpPr/>
          <p:nvPr/>
        </p:nvSpPr>
        <p:spPr>
          <a:xfrm>
            <a:off x="8953500" y="5295900"/>
            <a:ext cx="28575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9124950" y="5448300"/>
            <a:ext cx="2514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两者分开，才不会把一篇文档当成判决。</a:t>
            </a:r>
            <a:endParaRPr/>
          </a:p>
        </p:txBody>
      </p:sp>
      <p:sp>
        <p:nvSpPr>
          <p:cNvPr id="938" name="任意形状 93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31 / 59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确认页、改口与模拟提交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background: '#FFFFFF', border: '1px solid #D6DCE5', borderRadius: 12, overflow: 'hidden' }}&gt;&#10;            &lt;Box style={{ height: 54, background: '#123A78', padding: '0 24px', alignItems: 'center' }}&gt;&#10;                &lt;Text style={{ fontSize: 22, fontWeight: '600', color: '#FFFFFF' }}&gt;请确认你的换货申请&lt;/Text&gt;&#10;            &lt;/Box&gt;&#10;            &lt;Box style={{ padding: '20px 24px', gap: 4 }}&gt;&#10;                &lt;Box style={{ flexDirection: 'row', alignItems: 'center', padding: '12px 0', borderBottom: '1px solid #E5E7EB' }}&gt;&#10;                    &lt;Text style={{ width: 120, fontSize: 19, color: '#8B97A8' }}&gt;订单&lt;/Text&gt;&#10;                    &lt;Text style={{ fontSize: 20, color: '#1A2230', fontWeight: 'bold', flex: 1 }}&gt;DEMO-101&lt;/Text&gt;&#10;                &lt;/Box&gt;&#10;                &lt;Box style={{ flexDirection: 'row', alignItems: 'center', padding: '12px 0', borderBottom: '1px solid #E5E7EB' }}&gt;&#10;                    &lt;Text style={{ width: 120, fontSize: 19, color: '#8B97A8' }}&gt;商品&lt;/Text&gt;&#10;                    &lt;Text style={{ fontSize: 20, color: '#1A2230', fontWeight: 'bold', flex: 1 }}&gt;AirLite 蓝牙耳机&lt;/Text&gt;&#10;                &lt;/Box&gt;&#10;                &lt;Box style={{ flexDirection: 'row', alignItems: 'center', padding: '12px 0', borderBottom: '1px solid #E5E7EB' }}&gt;&#10;                    &lt;Text style={{ width: 120, fontSize: 19, color: '#8B97A8' }}&gt;故障&lt;/Text&gt;&#10;                    &lt;Text style={{ fontSize: 20, color: '#1A2230', fontWeight: 'bold', flex: 1 }}&gt;右耳无声音&lt;/Text&gt;&#10;                &lt;/Box&gt;&#10;                &lt;Box style={{ flexDirection: 'row', alignItems: 'center', padding: '12px 0', borderBottom: '1px solid #E5E7EB' }}&gt;&#10;                    &lt;Text style={{ width: 120, fontSize: 19, color: '#8B97A8' }}&gt;诉求&lt;/Text&gt;&#10;                    &lt;Text style={{ fontSize: 20, color: '#1A2230', fontWeight: 'bold', flex: 1 }}&gt;申请换货&lt;/Text&gt;&#10;                &lt;/Box&gt;&#10;                &lt;Box style={{ flexDirection: 'row', gap: 16, marginTop: 20 }}&gt;&#10;                    &lt;Box style={{ background: '#123A78', borderRadius: 8, padding: '12px 28px', justifyContent: 'center', alignItems: 'center' }}&gt;&#10;                        &lt;Text style={{ fontSize: 20, color: '#FFFFFF', fontWeight: 'bold' }}&gt;确认提交&lt;/Text&gt;&#10;                    &lt;/Box&gt;&#10;                    &lt;Box style={{ background: '#FFFFFF', border: '1px solid #D6DCE5', borderRadius: 8, padding: '12px 28px', justifyContent: 'center', alignItems: 'center' }}&gt;&#10;                        &lt;Text style={{ fontSize: 20, color: '#4A5568', fontWeight: 'bold' }}&gt;我要改&lt;/Text&gt;&#10;                    &lt;/Box&gt;&#10;                &lt;/Box&gt;&#10;                &lt;Text style={{ fontSize: 17, color: '#8B97A8', marginTop: 16, lineHeight: 1.45 }}&gt;提交后状态：pending_review（待审核），不是已批准。&lt;/Text&gt;&#10;            &lt;/Box&gt;&#10;        &lt;/Box&gt;&#10;        &lt;Box style={{ flex: 1, height: 540, justifyContent: 'space-between' }}&gt;&#10;            &lt;CodeBlock&#10;                code={`{&#10;  &quot;request_type&quot;: &quot;exchange&quot;,&#10;  &quot;order_id&quot;: &quot;DEMO-101&quot;,&#10;  &quot;product&quot;: &quot;AirLite 蓝牙耳机&quot;,&#10;  &quot;fault&quot;: &quot;右耳无声音&quot;,&#10;  &quot;status&quot;: &quot;pending_review&quot;&#10;}`}&#10;                language='json'&#10;                theme='github-light'&#10;                width={468}&#10;                fontSize={18}&#10;                macHeader={false}&#10;            /&gt;&#10;            &lt;Box style={{ background: '#E9F0FA', borderRadius: 10, padding: '14px 18px', borderLeft: '5px solid #123A78' }}&gt;&#10;                &lt;Text style={{ fontSize: 18, color: '#123A78', fontWeight: 'bold', lineHeight: 1.4 }}&gt;可以说&lt;/Text&gt;&#10;                &lt;Text style={{ fontSize: 17, color: '#1A2230', marginTop: 6, lineHeight: 1.5 }}&gt;「已提交换货申请，状态：待审核（pending_review），结果以业务方通知为准。」&lt;/Text&gt;&#10;            &lt;/Box&gt;&#10;            &lt;Box style={{ background: '#FDF2F0', borderRadius: 10, padding: '14px 18px', borderLeft: '5px solid #C0392B' }}&gt;&#10;                &lt;Text style={{ fontSize: 18, color: '#C0392B', fontWeight: 'bold', lineHeight: 1.4 }}&gt;不该说&lt;/Text&gt;&#10;                &lt;Text style={{ fontSize: 17, color: '#1A2230', marginTop: 6, lineHeight: 1.5 }}&gt;「已为你换货成功」 / 「明天就能收到新耳机」&lt;/Text&gt;&#10;            &lt;/Box&gt;&#10;            &lt;Box style={{ background: '#FFFFFF', border: '1px solid #D6DCE5', borderRadius: 10, padding: '14px 18px' }}&gt;&#10;                &lt;Text style={{ fontSize: 17, color: '#1A2230', lineHeight: 1.5 }}&gt;接口超时不能盲目重提；应返回&lt;span style={{ fontWeight: 'bold', color: '#C0392B' }}&gt;失败&lt;/span&gt;，携带上下文转人工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4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矩形 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确认页、改口与模拟提交</a:t>
            </a:r>
            <a:endParaRPr/>
          </a:p>
        </p:txBody>
      </p:sp>
      <p:sp>
        <p:nvSpPr>
          <p:cNvPr id="974" name="矩形 9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5" name="圆角矩形 974"/>
          <p:cNvSpPr/>
          <p:nvPr/>
        </p:nvSpPr>
        <p:spPr>
          <a:xfrm>
            <a:off x="381000" y="1066800"/>
            <a:ext cx="6286500" cy="5143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6" name="任意形状 975"/>
          <p:cNvSpPr/>
          <p:nvPr/>
        </p:nvSpPr>
        <p:spPr>
          <a:xfrm>
            <a:off x="381000" y="1066800"/>
            <a:ext cx="6286500" cy="514350"/>
          </a:xfrm>
          <a:custGeom>
            <a:avLst/>
            <a:gdLst/>
            <a:ahLst/>
            <a:cxnLst/>
            <a:rect l="0" t="0" r="0" b="0"/>
            <a:pathLst>
              <a:path w="660" h="54">
                <a:moveTo>
                  <a:pt x="648" y="0"/>
                </a:moveTo>
                <a:cubicBezTo>
                  <a:pt x="655" y="0"/>
                  <a:pt x="660" y="5"/>
                  <a:pt x="660" y="12"/>
                </a:cubicBezTo>
                <a:lnTo>
                  <a:pt x="660" y="54"/>
                </a:lnTo>
                <a:lnTo>
                  <a:pt x="0" y="54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48" y="0"/>
                </a:ln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2581275" y="1066800"/>
            <a:ext cx="1885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请确认你的换货申请</a:t>
            </a:r>
            <a:endParaRPr/>
          </a:p>
        </p:txBody>
      </p:sp>
      <p:sp>
        <p:nvSpPr>
          <p:cNvPr id="978" name="任意形状 977"/>
          <p:cNvSpPr/>
          <p:nvPr/>
        </p:nvSpPr>
        <p:spPr>
          <a:xfrm>
            <a:off x="609600" y="177165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609600" y="189547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订单</a:t>
            </a:r>
            <a:endParaRPr/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1752600" y="188595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DEMO-101</a:t>
            </a:r>
            <a:endParaRPr/>
          </a:p>
        </p:txBody>
      </p:sp>
      <p:sp>
        <p:nvSpPr>
          <p:cNvPr id="981" name="任意形状 980"/>
          <p:cNvSpPr/>
          <p:nvPr/>
        </p:nvSpPr>
        <p:spPr>
          <a:xfrm>
            <a:off x="609600" y="227647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609600" y="240030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商品</a:t>
            </a:r>
            <a:endParaRPr/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1752600" y="239077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AirLite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984" name="任意形状 983"/>
          <p:cNvSpPr/>
          <p:nvPr/>
        </p:nvSpPr>
        <p:spPr>
          <a:xfrm>
            <a:off x="609600" y="278130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609600" y="290512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故障</a:t>
            </a:r>
            <a:endParaRPr/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1752600" y="289560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右耳无声音</a:t>
            </a:r>
            <a:endParaRPr/>
          </a:p>
        </p:txBody>
      </p:sp>
      <p:sp>
        <p:nvSpPr>
          <p:cNvPr id="987" name="任意形状 986"/>
          <p:cNvSpPr/>
          <p:nvPr/>
        </p:nvSpPr>
        <p:spPr>
          <a:xfrm>
            <a:off x="609600" y="328612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609600" y="340995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诉求</a:t>
            </a:r>
            <a:endParaRPr/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1752600" y="340042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申请换货</a:t>
            </a:r>
            <a:endParaRPr/>
          </a:p>
        </p:txBody>
      </p:sp>
      <p:sp>
        <p:nvSpPr>
          <p:cNvPr id="990" name="圆角矩形 989"/>
          <p:cNvSpPr/>
          <p:nvPr/>
        </p:nvSpPr>
        <p:spPr>
          <a:xfrm>
            <a:off x="609600" y="39814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876300" y="40957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确认提交</a:t>
            </a:r>
            <a:endParaRPr/>
          </a:p>
        </p:txBody>
      </p:sp>
      <p:sp>
        <p:nvSpPr>
          <p:cNvPr id="992" name="圆角矩形 991"/>
          <p:cNvSpPr/>
          <p:nvPr/>
        </p:nvSpPr>
        <p:spPr>
          <a:xfrm>
            <a:off x="2057400" y="3981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2324100" y="4095750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我要改</a:t>
            </a:r>
            <a:endParaRPr/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609600" y="4629150"/>
            <a:ext cx="58293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提交后状态：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（待审核），不是已批准。</a:t>
            </a:r>
            <a:endParaRPr/>
          </a:p>
        </p:txBody>
      </p:sp>
      <p:sp>
        <p:nvSpPr>
          <p:cNvPr id="995" name="圆角矩形 994"/>
          <p:cNvSpPr/>
          <p:nvPr/>
        </p:nvSpPr>
        <p:spPr>
          <a:xfrm>
            <a:off x="7019925" y="3409950"/>
            <a:ext cx="4838700" cy="1209675"/>
          </a:xfrm>
          <a:prstGeom prst="roundRect">
            <a:avLst>
              <a:gd name="adj" fmla="val 78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6" name="任意形状 995"/>
          <p:cNvSpPr/>
          <p:nvPr/>
        </p:nvSpPr>
        <p:spPr>
          <a:xfrm>
            <a:off x="7019925" y="3409950"/>
            <a:ext cx="4838700" cy="1209675"/>
          </a:xfrm>
          <a:custGeom>
            <a:avLst/>
            <a:gdLst/>
            <a:ahLst/>
            <a:cxnLst/>
            <a:rect l="0" t="0" r="0" b="0"/>
            <a:pathLst>
              <a:path w="508" h="12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2"/>
                </a:lnTo>
                <a:cubicBezTo>
                  <a:pt x="5" y="124"/>
                  <a:pt x="7" y="126"/>
                  <a:pt x="9" y="127"/>
                </a:cubicBezTo>
                <a:cubicBezTo>
                  <a:pt x="4" y="126"/>
                  <a:pt x="0" y="122"/>
                  <a:pt x="0" y="11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7191375" y="354330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可以说</a:t>
            </a:r>
            <a:endParaRPr/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7191375" y="3895725"/>
            <a:ext cx="44481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「已提交换货申请，状态：待审核（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），结果以业务方通知为准。」</a:t>
            </a:r>
            <a:endParaRPr/>
          </a:p>
        </p:txBody>
      </p:sp>
      <p:sp>
        <p:nvSpPr>
          <p:cNvPr id="999" name="圆角矩形 998"/>
          <p:cNvSpPr/>
          <p:nvPr/>
        </p:nvSpPr>
        <p:spPr>
          <a:xfrm>
            <a:off x="7019925" y="4676775"/>
            <a:ext cx="4838700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0" name="任意形状 999"/>
          <p:cNvSpPr/>
          <p:nvPr/>
        </p:nvSpPr>
        <p:spPr>
          <a:xfrm>
            <a:off x="7019925" y="4676775"/>
            <a:ext cx="4838700" cy="914400"/>
          </a:xfrm>
          <a:custGeom>
            <a:avLst/>
            <a:gdLst/>
            <a:ahLst/>
            <a:cxnLst/>
            <a:rect l="0" t="0" r="0" b="0"/>
            <a:pathLst>
              <a:path w="508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7191375" y="4810125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不该说</a:t>
            </a:r>
            <a:endParaRPr/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7191375" y="516255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「已为你换货成功」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「明天就能收到新耳机」</a:t>
            </a:r>
            <a:endParaRPr/>
          </a:p>
        </p:txBody>
      </p:sp>
      <p:sp>
        <p:nvSpPr>
          <p:cNvPr id="1003" name="圆角矩形 1002"/>
          <p:cNvSpPr/>
          <p:nvPr/>
        </p:nvSpPr>
        <p:spPr>
          <a:xfrm>
            <a:off x="6972300" y="5648325"/>
            <a:ext cx="4838700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7143750" y="5781675"/>
            <a:ext cx="44958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接口超时不能盲目重提；应返回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失败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，携带上下文转人工。</a:t>
            </a:r>
            <a:endParaRPr/>
          </a:p>
        </p:txBody>
      </p:sp>
      <p:sp>
        <p:nvSpPr>
          <p:cNvPr id="1005" name="任意形状 100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32 / 59</a:t>
            </a:r>
            <a:endParaRPr/>
          </a:p>
        </p:txBody>
      </p:sp>
      <p:sp>
        <p:nvSpPr>
          <p:cNvPr id="1008" name="圆角矩形 1007"/>
          <p:cNvSpPr/>
          <p:nvPr/>
        </p:nvSpPr>
        <p:spPr>
          <a:xfrm>
            <a:off x="6972300" y="1066800"/>
            <a:ext cx="48387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9" name="文本框 1008"/>
          <p:cNvSpPr txBox="1"/>
          <p:nvPr/>
        </p:nvSpPr>
        <p:spPr>
          <a:xfrm>
            <a:off x="7124700" y="1200150"/>
            <a:ext cx="45339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"request_type"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"DEMO-101"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"status"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"pending_review"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#123A78 0%,#2F6FD0 100%)', padding: '0', display: 'flex', flexDirection: 'column', alignItems: 'center', justifyContent: 'center' }}&gt;&#10;    &lt;Text style={{ fontSize: 16, color: '#E9F0FA', letterSpacing: 6, fontFamily: 'JetBrains Mono' }}&gt;第二课 · 收束&lt;/Text&gt;&#10;    &lt;Text style={{ fontSize: 44, fontWeight: '700', color: '#FFFFFF', marginTop: 20, lineHeight: 1.3, textAlign: 'center' }}&gt;&#10;        把用户的自然语言，接到确定的业务流程上。&#10;    &lt;/Text&gt;&#10;    &lt;Box style={{ width: 1100, marginTop: 44, justifyContent: 'center' }}&gt;&#10;        &lt;svg width={1100} height={96} viewBox='0 0 1100 96'&gt;&#10;            &lt;rect x='0' y='13' width='248' height='70' rx='10' fill='rgba(255,255,255,0.10)' stroke='#FFFFFF' strokeWidth='2' /&gt;&#10;            &lt;text x='124' y='42' textAnchor='middle' fontFamily='JetBrains Mono' fontSize='22' fill='#FFFFFF' fontWeight='bold'&gt;01&lt;/text&gt;&#10;            &lt;text x='124' y='66' textAnchor='middle' fontFamily='Source Han Sans SC' fontSize='18' fill='#E9F0FA'&gt;业务背景与任务&lt;/text&gt;&#10;&#10;            &lt;line x1='248' y1='48' x2='290' y2='48' stroke='#FFFFFF' strokeWidth='2' /&gt;&#10;            &lt;path d='M290 48 L282 43 L282 53 Z' fill='#FFFFFF' /&gt;&#10;&#10;            &lt;rect x='290' y='13' width='248' height='70' rx='10' fill='rgba(255,255,255,0.10)' stroke='#FFFFFF' strokeWidth='2' /&gt;&#10;            &lt;text x='414' y='42' textAnchor='middle' fontFamily='JetBrains Mono' fontSize='22' fill='#FFFFFF' fontWeight='bold'&gt;02&lt;/text&gt;&#10;            &lt;text x='414' y='66' textAnchor='middle' fontFamily='Source Han Sans SC' fontSize='18' fill='#E9F0FA'&gt;主工作流&lt;/text&gt;&#10;&#10;            &lt;line x1='538' y1='48' x2='580' y2='48' stroke='#FFFFFF' strokeWidth='2' /&gt;&#10;            &lt;path d='M580 48 L572 43 L572 53 Z' fill='#FFFFFF' /&gt;&#10;&#10;            &lt;rect x='580' y='13' width='248' height='70' rx='10' fill='rgba(255,255,255,0.10)' stroke='#FFFFFF' strokeWidth='2' /&gt;&#10;            &lt;text x='704' y='42' textAnchor='middle' fontFamily='JetBrains Mono' fontSize='22' fill='#FFFFFF' fontWeight='bold'&gt;03&lt;/text&gt;&#10;            &lt;text x='704' y='66' textAnchor='middle' fontFamily='Source Han Sans SC' fontSize='18' fill='#E9F0FA'&gt;订单查询&lt;/text&gt;&#10;&#10;            &lt;line x1='828' y1='48' x2='870' y2='48' stroke='#FFFFFF' strokeWidth='2' /&gt;&#10;            &lt;path d='M870 48 L862 43 L862 53 Z' fill='#FFFFFF' /&gt;&#10;&#10;            &lt;rect x='870' y='13' width='230' height='70' rx='10' fill='#FFFFFF' /&gt;&#10;            &lt;text x='985' y='42' textAnchor='middle' fontFamily='JetBrains Mono' fontSize='22' fill='#123A78' fontWeight='bold'&gt;04&lt;/text&gt;&#10;            &lt;text x='985' y='66' textAnchor='middle' fontFamily='Source Han Sans SC' fontSize='18' fill='#123A78'&gt;售后处理&lt;/text&gt;&#10;        &lt;/svg&gt;&#10;    &lt;/Box&gt;&#10;    &lt;Box style={{ marginTop: 46, flexDirection: 'row', alignItems: 'center', gap: 16, background: 'rgba(255,255,255,0.12)', borderRadius: 10, padding: '16px 28px' }}&gt;&#10;        &lt;Box style={{ width: 8, height: 28, background: '#F2A21C', borderRadius: 4 }} /&gt;&#10;        &lt;Text style={{ fontSize: 22, color: '#FFFFFF', lineHeight: 1.5 }}&gt;&#10;            下一课：商品推荐与闲聊兜底 —— 把剩下的两条分支也接起来。&#10;        &lt;/Text&gt;&#10;    &lt;/Box&gt;&#10;    &lt;Text style={{ fontSize: 14, color: '#E9F0FA', marginTop: 30, opacity: 0.85 }}&gt;本课件所有对话、政策、接口与处理结果均为教学模拟材料，尚未运行验证。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矩形 10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5419725" y="1457325"/>
            <a:ext cx="1352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450">
                <a:solidFill>
                  <a:srgbClr val="E9F0FA"/>
                </a:solidFill>
                <a:latin typeface="Microsoft YaHei"/>
                <a:ea typeface="JetBrains Mono"/>
              </a:rPr>
              <a:t>第二课 · 前四节小结</a:t>
            </a:r>
            <a:r>
              <a:rPr lang="en-US" sz="1200" spc="450">
                <a:solidFill>
                  <a:srgbClr val="E9F0FA"/>
                </a:solidFill>
                <a:latin typeface="Microsoft YaHei"/>
                <a:ea typeface="JetBrains Mono"/>
              </a:rPr>
              <a:t> · </a:t>
            </a:r>
            <a:r>
              <a:rPr lang="zh-CN" sz="1200" spc="450">
                <a:solidFill>
                  <a:srgbClr val="E9F0FA"/>
                </a:solidFill>
                <a:latin typeface="Microsoft YaHei"/>
                <a:ea typeface="JetBrains Mono"/>
              </a:rPr>
              <a:t>收束</a:t>
            </a:r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905000" y="1838325"/>
            <a:ext cx="83820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</a:rPr>
              <a:t>我们已经把售前、查单与售后，接进了确定的业务流程。</a:t>
            </a:r>
            <a:endParaRPr dirty="0"/>
          </a:p>
        </p:txBody>
      </p:sp>
      <p:sp>
        <p:nvSpPr>
          <p:cNvPr id="1058" name="TextBox 1057"/>
          <p:cNvSpPr txBox="1"/>
          <p:nvPr/>
        </p:nvSpPr>
        <p:spPr>
          <a:xfrm>
            <a:off x="1920240" y="2862072"/>
            <a:ext cx="832104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0">
                <a:solidFill>
                  <a:srgbClr val="DCE9FF"/>
                </a:solidFill>
                <a:latin typeface="Microsoft YaHei"/>
              </a:rPr>
              <a:t>接下来补齐推荐、流程协同、人工接管与个人项目交付。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10936224" y="6382512"/>
            <a:ext cx="8778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C5D5ED"/>
                </a:solidFill>
                <a:latin typeface="Microsoft YaHei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P.34 –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商品推荐与闲聊兜底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补齐购买前服务，并为无法进入明确业务流程的表达设计出口。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理解用户需求并筛选商品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接住用户的后续调整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处理寒暄、模糊表达和超范围请求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商品推荐的需求收集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用户：想买个通勤用的耳机，预算三百以内。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35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已经明确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商品：耳机
预算：300 元以内
场景：通勤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关键追问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更看重降噪，还是长时间佩戴舒适？
每次只问最影响选择的问题。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形成查询条件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保留预算与场景，补充核心偏好。
不是重新盘问已经知道的信息。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模拟商品目录与筛选结果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筛选条件：300 元以内、地铁通勤、需要主动降噪。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36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114778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2895322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商品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8826" y="1481328"/>
            <a:ext cx="1557389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8554" y="1536192"/>
            <a:ext cx="1337933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216" y="1481328"/>
            <a:ext cx="2480286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5944" y="1536192"/>
            <a:ext cx="226083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佩戴方式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36503" y="1481328"/>
            <a:ext cx="2307243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6231" y="1536192"/>
            <a:ext cx="2087787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主动降噪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3746" y="1481328"/>
            <a:ext cx="1961157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3474" y="1536192"/>
            <a:ext cx="1741701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单次续航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58568"/>
            <a:ext cx="311477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313432"/>
            <a:ext cx="2895322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通勤降噪款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8826" y="2258568"/>
            <a:ext cx="1557389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8554" y="2313432"/>
            <a:ext cx="1337933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269 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6216" y="2258568"/>
            <a:ext cx="2480286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5944" y="2313432"/>
            <a:ext cx="226083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入耳式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6503" y="2258568"/>
            <a:ext cx="2307243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6231" y="2313432"/>
            <a:ext cx="2087787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支持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43746" y="2258568"/>
            <a:ext cx="1961157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53474" y="2313432"/>
            <a:ext cx="1741701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7 小时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035808"/>
            <a:ext cx="3114778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3090672"/>
            <a:ext cx="2895322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舒适轻听款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8826" y="3035808"/>
            <a:ext cx="1557389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8554" y="3090672"/>
            <a:ext cx="1337933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199 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6216" y="3035808"/>
            <a:ext cx="2480286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5944" y="3090672"/>
            <a:ext cx="226083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半入耳式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36503" y="3035808"/>
            <a:ext cx="2307243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6231" y="3090672"/>
            <a:ext cx="2087787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不支持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43746" y="3035808"/>
            <a:ext cx="1961157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3474" y="3090672"/>
            <a:ext cx="1741701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8 小时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3813048"/>
            <a:ext cx="311477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3867911"/>
            <a:ext cx="2895322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深度降噪款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98826" y="3813048"/>
            <a:ext cx="1557389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8554" y="3867911"/>
            <a:ext cx="1337933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329 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6216" y="3813048"/>
            <a:ext cx="2480286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5944" y="3867911"/>
            <a:ext cx="226083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入耳式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36503" y="3813048"/>
            <a:ext cx="2307243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46231" y="3867911"/>
            <a:ext cx="2087787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3746" y="3813048"/>
            <a:ext cx="1961157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53474" y="3867911"/>
            <a:ext cx="1741701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6 小时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4590288"/>
            <a:ext cx="3114778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4645151"/>
            <a:ext cx="2895322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运动稳固款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8826" y="4590288"/>
            <a:ext cx="1557389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8554" y="4645151"/>
            <a:ext cx="1337933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239 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56216" y="4590288"/>
            <a:ext cx="2480286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5944" y="4645151"/>
            <a:ext cx="226083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耳挂式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36503" y="4590288"/>
            <a:ext cx="2307243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46231" y="4645151"/>
            <a:ext cx="2087787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不支持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3746" y="4590288"/>
            <a:ext cx="1961157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53474" y="4645151"/>
            <a:ext cx="1741701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9 小时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4048" y="5522976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" y="5623560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78"/>
                </a:solidFill>
                <a:latin typeface="Microsoft YaHei"/>
              </a:rPr>
              <a:t>当前符合全部条件：通勤降噪款。商品、价格与参数均为教学模拟。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商品推荐工作流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需求理解、商品查询、条件筛选与推荐解释各司其职。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37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理解需求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提取预算与场景，判断是否需要追问。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查询商品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从商品数据获取价格、参数和库存。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筛选比较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先满足硬条件，再比较偏好匹配。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解释推荐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说明推荐理由，同时说明关键差异。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892040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074920"/>
            <a:ext cx="10561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23A78"/>
                </a:solidFill>
                <a:latin typeface="Microsoft YaHei"/>
              </a:rPr>
              <a:t>“269 元、支持主动降噪，符合你的地铁通勤需求。”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推荐后的条件更新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用户：有没有便宜一点的？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38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继续保留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通勤场景
300 元以内
需要主动降噪
当前候选商品列表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本轮更新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新增偏好：价格更低。
重新查询或排序，不重复询问已知条件。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没有匹配项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明确说明当前无结果。
询问是否调整预算或降噪条件，不能静默推荐不符合要求的商品。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闲聊、模糊表达与超范围请求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先结合上下文判断，再决定回应、澄清、引导或转人工。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39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230141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010685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用户表达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4189" y="1481328"/>
            <a:ext cx="3460865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3917" y="1536192"/>
            <a:ext cx="3241409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5054" y="1481328"/>
            <a:ext cx="472984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4782" y="1536192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处理方式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59152"/>
            <a:ext cx="3230141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6"/>
            <a:ext cx="3010685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你好。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4189" y="2359152"/>
            <a:ext cx="3460865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3917" y="2414016"/>
            <a:ext cx="3241409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简单寒暄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5054" y="2359152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4782" y="2414016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简短回应，并说明服务范围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236976"/>
            <a:ext cx="3230141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291840"/>
            <a:ext cx="3010685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这个怎么办？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4189" y="3236976"/>
            <a:ext cx="3460865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3917" y="3291840"/>
            <a:ext cx="3241409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对象或诉求不明确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5054" y="3236976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4782" y="3291840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先查上下文，必要时澄清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14800"/>
            <a:ext cx="3230141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4169663"/>
            <a:ext cx="3010685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与电商服务无关的问题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4189" y="4114800"/>
            <a:ext cx="3460865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3917" y="4169663"/>
            <a:ext cx="3241409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超出业务范围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5054" y="4114800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4782" y="4169663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说明边界，引导回到业务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992624"/>
            <a:ext cx="3230141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047488"/>
            <a:ext cx="3010685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直接找人工。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4189" y="4992624"/>
            <a:ext cx="3460865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3917" y="5047488"/>
            <a:ext cx="3241409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明确要求人工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75054" y="4992624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4782" y="5047488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进入人工处理路径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推荐与兜底的测试重点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检查真实数据、用户条件与下一步处理是否一致。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40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383762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测试情况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7810" y="1481328"/>
            <a:ext cx="7037093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7538" y="1536192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重点检查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359152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414016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只说“推荐个耳机”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7810" y="2359152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7538" y="2414016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追问最影响结果的条件，不一次盘问全部字段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236976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291840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说“便宜一点”或商品缺货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7810" y="3236976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7538" y="3291840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保留原有条件，更新查询与推荐结果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14800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4169663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价格、库存或商品能力没有资料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7810" y="4114800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7538" y="4169663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不编造；说明当前无法确认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992624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5047488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说“这个不太行”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810" y="4992624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7538" y="5047488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结合上一轮对象理解，必要时再澄清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P.41 –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多流程协同与上下文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用户不会按流程图聊天；产品必须在任务切换时保留已有信息。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区分继续、切换与返回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保存对象、条件和未完成操作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处理多任务与业务状态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跨流程对话：推荐 → 查单 → 返回推荐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一次会话中，多条业务流程会来回切换。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42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F6FD0"/>
                </a:solidFill>
                <a:latin typeface="Microsoft YaHei"/>
              </a:rPr>
              <a:t>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" y="1600200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773936"/>
            <a:ext cx="573328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想买个通勤耳机，预算三百以内。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3" y="1600200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737360"/>
            <a:ext cx="37307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进入推荐；保存条件与候选商品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B36A16"/>
                </a:solidFill>
                <a:latin typeface="Microsoft YaHei"/>
              </a:rPr>
              <a:t>用户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2728" y="2843784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573328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对了，我上周买的那个怎么还没到？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3" y="2843784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980944"/>
            <a:ext cx="37307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切到订单查询；保留刚才的推荐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51376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E7D5B"/>
                </a:solidFill>
                <a:latin typeface="Microsoft YaHei"/>
              </a:rPr>
              <a:t>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4087368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4261104"/>
            <a:ext cx="573328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刚才推荐的第一个，适合跑步吗？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3" y="4087368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4224528"/>
            <a:ext cx="37307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返回推荐；识别的是商品，不是订单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会话中需要保存的业务信息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聊天原文与整理后的业务状态，共同支持后续处理。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43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2999416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277996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信息类型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464" y="1481328"/>
            <a:ext cx="472984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192" y="1536192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业务举例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3314" y="1481328"/>
            <a:ext cx="369158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3042" y="1536192"/>
            <a:ext cx="347213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59152"/>
            <a:ext cx="299941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6"/>
            <a:ext cx="277996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当前任务与进度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464" y="2359152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192" y="2414016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订单查询，等待用户选择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3314" y="2359152"/>
            <a:ext cx="369158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3042" y="2414016"/>
            <a:ext cx="347213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判断下一句话接在哪里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236976"/>
            <a:ext cx="2999416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291840"/>
            <a:ext cx="277996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最新条件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464" y="3236976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192" y="3291840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预算从 300 改为 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3314" y="3236976"/>
            <a:ext cx="369158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3042" y="3291840"/>
            <a:ext cx="347213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使用修改后的条件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14800"/>
            <a:ext cx="299941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4169663"/>
            <a:ext cx="277996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对话中的对象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464" y="4114800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192" y="4169663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推荐列表、候选订单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3314" y="4114800"/>
            <a:ext cx="369158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3042" y="4169663"/>
            <a:ext cx="347213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理解“第一个”“刚才那个”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992624"/>
            <a:ext cx="2999416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047488"/>
            <a:ext cx="277996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未完成操作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464" y="4992624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192" y="5047488"/>
            <a:ext cx="451039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售后待确认、材料未补齐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3314" y="4992624"/>
            <a:ext cx="369158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3042" y="5047488"/>
            <a:ext cx="3472133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恢复暂停的处理进度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主流程每轮的处理步骤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主流程负责衔接，业务子流程负责完成具体任务。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44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读取状态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当前任务、对象与未完成操作。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理解本轮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判断继续、修改、切换或返回。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调用流程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传入已有信息，处理具体任务。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更新结果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保存最新状态，并明确下一步。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901184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>
                <a:solidFill>
                  <a:srgbClr val="123A78"/>
                </a:solidFill>
                <a:latin typeface="Microsoft YaHei"/>
              </a:rPr>
              <a:t>子流程返回：处理结果、更新的信息、正在等待什么、任务是否完成。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中途切换与幂等保护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提交结果尚未确认时，保留原请求并核实状态。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45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可以暂停的对话步骤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收集推荐条件
选择候选订单
解释政策
提交前补充信息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需要持续跟踪的操作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申请正在提交
接口返回超时
状态尚未确认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保护原则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保留请求标识并查询结果。
不能因为超时，就直接创建第二份申请。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一句话多任务的顺序与系统组织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用户：查一下什么时候到，到了以后不合适能退吗？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46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1848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先查订单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70048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定位具体商品，取得订单状态。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308152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5487" y="161848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5487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5799" y="217627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再查政策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670048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使用对应商品，匹配适用要求。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308152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7" y="161848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7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799" y="217627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分别回复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670048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说明物流结果与售后条件。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882896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56632"/>
            <a:ext cx="105613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23A78"/>
                </a:solidFill>
                <a:latin typeface="Microsoft YaHei"/>
              </a:rPr>
              <a:t>本项目：主流程负责识别与调度，业务子流程按明确步骤执行。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P.47 –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人工接管与客服工作台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转人工不是失败后的补丁，而是完整服务流程的一部分。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明确什么时候转人工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让人工客服直接接着处理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记录人工修正与最终结果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转人工的触发条件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根据用户诉求、可用依据、业务权限和系统状态判断。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48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383762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7810" y="1481328"/>
            <a:ext cx="7037093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7538" y="1536192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典型表现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359152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414016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用户要求或沟通受阻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7810" y="2359152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7538" y="2414016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明确要求人工；多次澄清仍无法确认诉求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236976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291840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依据缺失或冲突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7810" y="3236976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7538" y="3291840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找不到适用政策；业务系统状态不一致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14800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4169663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权限或特殊风险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7810" y="4114800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7538" y="4169663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特殊补偿、重大投诉、账户安全问题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992624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5047488"/>
            <a:ext cx="4164306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系统无法继续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810" y="4992624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7538" y="5047488"/>
            <a:ext cx="6817637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接口持续失败；提交结果无法确认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转接状态与用户告知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让用户知道是否在排队、信息是否已交接，以及下一步是什么。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49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准备转接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32887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整理订单、诉求与未完成操作。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5487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5487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5799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正在排队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532887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展示真实队列状态，保留会话信息。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7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7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799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人工接入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532887"/>
            <a:ext cx="30601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说明已经完成交接，继续处理问题。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7091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873752"/>
            <a:ext cx="10561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C0392B"/>
                </a:solidFill>
                <a:latin typeface="Microsoft YaHei"/>
              </a:rPr>
              <a:t>暂时无人接入：提供留言、服务单或其他联系渠道。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30368"/>
            <a:ext cx="10561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预计等待时间仅在排队系统真实提供时展示。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人工交接摘要示例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DEMO-101 · AirLite 白色耳机 · 9 月 4 日签收。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50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691589" cy="74676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1">
                <a:solidFill>
                  <a:srgbClr val="FFFFFF"/>
                </a:solidFill>
                <a:latin typeface="Microsoft YaHei"/>
              </a:rPr>
              <a:t>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75637" y="1481328"/>
            <a:ext cx="7729266" cy="74676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5365" y="153619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1">
                <a:solidFill>
                  <a:srgbClr val="FFFFFF"/>
                </a:solidFill>
                <a:latin typeface="Microsoft YaHei"/>
              </a:rPr>
              <a:t>本次交接内容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22808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28295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当前诉求与故障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5637" y="222808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5365" y="228295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换货；右耳无声音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974848"/>
            <a:ext cx="3691589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02971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已经完成的步骤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5637" y="2974848"/>
            <a:ext cx="7729266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5365" y="302971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已确认订单；重新连接后仍未恢复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72160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77647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仍缺少的信息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75637" y="372160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5365" y="377647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故障材料尚未提供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468368"/>
            <a:ext cx="3691589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52323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业务操作状态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75637" y="4468368"/>
            <a:ext cx="7729266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5365" y="452323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尚未提交售后申请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521512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5269992"/>
            <a:ext cx="3472133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转接原因与下一步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75637" y="521512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5365" y="5269992"/>
            <a:ext cx="7509810" cy="637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用户要求人工；核实材料与后续受理方式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客服工作台页面结构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人工同时查看对话、业务信息，并执行有权限的操作。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51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44752"/>
            <a:ext cx="11420856" cy="713232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44752"/>
            <a:ext cx="73152" cy="713232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3680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A2230"/>
                </a:solidFill>
                <a:latin typeface="Microsoft YaHei"/>
              </a:rPr>
              <a:t>用户与当前任务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1036808" cy="-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身份、问题类型、等待状态、重复咨询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359152"/>
            <a:ext cx="69951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359152"/>
            <a:ext cx="73152" cy="24231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23744"/>
            <a:ext cx="6611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完整对话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6611112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用户与 AI 的历史消息
标出用户确认、业务操作与错误
保留原文，方便人工核对上下文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359152"/>
            <a:ext cx="4215384" cy="24231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73152" cy="24231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2523744"/>
            <a:ext cx="3831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业务信息与摘要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2" y="3017520"/>
            <a:ext cx="3831336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订单与申请状态
已尝试操作
仍未解决的问题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92624"/>
            <a:ext cx="11420856" cy="713232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992624"/>
            <a:ext cx="73152" cy="713232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57216"/>
            <a:ext cx="1103680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A2230"/>
                </a:solidFill>
                <a:latin typeface="Microsoft YaHei"/>
              </a:rPr>
              <a:t>人工操作区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50992"/>
            <a:ext cx="11036808" cy="-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回复用户 · 查询 · 登记服务单 · 备注 · 结束会话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AI 辅助、人工修正与结果回写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建议、人工决定与最终记录需要分别保存。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52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AI 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整理对话与字段
查找适用政策
建议下一步
拟写回复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人工处理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核对建议与依据
确认必要信息
执行有权限的操作
记录最终结果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记录修正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原判断：退货
人工修正：价格保护
补充测试案例，调整分类与知识。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P.53 –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个人项目与课后作业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把公共项目的方法迁移到自己的业务场景，并交付可运行证据。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选择自己的业务场景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用 Coze 跑通一条核心流程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提交实际测试与演示，点评后完善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个人项目的场景选择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使用自己的业务规则、数据和处理步骤，而不是只换名称。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54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230141" cy="65967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4189" y="1481328"/>
            <a:ext cx="8190714" cy="65967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3917" y="1536192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可以完成的一条核心流程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141002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195866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电商售后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4189" y="2141002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3917" y="2195866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确认订单、收集故障、登记售后申请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00676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855540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教育培训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4189" y="2800676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3917" y="2855540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查询报名、核实调课要求、登记申请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460350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515214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企业软件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4189" y="3460350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3917" y="3515214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了解故障、查询解决方法、创建服务单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120025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174889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家电服务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4189" y="4120025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3917" y="4174889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确认设备、收集故障、登记维修需求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779699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4834563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物流服务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4189" y="4779699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3917" y="4834563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查询运单、说明状态、登记异常跟进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5439373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494237"/>
            <a:ext cx="3010685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酒店住宿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4189" y="5439373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3917" y="5494237"/>
            <a:ext cx="7971258" cy="54994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查询预订、核实变更条件、登记或转交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个人项目的最小完成范围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家电维修示例：从故障描述到维修需求登记。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55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确认设备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将设备与故障对应到模拟数据。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了解问题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查询排查资料，记录已尝试操作。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整理需求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收集预约信息，并让用户确认。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模拟登记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创建测试记录，返回等待联系状态。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89204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056632"/>
            <a:ext cx="106070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>
                <a:solidFill>
                  <a:srgbClr val="C0392B"/>
                </a:solidFill>
                <a:latin typeface="Microsoft YaHei"/>
              </a:rPr>
              <a:t>最终要能运行：只回答“怎样报修”，还没有完成这条流程。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项目作业的三项交付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三项都围绕同一个个人项目，缺一不可。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56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个人项目方案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用户与问题
业务规则与边界
核心流程图
资料与模拟数据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可运行的 Coze 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至少一条核心流程
实际查询或处理数据
完成必要信息收集
返回明确结果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实际测试与演示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三组真实运行记录
3—5 分钟演示录屏
说明已实现、模拟与未实现内容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三组实际测试的要求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每组记录：初始条件、输入、预期、实际结果、问题与修正。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57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3576227" cy="81153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746504"/>
            <a:ext cx="3356771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测试类型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275" y="1691640"/>
            <a:ext cx="7844628" cy="81153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0003" y="1746504"/>
            <a:ext cx="7625172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要看到的行为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503170"/>
            <a:ext cx="3576227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558034"/>
            <a:ext cx="3356771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正常完成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275" y="2503170"/>
            <a:ext cx="7844628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0003" y="2558034"/>
            <a:ext cx="7625172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信息齐全，核心流程走到明确结束状态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314700"/>
            <a:ext cx="3576227" cy="81153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369564"/>
            <a:ext cx="3356771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需求变化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275" y="3314700"/>
            <a:ext cx="7844628" cy="81153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0003" y="3369564"/>
            <a:ext cx="7625172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用户补充或修改信息，后续处理同步更新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26229"/>
            <a:ext cx="3576227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4181093"/>
            <a:ext cx="3356771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无法完成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275" y="4126229"/>
            <a:ext cx="7844628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0003" y="4181093"/>
            <a:ext cx="7625172" cy="70180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查询失败或条件不满足，说明状态与下一步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248656"/>
            <a:ext cx="11420856" cy="65836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413248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最终版提交实际运行结果；预期答案与“待验证”不能替代测试。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初版、点评与最终版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分阶段完成，最终交付能够运行和复核的项目证据。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58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点评课前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32887"/>
            <a:ext cx="3060191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提交项目方案和 Coze 初版；带着实际测试结果或具体卡点。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5487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5487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5799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作业点评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532887"/>
            <a:ext cx="3060191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检查业务、流程与运行结果；确定优先修改项。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7" y="148132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7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799" y="2039112"/>
            <a:ext cx="3060191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点评之后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532887"/>
            <a:ext cx="3060191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跑通核心流程，补齐三组测试，并提交演示录屏。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14807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>
                <a:solidFill>
                  <a:srgbClr val="59677A"/>
                </a:solidFill>
                <a:latin typeface="Microsoft YaHei"/>
              </a:rPr>
              <a:t>老师提供数据、规则和搭建指引，并结合具体卡点答疑；提交时间与渠道另行通知。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把公共项目的方法，迁移成自己的项目证据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现在，在聊天区写下你的个人项目方向。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59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1051560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1A2230"/>
                </a:solidFill>
                <a:latin typeface="Microsoft YaHei"/>
              </a:rPr>
              <a:t>我想为哪类用户，解决什么具体问题；
这次先把流程做到哪一步。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246120"/>
            <a:ext cx="9848088" cy="111556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493008"/>
            <a:ext cx="923544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23A78"/>
                </a:solidFill>
                <a:latin typeface="Microsoft YaHei"/>
              </a:rPr>
              <a:t>例：为购买家电的用户提供维修服务，
完成从故障描述到维修需求登记的流程。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100126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课后交付：项目方案 · Coze 核心流程 · 实际测试 · 演示录屏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5687568"/>
            <a:ext cx="3410711" cy="0"/>
          </a:xfrm>
          <a:prstGeom prst="line">
            <a:avLst/>
          </a:prstGeom>
          <a:ln w="2794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7367</TotalTime>
  <Words>4677</Words>
  <Application>Microsoft Macintosh PowerPoint</Application>
  <PresentationFormat>宽屏</PresentationFormat>
  <Paragraphs>592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Microsoft YaHei</vt:lpstr>
      <vt:lpstr>JetBrains Mono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didi</cp:lastModifiedBy>
  <cp:revision>2</cp:revision>
  <dcterms:created xsi:type="dcterms:W3CDTF">2026-09-09T19:13:56Z</dcterms:created>
  <dcterms:modified xsi:type="dcterms:W3CDTF">2026-09-14T14:04:44Z</dcterms:modified>
  <dc:title>第二课｜电商智能客服项目实战｜浅色完整版</dc:title>
  <dc:subject>第二阶段公共项目一，八节完整授课版</dc:subject>
  <dc:description>基于用户提供的 33 页浅色底稿续写；业务数据均为教学模拟。</dc:description>
</cp:coreProperties>
</file>