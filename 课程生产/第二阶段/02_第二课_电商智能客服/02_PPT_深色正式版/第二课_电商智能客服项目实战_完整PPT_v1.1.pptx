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正式进入第二阶段第一个公共项目。</a:t>
            </a:r>
          </a:p>
          <a:p/>
          <a:p>
            <a:r>
              <a:t>&gt; 文档类型：老师版完整讲义  </a:t>
            </a:r>
          </a:p>
          <a:p>
            <a:r>
              <a:t>&gt; 当前版本：v1.0  </a:t>
            </a:r>
          </a:p>
          <a:p>
            <a:r>
              <a:t>&gt; 当前状态：前四节已确认，后续章节待讨论  </a:t>
            </a:r>
          </a:p>
          <a:p>
            <a:r>
              <a:t>&gt; 公共项目：电商智能客服助手  </a:t>
            </a:r>
          </a:p>
          <a:p>
            <a:r>
              <a:t>&gt; 案例说明：本课的商家背景、用户对话、订单、政策、接口和处理结果均为教学模拟材料，不代表真实企业的经营数据或已经上线的系统。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本课共八节。课堂以方案讲解、流程拆解和案例推演为主。课后完成自己的项目，Coze 搭建是正式交付。点评前交初版，点评后交可运行最终版。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为什么不是做一个“会聊天的机器人”？</a:t>
            </a:r>
          </a:p>
          <a:p/>
          <a:p>
            <a:r>
              <a:t>今天我们正式开始第二阶段的第一个公共项目：**电商智能客服助手**。</a:t>
            </a:r>
          </a:p>
          <a:p/>
          <a:p>
            <a:r>
              <a:t>我们会以一家销售耳机、键盘等消费电子产品的电商商家为背景，设计一个能够处理商品咨询、订单查询、售后问题和商品推荐的客服助手。</a:t>
            </a:r>
          </a:p>
          <a:p/>
          <a:p>
            <a:r>
              <a:t>这一节先不看工作流，也不急着配置提示词。我们先了解：电商客服原本怎样工作，已有的机器人解决了什么问题，以及今天为什么还需要引入大模型。</a:t>
            </a:r>
          </a:p>
          <a:p/>
          <a:p>
            <a:r>
              <a:t>## 一、电商客服每天在处理什么</a:t>
            </a:r>
          </a:p>
          <a:p/>
          <a:p>
            <a:r>
              <a:t>我们先站在商家的角度看客服。</a:t>
            </a:r>
          </a:p>
          <a:p/>
          <a:p>
            <a:r>
              <a:t>一家店铺把商品上架以后，用户并不会完全按照商品详情页提供的信息，自行完成购买和后续使用。他们会在不同阶段提出问题。</a:t>
            </a:r>
          </a:p>
          <a:p/>
          <a:p>
            <a:r>
              <a:t>### 1. 购买前：帮助用户了解和选择商品</a:t>
            </a:r>
          </a:p>
          <a:p/>
          <a:p>
            <a:r>
              <a:t>例如：</a:t>
            </a:r>
          </a:p>
          <a:p/>
          <a:p>
            <a:r>
              <a:t>&gt; “这两款耳机有什么区别？”  </a:t>
            </a:r>
          </a:p>
          <a:p>
            <a:r>
              <a:t>&gt; “平时坐地铁通勤，哪款降噪效果比较合适？”  </a:t>
            </a:r>
          </a:p>
          <a:p>
            <a:r>
              <a:t>&gt; “预算三百以内，有没有推荐？”  </a:t>
            </a:r>
          </a:p>
          <a:p>
            <a:r>
              <a:t>&gt; “这个键盘能不能连接我的平板？”</a:t>
            </a:r>
          </a:p>
          <a:p/>
          <a:p>
            <a:r>
              <a:t>客服需要了解商品，也需要理解用户的使用场景。</a:t>
            </a:r>
          </a:p>
          <a:p/>
          <a:p>
            <a:r>
              <a:t>用户问“哪款好”，不一定有一个统一答案。通勤、运动、打游戏，对商品的要求可能不同。</a:t>
            </a:r>
          </a:p>
          <a:p/>
          <a:p>
            <a:r>
              <a:t>这一阶段，客服的作用不只是回答参数，还包括帮助用户做选择。</a:t>
            </a:r>
          </a:p>
          <a:p/>
          <a:p>
            <a:r>
              <a:t>### 2. 下单后：帮助用户了解订单和履约情况</a:t>
            </a:r>
          </a:p>
          <a:p/>
          <a:p>
            <a:r>
              <a:t>例如：</a:t>
            </a:r>
          </a:p>
          <a:p/>
          <a:p>
            <a:r>
              <a:t>&gt; “今天买，什么时候发货？”  </a:t>
            </a:r>
          </a:p>
          <a:p>
            <a:r>
              <a:t>&gt; “我上周买的耳机怎么还没到？”  </a:t>
            </a:r>
          </a:p>
          <a:p>
            <a:r>
              <a:t>&gt; “这个订单能不能改地址？”  </a:t>
            </a:r>
          </a:p>
          <a:p>
            <a:r>
              <a:t>&gt; “为什么只收到一件，还有一件呢？”</a:t>
            </a:r>
          </a:p>
          <a:p/>
          <a:p>
            <a:r>
              <a:t>这些问题不能只靠商品说明回答。</a:t>
            </a:r>
          </a:p>
          <a:p/>
          <a:p>
            <a:r>
              <a:t>客服需要查询具体订单，了解发货、物流以及相关业务状态。相同的问题，不同用户、不同订单，答案可能完全不同。</a:t>
            </a:r>
          </a:p>
          <a:p/>
          <a:p>
            <a:r>
              <a:t>### 3. 收货后：解决使用问题和售后诉求</a:t>
            </a:r>
          </a:p>
          <a:p/>
          <a:p>
            <a:r>
              <a:t>例如：</a:t>
            </a:r>
          </a:p>
          <a:p/>
          <a:p>
            <a:r>
              <a:t>&gt; “耳机连接不上手机。”  </a:t>
            </a:r>
          </a:p>
          <a:p>
            <a:r>
              <a:t>&gt; “收到以后右边没有声音。”  </a:t>
            </a:r>
          </a:p>
          <a:p>
            <a:r>
              <a:t>&gt; “发错颜色了，我想换一个。”  </a:t>
            </a:r>
          </a:p>
          <a:p>
            <a:r>
              <a:t>&gt; “退款申请提交了，怎么还没到账？”</a:t>
            </a:r>
          </a:p>
          <a:p/>
          <a:p>
            <a:r>
              <a:t>这里又包含不同情况：</a:t>
            </a:r>
          </a:p>
          <a:p/>
          <a:p>
            <a:r>
              <a:t>有些问题，通过使用说明就能解决；有些需要查询售后进度；还有些需要收集材料、提交申请，或者由人工进一步处理。</a:t>
            </a:r>
          </a:p>
          <a:p/>
          <a:p>
            <a:r>
              <a:t>所以，我们今天做的“电商智能客服”，不是只有一个会聊天的窗口。**它需要承接购买前后的不同需求，并连接对应的信息和处理流程。**</a:t>
            </a:r>
          </a:p>
          <a:p/>
          <a:p>
            <a:r>
              <a:t>## 二、用户看到的是聊天，客服做的是一连串操作</a:t>
            </a:r>
          </a:p>
          <a:p/>
          <a:p>
            <a:r>
              <a:t>我们看一个具体请求：</a:t>
            </a:r>
          </a:p>
          <a:p/>
          <a:p>
            <a:r>
              <a:t>&gt; 用户：上周买的耳机没有声音，我想换一个。</a:t>
            </a:r>
          </a:p>
          <a:p/>
          <a:p>
            <a:r>
              <a:t>如果这句话发给人工客服，客服接下来可能需要做什么？</a:t>
            </a:r>
          </a:p>
          <a:p/>
          <a:p>
            <a:r>
              <a:t>首先，找到订单。</a:t>
            </a:r>
          </a:p>
          <a:p/>
          <a:p>
            <a:r>
              <a:t>“上周买的耳机”不是订单号。如果用户买过两款耳机，还需要确认是哪一笔。</a:t>
            </a:r>
          </a:p>
          <a:p/>
          <a:p>
            <a:r>
              <a:t>然后，了解问题。</a:t>
            </a:r>
          </a:p>
          <a:p/>
          <a:p>
            <a:r>
              <a:t>“没有声音”可能是两边都没有声音，也可能是一边没有声音；可能是使用设置问题，也可能是商品故障。客服需要根据商品和服务流程，询问必要的信息。</a:t>
            </a:r>
          </a:p>
          <a:p/>
          <a:p>
            <a:r>
              <a:t>接着，查询适用的售后政策。</a:t>
            </a:r>
          </a:p>
          <a:p/>
          <a:p>
            <a:r>
              <a:t>不同商品、不同订单状态和不同问题，可能对应不同处理要求。客服不能还没确认情况，就直接承诺一定可以换货。</a:t>
            </a:r>
          </a:p>
          <a:p/>
          <a:p>
            <a:r>
              <a:t>最后，帮助用户继续处理。</a:t>
            </a:r>
          </a:p>
          <a:p/>
          <a:p>
            <a:r>
              <a:t>可能需要补充材料、确认申请内容、提交售后申请，也可能需要交给其他人员审核。</a:t>
            </a:r>
          </a:p>
          <a:p/>
          <a:p>
            <a:r>
              <a:t>这个过程中，客服可能同时使用：</a:t>
            </a:r>
          </a:p>
          <a:p/>
          <a:p>
            <a:r>
              <a:t>| 资料或系统 | 提供什么 |</a:t>
            </a:r>
          </a:p>
          <a:p>
            <a:r>
              <a:t>|---|---|</a:t>
            </a:r>
          </a:p>
          <a:p>
            <a:r>
              <a:t>| 商品资料 | 型号、功能、使用说明 |</a:t>
            </a:r>
          </a:p>
          <a:p>
            <a:r>
              <a:t>| 订单与物流系统 | 买了什么、是否发货、是否签收 |</a:t>
            </a:r>
          </a:p>
          <a:p>
            <a:r>
              <a:t>| 售后政策 | 适用条件、所需材料、处理步骤 |</a:t>
            </a:r>
          </a:p>
          <a:p>
            <a:r>
              <a:t>| 售后系统 | 申请记录、处理进度、执行结果 |</a:t>
            </a:r>
          </a:p>
          <a:p>
            <a:r>
              <a:t>| 客服工作台 | 对话记录、人员接待与转交 |</a:t>
            </a:r>
          </a:p>
          <a:p/>
          <a:p>
            <a:r>
              <a:t>用户看到的是客服回复了几句话，背后却发生了查询、核对、解释、录入和转交。</a:t>
            </a:r>
          </a:p>
          <a:p/>
          <a:p>
            <a:r>
              <a:t>因此，评价客服产品时，不能只问“这句话回答得怎么样”，还要看：**用户要办的事情，有没有得到正确推进。**</a:t>
            </a:r>
          </a:p>
          <a:p/>
          <a:p>
            <a:r>
              <a:t>## 三、从人工客服到大模型客服</a:t>
            </a:r>
          </a:p>
          <a:p/>
          <a:p>
            <a:r>
              <a:t>企业很早就开始用系统减少客服的重复工作。大模型不是客服自动化的起点。</a:t>
            </a:r>
          </a:p>
          <a:p/>
          <a:p>
            <a:r>
              <a:t>这里不用记发展年份，我们重点看几种方式的差别。</a:t>
            </a:r>
          </a:p>
          <a:p/>
          <a:p>
            <a:r>
              <a:t>### 1. 人工客服：由人理解问题和组织处理过程</a:t>
            </a:r>
          </a:p>
          <a:p/>
          <a:p>
            <a:r>
              <a:t>人工可以结合上下文，灵活理解用户诉求。</a:t>
            </a:r>
          </a:p>
          <a:p/>
          <a:p>
            <a:r>
              <a:t>例如：</a:t>
            </a:r>
          </a:p>
          <a:p/>
          <a:p>
            <a:r>
              <a:t>&gt; “之前那个客服说可以换，你们现在怎么又说不行？”</a:t>
            </a:r>
          </a:p>
          <a:p/>
          <a:p>
            <a:r>
              <a:t>客服需要回看记录，核对前面的解释和实际政策，再处理争议。</a:t>
            </a:r>
          </a:p>
          <a:p/>
          <a:p>
            <a:r>
              <a:t>但人工也会面临重复咨询、咨询高峰排队、新人培训、跨系统查询等问题。</a:t>
            </a:r>
          </a:p>
          <a:p/>
          <a:p>
            <a:r>
              <a:t>于是，商家会把一些重复工作交给机器人。</a:t>
            </a:r>
          </a:p>
          <a:p/>
          <a:p>
            <a:r>
              <a:t>### 2. FAQ 机器人：匹配常见问题，返回维护好的答案</a:t>
            </a:r>
          </a:p>
          <a:p/>
          <a:p>
            <a:r>
              <a:t>例如，商家提前整理：</a:t>
            </a:r>
          </a:p>
          <a:p/>
          <a:p>
            <a:r>
              <a:t>- 怎么申请退货。</a:t>
            </a:r>
          </a:p>
          <a:p>
            <a:r>
              <a:t>- 商品怎样连接手机。</a:t>
            </a:r>
          </a:p>
          <a:p>
            <a:r>
              <a:t>- 运费由谁承担。</a:t>
            </a:r>
          </a:p>
          <a:p>
            <a:r>
              <a:t>- 怎样查询退款进度。</a:t>
            </a:r>
          </a:p>
          <a:p/>
          <a:p>
            <a:r>
              <a:t>同一个问题，用户可能有不同问法：</a:t>
            </a:r>
          </a:p>
          <a:p/>
          <a:p>
            <a:r>
              <a:t>&gt; “退货怎么操作？”  </a:t>
            </a:r>
          </a:p>
          <a:p>
            <a:r>
              <a:t>&gt; “在哪里申请退货？”  </a:t>
            </a:r>
          </a:p>
          <a:p>
            <a:r>
              <a:t>&gt; “东西不要了怎么退？”</a:t>
            </a:r>
          </a:p>
          <a:p/>
          <a:p>
            <a:r>
              <a:t>系统通过问题匹配，找到相应答案。</a:t>
            </a:r>
          </a:p>
          <a:p/>
          <a:p>
            <a:r>
              <a:t>这类方式适合常见、稳定的问题，企业也比较容易控制回答内容。</a:t>
            </a:r>
          </a:p>
          <a:p/>
          <a:p>
            <a:r>
              <a:t>但用户的问题不一定是一个清楚、独立的问句。</a:t>
            </a:r>
          </a:p>
          <a:p/>
          <a:p>
            <a:r>
              <a:t>例如：</a:t>
            </a:r>
          </a:p>
          <a:p/>
          <a:p>
            <a:r>
              <a:t>&gt; “耳机右边没声音，重新连接过了，还是不行。上周才买的，能直接换吗？”</a:t>
            </a:r>
          </a:p>
          <a:p/>
          <a:p>
            <a:r>
              <a:t>这里已经包含故障、排查记录、时间线索和换货诉求。只返回一段通用换货说明，可能相关，却没有充分处理用户的实际情况。</a:t>
            </a:r>
          </a:p>
          <a:p/>
          <a:p>
            <a:r>
              <a:t>### 3. 流程型机器人：按预设步骤完成查询或办理</a:t>
            </a:r>
          </a:p>
          <a:p/>
          <a:p>
            <a:r>
              <a:t>除了回答常见问题，传统客服机器人也可以连接业务系统。</a:t>
            </a:r>
          </a:p>
          <a:p/>
          <a:p>
            <a:r>
              <a:t>例如：</a:t>
            </a:r>
          </a:p>
          <a:p/>
          <a:p>
            <a:r>
              <a:t>&gt; 选择售后类型 → 选择订单 → 选择问题 → 补充材料 → 确认申请。</a:t>
            </a:r>
          </a:p>
          <a:p/>
          <a:p>
            <a:r>
              <a:t>**查询订单、调用接口、创建申请，并不是大模型出现以后才有的能力。**</a:t>
            </a:r>
          </a:p>
          <a:p/>
          <a:p>
            <a:r>
              <a:t>固定流程的优势是步骤明确，容易知道用户当前在哪一步、还缺哪些信息。</a:t>
            </a:r>
          </a:p>
          <a:p/>
          <a:p>
            <a:r>
              <a:t>但是，用户不一定严格沿着流程表达。</a:t>
            </a:r>
          </a:p>
          <a:p/>
          <a:p>
            <a:r>
              <a:t>系统正在询问故障，用户可能说：</a:t>
            </a:r>
          </a:p>
          <a:p/>
          <a:p>
            <a:r>
              <a:t>&gt; “算了，不换了，能退吗？”</a:t>
            </a:r>
          </a:p>
          <a:p/>
          <a:p>
            <a:r>
              <a:t>也可能一次提出两个问题：</a:t>
            </a:r>
          </a:p>
          <a:p/>
          <a:p>
            <a:r>
              <a:t>&gt; “帮我查一下耳机到哪了，另外想再买一个送人。”</a:t>
            </a:r>
          </a:p>
          <a:p/>
          <a:p>
            <a:r>
              <a:t>这时，系统需要理解新诉求，决定保留哪些信息、切换到哪里，以及原来的任务是否继续。</a:t>
            </a:r>
          </a:p>
          <a:p/>
          <a:p>
            <a:r>
              <a:t>### 4. 大模型客服：让自然表达与业务流程更好地衔接</a:t>
            </a:r>
          </a:p>
          <a:p/>
          <a:p>
            <a:r>
              <a:t>大模型可以帮助系统更灵活地理解表达、提取信息、组织回复，并结合已有能力选择处理路径。</a:t>
            </a:r>
          </a:p>
          <a:p/>
          <a:p>
            <a:r>
              <a:t>用户说：</a:t>
            </a:r>
          </a:p>
          <a:p/>
          <a:p>
            <a:r>
              <a:t>&gt; “上周买的耳机右边没声音，我想换一个。”</a:t>
            </a:r>
          </a:p>
          <a:p/>
          <a:p>
            <a:r>
              <a:t>系统可以识别出商品线索、故障描述和换货诉求，不必把用户已经说过的信息全部再问一遍。</a:t>
            </a:r>
          </a:p>
          <a:p/>
          <a:p>
            <a:r>
              <a:t>但大模型不能凭空知道：</a:t>
            </a:r>
          </a:p>
          <a:p/>
          <a:p>
            <a:r>
              <a:t>- 对应哪一笔订单。</a:t>
            </a:r>
          </a:p>
          <a:p>
            <a:r>
              <a:t>- 商品什么时候签收。</a:t>
            </a:r>
          </a:p>
          <a:p>
            <a:r>
              <a:t>- 当前适用什么售后政策。</a:t>
            </a:r>
          </a:p>
          <a:p>
            <a:r>
              <a:t>- 用户是否已经提交申请。</a:t>
            </a:r>
          </a:p>
          <a:p>
            <a:r>
              <a:t>- 刚才的操作有没有成功。</a:t>
            </a:r>
          </a:p>
          <a:p/>
          <a:p>
            <a:r>
              <a:t>这些信息仍然需要来自业务系统、知识资料和实际执行结果。</a:t>
            </a:r>
          </a:p>
          <a:p/>
          <a:p>
            <a:r>
              <a:t>所以，实际产品通常不是简单地用大模型替换全部旧能力，而是让它与知识库、固定流程、业务规则和人工客服配合。</a:t>
            </a:r>
          </a:p>
          <a:p/>
          <a:p>
            <a:r>
              <a:t>## 四、我们希望用 AI 改善什么</a:t>
            </a:r>
          </a:p>
          <a:p/>
          <a:p>
            <a:r>
              <a:t>这里可以请学员先做一个选择：</a:t>
            </a:r>
          </a:p>
          <a:p/>
          <a:p>
            <a:r>
              <a:t>&gt; 假设店铺已经有常见问题、自助查单和售后申请入口，你认为引入大模型最值得优先改善什么？</a:t>
            </a:r>
          </a:p>
          <a:p/>
          <a:p>
            <a:r>
              <a:t>**A.** 让客服回复更自然、更像真人。  </a:t>
            </a:r>
          </a:p>
          <a:p>
            <a:r>
              <a:t>**B.** 让用户用自己的话描述需求，系统仍能理解并进入正确的处理流程。  </a:t>
            </a:r>
          </a:p>
          <a:p>
            <a:r>
              <a:t>**C.** 让全部售后操作不再需要人工参与。</a:t>
            </a:r>
          </a:p>
          <a:p/>
          <a:p>
            <a:r>
              <a:t>对于今天的项目，我们优先考虑 **B**。</a:t>
            </a:r>
          </a:p>
          <a:p/>
          <a:p>
            <a:r>
              <a:t>A 有价值。回复清楚、自然，会影响体验。但如果说得很自然，却查错订单、没有推进申请，服务仍然没有完成。</a:t>
            </a:r>
          </a:p>
          <a:p/>
          <a:p>
            <a:r>
              <a:t>C 不能作为默认目标。是否自动处理，要结合业务规则、权限和风险，不能因为模型理解了退款诉求，就让它自行批准退款。</a:t>
            </a:r>
          </a:p>
          <a:p/>
          <a:p>
            <a:r>
              <a:t>我们真正希望改善的是：</a:t>
            </a:r>
          </a:p>
          <a:p/>
          <a:p>
            <a:r>
              <a:t>- 用户不需要先学习店铺的菜单和系统结构。</a:t>
            </a:r>
          </a:p>
          <a:p>
            <a:r>
              <a:t>- 已经提供的信息不必反复填写。</a:t>
            </a:r>
          </a:p>
          <a:p>
            <a:r>
              <a:t>- 能查询到与当前用户相关的准确数据。</a:t>
            </a:r>
          </a:p>
          <a:p>
            <a:r>
              <a:t>- 能明确知道下一步做什么、目前处理到哪里。</a:t>
            </a:r>
          </a:p>
          <a:p>
            <a:r>
              <a:t>- 需要人工时，前面收集的信息能够一起转交。</a:t>
            </a:r>
          </a:p>
          <a:p/>
          <a:p>
            <a:r>
              <a:t>**让用户表达得自然，也让后面的处理有明确步骤。**</a:t>
            </a:r>
          </a:p>
          <a:p/>
          <a:p>
            <a:r>
              <a:t>## 五、本次电商项目的业务背景</a:t>
            </a:r>
          </a:p>
          <a:p/>
          <a:p>
            <a:r>
              <a:t>现在回到今天的模拟商家。</a:t>
            </a:r>
          </a:p>
          <a:p/>
          <a:p>
            <a:r>
              <a:t>这家商家销售耳机、键盘等消费电子产品，已经有商品资料、售后政策、订单系统、售后系统和人工客服。</a:t>
            </a:r>
          </a:p>
          <a:p/>
          <a:p>
            <a:r>
              <a:t>我们为项目设定几类需要改善的情况：</a:t>
            </a:r>
          </a:p>
          <a:p/>
          <a:p>
            <a:r>
              <a:t>### 1. 常见咨询占用客服时间</a:t>
            </a:r>
          </a:p>
          <a:p/>
          <a:p>
            <a:r>
              <a:t>商品区别、连接方法、发货安排、售后步骤等问题反复出现，需要工作人员重复查找和解释。</a:t>
            </a:r>
          </a:p>
          <a:p/>
          <a:p>
            <a:r>
              <a:t>### 2. 用户说法与系统字段不一致</a:t>
            </a:r>
          </a:p>
          <a:p/>
          <a:p>
            <a:r>
              <a:t>系统需要订单编号、商品型号、问题类型；用户说的却是：</a:t>
            </a:r>
          </a:p>
          <a:p/>
          <a:p>
            <a:r>
              <a:t>&gt; “上周那个。”  </a:t>
            </a:r>
          </a:p>
          <a:p>
            <a:r>
              <a:t>&gt; “第二个耳机。”  </a:t>
            </a:r>
          </a:p>
          <a:p>
            <a:r>
              <a:t>&gt; “右边坏了。”</a:t>
            </a:r>
          </a:p>
          <a:p/>
          <a:p>
            <a:r>
              <a:t>需要有人把自然表达与业务信息对应起来。</a:t>
            </a:r>
          </a:p>
          <a:p/>
          <a:p>
            <a:r>
              <a:t>### 3. 回答之后，用户仍不知道怎样继续</a:t>
            </a:r>
          </a:p>
          <a:p/>
          <a:p>
            <a:r>
              <a:t>用户提出换货诉求，机器人返回了政策，却没有引导确认订单、补充材料或者进入申请流程。</a:t>
            </a:r>
          </a:p>
          <a:p/>
          <a:p>
            <a:r>
              <a:t>### 4. 转人工后，信息没有接上</a:t>
            </a:r>
          </a:p>
          <a:p/>
          <a:p>
            <a:r>
              <a:t>机器人已经询问了订单和故障，人工接手却看不到整理后的信息，需要重新询问。</a:t>
            </a:r>
          </a:p>
          <a:p/>
          <a:p>
            <a:r>
              <a:t>这些是教学设定的业务问题。在真实项目里，需要通过客服记录、访谈、用户反馈和系统数据验证，不能只凭设想就确定需求。</a:t>
            </a:r>
          </a:p>
          <a:p/>
          <a:p>
            <a:r>
              <a:t>## 六、今天这个助手需要处理哪些请求</a:t>
            </a:r>
          </a:p>
          <a:p/>
          <a:p>
            <a:r>
              <a:t>我们先看五条消息：</a:t>
            </a:r>
          </a:p>
          <a:p/>
          <a:p>
            <a:r>
              <a:t>| 用户消息 | 背后需要完成的事情 |</a:t>
            </a:r>
          </a:p>
          <a:p>
            <a:r>
              <a:t>|---|---|</a:t>
            </a:r>
          </a:p>
          <a:p>
            <a:r>
              <a:t>| “这款耳机支持换货吗？” | 确认商品及相关情况，查询适用政策 |</a:t>
            </a:r>
          </a:p>
          <a:p>
            <a:r>
              <a:t>| “上周买的耳机怎么还没到？” | 定位订单，查询发货和物流 |</a:t>
            </a:r>
          </a:p>
          <a:p>
            <a:r>
              <a:t>| “收到以后右边没有声音，我想换一个。” | 确认订单与故障，引导后续售后处理 |</a:t>
            </a:r>
          </a:p>
          <a:p>
            <a:r>
              <a:t>| “预算三百以内，有没有适合通勤的耳机？” | 了解需求，查找并推荐商品 |</a:t>
            </a:r>
          </a:p>
          <a:p>
            <a:r>
              <a:t>| “前面已经说过两遍了，帮我找人工。” | 转交人工，并保留前面的处理信息 |</a:t>
            </a:r>
          </a:p>
          <a:p/>
          <a:p>
            <a:r>
              <a:t>它们都出现在同一个聊天窗口，但不能全部用同一种方式解决。</a:t>
            </a:r>
          </a:p>
          <a:p/>
          <a:p>
            <a:r>
              <a:t>因此，本次公共项目的任务是：</a:t>
            </a:r>
          </a:p>
          <a:p/>
          <a:p>
            <a:r>
              <a:t>&gt; 设计一个电商智能客服助手，在统一的对话入口中，处理商品与售后咨询、订单查询、商品推荐，并引导用户进入适当的售后或人工处理流程。</a:t>
            </a:r>
          </a:p>
          <a:p/>
          <a:p>
            <a:r>
              <a:t>我们重点深入两条路径：</a:t>
            </a:r>
          </a:p>
          <a:p/>
          <a:p>
            <a:r>
              <a:t>- **订单查询**：先跑通一条相对简单的业务查询流程。</a:t>
            </a:r>
          </a:p>
          <a:p>
            <a:r>
              <a:t>- **售后咨询与处理**：再把知识、对话、规则和业务流程结合起来。</a:t>
            </a:r>
          </a:p>
          <a:p/>
          <a:p>
            <a:r>
              <a:t>商品推荐、闲聊与兜底用来补全整体产品结构，讲解会相对简短。</a:t>
            </a:r>
          </a:p>
          <a:p/>
          <a:p>
            <a:r>
              <a:t>当前课堂不涉及真实自动退款、赔付审批，也不建设完整的客服中台。业务操作使用模拟环境，并明确区分“申请已提交”和“审核已通过”等不同状态。</a:t>
            </a:r>
          </a:p>
          <a:p/>
          <a:p>
            <a:r>
              <a:t>下一节，我们就来看这套电商智能客服的**整体方案与主工作流**：用户发来一句话后，系统怎样理解它，并交给订单查询、售后处理、商品推荐或其他路径。</a:t>
            </a:r>
          </a:p>
          <a:p/>
          <a:p>
            <a:r>
              <a:t>---</a:t>
            </a:r>
          </a:p>
          <a:p/>
          <a:p>
            <a:r>
              <a:t>**素材说明：**客服演进与业务运营视角参考亚慧《智能客服机器人》；项目分支结构参考知乎第 7 课客服项目。商家背景与贯穿对话为本课程教学设计。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电商客服覆盖购买前后的完整旅程</a:t>
            </a:r>
          </a:p>
          <a:p/>
          <a:p>
            <a:r>
              <a:t>我们先站在商家的角度看客服。</a:t>
            </a:r>
          </a:p>
          <a:p/>
          <a:p>
            <a:r>
              <a:t>一家店铺把商品上架以后，用户并不会完全按照商品详情页提供的信息，自行完成购买和后续使用。他们会在不同阶段提出问题。</a:t>
            </a:r>
          </a:p>
          <a:p/>
          <a:p>
            <a:r>
              <a:t>### 1. 购买前：帮助用户了解和选择商品</a:t>
            </a:r>
          </a:p>
          <a:p/>
          <a:p>
            <a:r>
              <a:t>例如：</a:t>
            </a:r>
          </a:p>
          <a:p/>
          <a:p>
            <a:r>
              <a:t>&gt; “这两款耳机有什么区别？”  </a:t>
            </a:r>
          </a:p>
          <a:p>
            <a:r>
              <a:t>&gt; “平时坐地铁通勤，哪款降噪效果比较合适？”  </a:t>
            </a:r>
          </a:p>
          <a:p>
            <a:r>
              <a:t>&gt; “预算三百以内，有没有推荐？”  </a:t>
            </a:r>
          </a:p>
          <a:p>
            <a:r>
              <a:t>&gt; “这个键盘能不能连接我的平板？”</a:t>
            </a:r>
          </a:p>
          <a:p/>
          <a:p>
            <a:r>
              <a:t>客服需要了解商品，也需要理解用户的使用场景。</a:t>
            </a:r>
          </a:p>
          <a:p/>
          <a:p>
            <a:r>
              <a:t>用户问“哪款好”，不一定有一个统一答案。通勤、运动、打游戏，对商品的要求可能不同。</a:t>
            </a:r>
          </a:p>
          <a:p/>
          <a:p>
            <a:r>
              <a:t>这一阶段，客服的作用不只是回答参数，还包括帮助用户做选择。</a:t>
            </a:r>
          </a:p>
          <a:p/>
          <a:p>
            <a:r>
              <a:t>### 2. 下单后：帮助用户了解订单和履约情况</a:t>
            </a:r>
          </a:p>
          <a:p/>
          <a:p>
            <a:r>
              <a:t>例如：</a:t>
            </a:r>
          </a:p>
          <a:p/>
          <a:p>
            <a:r>
              <a:t>&gt; “今天买，什么时候发货？”  </a:t>
            </a:r>
          </a:p>
          <a:p>
            <a:r>
              <a:t>&gt; “我上周买的耳机怎么还没到？”  </a:t>
            </a:r>
          </a:p>
          <a:p>
            <a:r>
              <a:t>&gt; “这个订单能不能改地址？”  </a:t>
            </a:r>
          </a:p>
          <a:p>
            <a:r>
              <a:t>&gt; “为什么只收到一件，还有一件呢？”</a:t>
            </a:r>
          </a:p>
          <a:p/>
          <a:p>
            <a:r>
              <a:t>这些问题不能只靠商品说明回答。</a:t>
            </a:r>
          </a:p>
          <a:p/>
          <a:p>
            <a:r>
              <a:t>客服需要查询具体订单，了解发货、物流以及相关业务状态。相同的问题，不同用户、不同订单，答案可能完全不同。</a:t>
            </a:r>
          </a:p>
          <a:p/>
          <a:p>
            <a:r>
              <a:t>### 3. 收货后：解决使用问题和售后诉求</a:t>
            </a:r>
          </a:p>
          <a:p/>
          <a:p>
            <a:r>
              <a:t>例如：</a:t>
            </a:r>
          </a:p>
          <a:p/>
          <a:p>
            <a:r>
              <a:t>&gt; “耳机连接不上手机。”  </a:t>
            </a:r>
          </a:p>
          <a:p>
            <a:r>
              <a:t>&gt; “收到以后右边没有声音。”  </a:t>
            </a:r>
          </a:p>
          <a:p>
            <a:r>
              <a:t>&gt; “发错颜色了，我想换一个。”  </a:t>
            </a:r>
          </a:p>
          <a:p>
            <a:r>
              <a:t>&gt; “退款申请提交了，怎么还没到账？”</a:t>
            </a:r>
          </a:p>
          <a:p/>
          <a:p>
            <a:r>
              <a:t>这里又包含不同情况：</a:t>
            </a:r>
          </a:p>
          <a:p/>
          <a:p>
            <a:r>
              <a:t>有些问题，通过使用说明就能解决；有些需要查询售后进度；还有些需要收集材料、提交申请，或者由人工进一步处理。</a:t>
            </a:r>
          </a:p>
          <a:p/>
          <a:p>
            <a:r>
              <a:t>所以，我们今天做的“电商智能客服”，不是只有一个会聊天的窗口。**它需要承接购买前后的不同需求，并连接对应的信息和处理流程。**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用一句换货请求拆出后台操作链。</a:t>
            </a:r>
          </a:p>
          <a:p/>
          <a:p>
            <a:r>
              <a:t>我们看一个具体请求：</a:t>
            </a:r>
          </a:p>
          <a:p/>
          <a:p>
            <a:r>
              <a:t>&gt; 用户：上周买的耳机没有声音，我想换一个。</a:t>
            </a:r>
          </a:p>
          <a:p/>
          <a:p>
            <a:r>
              <a:t>如果这句话发给人工客服，客服接下来可能需要做什么？</a:t>
            </a:r>
          </a:p>
          <a:p/>
          <a:p>
            <a:r>
              <a:t>首先，找到订单。</a:t>
            </a:r>
          </a:p>
          <a:p/>
          <a:p>
            <a:r>
              <a:t>“上周买的耳机”不是订单号。如果用户买过两款耳机，还需要确认是哪一笔。</a:t>
            </a:r>
          </a:p>
          <a:p/>
          <a:p>
            <a:r>
              <a:t>然后，了解问题。</a:t>
            </a:r>
          </a:p>
          <a:p/>
          <a:p>
            <a:r>
              <a:t>“没有声音”可能是两边都没有声音，也可能是一边没有声音；可能是使用设置问题，也可能是商品故障。客服需要根据商品和服务流程，询问必要的信息。</a:t>
            </a:r>
          </a:p>
          <a:p/>
          <a:p>
            <a:r>
              <a:t>接着，查询适用的售后政策。</a:t>
            </a:r>
          </a:p>
          <a:p/>
          <a:p>
            <a:r>
              <a:t>不同商品、不同订单状态和不同问题，可能对应不同处理要求。客服不能还没确认情况，就直接承诺一定可以换货。</a:t>
            </a:r>
          </a:p>
          <a:p/>
          <a:p>
            <a:r>
              <a:t>最后，帮助用户继续处理。</a:t>
            </a:r>
          </a:p>
          <a:p/>
          <a:p>
            <a:r>
              <a:t>可能需要补充材料、确认申请内容、提交售后申请，也可能需要交给其他人员审核。</a:t>
            </a:r>
          </a:p>
          <a:p/>
          <a:p>
            <a:r>
              <a:t>这个过程中，客服可能同时使用：</a:t>
            </a:r>
          </a:p>
          <a:p/>
          <a:p>
            <a:r>
              <a:t>| 资料或系统 | 提供什么 |</a:t>
            </a:r>
          </a:p>
          <a:p>
            <a:r>
              <a:t>|---|---|</a:t>
            </a:r>
          </a:p>
          <a:p>
            <a:r>
              <a:t>| 商品资料 | 型号、功能、使用说明 |</a:t>
            </a:r>
          </a:p>
          <a:p>
            <a:r>
              <a:t>| 订单与物流系统 | 买了什么、是否发货、是否签收 |</a:t>
            </a:r>
          </a:p>
          <a:p>
            <a:r>
              <a:t>| 售后政策 | 适用条件、所需材料、处理步骤 |</a:t>
            </a:r>
          </a:p>
          <a:p>
            <a:r>
              <a:t>| 售后系统 | 申请记录、处理进度、执行结果 |</a:t>
            </a:r>
          </a:p>
          <a:p>
            <a:r>
              <a:t>| 客服工作台 | 对话记录、人员接待与转交 |</a:t>
            </a:r>
          </a:p>
          <a:p/>
          <a:p>
            <a:r>
              <a:t>用户看到的是客服回复了几句话，背后却发生了查询、核对、解释、录入和转交。</a:t>
            </a:r>
          </a:p>
          <a:p/>
          <a:p>
            <a:r>
              <a:t>因此，评价客服产品时，不能只问“这句话回答得怎么样”，还要看：**用户要办的事情，有没有得到正确推进。**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讲清人工、FAQ、流程机器人和大模型客服的差别。</a:t>
            </a:r>
          </a:p>
          <a:p/>
          <a:p>
            <a:r>
              <a:t>企业很早就开始用系统减少客服的重复工作。大模型不是客服自动化的起点。</a:t>
            </a:r>
          </a:p>
          <a:p/>
          <a:p>
            <a:r>
              <a:t>这里不用记发展年份，我们重点看几种方式的差别。</a:t>
            </a:r>
          </a:p>
          <a:p/>
          <a:p>
            <a:r>
              <a:t>### 1. 人工客服：由人理解问题和组织处理过程</a:t>
            </a:r>
          </a:p>
          <a:p/>
          <a:p>
            <a:r>
              <a:t>人工可以结合上下文，灵活理解用户诉求。</a:t>
            </a:r>
          </a:p>
          <a:p/>
          <a:p>
            <a:r>
              <a:t>例如：</a:t>
            </a:r>
          </a:p>
          <a:p/>
          <a:p>
            <a:r>
              <a:t>&gt; “之前那个客服说可以换，你们现在怎么又说不行？”</a:t>
            </a:r>
          </a:p>
          <a:p/>
          <a:p>
            <a:r>
              <a:t>客服需要回看记录，核对前面的解释和实际政策，再处理争议。</a:t>
            </a:r>
          </a:p>
          <a:p/>
          <a:p>
            <a:r>
              <a:t>但人工也会面临重复咨询、咨询高峰排队、新人培训、跨系统查询等问题。</a:t>
            </a:r>
          </a:p>
          <a:p/>
          <a:p>
            <a:r>
              <a:t>于是，商家会把一些重复工作交给机器人。</a:t>
            </a:r>
          </a:p>
          <a:p/>
          <a:p>
            <a:r>
              <a:t>### 2. FAQ 机器人：匹配常见问题，返回维护好的答案</a:t>
            </a:r>
          </a:p>
          <a:p/>
          <a:p>
            <a:r>
              <a:t>例如，商家提前整理：</a:t>
            </a:r>
          </a:p>
          <a:p/>
          <a:p>
            <a:r>
              <a:t>- 怎么申请退货。</a:t>
            </a:r>
          </a:p>
          <a:p>
            <a:r>
              <a:t>- 商品怎样连接手机。</a:t>
            </a:r>
          </a:p>
          <a:p>
            <a:r>
              <a:t>- 运费由谁承担。</a:t>
            </a:r>
          </a:p>
          <a:p>
            <a:r>
              <a:t>- 怎样查询退款进度。</a:t>
            </a:r>
          </a:p>
          <a:p/>
          <a:p>
            <a:r>
              <a:t>同一个问题，用户可能有不同问法：</a:t>
            </a:r>
          </a:p>
          <a:p/>
          <a:p>
            <a:r>
              <a:t>&gt; “退货怎么操作？”  </a:t>
            </a:r>
          </a:p>
          <a:p>
            <a:r>
              <a:t>&gt; “在哪里申请退货？”  </a:t>
            </a:r>
          </a:p>
          <a:p>
            <a:r>
              <a:t>&gt; “东西不要了怎么退？”</a:t>
            </a:r>
          </a:p>
          <a:p/>
          <a:p>
            <a:r>
              <a:t>系统通过问题匹配，找到相应答案。</a:t>
            </a:r>
          </a:p>
          <a:p/>
          <a:p>
            <a:r>
              <a:t>这类方式适合常见、稳定的问题，企业也比较容易控制回答内容。</a:t>
            </a:r>
          </a:p>
          <a:p/>
          <a:p>
            <a:r>
              <a:t>但用户的问题不一定是一个清楚、独立的问句。</a:t>
            </a:r>
          </a:p>
          <a:p/>
          <a:p>
            <a:r>
              <a:t>例如：</a:t>
            </a:r>
          </a:p>
          <a:p/>
          <a:p>
            <a:r>
              <a:t>&gt; “耳机右边没声音，重新连接过了，还是不行。上周才买的，能直接换吗？”</a:t>
            </a:r>
          </a:p>
          <a:p/>
          <a:p>
            <a:r>
              <a:t>这里已经包含故障、排查记录、时间线索和换货诉求。只返回一段通用换货说明，可能相关，却没有充分处理用户的实际情况。</a:t>
            </a:r>
          </a:p>
          <a:p/>
          <a:p>
            <a:r>
              <a:t>### 3. 流程型机器人：按预设步骤完成查询或办理</a:t>
            </a:r>
          </a:p>
          <a:p/>
          <a:p>
            <a:r>
              <a:t>除了回答常见问题，传统客服机器人也可以连接业务系统。</a:t>
            </a:r>
          </a:p>
          <a:p/>
          <a:p>
            <a:r>
              <a:t>例如：</a:t>
            </a:r>
          </a:p>
          <a:p/>
          <a:p>
            <a:r>
              <a:t>&gt; 选择售后类型 → 选择订单 → 选择问题 → 补充材料 → 确认申请。</a:t>
            </a:r>
          </a:p>
          <a:p/>
          <a:p>
            <a:r>
              <a:t>**查询订单、调用接口、创建申请，并不是大模型出现以后才有的能力。**</a:t>
            </a:r>
          </a:p>
          <a:p/>
          <a:p>
            <a:r>
              <a:t>固定流程的优势是步骤明确，容易知道用户当前在哪一步、还缺哪些信息。</a:t>
            </a:r>
          </a:p>
          <a:p/>
          <a:p>
            <a:r>
              <a:t>但是，用户不一定严格沿着流程表达。</a:t>
            </a:r>
          </a:p>
          <a:p/>
          <a:p>
            <a:r>
              <a:t>系统正在询问故障，用户可能说：</a:t>
            </a:r>
          </a:p>
          <a:p/>
          <a:p>
            <a:r>
              <a:t>&gt; “算了，不换了，能退吗？”</a:t>
            </a:r>
          </a:p>
          <a:p/>
          <a:p>
            <a:r>
              <a:t>也可能一次提出两个问题：</a:t>
            </a:r>
          </a:p>
          <a:p/>
          <a:p>
            <a:r>
              <a:t>&gt; “帮我查一下耳机到哪了，另外想再买一个送人。”</a:t>
            </a:r>
          </a:p>
          <a:p/>
          <a:p>
            <a:r>
              <a:t>这时，系统需要理解新诉求，决定保留哪些信息、切换到哪里，以及原来的任务是否继续。</a:t>
            </a:r>
          </a:p>
          <a:p/>
          <a:p>
            <a:r>
              <a:t>### 4. 大模型客服：让自然表达与业务流程更好地衔接</a:t>
            </a:r>
          </a:p>
          <a:p/>
          <a:p>
            <a:r>
              <a:t>大模型可以帮助系统更灵活地理解表达、提取信息、组织回复，并结合已有能力选择处理路径。</a:t>
            </a:r>
          </a:p>
          <a:p/>
          <a:p>
            <a:r>
              <a:t>用户说：</a:t>
            </a:r>
          </a:p>
          <a:p/>
          <a:p>
            <a:r>
              <a:t>&gt; “上周买的耳机右边没声音，我想换一个。”</a:t>
            </a:r>
          </a:p>
          <a:p/>
          <a:p>
            <a:r>
              <a:t>系统可以识别出商品线索、故障描述和换货诉求，不必把用户已经说过的信息全部再问一遍。</a:t>
            </a:r>
          </a:p>
          <a:p/>
          <a:p>
            <a:r>
              <a:t>但大模型不能凭空知道：</a:t>
            </a:r>
          </a:p>
          <a:p/>
          <a:p>
            <a:r>
              <a:t>- 对应哪一笔订单。</a:t>
            </a:r>
          </a:p>
          <a:p>
            <a:r>
              <a:t>- 商品什么时候签收。</a:t>
            </a:r>
          </a:p>
          <a:p>
            <a:r>
              <a:t>- 当前适用什么售后政策。</a:t>
            </a:r>
          </a:p>
          <a:p>
            <a:r>
              <a:t>- 用户是否已经提交申请。</a:t>
            </a:r>
          </a:p>
          <a:p>
            <a:r>
              <a:t>- 刚才的操作有没有成功。</a:t>
            </a:r>
          </a:p>
          <a:p/>
          <a:p>
            <a:r>
              <a:t>这些信息仍然需要来自业务系统、知识资料和实际执行结果。</a:t>
            </a:r>
          </a:p>
          <a:p/>
          <a:p>
            <a:r>
              <a:t>所以，实际产品通常不是简单地用大模型替换全部旧能力，而是让它与知识库、固定流程、业务规则和人工客服配合。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引入大模型，最值得先改善什么</a:t>
            </a:r>
          </a:p>
          <a:p/>
          <a:p>
            <a:r>
              <a:t>这里可以请学员先做一个选择：</a:t>
            </a:r>
          </a:p>
          <a:p/>
          <a:p>
            <a:r>
              <a:t>&gt; 假设店铺已经有常见问题、自助查单和售后申请入口，你认为引入大模型最值得优先改善什么？</a:t>
            </a:r>
          </a:p>
          <a:p/>
          <a:p>
            <a:r>
              <a:t>**A.** 让客服回复更自然、更像真人。  </a:t>
            </a:r>
          </a:p>
          <a:p>
            <a:r>
              <a:t>**B.** 让用户用自己的话描述需求，系统仍能理解并进入正确的处理流程。  </a:t>
            </a:r>
          </a:p>
          <a:p>
            <a:r>
              <a:t>**C.** 让全部售后操作不再需要人工参与。</a:t>
            </a:r>
          </a:p>
          <a:p/>
          <a:p>
            <a:r>
              <a:t>对于今天的项目，我们优先考虑 **B**。</a:t>
            </a:r>
          </a:p>
          <a:p/>
          <a:p>
            <a:r>
              <a:t>A 有价值。回复清楚、自然，会影响体验。但如果说得很自然，却查错订单、没有推进申请，服务仍然没有完成。</a:t>
            </a:r>
          </a:p>
          <a:p/>
          <a:p>
            <a:r>
              <a:t>C 不能作为默认目标。是否自动处理，要结合业务规则、权限和风险，不能因为模型理解了退款诉求，就让它自行批准退款。</a:t>
            </a:r>
          </a:p>
          <a:p/>
          <a:p>
            <a:r>
              <a:t>我们真正希望改善的是：</a:t>
            </a:r>
          </a:p>
          <a:p/>
          <a:p>
            <a:r>
              <a:t>- 用户不需要先学习店铺的菜单和系统结构。</a:t>
            </a:r>
          </a:p>
          <a:p>
            <a:r>
              <a:t>- 已经提供的信息不必反复填写。</a:t>
            </a:r>
          </a:p>
          <a:p>
            <a:r>
              <a:t>- 能查询到与当前用户相关的准确数据。</a:t>
            </a:r>
          </a:p>
          <a:p>
            <a:r>
              <a:t>- 能明确知道下一步做什么、目前处理到哪里。</a:t>
            </a:r>
          </a:p>
          <a:p>
            <a:r>
              <a:t>- 需要人工时，前面收集的信息能够一起转交。</a:t>
            </a:r>
          </a:p>
          <a:p/>
          <a:p>
            <a:r>
              <a:t>**让用户表达得自然，也让后面的处理有明确步骤。**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本项目要解决什么、暂时不做什么</a:t>
            </a:r>
          </a:p>
          <a:p/>
          <a:p>
            <a:r>
              <a:t>现在回到今天的模拟商家。</a:t>
            </a:r>
          </a:p>
          <a:p/>
          <a:p>
            <a:r>
              <a:t>这家商家销售耳机、键盘等消费电子产品，已经有商品资料、售后政策、订单系统、售后系统和人工客服。</a:t>
            </a:r>
          </a:p>
          <a:p/>
          <a:p>
            <a:r>
              <a:t>我们为项目设定几类需要改善的情况：</a:t>
            </a:r>
          </a:p>
          <a:p/>
          <a:p>
            <a:r>
              <a:t>### 1. 常见咨询占用客服时间</a:t>
            </a:r>
          </a:p>
          <a:p/>
          <a:p>
            <a:r>
              <a:t>商品区别、连接方法、发货安排、售后步骤等问题反复出现，需要工作人员重复查找和解释。</a:t>
            </a:r>
          </a:p>
          <a:p/>
          <a:p>
            <a:r>
              <a:t>### 2. 用户说法与系统字段不一致</a:t>
            </a:r>
          </a:p>
          <a:p/>
          <a:p>
            <a:r>
              <a:t>系统需要订单编号、商品型号、问题类型；用户说的却是：</a:t>
            </a:r>
          </a:p>
          <a:p/>
          <a:p>
            <a:r>
              <a:t>&gt; “上周那个。”  </a:t>
            </a:r>
          </a:p>
          <a:p>
            <a:r>
              <a:t>&gt; “第二个耳机。”  </a:t>
            </a:r>
          </a:p>
          <a:p>
            <a:r>
              <a:t>&gt; “右边坏了。”</a:t>
            </a:r>
          </a:p>
          <a:p/>
          <a:p>
            <a:r>
              <a:t>需要有人把自然表达与业务信息对应起来。</a:t>
            </a:r>
          </a:p>
          <a:p/>
          <a:p>
            <a:r>
              <a:t>### 3. 回答之后，用户仍不知道怎样继续</a:t>
            </a:r>
          </a:p>
          <a:p/>
          <a:p>
            <a:r>
              <a:t>用户提出换货诉求，机器人返回了政策，却没有引导确认订单、补充材料或者进入申请流程。</a:t>
            </a:r>
          </a:p>
          <a:p/>
          <a:p>
            <a:r>
              <a:t>### 4. 转人工后，信息没有接上</a:t>
            </a:r>
          </a:p>
          <a:p/>
          <a:p>
            <a:r>
              <a:t>机器人已经询问了订单和故障，人工接手却看不到整理后的信息，需要重新询问。</a:t>
            </a:r>
          </a:p>
          <a:p/>
          <a:p>
            <a:r>
              <a:t>这些是教学设定的业务问题。在真实项目里，需要通过客服记录、访谈、用户反馈和系统数据验证，不能只凭设想就确定需求。</a:t>
            </a:r>
          </a:p>
          <a:p/>
          <a:p>
            <a:r>
              <a:t>我们先看五条消息：</a:t>
            </a:r>
          </a:p>
          <a:p/>
          <a:p>
            <a:r>
              <a:t>| 用户消息 | 背后需要完成的事情 |</a:t>
            </a:r>
          </a:p>
          <a:p>
            <a:r>
              <a:t>|---|---|</a:t>
            </a:r>
          </a:p>
          <a:p>
            <a:r>
              <a:t>| “这款耳机支持换货吗？” | 确认商品及相关情况，查询适用政策 |</a:t>
            </a:r>
          </a:p>
          <a:p>
            <a:r>
              <a:t>| “上周买的耳机怎么还没到？” | 定位订单，查询发货和物流 |</a:t>
            </a:r>
          </a:p>
          <a:p>
            <a:r>
              <a:t>| “收到以后右边没有声音，我想换一个。” | 确认订单与故障，引导后续售后处理 |</a:t>
            </a:r>
          </a:p>
          <a:p>
            <a:r>
              <a:t>| “预算三百以内，有没有适合通勤的耳机？” | 了解需求，查找并推荐商品 |</a:t>
            </a:r>
          </a:p>
          <a:p>
            <a:r>
              <a:t>| “前面已经说过两遍了，帮我找人工。” | 转交人工，并保留前面的处理信息 |</a:t>
            </a:r>
          </a:p>
          <a:p/>
          <a:p>
            <a:r>
              <a:t>它们都出现在同一个聊天窗口，但不能全部用同一种方式解决。</a:t>
            </a:r>
          </a:p>
          <a:p/>
          <a:p>
            <a:r>
              <a:t>因此，本次公共项目的任务是：</a:t>
            </a:r>
          </a:p>
          <a:p/>
          <a:p>
            <a:r>
              <a:t>&gt; 设计一个电商智能客服助手，在统一的对话入口中，处理商品与售后咨询、订单查询、商品推荐，并引导用户进入适当的售后或人工处理流程。</a:t>
            </a:r>
          </a:p>
          <a:p/>
          <a:p>
            <a:r>
              <a:t>我们重点深入两条路径：</a:t>
            </a:r>
          </a:p>
          <a:p/>
          <a:p>
            <a:r>
              <a:t>- **订单查询**：先跑通一条相对简单的业务查询流程。</a:t>
            </a:r>
          </a:p>
          <a:p>
            <a:r>
              <a:t>- **售后咨询与处理**：再把知识、对话、规则和业务流程结合起来。</a:t>
            </a:r>
          </a:p>
          <a:p/>
          <a:p>
            <a:r>
              <a:t>商品推荐、闲聊与兜底用来补全整体产品结构，讲解会相对简短。</a:t>
            </a:r>
          </a:p>
          <a:p/>
          <a:p>
            <a:r>
              <a:t>当前课堂不涉及真实自动退款、赔付审批，也不建设完整的客服中台。业务操作使用模拟环境，并明确区分“申请已提交”和“审核已通过”等不同状态。</a:t>
            </a:r>
          </a:p>
          <a:p/>
          <a:p>
            <a:r>
              <a:t>下一节，我们就来看这套电商智能客服的**整体方案与主工作流**：用户发来一句话后，系统怎样理解它，并交给订单查询、售后处理、商品推荐或其他路径。</a:t>
            </a:r>
          </a:p>
          <a:p/>
          <a:p>
            <a:r>
              <a:t>---</a:t>
            </a:r>
          </a:p>
          <a:p/>
          <a:p>
            <a:r>
              <a:t>**素材说明：**客服演进与业务运营视角参考亚慧《智能客服机器人》；项目分支结构参考知乎第 7 课客服项目。商家背景与贯穿对话为本课程教学设计。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用户发来一句话后，系统怎样知道该交给哪条流程？</a:t>
            </a:r>
          </a:p>
          <a:p/>
          <a:p>
            <a:r>
              <a:t>上一节，我们明确了项目背景：这家电商商家已经有商品资料、售后政策、订单系统和人工客服，现在要通过一个智能客服入口，把这些能力连接起来。</a:t>
            </a:r>
          </a:p>
          <a:p/>
          <a:p>
            <a:r>
              <a:t>这一节先看整体方案。</a:t>
            </a:r>
          </a:p>
          <a:p/>
          <a:p>
            <a:r>
              <a:t>我们要弄清楚：**用户发来一句话之后，系统怎样知道该做什么，以及把这个请求交给哪一条流程。**</a:t>
            </a:r>
          </a:p>
          <a:p/>
          <a:p>
            <a:r>
              <a:t>## 一、先看这个产品应该怎样工作</a:t>
            </a:r>
          </a:p>
          <a:p/>
          <a:p>
            <a:r>
              <a:t>先用三段对话，展示同一个客服助手处理不同请求的效果。</a:t>
            </a:r>
          </a:p>
          <a:p/>
          <a:p>
            <a:r>
              <a:t>以下是教学设计中的预期对话，不是已经运行验证的结果。</a:t>
            </a:r>
          </a:p>
          <a:p/>
          <a:p>
            <a:r>
              <a:t>### 场景一：查询订单</a:t>
            </a:r>
          </a:p>
          <a:p/>
          <a:p>
            <a:r>
              <a:t>&gt; 用户：上周买的耳机怎么还没到？  </a:t>
            </a:r>
          </a:p>
          <a:p>
            <a:r>
              <a:t>&gt; 助手：查询到您近期有两笔耳机订单，请选择需要查询的一笔。  </a:t>
            </a:r>
          </a:p>
          <a:p>
            <a:r>
              <a:t>&gt; 用户：第二个。  </a:t>
            </a:r>
          </a:p>
          <a:p>
            <a:r>
              <a:t>&gt; 助手：这笔订单已发货，当前物流状态为运输中。您可以在下方查看最新物流记录。</a:t>
            </a:r>
          </a:p>
          <a:p/>
          <a:p>
            <a:r>
              <a:t>这个过程需要连接订单和物流数据。</a:t>
            </a:r>
          </a:p>
          <a:p/>
          <a:p>
            <a:r>
              <a:t>### 场景二：处理售后诉求</a:t>
            </a:r>
          </a:p>
          <a:p/>
          <a:p>
            <a:r>
              <a:t>&gt; 用户：收到的耳机右边没有声音，我想换一个。  </a:t>
            </a:r>
          </a:p>
          <a:p>
            <a:r>
              <a:t>&gt; 助手：我先帮您确认需要处理的订单，请选择对应商品。  </a:t>
            </a:r>
          </a:p>
          <a:p>
            <a:r>
              <a:t>&gt; 用户：就是这个。  </a:t>
            </a:r>
          </a:p>
          <a:p>
            <a:r>
              <a:t>&gt; 助手：已确认订单。请问右侧耳机是收到后一直没有声音，还是使用过程中出现的？  </a:t>
            </a:r>
          </a:p>
          <a:p>
            <a:r>
              <a:t>&gt; 用户：收到就没有声音。  </a:t>
            </a:r>
          </a:p>
          <a:p>
            <a:r>
              <a:t>&gt; 助手：了解，我会根据这笔订单和适用的售后要求，继续引导您处理。</a:t>
            </a:r>
          </a:p>
          <a:p/>
          <a:p>
            <a:r>
              <a:t>这个过程除了查询订单，还需要理解故障、收集信息和查询政策。</a:t>
            </a:r>
          </a:p>
          <a:p/>
          <a:p>
            <a:r>
              <a:t>### 场景三：推荐商品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助手：您更看重降噪，还是佩戴舒适度？  </a:t>
            </a:r>
          </a:p>
          <a:p>
            <a:r>
              <a:t>&gt; 用户：降噪。  </a:t>
            </a:r>
          </a:p>
          <a:p>
            <a:r>
              <a:t>&gt; 助手：根据店铺当前商品资料，我为您筛选了以下候选，您可以比较价格、降噪功能和佩戴方式。</a:t>
            </a:r>
          </a:p>
          <a:p/>
          <a:p>
            <a:r>
              <a:t>这个过程主要依赖用户偏好和商品数据。</a:t>
            </a:r>
          </a:p>
          <a:p/>
          <a:p>
            <a:r>
              <a:t>三个场景使用同一个对话窗口，背后的处理方式却不同。</a:t>
            </a:r>
          </a:p>
          <a:p/>
          <a:p>
            <a:r>
              <a:t>所以，产品不能只依赖一个笼统的提示词：“你是一名专业电商客服，请回答用户的问题。”</a:t>
            </a:r>
          </a:p>
          <a:p/>
          <a:p>
            <a:r>
              <a:t>我们需要把具体的处理能力组织起来。</a:t>
            </a:r>
          </a:p>
          <a:p/>
          <a:p>
            <a:r>
              <a:t>## 二、先区分“用户看到的产品”和“背后的处理流程”</a:t>
            </a:r>
          </a:p>
          <a:p/>
          <a:p>
            <a:r>
              <a:t>用户看到的，首先是一个客服界面：</a:t>
            </a:r>
          </a:p>
          <a:p/>
          <a:p>
            <a:r>
              <a:t>- 可以输入问题。</a:t>
            </a:r>
          </a:p>
          <a:p>
            <a:r>
              <a:t>- 可以选择订单或商品。</a:t>
            </a:r>
          </a:p>
          <a:p>
            <a:r>
              <a:t>- 可以补充信息。</a:t>
            </a:r>
          </a:p>
          <a:p>
            <a:r>
              <a:t>- 可以查看处理结果。</a:t>
            </a:r>
          </a:p>
          <a:p>
            <a:r>
              <a:t>- 必要时可以转人工。</a:t>
            </a:r>
          </a:p>
          <a:p/>
          <a:p>
            <a:r>
              <a:t>背后则有几部分协作：</a:t>
            </a:r>
          </a:p>
          <a:p/>
          <a:p>
            <a:r>
              <a:t>| 产品部分 | 具体作用 |</a:t>
            </a:r>
          </a:p>
          <a:p>
            <a:r>
              <a:t>|---|---|</a:t>
            </a:r>
          </a:p>
          <a:p>
            <a:r>
              <a:t>| 对话入口 | 接收文字、选择操作和其他必要输入 |</a:t>
            </a:r>
          </a:p>
          <a:p>
            <a:r>
              <a:t>| 主工作流 | 判断当前请求应该进入哪条处理路径 |</a:t>
            </a:r>
          </a:p>
          <a:p>
            <a:r>
              <a:t>| 子工作流 | 分别完成订单查询、售后处理、商品推荐等任务 |</a:t>
            </a:r>
          </a:p>
          <a:p>
            <a:r>
              <a:t>| 知识与业务系统 | 提供商品、政策、订单和售后信息 |</a:t>
            </a:r>
          </a:p>
          <a:p>
            <a:r>
              <a:t>| 人工服务 | 承接需要进一步处理的情况 |</a:t>
            </a:r>
          </a:p>
          <a:p>
            <a:r>
              <a:t>| 处理记录 | 保存必要的对话、状态和调用结果，便于继续服务与排查问题 |</a:t>
            </a:r>
          </a:p>
          <a:p/>
          <a:p>
            <a:r>
              <a:t>这里的“工作流”，可以先理解为：**系统收到请求以后，按什么步骤调用哪些能力，并根据结果决定下一步。**</a:t>
            </a:r>
          </a:p>
          <a:p/>
          <a:p>
            <a:r>
              <a:t>这一节不要求学员掌握全部节点配置。先看懂整体关系，后面再逐条拆开。</a:t>
            </a:r>
          </a:p>
          <a:p/>
          <a:p>
            <a:r>
              <a:t>## 三、主工作流怎样组织</a:t>
            </a:r>
          </a:p>
          <a:p/>
          <a:p>
            <a:r>
              <a:t>按照知乎客服项目的主要分支，我们把助手组织为四条路径：</a:t>
            </a:r>
          </a:p>
          <a:p/>
          <a:p>
            <a:r>
              <a:t>```text</a:t>
            </a:r>
          </a:p>
          <a:p>
            <a:r>
              <a:t>用户消息或页面操作</a:t>
            </a:r>
          </a:p>
          <a:p>
            <a:r>
              <a:t>        ↓</a:t>
            </a:r>
          </a:p>
          <a:p>
            <a:r>
              <a:t>读取当前会话与已有任务信息</a:t>
            </a:r>
          </a:p>
          <a:p>
            <a:r>
              <a:t>        ↓</a:t>
            </a:r>
          </a:p>
          <a:p>
            <a:r>
              <a:t>判断用户意图与处理路径</a:t>
            </a:r>
          </a:p>
          <a:p>
            <a:r>
              <a:t>        ├─ 订单查询</a:t>
            </a:r>
          </a:p>
          <a:p>
            <a:r>
              <a:t>        ├─ 售后咨询与投诉处理</a:t>
            </a:r>
          </a:p>
          <a:p>
            <a:r>
              <a:t>        ├─ 商品咨询与推荐</a:t>
            </a:r>
          </a:p>
          <a:p>
            <a:r>
              <a:t>        └─ 闲聊、模糊请求与范围外问题</a:t>
            </a:r>
          </a:p>
          <a:p>
            <a:r>
              <a:t>        ↓</a:t>
            </a:r>
          </a:p>
          <a:p>
            <a:r>
              <a:t>返回回答、选择项或处理状态</a:t>
            </a:r>
          </a:p>
          <a:p>
            <a:r>
              <a:t>        ↓</a:t>
            </a:r>
          </a:p>
          <a:p>
            <a:r>
              <a:t>继续当前任务，或结束本次处理</a:t>
            </a:r>
          </a:p>
          <a:p>
            <a:r>
              <a:t>```</a:t>
            </a:r>
          </a:p>
          <a:p/>
          <a:p>
            <a:r>
              <a:t>人工接管不是只能在最后出现。用户明确要求人工，或者某个流程遇到无法处理的情况，都可以进入人工路径。</a:t>
            </a:r>
          </a:p>
          <a:p/>
          <a:p>
            <a:r>
              <a:t>这里先明确主工作流和子工作流的分工。</a:t>
            </a:r>
          </a:p>
          <a:p/>
          <a:p>
            <a:r>
              <a:t>### 主工作流：决定请求交给谁</a:t>
            </a:r>
          </a:p>
          <a:p/>
          <a:p>
            <a:r>
              <a:t>例如：</a:t>
            </a:r>
          </a:p>
          <a:p/>
          <a:p>
            <a:r>
              <a:t>&gt; “上周买的耳机怎么还没到？”</a:t>
            </a:r>
          </a:p>
          <a:p/>
          <a:p>
            <a:r>
              <a:t>主工作流需要判断它属于订单或物流查询，并把用户消息、账号信息和已有上下文传给查询流程。</a:t>
            </a:r>
          </a:p>
          <a:p/>
          <a:p>
            <a:r>
              <a:t>它不必在这个环节完成所有订单查询细节。</a:t>
            </a:r>
          </a:p>
          <a:p/>
          <a:p>
            <a:r>
              <a:t>### 子工作流：把具体任务处理下去</a:t>
            </a:r>
          </a:p>
          <a:p/>
          <a:p>
            <a:r>
              <a:t>订单查询流程再负责：</a:t>
            </a:r>
          </a:p>
          <a:p/>
          <a:p>
            <a:r>
              <a:t>- 信息是否足够。</a:t>
            </a:r>
          </a:p>
          <a:p>
            <a:r>
              <a:t>- 需要查哪笔订单。</a:t>
            </a:r>
          </a:p>
          <a:p>
            <a:r>
              <a:t>- 是否需要用户选择。</a:t>
            </a:r>
          </a:p>
          <a:p>
            <a:r>
              <a:t>- 调用什么查询工具。</a:t>
            </a:r>
          </a:p>
          <a:p>
            <a:r>
              <a:t>- 查不到或调用失败时怎么办。</a:t>
            </a:r>
          </a:p>
          <a:p>
            <a:r>
              <a:t>- 最后返回什么。</a:t>
            </a:r>
          </a:p>
          <a:p/>
          <a:p>
            <a:r>
              <a:t>这样拆分以后，修改订单查询流程，不需要同时重写商品推荐的全部逻辑。</a:t>
            </a:r>
          </a:p>
          <a:p/>
          <a:p>
            <a:r>
              <a:t>## 四、意图分类不能只写几个标签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## 五、用几句话检查分类是否清楚</a:t>
            </a:r>
          </a:p>
          <a:p/>
          <a:p>
            <a:r>
              <a:t>可以让学员先判断下面三条请求分别应该进入哪里。</a:t>
            </a:r>
          </a:p>
          <a:p/>
          <a:p>
            <a:r>
              <a:t>### 第一条：“耳机太差了，我要退。”</a:t>
            </a:r>
          </a:p>
          <a:p/>
          <a:p>
            <a:r>
              <a:t>容易出现的一种错误是：系统只识别出负面情绪，直接当作投诉处理。</a:t>
            </a:r>
          </a:p>
          <a:p/>
          <a:p>
            <a:r>
              <a:t>但这里已经有明确的退货诉求。</a:t>
            </a:r>
          </a:p>
          <a:p/>
          <a:p>
            <a:r>
              <a:t>更合理的做法，是进入售后路径，保留用户表达不满的信息，再根据具体情况决定是否需要人工介入。</a:t>
            </a:r>
          </a:p>
          <a:p/>
          <a:p>
            <a:r>
              <a:t>**负面情绪和业务意图不是同一件事。**一句话可以同时包含两者。</a:t>
            </a:r>
          </a:p>
          <a:p/>
          <a:p>
            <a:r>
              <a:t>### 第二条：“这个耳机适合跑步吗？”</a:t>
            </a:r>
          </a:p>
          <a:p/>
          <a:p>
            <a:r>
              <a:t>如果前面正在浏览某款商品，这属于商品咨询。</a:t>
            </a:r>
          </a:p>
          <a:p/>
          <a:p>
            <a:r>
              <a:t>系统应该结合当前商品资料回答，而不是因为出现“耳机”就进入订单查询，也不必马上推荐一堆新商品。</a:t>
            </a:r>
          </a:p>
          <a:p/>
          <a:p>
            <a:r>
              <a:t>如果上下文中没有对应商品，就需要先确认“这个”指哪一款。</a:t>
            </a:r>
          </a:p>
          <a:p/>
          <a:p>
            <a:r>
              <a:t>### 第三条：“第二个。”</a:t>
            </a:r>
          </a:p>
          <a:p/>
          <a:p>
            <a:r>
              <a:t>这句话单独看，无法判断是什么需求。</a:t>
            </a:r>
          </a:p>
          <a:p/>
          <a:p>
            <a:r>
              <a:t>但如果上一轮助手展示了两笔订单，它就是一次订单选择。</a:t>
            </a:r>
          </a:p>
          <a:p/>
          <a:p>
            <a:r>
              <a:t>此时应该继续订单查询或售后任务，而不是把“第二个”重新当成一个全新的问题进行分类。</a:t>
            </a:r>
          </a:p>
          <a:p/>
          <a:p>
            <a:r>
              <a:t>这也引出了主工作流中一个容易忽略的地方：**每条新消息到达后，都需要先知道当前正在做什么。**</a:t>
            </a:r>
          </a:p>
          <a:p/>
          <a:p>
            <a:r>
              <a:t>## 六、不是每一句话都重新从头分流</a:t>
            </a:r>
          </a:p>
          <a:p/>
          <a:p>
            <a:r>
              <a:t>假设正在处理耳机换货：</a:t>
            </a:r>
          </a:p>
          <a:p/>
          <a:p>
            <a:r>
              <a:t>&gt; 助手：请问是两边都没有声音，还是只有一边？  </a:t>
            </a:r>
          </a:p>
          <a:p>
            <a:r>
              <a:t>&gt; 用户：右边。</a:t>
            </a:r>
          </a:p>
          <a:p/>
          <a:p>
            <a:r>
              <a:t>这时，系统应该把“右边”记录为故障信息，并继续当前流程。</a:t>
            </a:r>
          </a:p>
          <a:p/>
          <a:p>
            <a:r>
              <a:t>如果每轮都只拿最新一句话分类，模型看到“右边”，很可能不知道用户在说什么。</a:t>
            </a:r>
          </a:p>
          <a:p/>
          <a:p>
            <a:r>
              <a:t>因此，进入主工作流的，不应只有当前消息，还需要必要的任务信息。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"aftersales",</a:t>
            </a:r>
          </a:p>
          <a:p>
            <a:r>
              <a:t>  "order_id": "DEMO-102",</a:t>
            </a:r>
          </a:p>
          <a:p>
            <a:r>
              <a:t>  "requested_action": "exchange",</a:t>
            </a:r>
          </a:p>
          <a:p>
            <a:r>
              <a:t>  "issue_description": null,</a:t>
            </a:r>
          </a:p>
          <a:p>
            <a:r>
              <a:t>  "waiting_for": "fault_details"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这里的含义是：</a:t>
            </a:r>
          </a:p>
          <a:p/>
          <a:p>
            <a:r>
              <a:t>- 当前正在处理售后。</a:t>
            </a:r>
          </a:p>
          <a:p>
            <a:r>
              <a:t>- 已经确认订单。</a:t>
            </a:r>
          </a:p>
          <a:p>
            <a:r>
              <a:t>- 用户希望换货。</a:t>
            </a:r>
          </a:p>
          <a:p>
            <a:r>
              <a:t>- 故障描述尚未补齐。</a:t>
            </a:r>
          </a:p>
          <a:p>
            <a:r>
              <a:t>- 系统正在等待用户说明故障。</a:t>
            </a:r>
          </a:p>
          <a:p/>
          <a:p>
            <a:r>
              <a:t>收到“右边没有声音”后，就可以更新故障描述。</a:t>
            </a:r>
          </a:p>
          <a:p/>
          <a:p>
            <a:r>
              <a:t>但如果用户说：</a:t>
            </a:r>
          </a:p>
          <a:p/>
          <a:p>
            <a:r>
              <a:t>&gt; “先不换了，帮我看看物流。”</a:t>
            </a:r>
          </a:p>
          <a:p/>
          <a:p>
            <a:r>
              <a:t>系统还需要判断：用户是在切换任务，还是在查询换货后寄出的商品？</a:t>
            </a:r>
          </a:p>
          <a:p/>
          <a:p>
            <a:r>
              <a:t>信息不清楚时，应当澄清，不能随意覆盖原来的任务。</a:t>
            </a:r>
          </a:p>
          <a:p/>
          <a:p>
            <a:r>
              <a:t>这一节先建立这个概念。下一节和售后流程中，我们再具体看哪些信息需要保存、怎样更新。</a:t>
            </a:r>
          </a:p>
          <a:p/>
          <a:p>
            <a:r>
              <a:t>## 七、“三类任务”和“四条分支”是什么关系</a:t>
            </a:r>
          </a:p>
          <a:p/>
          <a:p>
            <a:r>
              <a:t>上一节我们说，客服会回答问题、查询信息，也会推动业务处理。</a:t>
            </a:r>
          </a:p>
          <a:p/>
          <a:p>
            <a:r>
              <a:t>这里为什么又分成订单、售后、商品和其他四条路径？</a:t>
            </a:r>
          </a:p>
          <a:p/>
          <a:p>
            <a:r>
              <a:t>因为它们是两个不同的观察角度。</a:t>
            </a:r>
          </a:p>
          <a:p/>
          <a:p>
            <a:r>
              <a:t>**四条分支，是按照业务需求组织产品。**</a:t>
            </a:r>
          </a:p>
          <a:p/>
          <a:p>
            <a:r>
              <a:t>而知识问答、业务查询、业务办理，是这些分支里面可能使用的处理方式。</a:t>
            </a:r>
          </a:p>
          <a:p/>
          <a:p>
            <a:r>
              <a:t>例如，售后分支就可能包含：</a:t>
            </a:r>
          </a:p>
          <a:p/>
          <a:p>
            <a:r>
              <a:t>| 用户正在做什么 | 需要的处理方式 |</a:t>
            </a:r>
          </a:p>
          <a:p>
            <a:r>
              <a:t>|---|---|</a:t>
            </a:r>
          </a:p>
          <a:p>
            <a:r>
              <a:t>| 询问换货政策 | 知识问答 |</a:t>
            </a:r>
          </a:p>
          <a:p>
            <a:r>
              <a:t>| 确认订单与已有申请 | 业务查询 |</a:t>
            </a:r>
          </a:p>
          <a:p>
            <a:r>
              <a:t>| 补充材料、确认并提交申请 | 业务办理 |</a:t>
            </a:r>
          </a:p>
          <a:p/>
          <a:p>
            <a:r>
              <a:t>所以，不是把所有知识问题都放在一个地方、所有接口操作都放在另一个地方，就完成了产品设计。</a:t>
            </a:r>
          </a:p>
          <a:p/>
          <a:p>
            <a:r>
              <a:t>**同一个用户任务，往往需要多种能力连续配合。**</a:t>
            </a:r>
          </a:p>
          <a:p/>
          <a:p>
            <a:r>
              <a:t>后面我们会沿着具体任务，决定在哪一步查知识、在哪一步查系统、在哪一步等待用户确认。</a:t>
            </a:r>
          </a:p>
          <a:p/>
          <a:p>
            <a:r>
              <a:t>## 八、各流程之间需要传递什么</a:t>
            </a:r>
          </a:p>
          <a:p/>
          <a:p>
            <a:r>
              <a:t>主工作流把请求交给子工作流时，不能只传一句“处理售后”。</a:t>
            </a:r>
          </a:p>
          <a:p/>
          <a:p>
            <a:r>
              <a:t>至少要让接收方知道：</a:t>
            </a:r>
          </a:p>
          <a:p/>
          <a:p>
            <a:r>
              <a:t>- 用户当前说了什么。</a:t>
            </a:r>
          </a:p>
          <a:p>
            <a:r>
              <a:t>- 当前用户身份或可使用的身份标识。</a:t>
            </a:r>
          </a:p>
          <a:p>
            <a:r>
              <a:t>- 已经确认的订单、商品等信息。</a:t>
            </a:r>
          </a:p>
          <a:p>
            <a:r>
              <a:t>- 前面已经收集的必要内容。</a:t>
            </a:r>
          </a:p>
          <a:p>
            <a:r>
              <a:t>- 当前正在等待什么输入。</a:t>
            </a:r>
          </a:p>
          <a:p/>
          <a:p>
            <a:r>
              <a:t>子工作流完成后，也不应该只返回一段回复文字。</a:t>
            </a:r>
          </a:p>
          <a:p/>
          <a:p>
            <a:r>
              <a:t>它还需要告诉主流程，目前是什么状态。例如：</a:t>
            </a:r>
          </a:p>
          <a:p/>
          <a:p>
            <a:r>
              <a:t>| 返回状态 | 意味着什么 |</a:t>
            </a:r>
          </a:p>
          <a:p>
            <a:r>
              <a:t>|---|---|</a:t>
            </a:r>
          </a:p>
          <a:p>
            <a:r>
              <a:t>| 等待用户补充 | 任务还没完成，需要继续当前流程 |</a:t>
            </a:r>
          </a:p>
          <a:p>
            <a:r>
              <a:t>| 已完成查询 | 已获取并返回结果，可以继续提问或结束 |</a:t>
            </a:r>
          </a:p>
          <a:p>
            <a:r>
              <a:t>| 需要人工处理 | 自动流程暂停，准备交接 |</a:t>
            </a:r>
          </a:p>
          <a:p>
            <a:r>
              <a:t>| 执行失败 | 没有完成操作，需要明确的后续处理 |</a:t>
            </a:r>
          </a:p>
          <a:p/>
          <a:p>
            <a:r>
              <a:t>这会影响下一轮对话。</a:t>
            </a:r>
          </a:p>
          <a:p/>
          <a:p>
            <a:r>
              <a:t>尤其要避免一种情况：接口调用失败了，但模型仍然生成一句“已经帮您处理好了”。</a:t>
            </a:r>
          </a:p>
          <a:p/>
          <a:p>
            <a:r>
              <a:t>**回复内容和实际处理状态必须一致。**</a:t>
            </a:r>
          </a:p>
          <a:p/>
          <a:p>
            <a:r>
              <a:t>## 九、现在回看完整方案</a:t>
            </a:r>
          </a:p>
          <a:p/>
          <a:p>
            <a:r>
              <a:t>到这里，我们已经能看懂这个助手的基本工作方式：</a:t>
            </a:r>
          </a:p>
          <a:p/>
          <a:p>
            <a:r>
              <a:t>1. 用户从统一的客服入口提出需求。</a:t>
            </a:r>
          </a:p>
          <a:p>
            <a:r>
              <a:t>2. 系统结合上下文和当前任务，判断处理路径。</a:t>
            </a:r>
          </a:p>
          <a:p>
            <a:r>
              <a:t>3. 相应子工作流继续收集信息、查询资料或调用系统。</a:t>
            </a:r>
          </a:p>
          <a:p>
            <a:r>
              <a:t>4. 将回答、操作选项和处理状态返回给用户。</a:t>
            </a:r>
          </a:p>
          <a:p>
            <a:r>
              <a:t>5. 用户继续输入时，系统知道是在延续任务还是提出新需求。</a:t>
            </a:r>
          </a:p>
          <a:p>
            <a:r>
              <a:t>6. 无法继续处理的情况，进入人工或其他明确的兜底路径。</a:t>
            </a:r>
          </a:p>
          <a:p/>
          <a:p>
            <a:r>
              <a:t>本节形成的是一张整体流程图，以及初步的业务分类和信息传递约定。它还不是一个已经完成验证的系统。</a:t>
            </a:r>
          </a:p>
          <a:p/>
          <a:p>
            <a:r>
              <a:t>下一节，我们先拆开最容易理解的一条路径：**订单查询工作流**。</a:t>
            </a:r>
          </a:p>
          <a:p/>
          <a:p>
            <a:r>
              <a:t>就从这句话开始：</a:t>
            </a:r>
          </a:p>
          <a:p/>
          <a:p>
            <a:r>
              <a:t>&gt; “上周买的耳机怎么还没到？”</a:t>
            </a:r>
          </a:p>
          <a:p/>
          <a:p>
            <a:r>
              <a:t>我们会具体看它怎样找到正确订单、调用查询工具，以及查不到、查到多笔或接口失败时分别怎么办。</a:t>
            </a:r>
          </a:p>
          <a:p/>
          <a:p>
            <a:r>
              <a:t>---</a:t>
            </a:r>
          </a:p>
          <a:p/>
          <a:p>
            <a:r>
              <a:t>**素材说明：**四类主分支参考知乎第 7 课客服项目；多轮对话与状态管理参考亚慧讲义第 4.22 节；示意提示词、字段和状态为本课程教学设计，尚未运行验证。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展示订单、售后和推荐三段预期对话。</a:t>
            </a:r>
          </a:p>
          <a:p/>
          <a:p>
            <a:r>
              <a:t>先用三段对话，展示同一个客服助手处理不同请求的效果。</a:t>
            </a:r>
          </a:p>
          <a:p/>
          <a:p>
            <a:r>
              <a:t>以下是教学设计中的预期对话，不是已经运行验证的结果。</a:t>
            </a:r>
          </a:p>
          <a:p/>
          <a:p>
            <a:r>
              <a:t>### 场景一：查询订单</a:t>
            </a:r>
          </a:p>
          <a:p/>
          <a:p>
            <a:r>
              <a:t>&gt; 用户：上周买的耳机怎么还没到？  </a:t>
            </a:r>
          </a:p>
          <a:p>
            <a:r>
              <a:t>&gt; 助手：查询到您近期有两笔耳机订单，请选择需要查询的一笔。  </a:t>
            </a:r>
          </a:p>
          <a:p>
            <a:r>
              <a:t>&gt; 用户：第二个。  </a:t>
            </a:r>
          </a:p>
          <a:p>
            <a:r>
              <a:t>&gt; 助手：这笔订单已发货，当前物流状态为运输中。您可以在下方查看最新物流记录。</a:t>
            </a:r>
          </a:p>
          <a:p/>
          <a:p>
            <a:r>
              <a:t>这个过程需要连接订单和物流数据。</a:t>
            </a:r>
          </a:p>
          <a:p/>
          <a:p>
            <a:r>
              <a:t>### 场景二：处理售后诉求</a:t>
            </a:r>
          </a:p>
          <a:p/>
          <a:p>
            <a:r>
              <a:t>&gt; 用户：收到的耳机右边没有声音，我想换一个。  </a:t>
            </a:r>
          </a:p>
          <a:p>
            <a:r>
              <a:t>&gt; 助手：我先帮您确认需要处理的订单，请选择对应商品。  </a:t>
            </a:r>
          </a:p>
          <a:p>
            <a:r>
              <a:t>&gt; 用户：就是这个。  </a:t>
            </a:r>
          </a:p>
          <a:p>
            <a:r>
              <a:t>&gt; 助手：已确认订单。请问右侧耳机是收到后一直没有声音，还是使用过程中出现的？  </a:t>
            </a:r>
          </a:p>
          <a:p>
            <a:r>
              <a:t>&gt; 用户：收到就没有声音。  </a:t>
            </a:r>
          </a:p>
          <a:p>
            <a:r>
              <a:t>&gt; 助手：了解，我会根据这笔订单和适用的售后要求，继续引导您处理。</a:t>
            </a:r>
          </a:p>
          <a:p/>
          <a:p>
            <a:r>
              <a:t>这个过程除了查询订单，还需要理解故障、收集信息和查询政策。</a:t>
            </a:r>
          </a:p>
          <a:p/>
          <a:p>
            <a:r>
              <a:t>### 场景三：推荐商品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助手：您更看重降噪，还是佩戴舒适度？  </a:t>
            </a:r>
          </a:p>
          <a:p>
            <a:r>
              <a:t>&gt; 用户：降噪。  </a:t>
            </a:r>
          </a:p>
          <a:p>
            <a:r>
              <a:t>&gt; 助手：根据店铺当前商品资料，我为您筛选了以下候选，您可以比较价格、降噪功能和佩戴方式。</a:t>
            </a:r>
          </a:p>
          <a:p/>
          <a:p>
            <a:r>
              <a:t>这个过程主要依赖用户偏好和商品数据。</a:t>
            </a:r>
          </a:p>
          <a:p/>
          <a:p>
            <a:r>
              <a:t>三个场景使用同一个对话窗口，背后的处理方式却不同。</a:t>
            </a:r>
          </a:p>
          <a:p/>
          <a:p>
            <a:r>
              <a:t>所以，产品不能只依赖一个笼统的提示词：“你是一名专业电商客服，请回答用户的问题。”</a:t>
            </a:r>
          </a:p>
          <a:p/>
          <a:p>
            <a:r>
              <a:t>我们需要把具体的处理能力组织起来。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区分用户看到的产品和背后的处理流程。</a:t>
            </a:r>
          </a:p>
          <a:p/>
          <a:p>
            <a:r>
              <a:t>用户看到的，首先是一个客服界面：</a:t>
            </a:r>
          </a:p>
          <a:p/>
          <a:p>
            <a:r>
              <a:t>- 可以输入问题。</a:t>
            </a:r>
          </a:p>
          <a:p>
            <a:r>
              <a:t>- 可以选择订单或商品。</a:t>
            </a:r>
          </a:p>
          <a:p>
            <a:r>
              <a:t>- 可以补充信息。</a:t>
            </a:r>
          </a:p>
          <a:p>
            <a:r>
              <a:t>- 可以查看处理结果。</a:t>
            </a:r>
          </a:p>
          <a:p>
            <a:r>
              <a:t>- 必要时可以转人工。</a:t>
            </a:r>
          </a:p>
          <a:p/>
          <a:p>
            <a:r>
              <a:t>背后则有几部分协作：</a:t>
            </a:r>
          </a:p>
          <a:p/>
          <a:p>
            <a:r>
              <a:t>| 产品部分 | 具体作用 |</a:t>
            </a:r>
          </a:p>
          <a:p>
            <a:r>
              <a:t>|---|---|</a:t>
            </a:r>
          </a:p>
          <a:p>
            <a:r>
              <a:t>| 对话入口 | 接收文字、选择操作和其他必要输入 |</a:t>
            </a:r>
          </a:p>
          <a:p>
            <a:r>
              <a:t>| 主工作流 | 判断当前请求应该进入哪条处理路径 |</a:t>
            </a:r>
          </a:p>
          <a:p>
            <a:r>
              <a:t>| 子工作流 | 分别完成订单查询、售后处理、商品推荐等任务 |</a:t>
            </a:r>
          </a:p>
          <a:p>
            <a:r>
              <a:t>| 知识与业务系统 | 提供商品、政策、订单和售后信息 |</a:t>
            </a:r>
          </a:p>
          <a:p>
            <a:r>
              <a:t>| 人工服务 | 承接需要进一步处理的情况 |</a:t>
            </a:r>
          </a:p>
          <a:p>
            <a:r>
              <a:t>| 处理记录 | 保存必要的对话、状态和调用结果，便于继续服务与排查问题 |</a:t>
            </a:r>
          </a:p>
          <a:p/>
          <a:p>
            <a:r>
              <a:t>这里的“工作流”，可以先理解为：**系统收到请求以后，按什么步骤调用哪些能力，并根据结果决定下一步。**</a:t>
            </a:r>
          </a:p>
          <a:p/>
          <a:p>
            <a:r>
              <a:t>这一节不要求学员掌握全部节点配置。先看懂整体关系，后面再逐条拆开。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讲解四条主分支和主、子工作流的分工。</a:t>
            </a:r>
          </a:p>
          <a:p/>
          <a:p>
            <a:r>
              <a:t>按照知乎客服项目的主要分支，我们把助手组织为四条路径：</a:t>
            </a:r>
          </a:p>
          <a:p/>
          <a:p>
            <a:r>
              <a:t>```text</a:t>
            </a:r>
          </a:p>
          <a:p>
            <a:r>
              <a:t>用户消息或页面操作</a:t>
            </a:r>
          </a:p>
          <a:p>
            <a:r>
              <a:t>        ↓</a:t>
            </a:r>
          </a:p>
          <a:p>
            <a:r>
              <a:t>读取当前会话与已有任务信息</a:t>
            </a:r>
          </a:p>
          <a:p>
            <a:r>
              <a:t>        ↓</a:t>
            </a:r>
          </a:p>
          <a:p>
            <a:r>
              <a:t>判断用户意图与处理路径</a:t>
            </a:r>
          </a:p>
          <a:p>
            <a:r>
              <a:t>        ├─ 订单查询</a:t>
            </a:r>
          </a:p>
          <a:p>
            <a:r>
              <a:t>        ├─ 售后咨询与投诉处理</a:t>
            </a:r>
          </a:p>
          <a:p>
            <a:r>
              <a:t>        ├─ 商品咨询与推荐</a:t>
            </a:r>
          </a:p>
          <a:p>
            <a:r>
              <a:t>        └─ 闲聊、模糊请求与范围外问题</a:t>
            </a:r>
          </a:p>
          <a:p>
            <a:r>
              <a:t>        ↓</a:t>
            </a:r>
          </a:p>
          <a:p>
            <a:r>
              <a:t>返回回答、选择项或处理状态</a:t>
            </a:r>
          </a:p>
          <a:p>
            <a:r>
              <a:t>        ↓</a:t>
            </a:r>
          </a:p>
          <a:p>
            <a:r>
              <a:t>继续当前任务，或结束本次处理</a:t>
            </a:r>
          </a:p>
          <a:p>
            <a:r>
              <a:t>```</a:t>
            </a:r>
          </a:p>
          <a:p/>
          <a:p>
            <a:r>
              <a:t>人工接管不是只能在最后出现。用户明确要求人工，或者某个流程遇到无法处理的情况，都可以进入人工路径。</a:t>
            </a:r>
          </a:p>
          <a:p/>
          <a:p>
            <a:r>
              <a:t>这里先明确主工作流和子工作流的分工。</a:t>
            </a:r>
          </a:p>
          <a:p/>
          <a:p>
            <a:r>
              <a:t>### 主工作流：决定请求交给谁</a:t>
            </a:r>
          </a:p>
          <a:p/>
          <a:p>
            <a:r>
              <a:t>例如：</a:t>
            </a:r>
          </a:p>
          <a:p/>
          <a:p>
            <a:r>
              <a:t>&gt; “上周买的耳机怎么还没到？”</a:t>
            </a:r>
          </a:p>
          <a:p/>
          <a:p>
            <a:r>
              <a:t>主工作流需要判断它属于订单或物流查询，并把用户消息、账号信息和已有上下文传给查询流程。</a:t>
            </a:r>
          </a:p>
          <a:p/>
          <a:p>
            <a:r>
              <a:t>它不必在这个环节完成所有订单查询细节。</a:t>
            </a:r>
          </a:p>
          <a:p/>
          <a:p>
            <a:r>
              <a:t>### 子工作流：把具体任务处理下去</a:t>
            </a:r>
          </a:p>
          <a:p/>
          <a:p>
            <a:r>
              <a:t>订单查询流程再负责：</a:t>
            </a:r>
          </a:p>
          <a:p/>
          <a:p>
            <a:r>
              <a:t>- 信息是否足够。</a:t>
            </a:r>
          </a:p>
          <a:p>
            <a:r>
              <a:t>- 需要查哪笔订单。</a:t>
            </a:r>
          </a:p>
          <a:p>
            <a:r>
              <a:t>- 是否需要用户选择。</a:t>
            </a:r>
          </a:p>
          <a:p>
            <a:r>
              <a:t>- 调用什么查询工具。</a:t>
            </a:r>
          </a:p>
          <a:p>
            <a:r>
              <a:t>- 查不到或调用失败时怎么办。</a:t>
            </a:r>
          </a:p>
          <a:p>
            <a:r>
              <a:t>- 最后返回什么。</a:t>
            </a:r>
          </a:p>
          <a:p/>
          <a:p>
            <a:r>
              <a:t>这样拆分以后，修改订单查询流程，不需要同时重写商品推荐的全部逻辑。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四条分支需要先写清业务定义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“这个耳机能不能换？”到底是什么意思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用两个短句说明当前任务和等待字段的重要性。</a:t>
            </a:r>
          </a:p>
          <a:p/>
          <a:p>
            <a:r>
              <a:t>可以让学员先判断下面三条请求分别应该进入哪里。</a:t>
            </a:r>
          </a:p>
          <a:p/>
          <a:p>
            <a:r>
              <a:t>### 第一条：“耳机太差了，我要退。”</a:t>
            </a:r>
          </a:p>
          <a:p/>
          <a:p>
            <a:r>
              <a:t>容易出现的一种错误是：系统只识别出负面情绪，直接当作投诉处理。</a:t>
            </a:r>
          </a:p>
          <a:p/>
          <a:p>
            <a:r>
              <a:t>但这里已经有明确的退货诉求。</a:t>
            </a:r>
          </a:p>
          <a:p/>
          <a:p>
            <a:r>
              <a:t>更合理的做法，是进入售后路径，保留用户表达不满的信息，再根据具体情况决定是否需要人工介入。</a:t>
            </a:r>
          </a:p>
          <a:p/>
          <a:p>
            <a:r>
              <a:t>**负面情绪和业务意图不是同一件事。**一句话可以同时包含两者。</a:t>
            </a:r>
          </a:p>
          <a:p/>
          <a:p>
            <a:r>
              <a:t>### 第二条：“这个耳机适合跑步吗？”</a:t>
            </a:r>
          </a:p>
          <a:p/>
          <a:p>
            <a:r>
              <a:t>如果前面正在浏览某款商品，这属于商品咨询。</a:t>
            </a:r>
          </a:p>
          <a:p/>
          <a:p>
            <a:r>
              <a:t>系统应该结合当前商品资料回答，而不是因为出现“耳机”就进入订单查询，也不必马上推荐一堆新商品。</a:t>
            </a:r>
          </a:p>
          <a:p/>
          <a:p>
            <a:r>
              <a:t>如果上下文中没有对应商品，就需要先确认“这个”指哪一款。</a:t>
            </a:r>
          </a:p>
          <a:p/>
          <a:p>
            <a:r>
              <a:t>### 第三条：“第二个。”</a:t>
            </a:r>
          </a:p>
          <a:p/>
          <a:p>
            <a:r>
              <a:t>这句话单独看，无法判断是什么需求。</a:t>
            </a:r>
          </a:p>
          <a:p/>
          <a:p>
            <a:r>
              <a:t>但如果上一轮助手展示了两笔订单，它就是一次订单选择。</a:t>
            </a:r>
          </a:p>
          <a:p/>
          <a:p>
            <a:r>
              <a:t>此时应该继续订单查询或售后任务，而不是把“第二个”重新当成一个全新的问题进行分类。</a:t>
            </a:r>
          </a:p>
          <a:p/>
          <a:p>
            <a:r>
              <a:t>这也引出了主工作流中一个容易忽略的地方：**每条新消息到达后，都需要先知道当前正在做什么。**</a:t>
            </a:r>
          </a:p>
          <a:p/>
          <a:p>
            <a:r>
              <a:t>假设正在处理耳机换货：</a:t>
            </a:r>
          </a:p>
          <a:p/>
          <a:p>
            <a:r>
              <a:t>&gt; 助手：请问是两边都没有声音，还是只有一边？  </a:t>
            </a:r>
          </a:p>
          <a:p>
            <a:r>
              <a:t>&gt; 用户：右边。</a:t>
            </a:r>
          </a:p>
          <a:p/>
          <a:p>
            <a:r>
              <a:t>这时，系统应该把“右边”记录为故障信息，并继续当前流程。</a:t>
            </a:r>
          </a:p>
          <a:p/>
          <a:p>
            <a:r>
              <a:t>如果每轮都只拿最新一句话分类，模型看到“右边”，很可能不知道用户在说什么。</a:t>
            </a:r>
          </a:p>
          <a:p/>
          <a:p>
            <a:r>
              <a:t>因此，进入主工作流的，不应只有当前消息，还需要必要的任务信息。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"aftersales",</a:t>
            </a:r>
          </a:p>
          <a:p>
            <a:r>
              <a:t>  "order_id": "DEMO-102",</a:t>
            </a:r>
          </a:p>
          <a:p>
            <a:r>
              <a:t>  "requested_action": "exchange",</a:t>
            </a:r>
          </a:p>
          <a:p>
            <a:r>
              <a:t>  "issue_description": null,</a:t>
            </a:r>
          </a:p>
          <a:p>
            <a:r>
              <a:t>  "waiting_for": "fault_details"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这里的含义是：</a:t>
            </a:r>
          </a:p>
          <a:p/>
          <a:p>
            <a:r>
              <a:t>- 当前正在处理售后。</a:t>
            </a:r>
          </a:p>
          <a:p>
            <a:r>
              <a:t>- 已经确认订单。</a:t>
            </a:r>
          </a:p>
          <a:p>
            <a:r>
              <a:t>- 用户希望换货。</a:t>
            </a:r>
          </a:p>
          <a:p>
            <a:r>
              <a:t>- 故障描述尚未补齐。</a:t>
            </a:r>
          </a:p>
          <a:p>
            <a:r>
              <a:t>- 系统正在等待用户说明故障。</a:t>
            </a:r>
          </a:p>
          <a:p/>
          <a:p>
            <a:r>
              <a:t>收到“右边没有声音”后，就可以更新故障描述。</a:t>
            </a:r>
          </a:p>
          <a:p/>
          <a:p>
            <a:r>
              <a:t>但如果用户说：</a:t>
            </a:r>
          </a:p>
          <a:p/>
          <a:p>
            <a:r>
              <a:t>&gt; “先不换了，帮我看看物流。”</a:t>
            </a:r>
          </a:p>
          <a:p/>
          <a:p>
            <a:r>
              <a:t>系统还需要判断：用户是在切换任务，还是在查询换货后寄出的商品？</a:t>
            </a:r>
          </a:p>
          <a:p/>
          <a:p>
            <a:r>
              <a:t>信息不清楚时，应当澄清，不能随意覆盖原来的任务。</a:t>
            </a:r>
          </a:p>
          <a:p/>
          <a:p>
            <a:r>
              <a:t>这一节先建立这个概念。下一节和售后流程中，我们再具体看哪些信息需要保存、怎样更新。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四条业务分支与三种处理方式</a:t>
            </a:r>
          </a:p>
          <a:p/>
          <a:p>
            <a:r>
              <a:t>上一节我们说，客服会回答问题、查询信息，也会推动业务处理。</a:t>
            </a:r>
          </a:p>
          <a:p/>
          <a:p>
            <a:r>
              <a:t>这里为什么又分成订单、售后、商品和其他四条路径？</a:t>
            </a:r>
          </a:p>
          <a:p/>
          <a:p>
            <a:r>
              <a:t>因为它们是两个不同的观察角度。</a:t>
            </a:r>
          </a:p>
          <a:p/>
          <a:p>
            <a:r>
              <a:t>**四条分支，是按照业务需求组织产品。**</a:t>
            </a:r>
          </a:p>
          <a:p/>
          <a:p>
            <a:r>
              <a:t>而知识问答、业务查询、业务办理，是这些分支里面可能使用的处理方式。</a:t>
            </a:r>
          </a:p>
          <a:p/>
          <a:p>
            <a:r>
              <a:t>例如，售后分支就可能包含：</a:t>
            </a:r>
          </a:p>
          <a:p/>
          <a:p>
            <a:r>
              <a:t>| 用户正在做什么 | 需要的处理方式 |</a:t>
            </a:r>
          </a:p>
          <a:p>
            <a:r>
              <a:t>|---|---|</a:t>
            </a:r>
          </a:p>
          <a:p>
            <a:r>
              <a:t>| 询问换货政策 | 知识问答 |</a:t>
            </a:r>
          </a:p>
          <a:p>
            <a:r>
              <a:t>| 确认订单与已有申请 | 业务查询 |</a:t>
            </a:r>
          </a:p>
          <a:p>
            <a:r>
              <a:t>| 补充材料、确认并提交申请 | 业务办理 |</a:t>
            </a:r>
          </a:p>
          <a:p/>
          <a:p>
            <a:r>
              <a:t>所以，不是把所有知识问题都放在一个地方、所有接口操作都放在另一个地方，就完成了产品设计。</a:t>
            </a:r>
          </a:p>
          <a:p/>
          <a:p>
            <a:r>
              <a:t>**同一个用户任务，往往需要多种能力连续配合。**</a:t>
            </a:r>
          </a:p>
          <a:p/>
          <a:p>
            <a:r>
              <a:t>后面我们会沿着具体任务，决定在哪一步查知识、在哪一步查系统、在哪一步等待用户确认。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流程之间不能只传一句话</a:t>
            </a:r>
          </a:p>
          <a:p/>
          <a:p>
            <a:r>
              <a:t>主工作流把请求交给子工作流时，不能只传一句“处理售后”。</a:t>
            </a:r>
          </a:p>
          <a:p/>
          <a:p>
            <a:r>
              <a:t>至少要让接收方知道：</a:t>
            </a:r>
          </a:p>
          <a:p/>
          <a:p>
            <a:r>
              <a:t>- 用户当前说了什么。</a:t>
            </a:r>
          </a:p>
          <a:p>
            <a:r>
              <a:t>- 当前用户身份或可使用的身份标识。</a:t>
            </a:r>
          </a:p>
          <a:p>
            <a:r>
              <a:t>- 已经确认的订单、商品等信息。</a:t>
            </a:r>
          </a:p>
          <a:p>
            <a:r>
              <a:t>- 前面已经收集的必要内容。</a:t>
            </a:r>
          </a:p>
          <a:p>
            <a:r>
              <a:t>- 当前正在等待什么输入。</a:t>
            </a:r>
          </a:p>
          <a:p/>
          <a:p>
            <a:r>
              <a:t>子工作流完成后，也不应该只返回一段回复文字。</a:t>
            </a:r>
          </a:p>
          <a:p/>
          <a:p>
            <a:r>
              <a:t>它还需要告诉主流程，目前是什么状态。例如：</a:t>
            </a:r>
          </a:p>
          <a:p/>
          <a:p>
            <a:r>
              <a:t>| 返回状态 | 意味着什么 |</a:t>
            </a:r>
          </a:p>
          <a:p>
            <a:r>
              <a:t>|---|---|</a:t>
            </a:r>
          </a:p>
          <a:p>
            <a:r>
              <a:t>| 等待用户补充 | 任务还没完成，需要继续当前流程 |</a:t>
            </a:r>
          </a:p>
          <a:p>
            <a:r>
              <a:t>| 已完成查询 | 已获取并返回结果，可以继续提问或结束 |</a:t>
            </a:r>
          </a:p>
          <a:p>
            <a:r>
              <a:t>| 需要人工处理 | 自动流程暂停，准备交接 |</a:t>
            </a:r>
          </a:p>
          <a:p>
            <a:r>
              <a:t>| 执行失败 | 没有完成操作，需要明确的后续处理 |</a:t>
            </a:r>
          </a:p>
          <a:p/>
          <a:p>
            <a:r>
              <a:t>这会影响下一轮对话。</a:t>
            </a:r>
          </a:p>
          <a:p/>
          <a:p>
            <a:r>
              <a:t>尤其要避免一种情况：接口调用失败了，但模型仍然生成一句“已经帮您处理好了”。</a:t>
            </a:r>
          </a:p>
          <a:p/>
          <a:p>
            <a:r>
              <a:t>**回复内容和实际处理状态必须一致。**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意图已经识别出来，系统怎样找到用户真正问的那笔订单？</a:t>
            </a:r>
          </a:p>
          <a:p/>
          <a:p>
            <a:r>
              <a:t>上一节，我们已经把用户的请求分到了不同路径。</a:t>
            </a:r>
          </a:p>
          <a:p/>
          <a:p>
            <a:r>
              <a:t>现在进入第一条具体流程：**订单查询**。</a:t>
            </a:r>
          </a:p>
          <a:p/>
          <a:p>
            <a:r>
              <a:t>我们继续使用这句话：</a:t>
            </a:r>
          </a:p>
          <a:p/>
          <a:p>
            <a:r>
              <a:t>&gt; 用户：上周买的耳机怎么还没到？</a:t>
            </a:r>
          </a:p>
          <a:p/>
          <a:p>
            <a:r>
              <a:t>主工作流已经判断，这是一个订单或物流查询请求。但判断完意图，不等于已经知道答案。</a:t>
            </a:r>
          </a:p>
          <a:p/>
          <a:p>
            <a:r>
              <a:t>接下来要解决的是：找到用户说的那笔订单，获取对应的物流信息，再把结果清楚地告诉用户。</a:t>
            </a:r>
          </a:p>
          <a:p/>
          <a:p>
            <a:r>
              <a:t>## 一、先准备这个流程需要的数据</a:t>
            </a:r>
          </a:p>
          <a:p/>
          <a:p>
            <a:r>
              <a:t>假设用户已经登录商城，系统可以从登录状态中获取用户身份。</a:t>
            </a:r>
          </a:p>
          <a:p/>
          <a:p>
            <a:r>
              <a:t>这里的用户身份由系统提供，不能让模型根据用户说的话随意填写。</a:t>
            </a:r>
          </a:p>
          <a:p/>
          <a:p>
            <a:r>
              <a:t>我们准备三笔模拟订单：</a:t>
            </a:r>
          </a:p>
          <a:p/>
          <a:p>
            <a:r>
              <a:t>| 订单编号 | 商品 | 下单时间 | 订单状态 | 物流信息 |</a:t>
            </a:r>
          </a:p>
          <a:p>
            <a:r>
              <a:t>|---|---|---|---|---|</a:t>
            </a:r>
          </a:p>
          <a:p>
            <a:r>
              <a:t>| DEMO-101 | AirLite 蓝牙耳机，白色 | 9 月 1 日 | 已签收 | 9 月 4 日签收 |</a:t>
            </a:r>
          </a:p>
          <a:p>
            <a:r>
              <a:t>| DEMO-102 | AirLite Pro 降噪耳机，黑色 | 9 月 3 日 | 已发货 | 9 月 8 日到达目的地分拨中心 |</a:t>
            </a:r>
          </a:p>
          <a:p>
            <a:r>
              <a:t>| DEMO-103 | K68 无线键盘，灰色 | 9 月 5 日 | 待发货 | 暂无物流记录 |</a:t>
            </a:r>
          </a:p>
          <a:p/>
          <a:p>
            <a:r>
              <a:t>为了避免“上周”随着授课日期变化，**这组演示固定以 9 月 9 日为查询日，订单表也按这个时间背景准备。**</a:t>
            </a:r>
          </a:p>
          <a:p/>
          <a:p>
            <a:r>
              <a:t>用户说“上周买的耳机”，在这份数据里，可能对应两笔订单。</a:t>
            </a:r>
          </a:p>
          <a:p/>
          <a:p>
            <a:r>
              <a:t>系统不能因为第二笔还没签收，就直接认定用户问的是第二笔。第一笔虽然显示已签收，用户也可能没有实际收到。</a:t>
            </a:r>
          </a:p>
          <a:p/>
          <a:p>
            <a:r>
              <a:t>所以，第一步不是让模型生成物流回复，而是**确认查询对象**。</a:t>
            </a:r>
          </a:p>
          <a:p/>
          <a:p>
            <a:r>
              <a:t>## 二、没有订单号，应该怎样查询</a:t>
            </a:r>
          </a:p>
          <a:p/>
          <a:p>
            <a:r>
              <a:t>先给学员一个选择：</a:t>
            </a:r>
          </a:p>
          <a:p/>
          <a:p>
            <a:r>
              <a:t>&gt; 用户没有提供订单号，我们下一步应该怎样做？</a:t>
            </a:r>
          </a:p>
          <a:p/>
          <a:p>
            <a:r>
              <a:t>**A.** 要求用户先找到订单号，再继续查询。  </a:t>
            </a:r>
          </a:p>
          <a:p>
            <a:r>
              <a:t>**B.** 根据当前账号查询近期相关订单，让用户确认。  </a:t>
            </a:r>
          </a:p>
          <a:p>
            <a:r>
              <a:t>**C.** 直接选择最近一笔耳机订单，返回物流。</a:t>
            </a:r>
          </a:p>
          <a:p/>
          <a:p>
            <a:r>
              <a:t>在当前场景下，我们选择 **B**。</a:t>
            </a:r>
          </a:p>
          <a:p/>
          <a:p>
            <a:r>
              <a:t>因为用户已经登录，系统有条件查询这个账号的订单。可以先利用已有数据，减少用户查找和复制订单号的操作。</a:t>
            </a:r>
          </a:p>
          <a:p/>
          <a:p>
            <a:r>
              <a:t>A 不是永远不对。如果当前渠道无法关联账号，或者查询不到对应订单，就可能需要用户补充信息。</a:t>
            </a:r>
          </a:p>
          <a:p/>
          <a:p>
            <a:r>
              <a:t>C 的问题是，系统擅自替用户确定了订单。后面的接口即使全部调用成功，也可能回答了另一笔订单的物流。</a:t>
            </a:r>
          </a:p>
          <a:p/>
          <a:p>
            <a:r>
              <a:t>这里需要把两件事分开：</a:t>
            </a:r>
          </a:p>
          <a:p/>
          <a:p>
            <a:r>
              <a:t>- **筛选候选订单**：系统根据时间、商品等线索缩小范围。</a:t>
            </a:r>
          </a:p>
          <a:p>
            <a:r>
              <a:t>- **确认目标订单**：信息有歧义时，由用户确认。</a:t>
            </a:r>
          </a:p>
          <a:p/>
          <a:p>
            <a:r>
              <a:t>## 三、展开订单查询子工作流</a:t>
            </a:r>
          </a:p>
          <a:p/>
          <a:p>
            <a:r>
              <a:t>这条流程可以先画成：</a:t>
            </a:r>
          </a:p>
          <a:p/>
          <a:p>
            <a:r>
              <a:t>```text</a:t>
            </a:r>
          </a:p>
          <a:p>
            <a:r>
              <a:t>进入订单查询流程</a:t>
            </a:r>
          </a:p>
          <a:p>
            <a:r>
              <a:t>        ↓</a:t>
            </a:r>
          </a:p>
          <a:p>
            <a:r>
              <a:t>检查用户身份和已有订单信息</a:t>
            </a:r>
          </a:p>
          <a:p>
            <a:r>
              <a:t>        ↓</a:t>
            </a:r>
          </a:p>
          <a:p>
            <a:r>
              <a:t>是否已经明确目标订单？</a:t>
            </a:r>
          </a:p>
          <a:p>
            <a:r>
              <a:t>   ├─ 是 → 校验该订单是否属于当前用户</a:t>
            </a:r>
          </a:p>
          <a:p>
            <a:r>
              <a:t>   └─ 否 → 查询当前用户的候选订单</a:t>
            </a:r>
          </a:p>
          <a:p>
            <a:r>
              <a:t>                 ↓</a:t>
            </a:r>
          </a:p>
          <a:p>
            <a:r>
              <a:t>            判断候选结果</a:t>
            </a:r>
          </a:p>
          <a:p>
            <a:r>
              <a:t>            ├─ 0 笔：引导补充信息</a:t>
            </a:r>
          </a:p>
          <a:p>
            <a:r>
              <a:t>            ├─ 1 笔：展示商品，必要时确认</a:t>
            </a:r>
          </a:p>
          <a:p>
            <a:r>
              <a:t>            └─ 多笔：让用户选择</a:t>
            </a:r>
          </a:p>
          <a:p>
            <a:r>
              <a:t>                 ↓</a:t>
            </a:r>
          </a:p>
          <a:p>
            <a:r>
              <a:t>            确认目标订单</a:t>
            </a:r>
          </a:p>
          <a:p>
            <a:r>
              <a:t>                 ↓</a:t>
            </a:r>
          </a:p>
          <a:p>
            <a:r>
              <a:t>          查询订单详情及物流</a:t>
            </a:r>
          </a:p>
          <a:p>
            <a:r>
              <a:t>                 ↓</a:t>
            </a:r>
          </a:p>
          <a:p>
            <a:r>
              <a:t>           检查返回结果</a:t>
            </a:r>
          </a:p>
          <a:p>
            <a:r>
              <a:t>                 ↓</a:t>
            </a:r>
          </a:p>
          <a:p>
            <a:r>
              <a:t>      展示物流信息与后续操作</a:t>
            </a:r>
          </a:p>
          <a:p>
            <a:r>
              <a:t>```</a:t>
            </a:r>
          </a:p>
          <a:p/>
          <a:p>
            <a:r>
              <a:t>不要急着记住所有节点。我们沿着实际对话，把每一步拆开。</a:t>
            </a:r>
          </a:p>
          <a:p/>
          <a:p>
            <a:r>
              <a:t>### 1. 检查已有信息</a:t>
            </a:r>
          </a:p>
          <a:p/>
          <a:p>
            <a:r>
              <a:t>进入这个流程时，系统可能已经知道：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"user_message": "上周买的耳机怎么还没到？",</a:t>
            </a:r>
          </a:p>
          <a:p>
            <a:r>
              <a:t>  "order_id": null,</a:t>
            </a:r>
          </a:p>
          <a:p>
            <a:r>
              <a:t>  "product_keyword": "耳机",</a:t>
            </a:r>
          </a:p>
          <a:p>
            <a:r>
              <a:t>  "time_expression": "上周"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其中：</a:t>
            </a:r>
          </a:p>
          <a:p/>
          <a:p>
            <a:r>
              <a:t>- `order_id` 为空，表示还没有确认订单。</a:t>
            </a:r>
          </a:p>
          <a:p>
            <a:r>
              <a:t>- “耳机”和“上周”是查询线索，不是最终订单标识。</a:t>
            </a:r>
          </a:p>
          <a:p>
            <a:r>
              <a:t>- 当前用户身份由登录系统传入，不由这段自然语言决定。</a:t>
            </a:r>
          </a:p>
          <a:p/>
          <a:p>
            <a:r>
              <a:t>如果前面已经确认过订单，就应优先复用，而不是再次让用户选择。</a:t>
            </a:r>
          </a:p>
          <a:p/>
          <a:p>
            <a:r>
              <a:t>### 2. 查询候选订单</a:t>
            </a:r>
          </a:p>
          <a:p/>
          <a:p>
            <a:r>
              <a:t>教学查询工具可以设计为：</a:t>
            </a:r>
          </a:p>
          <a:p/>
          <a:p>
            <a:r>
              <a:t>```text</a:t>
            </a:r>
          </a:p>
          <a:p>
            <a:r>
              <a:t>工具：查询当前用户的订单</a:t>
            </a:r>
          </a:p>
          <a:p/>
          <a:p>
            <a:r>
              <a:t>输入：</a:t>
            </a:r>
          </a:p>
          <a:p>
            <a:r>
              <a:t>- 商品关键词</a:t>
            </a:r>
          </a:p>
          <a:p>
            <a:r>
              <a:t>- 查询时间范围</a:t>
            </a:r>
          </a:p>
          <a:p/>
          <a:p>
            <a:r>
              <a:t>身份：</a:t>
            </a:r>
          </a:p>
          <a:p>
            <a:r>
              <a:t>- 由服务端登录状态确定</a:t>
            </a:r>
          </a:p>
          <a:p/>
          <a:p>
            <a:r>
              <a:t>输出：</a:t>
            </a:r>
          </a:p>
          <a:p>
            <a:r>
              <a:t>- 候选订单列表</a:t>
            </a:r>
          </a:p>
          <a:p>
            <a:r>
              <a:t>- 每笔订单的编号、商品、规格、下单时间和状态</a:t>
            </a:r>
          </a:p>
          <a:p>
            <a:r>
              <a:t>```</a:t>
            </a:r>
          </a:p>
          <a:p/>
          <a:p>
            <a:r>
              <a:t>模型可以帮助理解“耳机”“上周”这些查询条件。</a:t>
            </a:r>
          </a:p>
          <a:p/>
          <a:p>
            <a:r>
              <a:t>但真正的订单筛选与访问权限检查，需要由系统完成。**不能仅凭一个订单号，就允许查询其他人的订单。**</a:t>
            </a:r>
          </a:p>
          <a:p/>
          <a:p>
            <a:r>
              <a:t>这里也不需要把整个订单数据库都发给模型，再让模型自己找。</a:t>
            </a:r>
          </a:p>
          <a:p/>
          <a:p>
            <a:r>
              <a:t>更合理的是：查询工具先返回当前用户有权查看的相关记录。</a:t>
            </a:r>
          </a:p>
          <a:p/>
          <a:p>
            <a:r>
              <a:t>### 3. 根据结果决定下一步</a:t>
            </a:r>
          </a:p>
          <a:p/>
          <a:p>
            <a:r>
              <a:t>这次查询返回了两笔耳机订单。</a:t>
            </a:r>
          </a:p>
          <a:p/>
          <a:p>
            <a:r>
              <a:t>系统应该展示足够的信息，帮助用户区分：</a:t>
            </a:r>
          </a:p>
          <a:p/>
          <a:p>
            <a:r>
              <a:t>&gt; 查询到您近期有两笔耳机订单，请选择需要查询的一笔：  </a:t>
            </a:r>
          </a:p>
          <a:p>
            <a:r>
              <a:t>&gt; ① AirLite 蓝牙耳机｜白色｜9 月 1 日下单  </a:t>
            </a:r>
          </a:p>
          <a:p>
            <a:r>
              <a:t>&gt; ② AirLite Pro 降噪耳机｜黑色｜9 月 3 日下单</a:t>
            </a:r>
          </a:p>
          <a:p/>
          <a:p>
            <a:r>
              <a:t>产品上可以做成可点击的订单卡片，而不只是两行文字。</a:t>
            </a:r>
          </a:p>
          <a:p/>
          <a:p>
            <a:r>
              <a:t>卡片至少要让用户看清商品、规格和时间，必要时展示缩略图及部分订单编号。</a:t>
            </a:r>
          </a:p>
          <a:p/>
          <a:p>
            <a:r>
              <a:t>## 四、用户说“第二个”，系统怎样接住</a:t>
            </a:r>
          </a:p>
          <a:p/>
          <a:p>
            <a:r>
              <a:t>用户接着回复：</a:t>
            </a:r>
          </a:p>
          <a:p/>
          <a:p>
            <a:r>
              <a:t>&gt; 第二个。</a:t>
            </a:r>
          </a:p>
          <a:p/>
          <a:p>
            <a:r>
              <a:t>这一句不能脱离前文单独处理。</a:t>
            </a:r>
          </a:p>
          <a:p/>
          <a:p>
            <a:r>
              <a:t>系统需要记住：刚才展示了哪些候选订单，以及它们在页面上的对应关系。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"order_selection",</a:t>
            </a:r>
          </a:p>
          <a:p>
            <a:r>
              <a:t>  "candidate_order_ids": [</a:t>
            </a:r>
          </a:p>
          <a:p>
            <a:r>
              <a:t>    "DEMO-101",</a:t>
            </a:r>
          </a:p>
          <a:p>
            <a:r>
              <a:t>    "DEMO-102"</a:t>
            </a:r>
          </a:p>
          <a:p>
            <a:r>
              <a:t>  ],</a:t>
            </a:r>
          </a:p>
          <a:p>
            <a:r>
              <a:t>  "selected_order_id":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如果用户点击第二张卡片，前端可以直接提交对应的订单 ID。</a:t>
            </a:r>
          </a:p>
          <a:p/>
          <a:p>
            <a:r>
              <a:t>如果用户输入“第二个”，系统则需要结合刚才展示的列表，将其对应到 `DEMO-102`。</a:t>
            </a:r>
          </a:p>
          <a:p/>
          <a:p>
            <a:r>
              <a:t>确认后更新：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null,</a:t>
            </a:r>
          </a:p>
          <a:p>
            <a:r>
              <a:t>  "selected_order_id": "DEMO-102"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这里有一个很实际的产品细节：</a:t>
            </a:r>
          </a:p>
          <a:p/>
          <a:p>
            <a:r>
              <a:t>**如果用户点击就能准确表达选择，就不必要求所有操作都通过自由文本完成。**</a:t>
            </a:r>
          </a:p>
          <a:p/>
          <a:p>
            <a:r>
              <a:t>大模型可以处理“第二个”这样的自然表达；页面上的订单卡片则提供更直接、确定的操作方式。两者可以同时存在。</a:t>
            </a:r>
          </a:p>
          <a:p/>
          <a:p>
            <a:r>
              <a:t>如果候选列表已经变化，或者用户说“之前那个”，无法确定指向，就应该再次确认，不能随意映射。</a:t>
            </a:r>
          </a:p>
          <a:p/>
          <a:p>
            <a:r>
              <a:t>## 五、查询订单详情与物流信息</a:t>
            </a:r>
          </a:p>
          <a:p/>
          <a:p>
            <a:r>
              <a:t>现在已经确定订单 `DEMO-102`，系统可以查询具体信息。</a:t>
            </a:r>
          </a:p>
          <a:p/>
          <a:p>
            <a:r>
              <a:t>这里可以有两个工具，也可以由后端封装成一个查询接口。产品设计首先要明确需要哪些数据，不必先纠结工具数量。</a:t>
            </a:r>
          </a:p>
          <a:p/>
          <a:p>
            <a:r>
              <a:t>教学返回结果可以是：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"DEMO-102",</a:t>
            </a:r>
          </a:p>
          <a:p>
            <a:r>
              <a:t>  "product_name": "AirLite Pro 降噪耳机",</a:t>
            </a:r>
          </a:p>
          <a:p>
            <a:r>
              <a:t>  "order_status": "shipped",</a:t>
            </a:r>
          </a:p>
          <a:p>
            <a:r>
              <a:t>  "latest_logistics_status": "运输中",</a:t>
            </a:r>
          </a:p>
          <a:p>
            <a:r>
              <a:t>  "latest_logistics_event": "快件已到达目的地分拨中心",</a:t>
            </a:r>
          </a:p>
          <a:p>
            <a:r>
              <a:t>  "event_time": "2026-09-08 18:20",</a:t>
            </a:r>
          </a:p>
          <a:p>
            <a:r>
              <a:t>  "estimated_delivery_time":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这份结果说明：</a:t>
            </a:r>
          </a:p>
          <a:p/>
          <a:p>
            <a:r>
              <a:t>- 订单已经发货。</a:t>
            </a:r>
          </a:p>
          <a:p>
            <a:r>
              <a:t>- 最新物流记录是到达目的地分拨中心。</a:t>
            </a:r>
          </a:p>
          <a:p>
            <a:r>
              <a:t>- 这条记录发生在 9 月 8 日。</a:t>
            </a:r>
          </a:p>
          <a:p>
            <a:r>
              <a:t>- 系统没有提供预计送达时间。</a:t>
            </a:r>
          </a:p>
          <a:p/>
          <a:p>
            <a:r>
              <a:t>接下来可以组织面向用户的回复：</a:t>
            </a:r>
          </a:p>
          <a:p/>
          <a:p>
            <a:r>
              <a:t>&gt; 您查询的是 9 月 3 日购买的 AirLite Pro 降噪耳机。订单已发货，最新物流记录显示：9 月 8 日 18:20 到达目的地分拨中心。  </a:t>
            </a:r>
          </a:p>
          <a:p>
            <a:r>
              <a:t>&gt; 当前查询结果未提供预计送达时间，您可以查看完整物流记录；如果需要进一步确认，可以联系人工客服。</a:t>
            </a:r>
          </a:p>
          <a:p/>
          <a:p>
            <a:r>
              <a:t>这里不能自行补一句：</a:t>
            </a:r>
          </a:p>
          <a:p/>
          <a:p>
            <a:r>
              <a:t>&gt; “预计明天一定能收到。”</a:t>
            </a:r>
          </a:p>
          <a:p/>
          <a:p>
            <a:r>
              <a:t>因为查询结果没有提供这个信息。</a:t>
            </a:r>
          </a:p>
          <a:p/>
          <a:p>
            <a:r>
              <a:t>用户原话是“怎么还没到”，但物流记录也不一定能解释延迟原因。**没有查到具体原因，就不能把“运输中”编成“由于天气原因延误”。**</a:t>
            </a:r>
          </a:p>
          <a:p/>
          <a:p>
            <a:r>
              <a:t>## 六、哪些内容需要模型，哪些可以直接展示</a:t>
            </a:r>
          </a:p>
          <a:p/>
          <a:p>
            <a:r>
              <a:t>到这里，可以让学员再判断一次：</a:t>
            </a:r>
          </a:p>
          <a:p/>
          <a:p>
            <a:r>
              <a:t>&gt; 拿到订单和物流数据以后，一定要再调用大模型吗？</a:t>
            </a:r>
          </a:p>
          <a:p/>
          <a:p>
            <a:r>
              <a:t>不一定。</a:t>
            </a:r>
          </a:p>
          <a:p/>
          <a:p>
            <a:r>
              <a:t>如果只是展示订单状态、物流时间和轨迹，使用页面卡片或固定模板就可以。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商品：{product_name}</a:t>
            </a:r>
          </a:p>
          <a:p>
            <a:r>
              <a:t>订单状态：{order_status}</a:t>
            </a:r>
          </a:p>
          <a:p>
            <a:r>
              <a:t>最新物流：{latest_logistics_event}</a:t>
            </a:r>
          </a:p>
          <a:p>
            <a:r>
              <a:t>更新时间：{event_time}</a:t>
            </a:r>
          </a:p>
          <a:p>
            <a:r>
              <a:t>```</a:t>
            </a:r>
          </a:p>
          <a:p/>
          <a:p>
            <a:r>
              <a:t>模型更适合承担的是：</a:t>
            </a:r>
          </a:p>
          <a:p/>
          <a:p>
            <a:r>
              <a:t>- 结合用户的问题，选择需要解释的信息。</a:t>
            </a:r>
          </a:p>
          <a:p>
            <a:r>
              <a:t>- 把多个字段组织成容易理解的说明。</a:t>
            </a:r>
          </a:p>
          <a:p>
            <a:r>
              <a:t>- 承接后续问题。</a:t>
            </a:r>
          </a:p>
          <a:p/>
          <a:p>
            <a:r>
              <a:t>但无论采用哪种方式，订单编号、时间、状态等关键事实都必须来自查询结果。</a:t>
            </a:r>
          </a:p>
          <a:p/>
          <a:p>
            <a:r>
              <a:t>如果使用模型生成回复，可以给它明确约束：</a:t>
            </a:r>
          </a:p>
          <a:p/>
          <a:p>
            <a:r>
              <a:t>```text</a:t>
            </a:r>
          </a:p>
          <a:p>
            <a:r>
              <a:t>根据已确认的订单和工具返回结果回答用户。</a:t>
            </a:r>
          </a:p>
          <a:p/>
          <a:p>
            <a:r>
              <a:t>要求：</a:t>
            </a:r>
          </a:p>
          <a:p>
            <a:r>
              <a:t>- 只能使用工具提供的订单与物流事实。</a:t>
            </a:r>
          </a:p>
          <a:p>
            <a:r>
              <a:t>- 没有预计送达时间时，不承诺送达日期。</a:t>
            </a:r>
          </a:p>
          <a:p>
            <a:r>
              <a:t>- 没有延误原因时，不编造原因。</a:t>
            </a:r>
          </a:p>
          <a:p>
            <a:r>
              <a:t>- 工具失败或结果为空时，不生成正常查询成功的回复。</a:t>
            </a:r>
          </a:p>
          <a:p>
            <a:r>
              <a:t>- 不展示与当前用户请求无关的个人信息。</a:t>
            </a:r>
          </a:p>
          <a:p>
            <a:r>
              <a:t>```</a:t>
            </a:r>
          </a:p>
          <a:p/>
          <a:p>
            <a:r>
              <a:t>这段提示词负责约束表达，**不能代替身份校验、权限控制和接口错误处理**。</a:t>
            </a:r>
          </a:p>
          <a:p/>
          <a:p>
            <a:r>
              <a:t>## 七、三种容易被混淆的查询结果</a:t>
            </a:r>
          </a:p>
          <a:p/>
          <a:p>
            <a:r>
              <a:t>下面三种情况，都可能导致用户暂时看不到物流，但产品处理不能一样。</a:t>
            </a:r>
          </a:p>
          <a:p/>
          <a:p>
            <a:r>
              <a:t>| 情况 | 实际含义 | 应怎样处理 |</a:t>
            </a:r>
          </a:p>
          <a:p>
            <a:r>
              <a:t>|---|---|---|</a:t>
            </a:r>
          </a:p>
          <a:p>
            <a:r>
              <a:t>| 没有找到订单 | 查询成功，但没有匹配记录 | 引导调整时间、确认账号或补充订单信息 |</a:t>
            </a:r>
          </a:p>
          <a:p>
            <a:r>
              <a:t>| 订单尚未发货 | 已找到订单，当前没有物流轨迹 | 如实展示待发货状态，按可用信息提供后续入口 |</a:t>
            </a:r>
          </a:p>
          <a:p>
            <a:r>
              <a:t>| 查询工具失败 | 系统没有成功获取数据 | 告知暂时无法查询，提供重试或人工处理 |</a:t>
            </a:r>
          </a:p>
          <a:p/>
          <a:p>
            <a:r>
              <a:t>### 情况一：没有找到订单</a:t>
            </a:r>
          </a:p>
          <a:p/>
          <a:p>
            <a:r>
              <a:t>可以回复：</a:t>
            </a:r>
          </a:p>
          <a:p/>
          <a:p>
            <a:r>
              <a:t>&gt; 当前账号下没有找到符合这些条件的订单。您可以确认购买时间，或者从订单列表中选择需要查询的商品。</a:t>
            </a:r>
          </a:p>
          <a:p/>
          <a:p>
            <a:r>
              <a:t>不能直接说：</a:t>
            </a:r>
          </a:p>
          <a:p/>
          <a:p>
            <a:r>
              <a:t>&gt; “您没有买过这个商品。”</a:t>
            </a:r>
          </a:p>
          <a:p/>
          <a:p>
            <a:r>
              <a:t>因为只是当前查询没有匹配，并不能排除账号、渠道或时间条件有误。</a:t>
            </a:r>
          </a:p>
          <a:p/>
          <a:p>
            <a:r>
              <a:t>### 情况二：订单还没发货</a:t>
            </a:r>
          </a:p>
          <a:p/>
          <a:p>
            <a:r>
              <a:t>可以回复：</a:t>
            </a:r>
          </a:p>
          <a:p/>
          <a:p>
            <a:r>
              <a:t>&gt; 已找到这笔订单，目前状态为待发货，暂时没有物流记录。</a:t>
            </a:r>
          </a:p>
          <a:p/>
          <a:p>
            <a:r>
              <a:t>如果系统没有明确的发货时间，就不能自行承诺“今天一定发”。</a:t>
            </a:r>
          </a:p>
          <a:p/>
          <a:p>
            <a:r>
              <a:t>### 情况三：工具调用失败</a:t>
            </a:r>
          </a:p>
          <a:p/>
          <a:p>
            <a:r>
              <a:t>可以回复：</a:t>
            </a:r>
          </a:p>
          <a:p/>
          <a:p>
            <a:r>
              <a:t>&gt; 当前暂时无法获取订单信息，您可以重试，或转人工继续查询。</a:t>
            </a:r>
          </a:p>
          <a:p/>
          <a:p>
            <a:r>
              <a:t>不能把接口超时解释成“没有这笔订单”，也不能使用模型的常识补一个结果。</a:t>
            </a:r>
          </a:p>
          <a:p/>
          <a:p>
            <a:r>
              <a:t>**“没有数据”和“没有成功获取数据”，是两种不同的产品状态。**</a:t>
            </a:r>
          </a:p>
          <a:p/>
          <a:p>
            <a:r>
              <a:t>## 八、用户继续问，流程怎样衔接</a:t>
            </a:r>
          </a:p>
          <a:p/>
          <a:p>
            <a:r>
              <a:t>查询完成后，用户可能继续说：</a:t>
            </a:r>
          </a:p>
          <a:p/>
          <a:p>
            <a:r>
              <a:t>&gt; “那如果到了以后有问题，可以换吗？”</a:t>
            </a:r>
          </a:p>
          <a:p/>
          <a:p>
            <a:r>
              <a:t>这已经从物流查询转向售后咨询。</a:t>
            </a:r>
          </a:p>
          <a:p/>
          <a:p>
            <a:r>
              <a:t>系统应当保留已经确认的订单和商品，不必再次询问“您买的是哪一款耳机”。</a:t>
            </a:r>
          </a:p>
          <a:p/>
          <a:p>
            <a:r>
              <a:t>但它需要切换处理路径，查询对应的售后资料。</a:t>
            </a:r>
          </a:p>
          <a:p/>
          <a:p>
            <a:r>
              <a:t>也就是说，一次查询结束后，除了回复文字，还应该保留必要的结果：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"task_status": "completed",</a:t>
            </a:r>
          </a:p>
          <a:p>
            <a:r>
              <a:t>  "selected_order_id": "DEMO-102",</a:t>
            </a:r>
          </a:p>
          <a:p>
            <a:r>
              <a:t>  "product_name": "AirLite Pro 降噪耳机",</a:t>
            </a:r>
          </a:p>
          <a:p>
            <a:r>
              <a:t>  "next_action": "await_user_message"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用户下一句话如果继续查询这笔订单，可以复用信息；如果进入售后流程，也可以传递已经确认的订单。</a:t>
            </a:r>
          </a:p>
          <a:p/>
          <a:p>
            <a:r>
              <a:t>如果用户明确开始查询另一笔订单，再重新定位，不能一直套用旧订单。</a:t>
            </a:r>
          </a:p>
          <a:p/>
          <a:p>
            <a:r>
              <a:t>## 九、用测试检查这条流程</a:t>
            </a:r>
          </a:p>
          <a:p/>
          <a:p>
            <a:r>
              <a:t>到这里，我们不要只看一段顺利对话就认为流程完成了。</a:t>
            </a:r>
          </a:p>
          <a:p/>
          <a:p>
            <a:r>
              <a:t>至少准备下面这些测试：</a:t>
            </a:r>
          </a:p>
          <a:p/>
          <a:p>
            <a:r>
              <a:t>| 测试输入或条件 | 预期行为 |</a:t>
            </a:r>
          </a:p>
          <a:p>
            <a:r>
              <a:t>|---|---|</a:t>
            </a:r>
          </a:p>
          <a:p>
            <a:r>
              <a:t>| 用户提供本人有效订单号 | 校验归属后查询 |</a:t>
            </a:r>
          </a:p>
          <a:p>
            <a:r>
              <a:t>| 用户没给订单号，但有商品和时间线索 | 查询候选订单 |</a:t>
            </a:r>
          </a:p>
          <a:p>
            <a:r>
              <a:t>| 查到两笔相似订单 | 让用户选择，不擅自确定 |</a:t>
            </a:r>
          </a:p>
          <a:p>
            <a:r>
              <a:t>| 用户回复“第二个” | 根据当前候选列表确认订单 |</a:t>
            </a:r>
          </a:p>
          <a:p>
            <a:r>
              <a:t>| 没有匹配订单 | 引导补充或调整条件 |</a:t>
            </a:r>
          </a:p>
          <a:p>
            <a:r>
              <a:t>| 订单尚未发货 | 展示待发货，不编造物流 |</a:t>
            </a:r>
          </a:p>
          <a:p>
            <a:r>
              <a:t>| 查询接口超时 | 返回失败状态，提供后续路径 |</a:t>
            </a:r>
          </a:p>
          <a:p>
            <a:r>
              <a:t>| 用户提供不属于自己的订单号 | 不泄露该订单信息 |</a:t>
            </a:r>
          </a:p>
          <a:p>
            <a:r>
              <a:t>| 工具没有预计送达时间 | 不承诺具体到货时间 |</a:t>
            </a:r>
          </a:p>
          <a:p/>
          <a:p>
            <a:r>
              <a:t>课堂可以重点运行三条：**正常查询、多订单选择、接口失败**。其余放进完整测试表。</a:t>
            </a:r>
          </a:p>
          <a:p/>
          <a:p>
            <a:r>
              <a:t>如果“第二个”选错了订单，就回到候选列表和状态保存环节检查；如果查询失败后仍说“已发货”，就检查错误分支和回复生成条件。</a:t>
            </a:r>
          </a:p>
          <a:p/>
          <a:p>
            <a:r>
              <a:t>每个错误都要对应具体步骤，而不是一律归结为“模型不够好”。</a:t>
            </a:r>
          </a:p>
          <a:p/>
          <a:p>
            <a:r>
              <a:t>## 十、本节完成了什么</a:t>
            </a:r>
          </a:p>
          <a:p/>
          <a:p>
            <a:r>
              <a:t>我们现在已经把一个订单查询请求拆成了完整过程：</a:t>
            </a:r>
          </a:p>
          <a:p/>
          <a:p>
            <a:r>
              <a:t>**理解查询线索 → 找到候选订单 → 确认目标 → 查询业务数据 → 检查结果 → 展示回答 → 保留必要上下文。**</a:t>
            </a:r>
          </a:p>
          <a:p/>
          <a:p>
            <a:r>
              <a:t>这里同时用到了自然语言理解、业务接口、确定性判断和页面选择，但用户感受到的应该只是：查询过程清楚，信息准确，不需要重复解释。</a:t>
            </a:r>
          </a:p>
          <a:p/>
          <a:p>
            <a:r>
              <a:t>下一节，我们进入更复杂的售后流程。</a:t>
            </a:r>
          </a:p>
          <a:p/>
          <a:p>
            <a:r>
              <a:t>用户不再只是问：</a:t>
            </a:r>
          </a:p>
          <a:p/>
          <a:p>
            <a:r>
              <a:t>&gt; “耳机到哪了？”</a:t>
            </a:r>
          </a:p>
          <a:p/>
          <a:p>
            <a:r>
              <a:t>而是说：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这时，订单查到只是第一步。系统还需要了解故障、查询政策、补齐信息，并把售后处理继续推进下去。</a:t>
            </a:r>
          </a:p>
          <a:p/>
          <a:p>
            <a:r>
              <a:t>---</a:t>
            </a:r>
          </a:p>
          <a:p/>
          <a:p>
            <a:r>
              <a:t>**素材说明：**订单查询子工作流的组织方式参考知乎第 7 课客服项目；多轮状态管理参考亚慧讲义第 4.22 节，查询问题排查参考第 8.8 节。订单数据、接口约定、提示词及测试样例为本课程教学设计，尚未运行验证。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先准备三笔可验证的模拟订单</a:t>
            </a:r>
          </a:p>
          <a:p/>
          <a:p>
            <a:r>
              <a:t>假设用户已经登录商城，系统可以从登录状态中获取用户身份。</a:t>
            </a:r>
          </a:p>
          <a:p/>
          <a:p>
            <a:r>
              <a:t>这里的用户身份由系统提供，不能让模型根据用户说的话随意填写。</a:t>
            </a:r>
          </a:p>
          <a:p/>
          <a:p>
            <a:r>
              <a:t>我们准备三笔模拟订单：</a:t>
            </a:r>
          </a:p>
          <a:p/>
          <a:p>
            <a:r>
              <a:t>| 订单编号 | 商品 | 下单时间 | 订单状态 | 物流信息 |</a:t>
            </a:r>
          </a:p>
          <a:p>
            <a:r>
              <a:t>|---|---|---|---|---|</a:t>
            </a:r>
          </a:p>
          <a:p>
            <a:r>
              <a:t>| DEMO-101 | AirLite 蓝牙耳机，白色 | 9 月 1 日 | 已签收 | 9 月 4 日签收 |</a:t>
            </a:r>
          </a:p>
          <a:p>
            <a:r>
              <a:t>| DEMO-102 | AirLite Pro 降噪耳机，黑色 | 9 月 3 日 | 已发货 | 9 月 8 日到达目的地分拨中心 |</a:t>
            </a:r>
          </a:p>
          <a:p>
            <a:r>
              <a:t>| DEMO-103 | K68 无线键盘，灰色 | 9 月 5 日 | 待发货 | 暂无物流记录 |</a:t>
            </a:r>
          </a:p>
          <a:p/>
          <a:p>
            <a:r>
              <a:t>为了避免“上周”随着授课日期变化，**这组演示固定以 9 月 9 日为查询日，订单表也按这个时间背景准备。**</a:t>
            </a:r>
          </a:p>
          <a:p/>
          <a:p>
            <a:r>
              <a:t>用户说“上周买的耳机”，在这份数据里，可能对应两笔订单。</a:t>
            </a:r>
          </a:p>
          <a:p/>
          <a:p>
            <a:r>
              <a:t>系统不能因为第二笔还没签收，就直接认定用户问的是第二笔。第一笔虽然显示已签收，用户也可能没有实际收到。</a:t>
            </a:r>
          </a:p>
          <a:p/>
          <a:p>
            <a:r>
              <a:t>所以，第一步不是让模型生成物流回复，而是**确认查询对象**。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用户没有订单号，下一步怎么做</a:t>
            </a:r>
          </a:p>
          <a:p/>
          <a:p>
            <a:r>
              <a:t>先给学员一个选择：</a:t>
            </a:r>
          </a:p>
          <a:p/>
          <a:p>
            <a:r>
              <a:t>&gt; 用户没有提供订单号，我们下一步应该怎样做？</a:t>
            </a:r>
          </a:p>
          <a:p/>
          <a:p>
            <a:r>
              <a:t>**A.** 要求用户先找到订单号，再继续查询。  </a:t>
            </a:r>
          </a:p>
          <a:p>
            <a:r>
              <a:t>**B.** 根据当前账号查询近期相关订单，让用户确认。  </a:t>
            </a:r>
          </a:p>
          <a:p>
            <a:r>
              <a:t>**C.** 直接选择最近一笔耳机订单，返回物流。</a:t>
            </a:r>
          </a:p>
          <a:p/>
          <a:p>
            <a:r>
              <a:t>在当前场景下，我们选择 **B**。</a:t>
            </a:r>
          </a:p>
          <a:p/>
          <a:p>
            <a:r>
              <a:t>因为用户已经登录，系统有条件查询这个账号的订单。可以先利用已有数据，减少用户查找和复制订单号的操作。</a:t>
            </a:r>
          </a:p>
          <a:p/>
          <a:p>
            <a:r>
              <a:t>A 不是永远不对。如果当前渠道无法关联账号，或者查询不到对应订单，就可能需要用户补充信息。</a:t>
            </a:r>
          </a:p>
          <a:p/>
          <a:p>
            <a:r>
              <a:t>C 的问题是，系统擅自替用户确定了订单。后面的接口即使全部调用成功，也可能回答了另一笔订单的物流。</a:t>
            </a:r>
          </a:p>
          <a:p/>
          <a:p>
            <a:r>
              <a:t>这里需要把两件事分开：</a:t>
            </a:r>
          </a:p>
          <a:p/>
          <a:p>
            <a:r>
              <a:t>- **筛选候选订单**：系统根据时间、商品等线索缩小范围。</a:t>
            </a:r>
          </a:p>
          <a:p>
            <a:r>
              <a:t>- **确认目标订单**：信息有歧义时，由用户确认。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完整讲解订单查询的六个步骤。</a:t>
            </a:r>
          </a:p>
          <a:p/>
          <a:p>
            <a:r>
              <a:t>这条流程可以先画成：</a:t>
            </a:r>
          </a:p>
          <a:p/>
          <a:p>
            <a:r>
              <a:t>```text</a:t>
            </a:r>
          </a:p>
          <a:p>
            <a:r>
              <a:t>进入订单查询流程</a:t>
            </a:r>
          </a:p>
          <a:p>
            <a:r>
              <a:t>        ↓</a:t>
            </a:r>
          </a:p>
          <a:p>
            <a:r>
              <a:t>检查用户身份和已有订单信息</a:t>
            </a:r>
          </a:p>
          <a:p>
            <a:r>
              <a:t>        ↓</a:t>
            </a:r>
          </a:p>
          <a:p>
            <a:r>
              <a:t>是否已经明确目标订单？</a:t>
            </a:r>
          </a:p>
          <a:p>
            <a:r>
              <a:t>   ├─ 是 → 校验该订单是否属于当前用户</a:t>
            </a:r>
          </a:p>
          <a:p>
            <a:r>
              <a:t>   └─ 否 → 查询当前用户的候选订单</a:t>
            </a:r>
          </a:p>
          <a:p>
            <a:r>
              <a:t>                 ↓</a:t>
            </a:r>
          </a:p>
          <a:p>
            <a:r>
              <a:t>            判断候选结果</a:t>
            </a:r>
          </a:p>
          <a:p>
            <a:r>
              <a:t>            ├─ 0 笔：引导补充信息</a:t>
            </a:r>
          </a:p>
          <a:p>
            <a:r>
              <a:t>            ├─ 1 笔：展示商品，必要时确认</a:t>
            </a:r>
          </a:p>
          <a:p>
            <a:r>
              <a:t>            └─ 多笔：让用户选择</a:t>
            </a:r>
          </a:p>
          <a:p>
            <a:r>
              <a:t>                 ↓</a:t>
            </a:r>
          </a:p>
          <a:p>
            <a:r>
              <a:t>            确认目标订单</a:t>
            </a:r>
          </a:p>
          <a:p>
            <a:r>
              <a:t>                 ↓</a:t>
            </a:r>
          </a:p>
          <a:p>
            <a:r>
              <a:t>          查询订单详情及物流</a:t>
            </a:r>
          </a:p>
          <a:p>
            <a:r>
              <a:t>                 ↓</a:t>
            </a:r>
          </a:p>
          <a:p>
            <a:r>
              <a:t>           检查返回结果</a:t>
            </a:r>
          </a:p>
          <a:p>
            <a:r>
              <a:t>                 ↓</a:t>
            </a:r>
          </a:p>
          <a:p>
            <a:r>
              <a:t>      展示物流信息与后续操作</a:t>
            </a:r>
          </a:p>
          <a:p>
            <a:r>
              <a:t>```</a:t>
            </a:r>
          </a:p>
          <a:p/>
          <a:p>
            <a:r>
              <a:t>不要急着记住所有节点。我们沿着实际对话，把每一步拆开。</a:t>
            </a:r>
          </a:p>
          <a:p/>
          <a:p>
            <a:r>
              <a:t>### 1. 检查已有信息</a:t>
            </a:r>
          </a:p>
          <a:p/>
          <a:p>
            <a:r>
              <a:t>进入这个流程时，系统可能已经知道：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"user_message": "上周买的耳机怎么还没到？",</a:t>
            </a:r>
          </a:p>
          <a:p>
            <a:r>
              <a:t>  "order_id": null,</a:t>
            </a:r>
          </a:p>
          <a:p>
            <a:r>
              <a:t>  "product_keyword": "耳机",</a:t>
            </a:r>
          </a:p>
          <a:p>
            <a:r>
              <a:t>  "time_expression": "上周"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其中：</a:t>
            </a:r>
          </a:p>
          <a:p/>
          <a:p>
            <a:r>
              <a:t>- `order_id` 为空，表示还没有确认订单。</a:t>
            </a:r>
          </a:p>
          <a:p>
            <a:r>
              <a:t>- “耳机”和“上周”是查询线索，不是最终订单标识。</a:t>
            </a:r>
          </a:p>
          <a:p>
            <a:r>
              <a:t>- 当前用户身份由登录系统传入，不由这段自然语言决定。</a:t>
            </a:r>
          </a:p>
          <a:p/>
          <a:p>
            <a:r>
              <a:t>如果前面已经确认过订单，就应优先复用，而不是再次让用户选择。</a:t>
            </a:r>
          </a:p>
          <a:p/>
          <a:p>
            <a:r>
              <a:t>### 2. 查询候选订单</a:t>
            </a:r>
          </a:p>
          <a:p/>
          <a:p>
            <a:r>
              <a:t>教学查询工具可以设计为：</a:t>
            </a:r>
          </a:p>
          <a:p/>
          <a:p>
            <a:r>
              <a:t>```text</a:t>
            </a:r>
          </a:p>
          <a:p>
            <a:r>
              <a:t>工具：查询当前用户的订单</a:t>
            </a:r>
          </a:p>
          <a:p/>
          <a:p>
            <a:r>
              <a:t>输入：</a:t>
            </a:r>
          </a:p>
          <a:p>
            <a:r>
              <a:t>- 商品关键词</a:t>
            </a:r>
          </a:p>
          <a:p>
            <a:r>
              <a:t>- 查询时间范围</a:t>
            </a:r>
          </a:p>
          <a:p/>
          <a:p>
            <a:r>
              <a:t>身份：</a:t>
            </a:r>
          </a:p>
          <a:p>
            <a:r>
              <a:t>- 由服务端登录状态确定</a:t>
            </a:r>
          </a:p>
          <a:p/>
          <a:p>
            <a:r>
              <a:t>输出：</a:t>
            </a:r>
          </a:p>
          <a:p>
            <a:r>
              <a:t>- 候选订单列表</a:t>
            </a:r>
          </a:p>
          <a:p>
            <a:r>
              <a:t>- 每笔订单的编号、商品、规格、下单时间和状态</a:t>
            </a:r>
          </a:p>
          <a:p>
            <a:r>
              <a:t>```</a:t>
            </a:r>
          </a:p>
          <a:p/>
          <a:p>
            <a:r>
              <a:t>模型可以帮助理解“耳机”“上周”这些查询条件。</a:t>
            </a:r>
          </a:p>
          <a:p/>
          <a:p>
            <a:r>
              <a:t>但真正的订单筛选与访问权限检查，需要由系统完成。**不能仅凭一个订单号，就允许查询其他人的订单。**</a:t>
            </a:r>
          </a:p>
          <a:p/>
          <a:p>
            <a:r>
              <a:t>这里也不需要把整个订单数据库都发给模型，再让模型自己找。</a:t>
            </a:r>
          </a:p>
          <a:p/>
          <a:p>
            <a:r>
              <a:t>更合理的是：查询工具先返回当前用户有权查看的相关记录。</a:t>
            </a:r>
          </a:p>
          <a:p/>
          <a:p>
            <a:r>
              <a:t>### 3. 根据结果决定下一步</a:t>
            </a:r>
          </a:p>
          <a:p/>
          <a:p>
            <a:r>
              <a:t>这次查询返回了两笔耳机订单。</a:t>
            </a:r>
          </a:p>
          <a:p/>
          <a:p>
            <a:r>
              <a:t>系统应该展示足够的信息，帮助用户区分：</a:t>
            </a:r>
          </a:p>
          <a:p/>
          <a:p>
            <a:r>
              <a:t>&gt; 查询到您近期有两笔耳机订单，请选择需要查询的一笔：  </a:t>
            </a:r>
          </a:p>
          <a:p>
            <a:r>
              <a:t>&gt; ① AirLite 蓝牙耳机｜白色｜9 月 1 日下单  </a:t>
            </a:r>
          </a:p>
          <a:p>
            <a:r>
              <a:t>&gt; ② AirLite Pro 降噪耳机｜黑色｜9 月 3 日下单</a:t>
            </a:r>
          </a:p>
          <a:p/>
          <a:p>
            <a:r>
              <a:t>产品上可以做成可点击的订单卡片，而不只是两行文字。</a:t>
            </a:r>
          </a:p>
          <a:p/>
          <a:p>
            <a:r>
              <a:t>卡片至少要让用户看清商品、规格和时间，必要时展示缩略图及部分订单编号。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讲解候选列表、等待状态和选择结果的对应。</a:t>
            </a:r>
          </a:p>
          <a:p/>
          <a:p>
            <a:r>
              <a:t>用户接着回复：</a:t>
            </a:r>
          </a:p>
          <a:p/>
          <a:p>
            <a:r>
              <a:t>&gt; 第二个。</a:t>
            </a:r>
          </a:p>
          <a:p/>
          <a:p>
            <a:r>
              <a:t>这一句不能脱离前文单独处理。</a:t>
            </a:r>
          </a:p>
          <a:p/>
          <a:p>
            <a:r>
              <a:t>系统需要记住：刚才展示了哪些候选订单，以及它们在页面上的对应关系。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"order_selection",</a:t>
            </a:r>
          </a:p>
          <a:p>
            <a:r>
              <a:t>  "candidate_order_ids": [</a:t>
            </a:r>
          </a:p>
          <a:p>
            <a:r>
              <a:t>    "DEMO-101",</a:t>
            </a:r>
          </a:p>
          <a:p>
            <a:r>
              <a:t>    "DEMO-102"</a:t>
            </a:r>
          </a:p>
          <a:p>
            <a:r>
              <a:t>  ],</a:t>
            </a:r>
          </a:p>
          <a:p>
            <a:r>
              <a:t>  "selected_order_id":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如果用户点击第二张卡片，前端可以直接提交对应的订单 ID。</a:t>
            </a:r>
          </a:p>
          <a:p/>
          <a:p>
            <a:r>
              <a:t>如果用户输入“第二个”，系统则需要结合刚才展示的列表，将其对应到 `DEMO-102`。</a:t>
            </a:r>
          </a:p>
          <a:p/>
          <a:p>
            <a:r>
              <a:t>确认后更新：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null,</a:t>
            </a:r>
          </a:p>
          <a:p>
            <a:r>
              <a:t>  "selected_order_id": "DEMO-102"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这里有一个很实际的产品细节：</a:t>
            </a:r>
          </a:p>
          <a:p/>
          <a:p>
            <a:r>
              <a:t>**如果用户点击就能准确表达选择，就不必要求所有操作都通过自由文本完成。**</a:t>
            </a:r>
          </a:p>
          <a:p/>
          <a:p>
            <a:r>
              <a:t>大模型可以处理“第二个”这样的自然表达；页面上的订单卡片则提供更直接、确定的操作方式。两者可以同时存在。</a:t>
            </a:r>
          </a:p>
          <a:p/>
          <a:p>
            <a:r>
              <a:t>如果候选列表已经变化，或者用户说“之前那个”，无法确定指向，就应该再次确认，不能随意映射。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拿到查询结果以后，模型负责什么</a:t>
            </a:r>
          </a:p>
          <a:p/>
          <a:p>
            <a:r>
              <a:t>现在已经确定订单 `DEMO-102`，系统可以查询具体信息。</a:t>
            </a:r>
          </a:p>
          <a:p/>
          <a:p>
            <a:r>
              <a:t>这里可以有两个工具，也可以由后端封装成一个查询接口。产品设计首先要明确需要哪些数据，不必先纠结工具数量。</a:t>
            </a:r>
          </a:p>
          <a:p/>
          <a:p>
            <a:r>
              <a:t>教学返回结果可以是：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"DEMO-102",</a:t>
            </a:r>
          </a:p>
          <a:p>
            <a:r>
              <a:t>  "product_name": "AirLite Pro 降噪耳机",</a:t>
            </a:r>
          </a:p>
          <a:p>
            <a:r>
              <a:t>  "order_status": "shipped",</a:t>
            </a:r>
          </a:p>
          <a:p>
            <a:r>
              <a:t>  "latest_logistics_status": "运输中",</a:t>
            </a:r>
          </a:p>
          <a:p>
            <a:r>
              <a:t>  "latest_logistics_event": "快件已到达目的地分拨中心",</a:t>
            </a:r>
          </a:p>
          <a:p>
            <a:r>
              <a:t>  "event_time": "2026-09-08 18:20",</a:t>
            </a:r>
          </a:p>
          <a:p>
            <a:r>
              <a:t>  "estimated_delivery_time":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这份结果说明：</a:t>
            </a:r>
          </a:p>
          <a:p/>
          <a:p>
            <a:r>
              <a:t>- 订单已经发货。</a:t>
            </a:r>
          </a:p>
          <a:p>
            <a:r>
              <a:t>- 最新物流记录是到达目的地分拨中心。</a:t>
            </a:r>
          </a:p>
          <a:p>
            <a:r>
              <a:t>- 这条记录发生在 9 月 8 日。</a:t>
            </a:r>
          </a:p>
          <a:p>
            <a:r>
              <a:t>- 系统没有提供预计送达时间。</a:t>
            </a:r>
          </a:p>
          <a:p/>
          <a:p>
            <a:r>
              <a:t>接下来可以组织面向用户的回复：</a:t>
            </a:r>
          </a:p>
          <a:p/>
          <a:p>
            <a:r>
              <a:t>&gt; 您查询的是 9 月 3 日购买的 AirLite Pro 降噪耳机。订单已发货，最新物流记录显示：9 月 8 日 18:20 到达目的地分拨中心。  </a:t>
            </a:r>
          </a:p>
          <a:p>
            <a:r>
              <a:t>&gt; 当前查询结果未提供预计送达时间，您可以查看完整物流记录；如果需要进一步确认，可以联系人工客服。</a:t>
            </a:r>
          </a:p>
          <a:p/>
          <a:p>
            <a:r>
              <a:t>这里不能自行补一句：</a:t>
            </a:r>
          </a:p>
          <a:p/>
          <a:p>
            <a:r>
              <a:t>&gt; “预计明天一定能收到。”</a:t>
            </a:r>
          </a:p>
          <a:p/>
          <a:p>
            <a:r>
              <a:t>因为查询结果没有提供这个信息。</a:t>
            </a:r>
          </a:p>
          <a:p/>
          <a:p>
            <a:r>
              <a:t>用户原话是“怎么还没到”，但物流记录也不一定能解释延迟原因。**没有查到具体原因，就不能把“运输中”编成“由于天气原因延误”。**</a:t>
            </a:r>
          </a:p>
          <a:p/>
          <a:p>
            <a:r>
              <a:t>到这里，可以让学员再判断一次：</a:t>
            </a:r>
          </a:p>
          <a:p/>
          <a:p>
            <a:r>
              <a:t>&gt; 拿到订单和物流数据以后，一定要再调用大模型吗？</a:t>
            </a:r>
          </a:p>
          <a:p/>
          <a:p>
            <a:r>
              <a:t>不一定。</a:t>
            </a:r>
          </a:p>
          <a:p/>
          <a:p>
            <a:r>
              <a:t>如果只是展示订单状态、物流时间和轨迹，使用页面卡片或固定模板就可以。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商品：{product_name}</a:t>
            </a:r>
          </a:p>
          <a:p>
            <a:r>
              <a:t>订单状态：{order_status}</a:t>
            </a:r>
          </a:p>
          <a:p>
            <a:r>
              <a:t>最新物流：{latest_logistics_event}</a:t>
            </a:r>
          </a:p>
          <a:p>
            <a:r>
              <a:t>更新时间：{event_time}</a:t>
            </a:r>
          </a:p>
          <a:p>
            <a:r>
              <a:t>```</a:t>
            </a:r>
          </a:p>
          <a:p/>
          <a:p>
            <a:r>
              <a:t>模型更适合承担的是：</a:t>
            </a:r>
          </a:p>
          <a:p/>
          <a:p>
            <a:r>
              <a:t>- 结合用户的问题，选择需要解释的信息。</a:t>
            </a:r>
          </a:p>
          <a:p>
            <a:r>
              <a:t>- 把多个字段组织成容易理解的说明。</a:t>
            </a:r>
          </a:p>
          <a:p>
            <a:r>
              <a:t>- 承接后续问题。</a:t>
            </a:r>
          </a:p>
          <a:p/>
          <a:p>
            <a:r>
              <a:t>但无论采用哪种方式，订单编号、时间、状态等关键事实都必须来自查询结果。</a:t>
            </a:r>
          </a:p>
          <a:p/>
          <a:p>
            <a:r>
              <a:t>如果使用模型生成回复，可以给它明确约束：</a:t>
            </a:r>
          </a:p>
          <a:p/>
          <a:p>
            <a:r>
              <a:t>```text</a:t>
            </a:r>
          </a:p>
          <a:p>
            <a:r>
              <a:t>根据已确认的订单和工具返回结果回答用户。</a:t>
            </a:r>
          </a:p>
          <a:p/>
          <a:p>
            <a:r>
              <a:t>要求：</a:t>
            </a:r>
          </a:p>
          <a:p>
            <a:r>
              <a:t>- 只能使用工具提供的订单与物流事实。</a:t>
            </a:r>
          </a:p>
          <a:p>
            <a:r>
              <a:t>- 没有预计送达时间时，不承诺送达日期。</a:t>
            </a:r>
          </a:p>
          <a:p>
            <a:r>
              <a:t>- 没有延误原因时，不编造原因。</a:t>
            </a:r>
          </a:p>
          <a:p>
            <a:r>
              <a:t>- 工具失败或结果为空时，不生成正常查询成功的回复。</a:t>
            </a:r>
          </a:p>
          <a:p>
            <a:r>
              <a:t>- 不展示与当前用户请求无关的个人信息。</a:t>
            </a:r>
          </a:p>
          <a:p>
            <a:r>
              <a:t>```</a:t>
            </a:r>
          </a:p>
          <a:p/>
          <a:p>
            <a:r>
              <a:t>这段提示词负责约束表达，**不能代替身份校验、权限控制和接口错误处理**。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看不到物流，不代表同一种情况</a:t>
            </a:r>
          </a:p>
          <a:p/>
          <a:p>
            <a:r>
              <a:t>下面三种情况，都可能导致用户暂时看不到物流，但产品处理不能一样。</a:t>
            </a:r>
          </a:p>
          <a:p/>
          <a:p>
            <a:r>
              <a:t>| 情况 | 实际含义 | 应怎样处理 |</a:t>
            </a:r>
          </a:p>
          <a:p>
            <a:r>
              <a:t>|---|---|---|</a:t>
            </a:r>
          </a:p>
          <a:p>
            <a:r>
              <a:t>| 没有找到订单 | 查询成功，但没有匹配记录 | 引导调整时间、确认账号或补充订单信息 |</a:t>
            </a:r>
          </a:p>
          <a:p>
            <a:r>
              <a:t>| 订单尚未发货 | 已找到订单，当前没有物流轨迹 | 如实展示待发货状态，按可用信息提供后续入口 |</a:t>
            </a:r>
          </a:p>
          <a:p>
            <a:r>
              <a:t>| 查询工具失败 | 系统没有成功获取数据 | 告知暂时无法查询，提供重试或人工处理 |</a:t>
            </a:r>
          </a:p>
          <a:p/>
          <a:p>
            <a:r>
              <a:t>### 情况一：没有找到订单</a:t>
            </a:r>
          </a:p>
          <a:p/>
          <a:p>
            <a:r>
              <a:t>可以回复：</a:t>
            </a:r>
          </a:p>
          <a:p/>
          <a:p>
            <a:r>
              <a:t>&gt; 当前账号下没有找到符合这些条件的订单。您可以确认购买时间，或者从订单列表中选择需要查询的商品。</a:t>
            </a:r>
          </a:p>
          <a:p/>
          <a:p>
            <a:r>
              <a:t>不能直接说：</a:t>
            </a:r>
          </a:p>
          <a:p/>
          <a:p>
            <a:r>
              <a:t>&gt; “您没有买过这个商品。”</a:t>
            </a:r>
          </a:p>
          <a:p/>
          <a:p>
            <a:r>
              <a:t>因为只是当前查询没有匹配，并不能排除账号、渠道或时间条件有误。</a:t>
            </a:r>
          </a:p>
          <a:p/>
          <a:p>
            <a:r>
              <a:t>### 情况二：订单还没发货</a:t>
            </a:r>
          </a:p>
          <a:p/>
          <a:p>
            <a:r>
              <a:t>可以回复：</a:t>
            </a:r>
          </a:p>
          <a:p/>
          <a:p>
            <a:r>
              <a:t>&gt; 已找到这笔订单，目前状态为待发货，暂时没有物流记录。</a:t>
            </a:r>
          </a:p>
          <a:p/>
          <a:p>
            <a:r>
              <a:t>如果系统没有明确的发货时间，就不能自行承诺“今天一定发”。</a:t>
            </a:r>
          </a:p>
          <a:p/>
          <a:p>
            <a:r>
              <a:t>### 情况三：工具调用失败</a:t>
            </a:r>
          </a:p>
          <a:p/>
          <a:p>
            <a:r>
              <a:t>可以回复：</a:t>
            </a:r>
          </a:p>
          <a:p/>
          <a:p>
            <a:r>
              <a:t>&gt; 当前暂时无法获取订单信息，您可以重试，或转人工继续查询。</a:t>
            </a:r>
          </a:p>
          <a:p/>
          <a:p>
            <a:r>
              <a:t>不能把接口超时解释成“没有这笔订单”，也不能使用模型的常识补一个结果。</a:t>
            </a:r>
          </a:p>
          <a:p/>
          <a:p>
            <a:r>
              <a:t>**“没有数据”和“没有成功获取数据”，是两种不同的产品状态。**</a:t>
            </a:r>
          </a:p>
          <a:p/>
          <a:p>
            <a:r>
              <a:t>到这里，我们不要只看一段顺利对话就认为流程完成了。</a:t>
            </a:r>
          </a:p>
          <a:p/>
          <a:p>
            <a:r>
              <a:t>至少准备下面这些测试：</a:t>
            </a:r>
          </a:p>
          <a:p/>
          <a:p>
            <a:r>
              <a:t>| 测试输入或条件 | 预期行为 |</a:t>
            </a:r>
          </a:p>
          <a:p>
            <a:r>
              <a:t>|---|---|</a:t>
            </a:r>
          </a:p>
          <a:p>
            <a:r>
              <a:t>| 用户提供本人有效订单号 | 校验归属后查询 |</a:t>
            </a:r>
          </a:p>
          <a:p>
            <a:r>
              <a:t>| 用户没给订单号，但有商品和时间线索 | 查询候选订单 |</a:t>
            </a:r>
          </a:p>
          <a:p>
            <a:r>
              <a:t>| 查到两笔相似订单 | 让用户选择，不擅自确定 |</a:t>
            </a:r>
          </a:p>
          <a:p>
            <a:r>
              <a:t>| 用户回复“第二个” | 根据当前候选列表确认订单 |</a:t>
            </a:r>
          </a:p>
          <a:p>
            <a:r>
              <a:t>| 没有匹配订单 | 引导补充或调整条件 |</a:t>
            </a:r>
          </a:p>
          <a:p>
            <a:r>
              <a:t>| 订单尚未发货 | 展示待发货，不编造物流 |</a:t>
            </a:r>
          </a:p>
          <a:p>
            <a:r>
              <a:t>| 查询接口超时 | 返回失败状态，提供后续路径 |</a:t>
            </a:r>
          </a:p>
          <a:p>
            <a:r>
              <a:t>| 用户提供不属于自己的订单号 | 不泄露该订单信息 |</a:t>
            </a:r>
          </a:p>
          <a:p>
            <a:r>
              <a:t>| 工具没有预计送达时间 | 不承诺具体到货时间 |</a:t>
            </a:r>
          </a:p>
          <a:p/>
          <a:p>
            <a:r>
              <a:t>课堂可以重点运行三条：**正常查询、多订单选择、接口失败**。其余放进完整测试表。</a:t>
            </a:r>
          </a:p>
          <a:p/>
          <a:p>
            <a:r>
              <a:t>如果“第二个”选错了订单，就回到候选列表和状态保存环节检查；如果查询失败后仍说“已发货”，就检查错误分支和回复生成条件。</a:t>
            </a:r>
          </a:p>
          <a:p/>
          <a:p>
            <a:r>
              <a:t>每个错误都要对应具体步骤，而不是一律归结为“模型不够好”。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从“想换一个”到“申请已受理”，中间还缺哪些产品步骤？</a:t>
            </a:r>
          </a:p>
          <a:p/>
          <a:p>
            <a:r>
              <a:t>上一节，我们完成了订单查询。</a:t>
            </a:r>
          </a:p>
          <a:p/>
          <a:p>
            <a:r>
              <a:t>但订单查询主要是在获取和解释已有信息。现在，用户提出了一个需要继续处理的要求：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这时，查到订单只是第一步。</a:t>
            </a:r>
          </a:p>
          <a:p/>
          <a:p>
            <a:r>
              <a:t>系统还需要了解商品问题、找到适用的售后要求、补齐必要信息，再告诉用户下一步怎样处理。</a:t>
            </a:r>
          </a:p>
          <a:p/>
          <a:p>
            <a:r>
              <a:t>这一节，我们就沿着这笔换货请求，把售后流程拆开。</a:t>
            </a:r>
          </a:p>
          <a:p/>
          <a:p>
            <a:r>
              <a:t>&gt; 本节继续使用教学模拟数据。为了与上一节的物流查询区分，这次使用已签收的订单 `DEMO-101`：AirLite 蓝牙耳机，9 月 4 日签收。查询日仍固定为 9 月 9 日。所有政策、接口和处理结果均为教学设计，尚未运行验证。</a:t>
            </a:r>
          </a:p>
          <a:p/>
          <a:p>
            <a:r>
              <a:t>## 一、先区分“问政策”和“要处理”</a:t>
            </a:r>
          </a:p>
          <a:p/>
          <a:p>
            <a:r>
              <a:t>先看三句话：</a:t>
            </a:r>
          </a:p>
          <a:p/>
          <a:p>
            <a:r>
              <a:t>&gt; ①“耳机坏了能换吗？”  </a:t>
            </a:r>
          </a:p>
          <a:p>
            <a:r>
              <a:t>&gt; ②“我买的耳机右边没有声音，能换吗？”  </a:t>
            </a:r>
          </a:p>
          <a:p>
            <a:r>
              <a:t>&gt; ③“我买的耳机右边没有声音，帮我申请换货。”</a:t>
            </a:r>
          </a:p>
          <a:p/>
          <a:p>
            <a:r>
              <a:t>这三句话都与换货有关，但系统下一步不应该完全一样。</a:t>
            </a:r>
          </a:p>
          <a:p/>
          <a:p>
            <a:r>
              <a:t>| 用户表达 | 当前需要做什么 |</a:t>
            </a:r>
          </a:p>
          <a:p>
            <a:r>
              <a:t>|---|---|</a:t>
            </a:r>
          </a:p>
          <a:p>
            <a:r>
              <a:t>| 泛泛询问换货政策 | 解释适用条件，必要时确认商品或问题类型 |</a:t>
            </a:r>
          </a:p>
          <a:p>
            <a:r>
              <a:t>| 询问自己的商品能否换货 | 结合订单、故障和适用政策继续确认 |</a:t>
            </a:r>
          </a:p>
          <a:p>
            <a:r>
              <a:t>| 明确要求申请换货 | 收集申请所需信息，引导确认和提交 |</a:t>
            </a:r>
          </a:p>
          <a:p/>
          <a:p>
            <a:r>
              <a:t>第一种情况，不一定需要一上来就要求用户提供订单和图片。</a:t>
            </a:r>
          </a:p>
          <a:p/>
          <a:p>
            <a:r>
              <a:t>第三种情况，如果系统仍然只返回一段政策，也没有完成用户的需求。</a:t>
            </a:r>
          </a:p>
          <a:p/>
          <a:p>
            <a:r>
              <a:t>因此，进入售后分支以后，还需要进一步理解：</a:t>
            </a:r>
          </a:p>
          <a:p/>
          <a:p>
            <a:r>
              <a:t>**用户是在了解规则，还是希望处理自己的问题？目前的信息足不足以继续？**</a:t>
            </a:r>
          </a:p>
          <a:p/>
          <a:p>
            <a:r>
              <a:t>本节重点处理第三种情况。</a:t>
            </a:r>
          </a:p>
          <a:p/>
          <a:p>
            <a:r>
              <a:t>## 二、先确定这条售后流程处理到哪里</a:t>
            </a:r>
          </a:p>
          <a:p/>
          <a:p>
            <a:r>
              <a:t>我们先把当前版本的服务范围说清楚。</a:t>
            </a:r>
          </a:p>
          <a:p/>
          <a:p>
            <a:r>
              <a:t>这条流程可以：</a:t>
            </a:r>
          </a:p>
          <a:p/>
          <a:p>
            <a:r>
              <a:t>- 确认对应订单和商品。</a:t>
            </a:r>
          </a:p>
          <a:p>
            <a:r>
              <a:t>- 了解故障以及用户希望的处理方式。</a:t>
            </a:r>
          </a:p>
          <a:p>
            <a:r>
              <a:t>- 查询适用的售后要求。</a:t>
            </a:r>
          </a:p>
          <a:p>
            <a:r>
              <a:t>- 收集必要材料。</a:t>
            </a:r>
          </a:p>
          <a:p>
            <a:r>
              <a:t>- 生成申请内容供用户确认。</a:t>
            </a:r>
          </a:p>
          <a:p>
            <a:r>
              <a:t>- 引导进入申请入口，或在模拟环境中提交申请。</a:t>
            </a:r>
          </a:p>
          <a:p>
            <a:r>
              <a:t>- 特殊情况交给人工处理。</a:t>
            </a:r>
          </a:p>
          <a:p/>
          <a:p>
            <a:r>
              <a:t>但它不直接完成以下事情：</a:t>
            </a:r>
          </a:p>
          <a:p/>
          <a:p>
            <a:r>
              <a:t>- 判断商品一定存在质量问题。</a:t>
            </a:r>
          </a:p>
          <a:p>
            <a:r>
              <a:t>- 批准所有换货请求。</a:t>
            </a:r>
          </a:p>
          <a:p>
            <a:r>
              <a:t>- 自动退款或决定赔偿金额。</a:t>
            </a:r>
          </a:p>
          <a:p>
            <a:r>
              <a:t>- 承诺换货一定通过、什么时候寄出。</a:t>
            </a:r>
          </a:p>
          <a:p/>
          <a:p>
            <a:r>
              <a:t>这里最重要的区别是：</a:t>
            </a:r>
          </a:p>
          <a:p/>
          <a:p>
            <a:r>
              <a:t>**受理申请，不等于批准申请。**</a:t>
            </a:r>
          </a:p>
          <a:p/>
          <a:p>
            <a:r>
              <a:t>用户提交了一份换货申请，系统可以告诉他“已提交，等待审核”。如果后面还需要人工审核或商品检测，就不能说“换货已通过”。</a:t>
            </a:r>
          </a:p>
          <a:p/>
          <a:p>
            <a:r>
              <a:t>为了看清完整过程，本节会展示模拟提交的设计。它是借鉴亚慧工单助手后补充的教学环节，不代表我们已经接入真实商家的售后系统。</a:t>
            </a:r>
          </a:p>
          <a:p/>
          <a:p>
            <a:r>
              <a:t>## 三、先看售后流程全貌</a:t>
            </a:r>
          </a:p>
          <a:p/>
          <a:p>
            <a:r>
              <a:t>```text</a:t>
            </a:r>
          </a:p>
          <a:p>
            <a:r>
              <a:t>用户提出售后问题</a:t>
            </a:r>
          </a:p>
          <a:p>
            <a:r>
              <a:t>        ↓</a:t>
            </a:r>
          </a:p>
          <a:p>
            <a:r>
              <a:t>判断是政策咨询，还是具体处理请求</a:t>
            </a:r>
          </a:p>
          <a:p>
            <a:r>
              <a:t>        ↓</a:t>
            </a:r>
          </a:p>
          <a:p>
            <a:r>
              <a:t>确认订单和商品</a:t>
            </a:r>
          </a:p>
          <a:p>
            <a:r>
              <a:t>        ↓</a:t>
            </a:r>
          </a:p>
          <a:p>
            <a:r>
              <a:t>识别诉求，收集必要的故障信息</a:t>
            </a:r>
          </a:p>
          <a:p>
            <a:r>
              <a:t>        ↓</a:t>
            </a:r>
          </a:p>
          <a:p>
            <a:r>
              <a:t>查询适用政策，检查基础条件</a:t>
            </a:r>
          </a:p>
          <a:p>
            <a:r>
              <a:t>        ↓</a:t>
            </a:r>
          </a:p>
          <a:p>
            <a:r>
              <a:t>补充材料，整理申请内容</a:t>
            </a:r>
          </a:p>
          <a:p>
            <a:r>
              <a:t>        ↓</a:t>
            </a:r>
          </a:p>
          <a:p>
            <a:r>
              <a:t>用户确认</a:t>
            </a:r>
          </a:p>
          <a:p>
            <a:r>
              <a:t>        ↓</a:t>
            </a:r>
          </a:p>
          <a:p>
            <a:r>
              <a:t>进入申请入口／模拟提交申请</a:t>
            </a:r>
          </a:p>
          <a:p>
            <a:r>
              <a:t>        ↓</a:t>
            </a:r>
          </a:p>
          <a:p>
            <a:r>
              <a:t>返回实际处理状态</a:t>
            </a:r>
          </a:p>
          <a:p>
            <a:r>
              <a:t>```</a:t>
            </a:r>
          </a:p>
          <a:p/>
          <a:p>
            <a:r>
              <a:t>在这条流程中，如果出现政策冲突、无法确认的信息、特殊要求或用户明确要求人工，就进入人工处理路径。</a:t>
            </a:r>
          </a:p>
          <a:p/>
          <a:p>
            <a:r>
              <a:t>下面逐步展开。</a:t>
            </a:r>
          </a:p>
          <a:p/>
          <a:p>
            <a:r>
              <a:t>## 四、确认订单，同时复用用户已经提供的信息</a:t>
            </a:r>
          </a:p>
          <a:p/>
          <a:p>
            <a:r>
              <a:t>用户说：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这句话已经提供了三项信息：</a:t>
            </a:r>
          </a:p>
          <a:p/>
          <a:p>
            <a:r>
              <a:t>- 商品出现了声音故障。</a:t>
            </a:r>
          </a:p>
          <a:p>
            <a:r>
              <a:t>- 问题发生在右侧。</a:t>
            </a:r>
          </a:p>
          <a:p>
            <a:r>
              <a:t>- 用户希望换货。</a:t>
            </a:r>
          </a:p>
          <a:p/>
          <a:p>
            <a:r>
              <a:t>这些信息应该先保留下来，不要确认完订单后再问：</a:t>
            </a:r>
          </a:p>
          <a:p/>
          <a:p>
            <a:r>
              <a:t>&gt; “请问您的商品出现了什么问题？”  </a:t>
            </a:r>
          </a:p>
          <a:p>
            <a:r>
              <a:t>&gt; “您是想退款还是换货？”</a:t>
            </a:r>
          </a:p>
          <a:p/>
          <a:p>
            <a:r>
              <a:t>如果当前会话已经确认了订单，可以继续使用；如果没有，就复用上一节的订单选择流程。</a:t>
            </a:r>
          </a:p>
          <a:p/>
          <a:p>
            <a:r>
              <a:t>假设用户选中了：</a:t>
            </a:r>
          </a:p>
          <a:p/>
          <a:p>
            <a:r>
              <a:t>&gt; DEMO-101｜AirLite 蓝牙耳机｜白色｜9 月 4 日签收。</a:t>
            </a:r>
          </a:p>
          <a:p/>
          <a:p>
            <a:r>
              <a:t>系统现在可以整理出：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"DEMO-101",</a:t>
            </a:r>
          </a:p>
          <a:p>
            <a:r>
              <a:t>  "requested_action": "exchange",</a:t>
            </a:r>
          </a:p>
          <a:p>
            <a:r>
              <a:t>  "issue_description": "右侧耳机没有声音",</a:t>
            </a:r>
          </a:p>
          <a:p>
            <a:r>
              <a:t>  "issue_start": null,</a:t>
            </a:r>
          </a:p>
          <a:p>
            <a:r>
              <a:t>  "materials": [],</a:t>
            </a:r>
          </a:p>
          <a:p>
            <a:r>
              <a:t>  "confirmed": false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这里仍然缺少的信息，要根据后面的处理要求来判断。</a:t>
            </a:r>
          </a:p>
          <a:p/>
          <a:p>
            <a:r>
              <a:t>**不是把所有字段都问一遍，而是先利用已有信息，再询问真正缺少的部分。**</a:t>
            </a:r>
          </a:p>
          <a:p/>
          <a:p>
            <a:r>
              <a:t>## 五、根据处理要求决定下一句问什么</a:t>
            </a:r>
          </a:p>
          <a:p/>
          <a:p>
            <a:r>
              <a:t>先让学员选择：</a:t>
            </a:r>
          </a:p>
          <a:p/>
          <a:p>
            <a:r>
              <a:t>&gt; 订单已经确认，用户也说了右侧没有声音。下面哪种做法更合适？</a:t>
            </a:r>
          </a:p>
          <a:p/>
          <a:p>
            <a:r>
              <a:t>**A.** 把完整售后表单的所有字段一次性发给用户。  </a:t>
            </a:r>
          </a:p>
          <a:p>
            <a:r>
              <a:t>**B.** 根据当前申请所缺的信息，继续问一个必要问题。  </a:t>
            </a:r>
          </a:p>
          <a:p>
            <a:r>
              <a:t>**C.** 直接生成换货申请，缺少的内容由模型补齐。</a:t>
            </a:r>
          </a:p>
          <a:p/>
          <a:p>
            <a:r>
              <a:t>当前选择 **B**。</a:t>
            </a:r>
          </a:p>
          <a:p/>
          <a:p>
            <a:r>
              <a:t>假设这类申请需要区分：收到时就存在问题，还是使用过程中出现问题。</a:t>
            </a:r>
          </a:p>
          <a:p/>
          <a:p>
            <a:r>
              <a:t>可以继续问：</a:t>
            </a:r>
          </a:p>
          <a:p/>
          <a:p>
            <a:r>
              <a:t>&gt; “请问右侧耳机是收到后一直没有声音，还是使用过程中才出现的？”</a:t>
            </a:r>
          </a:p>
          <a:p/>
          <a:p>
            <a:r>
              <a:t>用户回答：</a:t>
            </a:r>
          </a:p>
          <a:p/>
          <a:p>
            <a:r>
              <a:t>&gt; “收到就是这样。”</a:t>
            </a:r>
          </a:p>
          <a:p/>
          <a:p>
            <a:r>
              <a:t>系统记录后，不需要继续围绕这个问题反复追问。</a:t>
            </a:r>
          </a:p>
          <a:p/>
          <a:p>
            <a:r>
              <a:t>接下来，如果该型号的处理指引建议先确认左右耳是否正常连接，可以给出对应的基础检查步骤。但要注意两点：</a:t>
            </a:r>
          </a:p>
          <a:p/>
          <a:p>
            <a:r>
              <a:t>- 检查步骤应该来自商品使用资料，不由模型临时编造。</a:t>
            </a:r>
          </a:p>
          <a:p>
            <a:r>
              <a:t>- 用户已经尝试过的操作，不应无理由要求反复操作。</a:t>
            </a:r>
          </a:p>
          <a:p/>
          <a:p>
            <a:r>
              <a:t>例如：</a:t>
            </a:r>
          </a:p>
          <a:p/>
          <a:p>
            <a:r>
              <a:t>&gt; 用户：“我已经重新连接过了，还是没有声音。”</a:t>
            </a:r>
          </a:p>
          <a:p/>
          <a:p>
            <a:r>
              <a:t>就可以记录为已尝试，而不是再回复一遍相同教程。</a:t>
            </a:r>
          </a:p>
          <a:p/>
          <a:p>
            <a:r>
              <a:t>这里的产品设计不只是“让模型会追问”，还包括：</a:t>
            </a:r>
          </a:p>
          <a:p/>
          <a:p>
            <a:r>
              <a:t>**哪些问题必须问、哪些条件下才问、用户回答后怎样记录，以及什么时候停止追问。**</a:t>
            </a:r>
          </a:p>
          <a:p/>
          <a:p>
            <a:r>
              <a:t>## 六、售后知识库里应该准备什么</a:t>
            </a:r>
          </a:p>
          <a:p/>
          <a:p>
            <a:r>
              <a:t>现在需要查询售后要求。</a:t>
            </a:r>
          </a:p>
          <a:p/>
          <a:p>
            <a:r>
              <a:t>这里不能只放一份笼统的“支持退换货”说明。系统需要知道这份要求适用于什么商品、什么问题，以及下一步应该怎样处理。</a:t>
            </a:r>
          </a:p>
          <a:p/>
          <a:p>
            <a:r>
              <a:t>我们可以准备下面几类教学材料：</a:t>
            </a:r>
          </a:p>
          <a:p/>
          <a:p>
            <a:r>
              <a:t>| 材料 | 主要内容 | 在流程中的用途 |</a:t>
            </a:r>
          </a:p>
          <a:p>
            <a:r>
              <a:t>|---|---|---|</a:t>
            </a:r>
          </a:p>
          <a:p>
            <a:r>
              <a:t>| 商品使用与故障排查说明 | 型号、常见问题、基础检查步骤 | 帮助理解故障和提供使用指导 |</a:t>
            </a:r>
          </a:p>
          <a:p>
            <a:r>
              <a:t>| 售后申请受理指引 | 适用商品、问题类型、材料要求 | 确定申请需要收集什么 |</a:t>
            </a:r>
          </a:p>
          <a:p>
            <a:r>
              <a:t>| 售后处理流程说明 | 提交、审核、检测、后续通知 | 解释当前状态和下一步 |</a:t>
            </a:r>
          </a:p>
          <a:p>
            <a:r>
              <a:t>| 特殊情况处理说明 | 政策冲突、重复申请、异常订单等 | 确定何时转人工 |</a:t>
            </a:r>
          </a:p>
          <a:p/>
          <a:p>
            <a:r>
              <a:t>以一条教学知识为例：</a:t>
            </a:r>
          </a:p>
          <a:p/>
          <a:p>
            <a:r>
              <a:t>&gt; **标题：AirLite 耳机单侧无声问题的售后申请指引**  </a:t>
            </a:r>
          </a:p>
          <a:p>
            <a:r>
              <a:t>&gt; 适用商品：AirLite 系列耳机。  </a:t>
            </a:r>
          </a:p>
          <a:p>
            <a:r>
              <a:t>&gt; 问题类型：单侧无声。  </a:t>
            </a:r>
          </a:p>
          <a:p>
            <a:r>
              <a:t>&gt; 受理要求：确认订单、故障表现及已尝试的基础检查；按申请入口要求补充材料。  </a:t>
            </a:r>
          </a:p>
          <a:p>
            <a:r>
              <a:t>&gt; 处理说明：可提交售后申请，最终处理结果由审核或检测环节确认。  </a:t>
            </a:r>
          </a:p>
          <a:p>
            <a:r>
              <a:t>&gt; 文档状态：已发布。  </a:t>
            </a:r>
          </a:p>
          <a:p>
            <a:r>
              <a:t>&gt; 版本：教学版 V1。</a:t>
            </a:r>
          </a:p>
          <a:p/>
          <a:p>
            <a:r>
              <a:t>这段内容不是实际售后政策，而是用于说明知识应该怎样组织。</a:t>
            </a:r>
          </a:p>
          <a:p/>
          <a:p>
            <a:r>
              <a:t>### 检索时，不只看文字相似</a:t>
            </a:r>
          </a:p>
          <a:p/>
          <a:p>
            <a:r>
              <a:t>用户问的是 AirLite 耳机，不能因为“没有声音”很相似，就把另一款音箱的售后说明拿来回答。</a:t>
            </a:r>
          </a:p>
          <a:p/>
          <a:p>
            <a:r>
              <a:t>检索时需要利用已确认的信息：</a:t>
            </a:r>
          </a:p>
          <a:p/>
          <a:p>
            <a:r>
              <a:t>- 商品型号。</a:t>
            </a:r>
          </a:p>
          <a:p>
            <a:r>
              <a:t>- 故障类型。</a:t>
            </a:r>
          </a:p>
          <a:p>
            <a:r>
              <a:t>- 用户诉求。</a:t>
            </a:r>
          </a:p>
          <a:p>
            <a:r>
              <a:t>- 文档是否有效。</a:t>
            </a:r>
          </a:p>
          <a:p>
            <a:r>
              <a:t>- 适用的店铺或业务范围。</a:t>
            </a:r>
          </a:p>
          <a:p/>
          <a:p>
            <a:r>
              <a:t>这些可以作为检索条件或结果校验条件。</a:t>
            </a:r>
          </a:p>
          <a:p/>
          <a:p>
            <a:r>
              <a:t>如果材料中有多个版本，还要明确哪些已经失效，不能让模型在两份冲突政策之间随意选一份。</a:t>
            </a:r>
          </a:p>
          <a:p/>
          <a:p>
            <a:r>
              <a:t>### 看一眼模型实际拿到了什么</a:t>
            </a:r>
          </a:p>
          <a:p/>
          <a:p>
            <a:r>
              <a:t>课堂上，这里应该展示检索结果，而不是只展示最终回答。</a:t>
            </a:r>
          </a:p>
          <a:p/>
          <a:p>
            <a:r>
              <a:t>我们需要检查：</a:t>
            </a:r>
          </a:p>
          <a:p/>
          <a:p>
            <a:r>
              <a:t>- 是否找到了对应型号的材料。</a:t>
            </a:r>
          </a:p>
          <a:p>
            <a:r>
              <a:t>- 返回的片段是否包含当前需要的内容。</a:t>
            </a:r>
          </a:p>
          <a:p>
            <a:r>
              <a:t>- 有没有把重要前提切掉。</a:t>
            </a:r>
          </a:p>
          <a:p>
            <a:r>
              <a:t>- 是否混入不相关或过期内容。</a:t>
            </a:r>
          </a:p>
          <a:p/>
          <a:p>
            <a:r>
              <a:t>如果检索结果本身不对，后面再精心调整回复语气，也解决不了业务错误。</a:t>
            </a:r>
          </a:p>
          <a:p/>
          <a:p>
            <a:r>
              <a:t>## 七、知识库、规则和模型分别负责什么</a:t>
            </a:r>
          </a:p>
          <a:p/>
          <a:p>
            <a:r>
              <a:t>到这一步，很容易产生一个误解：</a:t>
            </a:r>
          </a:p>
          <a:p/>
          <a:p>
            <a:r>
              <a:t>&gt; “既然已经把售后政策交给大模型，那是不是让它决定能不能换就好了？”</a:t>
            </a:r>
          </a:p>
          <a:p/>
          <a:p>
            <a:r>
              <a:t>不能笼统地这样处理。</a:t>
            </a:r>
          </a:p>
          <a:p/>
          <a:p>
            <a:r>
              <a:t>我们沿着当前案例区分一下：</a:t>
            </a:r>
          </a:p>
          <a:p/>
          <a:p>
            <a:r>
              <a:t>| 工作 | 主要负责方 |</a:t>
            </a:r>
          </a:p>
          <a:p>
            <a:r>
              <a:t>|---|---|</a:t>
            </a:r>
          </a:p>
          <a:p>
            <a:r>
              <a:t>| 理解“右边没声音，想换一个” | 大模型 |</a:t>
            </a:r>
          </a:p>
          <a:p>
            <a:r>
              <a:t>| 确认购买商品和签收信息 | 订单系统 |</a:t>
            </a:r>
          </a:p>
          <a:p>
            <a:r>
              <a:t>| 找到适用的申请要求 | 知识检索与适用范围校验 |</a:t>
            </a:r>
          </a:p>
          <a:p>
            <a:r>
              <a:t>| 检查必要字段是否齐全 | 明确的字段规则 |</a:t>
            </a:r>
          </a:p>
          <a:p>
            <a:r>
              <a:t>| 检查是否已有同类未完成申请 | 售后系统与业务规则 |</a:t>
            </a:r>
          </a:p>
          <a:p>
            <a:r>
              <a:t>| 根据缺失信息生成自然追问 | 大模型 |</a:t>
            </a:r>
          </a:p>
          <a:p>
            <a:r>
              <a:t>| 提交售后申请 | 业务接口 |</a:t>
            </a:r>
          </a:p>
          <a:p>
            <a:r>
              <a:t>| 对特殊情况作最终处理决定 | 有相应权限的业务人员或系统 |</a:t>
            </a:r>
          </a:p>
          <a:p/>
          <a:p>
            <a:r>
              <a:t>这里要区分两个动作：</a:t>
            </a:r>
          </a:p>
          <a:p/>
          <a:p>
            <a:r>
              <a:t>- **解释规则**：把适用要求说明白。</a:t>
            </a:r>
          </a:p>
          <a:p>
            <a:r>
              <a:t>- **执行规则**：根据准确字段和确定条件作出处理。</a:t>
            </a:r>
          </a:p>
          <a:p/>
          <a:p>
            <a:r>
              <a:t>例如，是否存在一份重复申请，应该查询售后记录，不能让模型猜。</a:t>
            </a:r>
          </a:p>
          <a:p/>
          <a:p>
            <a:r>
              <a:t>是否允许进入申请流程，也应由明确的受理规则或售后系统判断。模型可以解释结果，但不能绕过限制。</a:t>
            </a:r>
          </a:p>
          <a:p/>
          <a:p>
            <a:r>
              <a:t>## 八、把已收集的信息整理成申请确认页</a:t>
            </a:r>
          </a:p>
          <a:p/>
          <a:p>
            <a:r>
              <a:t>假设现在已经确认：</a:t>
            </a:r>
          </a:p>
          <a:p/>
          <a:p>
            <a:r>
              <a:t>- 订单：DEMO-101。</a:t>
            </a:r>
          </a:p>
          <a:p>
            <a:r>
              <a:t>- 商品：AirLite 蓝牙耳机，白色。</a:t>
            </a:r>
          </a:p>
          <a:p>
            <a:r>
              <a:t>- 诉求：换货。</a:t>
            </a:r>
          </a:p>
          <a:p>
            <a:r>
              <a:t>- 故障：右侧没有声音，收到时就存在。</a:t>
            </a:r>
          </a:p>
          <a:p>
            <a:r>
              <a:t>- 已尝试操作：重新连接，问题仍然存在。</a:t>
            </a:r>
          </a:p>
          <a:p>
            <a:r>
              <a:t>- 所需材料：已按教学流程补充。</a:t>
            </a:r>
          </a:p>
          <a:p/>
          <a:p>
            <a:r>
              <a:t>接下来，不应该直接提交，而是让用户确认。</a:t>
            </a:r>
          </a:p>
          <a:p/>
          <a:p>
            <a:r>
              <a:t>页面可以展示：</a:t>
            </a:r>
          </a:p>
          <a:p/>
          <a:p>
            <a:r>
              <a:t>&gt; **请确认本次售后申请**</a:t>
            </a:r>
          </a:p>
          <a:p>
            <a:r>
              <a:t>&gt;</a:t>
            </a:r>
          </a:p>
          <a:p>
            <a:r>
              <a:t>&gt; 商品：AirLite 蓝牙耳机，白色  </a:t>
            </a:r>
          </a:p>
          <a:p>
            <a:r>
              <a:t>&gt; 订单：DEMO-101  </a:t>
            </a:r>
          </a:p>
          <a:p>
            <a:r>
              <a:t>&gt; 申请类型：换货  </a:t>
            </a:r>
          </a:p>
          <a:p>
            <a:r>
              <a:t>&gt; 问题描述：收到后右侧无声，重新连接后仍未恢复  </a:t>
            </a:r>
          </a:p>
          <a:p>
            <a:r>
              <a:t>&gt; 补充材料：已添加  </a:t>
            </a:r>
          </a:p>
          <a:p>
            <a:r>
              <a:t>&gt;</a:t>
            </a:r>
          </a:p>
          <a:p>
            <a:r>
              <a:t>&gt; 提交后进入售后审核，最终处理结果以审核通知为准。</a:t>
            </a:r>
          </a:p>
          <a:p>
            <a:r>
              <a:t>&gt;</a:t>
            </a:r>
          </a:p>
          <a:p>
            <a:r>
              <a:t>&gt; 【确认提交】　【修改信息】</a:t>
            </a:r>
          </a:p>
          <a:p/>
          <a:p>
            <a:r>
              <a:t>这个页面有两个作用：</a:t>
            </a:r>
          </a:p>
          <a:p/>
          <a:p>
            <a:r>
              <a:t>第一，让用户看到系统究竟理解成了什么，及时纠正。</a:t>
            </a:r>
          </a:p>
          <a:p/>
          <a:p>
            <a:r>
              <a:t>第二，把自然语言交流转成明确的业务操作。</a:t>
            </a:r>
          </a:p>
          <a:p/>
          <a:p>
            <a:r>
              <a:t>用户前面说“我想换一个”，表达了处理意愿；确认页则让他核对即将提交的具体内容。</a:t>
            </a:r>
          </a:p>
          <a:p/>
          <a:p>
            <a:r>
              <a:t>### 如果用户这时改口怎么办</a:t>
            </a:r>
          </a:p>
          <a:p/>
          <a:p>
            <a:r>
              <a:t>&gt; “算了，我想退货，不换了。”</a:t>
            </a:r>
          </a:p>
          <a:p/>
          <a:p>
            <a:r>
              <a:t>系统需要更新申请类型，并重新检查退货路径是否需要不同的信息或处理要求。</a:t>
            </a:r>
          </a:p>
          <a:p/>
          <a:p>
            <a:r>
              <a:t>可以保留已经核实的订单和故障，但不能沿用旧的“换货确认”直接提交。</a:t>
            </a:r>
          </a:p>
          <a:p/>
          <a:p>
            <a:r>
              <a:t>**修改关键申请内容后，之前的确认应当失效，需要重新确认。**</a:t>
            </a:r>
          </a:p>
          <a:p/>
          <a:p>
            <a:r>
              <a:t>## 九、模拟提交后，按真实结果回复</a:t>
            </a:r>
          </a:p>
          <a:p/>
          <a:p>
            <a:r>
              <a:t>假设当前教学工具支持模拟提交：</a:t>
            </a:r>
          </a:p>
          <a:p/>
          <a:p>
            <a:r>
              <a:t>```text</a:t>
            </a:r>
          </a:p>
          <a:p>
            <a:r>
              <a:t>工具：提交售后申请</a:t>
            </a:r>
          </a:p>
          <a:p/>
          <a:p>
            <a:r>
              <a:t>输入：</a:t>
            </a:r>
          </a:p>
          <a:p>
            <a:r>
              <a:t>- 已确认订单</a:t>
            </a:r>
          </a:p>
          <a:p>
            <a:r>
              <a:t>- 申请类型</a:t>
            </a:r>
          </a:p>
          <a:p>
            <a:r>
              <a:t>- 故障描述</a:t>
            </a:r>
          </a:p>
          <a:p>
            <a:r>
              <a:t>- 必要材料</a:t>
            </a:r>
          </a:p>
          <a:p>
            <a:r>
              <a:t>- 本次申请请求标识</a:t>
            </a:r>
          </a:p>
          <a:p/>
          <a:p>
            <a:r>
              <a:t>检查：</a:t>
            </a:r>
          </a:p>
          <a:p>
            <a:r>
              <a:t>- 当前用户是否有权操作该订单</a:t>
            </a:r>
          </a:p>
          <a:p>
            <a:r>
              <a:t>- 字段是否完整</a:t>
            </a:r>
          </a:p>
          <a:p>
            <a:r>
              <a:t>- 是否满足受理要求</a:t>
            </a:r>
          </a:p>
          <a:p>
            <a:r>
              <a:t>- 是否存在重复申请</a:t>
            </a:r>
          </a:p>
          <a:p/>
          <a:p>
            <a:r>
              <a:t>输出：</a:t>
            </a:r>
          </a:p>
          <a:p>
            <a:r>
              <a:t>- 是否成功受理</a:t>
            </a:r>
          </a:p>
          <a:p>
            <a:r>
              <a:t>- 申请编号</a:t>
            </a:r>
          </a:p>
          <a:p>
            <a:r>
              <a:t>- 当前状态</a:t>
            </a:r>
          </a:p>
          <a:p>
            <a:r>
              <a:t>- 失败原因（如有）</a:t>
            </a:r>
          </a:p>
          <a:p>
            <a:r>
              <a:t>```</a:t>
            </a:r>
          </a:p>
          <a:p/>
          <a:p>
            <a:r>
              <a:t>模拟成功结果：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"accepted": true,</a:t>
            </a:r>
          </a:p>
          <a:p>
            <a:r>
              <a:t>  "application_id": "AS-DEMO-001",</a:t>
            </a:r>
          </a:p>
          <a:p>
            <a:r>
              <a:t>  "status": "pending_review"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此时回复应该是：</a:t>
            </a:r>
          </a:p>
          <a:p/>
          <a:p>
            <a:r>
              <a:t>&gt; “换货申请已提交，申请编号为 AS-DEMO-001，目前等待审核。您可以在售后记录中查看后续进度。”</a:t>
            </a:r>
          </a:p>
          <a:p/>
          <a:p>
            <a:r>
              <a:t>而不是：</a:t>
            </a:r>
          </a:p>
          <a:p/>
          <a:p>
            <a:r>
              <a:t>&gt; “换货已经批准，新耳机马上寄出。”</a:t>
            </a:r>
          </a:p>
          <a:p/>
          <a:p>
            <a:r>
              <a:t>### 如果提交超时</a:t>
            </a:r>
          </a:p>
          <a:p/>
          <a:p>
            <a:r>
              <a:t>这里尤其要小心。</a:t>
            </a:r>
          </a:p>
          <a:p/>
          <a:p>
            <a:r>
              <a:t>超时可能是申请没有提交成功，也可能是已经提交，但响应没有返回。</a:t>
            </a:r>
          </a:p>
          <a:p/>
          <a:p>
            <a:r>
              <a:t>因此不能立刻让模型再提交一次。系统应利用申请请求标识查询结果，或者通过防重复机制重试；仍无法确认时，明确告诉用户当前状态待确认，并提供后续处理方式。</a:t>
            </a:r>
          </a:p>
          <a:p/>
          <a:p>
            <a:r>
              <a:t>这是售后流程与普通问答的重要区别：**它可能改变业务数据，不能只关心最后一句话是否流畅。**</a:t>
            </a:r>
          </a:p>
          <a:p/>
          <a:p>
            <a:r>
              <a:t>## 十、投诉与特殊情况怎样处理</a:t>
            </a:r>
          </a:p>
          <a:p/>
          <a:p>
            <a:r>
              <a:t>同样进入售后分支的用户，可能说：</a:t>
            </a:r>
          </a:p>
          <a:p/>
          <a:p>
            <a:r>
              <a:t>&gt; “已经问了三次了，别再让我重新描述，找人工。”</a:t>
            </a:r>
          </a:p>
          <a:p/>
          <a:p>
            <a:r>
              <a:t>这时不应该机械地继续问故障、材料、订单等问题。</a:t>
            </a:r>
          </a:p>
          <a:p/>
          <a:p>
            <a:r>
              <a:t>可以复用前面已经收集的信息，转交人工，并说明正在交接。</a:t>
            </a:r>
          </a:p>
          <a:p/>
          <a:p>
            <a:r>
              <a:t>但如果用户只是说：</a:t>
            </a:r>
          </a:p>
          <a:p/>
          <a:p>
            <a:r>
              <a:t>&gt; “这个耳机太差了，我要换一个。”</a:t>
            </a:r>
          </a:p>
          <a:p/>
          <a:p>
            <a:r>
              <a:t>不必仅因为表达负面情绪，就立即停止所有自动处理。可以先承接明确的换货诉求，再根据业务条件和用户反馈决定是否升级人工。</a:t>
            </a:r>
          </a:p>
          <a:p/>
          <a:p>
            <a:r>
              <a:t>另外几类情况需要单独处理：</a:t>
            </a:r>
          </a:p>
          <a:p/>
          <a:p>
            <a:r>
              <a:t>- 找不到适用政策。</a:t>
            </a:r>
          </a:p>
          <a:p>
            <a:r>
              <a:t>- 两份有效资料存在冲突。</a:t>
            </a:r>
          </a:p>
          <a:p>
            <a:r>
              <a:t>- 用户要求超出当前权限的补偿。</a:t>
            </a:r>
          </a:p>
          <a:p>
            <a:r>
              <a:t>- 订单与售后系统状态不一致。</a:t>
            </a:r>
          </a:p>
          <a:p>
            <a:r>
              <a:t>- 当前问题无法通过既定流程继续处理。</a:t>
            </a:r>
          </a:p>
          <a:p/>
          <a:p>
            <a:r>
              <a:t>转人工时，应带上订单、诉求、故障信息、已尝试操作、已有申请及未解决原因。</a:t>
            </a:r>
          </a:p>
          <a:p/>
          <a:p>
            <a:r>
              <a:t>## 十一、用三组案例检查这条流程</a:t>
            </a:r>
          </a:p>
          <a:p/>
          <a:p>
            <a:r>
              <a:t>课堂不必把所有异常一次性运行完，先看三组代表情况。</a:t>
            </a:r>
          </a:p>
          <a:p/>
          <a:p>
            <a:r>
              <a:t>### 案例一：正常受理</a:t>
            </a:r>
          </a:p>
          <a:p/>
          <a:p>
            <a:r>
              <a:t>订单明确，政策适用，信息和材料完整，用户确认后模拟提交。</a:t>
            </a:r>
          </a:p>
          <a:p/>
          <a:p>
            <a:r>
              <a:t>检查是否正确返回“等待审核”，而不是“已经批准”。</a:t>
            </a:r>
          </a:p>
          <a:p/>
          <a:p>
            <a:r>
              <a:t>### 案例二：用户改变诉求</a:t>
            </a:r>
          </a:p>
          <a:p/>
          <a:p>
            <a:r>
              <a:t>换货申请确认前，用户改成退货。</a:t>
            </a:r>
          </a:p>
          <a:p/>
          <a:p>
            <a:r>
              <a:t>检查是否更新申请类型、重新检查要求，并再次确认；不能继续提交旧申请。</a:t>
            </a:r>
          </a:p>
          <a:p/>
          <a:p>
            <a:r>
              <a:t>### 案例三：缺少政策或提交结果不明</a:t>
            </a:r>
          </a:p>
          <a:p/>
          <a:p>
            <a:r>
              <a:t>检查系统是否停在合适的位置：</a:t>
            </a:r>
          </a:p>
          <a:p/>
          <a:p>
            <a:r>
              <a:t>- 不能因为缺少政策，就生成一份听起来合理的规则。</a:t>
            </a:r>
          </a:p>
          <a:p>
            <a:r>
              <a:t>- 不能因为提交超时，就宣称失败或成功。</a:t>
            </a:r>
          </a:p>
          <a:p>
            <a:r>
              <a:t>- 需要人工时，不能丢失已经收集的信息。</a:t>
            </a:r>
          </a:p>
          <a:p/>
          <a:p>
            <a:r>
              <a:t>这几组案例分别检查：正常流程能否完成、对话变化能否接住、异常时能否可靠处理。</a:t>
            </a:r>
          </a:p>
          <a:p/>
          <a:p>
            <a:r>
              <a:t>## 十二、本节完成了什么</a:t>
            </a:r>
          </a:p>
          <a:p/>
          <a:p>
            <a:r>
              <a:t>我们已经把用户的一句换货请求，拆成了具体的售后过程：</a:t>
            </a:r>
          </a:p>
          <a:p/>
          <a:p>
            <a:r>
              <a:t>**确认订单 → 了解故障与诉求 → 查询适用要求 → 补齐信息 → 用户确认 → 引导申请或模拟提交 → 返回实际状态。**</a:t>
            </a:r>
          </a:p>
          <a:p/>
          <a:p>
            <a:r>
              <a:t>知乎的售后子工作流帮助我们组织处理路径；亚慧的工单助手帮助我们进一步看清字段检查、追问、确认和执行之间的关系。</a:t>
            </a:r>
          </a:p>
          <a:p/>
          <a:p>
            <a:r>
              <a:t>下一节，我们转向购买前的需求：**商品推荐与闲聊兜底**。</a:t>
            </a:r>
          </a:p>
          <a:p/>
          <a:p>
            <a:r>
              <a:t>用户不再要求处理已有订单，而是说：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我们会看这条路径与订单查询、售后处理有哪些共通之处，又有哪些不同。</a:t>
            </a:r>
          </a:p>
          <a:p/>
          <a:p>
            <a:r>
              <a:t>---</a:t>
            </a:r>
          </a:p>
          <a:p/>
          <a:p>
            <a:r>
              <a:t>**素材说明：**售后分支结构参考知乎第 7 课客服项目；字段补齐、确认及工具执行参考亚慧讲义第 6.4 节，多轮信息更新参考第 4.22 节。具体政策、数据、接口和测试案例为本课程教学设计，模拟提交属于补充方案，尚未运行验证。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先讲清问政策、具体咨询和申请处理的差别，再讲范围边界。</a:t>
            </a:r>
          </a:p>
          <a:p/>
          <a:p>
            <a:r>
              <a:t>先看三句话：</a:t>
            </a:r>
          </a:p>
          <a:p/>
          <a:p>
            <a:r>
              <a:t>&gt; ①“耳机坏了能换吗？”  </a:t>
            </a:r>
          </a:p>
          <a:p>
            <a:r>
              <a:t>&gt; ②“我买的耳机右边没有声音，能换吗？”  </a:t>
            </a:r>
          </a:p>
          <a:p>
            <a:r>
              <a:t>&gt; ③“我买的耳机右边没有声音，帮我申请换货。”</a:t>
            </a:r>
          </a:p>
          <a:p/>
          <a:p>
            <a:r>
              <a:t>这三句话都与换货有关，但系统下一步不应该完全一样。</a:t>
            </a:r>
          </a:p>
          <a:p/>
          <a:p>
            <a:r>
              <a:t>| 用户表达 | 当前需要做什么 |</a:t>
            </a:r>
          </a:p>
          <a:p>
            <a:r>
              <a:t>|---|---|</a:t>
            </a:r>
          </a:p>
          <a:p>
            <a:r>
              <a:t>| 泛泛询问换货政策 | 解释适用条件，必要时确认商品或问题类型 |</a:t>
            </a:r>
          </a:p>
          <a:p>
            <a:r>
              <a:t>| 询问自己的商品能否换货 | 结合订单、故障和适用政策继续确认 |</a:t>
            </a:r>
          </a:p>
          <a:p>
            <a:r>
              <a:t>| 明确要求申请换货 | 收集申请所需信息，引导确认和提交 |</a:t>
            </a:r>
          </a:p>
          <a:p/>
          <a:p>
            <a:r>
              <a:t>第一种情况，不一定需要一上来就要求用户提供订单和图片。</a:t>
            </a:r>
          </a:p>
          <a:p/>
          <a:p>
            <a:r>
              <a:t>第三种情况，如果系统仍然只返回一段政策，也没有完成用户的需求。</a:t>
            </a:r>
          </a:p>
          <a:p/>
          <a:p>
            <a:r>
              <a:t>因此，进入售后分支以后，还需要进一步理解：</a:t>
            </a:r>
          </a:p>
          <a:p/>
          <a:p>
            <a:r>
              <a:t>**用户是在了解规则，还是希望处理自己的问题？目前的信息足不足以继续？**</a:t>
            </a:r>
          </a:p>
          <a:p/>
          <a:p>
            <a:r>
              <a:t>本节重点处理第三种情况。</a:t>
            </a:r>
          </a:p>
          <a:p/>
          <a:p>
            <a:r>
              <a:t>我们先把当前版本的服务范围说清楚。</a:t>
            </a:r>
          </a:p>
          <a:p/>
          <a:p>
            <a:r>
              <a:t>这条流程可以：</a:t>
            </a:r>
          </a:p>
          <a:p/>
          <a:p>
            <a:r>
              <a:t>- 确认对应订单和商品。</a:t>
            </a:r>
          </a:p>
          <a:p>
            <a:r>
              <a:t>- 了解故障以及用户希望的处理方式。</a:t>
            </a:r>
          </a:p>
          <a:p>
            <a:r>
              <a:t>- 查询适用的售后要求。</a:t>
            </a:r>
          </a:p>
          <a:p>
            <a:r>
              <a:t>- 收集必要材料。</a:t>
            </a:r>
          </a:p>
          <a:p>
            <a:r>
              <a:t>- 生成申请内容供用户确认。</a:t>
            </a:r>
          </a:p>
          <a:p>
            <a:r>
              <a:t>- 引导进入申请入口，或在模拟环境中提交申请。</a:t>
            </a:r>
          </a:p>
          <a:p>
            <a:r>
              <a:t>- 特殊情况交给人工处理。</a:t>
            </a:r>
          </a:p>
          <a:p/>
          <a:p>
            <a:r>
              <a:t>但它不直接完成以下事情：</a:t>
            </a:r>
          </a:p>
          <a:p/>
          <a:p>
            <a:r>
              <a:t>- 判断商品一定存在质量问题。</a:t>
            </a:r>
          </a:p>
          <a:p>
            <a:r>
              <a:t>- 批准所有换货请求。</a:t>
            </a:r>
          </a:p>
          <a:p>
            <a:r>
              <a:t>- 自动退款或决定赔偿金额。</a:t>
            </a:r>
          </a:p>
          <a:p>
            <a:r>
              <a:t>- 承诺换货一定通过、什么时候寄出。</a:t>
            </a:r>
          </a:p>
          <a:p/>
          <a:p>
            <a:r>
              <a:t>这里最重要的区别是：</a:t>
            </a:r>
          </a:p>
          <a:p/>
          <a:p>
            <a:r>
              <a:t>**受理申请，不等于批准申请。**</a:t>
            </a:r>
          </a:p>
          <a:p/>
          <a:p>
            <a:r>
              <a:t>用户提交了一份换货申请，系统可以告诉他“已提交，等待审核”。如果后面还需要人工审核或商品检测，就不能说“换货已通过”。</a:t>
            </a:r>
          </a:p>
          <a:p/>
          <a:p>
            <a:r>
              <a:t>为了看清完整过程，本节会展示模拟提交的设计。它是借鉴亚慧工单助手后补充的教学环节，不代表我们已经接入真实商家的售后系统。</a:t>
            </a:r>
          </a:p>
          <a:p/>
          <a:p>
            <a:r>
              <a:t>```text</a:t>
            </a:r>
          </a:p>
          <a:p>
            <a:r>
              <a:t>用户提出售后问题</a:t>
            </a:r>
          </a:p>
          <a:p>
            <a:r>
              <a:t>        ↓</a:t>
            </a:r>
          </a:p>
          <a:p>
            <a:r>
              <a:t>判断是政策咨询，还是具体处理请求</a:t>
            </a:r>
          </a:p>
          <a:p>
            <a:r>
              <a:t>        ↓</a:t>
            </a:r>
          </a:p>
          <a:p>
            <a:r>
              <a:t>确认订单和商品</a:t>
            </a:r>
          </a:p>
          <a:p>
            <a:r>
              <a:t>        ↓</a:t>
            </a:r>
          </a:p>
          <a:p>
            <a:r>
              <a:t>识别诉求，收集必要的故障信息</a:t>
            </a:r>
          </a:p>
          <a:p>
            <a:r>
              <a:t>        ↓</a:t>
            </a:r>
          </a:p>
          <a:p>
            <a:r>
              <a:t>查询适用政策，检查基础条件</a:t>
            </a:r>
          </a:p>
          <a:p>
            <a:r>
              <a:t>        ↓</a:t>
            </a:r>
          </a:p>
          <a:p>
            <a:r>
              <a:t>补充材料，整理申请内容</a:t>
            </a:r>
          </a:p>
          <a:p>
            <a:r>
              <a:t>        ↓</a:t>
            </a:r>
          </a:p>
          <a:p>
            <a:r>
              <a:t>用户确认</a:t>
            </a:r>
          </a:p>
          <a:p>
            <a:r>
              <a:t>        ↓</a:t>
            </a:r>
          </a:p>
          <a:p>
            <a:r>
              <a:t>进入申请入口／模拟提交申请</a:t>
            </a:r>
          </a:p>
          <a:p>
            <a:r>
              <a:t>        ↓</a:t>
            </a:r>
          </a:p>
          <a:p>
            <a:r>
              <a:t>返回实际处理状态</a:t>
            </a:r>
          </a:p>
          <a:p>
            <a:r>
              <a:t>```</a:t>
            </a:r>
          </a:p>
          <a:p/>
          <a:p>
            <a:r>
              <a:t>在这条流程中，如果出现政策冲突、无法确认的信息、特殊要求或用户明确要求人工，就进入人工处理路径。</a:t>
            </a:r>
          </a:p>
          <a:p/>
          <a:p>
            <a:r>
              <a:t>下面逐步展开。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讲解复用信息、缺失字段、售后知识材料和模型/规则/系统/人工分工。</a:t>
            </a:r>
          </a:p>
          <a:p/>
          <a:p>
            <a:r>
              <a:t>用户说：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这句话已经提供了三项信息：</a:t>
            </a:r>
          </a:p>
          <a:p/>
          <a:p>
            <a:r>
              <a:t>- 商品出现了声音故障。</a:t>
            </a:r>
          </a:p>
          <a:p>
            <a:r>
              <a:t>- 问题发生在右侧。</a:t>
            </a:r>
          </a:p>
          <a:p>
            <a:r>
              <a:t>- 用户希望换货。</a:t>
            </a:r>
          </a:p>
          <a:p/>
          <a:p>
            <a:r>
              <a:t>这些信息应该先保留下来，不要确认完订单后再问：</a:t>
            </a:r>
          </a:p>
          <a:p/>
          <a:p>
            <a:r>
              <a:t>&gt; “请问您的商品出现了什么问题？”  </a:t>
            </a:r>
          </a:p>
          <a:p>
            <a:r>
              <a:t>&gt; “您是想退款还是换货？”</a:t>
            </a:r>
          </a:p>
          <a:p/>
          <a:p>
            <a:r>
              <a:t>如果当前会话已经确认了订单，可以继续使用；如果没有，就复用上一节的订单选择流程。</a:t>
            </a:r>
          </a:p>
          <a:p/>
          <a:p>
            <a:r>
              <a:t>假设用户选中了：</a:t>
            </a:r>
          </a:p>
          <a:p/>
          <a:p>
            <a:r>
              <a:t>&gt; DEMO-101｜AirLite 蓝牙耳机｜白色｜9 月 4 日签收。</a:t>
            </a:r>
          </a:p>
          <a:p/>
          <a:p>
            <a:r>
              <a:t>系统现在可以整理出：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"DEMO-101",</a:t>
            </a:r>
          </a:p>
          <a:p>
            <a:r>
              <a:t>  "requested_action": "exchange",</a:t>
            </a:r>
          </a:p>
          <a:p>
            <a:r>
              <a:t>  "issue_description": "右侧耳机没有声音",</a:t>
            </a:r>
          </a:p>
          <a:p>
            <a:r>
              <a:t>  "issue_start": null,</a:t>
            </a:r>
          </a:p>
          <a:p>
            <a:r>
              <a:t>  "materials": [],</a:t>
            </a:r>
          </a:p>
          <a:p>
            <a:r>
              <a:t>  "confirmed": false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这里仍然缺少的信息，要根据后面的处理要求来判断。</a:t>
            </a:r>
          </a:p>
          <a:p/>
          <a:p>
            <a:r>
              <a:t>**不是把所有字段都问一遍，而是先利用已有信息，再询问真正缺少的部分。**</a:t>
            </a:r>
          </a:p>
          <a:p/>
          <a:p>
            <a:r>
              <a:t>先让学员选择：</a:t>
            </a:r>
          </a:p>
          <a:p/>
          <a:p>
            <a:r>
              <a:t>&gt; 订单已经确认，用户也说了右侧没有声音。下面哪种做法更合适？</a:t>
            </a:r>
          </a:p>
          <a:p/>
          <a:p>
            <a:r>
              <a:t>**A.** 把完整售后表单的所有字段一次性发给用户。  </a:t>
            </a:r>
          </a:p>
          <a:p>
            <a:r>
              <a:t>**B.** 根据当前申请所缺的信息，继续问一个必要问题。  </a:t>
            </a:r>
          </a:p>
          <a:p>
            <a:r>
              <a:t>**C.** 直接生成换货申请，缺少的内容由模型补齐。</a:t>
            </a:r>
          </a:p>
          <a:p/>
          <a:p>
            <a:r>
              <a:t>当前选择 **B**。</a:t>
            </a:r>
          </a:p>
          <a:p/>
          <a:p>
            <a:r>
              <a:t>假设这类申请需要区分：收到时就存在问题，还是使用过程中出现问题。</a:t>
            </a:r>
          </a:p>
          <a:p/>
          <a:p>
            <a:r>
              <a:t>可以继续问：</a:t>
            </a:r>
          </a:p>
          <a:p/>
          <a:p>
            <a:r>
              <a:t>&gt; “请问右侧耳机是收到后一直没有声音，还是使用过程中才出现的？”</a:t>
            </a:r>
          </a:p>
          <a:p/>
          <a:p>
            <a:r>
              <a:t>用户回答：</a:t>
            </a:r>
          </a:p>
          <a:p/>
          <a:p>
            <a:r>
              <a:t>&gt; “收到就是这样。”</a:t>
            </a:r>
          </a:p>
          <a:p/>
          <a:p>
            <a:r>
              <a:t>系统记录后，不需要继续围绕这个问题反复追问。</a:t>
            </a:r>
          </a:p>
          <a:p/>
          <a:p>
            <a:r>
              <a:t>接下来，如果该型号的处理指引建议先确认左右耳是否正常连接，可以给出对应的基础检查步骤。但要注意两点：</a:t>
            </a:r>
          </a:p>
          <a:p/>
          <a:p>
            <a:r>
              <a:t>- 检查步骤应该来自商品使用资料，不由模型临时编造。</a:t>
            </a:r>
          </a:p>
          <a:p>
            <a:r>
              <a:t>- 用户已经尝试过的操作，不应无理由要求反复操作。</a:t>
            </a:r>
          </a:p>
          <a:p/>
          <a:p>
            <a:r>
              <a:t>例如：</a:t>
            </a:r>
          </a:p>
          <a:p/>
          <a:p>
            <a:r>
              <a:t>&gt; 用户：“我已经重新连接过了，还是没有声音。”</a:t>
            </a:r>
          </a:p>
          <a:p/>
          <a:p>
            <a:r>
              <a:t>就可以记录为已尝试，而不是再回复一遍相同教程。</a:t>
            </a:r>
          </a:p>
          <a:p/>
          <a:p>
            <a:r>
              <a:t>这里的产品设计不只是“让模型会追问”，还包括：</a:t>
            </a:r>
          </a:p>
          <a:p/>
          <a:p>
            <a:r>
              <a:t>**哪些问题必须问、哪些条件下才问、用户回答后怎样记录，以及什么时候停止追问。**</a:t>
            </a:r>
          </a:p>
          <a:p/>
          <a:p>
            <a:r>
              <a:t>现在需要查询售后要求。</a:t>
            </a:r>
          </a:p>
          <a:p/>
          <a:p>
            <a:r>
              <a:t>这里不能只放一份笼统的“支持退换货”说明。系统需要知道这份要求适用于什么商品、什么问题，以及下一步应该怎样处理。</a:t>
            </a:r>
          </a:p>
          <a:p/>
          <a:p>
            <a:r>
              <a:t>我们可以准备下面几类教学材料：</a:t>
            </a:r>
          </a:p>
          <a:p/>
          <a:p>
            <a:r>
              <a:t>| 材料 | 主要内容 | 在流程中的用途 |</a:t>
            </a:r>
          </a:p>
          <a:p>
            <a:r>
              <a:t>|---|---|---|</a:t>
            </a:r>
          </a:p>
          <a:p>
            <a:r>
              <a:t>| 商品使用与故障排查说明 | 型号、常见问题、基础检查步骤 | 帮助理解故障和提供使用指导 |</a:t>
            </a:r>
          </a:p>
          <a:p>
            <a:r>
              <a:t>| 售后申请受理指引 | 适用商品、问题类型、材料要求 | 确定申请需要收集什么 |</a:t>
            </a:r>
          </a:p>
          <a:p>
            <a:r>
              <a:t>| 售后处理流程说明 | 提交、审核、检测、后续通知 | 解释当前状态和下一步 |</a:t>
            </a:r>
          </a:p>
          <a:p>
            <a:r>
              <a:t>| 特殊情况处理说明 | 政策冲突、重复申请、异常订单等 | 确定何时转人工 |</a:t>
            </a:r>
          </a:p>
          <a:p/>
          <a:p>
            <a:r>
              <a:t>以一条教学知识为例：</a:t>
            </a:r>
          </a:p>
          <a:p/>
          <a:p>
            <a:r>
              <a:t>&gt; **标题：AirLite 耳机单侧无声问题的售后申请指引**  </a:t>
            </a:r>
          </a:p>
          <a:p>
            <a:r>
              <a:t>&gt; 适用商品：AirLite 系列耳机。  </a:t>
            </a:r>
          </a:p>
          <a:p>
            <a:r>
              <a:t>&gt; 问题类型：单侧无声。  </a:t>
            </a:r>
          </a:p>
          <a:p>
            <a:r>
              <a:t>&gt; 受理要求：确认订单、故障表现及已尝试的基础检查；按申请入口要求补充材料。  </a:t>
            </a:r>
          </a:p>
          <a:p>
            <a:r>
              <a:t>&gt; 处理说明：可提交售后申请，最终处理结果由审核或检测环节确认。  </a:t>
            </a:r>
          </a:p>
          <a:p>
            <a:r>
              <a:t>&gt; 文档状态：已发布。  </a:t>
            </a:r>
          </a:p>
          <a:p>
            <a:r>
              <a:t>&gt; 版本：教学版 V1。</a:t>
            </a:r>
          </a:p>
          <a:p/>
          <a:p>
            <a:r>
              <a:t>这段内容不是实际售后政策，而是用于说明知识应该怎样组织。</a:t>
            </a:r>
          </a:p>
          <a:p/>
          <a:p>
            <a:r>
              <a:t>### 检索时，不只看文字相似</a:t>
            </a:r>
          </a:p>
          <a:p/>
          <a:p>
            <a:r>
              <a:t>用户问的是 AirLite 耳机，不能因为“没有声音”很相似，就把另一款音箱的售后说明拿来回答。</a:t>
            </a:r>
          </a:p>
          <a:p/>
          <a:p>
            <a:r>
              <a:t>检索时需要利用已确认的信息：</a:t>
            </a:r>
          </a:p>
          <a:p/>
          <a:p>
            <a:r>
              <a:t>- 商品型号。</a:t>
            </a:r>
          </a:p>
          <a:p>
            <a:r>
              <a:t>- 故障类型。</a:t>
            </a:r>
          </a:p>
          <a:p>
            <a:r>
              <a:t>- 用户诉求。</a:t>
            </a:r>
          </a:p>
          <a:p>
            <a:r>
              <a:t>- 文档是否有效。</a:t>
            </a:r>
          </a:p>
          <a:p>
            <a:r>
              <a:t>- 适用的店铺或业务范围。</a:t>
            </a:r>
          </a:p>
          <a:p/>
          <a:p>
            <a:r>
              <a:t>这些可以作为检索条件或结果校验条件。</a:t>
            </a:r>
          </a:p>
          <a:p/>
          <a:p>
            <a:r>
              <a:t>如果材料中有多个版本，还要明确哪些已经失效，不能让模型在两份冲突政策之间随意选一份。</a:t>
            </a:r>
          </a:p>
          <a:p/>
          <a:p>
            <a:r>
              <a:t>### 看一眼模型实际拿到了什么</a:t>
            </a:r>
          </a:p>
          <a:p/>
          <a:p>
            <a:r>
              <a:t>课堂上，这里应该展示检索结果，而不是只展示最终回答。</a:t>
            </a:r>
          </a:p>
          <a:p/>
          <a:p>
            <a:r>
              <a:t>我们需要检查：</a:t>
            </a:r>
          </a:p>
          <a:p/>
          <a:p>
            <a:r>
              <a:t>- 是否找到了对应型号的材料。</a:t>
            </a:r>
          </a:p>
          <a:p>
            <a:r>
              <a:t>- 返回的片段是否包含当前需要的内容。</a:t>
            </a:r>
          </a:p>
          <a:p>
            <a:r>
              <a:t>- 有没有把重要前提切掉。</a:t>
            </a:r>
          </a:p>
          <a:p>
            <a:r>
              <a:t>- 是否混入不相关或过期内容。</a:t>
            </a:r>
          </a:p>
          <a:p/>
          <a:p>
            <a:r>
              <a:t>如果检索结果本身不对，后面再精心调整回复语气，也解决不了业务错误。</a:t>
            </a:r>
          </a:p>
          <a:p/>
          <a:p>
            <a:r>
              <a:t>到这一步，很容易产生一个误解：</a:t>
            </a:r>
          </a:p>
          <a:p/>
          <a:p>
            <a:r>
              <a:t>&gt; “既然已经把售后政策交给大模型，那是不是让它决定能不能换就好了？”</a:t>
            </a:r>
          </a:p>
          <a:p/>
          <a:p>
            <a:r>
              <a:t>不能笼统地这样处理。</a:t>
            </a:r>
          </a:p>
          <a:p/>
          <a:p>
            <a:r>
              <a:t>我们沿着当前案例区分一下：</a:t>
            </a:r>
          </a:p>
          <a:p/>
          <a:p>
            <a:r>
              <a:t>| 工作 | 主要负责方 |</a:t>
            </a:r>
          </a:p>
          <a:p>
            <a:r>
              <a:t>|---|---|</a:t>
            </a:r>
          </a:p>
          <a:p>
            <a:r>
              <a:t>| 理解“右边没声音，想换一个” | 大模型 |</a:t>
            </a:r>
          </a:p>
          <a:p>
            <a:r>
              <a:t>| 确认购买商品和签收信息 | 订单系统 |</a:t>
            </a:r>
          </a:p>
          <a:p>
            <a:r>
              <a:t>| 找到适用的申请要求 | 知识检索与适用范围校验 |</a:t>
            </a:r>
          </a:p>
          <a:p>
            <a:r>
              <a:t>| 检查必要字段是否齐全 | 明确的字段规则 |</a:t>
            </a:r>
          </a:p>
          <a:p>
            <a:r>
              <a:t>| 检查是否已有同类未完成申请 | 售后系统与业务规则 |</a:t>
            </a:r>
          </a:p>
          <a:p>
            <a:r>
              <a:t>| 根据缺失信息生成自然追问 | 大模型 |</a:t>
            </a:r>
          </a:p>
          <a:p>
            <a:r>
              <a:t>| 提交售后申请 | 业务接口 |</a:t>
            </a:r>
          </a:p>
          <a:p>
            <a:r>
              <a:t>| 对特殊情况作最终处理决定 | 有相应权限的业务人员或系统 |</a:t>
            </a:r>
          </a:p>
          <a:p/>
          <a:p>
            <a:r>
              <a:t>这里要区分两个动作：</a:t>
            </a:r>
          </a:p>
          <a:p/>
          <a:p>
            <a:r>
              <a:t>- **解释规则**：把适用要求说明白。</a:t>
            </a:r>
          </a:p>
          <a:p>
            <a:r>
              <a:t>- **执行规则**：根据准确字段和确定条件作出处理。</a:t>
            </a:r>
          </a:p>
          <a:p/>
          <a:p>
            <a:r>
              <a:t>例如，是否存在一份重复申请，应该查询售后记录，不能让模型猜。</a:t>
            </a:r>
          </a:p>
          <a:p/>
          <a:p>
            <a:r>
              <a:t>是否允许进入申请流程，也应由明确的受理规则或售后系统判断。模型可以解释结果，但不能绕过限制。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完整讲解确认页、修改失效、模拟提交、幂等与超时、投诉转人工和三组测试。</a:t>
            </a:r>
          </a:p>
          <a:p/>
          <a:p>
            <a:r>
              <a:t>假设现在已经确认：</a:t>
            </a:r>
          </a:p>
          <a:p/>
          <a:p>
            <a:r>
              <a:t>- 订单：DEMO-101。</a:t>
            </a:r>
          </a:p>
          <a:p>
            <a:r>
              <a:t>- 商品：AirLite 蓝牙耳机，白色。</a:t>
            </a:r>
          </a:p>
          <a:p>
            <a:r>
              <a:t>- 诉求：换货。</a:t>
            </a:r>
          </a:p>
          <a:p>
            <a:r>
              <a:t>- 故障：右侧没有声音，收到时就存在。</a:t>
            </a:r>
          </a:p>
          <a:p>
            <a:r>
              <a:t>- 已尝试操作：重新连接，问题仍然存在。</a:t>
            </a:r>
          </a:p>
          <a:p>
            <a:r>
              <a:t>- 所需材料：已按教学流程补充。</a:t>
            </a:r>
          </a:p>
          <a:p/>
          <a:p>
            <a:r>
              <a:t>接下来，不应该直接提交，而是让用户确认。</a:t>
            </a:r>
          </a:p>
          <a:p/>
          <a:p>
            <a:r>
              <a:t>页面可以展示：</a:t>
            </a:r>
          </a:p>
          <a:p/>
          <a:p>
            <a:r>
              <a:t>&gt; **请确认本次售后申请**</a:t>
            </a:r>
          </a:p>
          <a:p>
            <a:r>
              <a:t>&gt;</a:t>
            </a:r>
          </a:p>
          <a:p>
            <a:r>
              <a:t>&gt; 商品：AirLite 蓝牙耳机，白色  </a:t>
            </a:r>
          </a:p>
          <a:p>
            <a:r>
              <a:t>&gt; 订单：DEMO-101  </a:t>
            </a:r>
          </a:p>
          <a:p>
            <a:r>
              <a:t>&gt; 申请类型：换货  </a:t>
            </a:r>
          </a:p>
          <a:p>
            <a:r>
              <a:t>&gt; 问题描述：收到后右侧无声，重新连接后仍未恢复  </a:t>
            </a:r>
          </a:p>
          <a:p>
            <a:r>
              <a:t>&gt; 补充材料：已添加  </a:t>
            </a:r>
          </a:p>
          <a:p>
            <a:r>
              <a:t>&gt;</a:t>
            </a:r>
          </a:p>
          <a:p>
            <a:r>
              <a:t>&gt; 提交后进入售后审核，最终处理结果以审核通知为准。</a:t>
            </a:r>
          </a:p>
          <a:p>
            <a:r>
              <a:t>&gt;</a:t>
            </a:r>
          </a:p>
          <a:p>
            <a:r>
              <a:t>&gt; 【确认提交】　【修改信息】</a:t>
            </a:r>
          </a:p>
          <a:p/>
          <a:p>
            <a:r>
              <a:t>这个页面有两个作用：</a:t>
            </a:r>
          </a:p>
          <a:p/>
          <a:p>
            <a:r>
              <a:t>第一，让用户看到系统究竟理解成了什么，及时纠正。</a:t>
            </a:r>
          </a:p>
          <a:p/>
          <a:p>
            <a:r>
              <a:t>第二，把自然语言交流转成明确的业务操作。</a:t>
            </a:r>
          </a:p>
          <a:p/>
          <a:p>
            <a:r>
              <a:t>用户前面说“我想换一个”，表达了处理意愿；确认页则让他核对即将提交的具体内容。</a:t>
            </a:r>
          </a:p>
          <a:p/>
          <a:p>
            <a:r>
              <a:t>### 如果用户这时改口怎么办</a:t>
            </a:r>
          </a:p>
          <a:p/>
          <a:p>
            <a:r>
              <a:t>&gt; “算了，我想退货，不换了。”</a:t>
            </a:r>
          </a:p>
          <a:p/>
          <a:p>
            <a:r>
              <a:t>系统需要更新申请类型，并重新检查退货路径是否需要不同的信息或处理要求。</a:t>
            </a:r>
          </a:p>
          <a:p/>
          <a:p>
            <a:r>
              <a:t>可以保留已经核实的订单和故障，但不能沿用旧的“换货确认”直接提交。</a:t>
            </a:r>
          </a:p>
          <a:p/>
          <a:p>
            <a:r>
              <a:t>**修改关键申请内容后，之前的确认应当失效，需要重新确认。**</a:t>
            </a:r>
          </a:p>
          <a:p/>
          <a:p>
            <a:r>
              <a:t>假设当前教学工具支持模拟提交：</a:t>
            </a:r>
          </a:p>
          <a:p/>
          <a:p>
            <a:r>
              <a:t>```text</a:t>
            </a:r>
          </a:p>
          <a:p>
            <a:r>
              <a:t>工具：提交售后申请</a:t>
            </a:r>
          </a:p>
          <a:p/>
          <a:p>
            <a:r>
              <a:t>输入：</a:t>
            </a:r>
          </a:p>
          <a:p>
            <a:r>
              <a:t>- 已确认订单</a:t>
            </a:r>
          </a:p>
          <a:p>
            <a:r>
              <a:t>- 申请类型</a:t>
            </a:r>
          </a:p>
          <a:p>
            <a:r>
              <a:t>- 故障描述</a:t>
            </a:r>
          </a:p>
          <a:p>
            <a:r>
              <a:t>- 必要材料</a:t>
            </a:r>
          </a:p>
          <a:p>
            <a:r>
              <a:t>- 本次申请请求标识</a:t>
            </a:r>
          </a:p>
          <a:p/>
          <a:p>
            <a:r>
              <a:t>检查：</a:t>
            </a:r>
          </a:p>
          <a:p>
            <a:r>
              <a:t>- 当前用户是否有权操作该订单</a:t>
            </a:r>
          </a:p>
          <a:p>
            <a:r>
              <a:t>- 字段是否完整</a:t>
            </a:r>
          </a:p>
          <a:p>
            <a:r>
              <a:t>- 是否满足受理要求</a:t>
            </a:r>
          </a:p>
          <a:p>
            <a:r>
              <a:t>- 是否存在重复申请</a:t>
            </a:r>
          </a:p>
          <a:p/>
          <a:p>
            <a:r>
              <a:t>输出：</a:t>
            </a:r>
          </a:p>
          <a:p>
            <a:r>
              <a:t>- 是否成功受理</a:t>
            </a:r>
          </a:p>
          <a:p>
            <a:r>
              <a:t>- 申请编号</a:t>
            </a:r>
          </a:p>
          <a:p>
            <a:r>
              <a:t>- 当前状态</a:t>
            </a:r>
          </a:p>
          <a:p>
            <a:r>
              <a:t>- 失败原因（如有）</a:t>
            </a:r>
          </a:p>
          <a:p>
            <a:r>
              <a:t>```</a:t>
            </a:r>
          </a:p>
          <a:p/>
          <a:p>
            <a:r>
              <a:t>模拟成功结果：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"accepted": true,</a:t>
            </a:r>
          </a:p>
          <a:p>
            <a:r>
              <a:t>  "application_id": "AS-DEMO-001",</a:t>
            </a:r>
          </a:p>
          <a:p>
            <a:r>
              <a:t>  "status": "pending_review"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此时回复应该是：</a:t>
            </a:r>
          </a:p>
          <a:p/>
          <a:p>
            <a:r>
              <a:t>&gt; “换货申请已提交，申请编号为 AS-DEMO-001，目前等待审核。您可以在售后记录中查看后续进度。”</a:t>
            </a:r>
          </a:p>
          <a:p/>
          <a:p>
            <a:r>
              <a:t>而不是：</a:t>
            </a:r>
          </a:p>
          <a:p/>
          <a:p>
            <a:r>
              <a:t>&gt; “换货已经批准，新耳机马上寄出。”</a:t>
            </a:r>
          </a:p>
          <a:p/>
          <a:p>
            <a:r>
              <a:t>### 如果提交超时</a:t>
            </a:r>
          </a:p>
          <a:p/>
          <a:p>
            <a:r>
              <a:t>这里尤其要小心。</a:t>
            </a:r>
          </a:p>
          <a:p/>
          <a:p>
            <a:r>
              <a:t>超时可能是申请没有提交成功，也可能是已经提交，但响应没有返回。</a:t>
            </a:r>
          </a:p>
          <a:p/>
          <a:p>
            <a:r>
              <a:t>因此不能立刻让模型再提交一次。系统应利用申请请求标识查询结果，或者通过防重复机制重试；仍无法确认时，明确告诉用户当前状态待确认，并提供后续处理方式。</a:t>
            </a:r>
          </a:p>
          <a:p/>
          <a:p>
            <a:r>
              <a:t>这是售后流程与普通问答的重要区别：**它可能改变业务数据，不能只关心最后一句话是否流畅。**</a:t>
            </a:r>
          </a:p>
          <a:p/>
          <a:p>
            <a:r>
              <a:t>同样进入售后分支的用户，可能说：</a:t>
            </a:r>
          </a:p>
          <a:p/>
          <a:p>
            <a:r>
              <a:t>&gt; “已经问了三次了，别再让我重新描述，找人工。”</a:t>
            </a:r>
          </a:p>
          <a:p/>
          <a:p>
            <a:r>
              <a:t>这时不应该机械地继续问故障、材料、订单等问题。</a:t>
            </a:r>
          </a:p>
          <a:p/>
          <a:p>
            <a:r>
              <a:t>可以复用前面已经收集的信息，转交人工，并说明正在交接。</a:t>
            </a:r>
          </a:p>
          <a:p/>
          <a:p>
            <a:r>
              <a:t>但如果用户只是说：</a:t>
            </a:r>
          </a:p>
          <a:p/>
          <a:p>
            <a:r>
              <a:t>&gt; “这个耳机太差了，我要换一个。”</a:t>
            </a:r>
          </a:p>
          <a:p/>
          <a:p>
            <a:r>
              <a:t>不必仅因为表达负面情绪，就立即停止所有自动处理。可以先承接明确的换货诉求，再根据业务条件和用户反馈决定是否升级人工。</a:t>
            </a:r>
          </a:p>
          <a:p/>
          <a:p>
            <a:r>
              <a:t>另外几类情况需要单独处理：</a:t>
            </a:r>
          </a:p>
          <a:p/>
          <a:p>
            <a:r>
              <a:t>- 找不到适用政策。</a:t>
            </a:r>
          </a:p>
          <a:p>
            <a:r>
              <a:t>- 两份有效资料存在冲突。</a:t>
            </a:r>
          </a:p>
          <a:p>
            <a:r>
              <a:t>- 用户要求超出当前权限的补偿。</a:t>
            </a:r>
          </a:p>
          <a:p>
            <a:r>
              <a:t>- 订单与售后系统状态不一致。</a:t>
            </a:r>
          </a:p>
          <a:p>
            <a:r>
              <a:t>- 当前问题无法通过既定流程继续处理。</a:t>
            </a:r>
          </a:p>
          <a:p/>
          <a:p>
            <a:r>
              <a:t>转人工时，应带上订单、诉求、故障信息、已尝试操作、已有申请及未解决原因。</a:t>
            </a:r>
          </a:p>
          <a:p/>
          <a:p>
            <a:r>
              <a:t>课堂不必把所有异常一次性运行完，先看三组代表情况。</a:t>
            </a:r>
          </a:p>
          <a:p/>
          <a:p>
            <a:r>
              <a:t>### 案例一：正常受理</a:t>
            </a:r>
          </a:p>
          <a:p/>
          <a:p>
            <a:r>
              <a:t>订单明确，政策适用，信息和材料完整，用户确认后模拟提交。</a:t>
            </a:r>
          </a:p>
          <a:p/>
          <a:p>
            <a:r>
              <a:t>检查是否正确返回“等待审核”，而不是“已经批准”。</a:t>
            </a:r>
          </a:p>
          <a:p/>
          <a:p>
            <a:r>
              <a:t>### 案例二：用户改变诉求</a:t>
            </a:r>
          </a:p>
          <a:p/>
          <a:p>
            <a:r>
              <a:t>换货申请确认前，用户改成退货。</a:t>
            </a:r>
          </a:p>
          <a:p/>
          <a:p>
            <a:r>
              <a:t>检查是否更新申请类型、重新检查要求，并再次确认；不能继续提交旧申请。</a:t>
            </a:r>
          </a:p>
          <a:p/>
          <a:p>
            <a:r>
              <a:t>### 案例三：缺少政策或提交结果不明</a:t>
            </a:r>
          </a:p>
          <a:p/>
          <a:p>
            <a:r>
              <a:t>检查系统是否停在合适的位置：</a:t>
            </a:r>
          </a:p>
          <a:p/>
          <a:p>
            <a:r>
              <a:t>- 不能因为缺少政策，就生成一份听起来合理的规则。</a:t>
            </a:r>
          </a:p>
          <a:p>
            <a:r>
              <a:t>- 不能因为提交超时，就宣称失败或成功。</a:t>
            </a:r>
          </a:p>
          <a:p>
            <a:r>
              <a:t>- 需要人工时，不能丢失已经收集的信息。</a:t>
            </a:r>
          </a:p>
          <a:p/>
          <a:p>
            <a:r>
              <a:t>这几组案例分别检查：正常流程能否完成、对话变化能否接住、异常时能否可靠处理。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第五节：商品推荐与闲聊兜底</a:t>
            </a:r>
          </a:p>
          <a:p/>
          <a:p>
            <a:r>
              <a:t>前面两条流程处理的都是用户已经购买之后的问题：</a:t>
            </a:r>
          </a:p>
          <a:p/>
          <a:p>
            <a:r>
              <a:t>- 订单查询：用户想知道订单现在怎么样。</a:t>
            </a:r>
          </a:p>
          <a:p>
            <a:r>
              <a:t>- 售后处理：用户想解决已经发生的问题。</a:t>
            </a:r>
          </a:p>
          <a:p/>
          <a:p>
            <a:r>
              <a:t>但电商客服还有一类很常见的需求，发生在购买之前：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这类问题不能直接进入订单或售后流程，也不能只从知识库里复制一段答案。它要求系统理解需求、查询商品、比较差异，再帮助用户缩小选择范围。</a:t>
            </a:r>
          </a:p>
          <a:p/>
          <a:p>
            <a:r>
              <a:t>所以这一节，我们补齐购买前的商品推荐，以及无法进入明确业务流程时的闲聊兜底。</a:t>
            </a:r>
          </a:p>
          <a:p/>
          <a:p/>
          <a:p>
            <a:r>
              <a:t>本节内容：理解用户需求并筛选商品；接住用户的后续调整；处理寒暄、模糊表达和超范围问题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一、商品推荐与订单查询有什么不同</a:t>
            </a:r>
          </a:p>
          <a:p/>
          <a:p>
            <a:r>
              <a:t>订单查询的目标非常明确：</a:t>
            </a:r>
          </a:p>
          <a:p/>
          <a:p>
            <a:r>
              <a:t>&gt; 找到某一个订单，返回它的真实状态。</a:t>
            </a:r>
          </a:p>
          <a:p/>
          <a:p>
            <a:r>
              <a:t>商品推荐没有唯一正确答案。同样是三百元以内的耳机，有人看重降噪，有人看重佩戴舒适，有人看重续航。</a:t>
            </a:r>
          </a:p>
          <a:p/>
          <a:p>
            <a:r>
              <a:t>因此，推荐流程要解决三个问题：</a:t>
            </a:r>
          </a:p>
          <a:p/>
          <a:p>
            <a:r>
              <a:t>1. 用户真正关心什么？</a:t>
            </a:r>
          </a:p>
          <a:p>
            <a:r>
              <a:t>2. 哪些商品符合这些条件？</a:t>
            </a:r>
          </a:p>
          <a:p>
            <a:r>
              <a:t>3. 为什么推荐这些，而不是另外一些？</a:t>
            </a:r>
          </a:p>
          <a:p/>
          <a:p>
            <a:r>
              <a:t>这里最重要的区别是：</a:t>
            </a:r>
          </a:p>
          <a:p/>
          <a:p>
            <a:r>
              <a:t>- 查询是在寻找一个确定结果。</a:t>
            </a:r>
          </a:p>
          <a:p>
            <a:r>
              <a:t>- 推荐是在多个可行结果中帮助用户选择。</a:t>
            </a:r>
          </a:p>
          <a:p/>
          <a:p>
            <a:r>
              <a:t>因此，不能把商品推荐做成一句提示词：</a:t>
            </a:r>
          </a:p>
          <a:p/>
          <a:p>
            <a:r>
              <a:t>&gt; 请根据用户需求推荐合适的商品。</a:t>
            </a:r>
          </a:p>
          <a:p/>
          <a:p>
            <a:r>
              <a:t>这样虽然可能生成一段流畅的话，但模型可能推荐不存在的商品、使用过期价格，或者忽略用户真正关心的条件。</a:t>
            </a:r>
          </a:p>
          <a:p/>
          <a:p/>
          <a:p>
            <a:r>
              <a:t>## 三、推荐流程需要收集哪些信息</a:t>
            </a:r>
          </a:p>
          <a:p/>
          <a:p>
            <a:r>
              <a:t>商品推荐不能为所有商品使用同一套固定字段。</a:t>
            </a:r>
          </a:p>
          <a:p/>
          <a:p>
            <a:r>
              <a:t>例如推荐耳机时，常见条件包括：</a:t>
            </a:r>
          </a:p>
          <a:p/>
          <a:p>
            <a:r>
              <a:t>- 预算。</a:t>
            </a:r>
          </a:p>
          <a:p>
            <a:r>
              <a:t>- 使用场景。</a:t>
            </a:r>
          </a:p>
          <a:p>
            <a:r>
              <a:t>- 佩戴方式。</a:t>
            </a:r>
          </a:p>
          <a:p>
            <a:r>
              <a:t>- 是否需要主动降噪。</a:t>
            </a:r>
          </a:p>
          <a:p>
            <a:r>
              <a:t>- 续航要求。</a:t>
            </a:r>
          </a:p>
          <a:p>
            <a:r>
              <a:t>- 品牌或外观偏好。</a:t>
            </a:r>
          </a:p>
          <a:p/>
          <a:p>
            <a:r>
              <a:t>推荐护肤品、办公软件或者旅游套餐时，所需信息会完全不同。</a:t>
            </a:r>
          </a:p>
          <a:p/>
          <a:p>
            <a:r>
              <a:t>因此，产品经理需要为不同商品类别设计对应的需求字段。</a:t>
            </a:r>
          </a:p>
          <a:p/>
          <a:p>
            <a:r>
              <a:t>但也不能要求用户一次填写所有信息。比较合理的做法是：</a:t>
            </a:r>
          </a:p>
          <a:p/>
          <a:p>
            <a:r>
              <a:t>1. 从用户原话中提取已经明确的信息。</a:t>
            </a:r>
          </a:p>
          <a:p>
            <a:r>
              <a:t>2. 判断当前信息能否完成初步推荐。</a:t>
            </a:r>
          </a:p>
          <a:p>
            <a:r>
              <a:t>3. 只追问最影响结果的一个问题。</a:t>
            </a:r>
          </a:p>
          <a:p>
            <a:r>
              <a:t>4. 查询候选商品。</a:t>
            </a:r>
          </a:p>
          <a:p>
            <a:r>
              <a:t>5. 如果结果仍然太多，再继续缩小范围。</a:t>
            </a:r>
          </a:p>
          <a:p/>
          <a:p>
            <a:r>
              <a:t>例如：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系统：你更看重降噪，还是佩戴舒适？  </a:t>
            </a:r>
          </a:p>
          <a:p>
            <a:r>
              <a:t>&gt; 用户：主要坐地铁，还是希望降噪好一点。</a:t>
            </a:r>
          </a:p>
          <a:p/>
          <a:p>
            <a:r>
              <a:t>系统更新后的需求可以表示为：</a:t>
            </a:r>
          </a:p>
          <a:p/>
          <a:p>
            <a:r>
              <a:t>```text</a:t>
            </a:r>
          </a:p>
          <a:p>
            <a:r>
              <a:t>商品类别：耳机</a:t>
            </a:r>
          </a:p>
          <a:p>
            <a:r>
              <a:t>预算上限：300 元</a:t>
            </a:r>
          </a:p>
          <a:p>
            <a:r>
              <a:t>使用场景：地铁通勤</a:t>
            </a:r>
          </a:p>
          <a:p>
            <a:r>
              <a:t>核心偏好：降噪</a:t>
            </a:r>
          </a:p>
          <a:p>
            <a:r>
              <a:t>其他偏好：暂未说明</a:t>
            </a:r>
          </a:p>
          <a:p>
            <a:r>
              <a:t>```</a:t>
            </a:r>
          </a:p>
          <a:p/>
          <a:p>
            <a:r>
              <a:t>这时，通勤降噪款就成为更合适的候选商品。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二、先准备一份模拟商品数据</a:t>
            </a:r>
          </a:p>
          <a:p/>
          <a:p>
            <a:r>
              <a:t>为了便于课堂演示，我们先准备四款虚拟耳机：</a:t>
            </a:r>
          </a:p>
          <a:p/>
          <a:p>
            <a:r>
              <a:t>| 商品 | 价格 | 佩戴方式 | 降噪 | 单次续航 | 更适合的场景 |</a:t>
            </a:r>
          </a:p>
          <a:p>
            <a:r>
              <a:t>|---|---:|---|---|---:|---|</a:t>
            </a:r>
          </a:p>
          <a:p>
            <a:r>
              <a:t>| 通勤降噪款 | 269 元 | 入耳式 | 支持 | 7 小时 | 地铁、公交、办公室 |</a:t>
            </a:r>
          </a:p>
          <a:p>
            <a:r>
              <a:t>| 舒适轻听款 | 199 元 | 半入耳式 | 不支持 | 8 小时 | 长时间佩戴、安静环境 |</a:t>
            </a:r>
          </a:p>
          <a:p>
            <a:r>
              <a:t>| 深度降噪款 | 329 元 | 入耳式 | 支持 | 6 小时 | 对降噪和音质要求较高 |</a:t>
            </a:r>
          </a:p>
          <a:p>
            <a:r>
              <a:t>| 运动稳固款 | 239 元 | 耳挂式 | 不支持 | 9 小时 | 跑步、健身、户外 |</a:t>
            </a:r>
          </a:p>
          <a:p/>
          <a:p>
            <a:r>
              <a:t>这些数据都是课堂模拟数据，不对应真实商品。</a:t>
            </a:r>
          </a:p>
          <a:p/>
          <a:p>
            <a:r>
              <a:t>现在用户说：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系统至少已经获得两个条件：</a:t>
            </a:r>
          </a:p>
          <a:p/>
          <a:p>
            <a:r>
              <a:t>- 使用场景：通勤。</a:t>
            </a:r>
          </a:p>
          <a:p>
            <a:r>
              <a:t>- 预算上限：300 元。</a:t>
            </a:r>
          </a:p>
          <a:p/>
          <a:p>
            <a:r>
              <a:t>按照这两个条件，可以先排除价格 329 元的深度降噪款。</a:t>
            </a:r>
          </a:p>
          <a:p/>
          <a:p>
            <a:r>
              <a:t>但剩下三款仍然有明显差异。此时系统可以追问：</a:t>
            </a:r>
          </a:p>
          <a:p/>
          <a:p>
            <a:r>
              <a:t>&gt; “通勤时你更在意降噪效果，还是长时间佩戴的舒适度？”</a:t>
            </a:r>
          </a:p>
          <a:p/>
          <a:p>
            <a:r>
              <a:t>这个问题的作用不是把对话拉长，而是快速找到真正影响选择的条件。</a:t>
            </a:r>
          </a:p>
          <a:p/>
          <a:p/>
          <a:p>
            <a:r>
              <a:t>## 六、推荐结果不能脱离真实商品数据</a:t>
            </a:r>
          </a:p>
          <a:p/>
          <a:p>
            <a:r>
              <a:t>商品推荐最容易出现三类问题。</a:t>
            </a:r>
          </a:p>
          <a:p/>
          <a:p>
            <a:r>
              <a:t>### 1. 推荐不存在的商品</a:t>
            </a:r>
          </a:p>
          <a:p/>
          <a:p>
            <a:r>
              <a:t>模型可能根据常见命名方式，编出一个看起来很真实的商品。</a:t>
            </a:r>
          </a:p>
          <a:p/>
          <a:p>
            <a:r>
              <a:t>因此，最终可推荐的商品必须来自商品查询结果。</a:t>
            </a:r>
          </a:p>
          <a:p/>
          <a:p>
            <a:r>
              <a:t>### 2. 使用过期价格或库存</a:t>
            </a:r>
          </a:p>
          <a:p/>
          <a:p>
            <a:r>
              <a:t>价格、库存和促销活动变化很快，不能依赖模型训练时记住的信息。</a:t>
            </a:r>
          </a:p>
          <a:p/>
          <a:p>
            <a:r>
              <a:t>这些内容应实时查询商品系统。</a:t>
            </a:r>
          </a:p>
          <a:p/>
          <a:p>
            <a:r>
              <a:t>### 3. 夸大商品能力</a:t>
            </a:r>
          </a:p>
          <a:p/>
          <a:p>
            <a:r>
              <a:t>商品资料只写了“支持通话降噪”，模型却回复成“支持主动环境降噪”，就会产生误导。</a:t>
            </a:r>
          </a:p>
          <a:p/>
          <a:p>
            <a:r>
              <a:t>因此，模型可以重新组织语言，但不能超出商品资料中的事实。</a:t>
            </a:r>
          </a:p>
          <a:p/>
          <a:p>
            <a:r>
              <a:t>在这条流程里：</a:t>
            </a:r>
          </a:p>
          <a:p/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四、展开商品推荐工作流</a:t>
            </a:r>
          </a:p>
          <a:p/>
          <a:p>
            <a:r>
              <a:t>完整的推荐过程可以拆成：</a:t>
            </a:r>
          </a:p>
          <a:p/>
          <a:p>
            <a:r>
              <a:t>**理解需求 → 判断信息是否足够 → 必要时追问 → 查询商品 → 筛选候选商品 → 比较差异 → 生成推荐理由 → 接住后续问题**</a:t>
            </a:r>
          </a:p>
          <a:p/>
          <a:p>
            <a:r>
              <a:t>### 1. 理解需求</a:t>
            </a:r>
          </a:p>
          <a:p/>
          <a:p>
            <a:r>
              <a:t>模型从用户表达中提取商品类别、预算、使用场景和偏好。</a:t>
            </a:r>
          </a:p>
          <a:p/>
          <a:p>
            <a:r>
              <a:t>模型适合处理这一环，是因为用户不一定会按照标准字段表达：</a:t>
            </a:r>
          </a:p>
          <a:p/>
          <a:p>
            <a:r>
              <a:t>- “每天挤地铁用。”</a:t>
            </a:r>
          </a:p>
          <a:p>
            <a:r>
              <a:t>- “别超过三百。”</a:t>
            </a:r>
          </a:p>
          <a:p>
            <a:r>
              <a:t>- “戴久了耳朵别太疼。”</a:t>
            </a:r>
          </a:p>
          <a:p>
            <a:r>
              <a:t>- “我不喜欢塞得特别紧的。”</a:t>
            </a:r>
          </a:p>
          <a:p/>
          <a:p>
            <a:r>
              <a:t>这些表达需要转成系统能够继续处理的信息。</a:t>
            </a:r>
          </a:p>
          <a:p/>
          <a:p>
            <a:r>
              <a:t>### 2. 判断信息是否足够</a:t>
            </a:r>
          </a:p>
          <a:p/>
          <a:p>
            <a:r>
              <a:t>不能只判断字段是否全部填写，而要判断当前信息能否明显缩小商品范围。</a:t>
            </a:r>
          </a:p>
          <a:p/>
          <a:p>
            <a:r>
              <a:t>如果用户说：</a:t>
            </a:r>
          </a:p>
          <a:p/>
          <a:p>
            <a:r>
              <a:t>&gt; “给我推荐个耳机。”</a:t>
            </a:r>
          </a:p>
          <a:p/>
          <a:p>
            <a:r>
              <a:t>条件太少，可以追问预算和主要使用场景。</a:t>
            </a:r>
          </a:p>
          <a:p/>
          <a:p>
            <a:r>
              <a:t>如果用户说：</a:t>
            </a:r>
          </a:p>
          <a:p/>
          <a:p>
            <a:r>
              <a:t>&gt; “三百以内，主要坐地铁，希望有降噪。”</a:t>
            </a:r>
          </a:p>
          <a:p/>
          <a:p>
            <a:r>
              <a:t>虽然没有说明品牌、颜色和续航，但已经足以完成第一轮推荐，不必继续盘问。</a:t>
            </a:r>
          </a:p>
          <a:p/>
          <a:p>
            <a:r>
              <a:t>### 3. 查询商品</a:t>
            </a:r>
          </a:p>
          <a:p/>
          <a:p>
            <a:r>
              <a:t>商品名称、价格、库存、活动和商品参数，都应该来自商品系统，而不是让模型凭记忆生成。</a:t>
            </a:r>
          </a:p>
          <a:p/>
          <a:p>
            <a:r>
              <a:t>查询条件可以是：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"category": "耳机",</a:t>
            </a:r>
          </a:p>
          <a:p>
            <a:r>
              <a:t>  "max_price": 300,</a:t>
            </a:r>
          </a:p>
          <a:p>
            <a:r>
              <a:t>  "scenario": "通勤",</a:t>
            </a:r>
          </a:p>
          <a:p>
            <a:r>
              <a:t>  "noise_cancelling": true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商品系统返回符合条件的真实商品，模型再负责解释和比较。</a:t>
            </a:r>
          </a:p>
          <a:p/>
          <a:p>
            <a:r>
              <a:t>### 4. 排序与比较</a:t>
            </a:r>
          </a:p>
          <a:p/>
          <a:p>
            <a:r>
              <a:t>商品系统可能返回多个候选结果。</a:t>
            </a:r>
          </a:p>
          <a:p/>
          <a:p>
            <a:r>
              <a:t>排序可以综合考虑：</a:t>
            </a:r>
          </a:p>
          <a:p/>
          <a:p>
            <a:r>
              <a:t>- 是否满足硬性条件。</a:t>
            </a:r>
          </a:p>
          <a:p>
            <a:r>
              <a:t>- 与核心偏好的匹配程度。</a:t>
            </a:r>
          </a:p>
          <a:p>
            <a:r>
              <a:t>- 当前库存。</a:t>
            </a:r>
          </a:p>
          <a:p>
            <a:r>
              <a:t>- 销量或用户评价。</a:t>
            </a:r>
          </a:p>
          <a:p>
            <a:r>
              <a:t>- 商家的推荐策略。</a:t>
            </a:r>
          </a:p>
          <a:p/>
          <a:p>
            <a:r>
              <a:t>其中，预算上限通常属于硬条件；颜色偏好可能只是软条件。</a:t>
            </a:r>
          </a:p>
          <a:p/>
          <a:p>
            <a:r>
              <a:t>如果用户明确说“不超过三百”，系统就不应把 329 元的商品作为首选，然后用“稍微加一点预算”强行说服用户。</a:t>
            </a:r>
          </a:p>
          <a:p/>
          <a:p>
            <a:r>
              <a:t>### 5. 生成推荐理由</a:t>
            </a:r>
          </a:p>
          <a:p/>
          <a:p>
            <a:r>
              <a:t>最终回复不能只给出商品列表：</a:t>
            </a:r>
          </a:p>
          <a:p/>
          <a:p>
            <a:r>
              <a:t>&gt; 推荐通勤降噪款和舒适轻听款。</a:t>
            </a:r>
          </a:p>
          <a:p/>
          <a:p>
            <a:r>
              <a:t>更好的表达是：</a:t>
            </a:r>
          </a:p>
          <a:p/>
          <a:p>
            <a:r>
              <a:t>&gt; 如果你主要坐地铁，我更建议通勤降噪款，价格 269 元，支持主动降噪，比较符合你的使用场景。  </a:t>
            </a:r>
          </a:p>
          <a:p>
            <a:r>
              <a:t>&gt; 如果你更在意长时间佩戴舒适，可以看舒适轻听款，价格更低，但它不支持主动降噪。</a:t>
            </a:r>
          </a:p>
          <a:p/>
          <a:p>
            <a:r>
              <a:t>推荐理由必须来自用户需求和商品数据之间的对应关系，而不是泛泛地说“性价比高”“值得购买”。</a:t>
            </a:r>
          </a:p>
          <a:p/>
          <a:p/>
          <a:p>
            <a:r>
              <a:t>## 六、推荐结果不能脱离真实商品数据</a:t>
            </a:r>
          </a:p>
          <a:p/>
          <a:p>
            <a:r>
              <a:t>商品推荐最容易出现三类问题。</a:t>
            </a:r>
          </a:p>
          <a:p/>
          <a:p>
            <a:r>
              <a:t>### 1. 推荐不存在的商品</a:t>
            </a:r>
          </a:p>
          <a:p/>
          <a:p>
            <a:r>
              <a:t>模型可能根据常见命名方式，编出一个看起来很真实的商品。</a:t>
            </a:r>
          </a:p>
          <a:p/>
          <a:p>
            <a:r>
              <a:t>因此，最终可推荐的商品必须来自商品查询结果。</a:t>
            </a:r>
          </a:p>
          <a:p/>
          <a:p>
            <a:r>
              <a:t>### 2. 使用过期价格或库存</a:t>
            </a:r>
          </a:p>
          <a:p/>
          <a:p>
            <a:r>
              <a:t>价格、库存和促销活动变化很快，不能依赖模型训练时记住的信息。</a:t>
            </a:r>
          </a:p>
          <a:p/>
          <a:p>
            <a:r>
              <a:t>这些内容应实时查询商品系统。</a:t>
            </a:r>
          </a:p>
          <a:p/>
          <a:p>
            <a:r>
              <a:t>### 3. 夸大商品能力</a:t>
            </a:r>
          </a:p>
          <a:p/>
          <a:p>
            <a:r>
              <a:t>商品资料只写了“支持通话降噪”，模型却回复成“支持主动环境降噪”，就会产生误导。</a:t>
            </a:r>
          </a:p>
          <a:p/>
          <a:p>
            <a:r>
              <a:t>因此，模型可以重新组织语言，但不能超出商品资料中的事实。</a:t>
            </a:r>
          </a:p>
          <a:p/>
          <a:p>
            <a:r>
              <a:t>在这条流程里：</a:t>
            </a:r>
          </a:p>
          <a:p/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五、用户继续追问时怎样处理</a:t>
            </a:r>
          </a:p>
          <a:p/>
          <a:p>
            <a:r>
              <a:t>推荐完成后，用户很可能不会重新描述完整需求，而是继续说：</a:t>
            </a:r>
          </a:p>
          <a:p/>
          <a:p>
            <a:r>
              <a:t>&gt; “第二个呢？”  </a:t>
            </a:r>
          </a:p>
          <a:p>
            <a:r>
              <a:t>&gt; “有没有便宜一点的？”  </a:t>
            </a:r>
          </a:p>
          <a:p>
            <a:r>
              <a:t>&gt; “第一个戴久了会不会不舒服？”  </a:t>
            </a:r>
          </a:p>
          <a:p>
            <a:r>
              <a:t>&gt; “那还是给我看看降噪更好的。”  </a:t>
            </a:r>
          </a:p>
          <a:p>
            <a:r>
              <a:t>&gt; “这个有黑色吗？”</a:t>
            </a:r>
          </a:p>
          <a:p/>
          <a:p>
            <a:r>
              <a:t>系统需要记住：</a:t>
            </a:r>
          </a:p>
          <a:p/>
          <a:p>
            <a:r>
              <a:t>- 当前推荐的候选商品。</a:t>
            </a:r>
          </a:p>
          <a:p>
            <a:r>
              <a:t>- 每个商品的排列顺序。</a:t>
            </a:r>
          </a:p>
          <a:p>
            <a:r>
              <a:t>- 用户已经说明的预算和场景。</a:t>
            </a:r>
          </a:p>
          <a:p>
            <a:r>
              <a:t>- 用户刚刚新增或修改的条件。</a:t>
            </a:r>
          </a:p>
          <a:p/>
          <a:p>
            <a:r>
              <a:t>例如用户说：</a:t>
            </a:r>
          </a:p>
          <a:p/>
          <a:p>
            <a:r>
              <a:t>&gt; “有没有便宜一点的？”</a:t>
            </a:r>
          </a:p>
          <a:p/>
          <a:p>
            <a:r>
              <a:t>这不是一个新的商品推荐请求，而是在当前结果上增加条件：</a:t>
            </a:r>
          </a:p>
          <a:p/>
          <a:p>
            <a:r>
              <a:t>```text</a:t>
            </a:r>
          </a:p>
          <a:p>
            <a:r>
              <a:t>原有条件：</a:t>
            </a:r>
          </a:p>
          <a:p>
            <a:r>
              <a:t>通勤、300 元以内、需要降噪</a:t>
            </a:r>
          </a:p>
          <a:p/>
          <a:p>
            <a:r>
              <a:t>新增偏好：</a:t>
            </a:r>
          </a:p>
          <a:p>
            <a:r>
              <a:t>希望价格更低</a:t>
            </a:r>
          </a:p>
          <a:p>
            <a:r>
              <a:t>```</a:t>
            </a:r>
          </a:p>
          <a:p/>
          <a:p>
            <a:r>
              <a:t>系统应该重新查询或重新排序，而不是从头问：</a:t>
            </a:r>
          </a:p>
          <a:p/>
          <a:p>
            <a:r>
              <a:t>&gt; “请问您的预算是多少？”</a:t>
            </a:r>
          </a:p>
          <a:p/>
          <a:p>
            <a:r>
              <a:t>这里与订单查询中的“第二个”是同一类问题：都需要保留上一轮对话中的对象和状态。</a:t>
            </a:r>
          </a:p>
          <a:p/>
          <a:p/>
          <a:p>
            <a:r>
              <a:t>配套材料补充：当前商品表没有更便宜且支持主动降噪的型号。说明没有匹配项，询问是否愿意调整条件，不能静默推荐不降噪的款式。</a:t>
            </a:r>
          </a:p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七、什么情况下进入闲聊兜底</a:t>
            </a:r>
          </a:p>
          <a:p/>
          <a:p>
            <a:r>
              <a:t>不是所有用户表达都能直接进入订单、售后或推荐流程。</a:t>
            </a:r>
          </a:p>
          <a:p/>
          <a:p>
            <a:r>
              <a:t>例如：</a:t>
            </a:r>
          </a:p>
          <a:p/>
          <a:p>
            <a:r>
              <a:t>&gt; “你好。”  </a:t>
            </a:r>
          </a:p>
          <a:p>
            <a:r>
              <a:t>&gt; “你是机器人吗？”  </a:t>
            </a:r>
          </a:p>
          <a:p>
            <a:r>
              <a:t>&gt; “今天心情不好。”  </a:t>
            </a:r>
          </a:p>
          <a:p>
            <a:r>
              <a:t>&gt; “你们老板是谁？”  </a:t>
            </a:r>
          </a:p>
          <a:p>
            <a:r>
              <a:t>&gt; “给我讲个笑话。”</a:t>
            </a:r>
          </a:p>
          <a:p/>
          <a:p>
            <a:r>
              <a:t>这时需要一条兜底分支。</a:t>
            </a:r>
          </a:p>
          <a:p/>
          <a:p>
            <a:r>
              <a:t>但“兜底”不等于让模型变成什么都聊的通用助手。它首先仍然是一个电商客服产品。</a:t>
            </a:r>
          </a:p>
          <a:p/>
          <a:p>
            <a:r>
              <a:t>可以把兜底情况分成三类。</a:t>
            </a:r>
          </a:p>
          <a:p/>
          <a:p>
            <a:r>
              <a:t>### 1. 简单寒暄</a:t>
            </a:r>
          </a:p>
          <a:p/>
          <a:p>
            <a:r>
              <a:t>用户说：</a:t>
            </a:r>
          </a:p>
          <a:p/>
          <a:p>
            <a:r>
              <a:t>&gt; “你好。”</a:t>
            </a:r>
          </a:p>
          <a:p/>
          <a:p>
            <a:r>
              <a:t>系统可以简短回应，并主动说明自己能做什么：</a:t>
            </a:r>
          </a:p>
          <a:p/>
          <a:p>
            <a:r>
              <a:t>&gt; “你好，我可以帮你查订单、处理售后问题，也可以根据预算和使用场景推荐商品。”</a:t>
            </a:r>
          </a:p>
          <a:p/>
          <a:p>
            <a:r>
              <a:t>### 2. 表达不清楚，但可能与业务有关</a:t>
            </a:r>
          </a:p>
          <a:p/>
          <a:p>
            <a:r>
              <a:t>用户说：</a:t>
            </a:r>
          </a:p>
          <a:p/>
          <a:p>
            <a:r>
              <a:t>&gt; “这个怎么办？”</a:t>
            </a:r>
          </a:p>
          <a:p/>
          <a:p>
            <a:r>
              <a:t>如果上下文里有明确商品或订单，就结合上下文继续处理。</a:t>
            </a:r>
          </a:p>
          <a:p/>
          <a:p>
            <a:r>
              <a:t>如果完全没有上下文，可以问：</a:t>
            </a:r>
          </a:p>
          <a:p/>
          <a:p>
            <a:r>
              <a:t>&gt; “你是想了解商品、查询订单，还是处理售后问题？”</a:t>
            </a:r>
          </a:p>
          <a:p/>
          <a:p>
            <a:r>
              <a:t>### 3. 明显超出业务范围</a:t>
            </a:r>
          </a:p>
          <a:p/>
          <a:p>
            <a:r>
              <a:t>用户要求回答与电商服务无关的问题时，可以简短回应并把对话拉回服务范围：</a:t>
            </a:r>
          </a:p>
          <a:p/>
          <a:p>
            <a:r>
              <a:t>&gt; “这个问题我暂时处理不了。如果你需要查询订单、了解商品或申请售后，我可以继续帮你。”</a:t>
            </a:r>
          </a:p>
          <a:p/>
          <a:p>
            <a:r>
              <a:t>不需要生硬地回复“无法识别意图”，但也不必无限延伸。</a:t>
            </a:r>
          </a:p>
          <a:p/>
          <a:p/>
          <a:p>
            <a:r>
              <a:t>## 八、闲聊兜底与转人工不是一回事</a:t>
            </a:r>
          </a:p>
          <a:p/>
          <a:p>
            <a:r>
              <a:t>识别不出意图，不代表一定要转人工。</a:t>
            </a:r>
          </a:p>
          <a:p/>
          <a:p>
            <a:r>
              <a:t>如果每次用户表达稍微模糊，就直接转人工，系统的实际价值会很低。</a:t>
            </a:r>
          </a:p>
          <a:p/>
          <a:p>
            <a:r>
              <a:t>比较合理的处理顺序是：</a:t>
            </a:r>
          </a:p>
          <a:p/>
          <a:p>
            <a:r>
              <a:t>1. 结合上下文再次理解。</a:t>
            </a:r>
          </a:p>
          <a:p>
            <a:r>
              <a:t>2. 给出几个业务方向，让用户选择。</a:t>
            </a:r>
          </a:p>
          <a:p>
            <a:r>
              <a:t>3. 如果仍然无法继续，再考虑转人工。</a:t>
            </a:r>
          </a:p>
          <a:p/>
          <a:p>
            <a:r>
              <a:t>但是以下情况应更积极地转人工：</a:t>
            </a:r>
          </a:p>
          <a:p/>
          <a:p>
            <a:r>
              <a:t>- 用户明确要求人工客服。</a:t>
            </a:r>
          </a:p>
          <a:p>
            <a:r>
              <a:t>- 用户已经多次描述，但系统仍然无法理解。</a:t>
            </a:r>
          </a:p>
          <a:p>
            <a:r>
              <a:t>- 用户情绪强烈，并且问题没有得到解决。</a:t>
            </a:r>
          </a:p>
          <a:p>
            <a:r>
              <a:t>- 请求超出系统权限。</a:t>
            </a:r>
          </a:p>
          <a:p>
            <a:r>
              <a:t>- 商品、订单或售后状态存在冲突。</a:t>
            </a:r>
          </a:p>
          <a:p/>
          <a:p>
            <a:r>
              <a:t>转人工时，应同时传递已知信息，不能让用户重新说一遍。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九、用几组对话检查推荐与兜底</a:t>
            </a:r>
          </a:p>
          <a:p/>
          <a:p>
            <a:r>
              <a:t>### 案例一：信息足够的商品推荐</a:t>
            </a:r>
          </a:p>
          <a:p/>
          <a:p>
            <a:r>
              <a:t>&gt; 用户：“三百以内，坐地铁用，希望降噪好一点。”</a:t>
            </a:r>
          </a:p>
          <a:p/>
          <a:p>
            <a:r>
              <a:t>检查系统是否：</a:t>
            </a:r>
          </a:p>
          <a:p/>
          <a:p>
            <a:r>
              <a:t>- 正确提取预算、场景和偏好。</a:t>
            </a:r>
          </a:p>
          <a:p>
            <a:r>
              <a:t>- 查询真实商品。</a:t>
            </a:r>
          </a:p>
          <a:p>
            <a:r>
              <a:t>- 排除不符合预算的商品。</a:t>
            </a:r>
          </a:p>
          <a:p>
            <a:r>
              <a:t>- 说明推荐理由。</a:t>
            </a:r>
          </a:p>
          <a:p/>
          <a:p>
            <a:r>
              <a:t>### 案例二：信息不足</a:t>
            </a:r>
          </a:p>
          <a:p/>
          <a:p>
            <a:r>
              <a:t>&gt; 用户：“推荐个耳机。”</a:t>
            </a:r>
          </a:p>
          <a:p/>
          <a:p>
            <a:r>
              <a:t>检查系统是否追问真正影响结果的问题，而不是一次询问所有字段。</a:t>
            </a:r>
          </a:p>
          <a:p/>
          <a:p>
            <a:r>
              <a:t>### 案例三：继续修改条件</a:t>
            </a:r>
          </a:p>
          <a:p/>
          <a:p>
            <a:r>
              <a:t>&gt; 用户：“有没有更便宜一点的？”</a:t>
            </a:r>
          </a:p>
          <a:p/>
          <a:p>
            <a:r>
              <a:t>检查系统是否保留原来的通勤和降噪需求，只更新价格偏好。</a:t>
            </a:r>
          </a:p>
          <a:p/>
          <a:p>
            <a:r>
              <a:t>### 案例四：动态数据变化</a:t>
            </a:r>
          </a:p>
          <a:p/>
          <a:p>
            <a:r>
              <a:t>候选商品已经缺货。</a:t>
            </a:r>
          </a:p>
          <a:p/>
          <a:p>
            <a:r>
              <a:t>检查系统是否根据最新库存更新推荐，而不是继续推荐无法购买的商品。</a:t>
            </a:r>
          </a:p>
          <a:p/>
          <a:p>
            <a:r>
              <a:t>### 案例五：无法判断意图</a:t>
            </a:r>
          </a:p>
          <a:p/>
          <a:p>
            <a:r>
              <a:t>&gt; 用户：“这个不太行。”</a:t>
            </a:r>
          </a:p>
          <a:p/>
          <a:p>
            <a:r>
              <a:t>检查系统是否先结合上一轮对话判断“这个”指什么；没有上下文时，再引导用户选择业务方向。</a:t>
            </a:r>
          </a:p>
          <a:p/>
          <a:p/>
          <a:p>
            <a:r>
              <a:t>## 十、本节完成了什么</a:t>
            </a:r>
          </a:p>
          <a:p/>
          <a:p>
            <a:r>
              <a:t>这一节，我们补齐了购买前的商品推荐流程：</a:t>
            </a:r>
          </a:p>
          <a:p/>
          <a:p>
            <a:r>
              <a:t>**提取需求 → 判断是否需要追问 → 查询商品 → 筛选和排序 → 说明推荐理由 → 接住后续调整。**</a:t>
            </a:r>
          </a:p>
          <a:p/>
          <a:p>
            <a:r>
              <a:t>同时增加了闲聊兜底，用来处理无法直接进入订单、售后和推荐流程的表达。</a:t>
            </a:r>
          </a:p>
          <a:p/>
          <a:p>
            <a:r>
              <a:t>到这里，客服助手已经覆盖了三类主要业务任务：</a:t>
            </a:r>
          </a:p>
          <a:p/>
          <a:p>
            <a:r>
              <a:t>- 购买前：商品推荐。</a:t>
            </a:r>
          </a:p>
          <a:p>
            <a:r>
              <a:t>- 购买后：订单查询。</a:t>
            </a:r>
          </a:p>
          <a:p>
            <a:r>
              <a:t>- 出现问题后：售后咨询与处理。</a:t>
            </a:r>
          </a:p>
          <a:p/>
          <a:p>
            <a:r>
              <a:t>再加上闲聊兜底，就形成了一套相对完整的电商智能客服主流程。</a:t>
            </a:r>
          </a:p>
          <a:p/>
          <a:p>
            <a:r>
              <a:t>不过，目前我们只是分别把几条流程设计出来了。下一节需要把它们重新放回同一个产品中，讨论：</a:t>
            </a:r>
          </a:p>
          <a:p/>
          <a:p>
            <a:r>
              <a:t>**多个工作流如何共用用户信息、统一对话状态，并在流程切换时不丢失上下文。**</a:t>
            </a:r>
          </a:p>
          <a:p/>
          <a:p>
            <a:r>
              <a:t>---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第六节：多条业务流程怎样在同一个客服产品中协同</a:t>
            </a:r>
          </a:p>
          <a:p/>
          <a:p>
            <a:r>
              <a:t>前面我们分别完成了三条主要业务流程：</a:t>
            </a:r>
          </a:p>
          <a:p/>
          <a:p>
            <a:r>
              <a:t>- 商品推荐。</a:t>
            </a:r>
          </a:p>
          <a:p>
            <a:r>
              <a:t>- 订单查询。</a:t>
            </a:r>
          </a:p>
          <a:p>
            <a:r>
              <a:t>- 售后咨询与处理。</a:t>
            </a:r>
          </a:p>
          <a:p/>
          <a:p>
            <a:r>
              <a:t>单独看，每条流程都能工作。但用户在真实对话里不会按照我们的流程图，一个问题处理完再开始下一个问题。</a:t>
            </a:r>
          </a:p>
          <a:p/>
          <a:p>
            <a:r>
              <a:t>他可能这样说：</a:t>
            </a:r>
          </a:p>
          <a:p/>
          <a:p>
            <a:r>
              <a:t>&gt; “想买个通勤用的耳机，三百以内。”  </a:t>
            </a:r>
          </a:p>
          <a:p>
            <a:r>
              <a:t>&gt; “对了，我上周买的那个怎么还没到？”  </a:t>
            </a:r>
          </a:p>
          <a:p>
            <a:r>
              <a:t>&gt; “那刚才推荐的第一个，适合跑步吗？”</a:t>
            </a:r>
          </a:p>
          <a:p/>
          <a:p>
            <a:r>
              <a:t>这段对话先进入商品推荐，中间切到订单查询，最后又回到商品推荐。</a:t>
            </a:r>
          </a:p>
          <a:p/>
          <a:p>
            <a:r>
              <a:t>因此，这一节不是再增加一条新流程，而是解决一个产品层面的问题：</a:t>
            </a:r>
          </a:p>
          <a:p/>
          <a:p>
            <a:r>
              <a:t>&gt; 多条流程如何放进同一个客服助手，并在来回切换时不丢失用户已经说过的信息？</a:t>
            </a:r>
          </a:p>
          <a:p/>
          <a:p/>
          <a:p>
            <a:r>
              <a:t>本节内容：区分继续、切换与返回；保存对象、条件和未完成操作；处理多任务与业务状态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二、先看一段跨流程对话</a:t>
            </a:r>
          </a:p>
          <a:p/>
          <a:p>
            <a:r>
              <a:t>我们来看完整例子。</a:t>
            </a:r>
          </a:p>
          <a:p/>
          <a:p>
            <a:r>
              <a:t>### 第一轮：进入商品推荐</a:t>
            </a:r>
          </a:p>
          <a:p/>
          <a:p>
            <a:r>
              <a:t>&gt; 用户：想买个通勤用的耳机，预算三百以内。</a:t>
            </a:r>
          </a:p>
          <a:p/>
          <a:p>
            <a:r>
              <a:t>系统识别到：</a:t>
            </a:r>
          </a:p>
          <a:p/>
          <a:p>
            <a:r>
              <a:t>```text</a:t>
            </a:r>
          </a:p>
          <a:p>
            <a:r>
              <a:t>当前任务：商品推荐</a:t>
            </a:r>
          </a:p>
          <a:p>
            <a:r>
              <a:t>商品类别：耳机</a:t>
            </a:r>
          </a:p>
          <a:p>
            <a:r>
              <a:t>使用场景：通勤</a:t>
            </a:r>
          </a:p>
          <a:p>
            <a:r>
              <a:t>预算上限：300 元</a:t>
            </a:r>
          </a:p>
          <a:p>
            <a:r>
              <a:t>```</a:t>
            </a:r>
          </a:p>
          <a:p/>
          <a:p>
            <a:r>
              <a:t>系统进入商品推荐流程，并给出两款候选商品。</a:t>
            </a:r>
          </a:p>
          <a:p/>
          <a:p>
            <a:r>
              <a:t>### 第二轮：用户临时询问订单</a:t>
            </a:r>
          </a:p>
          <a:p/>
          <a:p>
            <a:r>
              <a:t>&gt; 用户：对了，我上周买的那个怎么还没到？</a:t>
            </a:r>
          </a:p>
          <a:p/>
          <a:p>
            <a:r>
              <a:t>用户没有结束商品推荐，只是临时切换到订单查询。</a:t>
            </a:r>
          </a:p>
          <a:p/>
          <a:p>
            <a:r>
              <a:t>系统需要：</a:t>
            </a:r>
          </a:p>
          <a:p/>
          <a:p>
            <a:r>
              <a:t>1. 暂时保留刚才的推荐条件和候选商品。</a:t>
            </a:r>
          </a:p>
          <a:p>
            <a:r>
              <a:t>2. 将当前任务切换成订单查询。</a:t>
            </a:r>
          </a:p>
          <a:p>
            <a:r>
              <a:t>3. 查询用户最近的订单。</a:t>
            </a:r>
          </a:p>
          <a:p>
            <a:r>
              <a:t>4. 返回物流状态。</a:t>
            </a:r>
          </a:p>
          <a:p/>
          <a:p>
            <a:r>
              <a:t>如果系统只保留最后一句话，那么之前的推荐过程就丢失了。</a:t>
            </a:r>
          </a:p>
          <a:p/>
          <a:p>
            <a:r>
              <a:t>### 第三轮：回到之前的推荐</a:t>
            </a:r>
          </a:p>
          <a:p/>
          <a:p>
            <a:r>
              <a:t>&gt; 用户：那刚才推荐的第一个，适合跑步吗？</a:t>
            </a:r>
          </a:p>
          <a:p/>
          <a:p>
            <a:r>
              <a:t>“第一个”指的是前面推荐的第一款商品，不是订单查询返回的第一笔订单。</a:t>
            </a:r>
          </a:p>
          <a:p/>
          <a:p>
            <a:r>
              <a:t>系统需要恢复商品推荐时的候选列表，找到第一款商品，再结合“跑步”这个新场景回答。</a:t>
            </a:r>
          </a:p>
          <a:p/>
          <a:p>
            <a:r>
              <a:t>这说明系统不能只保存完整聊天记录，还需要保存经过整理的业务信息。</a:t>
            </a:r>
          </a:p>
          <a:p/>
          <a:p/>
          <a:p>
            <a:r>
              <a:t>## 六、继续、切换和返回，需要分别处理</a:t>
            </a:r>
          </a:p>
          <a:p/>
          <a:p>
            <a:r>
              <a:t>这三种情况看起来相似，但产品行为不同。</a:t>
            </a:r>
          </a:p>
          <a:p/>
          <a:p>
            <a:r>
              <a:t>### 1. 继续当前流程</a:t>
            </a:r>
          </a:p>
          <a:p/>
          <a:p>
            <a:r>
              <a:t>&gt; 系统：你更看重降噪还是佩戴舒适？  </a:t>
            </a:r>
          </a:p>
          <a:p>
            <a:r>
              <a:t>&gt; 用户：降噪。</a:t>
            </a:r>
          </a:p>
          <a:p/>
          <a:p>
            <a:r>
              <a:t>这只是补充推荐条件，不需要重新判断全部流程。</a:t>
            </a:r>
          </a:p>
          <a:p/>
          <a:p>
            <a:r>
              <a:t>### 2. 切换到另一条流程</a:t>
            </a:r>
          </a:p>
          <a:p/>
          <a:p>
            <a:r>
              <a:t>&gt; 用户：对了，我之前买的耳机什么时候到？</a:t>
            </a:r>
          </a:p>
          <a:p/>
          <a:p>
            <a:r>
              <a:t>系统暂时保留推荐流程，进入订单查询。</a:t>
            </a:r>
          </a:p>
          <a:p/>
          <a:p>
            <a:r>
              <a:t>可以自然回应：</a:t>
            </a:r>
          </a:p>
          <a:p/>
          <a:p>
            <a:r>
              <a:t>&gt; “可以，我先帮你查之前的订单。刚才的推荐结果我会保留。”</a:t>
            </a:r>
          </a:p>
          <a:p/>
          <a:p>
            <a:r>
              <a:t>### 3. 返回之前的流程</a:t>
            </a:r>
          </a:p>
          <a:p/>
          <a:p>
            <a:r>
              <a:t>&gt; 用户：订单知道了。刚才推荐的第一款呢？</a:t>
            </a:r>
          </a:p>
          <a:p/>
          <a:p>
            <a:r>
              <a:t>系统恢复推荐候选列表，继续回答。</a:t>
            </a:r>
          </a:p>
          <a:p/>
          <a:p>
            <a:r>
              <a:t>不需要重新问预算、场景和偏好。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三、系统需要记住哪些信息</a:t>
            </a:r>
          </a:p>
          <a:p/>
          <a:p>
            <a:r>
              <a:t>为了让多条流程能够衔接，至少要记录四类信息。</a:t>
            </a:r>
          </a:p>
          <a:p/>
          <a:p>
            <a:r>
              <a:t>### 1. 当前正在处理的事情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当前任务：订单查询</a:t>
            </a:r>
          </a:p>
          <a:p>
            <a:r>
              <a:t>上一个任务：商品推荐</a:t>
            </a:r>
          </a:p>
          <a:p>
            <a:r>
              <a:t>当前进度：已找到候选订单，等待用户选择</a:t>
            </a:r>
          </a:p>
          <a:p>
            <a:r>
              <a:t>```</a:t>
            </a:r>
          </a:p>
          <a:p/>
          <a:p>
            <a:r>
              <a:t>这样系统才能判断用户下一句话是在继续当前流程，还是回到上一个问题。</a:t>
            </a:r>
          </a:p>
          <a:p/>
          <a:p>
            <a:r>
              <a:t>### 2. 用户已经明确的信息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预算：300 元以内</a:t>
            </a:r>
          </a:p>
          <a:p>
            <a:r>
              <a:t>使用场景：通勤</a:t>
            </a:r>
          </a:p>
          <a:p>
            <a:r>
              <a:t>关注点：降噪</a:t>
            </a:r>
          </a:p>
          <a:p>
            <a:r>
              <a:t>```</a:t>
            </a:r>
          </a:p>
          <a:p/>
          <a:p>
            <a:r>
              <a:t>用户已经说过的内容，不应该在切换流程之后全部丢失。</a:t>
            </a:r>
          </a:p>
          <a:p/>
          <a:p>
            <a:r>
              <a:t>### 3. 当前对话中的对象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推荐商品列表：</a:t>
            </a:r>
          </a:p>
          <a:p>
            <a:r>
              <a:t>1. 通勤降噪款</a:t>
            </a:r>
          </a:p>
          <a:p>
            <a:r>
              <a:t>2. 舒适轻听款</a:t>
            </a:r>
          </a:p>
          <a:p/>
          <a:p>
            <a:r>
              <a:t>候选订单列表：</a:t>
            </a:r>
          </a:p>
          <a:p>
            <a:r>
              <a:t>1. DEMO-101</a:t>
            </a:r>
          </a:p>
          <a:p>
            <a:r>
              <a:t>2. DEMO-102</a:t>
            </a:r>
          </a:p>
          <a:p>
            <a:r>
              <a:t>```</a:t>
            </a:r>
          </a:p>
          <a:p/>
          <a:p>
            <a:r>
              <a:t>这类信息决定了“第一个”“第二个”“这个”“刚才那个”分别指什么。</a:t>
            </a:r>
          </a:p>
          <a:p/>
          <a:p>
            <a:r>
              <a:t>### 4. 尚未完成的操作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售后申请：尚未提交</a:t>
            </a:r>
          </a:p>
          <a:p>
            <a:r>
              <a:t>缺少信息：故障照片</a:t>
            </a:r>
          </a:p>
          <a:p>
            <a:r>
              <a:t>等待用户确认：是</a:t>
            </a:r>
          </a:p>
          <a:p>
            <a:r>
              <a:t>```</a:t>
            </a:r>
          </a:p>
          <a:p/>
          <a:p>
            <a:r>
              <a:t>如果用户中途问了另一个问题，回来之后系统要知道售后申请进行到了哪一步。</a:t>
            </a:r>
          </a:p>
          <a:p/>
          <a:p/>
          <a:p>
            <a:r>
              <a:t>## 四、为什么不能只把整段聊天记录交给模型</a:t>
            </a:r>
          </a:p>
          <a:p/>
          <a:p>
            <a:r>
              <a:t>最简单的方案是：</a:t>
            </a:r>
          </a:p>
          <a:p/>
          <a:p>
            <a:r>
              <a:t>&gt; 把用户和客服的所有历史消息都发给模型，让模型自己判断。</a:t>
            </a:r>
          </a:p>
          <a:p/>
          <a:p>
            <a:r>
              <a:t>短对话中，这种方式可能有效。但对话变长后，会出现几个问题：</a:t>
            </a:r>
          </a:p>
          <a:p/>
          <a:p>
            <a:r>
              <a:t>- 模型未必能稳定找到真正重要的信息。</a:t>
            </a:r>
          </a:p>
          <a:p>
            <a:r>
              <a:t>- 商品列表和订单列表可能混在一起。</a:t>
            </a:r>
          </a:p>
          <a:p>
            <a:r>
              <a:t>- 用户修改过的条件可能与旧条件冲突。</a:t>
            </a:r>
          </a:p>
          <a:p>
            <a:r>
              <a:t>- 已提交和未提交的操作可能被混淆。</a:t>
            </a:r>
          </a:p>
          <a:p>
            <a:r>
              <a:t>- 对话越长，处理成本越高。</a:t>
            </a:r>
          </a:p>
          <a:p/>
          <a:p>
            <a:r>
              <a:t>例如用户先说：</a:t>
            </a:r>
          </a:p>
          <a:p/>
          <a:p>
            <a:r>
              <a:t>&gt; “预算三百。”</a:t>
            </a:r>
          </a:p>
          <a:p/>
          <a:p>
            <a:r>
              <a:t>后来又说：</a:t>
            </a:r>
          </a:p>
          <a:p/>
          <a:p>
            <a:r>
              <a:t>&gt; “如果降噪好，最多可以到四百。”</a:t>
            </a:r>
          </a:p>
          <a:p/>
          <a:p>
            <a:r>
              <a:t>如果只是保存聊天记录，模型需要自行判断哪个预算是最新的。</a:t>
            </a:r>
          </a:p>
          <a:p/>
          <a:p>
            <a:r>
              <a:t>更稳妥的做法是，在保留对话原文的同时，再维护一份整理后的当前信息：</a:t>
            </a:r>
          </a:p>
          <a:p/>
          <a:p>
            <a:r>
              <a:t>```text</a:t>
            </a:r>
          </a:p>
          <a:p>
            <a:r>
              <a:t>当前预算上限：400 元</a:t>
            </a:r>
          </a:p>
          <a:p>
            <a:r>
              <a:t>修改原因：用户愿意为更好的降噪提高预算</a:t>
            </a:r>
          </a:p>
          <a:p>
            <a:r>
              <a:t>原预算：300 元</a:t>
            </a:r>
          </a:p>
          <a:p>
            <a:r>
              <a:t>```</a:t>
            </a:r>
          </a:p>
          <a:p/>
          <a:p>
            <a:r>
              <a:t>对话记录用于理解用户原话；整理后的信息用于继续执行业务流程。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五、主流程每一轮需要做什么</a:t>
            </a:r>
          </a:p>
          <a:p/>
          <a:p>
            <a:r>
              <a:t>主流程可以按照下面的顺序运行。</a:t>
            </a:r>
          </a:p>
          <a:p/>
          <a:p>
            <a:r>
              <a:t>### 第一步：读取当前情况</a:t>
            </a:r>
          </a:p>
          <a:p/>
          <a:p>
            <a:r>
              <a:t>系统先读取：</a:t>
            </a:r>
          </a:p>
          <a:p/>
          <a:p>
            <a:r>
              <a:t>- 当前正在处理的任务。</a:t>
            </a:r>
          </a:p>
          <a:p>
            <a:r>
              <a:t>- 上一轮系统问了什么。</a:t>
            </a:r>
          </a:p>
          <a:p>
            <a:r>
              <a:t>- 当前商品、订单或售后申请。</a:t>
            </a:r>
          </a:p>
          <a:p>
            <a:r>
              <a:t>- 是否有尚未完成的操作。</a:t>
            </a:r>
          </a:p>
          <a:p/>
          <a:p>
            <a:r>
              <a:t>### 第二步：理解用户这句话</a:t>
            </a:r>
          </a:p>
          <a:p/>
          <a:p>
            <a:r>
              <a:t>系统判断用户当前表达属于哪一种情况：</a:t>
            </a:r>
          </a:p>
          <a:p/>
          <a:p>
            <a:r>
              <a:t>1. 继续当前任务。</a:t>
            </a:r>
          </a:p>
          <a:p>
            <a:r>
              <a:t>2. 修改当前任务中的条件。</a:t>
            </a:r>
          </a:p>
          <a:p>
            <a:r>
              <a:t>3. 切换到另一个任务。</a:t>
            </a:r>
          </a:p>
          <a:p>
            <a:r>
              <a:t>4. 回到之前暂停的任务。</a:t>
            </a:r>
          </a:p>
          <a:p>
            <a:r>
              <a:t>5. 表达不清，需要澄清。</a:t>
            </a:r>
          </a:p>
          <a:p>
            <a:r>
              <a:t>6. 请求人工服务。</a:t>
            </a:r>
          </a:p>
          <a:p/>
          <a:p>
            <a:r>
              <a:t>### 第三步：决定调用哪条流程</a:t>
            </a:r>
          </a:p>
          <a:p/>
          <a:p>
            <a:r>
              <a:t>例如：</a:t>
            </a:r>
          </a:p>
          <a:p/>
          <a:p>
            <a:r>
              <a:t>- “有黑色吗？”继续商品推荐。</a:t>
            </a:r>
          </a:p>
          <a:p>
            <a:r>
              <a:t>- “我的快递呢？”切换到订单查询。</a:t>
            </a:r>
          </a:p>
          <a:p>
            <a:r>
              <a:t>- “那我还是退掉吧。”可能进入售后流程。</a:t>
            </a:r>
          </a:p>
          <a:p>
            <a:r>
              <a:t>- “刚才第一款呢？”返回商品推荐。</a:t>
            </a:r>
          </a:p>
          <a:p/>
          <a:p>
            <a:r>
              <a:t>### 第四步：准备子流程需要的信息</a:t>
            </a:r>
          </a:p>
          <a:p/>
          <a:p>
            <a:r>
              <a:t>主流程把已有信息整理好，再交给具体流程。</a:t>
            </a:r>
          </a:p>
          <a:p/>
          <a:p>
            <a:r>
              <a:t>例如进入订单查询时，可以传入：</a:t>
            </a:r>
          </a:p>
          <a:p/>
          <a:p>
            <a:r>
              <a:t>```text</a:t>
            </a:r>
          </a:p>
          <a:p>
            <a:r>
              <a:t>用户身份：当前已登录用户</a:t>
            </a:r>
          </a:p>
          <a:p>
            <a:r>
              <a:t>订单线索：上周购买</a:t>
            </a:r>
          </a:p>
          <a:p>
            <a:r>
              <a:t>商品线索：暂未明确</a:t>
            </a:r>
          </a:p>
          <a:p>
            <a:r>
              <a:t>```</a:t>
            </a:r>
          </a:p>
          <a:p/>
          <a:p>
            <a:r>
              <a:t>进入售后处理时，可以传入：</a:t>
            </a:r>
          </a:p>
          <a:p/>
          <a:p>
            <a:r>
              <a:t>```text</a:t>
            </a:r>
          </a:p>
          <a:p>
            <a:r>
              <a:t>当前订单：DEMO-101</a:t>
            </a:r>
          </a:p>
          <a:p>
            <a:r>
              <a:t>用户诉求：退货</a:t>
            </a:r>
          </a:p>
          <a:p>
            <a:r>
              <a:t>已知原因：佩戴不舒适</a:t>
            </a:r>
          </a:p>
          <a:p>
            <a:r>
              <a:t>```</a:t>
            </a:r>
          </a:p>
          <a:p/>
          <a:p>
            <a:r>
              <a:t>### 第五步：保存处理结果</a:t>
            </a:r>
          </a:p>
          <a:p/>
          <a:p>
            <a:r>
              <a:t>子流程完成当前步骤后，需要返回：</a:t>
            </a:r>
          </a:p>
          <a:p/>
          <a:p>
            <a:r>
              <a:t>- 本轮处理结果。</a:t>
            </a:r>
          </a:p>
          <a:p>
            <a:r>
              <a:t>- 更新后的业务信息。</a:t>
            </a:r>
          </a:p>
          <a:p>
            <a:r>
              <a:t>- 下一步等待什么。</a:t>
            </a:r>
          </a:p>
          <a:p>
            <a:r>
              <a:t>- 是否已经完成。</a:t>
            </a:r>
          </a:p>
          <a:p>
            <a:r>
              <a:t>- 是否需要转人工。</a:t>
            </a:r>
          </a:p>
          <a:p/>
          <a:p>
            <a:r>
              <a:t>主流程再根据这些结果组织最终回复。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七、中途切换时，哪些操作可以暂停</a:t>
            </a:r>
          </a:p>
          <a:p/>
          <a:p>
            <a:r>
              <a:t>不是所有流程都可以随时切换。</a:t>
            </a:r>
          </a:p>
          <a:p/>
          <a:p>
            <a:r>
              <a:t>### 可以暂停的情况</a:t>
            </a:r>
          </a:p>
          <a:p/>
          <a:p>
            <a:r>
              <a:t>- 正在收集推荐条件。</a:t>
            </a:r>
          </a:p>
          <a:p>
            <a:r>
              <a:t>- 正在让用户选择订单。</a:t>
            </a:r>
          </a:p>
          <a:p>
            <a:r>
              <a:t>- 正在解释售后政策。</a:t>
            </a:r>
          </a:p>
          <a:p>
            <a:r>
              <a:t>- 售后申请尚未提交。</a:t>
            </a:r>
          </a:p>
          <a:p/>
          <a:p>
            <a:r>
              <a:t>这些操作没有改变业务数据，可以先处理其他问题，再回来继续。</a:t>
            </a:r>
          </a:p>
          <a:p/>
          <a:p>
            <a:r>
              <a:t>### 需要谨慎的情况</a:t>
            </a:r>
          </a:p>
          <a:p/>
          <a:p>
            <a:r>
              <a:t>- 正在提交售后申请。</a:t>
            </a:r>
          </a:p>
          <a:p>
            <a:r>
              <a:t>- 正在取消订单。</a:t>
            </a:r>
          </a:p>
          <a:p>
            <a:r>
              <a:t>- 正在修改收货地址。</a:t>
            </a:r>
          </a:p>
          <a:p>
            <a:r>
              <a:t>- 正在执行退款或补偿。</a:t>
            </a:r>
          </a:p>
          <a:p/>
          <a:p>
            <a:r>
              <a:t>这些操作可能已经改变业务数据。</a:t>
            </a:r>
          </a:p>
          <a:p/>
          <a:p>
            <a:r>
              <a:t>如果系统没有拿到明确结果，不能因为用户切换了话题，就假设操作没有发生；也不能回来之后直接再执行一次。</a:t>
            </a:r>
          </a:p>
          <a:p/>
          <a:p>
            <a:r>
              <a:t>因此需要保存：</a:t>
            </a:r>
          </a:p>
          <a:p/>
          <a:p>
            <a:r>
              <a:t>```text</a:t>
            </a:r>
          </a:p>
          <a:p>
            <a:r>
              <a:t>操作类型：提交换货申请</a:t>
            </a:r>
          </a:p>
          <a:p>
            <a:r>
              <a:t>请求标识：REQ-001</a:t>
            </a:r>
          </a:p>
          <a:p>
            <a:r>
              <a:t>当前状态：结果待确认</a:t>
            </a:r>
          </a:p>
          <a:p>
            <a:r>
              <a:t>是否允许再次提交：否</a:t>
            </a:r>
          </a:p>
          <a:p>
            <a:r>
              <a:t>```</a:t>
            </a:r>
          </a:p>
          <a:p/>
          <a:p>
            <a:r>
              <a:t>这与前面讲到的提交超时属于同一个问题。</a:t>
            </a:r>
          </a:p>
          <a:p/>
          <a:p/>
          <a:p>
            <a:r>
              <a:t>## 十、用三段对话检查流程协同</a:t>
            </a:r>
          </a:p>
          <a:p/>
          <a:p>
            <a:r>
              <a:t>### 案例一：商品推荐切换到订单查询</a:t>
            </a:r>
          </a:p>
          <a:p/>
          <a:p>
            <a:r>
              <a:t>&gt; 用户：想买个三百以内的通勤耳机。  </a:t>
            </a:r>
          </a:p>
          <a:p>
            <a:r>
              <a:t>&gt; 用户：对了，我上周的订单什么时候到？  </a:t>
            </a:r>
          </a:p>
          <a:p>
            <a:r>
              <a:t>&gt; 用户：查到了。刚才第一款有黑色吗？</a:t>
            </a:r>
          </a:p>
          <a:p/>
          <a:p>
            <a:r>
              <a:t>检查：</a:t>
            </a:r>
          </a:p>
          <a:p/>
          <a:p>
            <a:r>
              <a:t>- 推荐条件是否保留。</a:t>
            </a:r>
          </a:p>
          <a:p>
            <a:r>
              <a:t>- 订单查询是否正常完成。</a:t>
            </a:r>
          </a:p>
          <a:p>
            <a:r>
              <a:t>- “刚才第一款”能否重新对应到推荐商品。</a:t>
            </a:r>
          </a:p>
          <a:p/>
          <a:p>
            <a:r>
              <a:t>### 案例二：售后处理中修改诉求</a:t>
            </a:r>
          </a:p>
          <a:p/>
          <a:p>
            <a:r>
              <a:t>&gt; 用户：我要换货。  </a:t>
            </a:r>
          </a:p>
          <a:p>
            <a:r>
              <a:t>&gt; 系统已经收集订单和故障情况。  </a:t>
            </a:r>
          </a:p>
          <a:p>
            <a:r>
              <a:t>&gt; 用户：算了，我还是想退。</a:t>
            </a:r>
          </a:p>
          <a:p/>
          <a:p>
            <a:r>
              <a:t>检查：</a:t>
            </a:r>
          </a:p>
          <a:p/>
          <a:p>
            <a:r>
              <a:t>- 是否将换货修改为退货。</a:t>
            </a:r>
          </a:p>
          <a:p>
            <a:r>
              <a:t>- 是否重新检查退货条件。</a:t>
            </a:r>
          </a:p>
          <a:p>
            <a:r>
              <a:t>- 是否废弃旧的确认内容。</a:t>
            </a:r>
          </a:p>
          <a:p>
            <a:r>
              <a:t>- 是否避免提交错误的申请。</a:t>
            </a:r>
          </a:p>
          <a:p/>
          <a:p>
            <a:r>
              <a:t>### 案例三：提交过程中切换话题</a:t>
            </a:r>
          </a:p>
          <a:p/>
          <a:p>
            <a:r>
              <a:t>&gt; 用户确认提交换货申请。  </a:t>
            </a:r>
          </a:p>
          <a:p>
            <a:r>
              <a:t>&gt; 接口响应超时。  </a:t>
            </a:r>
          </a:p>
          <a:p>
            <a:r>
              <a:t>&gt; 用户突然问：“新的大概多久能寄出？”</a:t>
            </a:r>
          </a:p>
          <a:p/>
          <a:p>
            <a:r>
              <a:t>检查：</a:t>
            </a:r>
          </a:p>
          <a:p/>
          <a:p>
            <a:r>
              <a:t>- 系统是否保留“提交结果待确认”的状态。</a:t>
            </a:r>
          </a:p>
          <a:p>
            <a:r>
              <a:t>- 是否避免重复提交。</a:t>
            </a:r>
          </a:p>
          <a:p>
            <a:r>
              <a:t>- 是否在回答时说明当前申请状态尚未确认。</a:t>
            </a:r>
          </a:p>
          <a:p>
            <a:r>
              <a:t>- 是否在后续继续查询真实提交结果。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八、用户一句话里可能包含多个任务</a:t>
            </a:r>
          </a:p>
          <a:p/>
          <a:p>
            <a:r>
              <a:t>用户有时会说：</a:t>
            </a:r>
          </a:p>
          <a:p/>
          <a:p>
            <a:r>
              <a:t>&gt; “帮我查一下订单什么时候到，到了以后如果不合适能退吗？”</a:t>
            </a:r>
          </a:p>
          <a:p/>
          <a:p>
            <a:r>
              <a:t>这句话同时包含：</a:t>
            </a:r>
          </a:p>
          <a:p/>
          <a:p>
            <a:r>
              <a:t>- 查询物流状态。</a:t>
            </a:r>
          </a:p>
          <a:p>
            <a:r>
              <a:t>- 咨询退货政策。</a:t>
            </a:r>
          </a:p>
          <a:p/>
          <a:p>
            <a:r>
              <a:t>系统可以把它拆成两个任务，但不一定要同时执行所有流程。</a:t>
            </a:r>
          </a:p>
          <a:p/>
          <a:p>
            <a:r>
              <a:t>一种自然的处理方式是：</a:t>
            </a:r>
          </a:p>
          <a:p/>
          <a:p>
            <a:r>
              <a:t>&gt; “我先帮你查一下物流状态，再说明这笔订单适用的退货规则。”</a:t>
            </a:r>
          </a:p>
          <a:p/>
          <a:p>
            <a:r>
              <a:t>先查到具体订单，再根据订单、商品和时间判断售后政策，结果会更准确。</a:t>
            </a:r>
          </a:p>
          <a:p/>
          <a:p>
            <a:r>
              <a:t>如果两个任务没有依赖关系，也可以分别处理：</a:t>
            </a:r>
          </a:p>
          <a:p/>
          <a:p>
            <a:r>
              <a:t>&gt; “这笔订单预计明天送达。签收后如果商品符合退货条件，可以在订单详情中发起申请。”</a:t>
            </a:r>
          </a:p>
          <a:p/>
          <a:p>
            <a:r>
              <a:t>产品经理需要决定：</a:t>
            </a:r>
          </a:p>
          <a:p/>
          <a:p>
            <a:r>
              <a:t>- 多任务是否允许同时处理。</a:t>
            </a:r>
          </a:p>
          <a:p>
            <a:r>
              <a:t>- 哪个任务优先。</a:t>
            </a:r>
          </a:p>
          <a:p>
            <a:r>
              <a:t>- 两个任务是否存在数据依赖。</a:t>
            </a:r>
          </a:p>
          <a:p>
            <a:r>
              <a:t>- 回复时如何让用户看清每个问题的结果。</a:t>
            </a:r>
          </a:p>
          <a:p/>
          <a:p/>
          <a:p>
            <a:r>
              <a:t>## 九、要不要为每条流程设计一个 Agent</a:t>
            </a:r>
          </a:p>
          <a:p/>
          <a:p>
            <a:r>
              <a:t>看到商品推荐、订单查询和售后处理，有人可能会自然地想到：</a:t>
            </a:r>
          </a:p>
          <a:p/>
          <a:p>
            <a:r>
              <a:t>&gt; 每条业务都做成一个独立 Agent，再让一个主 Agent 管理它们。</a:t>
            </a:r>
          </a:p>
          <a:p/>
          <a:p>
            <a:r>
              <a:t>技术上可以这样做，但这个项目没有必要一开始就做成多个自主 Agent。</a:t>
            </a:r>
          </a:p>
          <a:p/>
          <a:p>
            <a:r>
              <a:t>因为这些业务的处理目标和步骤相对明确：</a:t>
            </a:r>
          </a:p>
          <a:p/>
          <a:p>
            <a:r>
              <a:t>- 订单查询有固定的数据来源和结果。</a:t>
            </a:r>
          </a:p>
          <a:p>
            <a:r>
              <a:t>- 售后处理有明确的字段、政策与提交步骤。</a:t>
            </a:r>
          </a:p>
          <a:p>
            <a:r>
              <a:t>- 商品推荐有相对清楚的查询和筛选过程。</a:t>
            </a:r>
          </a:p>
          <a:p/>
          <a:p>
            <a:r>
              <a:t>它们更适合先做成可控的业务工作流。</a:t>
            </a:r>
          </a:p>
          <a:p/>
          <a:p>
            <a:r>
              <a:t>主流程负责识别和调度，子流程负责执行。这样更容易：</a:t>
            </a:r>
          </a:p>
          <a:p/>
          <a:p>
            <a:r>
              <a:t>- 看清每一步发生了什么。</a:t>
            </a:r>
          </a:p>
          <a:p>
            <a:r>
              <a:t>- 控制哪些操作可以执行。</a:t>
            </a:r>
          </a:p>
          <a:p>
            <a:r>
              <a:t>- 定位错误发生在哪个环节。</a:t>
            </a:r>
          </a:p>
          <a:p>
            <a:r>
              <a:t>- 对关键业务状态进行记录。</a:t>
            </a:r>
          </a:p>
          <a:p>
            <a:r>
              <a:t>- 做针对性的测试。</a:t>
            </a:r>
          </a:p>
          <a:p/>
          <a:p>
            <a:r>
              <a:t>只有当某个任务需要自主制定计划、反复选择工具，并且处理路径难以提前确定时，才更有必要考虑独立 Agent。</a:t>
            </a:r>
          </a:p>
          <a:p/>
          <a:p>
            <a:r>
              <a:t>这个项目的重点不是 Agent 数量，而是多条业务流程能否可靠协同。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第七节：人工接管与客服工作台</a:t>
            </a:r>
          </a:p>
          <a:p/>
          <a:p>
            <a:r>
              <a:t>前面我们一直在讨论 AI 怎样处理问题，但一个真实的客服产品不能只设计“AI 成功处理”的路径。</a:t>
            </a:r>
          </a:p>
          <a:p/>
          <a:p>
            <a:r>
              <a:t>用户可能明确要求人工，也可能遇到系统权限之外的问题：</a:t>
            </a:r>
          </a:p>
          <a:p/>
          <a:p>
            <a:r>
              <a:t>&gt; “你别再问了，直接转人工。”  </a:t>
            </a:r>
          </a:p>
          <a:p>
            <a:r>
              <a:t>&gt; “平台显示已经退款，但银行卡没有收到。”  </a:t>
            </a:r>
          </a:p>
          <a:p>
            <a:r>
              <a:t>&gt; “你们的两份售后规则为什么不一样？”  </a:t>
            </a:r>
          </a:p>
          <a:p>
            <a:r>
              <a:t>&gt; “这个问题已经解决三次都没解决。”</a:t>
            </a:r>
          </a:p>
          <a:p/>
          <a:p>
            <a:r>
              <a:t>所以，转人工不是 AI 客服失败后的临时补丁，而是完整服务流程的一部分。</a:t>
            </a:r>
          </a:p>
          <a:p/>
          <a:p>
            <a:r>
              <a:t>这一节重点解决两个问题：</a:t>
            </a:r>
          </a:p>
          <a:p/>
          <a:p>
            <a:r>
              <a:t>1. 什么情况下应该转人工？</a:t>
            </a:r>
          </a:p>
          <a:p>
            <a:r>
              <a:t>2. 转过去以后，人工客服应该看到什么？</a:t>
            </a:r>
          </a:p>
          <a:p/>
          <a:p/>
          <a:p>
            <a:r>
              <a:t>本节内容：明确何时转人工；让人工直接接着处理；记录人工修正与最终结果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一、哪些问题应该转人工</a:t>
            </a:r>
          </a:p>
          <a:p/>
          <a:p>
            <a:r>
              <a:t>不能把所有复杂问题都转给人工，否则 AI 只能处理最简单的问答。</a:t>
            </a:r>
          </a:p>
          <a:p/>
          <a:p>
            <a:r>
              <a:t>但也不能为了提高自动解决率，强行让 AI 继续处理超出能力和权限的问题。</a:t>
            </a:r>
          </a:p>
          <a:p/>
          <a:p>
            <a:r>
              <a:t>可以从六类情况判断。</a:t>
            </a:r>
          </a:p>
          <a:p/>
          <a:p>
            <a:r>
              <a:t>### 1. 用户明确要求人工</a:t>
            </a:r>
          </a:p>
          <a:p/>
          <a:p>
            <a:r>
              <a:t>&gt; “给我转人工。”  </a:t>
            </a:r>
          </a:p>
          <a:p>
            <a:r>
              <a:t>&gt; “我不想再跟机器人说了。”</a:t>
            </a:r>
          </a:p>
          <a:p/>
          <a:p>
            <a:r>
              <a:t>如果用户已经明确提出要求，系统通常不应该继续用多轮话术阻止转接。</a:t>
            </a:r>
          </a:p>
          <a:p/>
          <a:p>
            <a:r>
              <a:t>可以简单确认：</a:t>
            </a:r>
          </a:p>
          <a:p/>
          <a:p>
            <a:r>
              <a:t>&gt; “好的，我正在为你转接人工客服。刚才的订单和问题信息会一并转交。”</a:t>
            </a:r>
          </a:p>
          <a:p/>
          <a:p>
            <a:r>
              <a:t>### 2. 多次澄清仍无法理解</a:t>
            </a:r>
          </a:p>
          <a:p/>
          <a:p>
            <a:r>
              <a:t>例如：</a:t>
            </a:r>
          </a:p>
          <a:p/>
          <a:p>
            <a:r>
              <a:t>&gt; 用户：这个就是不行。  </a:t>
            </a:r>
          </a:p>
          <a:p>
            <a:r>
              <a:t>&gt; 系统：你是指商品无法使用，还是想申请退货？  </a:t>
            </a:r>
          </a:p>
          <a:p>
            <a:r>
              <a:t>&gt; 用户：就是之前那个问题，我都说过了。</a:t>
            </a:r>
          </a:p>
          <a:p/>
          <a:p>
            <a:r>
              <a:t>系统已经尝试澄清，但仍无法确定用户诉求。继续追问只会让体验更差。</a:t>
            </a:r>
          </a:p>
          <a:p/>
          <a:p>
            <a:r>
              <a:t>### 3. 缺少可靠依据</a:t>
            </a:r>
          </a:p>
          <a:p/>
          <a:p>
            <a:r>
              <a:t>例如：</a:t>
            </a:r>
          </a:p>
          <a:p/>
          <a:p>
            <a:r>
              <a:t>- 知识库中没有适用政策。</a:t>
            </a:r>
          </a:p>
          <a:p>
            <a:r>
              <a:t>- 两份政策内容互相冲突。</a:t>
            </a:r>
          </a:p>
          <a:p>
            <a:r>
              <a:t>- 商品系统和订单系统状态不一致。</a:t>
            </a:r>
          </a:p>
          <a:p>
            <a:r>
              <a:t>- 用户的情况不符合现有处理规则。</a:t>
            </a:r>
          </a:p>
          <a:p/>
          <a:p>
            <a:r>
              <a:t>这时 AI 不能根据常识自行补充一条规则。</a:t>
            </a:r>
          </a:p>
          <a:p/>
          <a:p>
            <a:r>
              <a:t>### 4. 超出系统权限</a:t>
            </a:r>
          </a:p>
          <a:p/>
          <a:p>
            <a:r>
              <a:t>例如：</a:t>
            </a:r>
          </a:p>
          <a:p/>
          <a:p>
            <a:r>
              <a:t>- 用户要求额外补偿。</a:t>
            </a:r>
          </a:p>
          <a:p>
            <a:r>
              <a:t>- 需要修改已经发货订单的地址。</a:t>
            </a:r>
          </a:p>
          <a:p>
            <a:r>
              <a:t>- 需要特殊退款。</a:t>
            </a:r>
          </a:p>
          <a:p>
            <a:r>
              <a:t>- 需要取消已经进入处理阶段的售后申请。</a:t>
            </a:r>
          </a:p>
          <a:p/>
          <a:p>
            <a:r>
              <a:t>AI 可以收集信息、解释现状，但最终决定需要由有权限的人完成。</a:t>
            </a:r>
          </a:p>
          <a:p/>
          <a:p>
            <a:r>
              <a:t>### 5. 高风险或强烈投诉</a:t>
            </a:r>
          </a:p>
          <a:p/>
          <a:p>
            <a:r>
              <a:t>例如：</a:t>
            </a:r>
          </a:p>
          <a:p/>
          <a:p>
            <a:r>
              <a:t>&gt; “如果你们不处理，我马上投诉。”  </a:t>
            </a:r>
          </a:p>
          <a:p>
            <a:r>
              <a:t>&gt; “商品使用后导致我受伤。”  </a:t>
            </a:r>
          </a:p>
          <a:p>
            <a:r>
              <a:t>&gt; “我怀疑有人盗用了我的账户。”</a:t>
            </a:r>
          </a:p>
          <a:p/>
          <a:p>
            <a:r>
              <a:t>这类问题不仅是普通客服问题，还可能涉及安全、合规和投诉处理。</a:t>
            </a:r>
          </a:p>
          <a:p/>
          <a:p>
            <a:r>
              <a:t>### 6. 系统无法继续工作</a:t>
            </a:r>
          </a:p>
          <a:p/>
          <a:p>
            <a:r>
              <a:t>例如：</a:t>
            </a:r>
          </a:p>
          <a:p/>
          <a:p>
            <a:r>
              <a:t>- 订单接口持续失败。</a:t>
            </a:r>
          </a:p>
          <a:p>
            <a:r>
              <a:t>- 售后申请结果无法确认。</a:t>
            </a:r>
          </a:p>
          <a:p>
            <a:r>
              <a:t>- 用户身份验证不通过。</a:t>
            </a:r>
          </a:p>
          <a:p>
            <a:r>
              <a:t>- 关键业务系统不可用。</a:t>
            </a:r>
          </a:p>
          <a:p/>
          <a:p>
            <a:r>
              <a:t>此时转人工不是让人工重新尝试相同接口，而是让人工使用其他处理渠道或发起后续跟进。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二、转人工之前要告诉用户什么</a:t>
            </a:r>
          </a:p>
          <a:p/>
          <a:p>
            <a:r>
              <a:t>很多客服系统只回复一句：</a:t>
            </a:r>
          </a:p>
          <a:p/>
          <a:p>
            <a:r>
              <a:t>&gt; “正在为您转接人工客服。”</a:t>
            </a:r>
          </a:p>
          <a:p/>
          <a:p>
            <a:r>
              <a:t>但用户不知道：</a:t>
            </a:r>
          </a:p>
          <a:p/>
          <a:p>
            <a:r>
              <a:t>- 是否已经开始排队。</a:t>
            </a:r>
          </a:p>
          <a:p>
            <a:r>
              <a:t>- 预计要等多久。</a:t>
            </a:r>
          </a:p>
          <a:p>
            <a:r>
              <a:t>- 刚才的信息会不会丢失。</a:t>
            </a:r>
          </a:p>
          <a:p>
            <a:r>
              <a:t>- 是否需要留在当前页面。</a:t>
            </a:r>
          </a:p>
          <a:p>
            <a:r>
              <a:t>- 人工客服是否真的能处理这个问题。</a:t>
            </a:r>
          </a:p>
          <a:p/>
          <a:p>
            <a:r>
              <a:t>比较完整的回复可以是：</a:t>
            </a:r>
          </a:p>
          <a:p/>
          <a:p>
            <a:r>
              <a:t>&gt; “这个问题需要人工进一步核实。我已经整理了订单、售后申请状态和你刚才反馈的情况，会一并转交。当前预计等待 3—5 分钟，你不需要重新描述。”</a:t>
            </a:r>
          </a:p>
          <a:p/>
          <a:p>
            <a:r>
              <a:t>如果人工暂时不在线，可以提供其他选择：</a:t>
            </a:r>
          </a:p>
          <a:p/>
          <a:p>
            <a:r>
              <a:t>- 留下问题，稍后由客服回复。</a:t>
            </a:r>
          </a:p>
          <a:p>
            <a:r>
              <a:t>- 创建服务单。</a:t>
            </a:r>
          </a:p>
          <a:p>
            <a:r>
              <a:t>- 提供客服电话或工作时间。</a:t>
            </a:r>
          </a:p>
          <a:p>
            <a:r>
              <a:t>- 允许用户查看处理进度。</a:t>
            </a:r>
          </a:p>
          <a:p/>
          <a:p>
            <a:r>
              <a:t>转人工本身也需要有明确的产品状态：</a:t>
            </a:r>
          </a:p>
          <a:p/>
          <a:p>
            <a:r>
              <a:t>```text</a:t>
            </a:r>
          </a:p>
          <a:p>
            <a:r>
              <a:t>准备转接</a:t>
            </a:r>
          </a:p>
          <a:p>
            <a:r>
              <a:t>正在排队</a:t>
            </a:r>
          </a:p>
          <a:p>
            <a:r>
              <a:t>已经接入</a:t>
            </a:r>
          </a:p>
          <a:p>
            <a:r>
              <a:t>暂时无人接入</a:t>
            </a:r>
          </a:p>
          <a:p>
            <a:r>
              <a:t>已经创建服务单</a:t>
            </a:r>
          </a:p>
          <a:p>
            <a:r>
              <a:t>转接失败</a:t>
            </a:r>
          </a:p>
          <a:p>
            <a:r>
              <a:t>```</a:t>
            </a:r>
          </a:p>
          <a:p/>
          <a:p>
            <a:r>
              <a:t>不能只有一个无限转圈的加载状态。</a:t>
            </a:r>
          </a:p>
          <a:p/>
          <a:p/>
          <a:p>
            <a:r>
              <a:t>材料包统一口径：本案例未提供排队估时，不使用原讲义示例中的3—5分钟承诺。</a:t>
            </a:r>
          </a:p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三、人工客服需要收到哪些信息</a:t>
            </a:r>
          </a:p>
          <a:p/>
          <a:p>
            <a:r>
              <a:t>我们来看一个例子。</a:t>
            </a:r>
          </a:p>
          <a:p/>
          <a:p>
            <a:r>
              <a:t>用户与 AI 已经完成了这些对话：</a:t>
            </a:r>
          </a:p>
          <a:p/>
          <a:p>
            <a:r>
              <a:t>&gt; 用户：耳机右边没声音，想换一个。  </a:t>
            </a:r>
          </a:p>
          <a:p>
            <a:r>
              <a:t>&gt; AI：找到订单 DEMO-101，请问是否是这笔订单？  </a:t>
            </a:r>
          </a:p>
          <a:p>
            <a:r>
              <a:t>&gt; 用户：是。  </a:t>
            </a:r>
          </a:p>
          <a:p>
            <a:r>
              <a:t>&gt; AI：请尝试重新连接和恢复出厂设置。  </a:t>
            </a:r>
          </a:p>
          <a:p>
            <a:r>
              <a:t>&gt; 用户：都试过了，还是不行。  </a:t>
            </a:r>
          </a:p>
          <a:p>
            <a:r>
              <a:t>&gt; AI：请上传故障视频。  </a:t>
            </a:r>
          </a:p>
          <a:p>
            <a:r>
              <a:t>&gt; 用户：我现在没办法拍，直接找人工吧。</a:t>
            </a:r>
          </a:p>
          <a:p/>
          <a:p>
            <a:r>
              <a:t>如果人工接入后只看到：</a:t>
            </a:r>
          </a:p>
          <a:p/>
          <a:p>
            <a:r>
              <a:t>&gt; 用户需要换货。</a:t>
            </a:r>
          </a:p>
          <a:p/>
          <a:p>
            <a:r>
              <a:t>这远远不够。</a:t>
            </a:r>
          </a:p>
          <a:p/>
          <a:p>
            <a:r>
              <a:t>人工客服至少需要看到以下信息。</a:t>
            </a:r>
          </a:p>
          <a:p/>
          <a:p>
            <a:r>
              <a:t>### 1. 用户信息</a:t>
            </a:r>
          </a:p>
          <a:p/>
          <a:p>
            <a:r>
              <a:t>```text</a:t>
            </a:r>
          </a:p>
          <a:p>
            <a:r>
              <a:t>用户：当前登录用户</a:t>
            </a:r>
          </a:p>
          <a:p>
            <a:r>
              <a:t>会员等级：普通会员</a:t>
            </a:r>
          </a:p>
          <a:p>
            <a:r>
              <a:t>联系方式：已隐藏部分号码</a:t>
            </a:r>
          </a:p>
          <a:p>
            <a:r>
              <a:t>```</a:t>
            </a:r>
          </a:p>
          <a:p/>
          <a:p>
            <a:r>
              <a:t>### 2. 当前问题</a:t>
            </a:r>
          </a:p>
          <a:p/>
          <a:p>
            <a:r>
              <a:t>```text</a:t>
            </a:r>
          </a:p>
          <a:p>
            <a:r>
              <a:t>当前诉求：换货</a:t>
            </a:r>
          </a:p>
          <a:p>
            <a:r>
              <a:t>问题商品：无线耳机</a:t>
            </a:r>
          </a:p>
          <a:p>
            <a:r>
              <a:t>故障现象：右耳无声音</a:t>
            </a:r>
          </a:p>
          <a:p>
            <a:r>
              <a:t>```</a:t>
            </a:r>
          </a:p>
          <a:p/>
          <a:p>
            <a:r>
              <a:t>### 3. 关联业务信息</a:t>
            </a:r>
          </a:p>
          <a:p/>
          <a:p>
            <a:r>
              <a:t>```text</a:t>
            </a:r>
          </a:p>
          <a:p>
            <a:r>
              <a:t>订单号：DEMO-101</a:t>
            </a:r>
          </a:p>
          <a:p>
            <a:r>
              <a:t>订单状态：已签收</a:t>
            </a:r>
          </a:p>
          <a:p>
            <a:r>
              <a:t>签收时间：2026 年 9 月 4 日</a:t>
            </a:r>
          </a:p>
          <a:p>
            <a:r>
              <a:t>当前售后申请：尚未提交</a:t>
            </a:r>
          </a:p>
          <a:p>
            <a:r>
              <a:t>```</a:t>
            </a:r>
          </a:p>
          <a:p/>
          <a:p>
            <a:r>
              <a:t>### 4. 已经完成的步骤</a:t>
            </a:r>
          </a:p>
          <a:p/>
          <a:p>
            <a:r>
              <a:t>```text</a:t>
            </a:r>
          </a:p>
          <a:p>
            <a:r>
              <a:t>已确认订单</a:t>
            </a:r>
          </a:p>
          <a:p>
            <a:r>
              <a:t>已尝试重新连接</a:t>
            </a:r>
          </a:p>
          <a:p>
            <a:r>
              <a:t>已尝试恢复出厂设置</a:t>
            </a:r>
          </a:p>
          <a:p>
            <a:r>
              <a:t>尚未上传故障视频</a:t>
            </a:r>
          </a:p>
          <a:p>
            <a:r>
              <a:t>```</a:t>
            </a:r>
          </a:p>
          <a:p/>
          <a:p>
            <a:r>
              <a:t>### 5. 转人工原因</a:t>
            </a:r>
          </a:p>
          <a:p/>
          <a:p>
            <a:r>
              <a:t>```text</a:t>
            </a:r>
          </a:p>
          <a:p>
            <a:r>
              <a:t>用户明确要求人工</a:t>
            </a:r>
          </a:p>
          <a:p>
            <a:r>
              <a:t>当前缺少故障视频</a:t>
            </a:r>
          </a:p>
          <a:p>
            <a:r>
              <a:t>AI 尚未执行任何售后提交操作</a:t>
            </a:r>
          </a:p>
          <a:p>
            <a:r>
              <a:t>```</a:t>
            </a:r>
          </a:p>
          <a:p/>
          <a:p>
            <a:r>
              <a:t>### 6. 建议的下一步</a:t>
            </a:r>
          </a:p>
          <a:p/>
          <a:p>
            <a:r>
              <a:t>```text</a:t>
            </a:r>
          </a:p>
          <a:p>
            <a:r>
              <a:t>人工核实是否可以暂缓材料提交</a:t>
            </a:r>
          </a:p>
          <a:p>
            <a:r>
              <a:t>确认后决定继续换货申请或创建服务单</a:t>
            </a:r>
          </a:p>
          <a:p>
            <a:r>
              <a:t>```</a:t>
            </a:r>
          </a:p>
          <a:p/>
          <a:p>
            <a:r>
              <a:t>人工看到这些信息后，就可以直接继续处理，而不是再次问：</a:t>
            </a:r>
          </a:p>
          <a:p/>
          <a:p>
            <a:r>
              <a:t>&gt; “请问你遇到了什么问题？”</a:t>
            </a:r>
          </a:p>
          <a:p/>
          <a:p/>
          <a:p>
            <a:r>
              <a:t>## 四、不能只把聊天记录扔给人工</a:t>
            </a:r>
          </a:p>
          <a:p/>
          <a:p>
            <a:r>
              <a:t>一种很常见的产品设计是：</a:t>
            </a:r>
          </a:p>
          <a:p/>
          <a:p>
            <a:r>
              <a:t>&gt; 转人工后，把前面几十轮聊天记录完整展示给客服。</a:t>
            </a:r>
          </a:p>
          <a:p/>
          <a:p>
            <a:r>
              <a:t>这当然比完全看不到历史好，但仍然不够。</a:t>
            </a:r>
          </a:p>
          <a:p/>
          <a:p>
            <a:r>
              <a:t>人工需要自己从大量对话中寻找：</a:t>
            </a:r>
          </a:p>
          <a:p/>
          <a:p>
            <a:r>
              <a:t>- 用户到底要什么。</a:t>
            </a:r>
          </a:p>
          <a:p>
            <a:r>
              <a:t>- 对应哪一笔订单。</a:t>
            </a:r>
          </a:p>
          <a:p>
            <a:r>
              <a:t>- 系统已经做过什么。</a:t>
            </a:r>
          </a:p>
          <a:p>
            <a:r>
              <a:t>- 哪一步没有完成。</a:t>
            </a:r>
          </a:p>
          <a:p>
            <a:r>
              <a:t>- 是否已经产生业务操作。</a:t>
            </a:r>
          </a:p>
          <a:p/>
          <a:p>
            <a:r>
              <a:t>如果每次都要重新阅读完整对话，转人工虽然减少了用户重复描述，却没有真正减少客服的工作。</a:t>
            </a:r>
          </a:p>
          <a:p/>
          <a:p>
            <a:r>
              <a:t>比较合理的方式是同时提供两部分：</a:t>
            </a:r>
          </a:p>
          <a:p/>
          <a:p>
            <a:r>
              <a:t>1. 原始聊天记录：方便查看具体表达。</a:t>
            </a:r>
          </a:p>
          <a:p>
            <a:r>
              <a:t>2. 结构化交接信息：帮助客服快速接手。</a:t>
            </a:r>
          </a:p>
          <a:p/>
          <a:p>
            <a:r>
              <a:t>结构化信息是为了提高处理效率，原始记录是为了核对事实和理解语气。</a:t>
            </a:r>
          </a:p>
          <a:p/>
          <a:p/>
          <a:p>
            <a:r>
              <a:t>签收日期统一采用前文与材料包的9月4日。完整聊天记录同时保留，摘要用于快速定位。</a:t>
            </a:r>
          </a:p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五、客服工作台应该怎样组织</a:t>
            </a:r>
          </a:p>
          <a:p/>
          <a:p>
            <a:r>
              <a:t>人工客服接入后，通常需要同时查看对话、订单、商品、售后和系统建议。</a:t>
            </a:r>
          </a:p>
          <a:p/>
          <a:p>
            <a:r>
              <a:t>课堂上可以先把客服工作台分成四个区域。</a:t>
            </a:r>
          </a:p>
          <a:p/>
          <a:p>
            <a:r>
              <a:t>### 区域一：用户与当前任务</a:t>
            </a:r>
          </a:p>
          <a:p/>
          <a:p>
            <a:r>
              <a:t>显示：</a:t>
            </a:r>
          </a:p>
          <a:p/>
          <a:p>
            <a:r>
              <a:t>- 用户身份。</a:t>
            </a:r>
          </a:p>
          <a:p>
            <a:r>
              <a:t>- 当前问题类型。</a:t>
            </a:r>
          </a:p>
          <a:p>
            <a:r>
              <a:t>- 紧急程度。</a:t>
            </a:r>
          </a:p>
          <a:p>
            <a:r>
              <a:t>- 是否为重复咨询。</a:t>
            </a:r>
          </a:p>
          <a:p>
            <a:r>
              <a:t>- 当前等待时长。</a:t>
            </a:r>
          </a:p>
          <a:p/>
          <a:p>
            <a:r>
              <a:t>让客服一眼知道“这是哪个用户、在处理什么事”。</a:t>
            </a:r>
          </a:p>
          <a:p/>
          <a:p>
            <a:r>
              <a:t>### 区域二：完整对话</a:t>
            </a:r>
          </a:p>
          <a:p/>
          <a:p>
            <a:r>
              <a:t>保留用户与 AI 的原始聊天记录。</a:t>
            </a:r>
          </a:p>
          <a:p/>
          <a:p>
            <a:r>
              <a:t>重要消息可以进行标记，例如：</a:t>
            </a:r>
          </a:p>
          <a:p/>
          <a:p>
            <a:r>
              <a:t>- 用户明确诉求。</a:t>
            </a:r>
          </a:p>
          <a:p>
            <a:r>
              <a:t>- 订单选择结果。</a:t>
            </a:r>
          </a:p>
          <a:p>
            <a:r>
              <a:t>- 用户确认。</a:t>
            </a:r>
          </a:p>
          <a:p>
            <a:r>
              <a:t>- AI 已经调用的业务操作。</a:t>
            </a:r>
          </a:p>
          <a:p>
            <a:r>
              <a:t>- 接口错误。</a:t>
            </a:r>
          </a:p>
          <a:p/>
          <a:p>
            <a:r>
              <a:t>### 区域三：业务信息与交接摘要</a:t>
            </a:r>
          </a:p>
          <a:p/>
          <a:p>
            <a:r>
              <a:t>集中展示：</a:t>
            </a:r>
          </a:p>
          <a:p/>
          <a:p>
            <a:r>
              <a:t>- 订单信息。</a:t>
            </a:r>
          </a:p>
          <a:p>
            <a:r>
              <a:t>- 商品信息。</a:t>
            </a:r>
          </a:p>
          <a:p>
            <a:r>
              <a:t>- 售后申请状态。</a:t>
            </a:r>
          </a:p>
          <a:p>
            <a:r>
              <a:t>- 已收集字段。</a:t>
            </a:r>
          </a:p>
          <a:p>
            <a:r>
              <a:t>- 已尝试操作。</a:t>
            </a:r>
          </a:p>
          <a:p>
            <a:r>
              <a:t>- 转人工原因。</a:t>
            </a:r>
          </a:p>
          <a:p>
            <a:r>
              <a:t>- 尚未解决的问题。</a:t>
            </a:r>
          </a:p>
          <a:p/>
          <a:p>
            <a:r>
              <a:t>### 区域四：人工操作区</a:t>
            </a:r>
          </a:p>
          <a:p/>
          <a:p>
            <a:r>
              <a:t>客服可以在这里：</a:t>
            </a:r>
          </a:p>
          <a:p/>
          <a:p>
            <a:r>
              <a:t>- 回复用户。</a:t>
            </a:r>
          </a:p>
          <a:p>
            <a:r>
              <a:t>- 查询订单。</a:t>
            </a:r>
          </a:p>
          <a:p>
            <a:r>
              <a:t>- 创建或修改服务单。</a:t>
            </a:r>
          </a:p>
          <a:p>
            <a:r>
              <a:t>- 发起退款、退货或换货。</a:t>
            </a:r>
          </a:p>
          <a:p>
            <a:r>
              <a:t>- 添加备注。</a:t>
            </a:r>
          </a:p>
          <a:p>
            <a:r>
              <a:t>- 调整问题分类。</a:t>
            </a:r>
          </a:p>
          <a:p>
            <a:r>
              <a:t>- 结束会话。</a:t>
            </a:r>
          </a:p>
          <a:p/>
          <a:p>
            <a:r>
              <a:t>高风险操作仍然需要人工明确点击确认，不能因为 AI 生成了建议就自动执行。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六、AI 在人工工作台里还能做什么</a:t>
            </a:r>
          </a:p>
          <a:p/>
          <a:p>
            <a:r>
              <a:t>转人工并不意味着 AI 完全退出。</a:t>
            </a:r>
          </a:p>
          <a:p/>
          <a:p>
            <a:r>
              <a:t>AI 可以继续帮助人工客服：</a:t>
            </a:r>
          </a:p>
          <a:p/>
          <a:p>
            <a:r>
              <a:t>- 总结当前问题。</a:t>
            </a:r>
          </a:p>
          <a:p>
            <a:r>
              <a:t>- 从对话中提取订单号和故障信息。</a:t>
            </a:r>
          </a:p>
          <a:p>
            <a:r>
              <a:t>- 查找可能适用的政策。</a:t>
            </a:r>
          </a:p>
          <a:p>
            <a:r>
              <a:t>- 推荐下一步处理动作。</a:t>
            </a:r>
          </a:p>
          <a:p>
            <a:r>
              <a:t>- 根据处理结果生成回复草稿。</a:t>
            </a:r>
          </a:p>
          <a:p>
            <a:r>
              <a:t>- 提醒缺少哪些必要信息。</a:t>
            </a:r>
          </a:p>
          <a:p>
            <a:r>
              <a:t>- 检查回复是否与业务状态一致。</a:t>
            </a:r>
          </a:p>
          <a:p/>
          <a:p>
            <a:r>
              <a:t>但这里需要区分“建议”和“执行”。</a:t>
            </a:r>
          </a:p>
          <a:p/>
          <a:p>
            <a:r>
              <a:t>例如 AI 可以提示：</a:t>
            </a:r>
          </a:p>
          <a:p/>
          <a:p>
            <a:r>
              <a:t>&gt; “该订单可能符合换货条件，仍需补充故障证明。”</a:t>
            </a:r>
          </a:p>
          <a:p/>
          <a:p>
            <a:r>
              <a:t>但最终是否创建换货申请，应由人工客服确认。</a:t>
            </a:r>
          </a:p>
          <a:p/>
          <a:p>
            <a:r>
              <a:t>工作台上可以明确显示：</a:t>
            </a:r>
          </a:p>
          <a:p/>
          <a:p>
            <a:r>
              <a:t>```text</a:t>
            </a:r>
          </a:p>
          <a:p>
            <a:r>
              <a:t>AI 建议</a:t>
            </a:r>
          </a:p>
          <a:p>
            <a:r>
              <a:t>适用依据</a:t>
            </a:r>
          </a:p>
          <a:p>
            <a:r>
              <a:t>待确认信息</a:t>
            </a:r>
          </a:p>
          <a:p>
            <a:r>
              <a:t>人工操作</a:t>
            </a:r>
          </a:p>
          <a:p>
            <a:r>
              <a:t>```</a:t>
            </a:r>
          </a:p>
          <a:p/>
          <a:p>
            <a:r>
              <a:t>不能把 AI 生成的内容伪装成已经确认的业务结论。</a:t>
            </a:r>
          </a:p>
          <a:p/>
          <a:p/>
          <a:p>
            <a:r>
              <a:t>## 七、人工修改的信息怎样返回系统</a:t>
            </a:r>
          </a:p>
          <a:p/>
          <a:p>
            <a:r>
              <a:t>假设 AI 把用户问题识别成“退货”，人工客服发现用户真正想要的是“价格保护”。</a:t>
            </a:r>
          </a:p>
          <a:p/>
          <a:p>
            <a:r>
              <a:t>如果人工只是处理完问题，然后结束会话，系统不会知道自己之前判断错了。</a:t>
            </a:r>
          </a:p>
          <a:p/>
          <a:p>
            <a:r>
              <a:t>因此，人工处理结束后，可以记录少量关键信息：</a:t>
            </a:r>
          </a:p>
          <a:p/>
          <a:p>
            <a:r>
              <a:t>```text</a:t>
            </a:r>
          </a:p>
          <a:p>
            <a:r>
              <a:t>AI 判断：退货</a:t>
            </a:r>
          </a:p>
          <a:p>
            <a:r>
              <a:t>人工修正：价格保护</a:t>
            </a:r>
          </a:p>
          <a:p>
            <a:r>
              <a:t>错误原因：用户表达中包含“不想吃亏”，被误判为退货</a:t>
            </a:r>
          </a:p>
          <a:p>
            <a:r>
              <a:t>最终处理结果：创建价格保护服务单</a:t>
            </a:r>
          </a:p>
          <a:p>
            <a:r>
              <a:t>```</a:t>
            </a:r>
          </a:p>
          <a:p/>
          <a:p>
            <a:r>
              <a:t>这些信息后续可以用于：</a:t>
            </a:r>
          </a:p>
          <a:p/>
          <a:p>
            <a:r>
              <a:t>- 发现经常被误判的用户表达。</a:t>
            </a:r>
          </a:p>
          <a:p>
            <a:r>
              <a:t>- 补充测试案例。</a:t>
            </a:r>
          </a:p>
          <a:p>
            <a:r>
              <a:t>- 修改意图判断提示词。</a:t>
            </a:r>
          </a:p>
          <a:p>
            <a:r>
              <a:t>- 调整业务分类。</a:t>
            </a:r>
          </a:p>
          <a:p>
            <a:r>
              <a:t>- 完善知识库。</a:t>
            </a:r>
          </a:p>
          <a:p>
            <a:r>
              <a:t>- 判断哪些问题应该更早转人工。</a:t>
            </a:r>
          </a:p>
          <a:p/>
          <a:p>
            <a:r>
              <a:t>这一节只需要让学员知道这些信息应该被记录，不需要重新展开第九课的完整评测方法。</a:t>
            </a:r>
          </a:p>
          <a:p/>
          <a:p/>
          <a:p>
            <a:r>
              <a:t>## 九、怎样检查人工接管是否设计完整</a:t>
            </a:r>
          </a:p>
          <a:p/>
          <a:p>
            <a:r>
              <a:t>可以使用下面几组情况进行检查。</a:t>
            </a:r>
          </a:p>
          <a:p/>
          <a:p>
            <a:r>
              <a:t>### 情况一：用户主动要求人工</a:t>
            </a:r>
          </a:p>
          <a:p/>
          <a:p>
            <a:r>
              <a:t>检查系统是否及时转接，而不是不断劝用户继续与 AI 对话。</a:t>
            </a:r>
          </a:p>
          <a:p/>
          <a:p>
            <a:r>
              <a:t>### 情况二：AI 多次无法理解</a:t>
            </a:r>
          </a:p>
          <a:p/>
          <a:p>
            <a:r>
              <a:t>检查是否设置合理的澄清次数，避免无限追问。</a:t>
            </a:r>
          </a:p>
          <a:p/>
          <a:p>
            <a:r>
              <a:t>### 情况三：涉及高风险操作</a:t>
            </a:r>
          </a:p>
          <a:p/>
          <a:p>
            <a:r>
              <a:t>检查 AI 是否只提供建议，没有越权执行。</a:t>
            </a:r>
          </a:p>
          <a:p/>
          <a:p>
            <a:r>
              <a:t>### 情况四：转人工时已有业务状态</a:t>
            </a:r>
          </a:p>
          <a:p/>
          <a:p>
            <a:r>
              <a:t>检查人工是否知道：</a:t>
            </a:r>
          </a:p>
          <a:p/>
          <a:p>
            <a:r>
              <a:t>- 哪些操作已经执行。</a:t>
            </a:r>
          </a:p>
          <a:p>
            <a:r>
              <a:t>- 哪些操作没有执行。</a:t>
            </a:r>
          </a:p>
          <a:p>
            <a:r>
              <a:t>- 哪些结果仍然待确认。</a:t>
            </a:r>
          </a:p>
          <a:p/>
          <a:p>
            <a:r>
              <a:t>### 情况五：人工暂时不可用</a:t>
            </a:r>
          </a:p>
          <a:p/>
          <a:p>
            <a:r>
              <a:t>检查是否提供留言、服务单或其他联系渠道。</a:t>
            </a:r>
          </a:p>
          <a:p/>
          <a:p>
            <a:r>
              <a:t>### 情况六：人工完成处理</a:t>
            </a:r>
          </a:p>
          <a:p/>
          <a:p>
            <a:r>
              <a:t>检查最终分类、处理结果和修正信息是否被记录。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第八节：个人项目选题与课后作业</a:t>
            </a:r>
          </a:p>
          <a:p/>
          <a:p>
            <a:r>
              <a:t>本节大约 10—15 分钟，让学员明确三件事：回去做什么、做到什么程度、下次怎么点评。</a:t>
            </a:r>
          </a:p>
          <a:p/>
          <a:p/>
          <a:p>
            <a:r>
              <a:t>本节内容：选择自己的业务场景；用 Coze 跑通一条核心流程；提交实际测试与演示，点评后完善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一、把今天的公共项目换成自己的业务场景</a:t>
            </a:r>
          </a:p>
          <a:p/>
          <a:p>
            <a:r>
              <a:t>可以先对学员说：</a:t>
            </a:r>
          </a:p>
          <a:p/>
          <a:p>
            <a:r>
              <a:t>&gt; 今天我们一起拆解了电商智能客服。课后，你需要选择一个自己熟悉的场景，完成自己的客服项目方案，并用 Coze 把至少一条核心业务流程搭出来、实际运行和测试。</a:t>
            </a:r>
          </a:p>
          <a:p>
            <a:r>
              <a:t>&gt;</a:t>
            </a:r>
          </a:p>
          <a:p>
            <a:r>
              <a:t>&gt; 可以继续做电商，也可以选择你所在行业的场景。关键是你能说清楚用户遇到了什么问题，以及这件事实际应该怎么处理。</a:t>
            </a:r>
          </a:p>
          <a:p/>
          <a:p>
            <a:r>
              <a:t>给出一些可选方向，帮助学员对号入座：</a:t>
            </a:r>
          </a:p>
          <a:p/>
          <a:p>
            <a:r>
              <a:t>| 业务场景 | 用户可能提出的问题 | 可以完成的核心流程 |</a:t>
            </a:r>
          </a:p>
          <a:p>
            <a:r>
              <a:t>|---|---|---|</a:t>
            </a:r>
          </a:p>
          <a:p>
            <a:r>
              <a:t>| 电商 | “耳机坏了，我想换货。” | 确认订单、收集故障信息、登记售后申请 |</a:t>
            </a:r>
          </a:p>
          <a:p>
            <a:r>
              <a:t>| 教育培训 | “周六的课上不了，能调课吗？” | 查询报名、了解调课要求、登记申请 |</a:t>
            </a:r>
          </a:p>
          <a:p>
            <a:r>
              <a:t>| 企业软件 | “账号登录不上去了。” | 了解故障、查询解决方法、创建服务单 |</a:t>
            </a:r>
          </a:p>
          <a:p>
            <a:r>
              <a:t>| 家电服务 | “洗衣机不排水了，能上门维修吗？” | 确认设备、收集故障、登记维修需求 |</a:t>
            </a:r>
          </a:p>
          <a:p>
            <a:r>
              <a:t>| 物流服务 | “快递三天没动了，帮我查一下。” | 查询运单、说明状态、登记异常跟进 |</a:t>
            </a:r>
          </a:p>
          <a:p>
            <a:r>
              <a:t>| 酒店住宿 | “订好的房间想往后延一天。” | 查询预订、核实变更条件、登记或转交处理 |</a:t>
            </a:r>
          </a:p>
          <a:p/>
          <a:p>
            <a:r>
              <a:t>选题时优先考虑自己熟悉、能准备资料的业务。不必追求场景特别新，能把实际处理过程讲清楚更重要。</a:t>
            </a:r>
          </a:p>
          <a:p/>
          <a:p>
            <a:r>
              <a:t>个人项目需要体现你所选场景的用户、业务规则、数据和处理步骤。可以借鉴公共项目的方法，但只替换商品或项目名称，不算完成了自己的项目。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二、这次只完成一条核心流程</a:t>
            </a:r>
          </a:p>
          <a:p/>
          <a:p>
            <a:r>
              <a:t>这里要给学员明确减负：</a:t>
            </a:r>
          </a:p>
          <a:p/>
          <a:p>
            <a:r>
              <a:t>&gt; 今天展示了一个客服产品可以包含哪些部分，但你这次作业先完成其中一条核心流程即可。</a:t>
            </a:r>
          </a:p>
          <a:p/>
          <a:p>
            <a:r>
              <a:t>例如选择家电维修，第一版可以做到：</a:t>
            </a:r>
          </a:p>
          <a:p/>
          <a:p>
            <a:r>
              <a:t>&gt; 用户描述故障 → 确认设备信息 → 查询适用的基础排查方法 → 问题仍未解决 → 收集预约信息 → 用户确认 → 模拟生成维修需求单。</a:t>
            </a:r>
          </a:p>
          <a:p/>
          <a:p>
            <a:r>
              <a:t>做到“维修需求已登记”就可以结束，不必同时开发师傅派单、上门定位、维修报价和支付。</a:t>
            </a:r>
          </a:p>
          <a:p/>
          <a:p>
            <a:r>
              <a:t>最终的核心流程要实际运行：根据模拟业务数据完成查询、必要的信息收集或申请登记，并返回明确结果。只上传一份资料，让机器人解释“怎样报修”，还没有完成本次项目要求。若选择查询类项目，应完成对象确认、准确查询和相应异常处理；若选择申请类项目，还要完成确认及模拟登记，不必让所有项目都包含写入操作。</a:t>
            </a:r>
          </a:p>
          <a:p/>
          <a:p>
            <a:r>
              <a:t>同时，要写清楚完成状态：</a:t>
            </a:r>
          </a:p>
          <a:p/>
          <a:p>
            <a:r>
              <a:t>&gt; “需求已登记，等待工作人员联系”与“预约成功，师傅明天上门”是不同的承诺。系统实际做到哪一步，就返回哪一步的结果。</a:t>
            </a:r>
          </a:p>
          <a:p/>
          <a:p/>
          <a:p>
            <a:r>
              <a:t>## 三、先准备材料，再去 Coze 搭建</a:t>
            </a:r>
          </a:p>
          <a:p/>
          <a:p>
            <a:r>
              <a:t>学员动手之前，先准备三样东西：</a:t>
            </a:r>
          </a:p>
          <a:p/>
          <a:p>
            <a:r>
              <a:t>- **业务资料：**商品介绍、服务规则、故障排查说明等，只准备这条流程需要的内容。</a:t>
            </a:r>
          </a:p>
          <a:p>
            <a:r>
              <a:t>- **模拟数据：**几条订单、报名、设备或预订记录，让查询有具体对象。</a:t>
            </a:r>
          </a:p>
          <a:p>
            <a:r>
              <a:t>- **流程图：**每一步需要什么信息、缺少信息怎么问、满足条件后做什么、无法处理时怎么办。</a:t>
            </a:r>
          </a:p>
          <a:p/>
          <a:p>
            <a:r>
              <a:t>比如做调课助手，至少要有几条模拟报名记录和一份明确的调课规则。没有这些材料，即使助手能流畅对话，也很难判断它处理得对不对。</a:t>
            </a:r>
          </a:p>
          <a:p/>
          <a:p>
            <a:r>
              <a:t>涉及客户或公司的真实资料时，作业使用虚构或脱敏后的数据即可。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/>
          <a:p>
            <a:r>
              <a:t>**每位学员最终都要提交三项相互对应的成果。**</a:t>
            </a:r>
          </a:p>
          <a:p/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/>
          <a:p>
            <a:r>
              <a:t>三组测试分别覆盖：</a:t>
            </a:r>
          </a:p>
          <a:p/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/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/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/>
          <a:p>
            <a:r>
              <a:t>**按两个阶段提交，最终完成标准保持一致。**</a:t>
            </a:r>
          </a:p>
          <a:p/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/>
          <a:p>
            <a:r>
              <a:t>例如，初版可以记录：</a:t>
            </a:r>
          </a:p>
          <a:p/>
          <a:p>
            <a:r>
              <a:t>&gt; “用户第一次选择订单正常，但第二轮说‘换成另一个订单’，系统仍然使用原订单号。”</a:t>
            </a:r>
          </a:p>
          <a:p/>
          <a:p>
            <a:r>
              <a:t>点评后应修改并重新运行该用例，保留修正后的结果。两个阶段的具体截止时间与提交渠道由老师另行通知。</a:t>
            </a:r>
          </a:p>
          <a:p/>
          <a:p/>
          <a:p>
            <a:r>
              <a:t>## 五、下次课怎么点评</a:t>
            </a:r>
          </a:p>
          <a:p/>
          <a:p>
            <a:r>
              <a:t>最后告诉学员，我们会沿着同一个顺序看作业：</a:t>
            </a:r>
          </a:p>
          <a:p/>
          <a:p>
            <a:r>
              <a:t>&gt; 先看业务是否说得清楚，再看流程能否完成任务，最后看用户改口或者系统出错时，产品怎样继续处理。</a:t>
            </a:r>
          </a:p>
          <a:p/>
          <a:p>
            <a:r>
              <a:t>不会按节点数量或者提示词长度判断项目好坏。</a:t>
            </a:r>
          </a:p>
          <a:p/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/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/>
          <a:p>
            <a:r>
              <a:t>今天下课前，可以让每位学员先写一句选题：</a:t>
            </a:r>
          </a:p>
          <a:p/>
          <a:p>
            <a:r>
              <a:t>&gt; **我想为哪类用户，解决什么具体问题；这次先把流程做到哪一步。**</a:t>
            </a:r>
          </a:p>
          <a:p/>
          <a:p>
            <a:r>
              <a:t>比如：</a:t>
            </a:r>
          </a:p>
          <a:p/>
          <a:p>
            <a:r>
              <a:t>&gt; 我想为购买家电的用户提供维修咨询，这次先完成从故障描述到维修需求登记的流程。</a:t>
            </a:r>
          </a:p>
          <a:p/>
          <a:p>
            <a:r>
              <a:t>这句话确定下来，他们回去就知道从哪里开始了。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五、下次课怎么点评</a:t>
            </a:r>
          </a:p>
          <a:p/>
          <a:p>
            <a:r>
              <a:t>最后告诉学员，我们会沿着同一个顺序看作业：</a:t>
            </a:r>
          </a:p>
          <a:p/>
          <a:p>
            <a:r>
              <a:t>&gt; 先看业务是否说得清楚，再看流程能否完成任务，最后看用户改口或者系统出错时，产品怎样继续处理。</a:t>
            </a:r>
          </a:p>
          <a:p/>
          <a:p>
            <a:r>
              <a:t>不会按节点数量或者提示词长度判断项目好坏。</a:t>
            </a:r>
          </a:p>
          <a:p/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/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/>
          <a:p>
            <a:r>
              <a:t>今天下课前，可以让每位学员先写一句选题：</a:t>
            </a:r>
          </a:p>
          <a:p/>
          <a:p>
            <a:r>
              <a:t>&gt; **我想为哪类用户，解决什么具体问题；这次先把流程做到哪一步。**</a:t>
            </a:r>
          </a:p>
          <a:p/>
          <a:p>
            <a:r>
              <a:t>比如：</a:t>
            </a:r>
          </a:p>
          <a:p/>
          <a:p>
            <a:r>
              <a:t>&gt; 我想为购买家电的用户提供维修咨询，这次先完成从故障描述到维修需求登记的流程。</a:t>
            </a:r>
          </a:p>
          <a:p/>
          <a:p>
            <a:r>
              <a:t>这句话确定下来，他们回去就知道从哪里开始了。</a:t>
            </a:r>
          </a:p>
          <a:p/>
          <a:p/>
          <a:p>
            <a:r>
              <a:t>## 六、整课收尾</a:t>
            </a:r>
          </a:p>
          <a:p/>
          <a:p>
            <a:r>
              <a:t>最后用两三分钟收尾即可：</a:t>
            </a:r>
          </a:p>
          <a:p/>
          <a:p>
            <a:r>
              <a:t>&gt; 今天我们从电商客服的实际问题出发，设计了整体方案，再逐步展开查询、售后、推荐和人工接管。课后大家选择自己的业务场景，完成项目方案，用 Coze 跑通一条核心流程。下次课带着初版、实际测试结果或具体卡点来点评，点评后继续完善，最终交付可运行的项目、三组实际测试记录和演示录屏。</a:t>
            </a:r>
          </a:p>
          <a:p/>
          <a:p>
            <a:r>
              <a:t>**授课提示：**到第八节，本次课结束，不再增加新知识点。上课时间优先留给第三、四节的具体案例，第六、七节结合前面的案例讲衔接和交接，避免重复展开。</a:t>
            </a:r>
          </a:p>
          <a:p/>
          <a:p/>
          <a:p/>
          <a:p/>
          <a:p>
            <a:r>
              <a:t>讲义来源：/Users/keivn/Project/AI-Course/课程生产/第二阶段/04_第二课_电商智能客服项目实战_老师版完整讲义_v1.0.md</a:t>
            </a:r>
          </a:p>
          <a:p>
            <a:r>
              <a:t>配套案例：/Users/keivn/Project/AI-Course/课程生产/第二阶段/05_第二课_项目案例与作业材料包_v1.0.md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motif-loud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40080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978408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5F2E9"/>
                </a:solidFill>
                <a:latin typeface="Hiragino Sans GB"/>
                <a:ea typeface="Hiragino Sans GB"/>
              </a:rPr>
              <a:t>电商智能客服
项目实战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80944"/>
            <a:ext cx="804672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第二课｜电商客服方案、业务流程与个人项目实践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3520440"/>
            <a:ext cx="192024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822191"/>
            <a:ext cx="859536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iragino Sans GB"/>
                <a:ea typeface="Hiragino Sans GB"/>
              </a:rPr>
              <a:t>不是做一个会聊天的窗口，而是把用户请求接进真实业务流程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224528"/>
            <a:ext cx="1554480" cy="109728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课程导入｜电商智能客服项目实战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003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课程结构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前四节展开核心业务，后四节补齐产品协同与个人项目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第一节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20116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业务背景与项目任务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260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第二节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9260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整体方案与主工作流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04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第三节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38404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548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第四节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47548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售后咨询与处理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116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商品推荐与闲聊兜底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260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9260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多流程衔接与上下文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404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404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人工接管与客服工作台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754880"/>
            <a:ext cx="10058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54880"/>
            <a:ext cx="4096512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个人项目与课后作业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第一节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电商客服业务背景与项目任务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为什么不是做一个“会聊天的机器人”？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看懂购买前、下单后、收货后的客服任务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理解一句回复背后的查询与操作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确定本项目重点处理的业务范围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006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电商客服覆盖购买前后的完整旅程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用户处在不同阶段，客服要完成的任务也不同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购买前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商品差异、使用场景、预算与推荐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下单后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发货、物流、地址与履约状态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收货后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使用问题、退换货、退款与投诉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客服不是只回答问题，还要帮助用户完成选择、查询和处理。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076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用户只说了一句话，后台却要完成一串工作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示例：“上周买的耳机没有声音，我想换一个”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029968"/>
            <a:ext cx="2788920" cy="1078992"/>
          </a:xfrm>
          <a:prstGeom prst="roundRect">
            <a:avLst>
              <a:gd name="adj" fmla="val 13559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86584"/>
            <a:ext cx="2459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上周买的耳机没有声音，我想换一个。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7449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700723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203996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707270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9935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5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找订单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5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定位商品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2041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3209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3209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问问题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3209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确认故障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65315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6483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6483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查政策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6483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判断要求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8588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9756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9756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补材料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9756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整理申请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1862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3030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030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交接/提交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3030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返回状态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89204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020055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评价标准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99262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不能只看回复像不像人，还要看用户要办的事情有没有被正确推进。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20091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客服自动化不是从大模型开始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四种能力会长期共存，而不是互相完全替代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2155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8474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64793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人工客服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理解灵活
成本较高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615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731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FAQ 机器人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731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稳定问答
难接复杂请求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流程机器人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50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步骤确定
表达受限制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1253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369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大模型客服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理解自然表达
连接既有能力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80060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92861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关键认识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90118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查询接口、固定流程和业务系统早已有之；大模型让自然表达更好地进入这些流程。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40106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引入大模型，最值得先改善什么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请学员先选择，再说明理由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回复更自然、更像真人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用户用自己的话表达，系统仍能进入正确流程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所有售后操作都不再需要人工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本项目优先选择第二项：自然表达之后，仍然要有清楚、可靠的处理步骤。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60121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本项目要解决什么、暂时不做什么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把业务问题和课堂范围同时说清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4617720"/>
                <a:gridCol w="363016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产品需要改善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本课边界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重复咨询多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复用商品、政策与流程资料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不建设完整客服中台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用户表达与字段不一致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把自然表达对应到订单、商品和诉求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不让模型绕过权限和规则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回答后不知道下一步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给出选择、补充、确认和状态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不做真实自动退款与赔付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转人工后信息断裂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携带订单、诉求、已问内容和失败原因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业务操作使用教学模拟环境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重点深入订单查询和售后处理；商品推荐与兜底用于补全整体结构。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第二节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整体方案与主工作流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用户发来一句话后，系统怎样知道该交给哪条流程？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先看三段真实感对话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区分用户界面和后台处理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设计分流、上下文与状态传递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00152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同一个对话入口，背后是三种不同处理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以下均为教学设计中的预期对话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上周买的耳机怎么还没到？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查到两笔订单，请选择需要查询的一笔。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售后处理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耳机右侧无声，我想换货。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先确认订单，再了解故障和要求。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1504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预算三百，通勤用。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61504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先确认更看重降噪还是舒适度。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20167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用户看到的是产品，背后运行的是处理系统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聊天窗口只是入口，不是完整方案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01952"/>
            <a:ext cx="10515600" cy="969264"/>
          </a:xfrm>
          <a:prstGeom prst="roundRect">
            <a:avLst>
              <a:gd name="adj" fmla="val 15094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57400"/>
            <a:ext cx="1828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D6C2"/>
                </a:solidFill>
                <a:latin typeface="Hiragino Sans GB"/>
                <a:ea typeface="Hiragino Sans GB"/>
              </a:rPr>
              <a:t>用户界面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039112"/>
            <a:ext cx="795527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iragino Sans GB"/>
                <a:ea typeface="Hiragino Sans GB"/>
              </a:rPr>
              <a:t>输入问题 · 选择订单或商品 · 补充信息 · 查看结果 · 转人工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919472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050024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180576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主工作流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决定去哪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子工作流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处理任务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知识与系统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提供事实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6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4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人工服务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承接例外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5168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6336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处理记录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保存状态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13892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26694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产品结构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23951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工作流负责组织步骤、调用能力，并根据实际结果决定下一步。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4018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主工作流：先判断请求要进入哪条业务路径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主流程负责分流，子流程负责把具体任务处理下去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65376"/>
            <a:ext cx="1920240" cy="1060704"/>
          </a:xfrm>
          <a:prstGeom prst="roundRect">
            <a:avLst>
              <a:gd name="adj" fmla="val 13793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157276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用户消息
+ 当前状态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88336" y="2286000"/>
            <a:ext cx="54864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011680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167128"/>
            <a:ext cx="15727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iragino Sans GB"/>
                <a:ea typeface="Hiragino Sans GB"/>
              </a:rPr>
              <a:t>判断处理路径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30368" y="2286000"/>
            <a:ext cx="56692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176272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B5BC"/>
                </a:solidFill>
                <a:latin typeface="Hiragino Sans GB"/>
                <a:ea typeface="Hiragino Sans GB"/>
              </a:rPr>
              <a:t>分流到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8832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3424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售后与投诉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4976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9567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商品咨询推荐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其他与兜底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00176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29783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拆分原则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10235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订单流程的修改不应要求同时重写商品推荐流程。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60197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四条分支需要先写清业务定义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分类不是只列几个标签，还要说明边界和示例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74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4846320"/>
                <a:gridCol w="3584448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分支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主要接收的需求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用户示例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具体订单、发货与物流查询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“耳机到哪了？”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售后与投诉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政策、故障、退换货诉求和投诉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“耳机坏了，我想换。”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商品咨询推荐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功能、比较、使用场景和购买建议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“通勤买哪款？”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其他与兜底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寒暄、表达不完整、范围外请求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“你好。”“我想问一下。”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分类规则本身也是产品设计：类别含糊，后面的流程再正确也会被送错。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80212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“这个耳机能不能换？”到底是什么意思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用户表达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“这个耳机能不能换？”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购买前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询问某款商品的换货政策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064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323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3232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购买后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3232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想为自己的订单申请换货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6032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当前推荐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想把刚才推荐的耳机换成另一款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修改方向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同一句话可能对应不同任务，必须结合当前消息、页面对象和对话上下文。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00228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多轮对话：先知道“正在做什么”，再理解这一句话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“第二个”和“右边”脱离上下文都没有意义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74519"/>
            <a:ext cx="5074920" cy="3017520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7568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68296"/>
            <a:ext cx="467258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订单选择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788920"/>
            <a:ext cx="4590288" cy="822960"/>
          </a:xfrm>
          <a:prstGeom prst="roundRect">
            <a:avLst>
              <a:gd name="adj" fmla="val 17777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89864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145536"/>
            <a:ext cx="4261103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查询到两笔耳机订单，请选择一笔。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822191"/>
            <a:ext cx="2999232" cy="859536"/>
          </a:xfrm>
          <a:prstGeom prst="roundRect">
            <a:avLst>
              <a:gd name="adj" fmla="val 20512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931920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178807"/>
            <a:ext cx="26700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第二个。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986784"/>
            <a:ext cx="1143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6D6C2"/>
                </a:solidFill>
                <a:latin typeface="Hiragino Sans GB"/>
                <a:ea typeface="Hiragino Sans GB"/>
              </a:rPr>
              <a:t>DEMO-102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874519"/>
            <a:ext cx="5074920" cy="3017520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07568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368296"/>
            <a:ext cx="467258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故障补充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2788920"/>
            <a:ext cx="4590288" cy="822960"/>
          </a:xfrm>
          <a:prstGeom prst="roundRect">
            <a:avLst>
              <a:gd name="adj" fmla="val 17777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9864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145536"/>
            <a:ext cx="4261103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两边都没有声音，还是只有一边？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822191"/>
            <a:ext cx="2999232" cy="859536"/>
          </a:xfrm>
          <a:prstGeom prst="roundRect">
            <a:avLst>
              <a:gd name="adj" fmla="val 20512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931920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178807"/>
            <a:ext cx="26700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右边。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986784"/>
            <a:ext cx="148132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7657"/>
                </a:solidFill>
                <a:latin typeface="Hiragino Sans GB"/>
                <a:ea typeface="Hiragino Sans GB"/>
              </a:rPr>
              <a:t>→ 补充故障信息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20243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四条业务分支与三种处理方式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分支按用户任务组织；处理方式在分支内部连续配合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2788920"/>
                <a:gridCol w="2788920"/>
                <a:gridCol w="280720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业务分支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知识问答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业务查询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业务办理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发货说明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订单与物流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改址入口／人工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售后与投诉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退换货政策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订单与申请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补材料、确认、提交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商品咨询推荐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参数与使用说明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库存与价格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加入对比／购买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其他与兜底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服务范围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已有任务状态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转人工／结束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不要把所有知识问答、接口操作割裂开；同一个用户任务往往需要它们连续协作。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40258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流程之间不能只传一句话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输入要带上下文，输出要带处理状态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12080"/>
                <a:gridCol w="5321808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传入子流程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子流程返回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当前消息与用户身份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等待用户补充：任务继续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已确认的订单或商品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已完成查询：返回结果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已经收集的必要信息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需要人工：自动流程暂停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当前任务与等待内容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执行失败：进入重试或人工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回复内容必须和实际状态一致：接口失败时，模型不能说“已经处理好了”。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第三节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意图已经识别出来，系统怎样找到用户真正问的那笔订单？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准备可控的模拟订单数据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处理无订单号与多订单选择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区分无结果、待发货和接口失败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80288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先准备三笔可验证的模拟订单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查询日固定为 9 月 9 日，避免“上周”随授课日期变化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1455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1640"/>
                <a:gridCol w="2834640"/>
                <a:gridCol w="1508760"/>
                <a:gridCol w="1508760"/>
                <a:gridCol w="2990088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订单编号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商品与规格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下单时间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订单状态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最新物流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DEMO-101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AirLite 耳机｜白色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1 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已签收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4 日签收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DEMO-102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AirLite Pro 黑色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3 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已发货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8 日到达分拨中心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DEMO-103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K68 键盘｜灰色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9 月 5 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待发货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暂无物流记录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“上周买的耳机”可能对应两笔订单，不能直接替用户选择。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0030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用户没有订单号，下一步怎么做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先选择，再比较用户成本和业务风险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要求用户找到订单号后再查询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根据当前账号查询近期相关订单，请用户确认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直接选择最近一笔耳机订单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当前场景选择第二项：系统先筛选候选订单，信息有歧义时由用户确认。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20319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订单查询子工作流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从自然语言线索进入确定的订单与物流数据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382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0928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474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6020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3566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检查信息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身份
已有订单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842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958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958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查询候选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958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商品
时间范围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388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504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04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判断数量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504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0 / 1 / 多笔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934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用户确认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50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目标订单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4799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596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596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查询详情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96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订单
物流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026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142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142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检查结果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142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成功
失败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80060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92861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权限边界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90118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身份由登录系统提供；订单筛选和访问权限由系统完成，不把整个数据库交给模型。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40334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“第二个”怎样准确对应到 DEMO-102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自然语言与页面操作可以同时存在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47088"/>
            <a:ext cx="2971800" cy="3108960"/>
          </a:xfrm>
          <a:prstGeom prst="roundRect">
            <a:avLst>
              <a:gd name="adj" fmla="val 492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候选订单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61488"/>
            <a:ext cx="2569464" cy="20848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① DEMO-101 白色
9 月 1 日下单</a:t>
            </a:r>
          </a:p>
          <a:p>
            <a:pPr algn="l">
              <a:lnSpc>
                <a:spcPct val="112000"/>
              </a:lnSpc>
              <a:spcBef>
                <a:spcPts val="168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② DEMO-102 黑色
9 月 3 日下单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2788920"/>
            <a:ext cx="676656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468880"/>
            <a:ext cx="1920240" cy="841248"/>
          </a:xfrm>
          <a:prstGeom prst="roundRect">
            <a:avLst>
              <a:gd name="adj" fmla="val 17391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57860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825496"/>
            <a:ext cx="1591056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第二个。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10528" y="2788920"/>
            <a:ext cx="676656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51192" y="1847088"/>
            <a:ext cx="3913632" cy="3108960"/>
          </a:xfrm>
          <a:prstGeom prst="roundRect">
            <a:avLst>
              <a:gd name="adj" fmla="val 470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40864"/>
            <a:ext cx="351129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会话状态更新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61488"/>
            <a:ext cx="3511296" cy="20848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waiting_for: clear
selected_order_id: DEMO-102
current_task: order_query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3036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358383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产品细节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33095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点击订单卡片可以直接完成选择；输入“第二个”则必须结合刚才展示的候选列表。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60349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拿到查询结果以后，模型负责什么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事实来自系统，模型负责组织表达并遵守边界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系统直接提供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订单状态与物流节点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事件发生时间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是否存在预计送达时间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接口是否成功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模型可以完成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组合成清楚的用户回复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说明当前已知与未知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提出可执行的下一步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不补写系统没有的事实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没有预计到达时间，不承诺日期；没有延误原因，不编造天气或运输问题。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80364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看不到物流，不代表同一种情况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三个状态需要不同回复与后续处理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3886200"/>
                <a:gridCol w="4498848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实际状态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真正含义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产品处理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没有找到订单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查询成功，但没有匹配记录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调整时间、确认账号或补充信息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订单尚未发货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已经找到订单，暂时无物流轨迹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如实展示待发货，不承诺时间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查询工具失败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系统没有成功获取数据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说明暂时无法查询，提供重试或人工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课堂重点测试：正常查询、多订单选择、接口失败；错误必须定位到具体步骤。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第四节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售后咨询与处理工作流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从“想换一个”到“申请已受理”，中间还缺哪些产品步骤？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区分问政策与发起处理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复用订单和故障信息，查询适用要求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确认、模拟提交并返回真实状态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2039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售后主线：从政策咨询走到申请受理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本节使用订单编号为 DEMO-101 的已签收订单，处理右侧耳机无声的换货诉求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382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0928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474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6020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3566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判断诉求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问政策
还是要处理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842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958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958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确认订单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958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DEMO-101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388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504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04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了解故障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504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右侧无声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934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50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政策与材料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4799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596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596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用户确认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96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申请内容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026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142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142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提交申请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142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等待审核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069080"/>
            <a:ext cx="4800600" cy="676656"/>
          </a:xfrm>
          <a:prstGeom prst="roundRect">
            <a:avLst>
              <a:gd name="adj" fmla="val 21621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270248"/>
            <a:ext cx="437083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可以：受理申请、返回编号和当前状态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3328" y="4069080"/>
            <a:ext cx="4800600" cy="676656"/>
          </a:xfrm>
          <a:prstGeom prst="roundRect">
            <a:avLst>
              <a:gd name="adj" fmla="val 21621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270248"/>
            <a:ext cx="437083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不可以：自行批准、退款、赔偿或承诺寄出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16636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29437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核心边界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26694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受理申请，不等于批准申请。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售后流程怎样决定下一步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先复用用户已经说过的内容，再按业务要求补齐缺失信息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3246120" cy="333756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复用已有信息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43200"/>
            <a:ext cx="2843784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DEMO-101
换货诉求
收到后右侧无声
已经重新连接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828800"/>
            <a:ext cx="3246120" cy="333756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322576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知识与规则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743200"/>
            <a:ext cx="2843784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知识：排查、受理流程
与特殊情况
规则：信息完整性、
重复申请与操作权限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828800"/>
            <a:ext cx="3547872" cy="3337560"/>
          </a:xfrm>
          <a:prstGeom prst="roundRect">
            <a:avLst>
              <a:gd name="adj" fmla="val 438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322576"/>
            <a:ext cx="314553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责任分工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743200"/>
            <a:ext cx="3145536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模型：理解与追问
系统：查询、校验、提交
人工：例外和最终处理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37667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50468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提问原则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47725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不是把整张表单重新问一遍，而是只问当前真正缺少、会影响处理的内容。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6042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确认、提交与异常：最后一句话必须对应真实结果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申请会改变业务数据，不能只关注回复是否流畅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3310128" cy="3429000"/>
          </a:xfrm>
          <a:prstGeom prst="roundRect">
            <a:avLst>
              <a:gd name="adj" fmla="val 44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9077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申请确认页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43200"/>
            <a:ext cx="2907792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AirLite 白色
DEMO-101
换货｜收到后右侧无声
材料已添加</a:t>
            </a:r>
          </a:p>
          <a:p>
            <a:pPr algn="l">
              <a:lnSpc>
                <a:spcPct val="112000"/>
              </a:lnSpc>
              <a:spcBef>
                <a:spcPts val="1624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确认提交｜修改信息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828800"/>
            <a:ext cx="3310128" cy="3429000"/>
          </a:xfrm>
          <a:prstGeom prst="roundRect">
            <a:avLst>
              <a:gd name="adj" fmla="val 44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322576"/>
            <a:ext cx="29077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模拟提交结果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743200"/>
            <a:ext cx="2907792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accepted: true
AS-DEMO-001
pending_review</a:t>
            </a:r>
          </a:p>
          <a:p>
            <a:pPr algn="l">
              <a:lnSpc>
                <a:spcPct val="112000"/>
              </a:lnSpc>
              <a:spcBef>
                <a:spcPts val="1624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申请已提交
目前等待审核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828800"/>
            <a:ext cx="3456432" cy="3429000"/>
          </a:xfrm>
          <a:prstGeom prst="roundRect">
            <a:avLst>
              <a:gd name="adj" fmla="val 426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322576"/>
            <a:ext cx="305409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关键异常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743200"/>
            <a:ext cx="3054096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改诉求：重新确认
提交超时：先查状态
政策冲突：转人工
投诉升级：携带上下文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49824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577840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最终检查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550408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不能把“已提交”说成“已批准”，也不能把“超时未知”说成成功或失败。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5720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463040" cy="109728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08760"/>
            <a:ext cx="82296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商品推荐与
闲聊兜底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889504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38328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36499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理解用户需求并筛选商品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02336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00507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接住用户的后续调整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64515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处理寒暄、模糊表达和超范围问题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08076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00456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商品推荐的需求收集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用户：“想买个通勤用的耳机，预算三百以内。”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已经明确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商品：耳机
预算：300 元以内
场景：通勤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615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关键追问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7615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更看重降噪，
还是长时间佩戴舒适？</a:t>
            </a:r>
          </a:p>
          <a:p>
            <a:pPr algn="l">
              <a:lnSpc>
                <a:spcPct val="112000"/>
              </a:lnSpc>
              <a:spcBef>
                <a:spcPts val="1904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每次问最影响选择的问题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3087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425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形成查询条件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425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用户：主要坐地铁
更希望降噪好一点</a:t>
            </a:r>
          </a:p>
          <a:p>
            <a:pPr algn="l">
              <a:lnSpc>
                <a:spcPct val="112000"/>
              </a:lnSpc>
              <a:spcBef>
                <a:spcPts val="1904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保留预算，补充核心偏好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20471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模拟商品目录与筛选结果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条件：300 元以内、地铁通勤、需要主动降噪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37560"/>
                <a:gridCol w="1572768"/>
                <a:gridCol w="2148840"/>
                <a:gridCol w="1920240"/>
                <a:gridCol w="155448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商品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价格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佩戴方式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主动降噪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单次续航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通勤降噪款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269 元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入耳式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支持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7 小时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舒适轻听款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199 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半入耳式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不支持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8 小时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深度降噪款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329 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入耳式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支持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6 小时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运动稳固款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239 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耳挂式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不支持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9 小时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" y="5650992"/>
            <a:ext cx="10332720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当前符合条件：通勤降噪款。商品与参数均为教学模拟。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0486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商品推荐工作流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需求理解、商品查询与推荐解释的分工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理解需求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提取预算、场景
判断是否需要追问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0327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01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901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01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查询商品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从商品系统获取
价格、参数和库存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506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筛选比较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06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先满足硬条件
再比较偏好匹配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7537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111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111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111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解释推荐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11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说明推荐理由
同时说明差异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577840"/>
            <a:ext cx="1024128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“269 元、支持主动降噪，符合你的地铁通勤需求。”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60501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推荐后的条件更新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用户：“有没有便宜一点的？”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5138928" cy="3474720"/>
          </a:xfrm>
          <a:prstGeom prst="roundRect">
            <a:avLst>
              <a:gd name="adj" fmla="val 42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47365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继续保留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4736592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通勤场景
300 元以内
需要主动降噪
当前候选商品列表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011680"/>
            <a:ext cx="5138928" cy="3474720"/>
          </a:xfrm>
          <a:prstGeom prst="roundRect">
            <a:avLst>
              <a:gd name="adj" fmla="val 42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212848"/>
            <a:ext cx="47365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本轮更新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633472"/>
            <a:ext cx="4736592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希望价格更低</a:t>
            </a:r>
          </a:p>
          <a:p>
            <a:pPr algn="l">
              <a:lnSpc>
                <a:spcPct val="112000"/>
              </a:lnSpc>
              <a:spcBef>
                <a:spcPts val="1904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重新查询或排序
不重新问已经知道的条件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715000"/>
            <a:ext cx="1033272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7657"/>
                </a:solidFill>
                <a:latin typeface="Hiragino Sans GB"/>
                <a:ea typeface="Hiragino Sans GB"/>
              </a:rPr>
              <a:t>当前没有更便宜且支持主动降噪的款式，先询问是否调整条件。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80516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闲聊与模糊表达的处理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先结合上下文理解，再决定如何继续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886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63240"/>
                <a:gridCol w="2880360"/>
                <a:gridCol w="4590288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用户表达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判断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处理方式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“你好。”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简单寒暄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简短回应，说明服务范围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“这个怎么办？”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对象或诉求不明确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先查上下文，必要时澄清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与电商服务无关的问题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超出业务范围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说明范围，引导回到业务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“直接找人工。”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明确要求人工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进入人工处理路径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第五节｜商品推荐与闲聊兜底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00531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商品推荐与兜底的检查重点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把真实数据、用户条件和下一步处理对应起来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886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6876288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测试情况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检查重点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只说“推荐个耳机”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追问影响结果的条件，不一次盘问全部字段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说“便宜一点”，或商品缺货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保留原有条件，更新查询与推荐结果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价格或商品能力没有资料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不编造价格、库存和功能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说“这个不太行”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结合上一轮对象理解，必要时澄清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5720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463040" cy="109728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08760"/>
            <a:ext cx="82296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多流程衔接与
上下文管理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889504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38328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36499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区分继续、切换与返回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02336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00507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保存对象、条件和未完成操作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64515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处理多任务与业务状态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08076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iragino Sans GB"/>
                <a:ea typeface="Hiragino Sans GB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第六节｜多流程衔接与上下文管理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40562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跨流程对话的处理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一次会话中，商品推荐和订单查询可以来回切换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5760720" cy="749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想买个通勤耳机，预算三百以内。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291840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进入推荐
保存条件与候选商品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71800"/>
            <a:ext cx="10241280" cy="11887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46120"/>
            <a:ext cx="5760720" cy="749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对了，我上周买的那个怎么还没到？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46120"/>
            <a:ext cx="3291840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切到订单查询
保留刚才的推荐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206240"/>
            <a:ext cx="10241280" cy="11887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8056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0C565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80560"/>
            <a:ext cx="5760720" cy="7498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刚才推荐的第一个，适合跑步吗？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480560"/>
            <a:ext cx="3291840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回到商品推荐
识别的是商品，不是订单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440680"/>
            <a:ext cx="10241280" cy="11887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第六节｜多流程衔接与上下文管理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60577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会话中需要保存的业务信息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聊天原文与整理后的业务状态共同支持后续处理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886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4297680"/>
                <a:gridCol w="3493008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信息类型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业务举例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用途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当前任务与进度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订单查询，等待选择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判断下一句话接在哪里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最新条件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通勤，预算从 300 改为 400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使用修改后的条件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对话中的对象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推荐列表、候选订单列表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理解“第一个”“刚才那个”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未完成操作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售后待确认、材料未补齐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恢复暂停的处理进度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第六节｜多流程衔接与上下文管理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80592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主流程每轮的处理步骤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主流程负责衔接，子流程负责具体业务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读取状态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当前任务
对象与未完成操作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0327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01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901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01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理解本轮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继续、修改
切换或返回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506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调用流程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06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传入已有信息
处理具体任务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75370" y="275234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1110" y="2194560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1110" y="274320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1110" y="3017520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更新结果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110" y="3703320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保存最新状态
明确下一步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623560"/>
            <a:ext cx="103327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iragino Sans GB"/>
                <a:ea typeface="Hiragino Sans GB"/>
              </a:rPr>
              <a:t>子流程返回：处理结果、更新的信息、等待什么、是否完成。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第六节｜多流程衔接与上下文管理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00608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业务操作中途切换的处理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提交结果尚未确认时，保留原请求并核实状态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5138928" cy="3474720"/>
          </a:xfrm>
          <a:prstGeom prst="roundRect">
            <a:avLst>
              <a:gd name="adj" fmla="val 42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47365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可以暂停的对话步骤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4736592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收集推荐条件
选择候选订单
解释政策
提交前补充信息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011680"/>
            <a:ext cx="5138928" cy="3474720"/>
          </a:xfrm>
          <a:prstGeom prst="roundRect">
            <a:avLst>
              <a:gd name="adj" fmla="val 42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212848"/>
            <a:ext cx="47365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需要跟踪的业务操作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633472"/>
            <a:ext cx="4736592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申请正在提交
接口返回超时</a:t>
            </a:r>
          </a:p>
          <a:p>
            <a:pPr algn="l">
              <a:lnSpc>
                <a:spcPct val="112000"/>
              </a:lnSpc>
              <a:spcBef>
                <a:spcPts val="1904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保留请求标识，查询结果
不直接创建第二份申请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第六节｜多流程衔接与上下文管理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20623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多任务的顺序与系统组织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用户：“查一下什么时候到，到了以后不合适能退吗？”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先查订单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定位具体商品
取得订单状态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98620" y="261518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2057400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4360" y="260604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2880360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再查政策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356616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使用对应商品
匹配适用要求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80020" y="2615184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5759" y="2057400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59" y="260604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5759" y="2880360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分别回复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5759" y="356616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物流查询结果
适用售后说明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349240"/>
            <a:ext cx="10332720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本项目组织方式：主流程识别与调度，业务子流程按明确步骤执行。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5720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463040" cy="109728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08760"/>
            <a:ext cx="82296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人工接管与
客服工作台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889504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38328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36499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明确何时转人工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02336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00507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让人工直接接着处理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64515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记录人工修正与最终结果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08076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iragino Sans GB"/>
                <a:ea typeface="Hiragino Sans GB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第七节｜人工接管与客服工作台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60653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转人工的触发条件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根据用户诉求、可用依据、业务权限和系统状态判断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977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6693408"/>
              </a:tblGrid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情况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典型表现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用户要求或沟通受阻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明确找人工；多次澄清仍不清楚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依据缺失或冲突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找不到适用政策；业务系统状态不一致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权限或特殊风险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特殊补偿、重大投诉、账户安全问题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系统无法继续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接口持续失败；提交结果无法确认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第七节｜人工接管与客服工作台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80668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转接状态与用户告知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让用户知道是否在排队、信息是否已交接、下一步是什么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准备转接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整理订单、诉求
与未完成操作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98620" y="243230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4360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正在排队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展示真实队列状态
保留会话信息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80020" y="243230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5759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59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5759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人工接入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5759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说明已完成交接
继续处理问题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120640"/>
            <a:ext cx="10149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iragino Sans GB"/>
                <a:ea typeface="Hiragino Sans GB"/>
              </a:rPr>
              <a:t>暂时无人接入：提供留言、服务单或其他联系渠道。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715000"/>
            <a:ext cx="10149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预计等待时间仅在排队系统提供时展示。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第七节｜人工接管与客服工作台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00684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人工交接信息示例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订单编号为 DEMO-101 的 AirLite 白色耳机，9 月 4 日签收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8953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83280"/>
                <a:gridCol w="7150608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字段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本次交接内容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当前诉求与故障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换货；右耳无声音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已完成的步骤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已确认订单；重新连接后仍未恢复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缺少的信息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故障材料尚未提供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业务操作状态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尚未提交售后申请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转接原因与下一步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用户要求人工；核实材料与后续受理方式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第七节｜人工接管与客服工作台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20699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客服工作台的页面结构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人工同时查看对话、业务信息，并执行有权限的操作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56231"/>
            <a:ext cx="10561320" cy="713232"/>
          </a:xfrm>
          <a:prstGeom prst="roundRect">
            <a:avLst>
              <a:gd name="adj" fmla="val 2051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57400"/>
            <a:ext cx="101589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用户与当前任务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29968"/>
            <a:ext cx="640080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身份、问题类型、等待时长、重复咨询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6446520" cy="2240280"/>
          </a:xfrm>
          <a:prstGeom prst="roundRect">
            <a:avLst>
              <a:gd name="adj" fmla="val 653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944368"/>
            <a:ext cx="604418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完整对话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64992"/>
            <a:ext cx="6044183" cy="1508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7B5BC"/>
                </a:solidFill>
                <a:latin typeface="Hiragino Sans GB"/>
                <a:ea typeface="Hiragino Sans GB"/>
              </a:rPr>
              <a:t>用户与 AI 的历史消息
标出用户确认、业务操作与错误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34072" y="2743200"/>
            <a:ext cx="3904487" cy="2240280"/>
          </a:xfrm>
          <a:prstGeom prst="roundRect">
            <a:avLst>
              <a:gd name="adj" fmla="val 653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944368"/>
            <a:ext cx="350215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业务信息与摘要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364992"/>
            <a:ext cx="3502151" cy="1508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订单与申请状态
已尝试操作、未解决问题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157216"/>
            <a:ext cx="10561320" cy="868680"/>
          </a:xfrm>
          <a:prstGeom prst="roundRect">
            <a:avLst>
              <a:gd name="adj" fmla="val 1684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358383"/>
            <a:ext cx="101589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人工操作区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431536"/>
            <a:ext cx="73152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2E9"/>
                </a:solidFill>
                <a:latin typeface="Hiragino Sans GB"/>
                <a:ea typeface="Hiragino Sans GB"/>
              </a:rPr>
              <a:t>回复用户、查询、登记服务单、备注、结束会话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第七节｜人工接管与客服工作台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40714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人工处理中的 AI 辅助与反馈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建议、人工决定与最终记录分别保存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AI 辅助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整理对话与字段
查找适用政策
建议下一步
拟写回复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615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人工处理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7615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核对建议与依据
确认必要信息
执行有权限的操作
记录最终结果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3087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425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记录修正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425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原判断：退货
人工修正：价格保护</a:t>
            </a:r>
          </a:p>
          <a:p>
            <a:pPr algn="l">
              <a:lnSpc>
                <a:spcPct val="112000"/>
              </a:lnSpc>
              <a:spcBef>
                <a:spcPts val="1904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补充测试案例
调整分类与知识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5720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463040" cy="109728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08760"/>
            <a:ext cx="82296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个人项目选题与
课后作业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889504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38328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36499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选择自己的业务场景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02336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00507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用 Coze 跑通一条核心流程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4114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645152"/>
            <a:ext cx="7498079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7B5BC"/>
                </a:solidFill>
                <a:latin typeface="Hiragino Sans GB"/>
                <a:ea typeface="Hiragino Sans GB"/>
              </a:rPr>
              <a:t>提交实际测试与演示，点评后完善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080760"/>
            <a:ext cx="6400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iragino Sans GB"/>
                <a:ea typeface="Hiragino Sans GB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80744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个人项目的场景选择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使用自己的业务规则、数据与处理步骤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8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7699248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可以完成的核心流程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电商售后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确认订单、收集故障、登记售后申请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教育培训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查询报名、核实调课要求、登记申请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企业软件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了解故障、查询解决方法、创建服务单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家电服务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确认设备、收集故障、登记维修需求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物流服务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查询运单、说明状态、登记异常跟进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酒店住宿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查询预订、核实变更条件、登记或转交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076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个人项目的完成范围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家电维修示例：从故障描述到维修需求登记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79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39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确认设备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39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设备与故障
对应到模拟数据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03270" y="256946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010" y="2011679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9010" y="256032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010" y="2834639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了解问题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010" y="3520439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查询排查资料
记录已尝试操作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256946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2011679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256032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5060" y="2834639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整理需求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060" y="3520439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收集预约信息
用户确认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75370" y="256946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1110" y="2011679"/>
            <a:ext cx="24574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1110" y="2560320"/>
            <a:ext cx="245745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1110" y="2834639"/>
            <a:ext cx="245745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模拟登记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110" y="3520439"/>
            <a:ext cx="245745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创建测试记录
返回等待联系状态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349240"/>
            <a:ext cx="102870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iragino Sans GB"/>
                <a:ea typeface="Hiragino Sans GB"/>
              </a:rPr>
              <a:t>最终要能运行：仅回答“怎样报修”，还没有完成这条流程。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925312"/>
            <a:ext cx="102870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准备材料：业务资料、模拟数据、流程图。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2077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项目作业的三项交付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三项均需完成，围绕同一个个人项目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用户与问题
业务规则与范围
核心流程图
资料与模拟数据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615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可运行的 Coze 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7615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至少一条核心流程
实际查询或处理数据
完成必要的信息收集
返回明确结果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3087" y="2011680"/>
            <a:ext cx="3340607" cy="3474720"/>
          </a:xfrm>
          <a:prstGeom prst="roundRect">
            <a:avLst>
              <a:gd name="adj" fmla="val 43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4256" y="2212848"/>
            <a:ext cx="2938271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实际测试与演示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4256" y="2633472"/>
            <a:ext cx="2938271" cy="274319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三组实际测试记录
3—5 分钟演示录屏
说明已实现、模拟
与未实现的内容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4079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三组实际测试的要求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每组记录：初始条件、输入、预期、实际结果、问题与修正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38528"/>
          <a:ext cx="10533887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7424927"/>
              </a:tblGrid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测试类型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要看到的行为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正常完成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信息齐全，核心流程走到明确结束状态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需求变化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用户补充或修改信息，后续处理同步更新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无法完成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 i="0">
                          <a:solidFill>
                            <a:srgbClr val="F5F2E9"/>
                          </a:solidFill>
                          <a:latin typeface="Hiragino Sans GB"/>
                          <a:ea typeface="Hiragino Sans GB"/>
                        </a:rPr>
                        <a:t>查询失败或条件不满足，说明状态与下一步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" y="5943600"/>
            <a:ext cx="102870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7657"/>
                </a:solidFill>
                <a:latin typeface="Hiragino Sans GB"/>
                <a:ea typeface="Hiragino Sans GB"/>
              </a:rPr>
              <a:t>最终版提交实际运行结果；预期答案与“待验证”不能替代测试。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6080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初版、点评与最终版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分阶段完成，最终需要交付可运行项目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点评课前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项目方案与 Coze 初版
已有测试结果
未搭通则带具体卡点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98620" y="243230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4360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作业点评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检查业务与流程
查看实际结果
定位优先修改项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80020" y="2432303"/>
            <a:ext cx="164592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5759" y="1874519"/>
            <a:ext cx="33528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759" y="2423160"/>
            <a:ext cx="3352800" cy="4572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5759" y="2697479"/>
            <a:ext cx="335280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点评之后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5759" y="3383280"/>
            <a:ext cx="33528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修正并跑通核心流程
补齐三组实际测试
提交演示录屏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486400"/>
            <a:ext cx="1028700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老师提供数据、规则和搭建指引，结合卡点答疑。
提交时间与渠道另行通知。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iragino Sans GB"/>
                <a:ea typeface="Hiragino Sans GB"/>
              </a:rPr>
              <a:t>第八节｜个人项目选题与课后作业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个人项目选题练习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在聊天区写下你的项目方向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10332720" cy="1371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我想为哪类用户，解决什么具体问题；
这次先把流程做到哪一步。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67328"/>
            <a:ext cx="10241280" cy="1051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D6C2"/>
                </a:solidFill>
                <a:latin typeface="Hiragino Sans GB"/>
                <a:ea typeface="Hiragino Sans GB"/>
              </a:rPr>
              <a:t>例：为购买家电的用户提供维修服务，
完成从故障描述到维修需求登记的流程。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486400"/>
            <a:ext cx="10241280" cy="603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课后：项目方案、Coze 核心流程、实际测试与演示。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