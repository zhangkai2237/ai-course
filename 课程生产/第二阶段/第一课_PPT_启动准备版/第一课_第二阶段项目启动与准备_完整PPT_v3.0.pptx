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6"/>
  </p:normalViewPr>
  <p:slideViewPr>
    <p:cSldViewPr snapToGrid="0" snapToObjects="1">
      <p:cViewPr varScale="1">
        <p:scale>
          <a:sx n="115" d="100"/>
          <a:sy n="115" d="100"/>
        </p:scale>
        <p:origin x="6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12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本课不要求正式选题、写PRD或画原型。</a:t>
            </a:r>
          </a:p>
          <a:p>
            <a:endParaRPr/>
          </a:p>
          <a:p>
            <a:r>
              <a:t>&gt; 文档用途：第二阶段第一课老师版完整授课讲义。  </a:t>
            </a:r>
          </a:p>
          <a:p>
            <a:r>
              <a:t>&gt; 建议时长：约70—90分钟，根据课堂互动自然调整。  </a:t>
            </a:r>
          </a:p>
          <a:p>
            <a:r>
              <a:t>&gt; 本课定位：讲清第二阶段怎样学习、为什么选择三个公共项目，以及学员可以从自己的业务中准备哪些个人项目方向。  </a:t>
            </a:r>
          </a:p>
          <a:p>
            <a:r>
              <a:t>&gt; 本课不要求：正式选题、写PRD、画原型、选择模型或开发产品。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把第一阶段的知识连续地用在真实项目中</a:t>
            </a:r>
          </a:p>
          <a:p>
            <a:endParaRPr/>
          </a:p>
          <a:p>
            <a:r>
              <a:t>第一阶段已经分别学习了AI产品经理常用的知识和方法，包括大模型、Prompt、Workflow、RAG、Agent、需求分析、MVP、PRD、原型、评测、Bad Case、模型选择、成本和ROI。</a:t>
            </a:r>
          </a:p>
          <a:p>
            <a:endParaRPr/>
          </a:p>
          <a:p>
            <a:r>
              <a:t>这些内容解决的是“每个知识点是什么、可以怎样使用”。第二阶段要解决另一个问题：</a:t>
            </a:r>
          </a:p>
          <a:p>
            <a:endParaRPr/>
          </a:p>
          <a:p>
            <a:r>
              <a:t>&gt; 面对一个不完整的业务问题，能否把这些知识连续地用起来，形成一个可以解释、可以验证、可以修改的AI产品方案？</a:t>
            </a:r>
          </a:p>
          <a:p>
            <a:endParaRPr/>
          </a:p>
          <a:p>
            <a:r>
              <a:t>因此，第二阶段不再按照RAG、Workflow或者Agent分别组织课程。每次先面对一个真实业务问题，再判断需要使用哪些能力。</a:t>
            </a:r>
          </a:p>
          <a:p>
            <a:endParaRPr/>
          </a:p>
          <a:p>
            <a:r>
              <a:t>例如，一个企业智能客服项目可能同时需要：</a:t>
            </a:r>
          </a:p>
          <a:p>
            <a:endParaRPr/>
          </a:p>
          <a:p>
            <a:r>
              <a:t>- 大模型理解用户问题；</a:t>
            </a:r>
          </a:p>
          <a:p>
            <a:r>
              <a:t>- 知识库提供产品和制度信息；</a:t>
            </a:r>
          </a:p>
          <a:p>
            <a:r>
              <a:t>- 业务接口查询订单、账户或服务状态；</a:t>
            </a:r>
          </a:p>
          <a:p>
            <a:r>
              <a:t>- 规则判断权限和办理条件；</a:t>
            </a:r>
          </a:p>
          <a:p>
            <a:r>
              <a:t>- 工作流推动业务办理；</a:t>
            </a:r>
          </a:p>
          <a:p>
            <a:r>
              <a:t>- 人工处理高风险和特殊情况。</a:t>
            </a:r>
          </a:p>
          <a:p>
            <a:endParaRPr/>
          </a:p>
          <a:p>
            <a:r>
              <a:t>产品经理需要做的，是根据业务问题安排这些能力，而不是为了使用某项技术寻找项目。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第一阶段与第二阶段</a:t>
            </a:r>
          </a:p>
          <a:p>
            <a:endParaRPr/>
          </a:p>
          <a:p>
            <a:r>
              <a:t>第一阶段已经分别学习了AI产品经理常用的知识和方法，包括大模型、Prompt、Workflow、RAG、Agent、需求分析、MVP、PRD、原型、评测、Bad Case、模型选择、成本和ROI。</a:t>
            </a:r>
          </a:p>
          <a:p>
            <a:endParaRPr/>
          </a:p>
          <a:p>
            <a:r>
              <a:t>这些内容解决的是“每个知识点是什么、可以怎样使用”。第二阶段要解决另一个问题：</a:t>
            </a:r>
          </a:p>
          <a:p>
            <a:endParaRPr/>
          </a:p>
          <a:p>
            <a:r>
              <a:t>&gt; 面对一个不完整的业务问题，能否把这些知识连续地用起来，形成一个可以解释、可以验证、可以修改的AI产品方案？</a:t>
            </a:r>
          </a:p>
          <a:p>
            <a:endParaRPr/>
          </a:p>
          <a:p>
            <a:r>
              <a:t>因此，第二阶段不再按照RAG、Workflow或者Agent分别组织课程。每次先面对一个真实业务问题，再判断需要使用哪些能力。</a:t>
            </a:r>
          </a:p>
          <a:p>
            <a:endParaRPr/>
          </a:p>
          <a:p>
            <a:r>
              <a:t>例如，一个企业智能客服项目可能同时需要：</a:t>
            </a:r>
          </a:p>
          <a:p>
            <a:endParaRPr/>
          </a:p>
          <a:p>
            <a:r>
              <a:t>- 大模型理解用户问题；</a:t>
            </a:r>
          </a:p>
          <a:p>
            <a:r>
              <a:t>- 知识库提供产品和制度信息；</a:t>
            </a:r>
          </a:p>
          <a:p>
            <a:r>
              <a:t>- 业务接口查询订单、账户或服务状态；</a:t>
            </a:r>
          </a:p>
          <a:p>
            <a:r>
              <a:t>- 规则判断权限和办理条件；</a:t>
            </a:r>
          </a:p>
          <a:p>
            <a:r>
              <a:t>- 工作流推动业务办理；</a:t>
            </a:r>
          </a:p>
          <a:p>
            <a:r>
              <a:t>- 人工处理高风险和特殊情况。</a:t>
            </a:r>
          </a:p>
          <a:p>
            <a:endParaRPr/>
          </a:p>
          <a:p>
            <a:r>
              <a:t>产品经理需要做的，是根据业务问题安排这些能力，而不是为了使用某项技术寻找项目。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公共项目、个人项目与主项目</a:t>
            </a:r>
          </a:p>
          <a:p>
            <a:endParaRPr/>
          </a:p>
          <a:p>
            <a:r>
              <a:t>第二阶段包含三个公共项目和三个个人项目。</a:t>
            </a:r>
          </a:p>
          <a:p>
            <a:endParaRPr/>
          </a:p>
          <a:p>
            <a:r>
              <a:t>公共项目由老师在课堂上完整拆解。它为全班提供共同的业务材料、分析过程和判断标准，让学员看到一个项目怎样从业务问题逐渐发展为产品方案、核心页面和评测方法。</a:t>
            </a:r>
          </a:p>
          <a:p>
            <a:endParaRPr/>
          </a:p>
          <a:p>
            <a:r>
              <a:t>个人项目由每位学员独立完成。学员需要把公共项目中学到的方法迁移到自己的行业、经历或熟悉的业务中，重新定义用户、流程、材料、规则、风险和产品范围。</a:t>
            </a:r>
          </a:p>
          <a:p>
            <a:endParaRPr/>
          </a:p>
          <a:p>
            <a:r>
              <a:t>公共项目提供参照，个人项目证明学员能够独立迁移方法。学员不能只替换项目名称、行业名称和页面文案，就把公共项目当成自己的项目。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一轮项目的推进方式</a:t>
            </a:r>
          </a:p>
          <a:p>
            <a:endParaRPr/>
          </a:p>
          <a:p>
            <a:r>
              <a:t>每一轮项目按照同一节奏推进：</a:t>
            </a:r>
          </a:p>
          <a:p>
            <a:endParaRPr/>
          </a:p>
          <a:p>
            <a:r>
              <a:t>1. 老师完整讲解一个公共项目；</a:t>
            </a:r>
          </a:p>
          <a:p>
            <a:r>
              <a:t>2. 每位学员独立完成自己的项目V0.1；</a:t>
            </a:r>
          </a:p>
          <a:p>
            <a:r>
              <a:t>3. 固定的4—5人小组进行互评；</a:t>
            </a:r>
          </a:p>
          <a:p>
            <a:r>
              <a:t>4. 小组提出最需要老师讲解的典型问题；</a:t>
            </a:r>
          </a:p>
          <a:p>
            <a:r>
              <a:t>5. 老师集中点评代表项目；</a:t>
            </a:r>
          </a:p>
          <a:p>
            <a:r>
              <a:t>6. 每位学员根据问题修改自己的项目，形成V1.0。</a:t>
            </a:r>
          </a:p>
          <a:p>
            <a:endParaRPr/>
          </a:p>
          <a:p>
            <a:r>
              <a:t>可以把这套机制概括为：</a:t>
            </a:r>
          </a:p>
          <a:p>
            <a:endParaRPr/>
          </a:p>
          <a:p>
            <a:r>
              <a:t>&gt; 老师讲公共项目，个人完成V0.1，小组互评，老师点评，个人修改为V1.0。</a:t>
            </a:r>
          </a:p>
          <a:p>
            <a:endParaRPr/>
          </a:p>
          <a:p>
            <a:r>
              <a:t>小组不共同完成一个项目，也不拆分任务共同提交。每个人始终拥有自己的选题、材料和最终成果。小组的作用是帮助成员提前发现问题，让老师的课堂点评能够覆盖更多共性问题。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互评小组怎样工作</a:t>
            </a:r>
          </a:p>
          <a:p>
            <a:endParaRPr/>
          </a:p>
          <a:p>
            <a:r>
              <a:t>每一轮项目按照同一节奏推进：</a:t>
            </a:r>
          </a:p>
          <a:p>
            <a:endParaRPr/>
          </a:p>
          <a:p>
            <a:r>
              <a:t>1. 老师完整讲解一个公共项目；</a:t>
            </a:r>
          </a:p>
          <a:p>
            <a:r>
              <a:t>2. 每位学员独立完成自己的项目V0.1；</a:t>
            </a:r>
          </a:p>
          <a:p>
            <a:r>
              <a:t>3. 固定的4—5人小组进行互评；</a:t>
            </a:r>
          </a:p>
          <a:p>
            <a:r>
              <a:t>4. 小组提出最需要老师讲解的典型问题；</a:t>
            </a:r>
          </a:p>
          <a:p>
            <a:r>
              <a:t>5. 老师集中点评代表项目；</a:t>
            </a:r>
          </a:p>
          <a:p>
            <a:r>
              <a:t>6. 每位学员根据问题修改自己的项目，形成V1.0。</a:t>
            </a:r>
          </a:p>
          <a:p>
            <a:endParaRPr/>
          </a:p>
          <a:p>
            <a:r>
              <a:t>可以把这套机制概括为：</a:t>
            </a:r>
          </a:p>
          <a:p>
            <a:endParaRPr/>
          </a:p>
          <a:p>
            <a:r>
              <a:t>&gt; 老师讲公共项目，个人完成V0.1，小组互评，老师点评，个人修改为V1.0。</a:t>
            </a:r>
          </a:p>
          <a:p>
            <a:endParaRPr/>
          </a:p>
          <a:p>
            <a:r>
              <a:t>小组不共同完成一个项目，也不拆分任务共同提交。每个人始终拥有自己的选题、材料和最终成果。小组的作用是帮助成员提前发现问题，让老师的课堂点评能够覆盖更多共性问题。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第二阶段的最终成果</a:t>
            </a:r>
          </a:p>
          <a:p>
            <a:endParaRPr/>
          </a:p>
          <a:p>
            <a:r>
              <a:t>每位学员最终完成：</a:t>
            </a:r>
          </a:p>
          <a:p>
            <a:endParaRPr/>
          </a:p>
          <a:p>
            <a:r>
              <a:t>- 三个独立的个人AI产品项目；</a:t>
            </a:r>
          </a:p>
          <a:p>
            <a:r>
              <a:t>- 从中选择一个项目继续做深；</a:t>
            </a:r>
          </a:p>
          <a:p>
            <a:r>
              <a:t>- 一套能够放进作品集和简历的项目材料；</a:t>
            </a:r>
          </a:p>
          <a:p>
            <a:r>
              <a:t>- 一套能够在面试中讲清项目背景、关键判断和修改过程的表达。</a:t>
            </a:r>
          </a:p>
          <a:p>
            <a:endParaRPr/>
          </a:p>
          <a:p>
            <a:r>
              <a:t>三个项目都要形成相对完整的产品方案，包括业务背景、用户、流程、材料、AI与规则分工、MVP、核心页面、测试和修改记录。但不要求三个项目都开发成生产级系统。</a:t>
            </a:r>
          </a:p>
          <a:p>
            <a:endParaRPr/>
          </a:p>
          <a:p>
            <a:r>
              <a:t>更合理的成果结构是：</a:t>
            </a:r>
          </a:p>
          <a:p>
            <a:endParaRPr/>
          </a:p>
          <a:p>
            <a:r>
              <a:t>&gt; 三个完整项目方案，其中一个项目拥有更扎实的验证、迭代和作品集表达。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公共项目的选择标准</a:t>
            </a:r>
          </a:p>
          <a:p>
            <a:endParaRPr/>
          </a:p>
          <a:p>
            <a:r>
              <a:t>课堂可以先请学员选择：</a:t>
            </a:r>
          </a:p>
          <a:p>
            <a:endParaRPr/>
          </a:p>
          <a:p>
            <a:r>
              <a:t>&gt; 下面哪一项最适合作为全班共同学习的公共项目？</a:t>
            </a:r>
          </a:p>
          <a:p>
            <a:endParaRPr/>
          </a:p>
          <a:p>
            <a:r>
              <a:t>- A. 使用当前最热门的技术</a:t>
            </a:r>
          </a:p>
          <a:p>
            <a:r>
              <a:t>- B. 项目名称听起来足够先进</a:t>
            </a:r>
          </a:p>
          <a:p>
            <a:r>
              <a:t>- C. 业务流程、材料和判断标准比较清楚</a:t>
            </a:r>
          </a:p>
          <a:p>
            <a:r>
              <a:t>- D. 容易快速做出一个好看的演示</a:t>
            </a:r>
          </a:p>
          <a:p>
            <a:endParaRPr/>
          </a:p>
          <a:p>
            <a:r>
              <a:t>老师的判断是C。</a:t>
            </a:r>
          </a:p>
          <a:p>
            <a:endParaRPr/>
          </a:p>
          <a:p>
            <a:r>
              <a:t>公共项目要让不同背景的学员建立共同的分析标准，所以需要满足四个条件：</a:t>
            </a:r>
          </a:p>
          <a:p>
            <a:endParaRPr/>
          </a:p>
          <a:p>
            <a:r>
              <a:t>1. 对应真实而常见的业务问题；</a:t>
            </a:r>
          </a:p>
          <a:p>
            <a:r>
              <a:t>2. 能自然组合多种AI产品能力；</a:t>
            </a:r>
          </a:p>
          <a:p>
            <a:r>
              <a:t>3. 业务材料、判断过程和异常情况可以展示；</a:t>
            </a:r>
          </a:p>
          <a:p>
            <a:r>
              <a:t>4. 能迁移成多个行业和岗位中的个人项目。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四项筛选条件</a:t>
            </a:r>
          </a:p>
          <a:p>
            <a:endParaRPr/>
          </a:p>
          <a:p>
            <a:r>
              <a:t>课堂可以先请学员选择：</a:t>
            </a:r>
          </a:p>
          <a:p>
            <a:endParaRPr/>
          </a:p>
          <a:p>
            <a:r>
              <a:t>&gt; 下面哪一项最适合作为全班共同学习的公共项目？</a:t>
            </a:r>
          </a:p>
          <a:p>
            <a:endParaRPr/>
          </a:p>
          <a:p>
            <a:r>
              <a:t>- A. 使用当前最热门的技术</a:t>
            </a:r>
          </a:p>
          <a:p>
            <a:r>
              <a:t>- B. 项目名称听起来足够先进</a:t>
            </a:r>
          </a:p>
          <a:p>
            <a:r>
              <a:t>- C. 业务流程、材料和判断标准比较清楚</a:t>
            </a:r>
          </a:p>
          <a:p>
            <a:r>
              <a:t>- D. 容易快速做出一个好看的演示</a:t>
            </a:r>
          </a:p>
          <a:p>
            <a:endParaRPr/>
          </a:p>
          <a:p>
            <a:r>
              <a:t>老师的判断是C。</a:t>
            </a:r>
          </a:p>
          <a:p>
            <a:endParaRPr/>
          </a:p>
          <a:p>
            <a:r>
              <a:t>公共项目要让不同背景的学员建立共同的分析标准，所以需要满足四个条件：</a:t>
            </a:r>
          </a:p>
          <a:p>
            <a:endParaRPr/>
          </a:p>
          <a:p>
            <a:r>
              <a:t>1. 对应真实而常见的业务问题；</a:t>
            </a:r>
          </a:p>
          <a:p>
            <a:r>
              <a:t>2. 能自然组合多种AI产品能力；</a:t>
            </a:r>
          </a:p>
          <a:p>
            <a:r>
              <a:t>3. 业务材料、判断过程和异常情况可以展示；</a:t>
            </a:r>
          </a:p>
          <a:p>
            <a:r>
              <a:t>4. 能迁移成多个行业和岗位中的个人项目。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先面对业务问题，再选择需要的能力</a:t>
            </a:r>
          </a:p>
          <a:p>
            <a:endParaRPr/>
          </a:p>
          <a:p>
            <a:r>
              <a:t>如果按技术组织项目，课程容易变成“做一个RAG项目”“做一个Workflow项目”“做一个Agent项目”。但真实工作通常不会先确定技术，再寻找问题。</a:t>
            </a:r>
          </a:p>
          <a:p>
            <a:endParaRPr/>
          </a:p>
          <a:p>
            <a:r>
              <a:t>同一个项目可能同时使用模型、知识库、业务接口、规则、工作流和人工处理。产品经理真正需要判断的是：</a:t>
            </a:r>
          </a:p>
          <a:p>
            <a:endParaRPr/>
          </a:p>
          <a:p>
            <a:r>
              <a:t>- 当前业务问题是什么；</a:t>
            </a:r>
          </a:p>
          <a:p>
            <a:r>
              <a:t>- 哪种能力适合解决其中哪一步；</a:t>
            </a:r>
          </a:p>
          <a:p>
            <a:r>
              <a:t>- 哪些工作不应该交给大模型；</a:t>
            </a:r>
          </a:p>
          <a:p>
            <a:r>
              <a:t>- 产品怎样进入原有业务流程。</a:t>
            </a:r>
          </a:p>
          <a:p>
            <a:endParaRPr/>
          </a:p>
          <a:p>
            <a:r>
              <a:t>因此，三个公共项目按照业务问题选择，而不是按照技术名词分课。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三个公共项目覆盖的问题</a:t>
            </a:r>
          </a:p>
          <a:p>
            <a:endParaRPr/>
          </a:p>
          <a:p>
            <a:r>
              <a:t>| 公共项目 | 主要处理对象 | 主要目标 | 重点能力 |</a:t>
            </a:r>
          </a:p>
          <a:p>
            <a:r>
              <a:t>|---|---|---|---|</a:t>
            </a:r>
          </a:p>
          <a:p>
            <a:r>
              <a:t>| 企业智能客服与业务办理 | 人提出的问题和办理请求 | 回答问题并推动服务完成 | 对话理解、知识和业务系统连接、流程闭环 |</a:t>
            </a:r>
          </a:p>
          <a:p>
            <a:r>
              <a:t>| 业务材料审核与风险核验 | 合同、票据、申请等业务材料 | 发现缺失、差异和风险 | 信息提取、规则核验、语义判断、人工复核 |</a:t>
            </a:r>
          </a:p>
          <a:p>
            <a:r>
              <a:t>| 专业研究与方案生成 | 复杂任务和多来源资料 | 形成研究、简报或解决方案 | 任务拆解、资料组织、来源核实、专业审阅 |</a:t>
            </a:r>
          </a:p>
          <a:p>
            <a:endParaRPr/>
          </a:p>
          <a:p>
            <a:r>
              <a:t>三个项目分别从“人提出请求”“材料进入流程”和“专业人员接受复杂任务”三个入口切入，覆盖企业服务、运营与风险控制、销售咨询研究和管理等多类工作。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为什么没有单独设置C端公共项目</a:t>
            </a:r>
          </a:p>
          <a:p>
            <a:endParaRPr/>
          </a:p>
          <a:p>
            <a:r>
              <a:t>这不代表C端项目不重要。</a:t>
            </a:r>
          </a:p>
          <a:p>
            <a:endParaRPr/>
          </a:p>
          <a:p>
            <a:r>
              <a:t>公共项目需要全班能够共享基本材料、理解共同流程，并使用相对一致的标准进行点评。很多C端产品的成败高度依赖真实用户、流量、用户行为数据、增长实验、留存和长期运营。课堂无法获得这些条件时，项目很容易只剩下一个好看的页面或演示。</a:t>
            </a:r>
          </a:p>
          <a:p>
            <a:endParaRPr/>
          </a:p>
          <a:p>
            <a:r>
              <a:t>三个公共项目虽然以可讲清业务过程的企业场景为主，但并不排斥C端：</a:t>
            </a:r>
          </a:p>
          <a:p>
            <a:endParaRPr/>
          </a:p>
          <a:p>
            <a:r>
              <a:t>- 电商售后助手、课程服务助手、医疗服务助手都直接面向个人用户；</a:t>
            </a:r>
          </a:p>
          <a:p>
            <a:r>
              <a:t>- 有真实C端经验、用户或数据的学员，可以选择C端个人项目；</a:t>
            </a:r>
          </a:p>
          <a:p>
            <a:r>
              <a:t>- 评价标准仍然是业务是否真实、材料是否可得、结果是否能够判断，而不是项目属于B端还是C端。</a:t>
            </a:r>
          </a:p>
          <a:p>
            <a:endParaRPr/>
          </a:p>
          <a:p>
            <a:r>
              <a:t>这一节最后可以收束为：</a:t>
            </a:r>
          </a:p>
          <a:p>
            <a:endParaRPr/>
          </a:p>
          <a:p>
            <a:r>
              <a:t>&gt; 公共项目按照业务问题选择，技术能力根据项目需要进行组合。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三个公共项目与个人项目方向</a:t>
            </a:r>
          </a:p>
          <a:p>
            <a:endParaRPr/>
          </a:p>
          <a:p>
            <a:r>
              <a:t>&gt; 建议时长：30—40分钟</a:t>
            </a:r>
          </a:p>
          <a:p>
            <a:endParaRPr/>
          </a:p>
          <a:p>
            <a:r>
              <a:t>这一节不展开三个项目的完整PRD。重点是让学员理解它们为什么值得学习、能够应用到哪些工作，以及自己可以从哪里切入。</a:t>
            </a:r>
          </a:p>
          <a:p>
            <a:endParaRPr/>
          </a:p>
          <a:p>
            <a:r>
              <a:t>讲解前可以提醒学员关注两个问题：</a:t>
            </a:r>
          </a:p>
          <a:p>
            <a:endParaRPr/>
          </a:p>
          <a:p>
            <a:r>
              <a:t>- 哪一类工作与自己的经历最接近？</a:t>
            </a:r>
          </a:p>
          <a:p>
            <a:r>
              <a:t>- 哪一类项目的材料是自己可能获得的？</a:t>
            </a:r>
          </a:p>
          <a:p>
            <a:endParaRPr/>
          </a:p>
          <a:p>
            <a:r>
              <a:t>## 一、企业智能客服与业务办理</a:t>
            </a:r>
          </a:p>
          <a:p>
            <a:endParaRPr/>
          </a:p>
          <a:p>
            <a:r>
              <a:t>### 1. 项目定位</a:t>
            </a:r>
          </a:p>
          <a:p>
            <a:endParaRPr/>
          </a:p>
          <a:p>
            <a:r>
              <a:t>这个项目建立一个面向客户、员工或合作伙伴的统一服务入口。它既要理解用户的问题，也要连接知识、业务数据和办理流程，必要时把特殊情况交给人工。</a:t>
            </a:r>
          </a:p>
          <a:p>
            <a:endParaRPr/>
          </a:p>
          <a:p>
            <a:r>
              <a:t>它比普通聊天机器人更复杂的地方在于：回答问题只是入口，最终还要解决身份和权限、业务查询、条件判断、系统操作、异常处理和人工责任。</a:t>
            </a:r>
          </a:p>
          <a:p>
            <a:endParaRPr/>
          </a:p>
          <a:p>
            <a:r>
              <a:t>### 2. 可以应用的业务范围</a:t>
            </a:r>
          </a:p>
          <a:p>
            <a:endParaRPr/>
          </a:p>
          <a:p>
            <a:r>
              <a:t>#### 面向消费者</a:t>
            </a:r>
          </a:p>
          <a:p>
            <a:endParaRPr/>
          </a:p>
          <a:p>
            <a:r>
              <a:t>- 电商售后服务助手：查询订单、解释退换货政策，并发起售后流程；</a:t>
            </a:r>
          </a:p>
          <a:p>
            <a:r>
              <a:t>- 在线教育学员服务助手：处理课程咨询、请假、补课、延期和退款；</a:t>
            </a:r>
          </a:p>
          <a:p>
            <a:r>
              <a:t>- 银行业务办理助手：解答账户和信用卡问题，完成部分业务引导；</a:t>
            </a:r>
          </a:p>
          <a:p>
            <a:r>
              <a:t>- 保险理赔服务助手：判断理赔类型、说明材料并查询进度；</a:t>
            </a:r>
          </a:p>
          <a:p>
            <a:r>
              <a:t>- 医疗服务助手：提供科室选择、预约、检查准备和复诊提醒；</a:t>
            </a:r>
          </a:p>
          <a:p>
            <a:r>
              <a:t>- 本地生活服务助手：处理预约、改期、退款和会员权益；</a:t>
            </a:r>
          </a:p>
          <a:p>
            <a:r>
              <a:t>- 旅游出行服务助手：处理订单、退改政策和行程变化。</a:t>
            </a:r>
          </a:p>
          <a:p>
            <a:endParaRPr/>
          </a:p>
          <a:p>
            <a:r>
              <a:t>#### 面向企业客户和合作伙伴</a:t>
            </a:r>
          </a:p>
          <a:p>
            <a:endParaRPr/>
          </a:p>
          <a:p>
            <a:r>
              <a:t>- 企业软件客户服务助手：解答产品问题、查询服务权限并创建工单；</a:t>
            </a:r>
          </a:p>
          <a:p>
            <a:r>
              <a:t>- 制造业设备售后助手：根据设备型号和故障现象提供排查和维修安排；</a:t>
            </a:r>
          </a:p>
          <a:p>
            <a:r>
              <a:t>- 经销商服务助手：查询价格、库存、订单和返利规则；</a:t>
            </a:r>
          </a:p>
          <a:p>
            <a:r>
              <a:t>- 供应商协同助手：查询采购要求、交货计划和结算状态；</a:t>
            </a:r>
          </a:p>
          <a:p>
            <a:r>
              <a:t>- 大客户服务助手：处理交付、续费、增购和服务升级。</a:t>
            </a:r>
          </a:p>
          <a:p>
            <a:endParaRPr/>
          </a:p>
          <a:p>
            <a:r>
              <a:t>#### 面向企业内部</a:t>
            </a:r>
          </a:p>
          <a:p>
            <a:endParaRPr/>
          </a:p>
          <a:p>
            <a:r>
              <a:t>- 员工人事服务助手：解答考勤、休假、薪酬和福利问题；</a:t>
            </a:r>
          </a:p>
          <a:p>
            <a:r>
              <a:t>- 企业IT服务助手：处理账号、权限、软件、设备和网络问题；</a:t>
            </a:r>
          </a:p>
          <a:p>
            <a:r>
              <a:t>- 财务共享服务助手：回答报销、发票、付款和预算问题；</a:t>
            </a:r>
          </a:p>
          <a:p>
            <a:r>
              <a:t>- 采购服务助手：查询采购申请、订单和供应商状态；</a:t>
            </a:r>
          </a:p>
          <a:p>
            <a:r>
              <a:t>- 行政服务助手：处理会议室、访客、办公用品和设备借用。</a:t>
            </a:r>
          </a:p>
          <a:p>
            <a:endParaRPr/>
          </a:p>
          <a:p>
            <a:r>
              <a:t>这一方向适合客服、运营、售后、销售支持、人事、行政、IT、财务等背景的学员。</a:t>
            </a:r>
          </a:p>
          <a:p>
            <a:endParaRPr/>
          </a:p>
          <a:p>
            <a:r>
              <a:t>## 二、业务材料审核与风险核验</a:t>
            </a:r>
          </a:p>
          <a:p>
            <a:endParaRPr/>
          </a:p>
          <a:p>
            <a:r>
              <a:t>### 1. 项目定位</a:t>
            </a:r>
          </a:p>
          <a:p>
            <a:endParaRPr/>
          </a:p>
          <a:p>
            <a:r>
              <a:t>这个项目处理企业业务流程中的合同、票据、申请表、资质证明和检测报告等材料。系统需要提取关键信息，对照业务规则进行检查，发现材料之间的差异和风险，并把不确定或高风险的问题交给人工。</a:t>
            </a:r>
          </a:p>
          <a:p>
            <a:endParaRPr/>
          </a:p>
          <a:p>
            <a:r>
              <a:t>它的复杂度来自多份材料之间的对应关系，以及确定性规则、语义判断和人工责任之间的边界。产品还要能够说明风险来自哪里，方便审核人员回到原文确认。</a:t>
            </a:r>
          </a:p>
          <a:p>
            <a:endParaRPr/>
          </a:p>
          <a:p>
            <a:r>
              <a:t>### 2. 可以应用的业务范围</a:t>
            </a:r>
          </a:p>
          <a:p>
            <a:endParaRPr/>
          </a:p>
          <a:p>
            <a:r>
              <a:t>#### 财务与费用</a:t>
            </a:r>
          </a:p>
          <a:p>
            <a:endParaRPr/>
          </a:p>
          <a:p>
            <a:r>
              <a:t>- 员工报销审核助手：核对发票、报销单、行程和费用制度；</a:t>
            </a:r>
          </a:p>
          <a:p>
            <a:r>
              <a:t>- 企业付款材料核验助手：检查合同、订单、验收单和发票是否一致；</a:t>
            </a:r>
          </a:p>
          <a:p>
            <a:r>
              <a:t>- 预算申请审核助手：核对预算科目、历史支出和审批要求。</a:t>
            </a:r>
          </a:p>
          <a:p>
            <a:endParaRPr/>
          </a:p>
          <a:p>
            <a:r>
              <a:t>#### 合同与法务</a:t>
            </a:r>
          </a:p>
          <a:p>
            <a:endParaRPr/>
          </a:p>
          <a:p>
            <a:r>
              <a:t>- 合同条款审核助手：检查付款、违约、交付和数据安全等风险；</a:t>
            </a:r>
          </a:p>
          <a:p>
            <a:r>
              <a:t>- 合同履约检查助手：检查交付、验收和付款条件是否满足；</a:t>
            </a:r>
          </a:p>
          <a:p>
            <a:r>
              <a:t>- 企业制度合规检查助手：判断申请或操作是否符合内部制度。</a:t>
            </a:r>
          </a:p>
          <a:p>
            <a:endParaRPr/>
          </a:p>
          <a:p>
            <a:r>
              <a:t>#### 采购与供应商</a:t>
            </a:r>
          </a:p>
          <a:p>
            <a:endParaRPr/>
          </a:p>
          <a:p>
            <a:r>
              <a:t>- 供应商准入审核助手：核验营业执照、资质和准入条件；</a:t>
            </a:r>
          </a:p>
          <a:p>
            <a:r>
              <a:t>- 采购申请审核助手：检查预算、询价材料和供应商选择；</a:t>
            </a:r>
          </a:p>
          <a:p>
            <a:r>
              <a:t>- 招投标文件检查助手：检查响应内容、资质和材料缺项。</a:t>
            </a:r>
          </a:p>
          <a:p>
            <a:endParaRPr/>
          </a:p>
          <a:p>
            <a:r>
              <a:t>#### 金融与保险</a:t>
            </a:r>
          </a:p>
          <a:p>
            <a:endParaRPr/>
          </a:p>
          <a:p>
            <a:r>
              <a:t>- 企业开户材料审核助手：检查企业身份、股权结构和经营证明；</a:t>
            </a:r>
          </a:p>
          <a:p>
            <a:r>
              <a:t>- 贷款申请材料预审助手：核对收入、资产、负债和资金用途；</a:t>
            </a:r>
          </a:p>
          <a:p>
            <a:r>
              <a:t>- 保险理赔材料审核助手：核对保单、事故证明和费用凭证。</a:t>
            </a:r>
          </a:p>
          <a:p>
            <a:endParaRPr/>
          </a:p>
          <a:p>
            <a:r>
              <a:t>#### 人事、行政和公共服务</a:t>
            </a:r>
          </a:p>
          <a:p>
            <a:endParaRPr/>
          </a:p>
          <a:p>
            <a:r>
              <a:t>- 招聘入职材料审核助手：检查身份、学历、经历和入职文件；</a:t>
            </a:r>
          </a:p>
          <a:p>
            <a:r>
              <a:t>- 项目申报材料预审助手：对照申报指南检查资格和附件；</a:t>
            </a:r>
          </a:p>
          <a:p>
            <a:r>
              <a:t>- 政府办事材料预审助手：提交前检查条件和材料完整性；</a:t>
            </a:r>
          </a:p>
          <a:p>
            <a:r>
              <a:t>- 质量检测报告核验助手：检查检测项目、数值、结论和签章；</a:t>
            </a:r>
          </a:p>
          <a:p>
            <a:r>
              <a:t>- 内容发布合规检查助手：检查广告和公开材料中的风险表述。</a:t>
            </a:r>
          </a:p>
          <a:p>
            <a:endParaRPr/>
          </a:p>
          <a:p>
            <a:r>
              <a:t>这一方向适合财务、法务、采购、风控、人事、政务、金融、保险和质量管理背景的学员。</a:t>
            </a:r>
          </a:p>
          <a:p>
            <a:endParaRPr/>
          </a:p>
          <a:p>
            <a:r>
              <a:t>## 三、专业研究与方案生成</a:t>
            </a:r>
          </a:p>
          <a:p>
            <a:endParaRPr/>
          </a:p>
          <a:p>
            <a:r>
              <a:t>### 1. 项目定位</a:t>
            </a:r>
          </a:p>
          <a:p>
            <a:endParaRPr/>
          </a:p>
          <a:p>
            <a:r>
              <a:t>这个项目服务于销售、售前、产品、咨询、研究和管理等知识工作。系统需要理解复杂任务，拆解需要回答的问题，组织不同来源的材料，识别信息缺口和冲突，并形成可以由专业人员继续修改的研究或方案初稿。</a:t>
            </a:r>
          </a:p>
          <a:p>
            <a:endParaRPr/>
          </a:p>
          <a:p>
            <a:r>
              <a:t>它比普通写作助手更强调研究过程：资料从哪里来、哪些内容可以确认、哪些还需要核实、方案中的承诺由谁负责。</a:t>
            </a:r>
          </a:p>
          <a:p>
            <a:endParaRPr/>
          </a:p>
          <a:p>
            <a:r>
              <a:t>### 2. 可以应用的业务范围</a:t>
            </a:r>
          </a:p>
          <a:p>
            <a:endParaRPr/>
          </a:p>
          <a:p>
            <a:r>
              <a:t>#### 销售与售前</a:t>
            </a:r>
          </a:p>
          <a:p>
            <a:endParaRPr/>
          </a:p>
          <a:p>
            <a:r>
              <a:t>- 客户需求分析助手：整理访谈、需求文件和历史沟通；</a:t>
            </a:r>
          </a:p>
          <a:p>
            <a:r>
              <a:t>- 大客户拜访准备助手：汇总客户背景、业务动态和合作历史；</a:t>
            </a:r>
          </a:p>
          <a:p>
            <a:r>
              <a:t>- 企业解决方案生成助手：结合客户需求、产品能力和行业案例形成方案；</a:t>
            </a:r>
          </a:p>
          <a:p>
            <a:r>
              <a:t>- 招标需求分析助手：拆解资格要求、技术要求和评分标准；</a:t>
            </a:r>
          </a:p>
          <a:p>
            <a:r>
              <a:t>- 投标响应助手：将招标要求映射到产品能力和证明材料。</a:t>
            </a:r>
          </a:p>
          <a:p>
            <a:endParaRPr/>
          </a:p>
          <a:p>
            <a:r>
              <a:t>#### 产品与运营</a:t>
            </a:r>
          </a:p>
          <a:p>
            <a:endParaRPr/>
          </a:p>
          <a:p>
            <a:r>
              <a:t>- 竞品研究助手：整理功能、价格、用户评价和市场动作；</a:t>
            </a:r>
          </a:p>
          <a:p>
            <a:r>
              <a:t>- 产品机会分析助手：结合反馈、客服记录和业务数据寻找机会；</a:t>
            </a:r>
          </a:p>
          <a:p>
            <a:r>
              <a:t>- 产品规划助手：把战略目标、用户问题和业务约束整理为规划；</a:t>
            </a:r>
          </a:p>
          <a:p>
            <a:r>
              <a:t>- 用户研究分析助手：汇总访谈、问卷和反馈，提炼需求；</a:t>
            </a:r>
          </a:p>
          <a:p>
            <a:r>
              <a:t>- 运营活动方案助手：根据目标、用户和历史活动形成方案。</a:t>
            </a:r>
          </a:p>
          <a:p>
            <a:endParaRPr/>
          </a:p>
          <a:p>
            <a:r>
              <a:t>#### 行业与管理</a:t>
            </a:r>
          </a:p>
          <a:p>
            <a:endParaRPr/>
          </a:p>
          <a:p>
            <a:r>
              <a:t>- 行业研究助手：整理市场、产业链、竞争格局、政策和趋势；</a:t>
            </a:r>
          </a:p>
          <a:p>
            <a:r>
              <a:t>- 市场进入分析助手：研究新地区或新行业的需求、竞争和风险；</a:t>
            </a:r>
          </a:p>
          <a:p>
            <a:r>
              <a:t>- 政策研究助手：分析政策适用对象、影响范围和企业行动；</a:t>
            </a:r>
          </a:p>
          <a:p>
            <a:r>
              <a:t>- 经营分析助手：汇总经营数据和部门反馈，分析问题；</a:t>
            </a:r>
          </a:p>
          <a:p>
            <a:r>
              <a:t>- 战略规划助手：整理外部环境、企业能力和业务目标。</a:t>
            </a:r>
          </a:p>
          <a:p>
            <a:endParaRPr/>
          </a:p>
          <a:p>
            <a:r>
              <a:t>#### 专业服务</a:t>
            </a:r>
          </a:p>
          <a:p>
            <a:endParaRPr/>
          </a:p>
          <a:p>
            <a:r>
              <a:t>- 咨询项目研究助手：围绕客户问题组织访谈、数据和外部资料；</a:t>
            </a:r>
          </a:p>
          <a:p>
            <a:r>
              <a:t>- 投资研究助手：汇总公司、行业、财务和风险信息；</a:t>
            </a:r>
          </a:p>
          <a:p>
            <a:r>
              <a:t>- 课程研发助手：根据学习目标和参考资料设计课程；</a:t>
            </a:r>
          </a:p>
          <a:p>
            <a:r>
              <a:t>- 培训方案助手：分析组织需求和能力差距，形成培训计划；</a:t>
            </a:r>
          </a:p>
          <a:p>
            <a:r>
              <a:t>- 技术选型研究助手：对比技术方案、供应商、成本和实施风险。</a:t>
            </a:r>
          </a:p>
          <a:p>
            <a:endParaRPr/>
          </a:p>
          <a:p>
            <a:r>
              <a:t>这一方向适合产品、运营、销售、售前、咨询、市场、战略、研究、培训和管理岗位的学员。</a:t>
            </a:r>
          </a:p>
          <a:p>
            <a:endParaRPr/>
          </a:p>
          <a:p>
            <a:r>
              <a:t>## 四、从公共项目发展为个人项目</a:t>
            </a:r>
          </a:p>
          <a:p>
            <a:endParaRPr/>
          </a:p>
          <a:p>
            <a:r>
              <a:t>公共项目提供方法和共同标准。个人项目至少需要根据自己的业务重新确定五件事：</a:t>
            </a:r>
          </a:p>
          <a:p>
            <a:endParaRPr/>
          </a:p>
          <a:p>
            <a:r>
              <a:t>- 用户：谁在使用；</a:t>
            </a:r>
          </a:p>
          <a:p>
            <a:r>
              <a:t>- 场景：在什么情况下遇到什么问题；</a:t>
            </a:r>
          </a:p>
          <a:p>
            <a:r>
              <a:t>- 流程：现在怎样完成；</a:t>
            </a:r>
          </a:p>
          <a:p>
            <a:r>
              <a:t>- 材料：有哪些业务数据、文档、规则和样本；</a:t>
            </a:r>
          </a:p>
          <a:p>
            <a:r>
              <a:t>- 范围：第一版准备解决到什么程度。</a:t>
            </a:r>
          </a:p>
          <a:p>
            <a:endParaRPr/>
          </a:p>
          <a:p>
            <a:r>
              <a:t>只改项目名称、行业和页面颜色，仍然是复制公共项目。用户、流程、材料、规则、异常情况和测试问题发生变化，项目才真正进入自己的业务。</a:t>
            </a:r>
          </a:p>
          <a:p>
            <a:endParaRPr/>
          </a:p>
          <a:p>
            <a:r>
              <a:t>## 五、课堂互动</a:t>
            </a:r>
          </a:p>
          <a:p>
            <a:endParaRPr/>
          </a:p>
          <a:p>
            <a:r>
              <a:t>问题一：你的工作更接近哪一类？</a:t>
            </a:r>
          </a:p>
          <a:p>
            <a:endParaRPr/>
          </a:p>
          <a:p>
            <a:r>
              <a:t>- A. 回答问题、提供服务或办理业务</a:t>
            </a:r>
          </a:p>
          <a:p>
            <a:r>
              <a:t>- B. 检查材料、核对规则或发现风险</a:t>
            </a:r>
          </a:p>
          <a:p>
            <a:r>
              <a:t>- C. 搜集信息、研究问题或输出方案</a:t>
            </a:r>
          </a:p>
          <a:p>
            <a:r>
              <a:t>- D. 暂时无法归类</a:t>
            </a:r>
          </a:p>
          <a:p>
            <a:endParaRPr/>
          </a:p>
          <a:p>
            <a:r>
              <a:t>问题二：你更容易获得哪一类材料？</a:t>
            </a:r>
          </a:p>
          <a:p>
            <a:endParaRPr/>
          </a:p>
          <a:p>
            <a:r>
              <a:t>- A. 常见问题、服务规则和业务记录</a:t>
            </a:r>
          </a:p>
          <a:p>
            <a:r>
              <a:t>- B. 合同、票据、申请表和审核标准</a:t>
            </a:r>
          </a:p>
          <a:p>
            <a:r>
              <a:t>- C. 客户需求、研究资料、历史报告和方案模板</a:t>
            </a:r>
          </a:p>
          <a:p>
            <a:r>
              <a:t>- D. 暂时不确定</a:t>
            </a:r>
          </a:p>
          <a:p>
            <a:endParaRPr/>
          </a:p>
          <a:p>
            <a:r>
              <a:t>问题三：在刚才的项目变种中，哪一个与你的经历最接近？如果没有，可以写出一个属于自己的变种。</a:t>
            </a:r>
          </a:p>
          <a:p>
            <a:endParaRPr/>
          </a:p>
          <a:p>
            <a:r>
              <a:t>这一课只记录两三个可能方向，不要求正式选题。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公共项目一：企业智能客服与业务办理</a:t>
            </a:r>
          </a:p>
          <a:p>
            <a:endParaRPr/>
          </a:p>
          <a:p>
            <a:r>
              <a:t>### 1. 项目定位</a:t>
            </a:r>
          </a:p>
          <a:p>
            <a:endParaRPr/>
          </a:p>
          <a:p>
            <a:r>
              <a:t>这个项目建立一个面向客户、员工或合作伙伴的统一服务入口。它既要理解用户的问题，也要连接知识、业务数据和办理流程，必要时把特殊情况交给人工。</a:t>
            </a:r>
          </a:p>
          <a:p>
            <a:endParaRPr/>
          </a:p>
          <a:p>
            <a:r>
              <a:t>它比普通聊天机器人更复杂的地方在于：回答问题只是入口，最终还要解决身份和权限、业务查询、条件判断、系统操作、异常处理和人工责任。</a:t>
            </a:r>
          </a:p>
          <a:p>
            <a:endParaRPr/>
          </a:p>
          <a:p>
            <a:r>
              <a:t>### 2. 可以应用的业务范围</a:t>
            </a:r>
          </a:p>
          <a:p>
            <a:endParaRPr/>
          </a:p>
          <a:p>
            <a:r>
              <a:t>#### 面向消费者</a:t>
            </a:r>
          </a:p>
          <a:p>
            <a:endParaRPr/>
          </a:p>
          <a:p>
            <a:r>
              <a:t>- 电商售后服务助手：查询订单、解释退换货政策，并发起售后流程；</a:t>
            </a:r>
          </a:p>
          <a:p>
            <a:r>
              <a:t>- 在线教育学员服务助手：处理课程咨询、请假、补课、延期和退款；</a:t>
            </a:r>
          </a:p>
          <a:p>
            <a:r>
              <a:t>- 银行业务办理助手：解答账户和信用卡问题，完成部分业务引导；</a:t>
            </a:r>
          </a:p>
          <a:p>
            <a:r>
              <a:t>- 保险理赔服务助手：判断理赔类型、说明材料并查询进度；</a:t>
            </a:r>
          </a:p>
          <a:p>
            <a:r>
              <a:t>- 医疗服务助手：提供科室选择、预约、检查准备和复诊提醒；</a:t>
            </a:r>
          </a:p>
          <a:p>
            <a:r>
              <a:t>- 本地生活服务助手：处理预约、改期、退款和会员权益；</a:t>
            </a:r>
          </a:p>
          <a:p>
            <a:r>
              <a:t>- 旅游出行服务助手：处理订单、退改政策和行程变化。</a:t>
            </a:r>
          </a:p>
          <a:p>
            <a:endParaRPr/>
          </a:p>
          <a:p>
            <a:r>
              <a:t>#### 面向企业客户和合作伙伴</a:t>
            </a:r>
          </a:p>
          <a:p>
            <a:endParaRPr/>
          </a:p>
          <a:p>
            <a:r>
              <a:t>- 企业软件客户服务助手：解答产品问题、查询服务权限并创建工单；</a:t>
            </a:r>
          </a:p>
          <a:p>
            <a:r>
              <a:t>- 制造业设备售后助手：根据设备型号和故障现象提供排查和维修安排；</a:t>
            </a:r>
          </a:p>
          <a:p>
            <a:r>
              <a:t>- 经销商服务助手：查询价格、库存、订单和返利规则；</a:t>
            </a:r>
          </a:p>
          <a:p>
            <a:r>
              <a:t>- 供应商协同助手：查询采购要求、交货计划和结算状态；</a:t>
            </a:r>
          </a:p>
          <a:p>
            <a:r>
              <a:t>- 大客户服务助手：处理交付、续费、增购和服务升级。</a:t>
            </a:r>
          </a:p>
          <a:p>
            <a:endParaRPr/>
          </a:p>
          <a:p>
            <a:r>
              <a:t>#### 面向企业内部</a:t>
            </a:r>
          </a:p>
          <a:p>
            <a:endParaRPr/>
          </a:p>
          <a:p>
            <a:r>
              <a:t>- 员工人事服务助手：解答考勤、休假、薪酬和福利问题；</a:t>
            </a:r>
          </a:p>
          <a:p>
            <a:r>
              <a:t>- 企业IT服务助手：处理账号、权限、软件、设备和网络问题；</a:t>
            </a:r>
          </a:p>
          <a:p>
            <a:r>
              <a:t>- 财务共享服务助手：回答报销、发票、付款和预算问题；</a:t>
            </a:r>
          </a:p>
          <a:p>
            <a:r>
              <a:t>- 采购服务助手：查询采购申请、订单和供应商状态；</a:t>
            </a:r>
          </a:p>
          <a:p>
            <a:r>
              <a:t>- 行政服务助手：处理会议室、访客、办公用品和设备借用。</a:t>
            </a:r>
          </a:p>
          <a:p>
            <a:endParaRPr/>
          </a:p>
          <a:p>
            <a:r>
              <a:t>这一方向适合客服、运营、售后、销售支持、人事、行政、IT、财务等背景的学员。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智能客服变种：面向消费者</a:t>
            </a:r>
          </a:p>
          <a:p>
            <a:endParaRPr/>
          </a:p>
          <a:p>
            <a:r>
              <a:t>- 电商售后服务助手：查询订单、解释退换货政策，并发起售后流程；</a:t>
            </a:r>
          </a:p>
          <a:p>
            <a:r>
              <a:t>- 在线教育学员服务助手：处理课程咨询、请假、补课、延期和退款；</a:t>
            </a:r>
          </a:p>
          <a:p>
            <a:r>
              <a:t>- 银行业务办理助手：解答账户和信用卡问题，完成部分业务引导；</a:t>
            </a:r>
          </a:p>
          <a:p>
            <a:r>
              <a:t>- 保险理赔服务助手：判断理赔类型、说明材料并查询进度；</a:t>
            </a:r>
          </a:p>
          <a:p>
            <a:r>
              <a:t>- 医疗服务助手：提供科室选择、预约、检查准备和复诊提醒；</a:t>
            </a:r>
          </a:p>
          <a:p>
            <a:r>
              <a:t>- 本地生活服务助手：处理预约、改期、退款和会员权益；</a:t>
            </a:r>
          </a:p>
          <a:p>
            <a:r>
              <a:t>- 旅游出行服务助手：处理订单、退改政策和行程变化。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智能客服变种：企业与内部服务</a:t>
            </a:r>
          </a:p>
          <a:p>
            <a:endParaRPr/>
          </a:p>
          <a:p>
            <a:r>
              <a:t>- 企业软件客户服务助手：解答产品问题、查询服务权限并创建工单；</a:t>
            </a:r>
          </a:p>
          <a:p>
            <a:r>
              <a:t>- 制造业设备售后助手：根据设备型号和故障现象提供排查和维修安排；</a:t>
            </a:r>
          </a:p>
          <a:p>
            <a:r>
              <a:t>- 经销商服务助手：查询价格、库存、订单和返利规则；</a:t>
            </a:r>
          </a:p>
          <a:p>
            <a:r>
              <a:t>- 供应商协同助手：查询采购要求、交货计划和结算状态；</a:t>
            </a:r>
          </a:p>
          <a:p>
            <a:r>
              <a:t>- 大客户服务助手：处理交付、续费、增购和服务升级。</a:t>
            </a:r>
          </a:p>
          <a:p>
            <a:endParaRPr/>
          </a:p>
          <a:p>
            <a:r>
              <a:t>- 员工人事服务助手：解答考勤、休假、薪酬和福利问题；</a:t>
            </a:r>
          </a:p>
          <a:p>
            <a:r>
              <a:t>- 企业IT服务助手：处理账号、权限、软件、设备和网络问题；</a:t>
            </a:r>
          </a:p>
          <a:p>
            <a:r>
              <a:t>- 财务共享服务助手：回答报销、发票、付款和预算问题；</a:t>
            </a:r>
          </a:p>
          <a:p>
            <a:r>
              <a:t>- 采购服务助手：查询采购申请、订单和供应商状态；</a:t>
            </a:r>
          </a:p>
          <a:p>
            <a:r>
              <a:t>- 行政服务助手：处理会议室、访客、办公用品和设备借用。</a:t>
            </a:r>
          </a:p>
          <a:p>
            <a:endParaRPr/>
          </a:p>
          <a:p>
            <a:r>
              <a:t>这一方向适合客服、运营、售后、销售支持、人事、行政、IT、财务等背景的学员。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公共项目二：业务材料审核与风险核验</a:t>
            </a:r>
          </a:p>
          <a:p>
            <a:endParaRPr/>
          </a:p>
          <a:p>
            <a:r>
              <a:t>### 1. 项目定位</a:t>
            </a:r>
          </a:p>
          <a:p>
            <a:endParaRPr/>
          </a:p>
          <a:p>
            <a:r>
              <a:t>这个项目处理企业业务流程中的合同、票据、申请表、资质证明和检测报告等材料。系统需要提取关键信息，对照业务规则进行检查，发现材料之间的差异和风险，并把不确定或高风险的问题交给人工。</a:t>
            </a:r>
          </a:p>
          <a:p>
            <a:endParaRPr/>
          </a:p>
          <a:p>
            <a:r>
              <a:t>它的复杂度来自多份材料之间的对应关系，以及确定性规则、语义判断和人工责任之间的边界。产品还要能够说明风险来自哪里，方便审核人员回到原文确认。</a:t>
            </a:r>
          </a:p>
          <a:p>
            <a:endParaRPr/>
          </a:p>
          <a:p>
            <a:r>
              <a:t>### 2. 可以应用的业务范围</a:t>
            </a:r>
          </a:p>
          <a:p>
            <a:endParaRPr/>
          </a:p>
          <a:p>
            <a:r>
              <a:t>#### 财务与费用</a:t>
            </a:r>
          </a:p>
          <a:p>
            <a:endParaRPr/>
          </a:p>
          <a:p>
            <a:r>
              <a:t>- 员工报销审核助手：核对发票、报销单、行程和费用制度；</a:t>
            </a:r>
          </a:p>
          <a:p>
            <a:r>
              <a:t>- 企业付款材料核验助手：检查合同、订单、验收单和发票是否一致；</a:t>
            </a:r>
          </a:p>
          <a:p>
            <a:r>
              <a:t>- 预算申请审核助手：核对预算科目、历史支出和审批要求。</a:t>
            </a:r>
          </a:p>
          <a:p>
            <a:endParaRPr/>
          </a:p>
          <a:p>
            <a:r>
              <a:t>#### 合同与法务</a:t>
            </a:r>
          </a:p>
          <a:p>
            <a:endParaRPr/>
          </a:p>
          <a:p>
            <a:r>
              <a:t>- 合同条款审核助手：检查付款、违约、交付和数据安全等风险；</a:t>
            </a:r>
          </a:p>
          <a:p>
            <a:r>
              <a:t>- 合同履约检查助手：检查交付、验收和付款条件是否满足；</a:t>
            </a:r>
          </a:p>
          <a:p>
            <a:r>
              <a:t>- 企业制度合规检查助手：判断申请或操作是否符合内部制度。</a:t>
            </a:r>
          </a:p>
          <a:p>
            <a:endParaRPr/>
          </a:p>
          <a:p>
            <a:r>
              <a:t>#### 采购与供应商</a:t>
            </a:r>
          </a:p>
          <a:p>
            <a:endParaRPr/>
          </a:p>
          <a:p>
            <a:r>
              <a:t>- 供应商准入审核助手：核验营业执照、资质和准入条件；</a:t>
            </a:r>
          </a:p>
          <a:p>
            <a:r>
              <a:t>- 采购申请审核助手：检查预算、询价材料和供应商选择；</a:t>
            </a:r>
          </a:p>
          <a:p>
            <a:r>
              <a:t>- 招投标文件检查助手：检查响应内容、资质和材料缺项。</a:t>
            </a:r>
          </a:p>
          <a:p>
            <a:endParaRPr/>
          </a:p>
          <a:p>
            <a:r>
              <a:t>#### 金融与保险</a:t>
            </a:r>
          </a:p>
          <a:p>
            <a:endParaRPr/>
          </a:p>
          <a:p>
            <a:r>
              <a:t>- 企业开户材料审核助手：检查企业身份、股权结构和经营证明；</a:t>
            </a:r>
          </a:p>
          <a:p>
            <a:r>
              <a:t>- 贷款申请材料预审助手：核对收入、资产、负债和资金用途；</a:t>
            </a:r>
          </a:p>
          <a:p>
            <a:r>
              <a:t>- 保险理赔材料审核助手：核对保单、事故证明和费用凭证。</a:t>
            </a:r>
          </a:p>
          <a:p>
            <a:endParaRPr/>
          </a:p>
          <a:p>
            <a:r>
              <a:t>#### 人事、行政和公共服务</a:t>
            </a:r>
          </a:p>
          <a:p>
            <a:endParaRPr/>
          </a:p>
          <a:p>
            <a:r>
              <a:t>- 招聘入职材料审核助手：检查身份、学历、经历和入职文件；</a:t>
            </a:r>
          </a:p>
          <a:p>
            <a:r>
              <a:t>- 项目申报材料预审助手：对照申报指南检查资格和附件；</a:t>
            </a:r>
          </a:p>
          <a:p>
            <a:r>
              <a:t>- 政府办事材料预审助手：提交前检查条件和材料完整性；</a:t>
            </a:r>
          </a:p>
          <a:p>
            <a:r>
              <a:t>- 质量检测报告核验助手：检查检测项目、数值、结论和签章；</a:t>
            </a:r>
          </a:p>
          <a:p>
            <a:r>
              <a:t>- 内容发布合规检查助手：检查广告和公开材料中的风险表述。</a:t>
            </a:r>
          </a:p>
          <a:p>
            <a:endParaRPr/>
          </a:p>
          <a:p>
            <a:r>
              <a:t>这一方向适合财务、法务、采购、风控、人事、政务、金融、保险和质量管理背景的学员。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材料审核变种：财务、合同与采购</a:t>
            </a:r>
          </a:p>
          <a:p>
            <a:endParaRPr/>
          </a:p>
          <a:p>
            <a:r>
              <a:t>- 员工报销审核助手：核对发票、报销单、行程和费用制度；</a:t>
            </a:r>
          </a:p>
          <a:p>
            <a:r>
              <a:t>- 企业付款材料核验助手：检查合同、订单、验收单和发票是否一致；</a:t>
            </a:r>
          </a:p>
          <a:p>
            <a:r>
              <a:t>- 预算申请审核助手：核对预算科目、历史支出和审批要求。</a:t>
            </a:r>
          </a:p>
          <a:p>
            <a:endParaRPr/>
          </a:p>
          <a:p>
            <a:r>
              <a:t>- 合同条款审核助手：检查付款、违约、交付和数据安全等风险；</a:t>
            </a:r>
          </a:p>
          <a:p>
            <a:r>
              <a:t>- 合同履约检查助手：检查交付、验收和付款条件是否满足；</a:t>
            </a:r>
          </a:p>
          <a:p>
            <a:r>
              <a:t>- 企业制度合规检查助手：判断申请或操作是否符合内部制度。</a:t>
            </a:r>
          </a:p>
          <a:p>
            <a:endParaRPr/>
          </a:p>
          <a:p>
            <a:r>
              <a:t>- 供应商准入审核助手：核验营业执照、资质和准入条件；</a:t>
            </a:r>
          </a:p>
          <a:p>
            <a:r>
              <a:t>- 采购申请审核助手：检查预算、询价材料和供应商选择；</a:t>
            </a:r>
          </a:p>
          <a:p>
            <a:r>
              <a:t>- 招投标文件检查助手：检查响应内容、资质和材料缺项。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材料审核变种：金融、人事与公共服务</a:t>
            </a:r>
          </a:p>
          <a:p>
            <a:endParaRPr/>
          </a:p>
          <a:p>
            <a:r>
              <a:t>- 企业开户材料审核助手：检查企业身份、股权结构和经营证明；</a:t>
            </a:r>
          </a:p>
          <a:p>
            <a:r>
              <a:t>- 贷款申请材料预审助手：核对收入、资产、负债和资金用途；</a:t>
            </a:r>
          </a:p>
          <a:p>
            <a:r>
              <a:t>- 保险理赔材料审核助手：核对保单、事故证明和费用凭证。</a:t>
            </a:r>
          </a:p>
          <a:p>
            <a:endParaRPr/>
          </a:p>
          <a:p>
            <a:r>
              <a:t>- 招聘入职材料审核助手：检查身份、学历、经历和入职文件；</a:t>
            </a:r>
          </a:p>
          <a:p>
            <a:r>
              <a:t>- 项目申报材料预审助手：对照申报指南检查资格和附件；</a:t>
            </a:r>
          </a:p>
          <a:p>
            <a:r>
              <a:t>- 政府办事材料预审助手：提交前检查条件和材料完整性；</a:t>
            </a:r>
          </a:p>
          <a:p>
            <a:r>
              <a:t>- 质量检测报告核验助手：检查检测项目、数值、结论和签章；</a:t>
            </a:r>
          </a:p>
          <a:p>
            <a:r>
              <a:t>- 内容发布合规检查助手：检查广告和公开材料中的风险表述。</a:t>
            </a:r>
          </a:p>
          <a:p>
            <a:endParaRPr/>
          </a:p>
          <a:p>
            <a:r>
              <a:t>这一方向适合财务、法务、采购、风控、人事、政务、金融、保险和质量管理背景的学员。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公共项目三：专业研究与方案生成</a:t>
            </a:r>
          </a:p>
          <a:p>
            <a:endParaRPr/>
          </a:p>
          <a:p>
            <a:r>
              <a:t>### 1. 项目定位</a:t>
            </a:r>
          </a:p>
          <a:p>
            <a:endParaRPr/>
          </a:p>
          <a:p>
            <a:r>
              <a:t>这个项目服务于销售、售前、产品、咨询、研究和管理等知识工作。系统需要理解复杂任务，拆解需要回答的问题，组织不同来源的材料，识别信息缺口和冲突，并形成可以由专业人员继续修改的研究或方案初稿。</a:t>
            </a:r>
          </a:p>
          <a:p>
            <a:endParaRPr/>
          </a:p>
          <a:p>
            <a:r>
              <a:t>它比普通写作助手更强调研究过程：资料从哪里来、哪些内容可以确认、哪些还需要核实、方案中的承诺由谁负责。</a:t>
            </a:r>
          </a:p>
          <a:p>
            <a:endParaRPr/>
          </a:p>
          <a:p>
            <a:r>
              <a:t>### 2. 可以应用的业务范围</a:t>
            </a:r>
          </a:p>
          <a:p>
            <a:endParaRPr/>
          </a:p>
          <a:p>
            <a:r>
              <a:t>#### 销售与售前</a:t>
            </a:r>
          </a:p>
          <a:p>
            <a:endParaRPr/>
          </a:p>
          <a:p>
            <a:r>
              <a:t>- 客户需求分析助手：整理访谈、需求文件和历史沟通；</a:t>
            </a:r>
          </a:p>
          <a:p>
            <a:r>
              <a:t>- 大客户拜访准备助手：汇总客户背景、业务动态和合作历史；</a:t>
            </a:r>
          </a:p>
          <a:p>
            <a:r>
              <a:t>- 企业解决方案生成助手：结合客户需求、产品能力和行业案例形成方案；</a:t>
            </a:r>
          </a:p>
          <a:p>
            <a:r>
              <a:t>- 招标需求分析助手：拆解资格要求、技术要求和评分标准；</a:t>
            </a:r>
          </a:p>
          <a:p>
            <a:r>
              <a:t>- 投标响应助手：将招标要求映射到产品能力和证明材料。</a:t>
            </a:r>
          </a:p>
          <a:p>
            <a:endParaRPr/>
          </a:p>
          <a:p>
            <a:r>
              <a:t>#### 产品与运营</a:t>
            </a:r>
          </a:p>
          <a:p>
            <a:endParaRPr/>
          </a:p>
          <a:p>
            <a:r>
              <a:t>- 竞品研究助手：整理功能、价格、用户评价和市场动作；</a:t>
            </a:r>
          </a:p>
          <a:p>
            <a:r>
              <a:t>- 产品机会分析助手：结合反馈、客服记录和业务数据寻找机会；</a:t>
            </a:r>
          </a:p>
          <a:p>
            <a:r>
              <a:t>- 产品规划助手：把战略目标、用户问题和业务约束整理为规划；</a:t>
            </a:r>
          </a:p>
          <a:p>
            <a:r>
              <a:t>- 用户研究分析助手：汇总访谈、问卷和反馈，提炼需求；</a:t>
            </a:r>
          </a:p>
          <a:p>
            <a:r>
              <a:t>- 运营活动方案助手：根据目标、用户和历史活动形成方案。</a:t>
            </a:r>
          </a:p>
          <a:p>
            <a:endParaRPr/>
          </a:p>
          <a:p>
            <a:r>
              <a:t>#### 行业与管理</a:t>
            </a:r>
          </a:p>
          <a:p>
            <a:endParaRPr/>
          </a:p>
          <a:p>
            <a:r>
              <a:t>- 行业研究助手：整理市场、产业链、竞争格局、政策和趋势；</a:t>
            </a:r>
          </a:p>
          <a:p>
            <a:r>
              <a:t>- 市场进入分析助手：研究新地区或新行业的需求、竞争和风险；</a:t>
            </a:r>
          </a:p>
          <a:p>
            <a:r>
              <a:t>- 政策研究助手：分析政策适用对象、影响范围和企业行动；</a:t>
            </a:r>
          </a:p>
          <a:p>
            <a:r>
              <a:t>- 经营分析助手：汇总经营数据和部门反馈，分析问题；</a:t>
            </a:r>
          </a:p>
          <a:p>
            <a:r>
              <a:t>- 战略规划助手：整理外部环境、企业能力和业务目标。</a:t>
            </a:r>
          </a:p>
          <a:p>
            <a:endParaRPr/>
          </a:p>
          <a:p>
            <a:r>
              <a:t>#### 专业服务</a:t>
            </a:r>
          </a:p>
          <a:p>
            <a:endParaRPr/>
          </a:p>
          <a:p>
            <a:r>
              <a:t>- 咨询项目研究助手：围绕客户问题组织访谈、数据和外部资料；</a:t>
            </a:r>
          </a:p>
          <a:p>
            <a:r>
              <a:t>- 投资研究助手：汇总公司、行业、财务和风险信息；</a:t>
            </a:r>
          </a:p>
          <a:p>
            <a:r>
              <a:t>- 课程研发助手：根据学习目标和参考资料设计课程；</a:t>
            </a:r>
          </a:p>
          <a:p>
            <a:r>
              <a:t>- 培训方案助手：分析组织需求和能力差距，形成培训计划；</a:t>
            </a:r>
          </a:p>
          <a:p>
            <a:r>
              <a:t>- 技术选型研究助手：对比技术方案、供应商、成本和实施风险。</a:t>
            </a:r>
          </a:p>
          <a:p>
            <a:endParaRPr/>
          </a:p>
          <a:p>
            <a:r>
              <a:t>这一方向适合产品、运营、销售、售前、咨询、市场、战略、研究、培训和管理岗位的学员。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研究与方案变种：销售、产品与运营</a:t>
            </a:r>
          </a:p>
          <a:p>
            <a:endParaRPr/>
          </a:p>
          <a:p>
            <a:r>
              <a:t>- 客户需求分析助手：整理访谈、需求文件和历史沟通；</a:t>
            </a:r>
          </a:p>
          <a:p>
            <a:r>
              <a:t>- 大客户拜访准备助手：汇总客户背景、业务动态和合作历史；</a:t>
            </a:r>
          </a:p>
          <a:p>
            <a:r>
              <a:t>- 企业解决方案生成助手：结合客户需求、产品能力和行业案例形成方案；</a:t>
            </a:r>
          </a:p>
          <a:p>
            <a:r>
              <a:t>- 招标需求分析助手：拆解资格要求、技术要求和评分标准；</a:t>
            </a:r>
          </a:p>
          <a:p>
            <a:r>
              <a:t>- 投标响应助手：将招标要求映射到产品能力和证明材料。</a:t>
            </a:r>
          </a:p>
          <a:p>
            <a:endParaRPr/>
          </a:p>
          <a:p>
            <a:r>
              <a:t>- 竞品研究助手：整理功能、价格、用户评价和市场动作；</a:t>
            </a:r>
          </a:p>
          <a:p>
            <a:r>
              <a:t>- 产品机会分析助手：结合反馈、客服记录和业务数据寻找机会；</a:t>
            </a:r>
          </a:p>
          <a:p>
            <a:r>
              <a:t>- 产品规划助手：把战略目标、用户问题和业务约束整理为规划；</a:t>
            </a:r>
          </a:p>
          <a:p>
            <a:r>
              <a:t>- 用户研究分析助手：汇总访谈、问卷和反馈，提炼需求；</a:t>
            </a:r>
          </a:p>
          <a:p>
            <a:r>
              <a:t>- 运营活动方案助手：根据目标、用户和历史活动形成方案。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研究与方案变种：行业、管理与专业服务</a:t>
            </a:r>
          </a:p>
          <a:p>
            <a:endParaRPr/>
          </a:p>
          <a:p>
            <a:r>
              <a:t>- 行业研究助手：整理市场、产业链、竞争格局、政策和趋势；</a:t>
            </a:r>
          </a:p>
          <a:p>
            <a:r>
              <a:t>- 市场进入分析助手：研究新地区或新行业的需求、竞争和风险；</a:t>
            </a:r>
          </a:p>
          <a:p>
            <a:r>
              <a:t>- 政策研究助手：分析政策适用对象、影响范围和企业行动；</a:t>
            </a:r>
          </a:p>
          <a:p>
            <a:r>
              <a:t>- 经营分析助手：汇总经营数据和部门反馈，分析问题；</a:t>
            </a:r>
          </a:p>
          <a:p>
            <a:r>
              <a:t>- 战略规划助手：整理外部环境、企业能力和业务目标。</a:t>
            </a:r>
          </a:p>
          <a:p>
            <a:endParaRPr/>
          </a:p>
          <a:p>
            <a:r>
              <a:t>- 咨询项目研究助手：围绕客户问题组织访谈、数据和外部资料；</a:t>
            </a:r>
          </a:p>
          <a:p>
            <a:r>
              <a:t>- 投资研究助手：汇总公司、行业、财务和风险信息；</a:t>
            </a:r>
          </a:p>
          <a:p>
            <a:r>
              <a:t>- 课程研发助手：根据学习目标和参考资料设计课程；</a:t>
            </a:r>
          </a:p>
          <a:p>
            <a:r>
              <a:t>- 培训方案助手：分析组织需求和能力差距，形成培训计划；</a:t>
            </a:r>
          </a:p>
          <a:p>
            <a:r>
              <a:t>- 技术选型研究助手：对比技术方案、供应商、成本和实施风险。</a:t>
            </a:r>
          </a:p>
          <a:p>
            <a:endParaRPr/>
          </a:p>
          <a:p>
            <a:r>
              <a:t>这一方向适合产品、运营、销售、售前、咨询、市场、战略、研究、培训和管理岗位的学员。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从公共项目到个人项目</a:t>
            </a:r>
          </a:p>
          <a:p>
            <a:endParaRPr/>
          </a:p>
          <a:p>
            <a:r>
              <a:t>公共项目提供方法和共同标准。个人项目至少需要根据自己的业务重新确定五件事：</a:t>
            </a:r>
          </a:p>
          <a:p>
            <a:endParaRPr/>
          </a:p>
          <a:p>
            <a:r>
              <a:t>- 用户：谁在使用；</a:t>
            </a:r>
          </a:p>
          <a:p>
            <a:r>
              <a:t>- 场景：在什么情况下遇到什么问题；</a:t>
            </a:r>
          </a:p>
          <a:p>
            <a:r>
              <a:t>- 流程：现在怎样完成；</a:t>
            </a:r>
          </a:p>
          <a:p>
            <a:r>
              <a:t>- 材料：有哪些业务数据、文档、规则和样本；</a:t>
            </a:r>
          </a:p>
          <a:p>
            <a:r>
              <a:t>- 范围：第一版准备解决到什么程度。</a:t>
            </a:r>
          </a:p>
          <a:p>
            <a:endParaRPr/>
          </a:p>
          <a:p>
            <a:r>
              <a:t>只改项目名称、行业和页面颜色，仍然是复制公共项目。用户、流程、材料、规则、异常情况和测试问题发生变化，项目才真正进入自己的业务。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个人方向的课堂选择</a:t>
            </a:r>
          </a:p>
          <a:p>
            <a:endParaRPr/>
          </a:p>
          <a:p>
            <a:r>
              <a:t>问题一：你的工作更接近哪一类？</a:t>
            </a:r>
          </a:p>
          <a:p>
            <a:endParaRPr/>
          </a:p>
          <a:p>
            <a:r>
              <a:t>- A. 回答问题、提供服务或办理业务</a:t>
            </a:r>
          </a:p>
          <a:p>
            <a:r>
              <a:t>- B. 检查材料、核对规则或发现风险</a:t>
            </a:r>
          </a:p>
          <a:p>
            <a:r>
              <a:t>- C. 搜集信息、研究问题或输出方案</a:t>
            </a:r>
          </a:p>
          <a:p>
            <a:r>
              <a:t>- D. 暂时无法归类</a:t>
            </a:r>
          </a:p>
          <a:p>
            <a:endParaRPr/>
          </a:p>
          <a:p>
            <a:r>
              <a:t>问题二：你更容易获得哪一类材料？</a:t>
            </a:r>
          </a:p>
          <a:p>
            <a:endParaRPr/>
          </a:p>
          <a:p>
            <a:r>
              <a:t>- A. 常见问题、服务规则和业务记录</a:t>
            </a:r>
          </a:p>
          <a:p>
            <a:r>
              <a:t>- B. 合同、票据、申请表和审核标准</a:t>
            </a:r>
          </a:p>
          <a:p>
            <a:r>
              <a:t>- C. 客户需求、研究资料、历史报告和方案模板</a:t>
            </a:r>
          </a:p>
          <a:p>
            <a:r>
              <a:t>- D. 暂时不确定</a:t>
            </a:r>
          </a:p>
          <a:p>
            <a:endParaRPr/>
          </a:p>
          <a:p>
            <a:r>
              <a:t>问题三：在刚才的项目变种中，哪一个与你的经历最接近？如果没有，可以写出一个属于自己的变种。</a:t>
            </a:r>
          </a:p>
          <a:p>
            <a:endParaRPr/>
          </a:p>
          <a:p>
            <a:r>
              <a:t>这一课只记录两三个可能方向，不要求正式选题。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第一课课后准备</a:t>
            </a:r>
          </a:p>
          <a:p>
            <a:endParaRPr/>
          </a:p>
          <a:p>
            <a:r>
              <a:t>&gt; 建议时长：5—8分钟</a:t>
            </a:r>
          </a:p>
          <a:p>
            <a:endParaRPr/>
          </a:p>
          <a:p>
            <a:r>
              <a:t>第一课后不需要确定最终项目，也不需要写PRD。每位学员只完成两项准备。</a:t>
            </a:r>
          </a:p>
          <a:p>
            <a:endParaRPr/>
          </a:p>
          <a:p>
            <a:r>
              <a:t>## 一、盘点三个候选场景</a:t>
            </a:r>
          </a:p>
          <a:p>
            <a:endParaRPr/>
          </a:p>
          <a:p>
            <a:r>
              <a:t>从自己的工作、行业经验或目标岗位中，找到三个真实业务场景。每个场景简单回答：</a:t>
            </a:r>
          </a:p>
          <a:p>
            <a:endParaRPr/>
          </a:p>
          <a:p>
            <a:r>
              <a:t>- 谁在使用；</a:t>
            </a:r>
          </a:p>
          <a:p>
            <a:r>
              <a:t>- 需要完成什么事情；</a:t>
            </a:r>
          </a:p>
          <a:p>
            <a:r>
              <a:t>- 现在怎样完成；</a:t>
            </a:r>
          </a:p>
          <a:p>
            <a:r>
              <a:t>- 主要问题是什么；</a:t>
            </a:r>
          </a:p>
          <a:p>
            <a:r>
              <a:t>- 会使用哪些材料；</a:t>
            </a:r>
          </a:p>
          <a:p>
            <a:r>
              <a:t>- 这些材料能否获得。</a:t>
            </a:r>
          </a:p>
          <a:p>
            <a:endParaRPr/>
          </a:p>
          <a:p>
            <a:r>
              <a:t>每个问题写一两句话即可。</a:t>
            </a:r>
          </a:p>
          <a:p>
            <a:endParaRPr/>
          </a:p>
          <a:p>
            <a:r>
              <a:t>## 二、准备一个场景的基础材料</a:t>
            </a:r>
          </a:p>
          <a:p>
            <a:endParaRPr/>
          </a:p>
          <a:p>
            <a:r>
              <a:t>从三个场景中选择自己最熟悉的一个，尝试准备：</a:t>
            </a:r>
          </a:p>
          <a:p>
            <a:endParaRPr/>
          </a:p>
          <a:p>
            <a:r>
              <a:t>- 5个常见问题或业务案例；</a:t>
            </a:r>
          </a:p>
          <a:p>
            <a:r>
              <a:t>- 1—3份相关材料；</a:t>
            </a:r>
          </a:p>
          <a:p>
            <a:r>
              <a:t>- 1个正常情况；</a:t>
            </a:r>
          </a:p>
          <a:p>
            <a:r>
              <a:t>- 1个特殊情况；</a:t>
            </a:r>
          </a:p>
          <a:p>
            <a:r>
              <a:t>- 2个暂时还不清楚的问题。</a:t>
            </a:r>
          </a:p>
          <a:p>
            <a:endParaRPr/>
          </a:p>
          <a:p>
            <a:r>
              <a:t>材料可以脱敏，也可以根据真实业务合理模拟。</a:t>
            </a:r>
          </a:p>
          <a:p>
            <a:endParaRPr/>
          </a:p>
          <a:p>
            <a:r>
              <a:t>## 三、本次不需要完成</a:t>
            </a:r>
          </a:p>
          <a:p>
            <a:endParaRPr/>
          </a:p>
          <a:p>
            <a:r>
              <a:t>- 不需要确定最终选题；</a:t>
            </a:r>
          </a:p>
          <a:p>
            <a:r>
              <a:t>- 不需要写PRD；</a:t>
            </a:r>
          </a:p>
          <a:p>
            <a:r>
              <a:t>- 不需要画原型；</a:t>
            </a:r>
          </a:p>
          <a:p>
            <a:r>
              <a:t>- 不需要选择模型；</a:t>
            </a:r>
          </a:p>
          <a:p>
            <a:r>
              <a:t>- 不需要开发产品。</a:t>
            </a:r>
          </a:p>
          <a:p>
            <a:endParaRPr/>
          </a:p>
          <a:p>
            <a:r>
              <a:t>第二课完整学习“企业智能客服与业务办理”之后，再正式确定第一个个人项目。</a:t>
            </a:r>
          </a:p>
          <a:p>
            <a:endParaRPr/>
          </a:p>
          <a:p>
            <a:r>
              <a:t>## 四、作业提交格式</a:t>
            </a:r>
          </a:p>
          <a:p>
            <a:endParaRPr/>
          </a:p>
          <a:p>
            <a:r>
              <a:t>| 候选场景 | 使用者 | 要完成的事情 | 当前问题 | 可用材料 |</a:t>
            </a:r>
          </a:p>
          <a:p>
            <a:r>
              <a:t>|---|---|---|---|---|</a:t>
            </a:r>
          </a:p>
          <a:p>
            <a:r>
              <a:t>| 场景一 |  |  |  |  |</a:t>
            </a:r>
          </a:p>
          <a:p>
            <a:r>
              <a:t>| 场景二 |  |  |  |  |</a:t>
            </a:r>
          </a:p>
          <a:p>
            <a:r>
              <a:t>| 场景三 |  |  |  |  |</a:t>
            </a:r>
          </a:p>
          <a:p>
            <a:endParaRPr/>
          </a:p>
          <a:p>
            <a:r>
              <a:t>另外附上最熟悉场景的：</a:t>
            </a:r>
          </a:p>
          <a:p>
            <a:endParaRPr/>
          </a:p>
          <a:p>
            <a:r>
              <a:t>- 5个问题或案例；</a:t>
            </a:r>
          </a:p>
          <a:p>
            <a:r>
              <a:t>- 1—3份材料；</a:t>
            </a:r>
          </a:p>
          <a:p>
            <a:r>
              <a:t>- 1个正常情况；</a:t>
            </a:r>
          </a:p>
          <a:p>
            <a:r>
              <a:t>- 1个特殊情况；</a:t>
            </a:r>
          </a:p>
          <a:p>
            <a:r>
              <a:t>- 2个未知问题。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三个候选业务场景</a:t>
            </a:r>
          </a:p>
          <a:p>
            <a:endParaRPr/>
          </a:p>
          <a:p>
            <a:r>
              <a:t>从自己的工作、行业经验或目标岗位中，找到三个真实业务场景。每个场景简单回答：</a:t>
            </a:r>
          </a:p>
          <a:p>
            <a:endParaRPr/>
          </a:p>
          <a:p>
            <a:r>
              <a:t>- 谁在使用；</a:t>
            </a:r>
          </a:p>
          <a:p>
            <a:r>
              <a:t>- 需要完成什么事情；</a:t>
            </a:r>
          </a:p>
          <a:p>
            <a:r>
              <a:t>- 现在怎样完成；</a:t>
            </a:r>
          </a:p>
          <a:p>
            <a:r>
              <a:t>- 主要问题是什么；</a:t>
            </a:r>
          </a:p>
          <a:p>
            <a:r>
              <a:t>- 会使用哪些材料；</a:t>
            </a:r>
          </a:p>
          <a:p>
            <a:r>
              <a:t>- 这些材料能否获得。</a:t>
            </a:r>
          </a:p>
          <a:p>
            <a:endParaRPr/>
          </a:p>
          <a:p>
            <a:r>
              <a:t>每个问题写一两句话即可。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最熟悉场景的基础材料</a:t>
            </a:r>
          </a:p>
          <a:p>
            <a:endParaRPr/>
          </a:p>
          <a:p>
            <a:r>
              <a:t>从三个场景中选择自己最熟悉的一个，尝试准备：</a:t>
            </a:r>
          </a:p>
          <a:p>
            <a:endParaRPr/>
          </a:p>
          <a:p>
            <a:r>
              <a:t>- 5个常见问题或业务案例；</a:t>
            </a:r>
          </a:p>
          <a:p>
            <a:r>
              <a:t>- 1—3份相关材料；</a:t>
            </a:r>
          </a:p>
          <a:p>
            <a:r>
              <a:t>- 1个正常情况；</a:t>
            </a:r>
          </a:p>
          <a:p>
            <a:r>
              <a:t>- 1个特殊情况；</a:t>
            </a:r>
          </a:p>
          <a:p>
            <a:r>
              <a:t>- 2个暂时还不清楚的问题。</a:t>
            </a:r>
          </a:p>
          <a:p>
            <a:endParaRPr/>
          </a:p>
          <a:p>
            <a:r>
              <a:t>材料可以脱敏，也可以根据真实业务合理模拟。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下一课之前不用做什么</a:t>
            </a:r>
          </a:p>
          <a:p>
            <a:endParaRPr/>
          </a:p>
          <a:p>
            <a:r>
              <a:t>- 不需要确定最终选题；</a:t>
            </a:r>
          </a:p>
          <a:p>
            <a:r>
              <a:t>- 不需要写PRD；</a:t>
            </a:r>
          </a:p>
          <a:p>
            <a:r>
              <a:t>- 不需要画原型；</a:t>
            </a:r>
          </a:p>
          <a:p>
            <a:r>
              <a:t>- 不需要选择模型；</a:t>
            </a:r>
          </a:p>
          <a:p>
            <a:r>
              <a:t>- 不需要开发产品。</a:t>
            </a:r>
          </a:p>
          <a:p>
            <a:endParaRPr/>
          </a:p>
          <a:p>
            <a:r>
              <a:t>第二课完整学习“企业智能客服与业务办理”之后，再正式确定第一个个人项目。</a:t>
            </a:r>
          </a:p>
          <a:p>
            <a:endParaRPr/>
          </a:p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5303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AI PRODUCT MANAGER · PROJECT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98448"/>
            <a:ext cx="987552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第二阶段项目
启动与准备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971800"/>
            <a:ext cx="9326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第一课｜学习方式、公共项目与个人素材准备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474720"/>
            <a:ext cx="1901952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3749039"/>
            <a:ext cx="93268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先建立共同参照，再进入正式项目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37192" y="4315968"/>
            <a:ext cx="123444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6144768"/>
            <a:ext cx="4389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第二阶段 · 项目实战班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第二阶段的学习目标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把第一阶段的知识连续地用在真实项目中</a:t>
            </a:r>
            <a:endParaRPr sz="3000" b="1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面对一个不完整的业务问题，完成分析、方案、页面、测试和修改，而不是继续分别记忆更多概念。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44109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第一阶段与第二阶段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学习重点发生变化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第一阶段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理解模型、知识库和工作流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学习需求、PRD与原型</a:t>
            </a:r>
            <a:endParaRPr sz="1440" b="0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掌握评测、成本和风险</a:t>
            </a:r>
            <a:endParaRPr sz="1440" b="0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FF7657"/>
                </a:solidFill>
                <a:latin typeface="Hiragino Sans GB"/>
                <a:ea typeface="Hiragino Sans GB"/>
              </a:rPr>
              <a:t>第二阶段</a:t>
            </a:r>
            <a:endParaRPr sz="1800" b="1" i="0" dirty="0">
              <a:solidFill>
                <a:srgbClr val="FF7657"/>
              </a:solidFill>
              <a:latin typeface="Hiragino Sans GB"/>
              <a:ea typeface="Hiragino Sans GB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从真实业务问题出发</a:t>
            </a:r>
            <a:endParaRPr sz="1440" b="0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根据需要组合已有能力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在作业修改中形成项目成果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第二阶段按照项目推进过程组织，而不是按照技术名词分课</a:t>
            </a:r>
            <a:r>
              <a:rPr sz="1500" b="1" i="0" dirty="0">
                <a:solidFill>
                  <a:srgbClr val="F5F2E9"/>
                </a:solidFill>
                <a:latin typeface="Hiragino Sans GB"/>
                <a:ea typeface="Hiragino Sans GB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80136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公共项目、个人项目与主项目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三种成果承担不同作用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3个公共项目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老师完整拆解，建立共同方法和标准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3个个人项目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每位学员结合自己的业务独立完成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1个主项目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从个人项目中选择一个继续做深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公共项目提供参照，个人项目证明方法可以迁移。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16164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一轮项目的推进方式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每个人独立完成项目，小组帮助发现问题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老师完整讲解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个人V0.1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结合自己的业务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小组互评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提出问题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老师点评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讲代表案例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个人V1.0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根据问题修改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老师讲公共项目，个人完成V0.1，小组互评，老师点评，个人修改为V1.0。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52191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互评小组怎样工作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固定4—5人，小组不共同提交项目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小组负责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阅读成员的个人项目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指出看不懂或不成立的地方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汇总最需要老师讲的问题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个人负责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独立选择项目和准备材料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独立完成并提交每个版本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根据反馈修改自己的项目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小组帮助发现问题，每个人始终拥有自己的项目。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24246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第二阶段的最终成果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三个完整项目，其中一个继续做深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3个项目方案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业务、流程、方案、页面、测试和修改记录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1个重点项目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补充更扎实的验证、迭代和作品集表达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1套面试讲法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讲清背景、关键判断、取舍和变化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最终形成三段能够解释清楚的项目经历。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第二节｜三个公共项目的选择逻辑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60273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公共项目的选择标准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先判断什么项目适合全班共同学习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A｜技术热门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使用当前最热门的技术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B｜名称先进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项目听起来足够复杂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C｜业务清楚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流程、材料和判断标准可以展示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D｜演示好看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容易快速制作一个Demo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课堂先让学员选择，老师选择C。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第二节｜三个公共项目的选择逻辑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96300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四项筛选条件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三个公共项目采用同一套标准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真实问题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对应常见而具体的业务工作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能力组合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自然使用模型、规则、系统和人工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过程可讲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材料、判断过程和异常情况可以展示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容易迁移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能够发展出多个行业和岗位的变种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项目是否适合教学，取决于能否把业务判断讲清楚。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第二节｜三个公共项目的选择逻辑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32328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项目不按技术方向划分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先面对业务问题，再选择需要的能力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同一个项目通常会同时使用大模型、知识库、接口、规则、工作流和人工处理。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第二节｜三个公共项目的选择逻辑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6835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三个公共项目覆盖的问题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从人、材料和复杂任务三个入口切入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29992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公共项目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处理对象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主要目标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重点能力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智能客服与业务办理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问题和办理请求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回答并推动服务完成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对话、知识、系统连接、业务闭环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材料审核与风险核验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合同、票据和申请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发现缺失、差异和风险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提取、规则、语义判断、人工复核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专业研究与方案生成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复杂任务和多来源资料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形成研究或解决方案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任务拆解、资料组织、来源核实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三类项目覆盖服务、审核和知识工作中的核心产品问题。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第二节｜三个公共项目的选择逻辑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04383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为什么没有单独设置C端公共项目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项目可点评性比B端或C端标签更重要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公共项目需要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全班可以理解的业务流程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可以准备和展示的材料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相对一致的评价标准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很多C端项目依赖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真实用户和流量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行为数据与增长实验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留存和长期运营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有真实用户、经验或数据的学员，仍然可以选择C端个人项目。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4041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三个公共项目与个人项目方向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听项目时关注两件事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47823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与经历的距离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478231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哪一类工作和自己的岗位、行业最接近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377440"/>
            <a:ext cx="47823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材料可获得性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798064"/>
            <a:ext cx="478231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哪一类项目的资料、规则或案例可以找到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先形成两三个可能方向，本课不做正式选择。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76437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公共项目一：企业智能客服与业务办理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面向客户、员工或合作伙伴的统一服务入口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理解请求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识别意图与信息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获取答案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知识与业务数据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办理业务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规则与工作流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处理异常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人工接管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把咨询、业务查询、办理和转人工连接成完整服务流程。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12465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智能客服变种：面向消费者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同一方法可以进入多种C端服务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210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个人项目方向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主要处理的事情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电商售后服务助手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订单查询、退换货政策、退款与异常售后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在线教育学员服务助手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课程咨询、请假、补课、延期与退款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银行或保险服务助手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账户问题、业务引导、理赔材料与进度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医疗服务助手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科室选择、预约、检查准备与复诊提醒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旅游与本地生活服务助手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预约、改期、退改政策、会员权益与行程变化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服务流程、业务数据和办理规则决定项目差异。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48492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智能客服变种：企业与内部服务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客户、伙伴和员工都可能成为服务对象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210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个人项目方向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主要处理的事情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企业软件客户服务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产品使用、账户权限和技术支持工单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设备售后或经销商服务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故障排查、备件、库存、订单和返利规则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员工人事与行政服务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考勤福利、证明申请、访客和办公资源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企业IT服务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账号、权限、软件、设备和网络问题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财务或采购服务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报销、付款、预算、采购申请与供应商状态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这一方向适合客服、运营、售后、人事、IT、财务和采购背景。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84519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公共项目二：业务材料审核与风险核验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处理合同、票据、申请表和资质证明等业务材料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读取材料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文本、表格与图片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提取信息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关键字段与关系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执行核验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规则与语义判断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人工复核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风险定位与处理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多份材料互相核对，同时处理确定性规则、语义风险和人工责任。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20547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材料审核变种：财务、合同与采购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材料和规则改变，审核方法可以迁移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210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个人项目方向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主要处理的事情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报销或付款材料审核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核对发票、报销单、合同、订单和验收单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预算申请审核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检查预算科目、历史支出和审批要求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合同条款与履约检查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检查风险条款、交付、验收和付款条件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供应商准入审核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核验营业执照、资质和准入条件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采购或招投标材料检查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核对预算、询价、响应内容和资质缺项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真实审核清单、字段、规则和异常情况是项目基础。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56574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材料审核变种：金融、人事与公共服务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高风险结果需要定位原文并交给人工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210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个人项目方向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主要处理的事情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开户、贷款或理赔预审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核对企业身份、资产负债、保单和事故材料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招聘入职材料审核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检查身份、学历、经历和入职文件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项目申报或办事材料预审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对照指南检查资格、条件和附件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质量报告核验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检查检测项目、数值、结论和签章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内容发布合规检查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发现广告或公开材料中的风险表述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这一方向适合财务、法务、采购、风控、人事、金融和质量管理背景。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92601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公共项目三：专业研究与方案生成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围绕复杂任务组织资料并形成专业交付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理解任务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目标、问题与限制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收集资料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内部与外部来源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形成方案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分析、简报或建议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专业审阅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来源、缺口与责任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iragino Sans GB"/>
                <a:ea typeface="Hiragino Sans GB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让研究过程可检查，让专业人员能够核实来源、修改判断并承担最终责任。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28629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研究与方案变种：销售、产品与运营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重点在任务拆解和资料使用，不是直接生成长文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210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个人项目方向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主要处理的事情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客户需求与大客户简报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整理需求、客户背景、合作历史和拜访准备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解决方案与投标响应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把客户要求映射到产品能力和证明材料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竞品与产品机会研究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整理竞品、用户反馈、市场信息和业务数据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产品规划与用户研究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汇总目标、约束、访谈和问卷形成判断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运营活动方案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结合目标用户、历史活动和渠道情况形成计划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选择自己能够判断内容对错的专业领域。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64656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研究与方案变种：行业、管理与专业服务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复杂任务可以迁移到多类知识工作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210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个人项目方向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主要处理的事情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行业、市场或政策研究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整理市场、竞争、政策、趋势和业务影响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经营分析与战略规划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汇总经营数据、部门反馈、目标和外部环境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咨询或投资研究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围绕问题组织访谈、公司、行业和风险资料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课程研发与培训方案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根据学习目标、资料和能力差距设计内容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技术选型研究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比较技术方案、供应商、成本和实施风险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这一方向适合产品、运营、销售、咨询、研究、培训和管理岗位。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00684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从公共项目到个人项目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个人项目至少需要重新确定五件事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谁在使用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何时遇到什么问题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现在怎样完成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数据、文档、规则和样本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范围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第一版解决到哪里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用户、流程、材料和判断没有变化，就只是给公共项目换了名字。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36711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个人方向的课堂选择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先记录可能方向，不正式选题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A｜服务与办理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回答问题、提供服务或办理业务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B｜审核与核验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检查材料、核对规则或发现风险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C｜研究与方案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搜集信息、研究问题或输出方案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D｜暂不确定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继续观察自己的工作和可用材料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再写下与自己经历最接近的两个项目变种。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72738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第一课课后准备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本次只完成两项轻量准备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47823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三个候选场景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478231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从工作、行业经验或目标岗位中寻找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377440"/>
            <a:ext cx="47823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一组基础材料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798064"/>
            <a:ext cx="478231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从最熟悉的场景准备少量问题和样本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第一课后不确定最终项目，也不写PRD。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08766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三个候选业务场景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每个问题写一两句话即可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候选场景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使用者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要完成的事情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当前问题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可用材料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场景一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场景三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优先选择自己熟悉、能够获得材料、能够判断结果的场景。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44793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最熟悉场景的基础材料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数量不必多，材料可以脱敏或合理模拟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5个问题或案例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真实用户、客户或同事可能遇到的问题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1—3份材料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制度、表单、记录、文档或业务样例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1个正常情况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业务正常完成的过程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1个特殊情况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最容易出错或需要人工判断的情况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2个未知问题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当前无法回答、后续需要核实的内容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未知问题也要如实记录，它们会影响后续产品边界。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下一课之前不用做什么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先准备业务素材，第二课后再进入正式项目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本次不用完成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最终选题与完整PRD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页面原型和技术方案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模型选择与产品开发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下一步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第二课学习智能客服公共项目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课后正式确定第一个个人项目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形成项目V0.1并进入第三课点评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先建立共同参照，再开始正式项目。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4699</Words>
  <Application>Microsoft Macintosh PowerPoint</Application>
  <PresentationFormat>宽屏</PresentationFormat>
  <Paragraphs>1199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Hiragino Sans GB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didi</cp:lastModifiedBy>
  <cp:revision>2</cp:revision>
  <dcterms:created xsi:type="dcterms:W3CDTF">2013-01-27T09:14:16Z</dcterms:created>
  <dcterms:modified xsi:type="dcterms:W3CDTF">2026-09-06T11:22:28Z</dcterms:modified>
  <cp:category/>
</cp:coreProperties>
</file>