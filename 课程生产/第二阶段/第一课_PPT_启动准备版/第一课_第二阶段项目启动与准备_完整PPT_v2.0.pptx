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这节课不要求学员正式立项，也不要求写PRD。先讲清项目阶段怎样学习，再用一个足够小的案例展示完整过程，最后让学员回到自己的工作经历，准备第二课以后真正选题所需的素材。</a:t>
            </a:r>
          </a:p>
          <a:p/>
          <a:p>
            <a:r>
              <a:t>[课程规划来源]</a:t>
            </a:r>
          </a:p>
          <a:p>
            <a:r>
              <a:t>/Users/keivn/Project/AI-Course/课程生产/第二阶段/00_第二阶段_AI项目实战班_10次课总体规划_v0.3.md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第一，理解第二阶段的课程安排和作业节奏。第二，看懂一个AI项目从原始问题到第一版产品方案的最短路径。第三，盘点自己熟悉的业务场景和能拿到的材料。不要在这一页引导学员立刻选项目。</a:t>
            </a:r>
          </a:p>
          <a:p/>
          <a:p>
            <a:r>
              <a:t>[课程规划来源]</a:t>
            </a:r>
          </a:p>
          <a:p>
            <a:r>
              <a:t>/Users/keivn/Project/AI-Course/课程生产/第二阶段/00_第二阶段_AI项目实战班_10次课总体规划_v0.3.md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一阶段主要解决‘这些概念分别是什么、怎样使用’。第二阶段解决‘面对一个真实而不完整的问题，怎样把这些知识连续地用起来’。模型、提示词、知识库、工作流、原型、PRD、评测和成本都会在项目需要时重新出现。</a:t>
            </a:r>
          </a:p>
          <a:p/>
          <a:p>
            <a:r>
              <a:t>[课程规划来源]</a:t>
            </a:r>
          </a:p>
          <a:p>
            <a:r>
              <a:t>/Users/keivn/Project/AI-Course/课程生产/第二阶段/00_第二阶段_AI项目实战班_10次课总体规划_v0.3.md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十次课由启动课、三轮公共项目与个人项目、深化课、作品集课和路演课组成。公共项目课可以讲三小时；启动课不必强行拉满两小时，重点是让学生知道接下来怎样学、怎样准备。</a:t>
            </a:r>
          </a:p>
          <a:p/>
          <a:p>
            <a:r>
              <a:t>[课程规划来源]</a:t>
            </a:r>
          </a:p>
          <a:p>
            <a:r>
              <a:t>/Users/keivn/Project/AI-Course/课程生产/第二阶段/00_第二阶段_AI项目实战班_10次课总体规划_v0.3.md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老师讲三个公共项目，是为了建立可以反复使用的方法和质量标准；学员做三个个人项目，是为了把方法放到自己的行业、经历和材料中。最后从三个个人项目里挑一个继续做深。</a:t>
            </a:r>
          </a:p>
          <a:p/>
          <a:p>
            <a:r>
              <a:t>[课程规划来源]</a:t>
            </a:r>
          </a:p>
          <a:p>
            <a:r>
              <a:t>/Users/keivn/Project/AI-Course/课程生产/第二阶段/00_第二阶段_AI项目实战班_10次课总体规划_v0.3.md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每一轮先完整拆解一个公共项目，再让学员提交个人项目V0.1，下一次课集中点评和现场修改。点评不是给分，而是让学员看到边界、流程、页面和测试怎样被一步步改好。</a:t>
            </a:r>
          </a:p>
          <a:p/>
          <a:p>
            <a:r>
              <a:t>[课程规划来源]</a:t>
            </a:r>
          </a:p>
          <a:p>
            <a:r>
              <a:t>/Users/keivn/Project/AI-Course/课程生产/第二阶段/00_第二阶段_AI项目实战班_10次课总体规划_v0.3.md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三个个人项目都要能讲清业务、方案、流程、页面、测试和修改过程，其中一个继续做到更扎实的验证和作品集表达。最终不是三份空泛PRD，而是三段能够面试讲述的项目经历。</a:t>
            </a:r>
          </a:p>
          <a:p/>
          <a:p>
            <a:r>
              <a:t>[课程规划来源]</a:t>
            </a:r>
          </a:p>
          <a:p>
            <a:r>
              <a:t>/Users/keivn/Project/AI-Course/课程生产/第二阶段/00_第二阶段_AI项目实战班_10次课总体规划_v0.3.md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三个公共项目都比较大，如果一上来就讲客服、审核或专业研究，学员容易被功能数量淹没。先用一个二十分钟能看完的小项目，只为了看懂项目的骨架，不把它计入三个正式项目。</a:t>
            </a:r>
          </a:p>
          <a:p/>
          <a:p>
            <a:r>
              <a:t>[课程规划来源]</a:t>
            </a:r>
          </a:p>
          <a:p>
            <a:r>
              <a:t>/Users/keivn/Project/AI-Course/课程生产/第二阶段/00_第二阶段_AI项目实战班_10次课总体规划_v0.3.md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先请学员像真实工作一样读这段话，不要立刻解释答案。提醒他们：人能理解其中的承诺、风险和依赖关系，但普通会议摘要常常只把句子缩短，没有变成可执行信息。</a:t>
            </a:r>
          </a:p>
          <a:p/>
          <a:p>
            <a:r>
              <a:t>[课程规划来源]</a:t>
            </a:r>
          </a:p>
          <a:p>
            <a:r>
              <a:t>/Users/keivn/Project/AI-Course/课程生产/第二阶段/00_第二阶段_AI项目实战班_10次课总体规划_v0.3.md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让学员先选。A只提负责人和截止时间会漏掉条件和风险；B只有摘要不够执行；C更接近产品输出；D把所有原话保存下来没有解决信息过载。选择后再展示老师的判断。</a:t>
            </a:r>
          </a:p>
          <a:p/>
          <a:p>
            <a:r>
              <a:t>[课程规划来源]</a:t>
            </a:r>
          </a:p>
          <a:p>
            <a:r>
              <a:t>/Users/keivn/Project/AI-Course/课程生产/第二阶段/00_第二阶段_AI项目实战班_10次课总体规划_v0.3.md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这里展示的是结构化结果，不是模型直接输出的最终答案。风险、明确待办、条件待办和决定需要分开。条件待办只有在前置条件满足时才真正进入任务列表。</a:t>
            </a:r>
          </a:p>
          <a:p/>
          <a:p>
            <a:r>
              <a:t>[课程规划来源]</a:t>
            </a:r>
          </a:p>
          <a:p>
            <a:r>
              <a:t>/Users/keivn/Project/AI-Course/课程生产/第二阶段/00_第二阶段_AI项目实战班_10次课总体规划_v0.3.md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摘要回答‘会议说了什么’，待办助手回答‘接下来谁要做什么、什么时候做、受什么条件影响、哪些地方需要确认’。这就是从内容生成走向产品任务的关键变化。</a:t>
            </a:r>
          </a:p>
          <a:p/>
          <a:p>
            <a:r>
              <a:t>[课程规划来源]</a:t>
            </a:r>
          </a:p>
          <a:p>
            <a:r>
              <a:t>/Users/keivn/Project/AI-Course/课程生产/第二阶段/00_第二阶段_AI项目实战班_10次课总体规划_v0.3.md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用户是频繁参加项目例会、会后需要追踪事项的人；使用时刻是会议结束后；当前流程是手工回听、复制和确认；产品输出是可确认、可同步的结构化行动清单。</a:t>
            </a:r>
          </a:p>
          <a:p/>
          <a:p>
            <a:r>
              <a:t>[课程规划来源]</a:t>
            </a:r>
          </a:p>
          <a:p>
            <a:r>
              <a:t>/Users/keivn/Project/AI-Course/课程生产/第二阶段/00_第二阶段_AI项目实战班_10次课总体规划_v0.3.md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模型擅长理解自然语言和隐含关系；规则负责日期格式、必填项和确定性校验；系统负责保存、展示、提醒和同步；人工负责确认歧义、风险和最终承诺。不要把所有步骤都描述成‘让大模型做’。</a:t>
            </a:r>
          </a:p>
          <a:p/>
          <a:p>
            <a:r>
              <a:t>[课程规划来源]</a:t>
            </a:r>
          </a:p>
          <a:p>
            <a:r>
              <a:t>/Users/keivn/Project/AI-Course/课程生产/第二阶段/00_第二阶段_AI项目实战班_10次课总体规划_v0.3.md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第一版只处理单次会议文本，提取任务、负责人、时间、条件、风险和决定，并允许人工确认。暂不做跨会议长期追踪、自动修改外部系统、复杂权限和企业级数据治理。</a:t>
            </a:r>
          </a:p>
          <a:p/>
          <a:p>
            <a:r>
              <a:t>[课程规划来源]</a:t>
            </a:r>
          </a:p>
          <a:p>
            <a:r>
              <a:t>/Users/keivn/Project/AI-Course/课程生产/第二阶段/00_第二阶段_AI项目实战班_10次课总体规划_v0.3.md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先接收会议转写，再识别信息类型，随后做规则校验和歧义提示，由人工确认后才进入任务系统。流程里必须保留人工确认，因为原文可能没有明确负责人或日期。</a:t>
            </a:r>
          </a:p>
          <a:p/>
          <a:p>
            <a:r>
              <a:t>[课程规划来源]</a:t>
            </a:r>
          </a:p>
          <a:p>
            <a:r>
              <a:t>/Users/keivn/Project/AI-Course/课程生产/第二阶段/00_第二阶段_AI项目实战班_10次课总体规划_v0.3.md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第一页解决输入和处理范围；第二页解决分类结果、修改、确认和同步。小项目不需要画十几张页面，只要把最关键的决策和交互画清楚。</a:t>
            </a:r>
          </a:p>
          <a:p/>
          <a:p>
            <a:r>
              <a:t>[课程规划来源]</a:t>
            </a:r>
          </a:p>
          <a:p>
            <a:r>
              <a:t>/Users/keivn/Project/AI-Course/课程生产/第二阶段/00_第二阶段_AI项目实战班_10次课总体规划_v0.3.md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测试集不只放正常样本，还要有负责人缺失、相对日期、条件任务、互相矛盾和纯讨论无任务等情况。异常样本要能回到规则、提示词、流程或人工确认机制中修改。</a:t>
            </a:r>
          </a:p>
          <a:p/>
          <a:p>
            <a:r>
              <a:t>[课程规划来源]</a:t>
            </a:r>
          </a:p>
          <a:p>
            <a:r>
              <a:t>/Users/keivn/Project/AI-Course/课程生产/第二阶段/00_第二阶段_AI项目实战班_10次课总体规划_v0.3.md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回看整个案例：它虽然只有两张页面，却有明确用户、输入、处理、分工、输出、边界和测试。这说明项目完整度不等于功能数量，关键是决策链条是否闭合。</a:t>
            </a:r>
          </a:p>
          <a:p/>
          <a:p>
            <a:r>
              <a:t>[课程规划来源]</a:t>
            </a:r>
          </a:p>
          <a:p>
            <a:r>
              <a:t>/Users/keivn/Project/AI-Course/课程生产/第二阶段/00_第二阶段_AI项目实战班_10次课总体规划_v0.3.md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公共项目让所有人面对同一份业务材料，看到老师怎样判断需求、安排能力、收缩MVP、设计页面和测试。它是共同参照，不是让所有学员复制同一个名字。</a:t>
            </a:r>
          </a:p>
          <a:p/>
          <a:p>
            <a:r>
              <a:t>[课程规划来源]</a:t>
            </a:r>
          </a:p>
          <a:p>
            <a:r>
              <a:t>/Users/keivn/Project/AI-Course/课程生产/第二阶段/00_第二阶段_AI项目实战班_10次课总体规划_v0.3.md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同一种方法可以进入不同业务：知识问答可以是员工服务、售后或政策咨询；材料审核可以是合同、报销或准入；专业研究可以是投研、咨询或售前方案。业务内容要来自学员自己的经历。</a:t>
            </a:r>
          </a:p>
          <a:p/>
          <a:p>
            <a:r>
              <a:t>[课程规划来源]</a:t>
            </a:r>
          </a:p>
          <a:p>
            <a:r>
              <a:t>/Users/keivn/Project/AI-Course/课程生产/第二阶段/00_第二阶段_AI项目实战班_10次课总体规划_v0.3.md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只替换行业名和Logo属于改名；重新定义用户、流程、材料、规则、风险和成功标准，才算真正做成自己的项目。第三课点评时会重点追问这些内容从哪里来。</a:t>
            </a:r>
          </a:p>
          <a:p/>
          <a:p>
            <a:r>
              <a:t>[课程规划来源]</a:t>
            </a:r>
          </a:p>
          <a:p>
            <a:r>
              <a:t>/Users/keivn/Project/AI-Course/课程生产/第二阶段/00_第二阶段_AI项目实战班_10次课总体规划_v0.3.md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五问是后续所有项目共用的骨架：谁遇到什么问题；现在怎样做；有哪些真实材料；AI进入哪一步以及和规则、系统、人工怎样分工；第一版做到哪里、怎样判断有效。</a:t>
            </a:r>
          </a:p>
          <a:p/>
          <a:p>
            <a:r>
              <a:t>[课程规划来源]</a:t>
            </a:r>
          </a:p>
          <a:p>
            <a:r>
              <a:t>/Users/keivn/Project/AI-Course/课程生产/第二阶段/00_第二阶段_AI项目实战班_10次课总体规划_v0.3.md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学员还没学完第一个公共项目，因此现在要求写完整五问只会逼出猜测和套模板。本次只让他们带着五问观察自己的工作，第二课后再提交正式项目V0.1。</a:t>
            </a:r>
          </a:p>
          <a:p/>
          <a:p>
            <a:r>
              <a:t>[课程规划来源]</a:t>
            </a:r>
          </a:p>
          <a:p>
            <a:r>
              <a:t>/Users/keivn/Project/AI-Course/课程生产/第二阶段/00_第二阶段_AI项目实战班_10次课总体规划_v0.3.md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重点不是做一个只会聊天的机器人，而是把咨询、业务查询、业务办理和转人工连成可控流程。学员会练习知识、接口、规则和人工服务怎样分工。</a:t>
            </a:r>
          </a:p>
          <a:p/>
          <a:p>
            <a:r>
              <a:t>[课程规划来源]</a:t>
            </a:r>
          </a:p>
          <a:p>
            <a:r>
              <a:t>/Users/keivn/Project/AI-Course/课程生产/第二阶段/00_第二阶段_AI项目实战班_10次课总体规划_v0.3.md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重点是从合同、单据、申请材料等内容中提取字段、按规则核验、发现差异并把高风险事项交给人工。项目会训练确定性规则与模型判断的边界。</a:t>
            </a:r>
          </a:p>
          <a:p/>
          <a:p>
            <a:r>
              <a:t>[课程规划来源]</a:t>
            </a:r>
          </a:p>
          <a:p>
            <a:r>
              <a:t>/Users/keivn/Project/AI-Course/课程生产/第二阶段/00_第二阶段_AI项目实战班_10次课总体规划_v0.3.md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重点是理解复杂要求，查找可信资料，形成结构化分析或方案，并保留来源、缺口和人工修改。它比普通写作助手更强调研究过程和专业责任。</a:t>
            </a:r>
          </a:p>
          <a:p/>
          <a:p>
            <a:r>
              <a:t>[课程规划来源]</a:t>
            </a:r>
          </a:p>
          <a:p>
            <a:r>
              <a:t>/Users/keivn/Project/AI-Course/课程生产/第二阶段/00_第二阶段_AI项目实战班_10次课总体规划_v0.3.md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作业不是选题卡，而是一张准备表。让学员写三个自己熟悉的真实场景，说明谁在什么时候做什么、现在怎样做、哪里最麻烦、能否拿到材料。最后只圈出一个最熟悉的场景，不要求定项目。</a:t>
            </a:r>
          </a:p>
          <a:p/>
          <a:p>
            <a:r>
              <a:t>[课程规划来源]</a:t>
            </a:r>
          </a:p>
          <a:p>
            <a:r>
              <a:t>/Users/keivn/Project/AI-Course/课程生产/第二阶段/00_第二阶段_AI项目实战班_10次课总体规划_v0.3.md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如果可以，准备五个真实问题、一到三份脱敏材料和一个异常情况。材料可以是FAQ、制度、表单、聊天记录、会议纪要或流程说明。拿不到材料也要如实写出来，这会直接影响后续选题。</a:t>
            </a:r>
          </a:p>
          <a:p/>
          <a:p>
            <a:r>
              <a:t>[课程规划来源]</a:t>
            </a:r>
          </a:p>
          <a:p>
            <a:r>
              <a:t>/Users/keivn/Project/AI-Course/课程生产/第二阶段/00_第二阶段_AI项目实战班_10次课总体规划_v0.3.md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不用写PRD、不用画原型、不用选模型、不用承诺效果。第二课先完整学习企业智能客服项目；之后24小时提交选题卡，三到五天完成第一个个人项目V0.1，第三课进入点评。</a:t>
            </a:r>
          </a:p>
          <a:p/>
          <a:p>
            <a:r>
              <a:t>[课程规划来源]</a:t>
            </a:r>
          </a:p>
          <a:p>
            <a:r>
              <a:t>/Users/keivn/Project/AI-Course/课程生产/第二阶段/00_第二阶段_AI项目实战班_10次课总体规划_v0.3.md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0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56032" y="0"/>
            <a:ext cx="146304" cy="6858000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603504"/>
            <a:ext cx="530352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36D6C2"/>
                </a:solidFill>
                <a:latin typeface="Hiragino Sans GB"/>
                <a:ea typeface="Hiragino Sans GB"/>
              </a:rPr>
              <a:t>AI PRODUCT MANAGER · PROJECT STAGE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298448"/>
            <a:ext cx="9875520" cy="132588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4300" b="1" i="0">
                <a:solidFill>
                  <a:srgbClr val="F5F2E9"/>
                </a:solidFill>
                <a:latin typeface="Hiragino Sans GB"/>
                <a:ea typeface="Hiragino Sans GB"/>
              </a:rPr>
              <a:t>第二阶段项目
启动与准备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9536" y="2971800"/>
            <a:ext cx="8961120" cy="40233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5F2E9"/>
                </a:solidFill>
                <a:latin typeface="Hiragino Sans GB"/>
                <a:ea typeface="Hiragino Sans GB"/>
              </a:rPr>
              <a:t>第一课｜课程安排、项目示例与个人素材准备</a:t>
            </a:r>
          </a:p>
        </p:txBody>
      </p:sp>
      <p:sp>
        <p:nvSpPr>
          <p:cNvPr id="6" name="Rectangle 5"/>
          <p:cNvSpPr/>
          <p:nvPr/>
        </p:nvSpPr>
        <p:spPr>
          <a:xfrm>
            <a:off x="859536" y="3474720"/>
            <a:ext cx="1901952" cy="45720"/>
          </a:xfrm>
          <a:prstGeom prst="rect">
            <a:avLst/>
          </a:prstGeom>
          <a:solidFill>
            <a:srgbClr val="FF76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9536" y="3749039"/>
            <a:ext cx="8778240" cy="54864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A7B5BC"/>
                </a:solidFill>
                <a:latin typeface="Hiragino Sans GB"/>
                <a:ea typeface="Hiragino Sans GB"/>
              </a:rPr>
              <a:t>先看懂项目怎样完成，再准备自己的业务素材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37192" y="4315968"/>
            <a:ext cx="123444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0" b="1" i="0">
                <a:solidFill>
                  <a:srgbClr val="36D6C2"/>
                </a:solidFill>
                <a:latin typeface="Hiragino Sans GB"/>
                <a:ea typeface="Hiragino Sans GB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6144768"/>
            <a:ext cx="4389120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A7B5BC"/>
                </a:solidFill>
                <a:latin typeface="Hiragino Sans GB"/>
                <a:ea typeface="Hiragino Sans GB"/>
              </a:rPr>
              <a:t>第二阶段 · 项目实战班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0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4944" y="182880"/>
            <a:ext cx="9692640" cy="329184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36D6C2"/>
                </a:solidFill>
                <a:latin typeface="Hiragino Sans GB"/>
                <a:ea typeface="Hiragino Sans GB"/>
              </a:rPr>
              <a:t>课程导入｜第二阶段项目启动与准备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00232" y="201168"/>
            <a:ext cx="502920" cy="27432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7B5BC"/>
                </a:solidFill>
                <a:latin typeface="Hiragino Sans GB"/>
                <a:ea typeface="Hiragino Sans GB"/>
              </a:rPr>
              <a:t>02</a:t>
            </a:r>
          </a:p>
        </p:txBody>
      </p:sp>
      <p:sp>
        <p:nvSpPr>
          <p:cNvPr id="4" name="Rectangle 3"/>
          <p:cNvSpPr/>
          <p:nvPr/>
        </p:nvSpPr>
        <p:spPr>
          <a:xfrm>
            <a:off x="694944" y="6556248"/>
            <a:ext cx="10808208" cy="12801"/>
          </a:xfrm>
          <a:prstGeom prst="rect">
            <a:avLst/>
          </a:prstGeom>
          <a:solidFill>
            <a:srgbClr val="416A7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deckkit-motif-quiet"/>
          <p:cNvSpPr/>
          <p:nvPr/>
        </p:nvSpPr>
        <p:spPr>
          <a:xfrm>
            <a:off x="694944" y="6501384"/>
            <a:ext cx="720547" cy="36576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658368"/>
            <a:ext cx="10716768" cy="56692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F5F2E9"/>
                </a:solidFill>
                <a:latin typeface="Hiragino Sans GB"/>
                <a:ea typeface="Hiragino Sans GB"/>
              </a:rPr>
              <a:t>今天只完成三件事</a:t>
            </a:r>
          </a:p>
        </p:txBody>
      </p:sp>
      <p:sp>
        <p:nvSpPr>
          <p:cNvPr id="7" name="deckkit-motif-quiet"/>
          <p:cNvSpPr/>
          <p:nvPr/>
        </p:nvSpPr>
        <p:spPr>
          <a:xfrm>
            <a:off x="713232" y="1261872"/>
            <a:ext cx="1335024" cy="41148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371600"/>
            <a:ext cx="10661904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A7B5BC"/>
                </a:solidFill>
                <a:latin typeface="Hiragino Sans GB"/>
                <a:ea typeface="Hiragino Sans GB"/>
              </a:rPr>
              <a:t>不正式立项，也不写完整PRD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1883664"/>
            <a:ext cx="3401568" cy="3694175"/>
          </a:xfrm>
          <a:prstGeom prst="roundRect">
            <a:avLst>
              <a:gd name="adj" fmla="val 4301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50976" y="2084832"/>
            <a:ext cx="530352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6D6C2"/>
                </a:solidFill>
                <a:latin typeface="Hiragino Sans GB"/>
                <a:ea typeface="Hiragino Sans GB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976" y="2377440"/>
            <a:ext cx="2999232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F5F2E9"/>
                </a:solidFill>
                <a:latin typeface="Hiragino Sans GB"/>
                <a:ea typeface="Hiragino Sans GB"/>
              </a:rPr>
              <a:t>看懂学习方式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0976" y="2798064"/>
            <a:ext cx="2999232" cy="2670047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A7B5BC"/>
                </a:solidFill>
                <a:latin typeface="Hiragino Sans GB"/>
                <a:ea typeface="Hiragino Sans GB"/>
              </a:rPr>
              <a:t>第二阶段怎样上课、做作业和接受点评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15968" y="1883664"/>
            <a:ext cx="3401568" cy="3694175"/>
          </a:xfrm>
          <a:prstGeom prst="roundRect">
            <a:avLst>
              <a:gd name="adj" fmla="val 4301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17136" y="2084832"/>
            <a:ext cx="530352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0C565"/>
                </a:solidFill>
                <a:latin typeface="Hiragino Sans GB"/>
                <a:ea typeface="Hiragino Sans GB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17136" y="2377440"/>
            <a:ext cx="2999232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F5F2E9"/>
                </a:solidFill>
                <a:latin typeface="Hiragino Sans GB"/>
                <a:ea typeface="Hiragino Sans GB"/>
              </a:rPr>
              <a:t>看懂一个小项目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17136" y="2798064"/>
            <a:ext cx="2999232" cy="2670047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A7B5BC"/>
                </a:solidFill>
                <a:latin typeface="Hiragino Sans GB"/>
                <a:ea typeface="Hiragino Sans GB"/>
              </a:rPr>
              <a:t>从原始问题走到第一版产品方案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882128" y="1883664"/>
            <a:ext cx="3401568" cy="3694175"/>
          </a:xfrm>
          <a:prstGeom prst="roundRect">
            <a:avLst>
              <a:gd name="adj" fmla="val 4301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83296" y="2084832"/>
            <a:ext cx="530352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7657"/>
                </a:solidFill>
                <a:latin typeface="Hiragino Sans GB"/>
                <a:ea typeface="Hiragino Sans GB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83296" y="2377440"/>
            <a:ext cx="2999232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F5F2E9"/>
                </a:solidFill>
                <a:latin typeface="Hiragino Sans GB"/>
                <a:ea typeface="Hiragino Sans GB"/>
              </a:rPr>
              <a:t>准备个人素材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83296" y="2798064"/>
            <a:ext cx="2999232" cy="2670047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A7B5BC"/>
                </a:solidFill>
                <a:latin typeface="Hiragino Sans GB"/>
                <a:ea typeface="Hiragino Sans GB"/>
              </a:rPr>
              <a:t>盘点真实场景、业务材料和异常情况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49808" y="5742432"/>
            <a:ext cx="10533888" cy="548640"/>
          </a:xfrm>
          <a:prstGeom prst="roundRect">
            <a:avLst>
              <a:gd name="adj" fmla="val 23333"/>
            </a:avLst>
          </a:prstGeom>
          <a:solidFill>
            <a:srgbClr val="133843"/>
          </a:solidFill>
          <a:ln w="701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50976" y="5870448"/>
            <a:ext cx="1133856" cy="25603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7657"/>
                </a:solidFill>
                <a:latin typeface="Hiragino Sans GB"/>
                <a:ea typeface="Hiragino Sans GB"/>
              </a:rPr>
              <a:t>本页重点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57400" y="5843016"/>
            <a:ext cx="8887968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5F2E9"/>
                </a:solidFill>
                <a:latin typeface="Hiragino Sans GB"/>
                <a:ea typeface="Hiragino Sans GB"/>
              </a:rPr>
              <a:t>第二课之后，再开始第一个个人项目。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0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4944" y="182880"/>
            <a:ext cx="9692640" cy="329184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36D6C2"/>
                </a:solidFill>
                <a:latin typeface="Hiragino Sans GB"/>
                <a:ea typeface="Hiragino Sans GB"/>
              </a:rPr>
              <a:t>第一节｜第二阶段怎样学习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00232" y="201168"/>
            <a:ext cx="502920" cy="27432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7B5BC"/>
                </a:solidFill>
                <a:latin typeface="Hiragino Sans GB"/>
                <a:ea typeface="Hiragino Sans GB"/>
              </a:rPr>
              <a:t>03</a:t>
            </a:r>
          </a:p>
        </p:txBody>
      </p:sp>
      <p:sp>
        <p:nvSpPr>
          <p:cNvPr id="4" name="Rectangle 3"/>
          <p:cNvSpPr/>
          <p:nvPr/>
        </p:nvSpPr>
        <p:spPr>
          <a:xfrm>
            <a:off x="694944" y="6556248"/>
            <a:ext cx="10808208" cy="12801"/>
          </a:xfrm>
          <a:prstGeom prst="rect">
            <a:avLst/>
          </a:prstGeom>
          <a:solidFill>
            <a:srgbClr val="416A7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deckkit-motif-quiet"/>
          <p:cNvSpPr/>
          <p:nvPr/>
        </p:nvSpPr>
        <p:spPr>
          <a:xfrm>
            <a:off x="694944" y="6501384"/>
            <a:ext cx="1080820" cy="36576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658368"/>
            <a:ext cx="10716768" cy="56692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F5F2E9"/>
                </a:solidFill>
                <a:latin typeface="Hiragino Sans GB"/>
                <a:ea typeface="Hiragino Sans GB"/>
              </a:rPr>
              <a:t>第一阶段与第二阶段</a:t>
            </a:r>
          </a:p>
        </p:txBody>
      </p:sp>
      <p:sp>
        <p:nvSpPr>
          <p:cNvPr id="7" name="deckkit-motif-quiet"/>
          <p:cNvSpPr/>
          <p:nvPr/>
        </p:nvSpPr>
        <p:spPr>
          <a:xfrm>
            <a:off x="713232" y="1261872"/>
            <a:ext cx="1335024" cy="41148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371600"/>
            <a:ext cx="10661904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A7B5BC"/>
                </a:solidFill>
                <a:latin typeface="Hiragino Sans GB"/>
                <a:ea typeface="Hiragino Sans GB"/>
              </a:rPr>
              <a:t>学习目标从‘知道’变成‘连续完成’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1883664"/>
            <a:ext cx="5157216" cy="3621024"/>
          </a:xfrm>
          <a:prstGeom prst="roundRect">
            <a:avLst>
              <a:gd name="adj" fmla="val 4040"/>
            </a:avLst>
          </a:prstGeom>
          <a:solidFill>
            <a:srgbClr val="102B37"/>
          </a:solidFill>
          <a:ln w="9715">
            <a:solidFill>
              <a:srgbClr val="36D6C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084832"/>
            <a:ext cx="4645152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36D6C2"/>
                </a:solidFill>
                <a:latin typeface="Hiragino Sans GB"/>
                <a:ea typeface="Hiragino Sans GB"/>
              </a:rPr>
              <a:t>第一阶段｜建立知识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7" y="2788920"/>
            <a:ext cx="91440" cy="91440"/>
          </a:xfrm>
          <a:prstGeom prst="roundRect">
            <a:avLst>
              <a:gd name="adj" fmla="val 50000"/>
            </a:avLst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61872" y="2633472"/>
            <a:ext cx="4352544" cy="43891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F5F2E9"/>
                </a:solidFill>
                <a:latin typeface="Hiragino Sans GB"/>
                <a:ea typeface="Hiragino Sans GB"/>
              </a:rPr>
              <a:t>模型与提示词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24127" y="3675888"/>
            <a:ext cx="91440" cy="91440"/>
          </a:xfrm>
          <a:prstGeom prst="roundRect">
            <a:avLst>
              <a:gd name="adj" fmla="val 50000"/>
            </a:avLst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61872" y="3520440"/>
            <a:ext cx="4352544" cy="43891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F5F2E9"/>
                </a:solidFill>
                <a:latin typeface="Hiragino Sans GB"/>
                <a:ea typeface="Hiragino Sans GB"/>
              </a:rPr>
              <a:t>工作流、知识库与智能体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24127" y="4562856"/>
            <a:ext cx="91440" cy="91440"/>
          </a:xfrm>
          <a:prstGeom prst="roundRect">
            <a:avLst>
              <a:gd name="adj" fmla="val 50000"/>
            </a:avLst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61872" y="4407408"/>
            <a:ext cx="4352544" cy="43891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F5F2E9"/>
                </a:solidFill>
                <a:latin typeface="Hiragino Sans GB"/>
                <a:ea typeface="Hiragino Sans GB"/>
              </a:rPr>
              <a:t>PRD、原型、评测与成本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26480" y="1883664"/>
            <a:ext cx="5157216" cy="3621024"/>
          </a:xfrm>
          <a:prstGeom prst="roundRect">
            <a:avLst>
              <a:gd name="adj" fmla="val 4040"/>
            </a:avLst>
          </a:prstGeom>
          <a:solidFill>
            <a:srgbClr val="102B37"/>
          </a:solidFill>
          <a:ln w="9715">
            <a:solidFill>
              <a:srgbClr val="FF765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82512" y="2084832"/>
            <a:ext cx="4645152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F7657"/>
                </a:solidFill>
                <a:latin typeface="Hiragino Sans GB"/>
                <a:ea typeface="Hiragino Sans GB"/>
              </a:rPr>
              <a:t>第二阶段｜完成项目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2788920"/>
            <a:ext cx="91440" cy="91440"/>
          </a:xfrm>
          <a:prstGeom prst="roundRect">
            <a:avLst>
              <a:gd name="adj" fmla="val 50000"/>
            </a:avLst>
          </a:prstGeom>
          <a:solidFill>
            <a:srgbClr val="FF76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38544" y="2633472"/>
            <a:ext cx="4352544" cy="43891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F5F2E9"/>
                </a:solidFill>
                <a:latin typeface="Hiragino Sans GB"/>
                <a:ea typeface="Hiragino Sans GB"/>
              </a:rPr>
              <a:t>从真实问题出发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0" y="3675888"/>
            <a:ext cx="91440" cy="91440"/>
          </a:xfrm>
          <a:prstGeom prst="roundRect">
            <a:avLst>
              <a:gd name="adj" fmla="val 50000"/>
            </a:avLst>
          </a:prstGeom>
          <a:solidFill>
            <a:srgbClr val="FF76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38544" y="3520440"/>
            <a:ext cx="4352544" cy="43891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F5F2E9"/>
                </a:solidFill>
                <a:latin typeface="Hiragino Sans GB"/>
                <a:ea typeface="Hiragino Sans GB"/>
              </a:rPr>
              <a:t>组合使用已有知识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0" y="4562856"/>
            <a:ext cx="91440" cy="91440"/>
          </a:xfrm>
          <a:prstGeom prst="roundRect">
            <a:avLst>
              <a:gd name="adj" fmla="val 50000"/>
            </a:avLst>
          </a:prstGeom>
          <a:solidFill>
            <a:srgbClr val="FF76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38544" y="4407408"/>
            <a:ext cx="4352544" cy="43891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F5F2E9"/>
                </a:solidFill>
                <a:latin typeface="Hiragino Sans GB"/>
                <a:ea typeface="Hiragino Sans GB"/>
              </a:rPr>
              <a:t>在点评和修改中形成作品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49808" y="5742432"/>
            <a:ext cx="10533888" cy="548640"/>
          </a:xfrm>
          <a:prstGeom prst="roundRect">
            <a:avLst>
              <a:gd name="adj" fmla="val 23333"/>
            </a:avLst>
          </a:prstGeom>
          <a:solidFill>
            <a:srgbClr val="133843"/>
          </a:solidFill>
          <a:ln w="701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50976" y="5870448"/>
            <a:ext cx="1133856" cy="25603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7657"/>
                </a:solidFill>
                <a:latin typeface="Hiragino Sans GB"/>
                <a:ea typeface="Hiragino Sans GB"/>
              </a:rPr>
              <a:t>判断标准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57400" y="5843016"/>
            <a:ext cx="8887968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5F2E9"/>
                </a:solidFill>
                <a:latin typeface="Hiragino Sans GB"/>
                <a:ea typeface="Hiragino Sans GB"/>
              </a:rPr>
              <a:t>不再按知识点分章，而是按项目推进过程重新调用知识。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0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4944" y="182880"/>
            <a:ext cx="9692640" cy="329184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36D6C2"/>
                </a:solidFill>
                <a:latin typeface="Hiragino Sans GB"/>
                <a:ea typeface="Hiragino Sans GB"/>
              </a:rPr>
              <a:t>第一节｜第二阶段怎样学习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00232" y="201168"/>
            <a:ext cx="502920" cy="27432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7B5BC"/>
                </a:solidFill>
                <a:latin typeface="Hiragino Sans GB"/>
                <a:ea typeface="Hiragino Sans GB"/>
              </a:rPr>
              <a:t>04</a:t>
            </a:r>
          </a:p>
        </p:txBody>
      </p:sp>
      <p:sp>
        <p:nvSpPr>
          <p:cNvPr id="4" name="Rectangle 3"/>
          <p:cNvSpPr/>
          <p:nvPr/>
        </p:nvSpPr>
        <p:spPr>
          <a:xfrm>
            <a:off x="694944" y="6556248"/>
            <a:ext cx="10808208" cy="12801"/>
          </a:xfrm>
          <a:prstGeom prst="rect">
            <a:avLst/>
          </a:prstGeom>
          <a:solidFill>
            <a:srgbClr val="416A7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deckkit-motif-quiet"/>
          <p:cNvSpPr/>
          <p:nvPr/>
        </p:nvSpPr>
        <p:spPr>
          <a:xfrm>
            <a:off x="694944" y="6501384"/>
            <a:ext cx="1441094" cy="36576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658368"/>
            <a:ext cx="10716768" cy="56692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F5F2E9"/>
                </a:solidFill>
                <a:latin typeface="Hiragino Sans GB"/>
                <a:ea typeface="Hiragino Sans GB"/>
              </a:rPr>
              <a:t>十次课的整体安排</a:t>
            </a:r>
          </a:p>
        </p:txBody>
      </p:sp>
      <p:sp>
        <p:nvSpPr>
          <p:cNvPr id="7" name="deckkit-motif-quiet"/>
          <p:cNvSpPr/>
          <p:nvPr/>
        </p:nvSpPr>
        <p:spPr>
          <a:xfrm>
            <a:off x="713232" y="1261872"/>
            <a:ext cx="1335024" cy="41148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371600"/>
            <a:ext cx="10661904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A7B5BC"/>
                </a:solidFill>
                <a:latin typeface="Hiragino Sans GB"/>
                <a:ea typeface="Hiragino Sans GB"/>
              </a:rPr>
              <a:t>启动 → 三轮项目 → 深化 → 作品集与路演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1901952"/>
            <a:ext cx="1938528" cy="1115568"/>
          </a:xfrm>
          <a:prstGeom prst="roundRect">
            <a:avLst>
              <a:gd name="adj" fmla="val 13114"/>
            </a:avLst>
          </a:prstGeom>
          <a:solidFill>
            <a:srgbClr val="102B37"/>
          </a:solidFill>
          <a:ln w="8636">
            <a:solidFill>
              <a:srgbClr val="36D6C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048256"/>
            <a:ext cx="411480" cy="21945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6D6C2"/>
                </a:solidFill>
                <a:latin typeface="Hiragino Sans GB"/>
                <a:ea typeface="Hiragino Sans GB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77440"/>
            <a:ext cx="1591056" cy="34747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F5F2E9"/>
                </a:solidFill>
                <a:latin typeface="Hiragino Sans GB"/>
                <a:ea typeface="Hiragino Sans GB"/>
              </a:rPr>
              <a:t>启动准备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2651760" y="2386584"/>
            <a:ext cx="246888" cy="128016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416A7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871215" y="1901952"/>
            <a:ext cx="1938528" cy="1115568"/>
          </a:xfrm>
          <a:prstGeom prst="roundRect">
            <a:avLst>
              <a:gd name="adj" fmla="val 13114"/>
            </a:avLst>
          </a:prstGeom>
          <a:solidFill>
            <a:srgbClr val="102B37"/>
          </a:solidFill>
          <a:ln w="8636">
            <a:solidFill>
              <a:srgbClr val="36D6C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35808" y="2048256"/>
            <a:ext cx="411480" cy="21945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6D6C2"/>
                </a:solidFill>
                <a:latin typeface="Hiragino Sans GB"/>
                <a:ea typeface="Hiragino Sans GB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35808" y="2377440"/>
            <a:ext cx="1591056" cy="34747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F5F2E9"/>
                </a:solidFill>
                <a:latin typeface="Hiragino Sans GB"/>
                <a:ea typeface="Hiragino Sans GB"/>
              </a:rPr>
              <a:t>公共项目一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4773168" y="2386584"/>
            <a:ext cx="246888" cy="128016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416A7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992624" y="1901952"/>
            <a:ext cx="1938528" cy="1115568"/>
          </a:xfrm>
          <a:prstGeom prst="roundRect">
            <a:avLst>
              <a:gd name="adj" fmla="val 13114"/>
            </a:avLst>
          </a:prstGeom>
          <a:solidFill>
            <a:srgbClr val="102B37"/>
          </a:solidFill>
          <a:ln w="8636">
            <a:solidFill>
              <a:srgbClr val="FF765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57216" y="2048256"/>
            <a:ext cx="411480" cy="21945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7657"/>
                </a:solidFill>
                <a:latin typeface="Hiragino Sans GB"/>
                <a:ea typeface="Hiragino Sans GB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57216" y="2377440"/>
            <a:ext cx="1591056" cy="34747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F5F2E9"/>
                </a:solidFill>
                <a:latin typeface="Hiragino Sans GB"/>
                <a:ea typeface="Hiragino Sans GB"/>
              </a:rPr>
              <a:t>项目一点评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6894576" y="2386584"/>
            <a:ext cx="246888" cy="128016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416A7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114031" y="1901952"/>
            <a:ext cx="1938528" cy="1115568"/>
          </a:xfrm>
          <a:prstGeom prst="roundRect">
            <a:avLst>
              <a:gd name="adj" fmla="val 13114"/>
            </a:avLst>
          </a:prstGeom>
          <a:solidFill>
            <a:srgbClr val="102B37"/>
          </a:solidFill>
          <a:ln w="8636">
            <a:solidFill>
              <a:srgbClr val="36D6C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278623" y="2048256"/>
            <a:ext cx="411480" cy="21945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6D6C2"/>
                </a:solidFill>
                <a:latin typeface="Hiragino Sans GB"/>
                <a:ea typeface="Hiragino Sans GB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78623" y="2377440"/>
            <a:ext cx="1591056" cy="34747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F5F2E9"/>
                </a:solidFill>
                <a:latin typeface="Hiragino Sans GB"/>
                <a:ea typeface="Hiragino Sans GB"/>
              </a:rPr>
              <a:t>公共项目二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9015984" y="2386584"/>
            <a:ext cx="246888" cy="128016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416A7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235440" y="1901952"/>
            <a:ext cx="1938528" cy="1115568"/>
          </a:xfrm>
          <a:prstGeom prst="roundRect">
            <a:avLst>
              <a:gd name="adj" fmla="val 13114"/>
            </a:avLst>
          </a:prstGeom>
          <a:solidFill>
            <a:srgbClr val="102B37"/>
          </a:solidFill>
          <a:ln w="8636">
            <a:solidFill>
              <a:srgbClr val="FF765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400032" y="2048256"/>
            <a:ext cx="411480" cy="21945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7657"/>
                </a:solidFill>
                <a:latin typeface="Hiragino Sans GB"/>
                <a:ea typeface="Hiragino Sans GB"/>
              </a:rP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00032" y="2377440"/>
            <a:ext cx="1591056" cy="34747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F5F2E9"/>
                </a:solidFill>
                <a:latin typeface="Hiragino Sans GB"/>
                <a:ea typeface="Hiragino Sans GB"/>
              </a:rPr>
              <a:t>项目二点评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49808" y="3474720"/>
            <a:ext cx="1938528" cy="1115568"/>
          </a:xfrm>
          <a:prstGeom prst="roundRect">
            <a:avLst>
              <a:gd name="adj" fmla="val 13114"/>
            </a:avLst>
          </a:prstGeom>
          <a:solidFill>
            <a:srgbClr val="102B37"/>
          </a:solidFill>
          <a:ln w="8636">
            <a:solidFill>
              <a:srgbClr val="36D6C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3621024"/>
            <a:ext cx="411480" cy="21945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6D6C2"/>
                </a:solidFill>
                <a:latin typeface="Hiragino Sans GB"/>
                <a:ea typeface="Hiragino Sans GB"/>
              </a:rPr>
              <a:t>06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3950208"/>
            <a:ext cx="1591056" cy="34747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F5F2E9"/>
                </a:solidFill>
                <a:latin typeface="Hiragino Sans GB"/>
                <a:ea typeface="Hiragino Sans GB"/>
              </a:rPr>
              <a:t>公共项目三</a:t>
            </a:r>
          </a:p>
        </p:txBody>
      </p:sp>
      <p:sp>
        <p:nvSpPr>
          <p:cNvPr id="31" name="Right Arrow 30"/>
          <p:cNvSpPr/>
          <p:nvPr/>
        </p:nvSpPr>
        <p:spPr>
          <a:xfrm>
            <a:off x="2651760" y="3959352"/>
            <a:ext cx="246888" cy="128016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416A7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2871215" y="3474720"/>
            <a:ext cx="1938528" cy="1115568"/>
          </a:xfrm>
          <a:prstGeom prst="roundRect">
            <a:avLst>
              <a:gd name="adj" fmla="val 13114"/>
            </a:avLst>
          </a:prstGeom>
          <a:solidFill>
            <a:srgbClr val="102B37"/>
          </a:solidFill>
          <a:ln w="8636">
            <a:solidFill>
              <a:srgbClr val="FF765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035808" y="3621024"/>
            <a:ext cx="411480" cy="21945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7657"/>
                </a:solidFill>
                <a:latin typeface="Hiragino Sans GB"/>
                <a:ea typeface="Hiragino Sans GB"/>
              </a:rPr>
              <a:t>07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035808" y="3950208"/>
            <a:ext cx="1591056" cy="34747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F5F2E9"/>
                </a:solidFill>
                <a:latin typeface="Hiragino Sans GB"/>
                <a:ea typeface="Hiragino Sans GB"/>
              </a:rPr>
              <a:t>项目三点评</a:t>
            </a:r>
          </a:p>
        </p:txBody>
      </p:sp>
      <p:sp>
        <p:nvSpPr>
          <p:cNvPr id="35" name="Right Arrow 34"/>
          <p:cNvSpPr/>
          <p:nvPr/>
        </p:nvSpPr>
        <p:spPr>
          <a:xfrm>
            <a:off x="4773168" y="3959352"/>
            <a:ext cx="246888" cy="128016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416A7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4992624" y="3474720"/>
            <a:ext cx="1938528" cy="1115568"/>
          </a:xfrm>
          <a:prstGeom prst="roundRect">
            <a:avLst>
              <a:gd name="adj" fmla="val 13114"/>
            </a:avLst>
          </a:prstGeom>
          <a:solidFill>
            <a:srgbClr val="102B37"/>
          </a:solidFill>
          <a:ln w="8636">
            <a:solidFill>
              <a:srgbClr val="F0C56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157216" y="3621024"/>
            <a:ext cx="411480" cy="21945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0C565"/>
                </a:solidFill>
                <a:latin typeface="Hiragino Sans GB"/>
                <a:ea typeface="Hiragino Sans GB"/>
              </a:rPr>
              <a:t>08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157216" y="3950208"/>
            <a:ext cx="1591056" cy="34747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F5F2E9"/>
                </a:solidFill>
                <a:latin typeface="Hiragino Sans GB"/>
                <a:ea typeface="Hiragino Sans GB"/>
              </a:rPr>
              <a:t>主项目深化</a:t>
            </a:r>
          </a:p>
        </p:txBody>
      </p:sp>
      <p:sp>
        <p:nvSpPr>
          <p:cNvPr id="39" name="Right Arrow 38"/>
          <p:cNvSpPr/>
          <p:nvPr/>
        </p:nvSpPr>
        <p:spPr>
          <a:xfrm>
            <a:off x="6894576" y="3959352"/>
            <a:ext cx="246888" cy="128016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416A7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7114031" y="3474720"/>
            <a:ext cx="1938528" cy="1115568"/>
          </a:xfrm>
          <a:prstGeom prst="roundRect">
            <a:avLst>
              <a:gd name="adj" fmla="val 13114"/>
            </a:avLst>
          </a:prstGeom>
          <a:solidFill>
            <a:srgbClr val="102B37"/>
          </a:solidFill>
          <a:ln w="8636">
            <a:solidFill>
              <a:srgbClr val="68D39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278623" y="3621024"/>
            <a:ext cx="411480" cy="21945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68D391"/>
                </a:solidFill>
                <a:latin typeface="Hiragino Sans GB"/>
                <a:ea typeface="Hiragino Sans GB"/>
              </a:rPr>
              <a:t>09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278623" y="3950208"/>
            <a:ext cx="1591056" cy="34747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F5F2E9"/>
                </a:solidFill>
                <a:latin typeface="Hiragino Sans GB"/>
                <a:ea typeface="Hiragino Sans GB"/>
              </a:rPr>
              <a:t>作品集与简历</a:t>
            </a:r>
          </a:p>
        </p:txBody>
      </p:sp>
      <p:sp>
        <p:nvSpPr>
          <p:cNvPr id="43" name="Right Arrow 42"/>
          <p:cNvSpPr/>
          <p:nvPr/>
        </p:nvSpPr>
        <p:spPr>
          <a:xfrm>
            <a:off x="9015984" y="3959352"/>
            <a:ext cx="246888" cy="128016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416A7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9235440" y="3474720"/>
            <a:ext cx="1938528" cy="1115568"/>
          </a:xfrm>
          <a:prstGeom prst="roundRect">
            <a:avLst>
              <a:gd name="adj" fmla="val 13114"/>
            </a:avLst>
          </a:prstGeom>
          <a:solidFill>
            <a:srgbClr val="102B37"/>
          </a:solidFill>
          <a:ln w="8636">
            <a:solidFill>
              <a:srgbClr val="68D39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400032" y="3621024"/>
            <a:ext cx="411480" cy="21945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68D391"/>
                </a:solidFill>
                <a:latin typeface="Hiragino Sans GB"/>
                <a:ea typeface="Hiragino Sans GB"/>
              </a:rPr>
              <a:t>10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400032" y="3950208"/>
            <a:ext cx="1591056" cy="34747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F5F2E9"/>
                </a:solidFill>
                <a:latin typeface="Hiragino Sans GB"/>
                <a:ea typeface="Hiragino Sans GB"/>
              </a:rPr>
              <a:t>路演与总结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49808" y="5742432"/>
            <a:ext cx="10533888" cy="548640"/>
          </a:xfrm>
          <a:prstGeom prst="roundRect">
            <a:avLst>
              <a:gd name="adj" fmla="val 23333"/>
            </a:avLst>
          </a:prstGeom>
          <a:solidFill>
            <a:srgbClr val="133843"/>
          </a:solidFill>
          <a:ln w="701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50976" y="5870448"/>
            <a:ext cx="1133856" cy="25603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7657"/>
                </a:solidFill>
                <a:latin typeface="Hiragino Sans GB"/>
                <a:ea typeface="Hiragino Sans GB"/>
              </a:rPr>
              <a:t>课程节奏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057400" y="5843016"/>
            <a:ext cx="8887968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5F2E9"/>
                </a:solidFill>
                <a:latin typeface="Hiragino Sans GB"/>
                <a:ea typeface="Hiragino Sans GB"/>
              </a:rPr>
              <a:t>公共项目讲深，个人项目在点评和修改中完成。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0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4944" y="182880"/>
            <a:ext cx="9692640" cy="329184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36D6C2"/>
                </a:solidFill>
                <a:latin typeface="Hiragino Sans GB"/>
                <a:ea typeface="Hiragino Sans GB"/>
              </a:rPr>
              <a:t>第一节｜第二阶段怎样学习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00232" y="201168"/>
            <a:ext cx="502920" cy="27432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7B5BC"/>
                </a:solidFill>
                <a:latin typeface="Hiragino Sans GB"/>
                <a:ea typeface="Hiragino Sans GB"/>
              </a:rPr>
              <a:t>05</a:t>
            </a:r>
          </a:p>
        </p:txBody>
      </p:sp>
      <p:sp>
        <p:nvSpPr>
          <p:cNvPr id="4" name="Rectangle 3"/>
          <p:cNvSpPr/>
          <p:nvPr/>
        </p:nvSpPr>
        <p:spPr>
          <a:xfrm>
            <a:off x="694944" y="6556248"/>
            <a:ext cx="10808208" cy="12801"/>
          </a:xfrm>
          <a:prstGeom prst="rect">
            <a:avLst/>
          </a:prstGeom>
          <a:solidFill>
            <a:srgbClr val="416A7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deckkit-motif-quiet"/>
          <p:cNvSpPr/>
          <p:nvPr/>
        </p:nvSpPr>
        <p:spPr>
          <a:xfrm>
            <a:off x="694944" y="6501384"/>
            <a:ext cx="1801368" cy="36576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658368"/>
            <a:ext cx="10716768" cy="56692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F5F2E9"/>
                </a:solidFill>
                <a:latin typeface="Hiragino Sans GB"/>
                <a:ea typeface="Hiragino Sans GB"/>
              </a:rPr>
              <a:t>公共项目与个人项目</a:t>
            </a:r>
          </a:p>
        </p:txBody>
      </p:sp>
      <p:sp>
        <p:nvSpPr>
          <p:cNvPr id="7" name="deckkit-motif-quiet"/>
          <p:cNvSpPr/>
          <p:nvPr/>
        </p:nvSpPr>
        <p:spPr>
          <a:xfrm>
            <a:off x="713232" y="1261872"/>
            <a:ext cx="1335024" cy="41148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371600"/>
            <a:ext cx="10661904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A7B5BC"/>
                </a:solidFill>
                <a:latin typeface="Hiragino Sans GB"/>
                <a:ea typeface="Hiragino Sans GB"/>
              </a:rPr>
              <a:t>课堂建立参照，课后换到自己的业务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1956816"/>
            <a:ext cx="2880360" cy="3236976"/>
          </a:xfrm>
          <a:prstGeom prst="roundRect">
            <a:avLst>
              <a:gd name="adj" fmla="val 5079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50976" y="2157984"/>
            <a:ext cx="530352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6D6C2"/>
                </a:solidFill>
                <a:latin typeface="Hiragino Sans GB"/>
                <a:ea typeface="Hiragino Sans GB"/>
              </a:rPr>
              <a:t>课堂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976" y="2450592"/>
            <a:ext cx="2478024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5F2E9"/>
                </a:solidFill>
                <a:latin typeface="Hiragino Sans GB"/>
                <a:ea typeface="Hiragino Sans GB"/>
              </a:rPr>
              <a:t>3个公共项目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0976" y="2871216"/>
            <a:ext cx="2478024" cy="221284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A7B5BC"/>
                </a:solidFill>
                <a:latin typeface="Hiragino Sans GB"/>
                <a:ea typeface="Hiragino Sans GB"/>
              </a:rPr>
              <a:t>老师完整拆解
统一业务材料
统一判断方法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3749039" y="3401568"/>
            <a:ext cx="694944" cy="182880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645152" y="1956816"/>
            <a:ext cx="2880360" cy="3236976"/>
          </a:xfrm>
          <a:prstGeom prst="roundRect">
            <a:avLst>
              <a:gd name="adj" fmla="val 5079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46320" y="2157984"/>
            <a:ext cx="530352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7657"/>
                </a:solidFill>
                <a:latin typeface="Hiragino Sans GB"/>
                <a:ea typeface="Hiragino Sans GB"/>
              </a:rPr>
              <a:t>课后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46320" y="2450592"/>
            <a:ext cx="2478024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5F2E9"/>
                </a:solidFill>
                <a:latin typeface="Hiragino Sans GB"/>
                <a:ea typeface="Hiragino Sans GB"/>
              </a:rPr>
              <a:t>3个个人项目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46320" y="2871216"/>
            <a:ext cx="2478024" cy="221284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A7B5BC"/>
                </a:solidFill>
                <a:latin typeface="Hiragino Sans GB"/>
                <a:ea typeface="Hiragino Sans GB"/>
              </a:rPr>
              <a:t>结合个人经历
重新定义业务
提交并接受点评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7644383" y="3401568"/>
            <a:ext cx="694944" cy="182880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F0C56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394192" y="1956816"/>
            <a:ext cx="2880360" cy="3236976"/>
          </a:xfrm>
          <a:prstGeom prst="roundRect">
            <a:avLst>
              <a:gd name="adj" fmla="val 5079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95360" y="2157984"/>
            <a:ext cx="530352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68D391"/>
                </a:solidFill>
                <a:latin typeface="Hiragino Sans GB"/>
                <a:ea typeface="Hiragino Sans GB"/>
              </a:rPr>
              <a:t>深化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95360" y="2450592"/>
            <a:ext cx="2478024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5F2E9"/>
                </a:solidFill>
                <a:latin typeface="Hiragino Sans GB"/>
                <a:ea typeface="Hiragino Sans GB"/>
              </a:rPr>
              <a:t>1个主项目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95360" y="2871216"/>
            <a:ext cx="2478024" cy="221284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A7B5BC"/>
                </a:solidFill>
                <a:latin typeface="Hiragino Sans GB"/>
                <a:ea typeface="Hiragino Sans GB"/>
              </a:rPr>
              <a:t>继续做深验证
整理版本变化
形成作品集表达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0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4944" y="182880"/>
            <a:ext cx="9692640" cy="329184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36D6C2"/>
                </a:solidFill>
                <a:latin typeface="Hiragino Sans GB"/>
                <a:ea typeface="Hiragino Sans GB"/>
              </a:rPr>
              <a:t>第一节｜第二阶段怎样学习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00232" y="201168"/>
            <a:ext cx="502920" cy="27432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7B5BC"/>
                </a:solidFill>
                <a:latin typeface="Hiragino Sans GB"/>
                <a:ea typeface="Hiragino Sans GB"/>
              </a:rPr>
              <a:t>06</a:t>
            </a:r>
          </a:p>
        </p:txBody>
      </p:sp>
      <p:sp>
        <p:nvSpPr>
          <p:cNvPr id="4" name="Rectangle 3"/>
          <p:cNvSpPr/>
          <p:nvPr/>
        </p:nvSpPr>
        <p:spPr>
          <a:xfrm>
            <a:off x="694944" y="6556248"/>
            <a:ext cx="10808208" cy="12801"/>
          </a:xfrm>
          <a:prstGeom prst="rect">
            <a:avLst/>
          </a:prstGeom>
          <a:solidFill>
            <a:srgbClr val="416A7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deckkit-motif-quiet"/>
          <p:cNvSpPr/>
          <p:nvPr/>
        </p:nvSpPr>
        <p:spPr>
          <a:xfrm>
            <a:off x="694944" y="6501384"/>
            <a:ext cx="2161641" cy="36576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658368"/>
            <a:ext cx="10716768" cy="56692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F5F2E9"/>
                </a:solidFill>
                <a:latin typeface="Hiragino Sans GB"/>
                <a:ea typeface="Hiragino Sans GB"/>
              </a:rPr>
              <a:t>一轮项目怎样推进</a:t>
            </a:r>
          </a:p>
        </p:txBody>
      </p:sp>
      <p:sp>
        <p:nvSpPr>
          <p:cNvPr id="7" name="deckkit-motif-quiet"/>
          <p:cNvSpPr/>
          <p:nvPr/>
        </p:nvSpPr>
        <p:spPr>
          <a:xfrm>
            <a:off x="713232" y="1261872"/>
            <a:ext cx="1335024" cy="41148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371600"/>
            <a:ext cx="10661904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A7B5BC"/>
                </a:solidFill>
                <a:latin typeface="Hiragino Sans GB"/>
                <a:ea typeface="Hiragino Sans GB"/>
              </a:rPr>
              <a:t>每个个人项目都经历一次完整修改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1938528"/>
            <a:ext cx="1989734" cy="3529584"/>
          </a:xfrm>
          <a:prstGeom prst="roundRect">
            <a:avLst>
              <a:gd name="adj" fmla="val 7352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50976" y="2139696"/>
            <a:ext cx="530352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6D6C2"/>
                </a:solidFill>
                <a:latin typeface="Hiragino Sans GB"/>
                <a:ea typeface="Hiragino Sans GB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976" y="2432304"/>
            <a:ext cx="1587398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70" b="1" i="0">
                <a:solidFill>
                  <a:srgbClr val="F5F2E9"/>
                </a:solidFill>
                <a:latin typeface="Hiragino Sans GB"/>
                <a:ea typeface="Hiragino Sans GB"/>
              </a:rPr>
              <a:t>公共项目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0976" y="2852928"/>
            <a:ext cx="1587398" cy="250545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60" b="0" i="0">
                <a:solidFill>
                  <a:srgbClr val="A7B5BC"/>
                </a:solidFill>
                <a:latin typeface="Hiragino Sans GB"/>
                <a:ea typeface="Hiragino Sans GB"/>
              </a:rPr>
              <a:t>老师完整拆解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2730398" y="3630168"/>
            <a:ext cx="182880" cy="146304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885846" y="1938528"/>
            <a:ext cx="1989734" cy="3529584"/>
          </a:xfrm>
          <a:prstGeom prst="roundRect">
            <a:avLst>
              <a:gd name="adj" fmla="val 7352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87014" y="2139696"/>
            <a:ext cx="530352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6D6C2"/>
                </a:solidFill>
                <a:latin typeface="Hiragino Sans GB"/>
                <a:ea typeface="Hiragino Sans GB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87014" y="2432304"/>
            <a:ext cx="1587398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70" b="1" i="0">
                <a:solidFill>
                  <a:srgbClr val="F5F2E9"/>
                </a:solidFill>
                <a:latin typeface="Hiragino Sans GB"/>
                <a:ea typeface="Hiragino Sans GB"/>
              </a:rPr>
              <a:t>个人V0.1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87014" y="2852928"/>
            <a:ext cx="1587398" cy="250545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60" b="0" i="0">
                <a:solidFill>
                  <a:srgbClr val="A7B5BC"/>
                </a:solidFill>
                <a:latin typeface="Hiragino Sans GB"/>
                <a:ea typeface="Hiragino Sans GB"/>
              </a:rPr>
              <a:t>换到自己的业务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4866436" y="3630168"/>
            <a:ext cx="182880" cy="146304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021884" y="1938528"/>
            <a:ext cx="1989734" cy="3529584"/>
          </a:xfrm>
          <a:prstGeom prst="roundRect">
            <a:avLst>
              <a:gd name="adj" fmla="val 7352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223052" y="2139696"/>
            <a:ext cx="530352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0C565"/>
                </a:solidFill>
                <a:latin typeface="Hiragino Sans GB"/>
                <a:ea typeface="Hiragino Sans GB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23052" y="2432304"/>
            <a:ext cx="1587398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70" b="1" i="0">
                <a:solidFill>
                  <a:srgbClr val="F5F2E9"/>
                </a:solidFill>
                <a:latin typeface="Hiragino Sans GB"/>
                <a:ea typeface="Hiragino Sans GB"/>
              </a:rPr>
              <a:t>集中点评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23052" y="2852928"/>
            <a:ext cx="1587398" cy="250545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60" b="0" i="0">
                <a:solidFill>
                  <a:srgbClr val="A7B5BC"/>
                </a:solidFill>
                <a:latin typeface="Hiragino Sans GB"/>
                <a:ea typeface="Hiragino Sans GB"/>
              </a:rPr>
              <a:t>发现边界和表达问题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7002475" y="3630168"/>
            <a:ext cx="182880" cy="146304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157923" y="1938528"/>
            <a:ext cx="1989734" cy="3529584"/>
          </a:xfrm>
          <a:prstGeom prst="roundRect">
            <a:avLst>
              <a:gd name="adj" fmla="val 7352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59091" y="2139696"/>
            <a:ext cx="530352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7657"/>
                </a:solidFill>
                <a:latin typeface="Hiragino Sans GB"/>
                <a:ea typeface="Hiragino Sans GB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59091" y="2432304"/>
            <a:ext cx="1587398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70" b="1" i="0">
                <a:solidFill>
                  <a:srgbClr val="F5F2E9"/>
                </a:solidFill>
                <a:latin typeface="Hiragino Sans GB"/>
                <a:ea typeface="Hiragino Sans GB"/>
              </a:rPr>
              <a:t>现场修改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59091" y="2852928"/>
            <a:ext cx="1587398" cy="250545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60" b="0" i="0">
                <a:solidFill>
                  <a:srgbClr val="A7B5BC"/>
                </a:solidFill>
                <a:latin typeface="Hiragino Sans GB"/>
                <a:ea typeface="Hiragino Sans GB"/>
              </a:rPr>
              <a:t>同步调整个人项目</a:t>
            </a:r>
          </a:p>
        </p:txBody>
      </p:sp>
      <p:sp>
        <p:nvSpPr>
          <p:cNvPr id="28" name="Right Arrow 27"/>
          <p:cNvSpPr/>
          <p:nvPr/>
        </p:nvSpPr>
        <p:spPr>
          <a:xfrm>
            <a:off x="9138513" y="3630168"/>
            <a:ext cx="182880" cy="146304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9293961" y="1938528"/>
            <a:ext cx="1989734" cy="3529584"/>
          </a:xfrm>
          <a:prstGeom prst="roundRect">
            <a:avLst>
              <a:gd name="adj" fmla="val 7352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495129" y="2139696"/>
            <a:ext cx="530352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68D391"/>
                </a:solidFill>
                <a:latin typeface="Hiragino Sans GB"/>
                <a:ea typeface="Hiragino Sans GB"/>
              </a:rPr>
              <a:t>05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95129" y="2432304"/>
            <a:ext cx="1587398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70" b="1" i="0">
                <a:solidFill>
                  <a:srgbClr val="F5F2E9"/>
                </a:solidFill>
                <a:latin typeface="Hiragino Sans GB"/>
                <a:ea typeface="Hiragino Sans GB"/>
              </a:rPr>
              <a:t>提交V1.0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495129" y="2852928"/>
            <a:ext cx="1587398" cy="250545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60" b="0" i="0">
                <a:solidFill>
                  <a:srgbClr val="A7B5BC"/>
                </a:solidFill>
                <a:latin typeface="Hiragino Sans GB"/>
                <a:ea typeface="Hiragino Sans GB"/>
              </a:rPr>
              <a:t>保留前后变化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49808" y="5742432"/>
            <a:ext cx="10533888" cy="548640"/>
          </a:xfrm>
          <a:prstGeom prst="roundRect">
            <a:avLst>
              <a:gd name="adj" fmla="val 23333"/>
            </a:avLst>
          </a:prstGeom>
          <a:solidFill>
            <a:srgbClr val="133843"/>
          </a:solidFill>
          <a:ln w="701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50976" y="5870448"/>
            <a:ext cx="1133856" cy="25603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7657"/>
                </a:solidFill>
                <a:latin typeface="Hiragino Sans GB"/>
                <a:ea typeface="Hiragino Sans GB"/>
              </a:rPr>
              <a:t>处理结果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057400" y="5843016"/>
            <a:ext cx="8887968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5F2E9"/>
                </a:solidFill>
                <a:latin typeface="Hiragino Sans GB"/>
                <a:ea typeface="Hiragino Sans GB"/>
              </a:rPr>
              <a:t>项目能力主要体现在判断和修改里。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0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4944" y="182880"/>
            <a:ext cx="9692640" cy="329184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36D6C2"/>
                </a:solidFill>
                <a:latin typeface="Hiragino Sans GB"/>
                <a:ea typeface="Hiragino Sans GB"/>
              </a:rPr>
              <a:t>第一节｜第二阶段怎样学习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00232" y="201168"/>
            <a:ext cx="502920" cy="27432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7B5BC"/>
                </a:solidFill>
                <a:latin typeface="Hiragino Sans GB"/>
                <a:ea typeface="Hiragino Sans GB"/>
              </a:rPr>
              <a:t>07</a:t>
            </a:r>
          </a:p>
        </p:txBody>
      </p:sp>
      <p:sp>
        <p:nvSpPr>
          <p:cNvPr id="4" name="Rectangle 3"/>
          <p:cNvSpPr/>
          <p:nvPr/>
        </p:nvSpPr>
        <p:spPr>
          <a:xfrm>
            <a:off x="694944" y="6556248"/>
            <a:ext cx="10808208" cy="12801"/>
          </a:xfrm>
          <a:prstGeom prst="rect">
            <a:avLst/>
          </a:prstGeom>
          <a:solidFill>
            <a:srgbClr val="416A7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deckkit-motif-quiet"/>
          <p:cNvSpPr/>
          <p:nvPr/>
        </p:nvSpPr>
        <p:spPr>
          <a:xfrm>
            <a:off x="694944" y="6501384"/>
            <a:ext cx="2521915" cy="36576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658368"/>
            <a:ext cx="10716768" cy="56692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F5F2E9"/>
                </a:solidFill>
                <a:latin typeface="Hiragino Sans GB"/>
                <a:ea typeface="Hiragino Sans GB"/>
              </a:rPr>
              <a:t>第二阶段的最终成果</a:t>
            </a:r>
          </a:p>
        </p:txBody>
      </p:sp>
      <p:sp>
        <p:nvSpPr>
          <p:cNvPr id="7" name="deckkit-motif-quiet"/>
          <p:cNvSpPr/>
          <p:nvPr/>
        </p:nvSpPr>
        <p:spPr>
          <a:xfrm>
            <a:off x="713232" y="1261872"/>
            <a:ext cx="1335024" cy="41148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371600"/>
            <a:ext cx="10661904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A7B5BC"/>
                </a:solidFill>
                <a:latin typeface="Hiragino Sans GB"/>
                <a:ea typeface="Hiragino Sans GB"/>
              </a:rPr>
              <a:t>三个完整项目，其中一个继续做深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1883664"/>
            <a:ext cx="3401568" cy="3694175"/>
          </a:xfrm>
          <a:prstGeom prst="roundRect">
            <a:avLst>
              <a:gd name="adj" fmla="val 4301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50976" y="2084832"/>
            <a:ext cx="530352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6D6C2"/>
                </a:solidFill>
                <a:latin typeface="Hiragino Sans GB"/>
                <a:ea typeface="Hiragino Sans GB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976" y="2377440"/>
            <a:ext cx="2999232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F5F2E9"/>
                </a:solidFill>
                <a:latin typeface="Hiragino Sans GB"/>
                <a:ea typeface="Hiragino Sans GB"/>
              </a:rPr>
              <a:t>3个个人项目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0976" y="2798064"/>
            <a:ext cx="2999232" cy="2670047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A7B5BC"/>
                </a:solidFill>
                <a:latin typeface="Hiragino Sans GB"/>
                <a:ea typeface="Hiragino Sans GB"/>
              </a:rPr>
              <a:t>业务、方案、流程、页面、测试和修改记录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15968" y="1883664"/>
            <a:ext cx="3401568" cy="3694175"/>
          </a:xfrm>
          <a:prstGeom prst="roundRect">
            <a:avLst>
              <a:gd name="adj" fmla="val 4301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17136" y="2084832"/>
            <a:ext cx="530352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0C565"/>
                </a:solidFill>
                <a:latin typeface="Hiragino Sans GB"/>
                <a:ea typeface="Hiragino Sans GB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17136" y="2377440"/>
            <a:ext cx="2999232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F5F2E9"/>
                </a:solidFill>
                <a:latin typeface="Hiragino Sans GB"/>
                <a:ea typeface="Hiragino Sans GB"/>
              </a:rPr>
              <a:t>1个主项目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17136" y="2798064"/>
            <a:ext cx="2999232" cy="2670047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A7B5BC"/>
                </a:solidFill>
                <a:latin typeface="Hiragino Sans GB"/>
                <a:ea typeface="Hiragino Sans GB"/>
              </a:rPr>
              <a:t>更扎实的验证、迭代和作品集表达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882128" y="1883664"/>
            <a:ext cx="3401568" cy="3694175"/>
          </a:xfrm>
          <a:prstGeom prst="roundRect">
            <a:avLst>
              <a:gd name="adj" fmla="val 4301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83296" y="2084832"/>
            <a:ext cx="530352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68D391"/>
                </a:solidFill>
                <a:latin typeface="Hiragino Sans GB"/>
                <a:ea typeface="Hiragino Sans GB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83296" y="2377440"/>
            <a:ext cx="2999232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F5F2E9"/>
                </a:solidFill>
                <a:latin typeface="Hiragino Sans GB"/>
                <a:ea typeface="Hiragino Sans GB"/>
              </a:rPr>
              <a:t>1套面试讲法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83296" y="2798064"/>
            <a:ext cx="2999232" cy="2670047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A7B5BC"/>
                </a:solidFill>
                <a:latin typeface="Hiragino Sans GB"/>
                <a:ea typeface="Hiragino Sans GB"/>
              </a:rPr>
              <a:t>能解释背景、关键判断、取舍与结果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49808" y="5742432"/>
            <a:ext cx="10533888" cy="548640"/>
          </a:xfrm>
          <a:prstGeom prst="roundRect">
            <a:avLst>
              <a:gd name="adj" fmla="val 23333"/>
            </a:avLst>
          </a:prstGeom>
          <a:solidFill>
            <a:srgbClr val="133843"/>
          </a:solidFill>
          <a:ln w="701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50976" y="5870448"/>
            <a:ext cx="1133856" cy="25603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7657"/>
                </a:solidFill>
                <a:latin typeface="Hiragino Sans GB"/>
                <a:ea typeface="Hiragino Sans GB"/>
              </a:rPr>
              <a:t>本页重点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57400" y="5843016"/>
            <a:ext cx="8887968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5F2E9"/>
                </a:solidFill>
                <a:latin typeface="Hiragino Sans GB"/>
                <a:ea typeface="Hiragino Sans GB"/>
              </a:rPr>
              <a:t>成果不是三份空泛PRD，而是三段可以讲清楚的项目经历。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0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4944" y="182880"/>
            <a:ext cx="9692640" cy="329184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36D6C2"/>
                </a:solidFill>
                <a:latin typeface="Hiragino Sans GB"/>
                <a:ea typeface="Hiragino Sans GB"/>
              </a:rPr>
              <a:t>第二节｜用一个小项目看懂完整过程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00232" y="201168"/>
            <a:ext cx="502920" cy="27432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7B5BC"/>
                </a:solidFill>
                <a:latin typeface="Hiragino Sans GB"/>
                <a:ea typeface="Hiragino Sans GB"/>
              </a:rPr>
              <a:t>08</a:t>
            </a:r>
          </a:p>
        </p:txBody>
      </p:sp>
      <p:sp>
        <p:nvSpPr>
          <p:cNvPr id="4" name="Rectangle 3"/>
          <p:cNvSpPr/>
          <p:nvPr/>
        </p:nvSpPr>
        <p:spPr>
          <a:xfrm>
            <a:off x="694944" y="6556248"/>
            <a:ext cx="10808208" cy="12801"/>
          </a:xfrm>
          <a:prstGeom prst="rect">
            <a:avLst/>
          </a:prstGeom>
          <a:solidFill>
            <a:srgbClr val="416A7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deckkit-motif-quiet"/>
          <p:cNvSpPr/>
          <p:nvPr/>
        </p:nvSpPr>
        <p:spPr>
          <a:xfrm>
            <a:off x="694944" y="6501384"/>
            <a:ext cx="2882188" cy="36576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658368"/>
            <a:ext cx="10716768" cy="56692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F5F2E9"/>
                </a:solidFill>
                <a:latin typeface="Hiragino Sans GB"/>
                <a:ea typeface="Hiragino Sans GB"/>
              </a:rPr>
              <a:t>为什么先看一个小项目</a:t>
            </a:r>
          </a:p>
        </p:txBody>
      </p:sp>
      <p:sp>
        <p:nvSpPr>
          <p:cNvPr id="7" name="deckkit-motif-quiet"/>
          <p:cNvSpPr/>
          <p:nvPr/>
        </p:nvSpPr>
        <p:spPr>
          <a:xfrm>
            <a:off x="713232" y="1261872"/>
            <a:ext cx="1335024" cy="41148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9536" y="1938528"/>
            <a:ext cx="10012680" cy="12252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5F2E9"/>
                </a:solidFill>
                <a:latin typeface="Hiragino Sans GB"/>
                <a:ea typeface="Hiragino Sans GB"/>
              </a:rPr>
              <a:t>先看清完整结构，再进入三个大项目</a:t>
            </a:r>
          </a:p>
        </p:txBody>
      </p:sp>
      <p:sp>
        <p:nvSpPr>
          <p:cNvPr id="9" name="Rectangle 8"/>
          <p:cNvSpPr/>
          <p:nvPr/>
        </p:nvSpPr>
        <p:spPr>
          <a:xfrm>
            <a:off x="868680" y="3401568"/>
            <a:ext cx="73152" cy="1097280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3401568"/>
            <a:ext cx="9674352" cy="109728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A7B5BC"/>
                </a:solidFill>
                <a:latin typeface="Hiragino Sans GB"/>
                <a:ea typeface="Hiragino Sans GB"/>
              </a:rPr>
              <a:t>例会待办整理助手只有一个核心流程和两张页面，但已经包含用户、输入、处理、分工、边界和测试。它用来解释项目怎样成立，不计入三个正式项目。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0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4944" y="182880"/>
            <a:ext cx="9692640" cy="329184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36D6C2"/>
                </a:solidFill>
                <a:latin typeface="Hiragino Sans GB"/>
                <a:ea typeface="Hiragino Sans GB"/>
              </a:rPr>
              <a:t>第二节｜用一个小项目看懂完整过程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00232" y="201168"/>
            <a:ext cx="502920" cy="27432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7B5BC"/>
                </a:solidFill>
                <a:latin typeface="Hiragino Sans GB"/>
                <a:ea typeface="Hiragino Sans GB"/>
              </a:rPr>
              <a:t>09</a:t>
            </a:r>
          </a:p>
        </p:txBody>
      </p:sp>
      <p:sp>
        <p:nvSpPr>
          <p:cNvPr id="4" name="Rectangle 3"/>
          <p:cNvSpPr/>
          <p:nvPr/>
        </p:nvSpPr>
        <p:spPr>
          <a:xfrm>
            <a:off x="694944" y="6556248"/>
            <a:ext cx="10808208" cy="12801"/>
          </a:xfrm>
          <a:prstGeom prst="rect">
            <a:avLst/>
          </a:prstGeom>
          <a:solidFill>
            <a:srgbClr val="416A7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deckkit-motif-quiet"/>
          <p:cNvSpPr/>
          <p:nvPr/>
        </p:nvSpPr>
        <p:spPr>
          <a:xfrm>
            <a:off x="694944" y="6501384"/>
            <a:ext cx="3242462" cy="36576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658368"/>
            <a:ext cx="10716768" cy="56692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F5F2E9"/>
                </a:solidFill>
                <a:latin typeface="Hiragino Sans GB"/>
                <a:ea typeface="Hiragino Sans GB"/>
              </a:rPr>
              <a:t>一段真实的会议转写</a:t>
            </a:r>
          </a:p>
        </p:txBody>
      </p:sp>
      <p:sp>
        <p:nvSpPr>
          <p:cNvPr id="7" name="deckkit-motif-quiet"/>
          <p:cNvSpPr/>
          <p:nvPr/>
        </p:nvSpPr>
        <p:spPr>
          <a:xfrm>
            <a:off x="713232" y="1261872"/>
            <a:ext cx="1335024" cy="41148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371600"/>
            <a:ext cx="10661904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A7B5BC"/>
                </a:solidFill>
                <a:latin typeface="Hiragino Sans GB"/>
                <a:ea typeface="Hiragino Sans GB"/>
              </a:rPr>
              <a:t>先读原话，再判断产品应该输出什么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1248" y="1828800"/>
            <a:ext cx="10351008" cy="3566160"/>
          </a:xfrm>
          <a:prstGeom prst="roundRect">
            <a:avLst>
              <a:gd name="adj" fmla="val 4615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78992" y="2103120"/>
            <a:ext cx="9875520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5F2E9"/>
                </a:solidFill>
                <a:latin typeface="Hiragino Sans GB"/>
                <a:ea typeface="Hiragino Sans GB"/>
              </a:rPr>
              <a:t>张明：登录接口今天还是不稳定，可能影响周五联调。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" y="2660903"/>
            <a:ext cx="9875520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5F2E9"/>
                </a:solidFill>
                <a:latin typeface="Hiragino Sans GB"/>
                <a:ea typeface="Hiragino Sans GB"/>
              </a:rPr>
              <a:t>李妍：我明天下午前把新版页面发给开发。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992" y="3218687"/>
            <a:ext cx="9875520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5F2E9"/>
                </a:solidFill>
                <a:latin typeface="Hiragino Sans GB"/>
                <a:ea typeface="Hiragino Sans GB"/>
              </a:rPr>
              <a:t>王磊：如果客户周三前确认字段，我周四完成数据映射。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" y="3776472"/>
            <a:ext cx="9875520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5F2E9"/>
                </a:solidFill>
                <a:latin typeface="Hiragino Sans GB"/>
                <a:ea typeface="Hiragino Sans GB"/>
              </a:rPr>
              <a:t>张明：这周先不上自动提醒，先把任务确认流程跑通。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" y="4882896"/>
            <a:ext cx="932688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36D6C2"/>
                </a:solidFill>
                <a:latin typeface="Hiragino Sans GB"/>
                <a:ea typeface="Hiragino Sans GB"/>
              </a:rPr>
              <a:t>会议结束后，真正需要被执行的内容是什么？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0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4944" y="182880"/>
            <a:ext cx="9692640" cy="329184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36D6C2"/>
                </a:solidFill>
                <a:latin typeface="Hiragino Sans GB"/>
                <a:ea typeface="Hiragino Sans GB"/>
              </a:rPr>
              <a:t>第二节｜用一个小项目看懂完整过程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00232" y="201168"/>
            <a:ext cx="502920" cy="27432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7B5BC"/>
                </a:solidFill>
                <a:latin typeface="Hiragino Sans GB"/>
                <a:ea typeface="Hiragino Sans GB"/>
              </a:rPr>
              <a:t>10</a:t>
            </a:r>
          </a:p>
        </p:txBody>
      </p:sp>
      <p:sp>
        <p:nvSpPr>
          <p:cNvPr id="4" name="Rectangle 3"/>
          <p:cNvSpPr/>
          <p:nvPr/>
        </p:nvSpPr>
        <p:spPr>
          <a:xfrm>
            <a:off x="694944" y="6556248"/>
            <a:ext cx="10808208" cy="12801"/>
          </a:xfrm>
          <a:prstGeom prst="rect">
            <a:avLst/>
          </a:prstGeom>
          <a:solidFill>
            <a:srgbClr val="416A7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deckkit-motif-quiet"/>
          <p:cNvSpPr/>
          <p:nvPr/>
        </p:nvSpPr>
        <p:spPr>
          <a:xfrm>
            <a:off x="694944" y="6501384"/>
            <a:ext cx="3602736" cy="36576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658368"/>
            <a:ext cx="10716768" cy="56692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F5F2E9"/>
                </a:solidFill>
                <a:latin typeface="Hiragino Sans GB"/>
                <a:ea typeface="Hiragino Sans GB"/>
              </a:rPr>
              <a:t>先判断要提取什么</a:t>
            </a:r>
          </a:p>
        </p:txBody>
      </p:sp>
      <p:sp>
        <p:nvSpPr>
          <p:cNvPr id="7" name="deckkit-motif-quiet"/>
          <p:cNvSpPr/>
          <p:nvPr/>
        </p:nvSpPr>
        <p:spPr>
          <a:xfrm>
            <a:off x="713232" y="1261872"/>
            <a:ext cx="1335024" cy="41148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371600"/>
            <a:ext cx="10661904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A7B5BC"/>
                </a:solidFill>
                <a:latin typeface="Hiragino Sans GB"/>
                <a:ea typeface="Hiragino Sans GB"/>
              </a:rPr>
              <a:t>请选择你认为最有价值的产品输出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1883664"/>
            <a:ext cx="5184648" cy="1755647"/>
          </a:xfrm>
          <a:prstGeom prst="roundRect">
            <a:avLst>
              <a:gd name="adj" fmla="val 8333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50976" y="2084832"/>
            <a:ext cx="530352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6D6C2"/>
                </a:solidFill>
                <a:latin typeface="Hiragino Sans GB"/>
                <a:ea typeface="Hiragino Sans GB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976" y="2377440"/>
            <a:ext cx="4782312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F5F2E9"/>
                </a:solidFill>
                <a:latin typeface="Hiragino Sans GB"/>
                <a:ea typeface="Hiragino Sans GB"/>
              </a:rPr>
              <a:t>A｜负责人和时间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0976" y="2798064"/>
            <a:ext cx="4782312" cy="731519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A7B5BC"/>
                </a:solidFill>
                <a:latin typeface="Hiragino Sans GB"/>
                <a:ea typeface="Hiragino Sans GB"/>
              </a:rPr>
              <a:t>只保留明确待办的两个字段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99048" y="1883664"/>
            <a:ext cx="5184648" cy="1755647"/>
          </a:xfrm>
          <a:prstGeom prst="roundRect">
            <a:avLst>
              <a:gd name="adj" fmla="val 8333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0216" y="2084832"/>
            <a:ext cx="530352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0C565"/>
                </a:solidFill>
                <a:latin typeface="Hiragino Sans GB"/>
                <a:ea typeface="Hiragino Sans GB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0216" y="2377440"/>
            <a:ext cx="4782312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F5F2E9"/>
                </a:solidFill>
                <a:latin typeface="Hiragino Sans GB"/>
                <a:ea typeface="Hiragino Sans GB"/>
              </a:rPr>
              <a:t>B｜一段会议摘要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0216" y="2798064"/>
            <a:ext cx="4782312" cy="731519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A7B5BC"/>
                </a:solidFill>
                <a:latin typeface="Hiragino Sans GB"/>
                <a:ea typeface="Hiragino Sans GB"/>
              </a:rPr>
              <a:t>把整段会议压缩成更短的文字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8" y="3822191"/>
            <a:ext cx="5184648" cy="1755647"/>
          </a:xfrm>
          <a:prstGeom prst="roundRect">
            <a:avLst>
              <a:gd name="adj" fmla="val 8333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50976" y="4023359"/>
            <a:ext cx="530352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7657"/>
                </a:solidFill>
                <a:latin typeface="Hiragino Sans GB"/>
                <a:ea typeface="Hiragino Sans GB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0976" y="4315968"/>
            <a:ext cx="4782312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F5F2E9"/>
                </a:solidFill>
                <a:latin typeface="Hiragino Sans GB"/>
                <a:ea typeface="Hiragino Sans GB"/>
              </a:rPr>
              <a:t>C｜行动信息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0976" y="4736592"/>
            <a:ext cx="4782312" cy="731519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A7B5BC"/>
                </a:solidFill>
                <a:latin typeface="Hiragino Sans GB"/>
                <a:ea typeface="Hiragino Sans GB"/>
              </a:rPr>
              <a:t>任务、条件、风险、决定与待确认项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99048" y="3822191"/>
            <a:ext cx="5184648" cy="1755647"/>
          </a:xfrm>
          <a:prstGeom prst="roundRect">
            <a:avLst>
              <a:gd name="adj" fmla="val 8333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00216" y="4023359"/>
            <a:ext cx="530352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68D391"/>
                </a:solidFill>
                <a:latin typeface="Hiragino Sans GB"/>
                <a:ea typeface="Hiragino Sans GB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0216" y="4315968"/>
            <a:ext cx="4782312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F5F2E9"/>
                </a:solidFill>
                <a:latin typeface="Hiragino Sans GB"/>
                <a:ea typeface="Hiragino Sans GB"/>
              </a:rPr>
              <a:t>D｜完整原话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0216" y="4736592"/>
            <a:ext cx="4782312" cy="731519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A7B5BC"/>
                </a:solidFill>
                <a:latin typeface="Hiragino Sans GB"/>
                <a:ea typeface="Hiragino Sans GB"/>
              </a:rPr>
              <a:t>按发言人保存全部内容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49808" y="5742432"/>
            <a:ext cx="10533888" cy="548640"/>
          </a:xfrm>
          <a:prstGeom prst="roundRect">
            <a:avLst>
              <a:gd name="adj" fmla="val 23333"/>
            </a:avLst>
          </a:prstGeom>
          <a:solidFill>
            <a:srgbClr val="133843"/>
          </a:solidFill>
          <a:ln w="701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50976" y="5870448"/>
            <a:ext cx="1133856" cy="25603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7657"/>
                </a:solidFill>
                <a:latin typeface="Hiragino Sans GB"/>
                <a:ea typeface="Hiragino Sans GB"/>
              </a:rPr>
              <a:t>本页重点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57400" y="5843016"/>
            <a:ext cx="8887968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5F2E9"/>
                </a:solidFill>
                <a:latin typeface="Hiragino Sans GB"/>
                <a:ea typeface="Hiragino Sans GB"/>
              </a:rPr>
              <a:t>先让学员选择，再展示老师的处理结果。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0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4944" y="182880"/>
            <a:ext cx="9692640" cy="329184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36D6C2"/>
                </a:solidFill>
                <a:latin typeface="Hiragino Sans GB"/>
                <a:ea typeface="Hiragino Sans GB"/>
              </a:rPr>
              <a:t>第二节｜用一个小项目看懂完整过程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00232" y="201168"/>
            <a:ext cx="502920" cy="27432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7B5BC"/>
                </a:solidFill>
                <a:latin typeface="Hiragino Sans GB"/>
                <a:ea typeface="Hiragino Sans GB"/>
              </a:rPr>
              <a:t>11</a:t>
            </a:r>
          </a:p>
        </p:txBody>
      </p:sp>
      <p:sp>
        <p:nvSpPr>
          <p:cNvPr id="4" name="Rectangle 3"/>
          <p:cNvSpPr/>
          <p:nvPr/>
        </p:nvSpPr>
        <p:spPr>
          <a:xfrm>
            <a:off x="694944" y="6556248"/>
            <a:ext cx="10808208" cy="12801"/>
          </a:xfrm>
          <a:prstGeom prst="rect">
            <a:avLst/>
          </a:prstGeom>
          <a:solidFill>
            <a:srgbClr val="416A7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deckkit-motif-quiet"/>
          <p:cNvSpPr/>
          <p:nvPr/>
        </p:nvSpPr>
        <p:spPr>
          <a:xfrm>
            <a:off x="694944" y="6501384"/>
            <a:ext cx="3963009" cy="36576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658368"/>
            <a:ext cx="10716768" cy="56692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F5F2E9"/>
                </a:solidFill>
                <a:latin typeface="Hiragino Sans GB"/>
                <a:ea typeface="Hiragino Sans GB"/>
              </a:rPr>
              <a:t>把原话变成可执行信息</a:t>
            </a:r>
          </a:p>
        </p:txBody>
      </p:sp>
      <p:sp>
        <p:nvSpPr>
          <p:cNvPr id="7" name="deckkit-motif-quiet"/>
          <p:cNvSpPr/>
          <p:nvPr/>
        </p:nvSpPr>
        <p:spPr>
          <a:xfrm>
            <a:off x="713232" y="1261872"/>
            <a:ext cx="1335024" cy="41148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371600"/>
            <a:ext cx="10661904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A7B5BC"/>
                </a:solidFill>
                <a:latin typeface="Hiragino Sans GB"/>
                <a:ea typeface="Hiragino Sans GB"/>
              </a:rPr>
              <a:t>不同信息需要进入不同的后续处理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49808" y="1874519"/>
          <a:ext cx="10533888" cy="338328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325880"/>
                <a:gridCol w="4160520"/>
                <a:gridCol w="2148840"/>
                <a:gridCol w="2898648"/>
              </a:tblGrid>
              <a:tr h="676656">
                <a:tc>
                  <a:txBody>
                    <a:bodyPr/>
                    <a:lstStyle/>
                    <a:p>
                      <a:pPr algn="l"/>
                      <a:r>
                        <a:rPr sz="1220" b="1" i="0">
                          <a:solidFill>
                            <a:srgbClr val="36D6C2"/>
                          </a:solidFill>
                          <a:latin typeface="Hiragino Sans GB"/>
                          <a:ea typeface="Hiragino Sans GB"/>
                        </a:rPr>
                        <a:t>类型</a:t>
                      </a:r>
                    </a:p>
                  </a:txBody>
                  <a:tcPr marL="88900" marR="88900" marT="25400" marB="25400" anchor="ctr">
                    <a:lnT w="17780" cap="flat" cmpd="sng" algn="ctr">
                      <a:solidFill>
                        <a:srgbClr val="36D6C2"/>
                      </a:solidFill>
                    </a:lnT>
                    <a:lnB w="10160" cap="flat" cmpd="sng" algn="ctr">
                      <a:solidFill>
                        <a:srgbClr val="416A7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20" b="1" i="0">
                          <a:solidFill>
                            <a:srgbClr val="36D6C2"/>
                          </a:solidFill>
                          <a:latin typeface="Hiragino Sans GB"/>
                          <a:ea typeface="Hiragino Sans GB"/>
                        </a:rPr>
                        <a:t>内容</a:t>
                      </a:r>
                    </a:p>
                  </a:txBody>
                  <a:tcPr marL="88900" marR="88900" marT="25400" marB="25400" anchor="ctr">
                    <a:lnT w="17780" cap="flat" cmpd="sng" algn="ctr">
                      <a:solidFill>
                        <a:srgbClr val="36D6C2"/>
                      </a:solidFill>
                    </a:lnT>
                    <a:lnB w="10160" cap="flat" cmpd="sng" algn="ctr">
                      <a:solidFill>
                        <a:srgbClr val="416A7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20" b="1" i="0">
                          <a:solidFill>
                            <a:srgbClr val="36D6C2"/>
                          </a:solidFill>
                          <a:latin typeface="Hiragino Sans GB"/>
                          <a:ea typeface="Hiragino Sans GB"/>
                        </a:rPr>
                        <a:t>负责人 / 时间</a:t>
                      </a:r>
                    </a:p>
                  </a:txBody>
                  <a:tcPr marL="88900" marR="88900" marT="25400" marB="25400" anchor="ctr">
                    <a:lnT w="17780" cap="flat" cmpd="sng" algn="ctr">
                      <a:solidFill>
                        <a:srgbClr val="36D6C2"/>
                      </a:solidFill>
                    </a:lnT>
                    <a:lnB w="10160" cap="flat" cmpd="sng" algn="ctr">
                      <a:solidFill>
                        <a:srgbClr val="416A7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20" b="1" i="0">
                          <a:solidFill>
                            <a:srgbClr val="36D6C2"/>
                          </a:solidFill>
                          <a:latin typeface="Hiragino Sans GB"/>
                          <a:ea typeface="Hiragino Sans GB"/>
                        </a:rPr>
                        <a:t>处理方式</a:t>
                      </a:r>
                    </a:p>
                  </a:txBody>
                  <a:tcPr marL="88900" marR="88900" marT="25400" marB="25400" anchor="ctr">
                    <a:lnT w="17780" cap="flat" cmpd="sng" algn="ctr">
                      <a:solidFill>
                        <a:srgbClr val="36D6C2"/>
                      </a:solidFill>
                    </a:lnT>
                    <a:lnB w="10160" cap="flat" cmpd="sng" algn="ctr">
                      <a:solidFill>
                        <a:srgbClr val="416A78"/>
                      </a:solidFill>
                    </a:lnB>
                    <a:noFill/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algn="l"/>
                      <a:r>
                        <a:rPr sz="122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风险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2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登录接口不稳定，可能影响周五联调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2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张明 / 周五前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2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标记风险并确认处理人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algn="l"/>
                      <a:r>
                        <a:rPr sz="122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明确待办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2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发送新版页面给开发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2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李妍 / 明天下午前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2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进入待办清单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algn="l"/>
                      <a:r>
                        <a:rPr sz="1220" b="1" i="0">
                          <a:solidFill>
                            <a:srgbClr val="FF7657"/>
                          </a:solidFill>
                          <a:latin typeface="Hiragino Sans GB"/>
                          <a:ea typeface="Hiragino Sans GB"/>
                        </a:rPr>
                        <a:t>条件待办</a:t>
                      </a:r>
                    </a:p>
                  </a:txBody>
                  <a:tcPr marL="88900" marR="88900" marT="25400" marB="25400" anchor="ctr">
                    <a:solidFill>
                      <a:srgbClr val="13384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20" b="1" i="0">
                          <a:solidFill>
                            <a:srgbClr val="FF7657"/>
                          </a:solidFill>
                          <a:latin typeface="Hiragino Sans GB"/>
                          <a:ea typeface="Hiragino Sans GB"/>
                        </a:rPr>
                        <a:t>完成数据映射</a:t>
                      </a:r>
                    </a:p>
                  </a:txBody>
                  <a:tcPr marL="88900" marR="88900" marT="25400" marB="25400" anchor="ctr">
                    <a:solidFill>
                      <a:srgbClr val="13384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20" b="1" i="0">
                          <a:solidFill>
                            <a:srgbClr val="FF7657"/>
                          </a:solidFill>
                          <a:latin typeface="Hiragino Sans GB"/>
                          <a:ea typeface="Hiragino Sans GB"/>
                        </a:rPr>
                        <a:t>王磊 / 周四</a:t>
                      </a:r>
                    </a:p>
                  </a:txBody>
                  <a:tcPr marL="88900" marR="88900" marT="25400" marB="25400" anchor="ctr">
                    <a:solidFill>
                      <a:srgbClr val="13384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20" b="1" i="0">
                          <a:solidFill>
                            <a:srgbClr val="FF7657"/>
                          </a:solidFill>
                          <a:latin typeface="Hiragino Sans GB"/>
                          <a:ea typeface="Hiragino Sans GB"/>
                        </a:rPr>
                        <a:t>客户确认字段后生效</a:t>
                      </a:r>
                    </a:p>
                  </a:txBody>
                  <a:tcPr marL="88900" marR="88900" marT="25400" marB="25400" anchor="ctr">
                    <a:solidFill>
                      <a:srgbClr val="133843"/>
                    </a:solidFill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algn="l"/>
                      <a:r>
                        <a:rPr sz="122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决定</a:t>
                      </a:r>
                    </a:p>
                  </a:txBody>
                  <a:tcPr marL="88900" marR="88900" marT="25400" marB="25400" anchor="ctr">
                    <a:lnB w="17780" cap="flat" cmpd="sng" algn="ctr">
                      <a:solidFill>
                        <a:srgbClr val="36D6C2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2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本周暂不上自动提醒</a:t>
                      </a:r>
                    </a:p>
                  </a:txBody>
                  <a:tcPr marL="88900" marR="88900" marT="25400" marB="25400" anchor="ctr">
                    <a:lnB w="17780" cap="flat" cmpd="sng" algn="ctr">
                      <a:solidFill>
                        <a:srgbClr val="36D6C2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2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项目组 / 本周</a:t>
                      </a:r>
                    </a:p>
                  </a:txBody>
                  <a:tcPr marL="88900" marR="88900" marT="25400" marB="25400" anchor="ctr">
                    <a:lnB w="17780" cap="flat" cmpd="sng" algn="ctr">
                      <a:solidFill>
                        <a:srgbClr val="36D6C2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2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记录范围变化</a:t>
                      </a:r>
                    </a:p>
                  </a:txBody>
                  <a:tcPr marL="88900" marR="88900" marT="25400" marB="25400" anchor="ctr">
                    <a:lnB w="17780" cap="flat" cmpd="sng" algn="ctr">
                      <a:solidFill>
                        <a:srgbClr val="36D6C2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749808" y="5742432"/>
            <a:ext cx="10533888" cy="548640"/>
          </a:xfrm>
          <a:prstGeom prst="roundRect">
            <a:avLst>
              <a:gd name="adj" fmla="val 23333"/>
            </a:avLst>
          </a:prstGeom>
          <a:solidFill>
            <a:srgbClr val="133843"/>
          </a:solidFill>
          <a:ln w="701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50976" y="5870448"/>
            <a:ext cx="1133856" cy="25603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7657"/>
                </a:solidFill>
                <a:latin typeface="Hiragino Sans GB"/>
                <a:ea typeface="Hiragino Sans GB"/>
              </a:rPr>
              <a:t>本页重点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5843016"/>
            <a:ext cx="8887968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5F2E9"/>
                </a:solidFill>
                <a:latin typeface="Hiragino Sans GB"/>
                <a:ea typeface="Hiragino Sans GB"/>
              </a:rPr>
              <a:t>输出的价值不在于更短，而在于能被确认、追踪和执行。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0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4944" y="182880"/>
            <a:ext cx="9692640" cy="329184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36D6C2"/>
                </a:solidFill>
                <a:latin typeface="Hiragino Sans GB"/>
                <a:ea typeface="Hiragino Sans GB"/>
              </a:rPr>
              <a:t>第二节｜用一个小项目看懂完整过程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00232" y="201168"/>
            <a:ext cx="502920" cy="27432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7B5BC"/>
                </a:solidFill>
                <a:latin typeface="Hiragino Sans GB"/>
                <a:ea typeface="Hiragino Sans GB"/>
              </a:rPr>
              <a:t>12</a:t>
            </a:r>
          </a:p>
        </p:txBody>
      </p:sp>
      <p:sp>
        <p:nvSpPr>
          <p:cNvPr id="4" name="Rectangle 3"/>
          <p:cNvSpPr/>
          <p:nvPr/>
        </p:nvSpPr>
        <p:spPr>
          <a:xfrm>
            <a:off x="694944" y="6556248"/>
            <a:ext cx="10808208" cy="12801"/>
          </a:xfrm>
          <a:prstGeom prst="rect">
            <a:avLst/>
          </a:prstGeom>
          <a:solidFill>
            <a:srgbClr val="416A7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deckkit-motif-quiet"/>
          <p:cNvSpPr/>
          <p:nvPr/>
        </p:nvSpPr>
        <p:spPr>
          <a:xfrm>
            <a:off x="694944" y="6501384"/>
            <a:ext cx="4323283" cy="36576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658368"/>
            <a:ext cx="10716768" cy="56692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F5F2E9"/>
                </a:solidFill>
                <a:latin typeface="Hiragino Sans GB"/>
                <a:ea typeface="Hiragino Sans GB"/>
              </a:rPr>
              <a:t>普通摘要与待办助手</a:t>
            </a:r>
          </a:p>
        </p:txBody>
      </p:sp>
      <p:sp>
        <p:nvSpPr>
          <p:cNvPr id="7" name="deckkit-motif-quiet"/>
          <p:cNvSpPr/>
          <p:nvPr/>
        </p:nvSpPr>
        <p:spPr>
          <a:xfrm>
            <a:off x="713232" y="1261872"/>
            <a:ext cx="1335024" cy="41148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371600"/>
            <a:ext cx="10661904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A7B5BC"/>
                </a:solidFill>
                <a:latin typeface="Hiragino Sans GB"/>
                <a:ea typeface="Hiragino Sans GB"/>
              </a:rPr>
              <a:t>两种产品在解决不同问题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1883664"/>
            <a:ext cx="5157216" cy="3621024"/>
          </a:xfrm>
          <a:prstGeom prst="roundRect">
            <a:avLst>
              <a:gd name="adj" fmla="val 4040"/>
            </a:avLst>
          </a:prstGeom>
          <a:solidFill>
            <a:srgbClr val="102B37"/>
          </a:solidFill>
          <a:ln w="9715">
            <a:solidFill>
              <a:srgbClr val="36D6C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084832"/>
            <a:ext cx="4645152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36D6C2"/>
                </a:solidFill>
                <a:latin typeface="Hiragino Sans GB"/>
                <a:ea typeface="Hiragino Sans GB"/>
              </a:rPr>
              <a:t>会议摘要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7" y="2788920"/>
            <a:ext cx="91440" cy="91440"/>
          </a:xfrm>
          <a:prstGeom prst="roundRect">
            <a:avLst>
              <a:gd name="adj" fmla="val 50000"/>
            </a:avLst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61872" y="2633472"/>
            <a:ext cx="4352544" cy="43891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F5F2E9"/>
                </a:solidFill>
                <a:latin typeface="Hiragino Sans GB"/>
                <a:ea typeface="Hiragino Sans GB"/>
              </a:rPr>
              <a:t>会议主要说了什么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24127" y="3675888"/>
            <a:ext cx="91440" cy="91440"/>
          </a:xfrm>
          <a:prstGeom prst="roundRect">
            <a:avLst>
              <a:gd name="adj" fmla="val 50000"/>
            </a:avLst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61872" y="3520440"/>
            <a:ext cx="4352544" cy="43891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F5F2E9"/>
                </a:solidFill>
                <a:latin typeface="Hiragino Sans GB"/>
                <a:ea typeface="Hiragino Sans GB"/>
              </a:rPr>
              <a:t>方便快速回顾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24127" y="4562856"/>
            <a:ext cx="91440" cy="91440"/>
          </a:xfrm>
          <a:prstGeom prst="roundRect">
            <a:avLst>
              <a:gd name="adj" fmla="val 50000"/>
            </a:avLst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61872" y="4407408"/>
            <a:ext cx="4352544" cy="43891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F5F2E9"/>
                </a:solidFill>
                <a:latin typeface="Hiragino Sans GB"/>
                <a:ea typeface="Hiragino Sans GB"/>
              </a:rPr>
              <a:t>仍需人工重新寻找行动项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26480" y="1883664"/>
            <a:ext cx="5157216" cy="3621024"/>
          </a:xfrm>
          <a:prstGeom prst="roundRect">
            <a:avLst>
              <a:gd name="adj" fmla="val 4040"/>
            </a:avLst>
          </a:prstGeom>
          <a:solidFill>
            <a:srgbClr val="102B37"/>
          </a:solidFill>
          <a:ln w="9715">
            <a:solidFill>
              <a:srgbClr val="FF765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82512" y="2084832"/>
            <a:ext cx="4645152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F7657"/>
                </a:solidFill>
                <a:latin typeface="Hiragino Sans GB"/>
                <a:ea typeface="Hiragino Sans GB"/>
              </a:rPr>
              <a:t>待办整理助手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2788920"/>
            <a:ext cx="91440" cy="91440"/>
          </a:xfrm>
          <a:prstGeom prst="roundRect">
            <a:avLst>
              <a:gd name="adj" fmla="val 50000"/>
            </a:avLst>
          </a:prstGeom>
          <a:solidFill>
            <a:srgbClr val="FF76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38544" y="2633472"/>
            <a:ext cx="4352544" cy="43891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F5F2E9"/>
                </a:solidFill>
                <a:latin typeface="Hiragino Sans GB"/>
                <a:ea typeface="Hiragino Sans GB"/>
              </a:rPr>
              <a:t>谁要做什么、何时完成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0" y="3675888"/>
            <a:ext cx="91440" cy="91440"/>
          </a:xfrm>
          <a:prstGeom prst="roundRect">
            <a:avLst>
              <a:gd name="adj" fmla="val 50000"/>
            </a:avLst>
          </a:prstGeom>
          <a:solidFill>
            <a:srgbClr val="FF76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38544" y="3520440"/>
            <a:ext cx="4352544" cy="43891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F5F2E9"/>
                </a:solidFill>
                <a:latin typeface="Hiragino Sans GB"/>
                <a:ea typeface="Hiragino Sans GB"/>
              </a:rPr>
              <a:t>识别条件、风险和待确认项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0" y="4562856"/>
            <a:ext cx="91440" cy="91440"/>
          </a:xfrm>
          <a:prstGeom prst="roundRect">
            <a:avLst>
              <a:gd name="adj" fmla="val 50000"/>
            </a:avLst>
          </a:prstGeom>
          <a:solidFill>
            <a:srgbClr val="FF76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38544" y="4407408"/>
            <a:ext cx="4352544" cy="43891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F5F2E9"/>
                </a:solidFill>
                <a:latin typeface="Hiragino Sans GB"/>
                <a:ea typeface="Hiragino Sans GB"/>
              </a:rPr>
              <a:t>确认后可进入后续系统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49808" y="5742432"/>
            <a:ext cx="10533888" cy="548640"/>
          </a:xfrm>
          <a:prstGeom prst="roundRect">
            <a:avLst>
              <a:gd name="adj" fmla="val 23333"/>
            </a:avLst>
          </a:prstGeom>
          <a:solidFill>
            <a:srgbClr val="133843"/>
          </a:solidFill>
          <a:ln w="701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50976" y="5870448"/>
            <a:ext cx="1133856" cy="25603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7657"/>
                </a:solidFill>
                <a:latin typeface="Hiragino Sans GB"/>
                <a:ea typeface="Hiragino Sans GB"/>
              </a:rPr>
              <a:t>判断标准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57400" y="5843016"/>
            <a:ext cx="8887968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5F2E9"/>
                </a:solidFill>
                <a:latin typeface="Hiragino Sans GB"/>
                <a:ea typeface="Hiragino Sans GB"/>
              </a:rPr>
              <a:t>从‘生成一段文字’变成‘支持下一步工作’。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0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4944" y="182880"/>
            <a:ext cx="9692640" cy="329184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36D6C2"/>
                </a:solidFill>
                <a:latin typeface="Hiragino Sans GB"/>
                <a:ea typeface="Hiragino Sans GB"/>
              </a:rPr>
              <a:t>第二节｜用一个小项目看懂完整过程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00232" y="201168"/>
            <a:ext cx="502920" cy="27432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7B5BC"/>
                </a:solidFill>
                <a:latin typeface="Hiragino Sans GB"/>
                <a:ea typeface="Hiragino Sans GB"/>
              </a:rPr>
              <a:t>13</a:t>
            </a:r>
          </a:p>
        </p:txBody>
      </p:sp>
      <p:sp>
        <p:nvSpPr>
          <p:cNvPr id="4" name="Rectangle 3"/>
          <p:cNvSpPr/>
          <p:nvPr/>
        </p:nvSpPr>
        <p:spPr>
          <a:xfrm>
            <a:off x="694944" y="6556248"/>
            <a:ext cx="10808208" cy="12801"/>
          </a:xfrm>
          <a:prstGeom prst="rect">
            <a:avLst/>
          </a:prstGeom>
          <a:solidFill>
            <a:srgbClr val="416A7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deckkit-motif-quiet"/>
          <p:cNvSpPr/>
          <p:nvPr/>
        </p:nvSpPr>
        <p:spPr>
          <a:xfrm>
            <a:off x="694944" y="6501384"/>
            <a:ext cx="4683556" cy="36576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658368"/>
            <a:ext cx="10716768" cy="56692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F5F2E9"/>
                </a:solidFill>
                <a:latin typeface="Hiragino Sans GB"/>
                <a:ea typeface="Hiragino Sans GB"/>
              </a:rPr>
              <a:t>小项目的业务定义</a:t>
            </a:r>
          </a:p>
        </p:txBody>
      </p:sp>
      <p:sp>
        <p:nvSpPr>
          <p:cNvPr id="7" name="deckkit-motif-quiet"/>
          <p:cNvSpPr/>
          <p:nvPr/>
        </p:nvSpPr>
        <p:spPr>
          <a:xfrm>
            <a:off x="713232" y="1261872"/>
            <a:ext cx="1335024" cy="41148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371600"/>
            <a:ext cx="10661904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A7B5BC"/>
                </a:solidFill>
                <a:latin typeface="Hiragino Sans GB"/>
                <a:ea typeface="Hiragino Sans GB"/>
              </a:rPr>
              <a:t>先把用户、时刻、当前做法和输出说清楚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1883664"/>
            <a:ext cx="2510028" cy="3694175"/>
          </a:xfrm>
          <a:prstGeom prst="roundRect">
            <a:avLst>
              <a:gd name="adj" fmla="val 5828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50976" y="2084832"/>
            <a:ext cx="530352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6D6C2"/>
                </a:solidFill>
                <a:latin typeface="Hiragino Sans GB"/>
                <a:ea typeface="Hiragino Sans GB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976" y="2377440"/>
            <a:ext cx="2107692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F5F2E9"/>
                </a:solidFill>
                <a:latin typeface="Hiragino Sans GB"/>
                <a:ea typeface="Hiragino Sans GB"/>
              </a:rPr>
              <a:t>用户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0976" y="2798064"/>
            <a:ext cx="2107692" cy="2670047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A7B5BC"/>
                </a:solidFill>
                <a:latin typeface="Hiragino Sans GB"/>
                <a:ea typeface="Hiragino Sans GB"/>
              </a:rPr>
              <a:t>频繁参加项目例会、会后需要追踪事项的人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24428" y="1883664"/>
            <a:ext cx="2510028" cy="3694175"/>
          </a:xfrm>
          <a:prstGeom prst="roundRect">
            <a:avLst>
              <a:gd name="adj" fmla="val 5828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25596" y="2084832"/>
            <a:ext cx="530352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0C565"/>
                </a:solidFill>
                <a:latin typeface="Hiragino Sans GB"/>
                <a:ea typeface="Hiragino Sans GB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25596" y="2377440"/>
            <a:ext cx="2107692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F5F2E9"/>
                </a:solidFill>
                <a:latin typeface="Hiragino Sans GB"/>
                <a:ea typeface="Hiragino Sans GB"/>
              </a:rPr>
              <a:t>使用时刻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25596" y="2798064"/>
            <a:ext cx="2107692" cy="2670047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A7B5BC"/>
                </a:solidFill>
                <a:latin typeface="Hiragino Sans GB"/>
                <a:ea typeface="Hiragino Sans GB"/>
              </a:rPr>
              <a:t>会议结束后，需要整理并同步行动项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99048" y="1883664"/>
            <a:ext cx="2510028" cy="3694175"/>
          </a:xfrm>
          <a:prstGeom prst="roundRect">
            <a:avLst>
              <a:gd name="adj" fmla="val 5828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00216" y="2084832"/>
            <a:ext cx="530352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7657"/>
                </a:solidFill>
                <a:latin typeface="Hiragino Sans GB"/>
                <a:ea typeface="Hiragino Sans GB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0216" y="2377440"/>
            <a:ext cx="2107692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F5F2E9"/>
                </a:solidFill>
                <a:latin typeface="Hiragino Sans GB"/>
                <a:ea typeface="Hiragino Sans GB"/>
              </a:rPr>
              <a:t>当前做法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0216" y="2798064"/>
            <a:ext cx="2107692" cy="2670047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A7B5BC"/>
                </a:solidFill>
                <a:latin typeface="Hiragino Sans GB"/>
                <a:ea typeface="Hiragino Sans GB"/>
              </a:rPr>
              <a:t>手工回听、复制、询问和维护任务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73668" y="1883664"/>
            <a:ext cx="2510028" cy="3694175"/>
          </a:xfrm>
          <a:prstGeom prst="roundRect">
            <a:avLst>
              <a:gd name="adj" fmla="val 5828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74836" y="2084832"/>
            <a:ext cx="530352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68D391"/>
                </a:solidFill>
                <a:latin typeface="Hiragino Sans GB"/>
                <a:ea typeface="Hiragino Sans GB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74836" y="2377440"/>
            <a:ext cx="2107692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F5F2E9"/>
                </a:solidFill>
                <a:latin typeface="Hiragino Sans GB"/>
                <a:ea typeface="Hiragino Sans GB"/>
              </a:rPr>
              <a:t>产品输出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74836" y="2798064"/>
            <a:ext cx="2107692" cy="2670047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A7B5BC"/>
                </a:solidFill>
                <a:latin typeface="Hiragino Sans GB"/>
                <a:ea typeface="Hiragino Sans GB"/>
              </a:rPr>
              <a:t>可确认、可编辑、可同步的行动清单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49808" y="5742432"/>
            <a:ext cx="10533888" cy="548640"/>
          </a:xfrm>
          <a:prstGeom prst="roundRect">
            <a:avLst>
              <a:gd name="adj" fmla="val 23333"/>
            </a:avLst>
          </a:prstGeom>
          <a:solidFill>
            <a:srgbClr val="133843"/>
          </a:solidFill>
          <a:ln w="701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50976" y="5870448"/>
            <a:ext cx="1133856" cy="25603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7657"/>
                </a:solidFill>
                <a:latin typeface="Hiragino Sans GB"/>
                <a:ea typeface="Hiragino Sans GB"/>
              </a:rPr>
              <a:t>本页重点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57400" y="5843016"/>
            <a:ext cx="8887968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5F2E9"/>
                </a:solidFill>
                <a:latin typeface="Hiragino Sans GB"/>
                <a:ea typeface="Hiragino Sans GB"/>
              </a:rPr>
              <a:t>项目从一个具体工作时刻开始。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0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4944" y="182880"/>
            <a:ext cx="9692640" cy="329184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36D6C2"/>
                </a:solidFill>
                <a:latin typeface="Hiragino Sans GB"/>
                <a:ea typeface="Hiragino Sans GB"/>
              </a:rPr>
              <a:t>第二节｜用一个小项目看懂完整过程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00232" y="201168"/>
            <a:ext cx="502920" cy="27432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7B5BC"/>
                </a:solidFill>
                <a:latin typeface="Hiragino Sans GB"/>
                <a:ea typeface="Hiragino Sans GB"/>
              </a:rPr>
              <a:t>14</a:t>
            </a:r>
          </a:p>
        </p:txBody>
      </p:sp>
      <p:sp>
        <p:nvSpPr>
          <p:cNvPr id="4" name="Rectangle 3"/>
          <p:cNvSpPr/>
          <p:nvPr/>
        </p:nvSpPr>
        <p:spPr>
          <a:xfrm>
            <a:off x="694944" y="6556248"/>
            <a:ext cx="10808208" cy="12801"/>
          </a:xfrm>
          <a:prstGeom prst="rect">
            <a:avLst/>
          </a:prstGeom>
          <a:solidFill>
            <a:srgbClr val="416A7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deckkit-motif-quiet"/>
          <p:cNvSpPr/>
          <p:nvPr/>
        </p:nvSpPr>
        <p:spPr>
          <a:xfrm>
            <a:off x="694944" y="6501384"/>
            <a:ext cx="5043830" cy="36576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658368"/>
            <a:ext cx="10716768" cy="56692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F5F2E9"/>
                </a:solidFill>
                <a:latin typeface="Hiragino Sans GB"/>
                <a:ea typeface="Hiragino Sans GB"/>
              </a:rPr>
              <a:t>模型、规则、系统与人工</a:t>
            </a:r>
          </a:p>
        </p:txBody>
      </p:sp>
      <p:sp>
        <p:nvSpPr>
          <p:cNvPr id="7" name="deckkit-motif-quiet"/>
          <p:cNvSpPr/>
          <p:nvPr/>
        </p:nvSpPr>
        <p:spPr>
          <a:xfrm>
            <a:off x="713232" y="1261872"/>
            <a:ext cx="1335024" cy="41148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371600"/>
            <a:ext cx="10661904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A7B5BC"/>
                </a:solidFill>
                <a:latin typeface="Hiragino Sans GB"/>
                <a:ea typeface="Hiragino Sans GB"/>
              </a:rPr>
              <a:t>一个AI产品不是只有一次模型调用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49808" y="1874519"/>
          <a:ext cx="10533888" cy="333756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353312"/>
                <a:gridCol w="2907792"/>
                <a:gridCol w="6272784"/>
              </a:tblGrid>
              <a:tr h="667512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36D6C2"/>
                          </a:solidFill>
                          <a:latin typeface="Hiragino Sans GB"/>
                          <a:ea typeface="Hiragino Sans GB"/>
                        </a:rPr>
                        <a:t>环节</a:t>
                      </a:r>
                    </a:p>
                  </a:txBody>
                  <a:tcPr marL="88900" marR="88900" marT="25400" marB="25400" anchor="ctr">
                    <a:lnT w="17780" cap="flat" cmpd="sng" algn="ctr">
                      <a:solidFill>
                        <a:srgbClr val="36D6C2"/>
                      </a:solidFill>
                    </a:lnT>
                    <a:lnB w="10160" cap="flat" cmpd="sng" algn="ctr">
                      <a:solidFill>
                        <a:srgbClr val="416A7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36D6C2"/>
                          </a:solidFill>
                          <a:latin typeface="Hiragino Sans GB"/>
                          <a:ea typeface="Hiragino Sans GB"/>
                        </a:rPr>
                        <a:t>主要责任</a:t>
                      </a:r>
                    </a:p>
                  </a:txBody>
                  <a:tcPr marL="88900" marR="88900" marT="25400" marB="25400" anchor="ctr">
                    <a:lnT w="17780" cap="flat" cmpd="sng" algn="ctr">
                      <a:solidFill>
                        <a:srgbClr val="36D6C2"/>
                      </a:solidFill>
                    </a:lnT>
                    <a:lnB w="10160" cap="flat" cmpd="sng" algn="ctr">
                      <a:solidFill>
                        <a:srgbClr val="416A7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36D6C2"/>
                          </a:solidFill>
                          <a:latin typeface="Hiragino Sans GB"/>
                          <a:ea typeface="Hiragino Sans GB"/>
                        </a:rPr>
                        <a:t>这个案例中的工作</a:t>
                      </a:r>
                    </a:p>
                  </a:txBody>
                  <a:tcPr marL="88900" marR="88900" marT="25400" marB="25400" anchor="ctr">
                    <a:lnT w="17780" cap="flat" cmpd="sng" algn="ctr">
                      <a:solidFill>
                        <a:srgbClr val="36D6C2"/>
                      </a:solidFill>
                    </a:lnT>
                    <a:lnB w="10160" cap="flat" cmpd="sng" algn="ctr">
                      <a:solidFill>
                        <a:srgbClr val="416A78"/>
                      </a:solidFill>
                    </a:lnB>
                    <a:noFill/>
                  </a:tcPr>
                </a:tc>
              </a:tr>
              <a:tr h="667512"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大模型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理解非结构化语言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识别任务、风险、条件与决定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</a:tr>
              <a:tr h="667512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7657"/>
                          </a:solidFill>
                          <a:latin typeface="Hiragino Sans GB"/>
                          <a:ea typeface="Hiragino Sans GB"/>
                        </a:rPr>
                        <a:t>规则</a:t>
                      </a:r>
                    </a:p>
                  </a:txBody>
                  <a:tcPr marL="88900" marR="88900" marT="25400" marB="25400" anchor="ctr">
                    <a:solidFill>
                      <a:srgbClr val="13384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7657"/>
                          </a:solidFill>
                          <a:latin typeface="Hiragino Sans GB"/>
                          <a:ea typeface="Hiragino Sans GB"/>
                        </a:rPr>
                        <a:t>处理确定性要求</a:t>
                      </a:r>
                    </a:p>
                  </a:txBody>
                  <a:tcPr marL="88900" marR="88900" marT="25400" marB="25400" anchor="ctr">
                    <a:solidFill>
                      <a:srgbClr val="13384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7657"/>
                          </a:solidFill>
                          <a:latin typeface="Hiragino Sans GB"/>
                          <a:ea typeface="Hiragino Sans GB"/>
                        </a:rPr>
                        <a:t>日期格式、必填字段、状态校验</a:t>
                      </a:r>
                    </a:p>
                  </a:txBody>
                  <a:tcPr marL="88900" marR="88900" marT="25400" marB="25400" anchor="ctr">
                    <a:solidFill>
                      <a:srgbClr val="133843"/>
                    </a:solidFill>
                  </a:tcPr>
                </a:tc>
              </a:tr>
              <a:tr h="667512"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系统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承载产品流程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保存结果、展示编辑、同步任务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</a:tr>
              <a:tr h="667512"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人工</a:t>
                      </a:r>
                    </a:p>
                  </a:txBody>
                  <a:tcPr marL="88900" marR="88900" marT="25400" marB="25400" anchor="ctr">
                    <a:lnB w="17780" cap="flat" cmpd="sng" algn="ctr">
                      <a:solidFill>
                        <a:srgbClr val="36D6C2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处理责任与歧义</a:t>
                      </a:r>
                    </a:p>
                  </a:txBody>
                  <a:tcPr marL="88900" marR="88900" marT="25400" marB="25400" anchor="ctr">
                    <a:lnB w="17780" cap="flat" cmpd="sng" algn="ctr">
                      <a:solidFill>
                        <a:srgbClr val="36D6C2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确认负责人、时间、风险和最终提交</a:t>
                      </a:r>
                    </a:p>
                  </a:txBody>
                  <a:tcPr marL="88900" marR="88900" marT="25400" marB="25400" anchor="ctr">
                    <a:lnB w="17780" cap="flat" cmpd="sng" algn="ctr">
                      <a:solidFill>
                        <a:srgbClr val="36D6C2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749808" y="5742432"/>
            <a:ext cx="10533888" cy="548640"/>
          </a:xfrm>
          <a:prstGeom prst="roundRect">
            <a:avLst>
              <a:gd name="adj" fmla="val 23333"/>
            </a:avLst>
          </a:prstGeom>
          <a:solidFill>
            <a:srgbClr val="133843"/>
          </a:solidFill>
          <a:ln w="701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50976" y="5870448"/>
            <a:ext cx="1133856" cy="25603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7657"/>
                </a:solidFill>
                <a:latin typeface="Hiragino Sans GB"/>
                <a:ea typeface="Hiragino Sans GB"/>
              </a:rPr>
              <a:t>本页重点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5843016"/>
            <a:ext cx="8887968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5F2E9"/>
                </a:solidFill>
                <a:latin typeface="Hiragino Sans GB"/>
                <a:ea typeface="Hiragino Sans GB"/>
              </a:rPr>
              <a:t>把不同工作交给最合适的承担者。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0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4944" y="182880"/>
            <a:ext cx="9692640" cy="329184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36D6C2"/>
                </a:solidFill>
                <a:latin typeface="Hiragino Sans GB"/>
                <a:ea typeface="Hiragino Sans GB"/>
              </a:rPr>
              <a:t>第二节｜用一个小项目看懂完整过程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00232" y="201168"/>
            <a:ext cx="502920" cy="27432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7B5BC"/>
                </a:solidFill>
                <a:latin typeface="Hiragino Sans GB"/>
                <a:ea typeface="Hiragino Sans GB"/>
              </a:rPr>
              <a:t>15</a:t>
            </a:r>
          </a:p>
        </p:txBody>
      </p:sp>
      <p:sp>
        <p:nvSpPr>
          <p:cNvPr id="4" name="Rectangle 3"/>
          <p:cNvSpPr/>
          <p:nvPr/>
        </p:nvSpPr>
        <p:spPr>
          <a:xfrm>
            <a:off x="694944" y="6556248"/>
            <a:ext cx="10808208" cy="12801"/>
          </a:xfrm>
          <a:prstGeom prst="rect">
            <a:avLst/>
          </a:prstGeom>
          <a:solidFill>
            <a:srgbClr val="416A7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deckkit-motif-quiet"/>
          <p:cNvSpPr/>
          <p:nvPr/>
        </p:nvSpPr>
        <p:spPr>
          <a:xfrm>
            <a:off x="694944" y="6501384"/>
            <a:ext cx="5404104" cy="36576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658368"/>
            <a:ext cx="10716768" cy="56692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F5F2E9"/>
                </a:solidFill>
                <a:latin typeface="Hiragino Sans GB"/>
                <a:ea typeface="Hiragino Sans GB"/>
              </a:rPr>
              <a:t>第一版做什么</a:t>
            </a:r>
          </a:p>
        </p:txBody>
      </p:sp>
      <p:sp>
        <p:nvSpPr>
          <p:cNvPr id="7" name="deckkit-motif-quiet"/>
          <p:cNvSpPr/>
          <p:nvPr/>
        </p:nvSpPr>
        <p:spPr>
          <a:xfrm>
            <a:off x="713232" y="1261872"/>
            <a:ext cx="1335024" cy="41148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371600"/>
            <a:ext cx="10661904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A7B5BC"/>
                </a:solidFill>
                <a:latin typeface="Hiragino Sans GB"/>
                <a:ea typeface="Hiragino Sans GB"/>
              </a:rPr>
              <a:t>先完成一条最短、可验证的链路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1883664"/>
            <a:ext cx="5157216" cy="3621024"/>
          </a:xfrm>
          <a:prstGeom prst="roundRect">
            <a:avLst>
              <a:gd name="adj" fmla="val 4040"/>
            </a:avLst>
          </a:prstGeom>
          <a:solidFill>
            <a:srgbClr val="102B37"/>
          </a:solidFill>
          <a:ln w="9715">
            <a:solidFill>
              <a:srgbClr val="36D6C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084832"/>
            <a:ext cx="4645152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36D6C2"/>
                </a:solidFill>
                <a:latin typeface="Hiragino Sans GB"/>
                <a:ea typeface="Hiragino Sans GB"/>
              </a:rPr>
              <a:t>第一版包含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7" y="2788920"/>
            <a:ext cx="91440" cy="91440"/>
          </a:xfrm>
          <a:prstGeom prst="roundRect">
            <a:avLst>
              <a:gd name="adj" fmla="val 50000"/>
            </a:avLst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61872" y="2633472"/>
            <a:ext cx="4352544" cy="43891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F5F2E9"/>
                </a:solidFill>
                <a:latin typeface="Hiragino Sans GB"/>
                <a:ea typeface="Hiragino Sans GB"/>
              </a:rPr>
              <a:t>输入单次会议转写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24127" y="3675888"/>
            <a:ext cx="91440" cy="91440"/>
          </a:xfrm>
          <a:prstGeom prst="roundRect">
            <a:avLst>
              <a:gd name="adj" fmla="val 50000"/>
            </a:avLst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61872" y="3520440"/>
            <a:ext cx="4352544" cy="43891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F5F2E9"/>
                </a:solidFill>
                <a:latin typeface="Hiragino Sans GB"/>
                <a:ea typeface="Hiragino Sans GB"/>
              </a:rPr>
              <a:t>提取任务、时间、条件、风险和决定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24127" y="4562856"/>
            <a:ext cx="91440" cy="91440"/>
          </a:xfrm>
          <a:prstGeom prst="roundRect">
            <a:avLst>
              <a:gd name="adj" fmla="val 50000"/>
            </a:avLst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61872" y="4407408"/>
            <a:ext cx="4352544" cy="43891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F5F2E9"/>
                </a:solidFill>
                <a:latin typeface="Hiragino Sans GB"/>
                <a:ea typeface="Hiragino Sans GB"/>
              </a:rPr>
              <a:t>人工确认后同步任务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26480" y="1883664"/>
            <a:ext cx="5157216" cy="3621024"/>
          </a:xfrm>
          <a:prstGeom prst="roundRect">
            <a:avLst>
              <a:gd name="adj" fmla="val 4040"/>
            </a:avLst>
          </a:prstGeom>
          <a:solidFill>
            <a:srgbClr val="102B37"/>
          </a:solidFill>
          <a:ln w="9715">
            <a:solidFill>
              <a:srgbClr val="FF765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82512" y="2084832"/>
            <a:ext cx="4645152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F7657"/>
                </a:solidFill>
                <a:latin typeface="Hiragino Sans GB"/>
                <a:ea typeface="Hiragino Sans GB"/>
              </a:rPr>
              <a:t>第一版暂不包含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2788920"/>
            <a:ext cx="91440" cy="91440"/>
          </a:xfrm>
          <a:prstGeom prst="roundRect">
            <a:avLst>
              <a:gd name="adj" fmla="val 50000"/>
            </a:avLst>
          </a:prstGeom>
          <a:solidFill>
            <a:srgbClr val="FF76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38544" y="2633472"/>
            <a:ext cx="4352544" cy="43891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F5F2E9"/>
                </a:solidFill>
                <a:latin typeface="Hiragino Sans GB"/>
                <a:ea typeface="Hiragino Sans GB"/>
              </a:rPr>
              <a:t>跨会议长期追踪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0" y="3675888"/>
            <a:ext cx="91440" cy="91440"/>
          </a:xfrm>
          <a:prstGeom prst="roundRect">
            <a:avLst>
              <a:gd name="adj" fmla="val 50000"/>
            </a:avLst>
          </a:prstGeom>
          <a:solidFill>
            <a:srgbClr val="FF76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38544" y="3520440"/>
            <a:ext cx="4352544" cy="43891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F5F2E9"/>
                </a:solidFill>
                <a:latin typeface="Hiragino Sans GB"/>
                <a:ea typeface="Hiragino Sans GB"/>
              </a:rPr>
              <a:t>自动修改外部系统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0" y="4562856"/>
            <a:ext cx="91440" cy="91440"/>
          </a:xfrm>
          <a:prstGeom prst="roundRect">
            <a:avLst>
              <a:gd name="adj" fmla="val 50000"/>
            </a:avLst>
          </a:prstGeom>
          <a:solidFill>
            <a:srgbClr val="FF76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38544" y="4407408"/>
            <a:ext cx="4352544" cy="43891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F5F2E9"/>
                </a:solidFill>
                <a:latin typeface="Hiragino Sans GB"/>
                <a:ea typeface="Hiragino Sans GB"/>
              </a:rPr>
              <a:t>复杂权限和企业级治理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49808" y="5742432"/>
            <a:ext cx="10533888" cy="548640"/>
          </a:xfrm>
          <a:prstGeom prst="roundRect">
            <a:avLst>
              <a:gd name="adj" fmla="val 23333"/>
            </a:avLst>
          </a:prstGeom>
          <a:solidFill>
            <a:srgbClr val="133843"/>
          </a:solidFill>
          <a:ln w="701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50976" y="5870448"/>
            <a:ext cx="1133856" cy="25603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7657"/>
                </a:solidFill>
                <a:latin typeface="Hiragino Sans GB"/>
                <a:ea typeface="Hiragino Sans GB"/>
              </a:rPr>
              <a:t>判断标准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57400" y="5843016"/>
            <a:ext cx="8887968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5F2E9"/>
                </a:solidFill>
                <a:latin typeface="Hiragino Sans GB"/>
                <a:ea typeface="Hiragino Sans GB"/>
              </a:rPr>
              <a:t>MVP不是功能少，而是把最关键的一条链路做完整。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0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4944" y="182880"/>
            <a:ext cx="9692640" cy="329184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36D6C2"/>
                </a:solidFill>
                <a:latin typeface="Hiragino Sans GB"/>
                <a:ea typeface="Hiragino Sans GB"/>
              </a:rPr>
              <a:t>第二节｜用一个小项目看懂完整过程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00232" y="201168"/>
            <a:ext cx="502920" cy="27432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7B5BC"/>
                </a:solidFill>
                <a:latin typeface="Hiragino Sans GB"/>
                <a:ea typeface="Hiragino Sans GB"/>
              </a:rPr>
              <a:t>16</a:t>
            </a:r>
          </a:p>
        </p:txBody>
      </p:sp>
      <p:sp>
        <p:nvSpPr>
          <p:cNvPr id="4" name="Rectangle 3"/>
          <p:cNvSpPr/>
          <p:nvPr/>
        </p:nvSpPr>
        <p:spPr>
          <a:xfrm>
            <a:off x="694944" y="6556248"/>
            <a:ext cx="10808208" cy="12801"/>
          </a:xfrm>
          <a:prstGeom prst="rect">
            <a:avLst/>
          </a:prstGeom>
          <a:solidFill>
            <a:srgbClr val="416A7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deckkit-motif-quiet"/>
          <p:cNvSpPr/>
          <p:nvPr/>
        </p:nvSpPr>
        <p:spPr>
          <a:xfrm>
            <a:off x="694944" y="6501384"/>
            <a:ext cx="5764377" cy="36576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658368"/>
            <a:ext cx="10716768" cy="56692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F5F2E9"/>
                </a:solidFill>
                <a:latin typeface="Hiragino Sans GB"/>
                <a:ea typeface="Hiragino Sans GB"/>
              </a:rPr>
              <a:t>从输入到输出的处理流程</a:t>
            </a:r>
          </a:p>
        </p:txBody>
      </p:sp>
      <p:sp>
        <p:nvSpPr>
          <p:cNvPr id="7" name="deckkit-motif-quiet"/>
          <p:cNvSpPr/>
          <p:nvPr/>
        </p:nvSpPr>
        <p:spPr>
          <a:xfrm>
            <a:off x="713232" y="1261872"/>
            <a:ext cx="1335024" cy="41148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371600"/>
            <a:ext cx="10661904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A7B5BC"/>
                </a:solidFill>
                <a:latin typeface="Hiragino Sans GB"/>
                <a:ea typeface="Hiragino Sans GB"/>
              </a:rPr>
              <a:t>模型理解，规则校验，人工确认，系统执行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1938528"/>
            <a:ext cx="1633727" cy="3529584"/>
          </a:xfrm>
          <a:prstGeom prst="roundRect">
            <a:avLst>
              <a:gd name="adj" fmla="val 8955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50976" y="2139696"/>
            <a:ext cx="530352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6D6C2"/>
                </a:solidFill>
                <a:latin typeface="Hiragino Sans GB"/>
                <a:ea typeface="Hiragino Sans GB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976" y="2432304"/>
            <a:ext cx="1231391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70" b="1" i="0">
                <a:solidFill>
                  <a:srgbClr val="F5F2E9"/>
                </a:solidFill>
                <a:latin typeface="Hiragino Sans GB"/>
                <a:ea typeface="Hiragino Sans GB"/>
              </a:rPr>
              <a:t>输入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0976" y="2852928"/>
            <a:ext cx="1231391" cy="250545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60" b="0" i="0">
                <a:solidFill>
                  <a:srgbClr val="A7B5BC"/>
                </a:solidFill>
                <a:latin typeface="Hiragino Sans GB"/>
                <a:ea typeface="Hiragino Sans GB"/>
              </a:rPr>
              <a:t>会议转写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2374392" y="3630168"/>
            <a:ext cx="182880" cy="146304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529839" y="1938528"/>
            <a:ext cx="1633727" cy="3529584"/>
          </a:xfrm>
          <a:prstGeom prst="roundRect">
            <a:avLst>
              <a:gd name="adj" fmla="val 8955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31007" y="2139696"/>
            <a:ext cx="530352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6D6C2"/>
                </a:solidFill>
                <a:latin typeface="Hiragino Sans GB"/>
                <a:ea typeface="Hiragino Sans GB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31007" y="2432304"/>
            <a:ext cx="1231391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70" b="1" i="0">
                <a:solidFill>
                  <a:srgbClr val="F5F2E9"/>
                </a:solidFill>
                <a:latin typeface="Hiragino Sans GB"/>
                <a:ea typeface="Hiragino Sans GB"/>
              </a:rPr>
              <a:t>识别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31007" y="2852928"/>
            <a:ext cx="1231391" cy="250545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60" b="0" i="0">
                <a:solidFill>
                  <a:srgbClr val="A7B5BC"/>
                </a:solidFill>
                <a:latin typeface="Hiragino Sans GB"/>
                <a:ea typeface="Hiragino Sans GB"/>
              </a:rPr>
              <a:t>任务/风险/决定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4154423" y="3630168"/>
            <a:ext cx="182880" cy="146304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309872" y="1938528"/>
            <a:ext cx="1633727" cy="3529584"/>
          </a:xfrm>
          <a:prstGeom prst="roundRect">
            <a:avLst>
              <a:gd name="adj" fmla="val 8955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11039" y="2139696"/>
            <a:ext cx="530352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0C565"/>
                </a:solidFill>
                <a:latin typeface="Hiragino Sans GB"/>
                <a:ea typeface="Hiragino Sans GB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11039" y="2432304"/>
            <a:ext cx="1231391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70" b="1" i="0">
                <a:solidFill>
                  <a:srgbClr val="F5F2E9"/>
                </a:solidFill>
                <a:latin typeface="Hiragino Sans GB"/>
                <a:ea typeface="Hiragino Sans GB"/>
              </a:rPr>
              <a:t>校验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11039" y="2852928"/>
            <a:ext cx="1231391" cy="250545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60" b="0" i="0">
                <a:solidFill>
                  <a:srgbClr val="A7B5BC"/>
                </a:solidFill>
                <a:latin typeface="Hiragino Sans GB"/>
                <a:ea typeface="Hiragino Sans GB"/>
              </a:rPr>
              <a:t>日期与必填项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5934455" y="3630168"/>
            <a:ext cx="182880" cy="146304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089903" y="1938528"/>
            <a:ext cx="1633727" cy="3529584"/>
          </a:xfrm>
          <a:prstGeom prst="roundRect">
            <a:avLst>
              <a:gd name="adj" fmla="val 8955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91071" y="2139696"/>
            <a:ext cx="530352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7657"/>
                </a:solidFill>
                <a:latin typeface="Hiragino Sans GB"/>
                <a:ea typeface="Hiragino Sans GB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91071" y="2432304"/>
            <a:ext cx="1231391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70" b="1" i="0">
                <a:solidFill>
                  <a:srgbClr val="F5F2E9"/>
                </a:solidFill>
                <a:latin typeface="Hiragino Sans GB"/>
                <a:ea typeface="Hiragino Sans GB"/>
              </a:rPr>
              <a:t>提示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91071" y="2852928"/>
            <a:ext cx="1231391" cy="250545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60" b="0" i="0">
                <a:solidFill>
                  <a:srgbClr val="A7B5BC"/>
                </a:solidFill>
                <a:latin typeface="Hiragino Sans GB"/>
                <a:ea typeface="Hiragino Sans GB"/>
              </a:rPr>
              <a:t>标记歧义与缺失</a:t>
            </a:r>
          </a:p>
        </p:txBody>
      </p:sp>
      <p:sp>
        <p:nvSpPr>
          <p:cNvPr id="28" name="Right Arrow 27"/>
          <p:cNvSpPr/>
          <p:nvPr/>
        </p:nvSpPr>
        <p:spPr>
          <a:xfrm>
            <a:off x="7714487" y="3630168"/>
            <a:ext cx="182880" cy="146304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7869935" y="1938528"/>
            <a:ext cx="1633727" cy="3529584"/>
          </a:xfrm>
          <a:prstGeom prst="roundRect">
            <a:avLst>
              <a:gd name="adj" fmla="val 8955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71104" y="2139696"/>
            <a:ext cx="530352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68D391"/>
                </a:solidFill>
                <a:latin typeface="Hiragino Sans GB"/>
                <a:ea typeface="Hiragino Sans GB"/>
              </a:rPr>
              <a:t>05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71104" y="2432304"/>
            <a:ext cx="1231391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70" b="1" i="0">
                <a:solidFill>
                  <a:srgbClr val="F5F2E9"/>
                </a:solidFill>
                <a:latin typeface="Hiragino Sans GB"/>
                <a:ea typeface="Hiragino Sans GB"/>
              </a:rPr>
              <a:t>确认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71104" y="2852928"/>
            <a:ext cx="1231391" cy="250545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60" b="0" i="0">
                <a:solidFill>
                  <a:srgbClr val="A7B5BC"/>
                </a:solidFill>
                <a:latin typeface="Hiragino Sans GB"/>
                <a:ea typeface="Hiragino Sans GB"/>
              </a:rPr>
              <a:t>人工修改和提交</a:t>
            </a:r>
          </a:p>
        </p:txBody>
      </p:sp>
      <p:sp>
        <p:nvSpPr>
          <p:cNvPr id="33" name="Right Arrow 32"/>
          <p:cNvSpPr/>
          <p:nvPr/>
        </p:nvSpPr>
        <p:spPr>
          <a:xfrm>
            <a:off x="9494520" y="3630168"/>
            <a:ext cx="182880" cy="146304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9649967" y="1938528"/>
            <a:ext cx="1633727" cy="3529584"/>
          </a:xfrm>
          <a:prstGeom prst="roundRect">
            <a:avLst>
              <a:gd name="adj" fmla="val 8955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851135" y="2139696"/>
            <a:ext cx="530352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68D391"/>
                </a:solidFill>
                <a:latin typeface="Hiragino Sans GB"/>
                <a:ea typeface="Hiragino Sans GB"/>
              </a:rPr>
              <a:t>06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851135" y="2432304"/>
            <a:ext cx="1231391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70" b="1" i="0">
                <a:solidFill>
                  <a:srgbClr val="F5F2E9"/>
                </a:solidFill>
                <a:latin typeface="Hiragino Sans GB"/>
                <a:ea typeface="Hiragino Sans GB"/>
              </a:rPr>
              <a:t>同步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851135" y="2852928"/>
            <a:ext cx="1231391" cy="250545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60" b="0" i="0">
                <a:solidFill>
                  <a:srgbClr val="A7B5BC"/>
                </a:solidFill>
                <a:latin typeface="Hiragino Sans GB"/>
                <a:ea typeface="Hiragino Sans GB"/>
              </a:rPr>
              <a:t>进入任务系统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49808" y="5742432"/>
            <a:ext cx="10533888" cy="548640"/>
          </a:xfrm>
          <a:prstGeom prst="roundRect">
            <a:avLst>
              <a:gd name="adj" fmla="val 23333"/>
            </a:avLst>
          </a:prstGeom>
          <a:solidFill>
            <a:srgbClr val="133843"/>
          </a:solidFill>
          <a:ln w="701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50976" y="5870448"/>
            <a:ext cx="1133856" cy="25603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7657"/>
                </a:solidFill>
                <a:latin typeface="Hiragino Sans GB"/>
                <a:ea typeface="Hiragino Sans GB"/>
              </a:rPr>
              <a:t>处理结果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057400" y="5843016"/>
            <a:ext cx="8887968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5F2E9"/>
                </a:solidFill>
                <a:latin typeface="Hiragino Sans GB"/>
                <a:ea typeface="Hiragino Sans GB"/>
              </a:rPr>
              <a:t>有歧义的内容不能直接变成自动承诺。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0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4944" y="182880"/>
            <a:ext cx="9692640" cy="329184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36D6C2"/>
                </a:solidFill>
                <a:latin typeface="Hiragino Sans GB"/>
                <a:ea typeface="Hiragino Sans GB"/>
              </a:rPr>
              <a:t>第二节｜用一个小项目看懂完整过程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00232" y="201168"/>
            <a:ext cx="502920" cy="27432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7B5BC"/>
                </a:solidFill>
                <a:latin typeface="Hiragino Sans GB"/>
                <a:ea typeface="Hiragino Sans GB"/>
              </a:rPr>
              <a:t>17</a:t>
            </a:r>
          </a:p>
        </p:txBody>
      </p:sp>
      <p:sp>
        <p:nvSpPr>
          <p:cNvPr id="4" name="Rectangle 3"/>
          <p:cNvSpPr/>
          <p:nvPr/>
        </p:nvSpPr>
        <p:spPr>
          <a:xfrm>
            <a:off x="694944" y="6556248"/>
            <a:ext cx="10808208" cy="12801"/>
          </a:xfrm>
          <a:prstGeom prst="rect">
            <a:avLst/>
          </a:prstGeom>
          <a:solidFill>
            <a:srgbClr val="416A7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deckkit-motif-quiet"/>
          <p:cNvSpPr/>
          <p:nvPr/>
        </p:nvSpPr>
        <p:spPr>
          <a:xfrm>
            <a:off x="694944" y="6501384"/>
            <a:ext cx="6124651" cy="36576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658368"/>
            <a:ext cx="10716768" cy="56692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F5F2E9"/>
                </a:solidFill>
                <a:latin typeface="Hiragino Sans GB"/>
                <a:ea typeface="Hiragino Sans GB"/>
              </a:rPr>
              <a:t>两张核心页面</a:t>
            </a:r>
          </a:p>
        </p:txBody>
      </p:sp>
      <p:sp>
        <p:nvSpPr>
          <p:cNvPr id="7" name="deckkit-motif-quiet"/>
          <p:cNvSpPr/>
          <p:nvPr/>
        </p:nvSpPr>
        <p:spPr>
          <a:xfrm>
            <a:off x="713232" y="1261872"/>
            <a:ext cx="1335024" cy="41148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371600"/>
            <a:ext cx="10661904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A7B5BC"/>
                </a:solidFill>
                <a:latin typeface="Hiragino Sans GB"/>
                <a:ea typeface="Hiragino Sans GB"/>
              </a:rPr>
              <a:t>小项目只画最关键的输入、确认与同步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1783080"/>
            <a:ext cx="4983480" cy="4160520"/>
          </a:xfrm>
          <a:prstGeom prst="roundRect">
            <a:avLst>
              <a:gd name="adj" fmla="val 3076"/>
            </a:avLst>
          </a:prstGeom>
          <a:solidFill>
            <a:srgbClr val="102B37"/>
          </a:solidFill>
          <a:ln w="9715">
            <a:solidFill>
              <a:srgbClr val="36D6C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7552" y="1975104"/>
            <a:ext cx="4480560" cy="31089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36D6C2"/>
                </a:solidFill>
                <a:latin typeface="Hiragino Sans GB"/>
                <a:ea typeface="Hiragino Sans GB"/>
              </a:rPr>
              <a:t>01｜会议内容输入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87552" y="2487168"/>
            <a:ext cx="4480560" cy="1993392"/>
          </a:xfrm>
          <a:prstGeom prst="roundRect">
            <a:avLst>
              <a:gd name="adj" fmla="val 4587"/>
            </a:avLst>
          </a:prstGeom>
          <a:solidFill>
            <a:srgbClr val="031016"/>
          </a:solidFill>
          <a:ln w="755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88720" y="2724912"/>
            <a:ext cx="4059936" cy="137160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A7B5BC"/>
                </a:solidFill>
                <a:latin typeface="Hiragino Sans GB"/>
                <a:ea typeface="Hiragino Sans GB"/>
              </a:rPr>
              <a:t>粘贴会议转写，或上传文本文件……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950208" y="4818888"/>
            <a:ext cx="1517904" cy="512064"/>
          </a:xfrm>
          <a:prstGeom prst="roundRect">
            <a:avLst>
              <a:gd name="adj" fmla="val 21428"/>
            </a:avLst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096512" y="4928616"/>
            <a:ext cx="1225296" cy="237744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31016"/>
                </a:solidFill>
                <a:latin typeface="Hiragino Sans GB"/>
                <a:ea typeface="Hiragino Sans GB"/>
              </a:rPr>
              <a:t>开始整理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63056" y="1783080"/>
            <a:ext cx="5111496" cy="4160520"/>
          </a:xfrm>
          <a:prstGeom prst="roundRect">
            <a:avLst>
              <a:gd name="adj" fmla="val 3076"/>
            </a:avLst>
          </a:prstGeom>
          <a:solidFill>
            <a:srgbClr val="102B37"/>
          </a:solidFill>
          <a:ln w="9715">
            <a:solidFill>
              <a:srgbClr val="FF765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975104"/>
            <a:ext cx="4617720" cy="31089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7657"/>
                </a:solidFill>
                <a:latin typeface="Hiragino Sans GB"/>
                <a:ea typeface="Hiragino Sans GB"/>
              </a:rPr>
              <a:t>02｜结果确认与同步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2523744"/>
            <a:ext cx="4553712" cy="585216"/>
          </a:xfrm>
          <a:prstGeom prst="roundRect">
            <a:avLst>
              <a:gd name="adj" fmla="val 12500"/>
            </a:avLst>
          </a:prstGeom>
          <a:solidFill>
            <a:srgbClr val="031016"/>
          </a:solidFill>
          <a:ln w="5937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65392" y="2660903"/>
            <a:ext cx="603504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7657"/>
                </a:solidFill>
                <a:latin typeface="Hiragino Sans GB"/>
                <a:ea typeface="Hiragino Sans GB"/>
              </a:rPr>
              <a:t>风险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42048" y="2633472"/>
            <a:ext cx="3511296" cy="29260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20" b="0" i="0">
                <a:solidFill>
                  <a:srgbClr val="F5F2E9"/>
                </a:solidFill>
                <a:latin typeface="Hiragino Sans GB"/>
                <a:ea typeface="Hiragino Sans GB"/>
              </a:rPr>
              <a:t>登录接口不稳定｜负责人待确认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3273551"/>
            <a:ext cx="4553712" cy="585216"/>
          </a:xfrm>
          <a:prstGeom prst="roundRect">
            <a:avLst>
              <a:gd name="adj" fmla="val 12500"/>
            </a:avLst>
          </a:prstGeom>
          <a:solidFill>
            <a:srgbClr val="031016"/>
          </a:solidFill>
          <a:ln w="5937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65392" y="3410711"/>
            <a:ext cx="603504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36D6C2"/>
                </a:solidFill>
                <a:latin typeface="Hiragino Sans GB"/>
                <a:ea typeface="Hiragino Sans GB"/>
              </a:rPr>
              <a:t>待办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42048" y="3383279"/>
            <a:ext cx="3511296" cy="29260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20" b="0" i="0">
                <a:solidFill>
                  <a:srgbClr val="F5F2E9"/>
                </a:solidFill>
                <a:latin typeface="Hiragino Sans GB"/>
                <a:ea typeface="Hiragino Sans GB"/>
              </a:rPr>
              <a:t>李妍｜明天下午前｜发送新版页面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0" y="4023359"/>
            <a:ext cx="4553712" cy="585216"/>
          </a:xfrm>
          <a:prstGeom prst="roundRect">
            <a:avLst>
              <a:gd name="adj" fmla="val 12500"/>
            </a:avLst>
          </a:prstGeom>
          <a:solidFill>
            <a:srgbClr val="031016"/>
          </a:solidFill>
          <a:ln w="5937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65392" y="4160520"/>
            <a:ext cx="603504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0C565"/>
                </a:solidFill>
                <a:latin typeface="Hiragino Sans GB"/>
                <a:ea typeface="Hiragino Sans GB"/>
              </a:rPr>
              <a:t>条件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42048" y="4133087"/>
            <a:ext cx="3511296" cy="29260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20" b="0" i="0">
                <a:solidFill>
                  <a:srgbClr val="F5F2E9"/>
                </a:solidFill>
                <a:latin typeface="Hiragino Sans GB"/>
                <a:ea typeface="Hiragino Sans GB"/>
              </a:rPr>
              <a:t>客户确认字段后｜王磊完成映射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308592" y="4892040"/>
            <a:ext cx="1645920" cy="493776"/>
          </a:xfrm>
          <a:prstGeom prst="roundRect">
            <a:avLst>
              <a:gd name="adj" fmla="val 22222"/>
            </a:avLst>
          </a:prstGeom>
          <a:solidFill>
            <a:srgbClr val="FF76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436608" y="4992624"/>
            <a:ext cx="1389888" cy="237744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31016"/>
                </a:solidFill>
                <a:latin typeface="Hiragino Sans GB"/>
                <a:ea typeface="Hiragino Sans GB"/>
              </a:rPr>
              <a:t>确认并同步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0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4944" y="182880"/>
            <a:ext cx="9692640" cy="329184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36D6C2"/>
                </a:solidFill>
                <a:latin typeface="Hiragino Sans GB"/>
                <a:ea typeface="Hiragino Sans GB"/>
              </a:rPr>
              <a:t>第二节｜用一个小项目看懂完整过程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00232" y="201168"/>
            <a:ext cx="502920" cy="27432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7B5BC"/>
                </a:solidFill>
                <a:latin typeface="Hiragino Sans GB"/>
                <a:ea typeface="Hiragino Sans GB"/>
              </a:rPr>
              <a:t>18</a:t>
            </a:r>
          </a:p>
        </p:txBody>
      </p:sp>
      <p:sp>
        <p:nvSpPr>
          <p:cNvPr id="4" name="Rectangle 3"/>
          <p:cNvSpPr/>
          <p:nvPr/>
        </p:nvSpPr>
        <p:spPr>
          <a:xfrm>
            <a:off x="694944" y="6556248"/>
            <a:ext cx="10808208" cy="12801"/>
          </a:xfrm>
          <a:prstGeom prst="rect">
            <a:avLst/>
          </a:prstGeom>
          <a:solidFill>
            <a:srgbClr val="416A7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deckkit-motif-quiet"/>
          <p:cNvSpPr/>
          <p:nvPr/>
        </p:nvSpPr>
        <p:spPr>
          <a:xfrm>
            <a:off x="694944" y="6501384"/>
            <a:ext cx="6484924" cy="36576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658368"/>
            <a:ext cx="10716768" cy="56692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F5F2E9"/>
                </a:solidFill>
                <a:latin typeface="Hiragino Sans GB"/>
                <a:ea typeface="Hiragino Sans GB"/>
              </a:rPr>
              <a:t>怎样测试第一版</a:t>
            </a:r>
          </a:p>
        </p:txBody>
      </p:sp>
      <p:sp>
        <p:nvSpPr>
          <p:cNvPr id="7" name="deckkit-motif-quiet"/>
          <p:cNvSpPr/>
          <p:nvPr/>
        </p:nvSpPr>
        <p:spPr>
          <a:xfrm>
            <a:off x="713232" y="1261872"/>
            <a:ext cx="1335024" cy="41148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371600"/>
            <a:ext cx="10661904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A7B5BC"/>
                </a:solidFill>
                <a:latin typeface="Hiragino Sans GB"/>
                <a:ea typeface="Hiragino Sans GB"/>
              </a:rPr>
              <a:t>正常情况和异常情况都要进入测试集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49808" y="1874519"/>
          <a:ext cx="10533888" cy="3456432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3584448"/>
                <a:gridCol w="6949440"/>
              </a:tblGrid>
              <a:tr h="576072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36D6C2"/>
                          </a:solidFill>
                          <a:latin typeface="Hiragino Sans GB"/>
                          <a:ea typeface="Hiragino Sans GB"/>
                        </a:rPr>
                        <a:t>测试情况</a:t>
                      </a:r>
                    </a:p>
                  </a:txBody>
                  <a:tcPr marL="88900" marR="88900" marT="25400" marB="25400" anchor="ctr">
                    <a:lnT w="17780" cap="flat" cmpd="sng" algn="ctr">
                      <a:solidFill>
                        <a:srgbClr val="36D6C2"/>
                      </a:solidFill>
                    </a:lnT>
                    <a:lnB w="10160" cap="flat" cmpd="sng" algn="ctr">
                      <a:solidFill>
                        <a:srgbClr val="416A7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36D6C2"/>
                          </a:solidFill>
                          <a:latin typeface="Hiragino Sans GB"/>
                          <a:ea typeface="Hiragino Sans GB"/>
                        </a:rPr>
                        <a:t>希望系统怎样处理</a:t>
                      </a:r>
                    </a:p>
                  </a:txBody>
                  <a:tcPr marL="88900" marR="88900" marT="25400" marB="25400" anchor="ctr">
                    <a:lnT w="17780" cap="flat" cmpd="sng" algn="ctr">
                      <a:solidFill>
                        <a:srgbClr val="36D6C2"/>
                      </a:solidFill>
                    </a:lnT>
                    <a:lnB w="10160" cap="flat" cmpd="sng" algn="ctr">
                      <a:solidFill>
                        <a:srgbClr val="416A78"/>
                      </a:solidFill>
                    </a:lnB>
                    <a:noFill/>
                  </a:tcPr>
                </a:tc>
              </a:tr>
              <a:tr h="576072"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负责人和日期都明确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正常生成待办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</a:tr>
              <a:tr h="576072"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只说‘尽快处理’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标记日期缺失，请人工确认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</a:tr>
              <a:tr h="576072"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任务依赖客户先确认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生成条件待办，不立即执行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</a:tr>
              <a:tr h="576072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7657"/>
                          </a:solidFill>
                          <a:latin typeface="Hiragino Sans GB"/>
                          <a:ea typeface="Hiragino Sans GB"/>
                        </a:rPr>
                        <a:t>两位发言人的时间相互矛盾</a:t>
                      </a:r>
                    </a:p>
                  </a:txBody>
                  <a:tcPr marL="88900" marR="88900" marT="25400" marB="25400" anchor="ctr">
                    <a:solidFill>
                      <a:srgbClr val="13384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7657"/>
                          </a:solidFill>
                          <a:latin typeface="Hiragino Sans GB"/>
                          <a:ea typeface="Hiragino Sans GB"/>
                        </a:rPr>
                        <a:t>标记冲突并保留原文</a:t>
                      </a:r>
                    </a:p>
                  </a:txBody>
                  <a:tcPr marL="88900" marR="88900" marT="25400" marB="25400" anchor="ctr">
                    <a:solidFill>
                      <a:srgbClr val="133843"/>
                    </a:solidFill>
                  </a:tcPr>
                </a:tc>
              </a:tr>
              <a:tr h="576072"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只有讨论，没有明确行动</a:t>
                      </a:r>
                    </a:p>
                  </a:txBody>
                  <a:tcPr marL="88900" marR="88900" marT="25400" marB="25400" anchor="ctr">
                    <a:lnB w="17780" cap="flat" cmpd="sng" algn="ctr">
                      <a:solidFill>
                        <a:srgbClr val="36D6C2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不强行生成任务</a:t>
                      </a:r>
                    </a:p>
                  </a:txBody>
                  <a:tcPr marL="88900" marR="88900" marT="25400" marB="25400" anchor="ctr">
                    <a:lnB w="17780" cap="flat" cmpd="sng" algn="ctr">
                      <a:solidFill>
                        <a:srgbClr val="36D6C2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749808" y="5742432"/>
            <a:ext cx="10533888" cy="548640"/>
          </a:xfrm>
          <a:prstGeom prst="roundRect">
            <a:avLst>
              <a:gd name="adj" fmla="val 23333"/>
            </a:avLst>
          </a:prstGeom>
          <a:solidFill>
            <a:srgbClr val="133843"/>
          </a:solidFill>
          <a:ln w="701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50976" y="5870448"/>
            <a:ext cx="1133856" cy="25603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7657"/>
                </a:solidFill>
                <a:latin typeface="Hiragino Sans GB"/>
                <a:ea typeface="Hiragino Sans GB"/>
              </a:rPr>
              <a:t>本页重点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5843016"/>
            <a:ext cx="8887968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5F2E9"/>
                </a:solidFill>
                <a:latin typeface="Hiragino Sans GB"/>
                <a:ea typeface="Hiragino Sans GB"/>
              </a:rPr>
              <a:t>异常样本不是失败记录，而是下一版修改的输入。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0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4944" y="182880"/>
            <a:ext cx="9692640" cy="329184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36D6C2"/>
                </a:solidFill>
                <a:latin typeface="Hiragino Sans GB"/>
                <a:ea typeface="Hiragino Sans GB"/>
              </a:rPr>
              <a:t>第二节｜用一个小项目看懂完整过程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00232" y="201168"/>
            <a:ext cx="502920" cy="27432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7B5BC"/>
                </a:solidFill>
                <a:latin typeface="Hiragino Sans GB"/>
                <a:ea typeface="Hiragino Sans GB"/>
              </a:rPr>
              <a:t>19</a:t>
            </a:r>
          </a:p>
        </p:txBody>
      </p:sp>
      <p:sp>
        <p:nvSpPr>
          <p:cNvPr id="4" name="Rectangle 3"/>
          <p:cNvSpPr/>
          <p:nvPr/>
        </p:nvSpPr>
        <p:spPr>
          <a:xfrm>
            <a:off x="694944" y="6556248"/>
            <a:ext cx="10808208" cy="12801"/>
          </a:xfrm>
          <a:prstGeom prst="rect">
            <a:avLst/>
          </a:prstGeom>
          <a:solidFill>
            <a:srgbClr val="416A7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deckkit-motif-quiet"/>
          <p:cNvSpPr/>
          <p:nvPr/>
        </p:nvSpPr>
        <p:spPr>
          <a:xfrm>
            <a:off x="694944" y="6501384"/>
            <a:ext cx="6845198" cy="36576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658368"/>
            <a:ext cx="10716768" cy="56692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F5F2E9"/>
                </a:solidFill>
                <a:latin typeface="Hiragino Sans GB"/>
                <a:ea typeface="Hiragino Sans GB"/>
              </a:rPr>
              <a:t>小项目的完整结构</a:t>
            </a:r>
          </a:p>
        </p:txBody>
      </p:sp>
      <p:sp>
        <p:nvSpPr>
          <p:cNvPr id="7" name="deckkit-motif-quiet"/>
          <p:cNvSpPr/>
          <p:nvPr/>
        </p:nvSpPr>
        <p:spPr>
          <a:xfrm>
            <a:off x="713232" y="1261872"/>
            <a:ext cx="1335024" cy="41148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371600"/>
            <a:ext cx="10661904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A7B5BC"/>
                </a:solidFill>
                <a:latin typeface="Hiragino Sans GB"/>
                <a:ea typeface="Hiragino Sans GB"/>
              </a:rPr>
              <a:t>功能很少，但关键判断已经形成闭环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1938528"/>
            <a:ext cx="1633727" cy="3529584"/>
          </a:xfrm>
          <a:prstGeom prst="roundRect">
            <a:avLst>
              <a:gd name="adj" fmla="val 8955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50976" y="2139696"/>
            <a:ext cx="530352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6D6C2"/>
                </a:solidFill>
                <a:latin typeface="Hiragino Sans GB"/>
                <a:ea typeface="Hiragino Sans GB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976" y="2432304"/>
            <a:ext cx="1231391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70" b="1" i="0">
                <a:solidFill>
                  <a:srgbClr val="F5F2E9"/>
                </a:solidFill>
                <a:latin typeface="Hiragino Sans GB"/>
                <a:ea typeface="Hiragino Sans GB"/>
              </a:rPr>
              <a:t>用户与场景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0976" y="2852928"/>
            <a:ext cx="1231391" cy="250545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60" b="0" i="0">
                <a:solidFill>
                  <a:srgbClr val="A7B5BC"/>
                </a:solidFill>
                <a:latin typeface="Hiragino Sans GB"/>
                <a:ea typeface="Hiragino Sans GB"/>
              </a:rPr>
              <a:t>谁在何时使用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2374392" y="3630168"/>
            <a:ext cx="182880" cy="146304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529839" y="1938528"/>
            <a:ext cx="1633727" cy="3529584"/>
          </a:xfrm>
          <a:prstGeom prst="roundRect">
            <a:avLst>
              <a:gd name="adj" fmla="val 8955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31007" y="2139696"/>
            <a:ext cx="530352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6D6C2"/>
                </a:solidFill>
                <a:latin typeface="Hiragino Sans GB"/>
                <a:ea typeface="Hiragino Sans GB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31007" y="2432304"/>
            <a:ext cx="1231391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70" b="1" i="0">
                <a:solidFill>
                  <a:srgbClr val="F5F2E9"/>
                </a:solidFill>
                <a:latin typeface="Hiragino Sans GB"/>
                <a:ea typeface="Hiragino Sans GB"/>
              </a:rPr>
              <a:t>真实输入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31007" y="2852928"/>
            <a:ext cx="1231391" cy="250545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60" b="0" i="0">
                <a:solidFill>
                  <a:srgbClr val="A7B5BC"/>
                </a:solidFill>
                <a:latin typeface="Hiragino Sans GB"/>
                <a:ea typeface="Hiragino Sans GB"/>
              </a:rPr>
              <a:t>会议转写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4154423" y="3630168"/>
            <a:ext cx="182880" cy="146304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309872" y="1938528"/>
            <a:ext cx="1633727" cy="3529584"/>
          </a:xfrm>
          <a:prstGeom prst="roundRect">
            <a:avLst>
              <a:gd name="adj" fmla="val 8955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11039" y="2139696"/>
            <a:ext cx="530352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0C565"/>
                </a:solidFill>
                <a:latin typeface="Hiragino Sans GB"/>
                <a:ea typeface="Hiragino Sans GB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11039" y="2432304"/>
            <a:ext cx="1231391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70" b="1" i="0">
                <a:solidFill>
                  <a:srgbClr val="F5F2E9"/>
                </a:solidFill>
                <a:latin typeface="Hiragino Sans GB"/>
                <a:ea typeface="Hiragino Sans GB"/>
              </a:rPr>
              <a:t>处理与分工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11039" y="2852928"/>
            <a:ext cx="1231391" cy="250545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60" b="0" i="0">
                <a:solidFill>
                  <a:srgbClr val="A7B5BC"/>
                </a:solidFill>
                <a:latin typeface="Hiragino Sans GB"/>
                <a:ea typeface="Hiragino Sans GB"/>
              </a:rPr>
              <a:t>模型/规则/人工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5934455" y="3630168"/>
            <a:ext cx="182880" cy="146304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089903" y="1938528"/>
            <a:ext cx="1633727" cy="3529584"/>
          </a:xfrm>
          <a:prstGeom prst="roundRect">
            <a:avLst>
              <a:gd name="adj" fmla="val 8955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91071" y="2139696"/>
            <a:ext cx="530352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7657"/>
                </a:solidFill>
                <a:latin typeface="Hiragino Sans GB"/>
                <a:ea typeface="Hiragino Sans GB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91071" y="2432304"/>
            <a:ext cx="1231391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70" b="1" i="0">
                <a:solidFill>
                  <a:srgbClr val="F5F2E9"/>
                </a:solidFill>
                <a:latin typeface="Hiragino Sans GB"/>
                <a:ea typeface="Hiragino Sans GB"/>
              </a:rPr>
              <a:t>产品输出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91071" y="2852928"/>
            <a:ext cx="1231391" cy="250545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60" b="0" i="0">
                <a:solidFill>
                  <a:srgbClr val="A7B5BC"/>
                </a:solidFill>
                <a:latin typeface="Hiragino Sans GB"/>
                <a:ea typeface="Hiragino Sans GB"/>
              </a:rPr>
              <a:t>可确认的行动清单</a:t>
            </a:r>
          </a:p>
        </p:txBody>
      </p:sp>
      <p:sp>
        <p:nvSpPr>
          <p:cNvPr id="28" name="Right Arrow 27"/>
          <p:cNvSpPr/>
          <p:nvPr/>
        </p:nvSpPr>
        <p:spPr>
          <a:xfrm>
            <a:off x="7714487" y="3630168"/>
            <a:ext cx="182880" cy="146304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7869935" y="1938528"/>
            <a:ext cx="1633727" cy="3529584"/>
          </a:xfrm>
          <a:prstGeom prst="roundRect">
            <a:avLst>
              <a:gd name="adj" fmla="val 8955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71104" y="2139696"/>
            <a:ext cx="530352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68D391"/>
                </a:solidFill>
                <a:latin typeface="Hiragino Sans GB"/>
                <a:ea typeface="Hiragino Sans GB"/>
              </a:rPr>
              <a:t>05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71104" y="2432304"/>
            <a:ext cx="1231391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70" b="1" i="0">
                <a:solidFill>
                  <a:srgbClr val="F5F2E9"/>
                </a:solidFill>
                <a:latin typeface="Hiragino Sans GB"/>
                <a:ea typeface="Hiragino Sans GB"/>
              </a:rPr>
              <a:t>第一版边界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71104" y="2852928"/>
            <a:ext cx="1231391" cy="250545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60" b="0" i="0">
                <a:solidFill>
                  <a:srgbClr val="A7B5BC"/>
                </a:solidFill>
                <a:latin typeface="Hiragino Sans GB"/>
                <a:ea typeface="Hiragino Sans GB"/>
              </a:rPr>
              <a:t>只做最短链路</a:t>
            </a:r>
          </a:p>
        </p:txBody>
      </p:sp>
      <p:sp>
        <p:nvSpPr>
          <p:cNvPr id="33" name="Right Arrow 32"/>
          <p:cNvSpPr/>
          <p:nvPr/>
        </p:nvSpPr>
        <p:spPr>
          <a:xfrm>
            <a:off x="9494520" y="3630168"/>
            <a:ext cx="182880" cy="146304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9649967" y="1938528"/>
            <a:ext cx="1633727" cy="3529584"/>
          </a:xfrm>
          <a:prstGeom prst="roundRect">
            <a:avLst>
              <a:gd name="adj" fmla="val 8955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851135" y="2139696"/>
            <a:ext cx="530352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68D391"/>
                </a:solidFill>
                <a:latin typeface="Hiragino Sans GB"/>
                <a:ea typeface="Hiragino Sans GB"/>
              </a:rPr>
              <a:t>06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851135" y="2432304"/>
            <a:ext cx="1231391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70" b="1" i="0">
                <a:solidFill>
                  <a:srgbClr val="F5F2E9"/>
                </a:solidFill>
                <a:latin typeface="Hiragino Sans GB"/>
                <a:ea typeface="Hiragino Sans GB"/>
              </a:rPr>
              <a:t>测试与修改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851135" y="2852928"/>
            <a:ext cx="1231391" cy="250545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60" b="0" i="0">
                <a:solidFill>
                  <a:srgbClr val="A7B5BC"/>
                </a:solidFill>
                <a:latin typeface="Hiragino Sans GB"/>
                <a:ea typeface="Hiragino Sans GB"/>
              </a:rPr>
              <a:t>用异常样本迭代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49808" y="5742432"/>
            <a:ext cx="10533888" cy="548640"/>
          </a:xfrm>
          <a:prstGeom prst="roundRect">
            <a:avLst>
              <a:gd name="adj" fmla="val 23333"/>
            </a:avLst>
          </a:prstGeom>
          <a:solidFill>
            <a:srgbClr val="133843"/>
          </a:solidFill>
          <a:ln w="701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50976" y="5870448"/>
            <a:ext cx="1133856" cy="25603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7657"/>
                </a:solidFill>
                <a:latin typeface="Hiragino Sans GB"/>
                <a:ea typeface="Hiragino Sans GB"/>
              </a:rPr>
              <a:t>处理结果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057400" y="5843016"/>
            <a:ext cx="8887968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5F2E9"/>
                </a:solidFill>
                <a:latin typeface="Hiragino Sans GB"/>
                <a:ea typeface="Hiragino Sans GB"/>
              </a:rPr>
              <a:t>项目完整度不等于功能数量。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0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4944" y="182880"/>
            <a:ext cx="9692640" cy="329184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36D6C2"/>
                </a:solidFill>
                <a:latin typeface="Hiragino Sans GB"/>
                <a:ea typeface="Hiragino Sans GB"/>
              </a:rPr>
              <a:t>第三节｜公共项目与个人项目的关系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00232" y="201168"/>
            <a:ext cx="502920" cy="27432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7B5BC"/>
                </a:solidFill>
                <a:latin typeface="Hiragino Sans GB"/>
                <a:ea typeface="Hiragino Sans GB"/>
              </a:rPr>
              <a:t>20</a:t>
            </a:r>
          </a:p>
        </p:txBody>
      </p:sp>
      <p:sp>
        <p:nvSpPr>
          <p:cNvPr id="4" name="Rectangle 3"/>
          <p:cNvSpPr/>
          <p:nvPr/>
        </p:nvSpPr>
        <p:spPr>
          <a:xfrm>
            <a:off x="694944" y="6556248"/>
            <a:ext cx="10808208" cy="12801"/>
          </a:xfrm>
          <a:prstGeom prst="rect">
            <a:avLst/>
          </a:prstGeom>
          <a:solidFill>
            <a:srgbClr val="416A7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deckkit-motif-quiet"/>
          <p:cNvSpPr/>
          <p:nvPr/>
        </p:nvSpPr>
        <p:spPr>
          <a:xfrm>
            <a:off x="694944" y="6501384"/>
            <a:ext cx="7205472" cy="36576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658368"/>
            <a:ext cx="10716768" cy="56692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F5F2E9"/>
                </a:solidFill>
                <a:latin typeface="Hiragino Sans GB"/>
                <a:ea typeface="Hiragino Sans GB"/>
              </a:rPr>
              <a:t>公共项目先给大家一个共同样例</a:t>
            </a:r>
          </a:p>
        </p:txBody>
      </p:sp>
      <p:sp>
        <p:nvSpPr>
          <p:cNvPr id="7" name="deckkit-motif-quiet"/>
          <p:cNvSpPr/>
          <p:nvPr/>
        </p:nvSpPr>
        <p:spPr>
          <a:xfrm>
            <a:off x="713232" y="1261872"/>
            <a:ext cx="1335024" cy="41148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371600"/>
            <a:ext cx="10661904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A7B5BC"/>
                </a:solidFill>
                <a:latin typeface="Hiragino Sans GB"/>
                <a:ea typeface="Hiragino Sans GB"/>
              </a:rPr>
              <a:t>课堂先把一个共同案例讲深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1883664"/>
            <a:ext cx="5157216" cy="3621024"/>
          </a:xfrm>
          <a:prstGeom prst="roundRect">
            <a:avLst>
              <a:gd name="adj" fmla="val 4040"/>
            </a:avLst>
          </a:prstGeom>
          <a:solidFill>
            <a:srgbClr val="102B37"/>
          </a:solidFill>
          <a:ln w="9715">
            <a:solidFill>
              <a:srgbClr val="36D6C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084832"/>
            <a:ext cx="4645152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36D6C2"/>
                </a:solidFill>
                <a:latin typeface="Hiragino Sans GB"/>
                <a:ea typeface="Hiragino Sans GB"/>
              </a:rPr>
              <a:t>老师提供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7" y="2788920"/>
            <a:ext cx="91440" cy="91440"/>
          </a:xfrm>
          <a:prstGeom prst="roundRect">
            <a:avLst>
              <a:gd name="adj" fmla="val 50000"/>
            </a:avLst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61872" y="2633472"/>
            <a:ext cx="4352544" cy="43891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F5F2E9"/>
                </a:solidFill>
                <a:latin typeface="Hiragino Sans GB"/>
                <a:ea typeface="Hiragino Sans GB"/>
              </a:rPr>
              <a:t>统一业务背景和材料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24127" y="3675888"/>
            <a:ext cx="91440" cy="91440"/>
          </a:xfrm>
          <a:prstGeom prst="roundRect">
            <a:avLst>
              <a:gd name="adj" fmla="val 50000"/>
            </a:avLst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61872" y="3520440"/>
            <a:ext cx="4352544" cy="43891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F5F2E9"/>
                </a:solidFill>
                <a:latin typeface="Hiragino Sans GB"/>
                <a:ea typeface="Hiragino Sans GB"/>
              </a:rPr>
              <a:t>完整的流程、页面和测试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24127" y="4562856"/>
            <a:ext cx="91440" cy="91440"/>
          </a:xfrm>
          <a:prstGeom prst="roundRect">
            <a:avLst>
              <a:gd name="adj" fmla="val 50000"/>
            </a:avLst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61872" y="4407408"/>
            <a:ext cx="4352544" cy="43891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F5F2E9"/>
                </a:solidFill>
                <a:latin typeface="Hiragino Sans GB"/>
                <a:ea typeface="Hiragino Sans GB"/>
              </a:rPr>
              <a:t>关键取舍与修改过程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26480" y="1883664"/>
            <a:ext cx="5157216" cy="3621024"/>
          </a:xfrm>
          <a:prstGeom prst="roundRect">
            <a:avLst>
              <a:gd name="adj" fmla="val 4040"/>
            </a:avLst>
          </a:prstGeom>
          <a:solidFill>
            <a:srgbClr val="102B37"/>
          </a:solidFill>
          <a:ln w="9715">
            <a:solidFill>
              <a:srgbClr val="FF765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82512" y="2084832"/>
            <a:ext cx="4645152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F7657"/>
                </a:solidFill>
                <a:latin typeface="Hiragino Sans GB"/>
                <a:ea typeface="Hiragino Sans GB"/>
              </a:rPr>
              <a:t>学员获得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2788920"/>
            <a:ext cx="91440" cy="91440"/>
          </a:xfrm>
          <a:prstGeom prst="roundRect">
            <a:avLst>
              <a:gd name="adj" fmla="val 50000"/>
            </a:avLst>
          </a:prstGeom>
          <a:solidFill>
            <a:srgbClr val="FF76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38544" y="2633472"/>
            <a:ext cx="4352544" cy="43891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F5F2E9"/>
                </a:solidFill>
                <a:latin typeface="Hiragino Sans GB"/>
                <a:ea typeface="Hiragino Sans GB"/>
              </a:rPr>
              <a:t>一套共同判断标准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0" y="3675888"/>
            <a:ext cx="91440" cy="91440"/>
          </a:xfrm>
          <a:prstGeom prst="roundRect">
            <a:avLst>
              <a:gd name="adj" fmla="val 50000"/>
            </a:avLst>
          </a:prstGeom>
          <a:solidFill>
            <a:srgbClr val="FF76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38544" y="3520440"/>
            <a:ext cx="4352544" cy="43891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F5F2E9"/>
                </a:solidFill>
                <a:latin typeface="Hiragino Sans GB"/>
                <a:ea typeface="Hiragino Sans GB"/>
              </a:rPr>
              <a:t>可重复使用的项目方法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0" y="4562856"/>
            <a:ext cx="91440" cy="91440"/>
          </a:xfrm>
          <a:prstGeom prst="roundRect">
            <a:avLst>
              <a:gd name="adj" fmla="val 50000"/>
            </a:avLst>
          </a:prstGeom>
          <a:solidFill>
            <a:srgbClr val="FF76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38544" y="4407408"/>
            <a:ext cx="4352544" cy="43891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F5F2E9"/>
                </a:solidFill>
                <a:latin typeface="Hiragino Sans GB"/>
                <a:ea typeface="Hiragino Sans GB"/>
              </a:rPr>
              <a:t>判断个人项目问题的参照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49808" y="5742432"/>
            <a:ext cx="10533888" cy="548640"/>
          </a:xfrm>
          <a:prstGeom prst="roundRect">
            <a:avLst>
              <a:gd name="adj" fmla="val 23333"/>
            </a:avLst>
          </a:prstGeom>
          <a:solidFill>
            <a:srgbClr val="133843"/>
          </a:solidFill>
          <a:ln w="701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50976" y="5870448"/>
            <a:ext cx="1133856" cy="25603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7657"/>
                </a:solidFill>
                <a:latin typeface="Hiragino Sans GB"/>
                <a:ea typeface="Hiragino Sans GB"/>
              </a:rPr>
              <a:t>判断标准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57400" y="5843016"/>
            <a:ext cx="8887968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5F2E9"/>
                </a:solidFill>
                <a:latin typeface="Hiragino Sans GB"/>
                <a:ea typeface="Hiragino Sans GB"/>
              </a:rPr>
              <a:t>公共项目是共同练习，不是统一作业答案。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0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4944" y="182880"/>
            <a:ext cx="9692640" cy="329184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36D6C2"/>
                </a:solidFill>
                <a:latin typeface="Hiragino Sans GB"/>
                <a:ea typeface="Hiragino Sans GB"/>
              </a:rPr>
              <a:t>第三节｜公共项目与个人项目的关系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00232" y="201168"/>
            <a:ext cx="502920" cy="27432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7B5BC"/>
                </a:solidFill>
                <a:latin typeface="Hiragino Sans GB"/>
                <a:ea typeface="Hiragino Sans GB"/>
              </a:rPr>
              <a:t>21</a:t>
            </a:r>
          </a:p>
        </p:txBody>
      </p:sp>
      <p:sp>
        <p:nvSpPr>
          <p:cNvPr id="4" name="Rectangle 3"/>
          <p:cNvSpPr/>
          <p:nvPr/>
        </p:nvSpPr>
        <p:spPr>
          <a:xfrm>
            <a:off x="694944" y="6556248"/>
            <a:ext cx="10808208" cy="12801"/>
          </a:xfrm>
          <a:prstGeom prst="rect">
            <a:avLst/>
          </a:prstGeom>
          <a:solidFill>
            <a:srgbClr val="416A7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deckkit-motif-quiet"/>
          <p:cNvSpPr/>
          <p:nvPr/>
        </p:nvSpPr>
        <p:spPr>
          <a:xfrm>
            <a:off x="694944" y="6501384"/>
            <a:ext cx="7565745" cy="36576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658368"/>
            <a:ext cx="10716768" cy="56692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F5F2E9"/>
                </a:solidFill>
                <a:latin typeface="Hiragino Sans GB"/>
                <a:ea typeface="Hiragino Sans GB"/>
              </a:rPr>
              <a:t>个人项目要回到自己的业务</a:t>
            </a:r>
          </a:p>
        </p:txBody>
      </p:sp>
      <p:sp>
        <p:nvSpPr>
          <p:cNvPr id="7" name="deckkit-motif-quiet"/>
          <p:cNvSpPr/>
          <p:nvPr/>
        </p:nvSpPr>
        <p:spPr>
          <a:xfrm>
            <a:off x="713232" y="1261872"/>
            <a:ext cx="1335024" cy="41148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371600"/>
            <a:ext cx="10661904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A7B5BC"/>
                </a:solidFill>
                <a:latin typeface="Hiragino Sans GB"/>
                <a:ea typeface="Hiragino Sans GB"/>
              </a:rPr>
              <a:t>同一种方法可以进入不同业务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1883664"/>
            <a:ext cx="3401568" cy="3694175"/>
          </a:xfrm>
          <a:prstGeom prst="roundRect">
            <a:avLst>
              <a:gd name="adj" fmla="val 4301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50976" y="2084832"/>
            <a:ext cx="530352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6D6C2"/>
                </a:solidFill>
                <a:latin typeface="Hiragino Sans GB"/>
                <a:ea typeface="Hiragino Sans GB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976" y="2377440"/>
            <a:ext cx="2999232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F5F2E9"/>
                </a:solidFill>
                <a:latin typeface="Hiragino Sans GB"/>
                <a:ea typeface="Hiragino Sans GB"/>
              </a:rPr>
              <a:t>对话与办理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0976" y="2798064"/>
            <a:ext cx="2999232" cy="2670047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A7B5BC"/>
                </a:solidFill>
                <a:latin typeface="Hiragino Sans GB"/>
                <a:ea typeface="Hiragino Sans GB"/>
              </a:rPr>
              <a:t>员工服务、售后、政策咨询、业务办理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15968" y="1883664"/>
            <a:ext cx="3401568" cy="3694175"/>
          </a:xfrm>
          <a:prstGeom prst="roundRect">
            <a:avLst>
              <a:gd name="adj" fmla="val 4301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17136" y="2084832"/>
            <a:ext cx="530352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7657"/>
                </a:solidFill>
                <a:latin typeface="Hiragino Sans GB"/>
                <a:ea typeface="Hiragino Sans GB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17136" y="2377440"/>
            <a:ext cx="2999232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F5F2E9"/>
                </a:solidFill>
                <a:latin typeface="Hiragino Sans GB"/>
                <a:ea typeface="Hiragino Sans GB"/>
              </a:rPr>
              <a:t>审核与核验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17136" y="2798064"/>
            <a:ext cx="2999232" cy="2670047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A7B5BC"/>
                </a:solidFill>
                <a:latin typeface="Hiragino Sans GB"/>
                <a:ea typeface="Hiragino Sans GB"/>
              </a:rPr>
              <a:t>合同、报销、准入、质量检查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882128" y="1883664"/>
            <a:ext cx="3401568" cy="3694175"/>
          </a:xfrm>
          <a:prstGeom prst="roundRect">
            <a:avLst>
              <a:gd name="adj" fmla="val 4301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83296" y="2084832"/>
            <a:ext cx="530352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0C565"/>
                </a:solidFill>
                <a:latin typeface="Hiragino Sans GB"/>
                <a:ea typeface="Hiragino Sans GB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83296" y="2377440"/>
            <a:ext cx="2999232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F5F2E9"/>
                </a:solidFill>
                <a:latin typeface="Hiragino Sans GB"/>
                <a:ea typeface="Hiragino Sans GB"/>
              </a:rPr>
              <a:t>研究与方案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83296" y="2798064"/>
            <a:ext cx="2999232" cy="2670047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A7B5BC"/>
                </a:solidFill>
                <a:latin typeface="Hiragino Sans GB"/>
                <a:ea typeface="Hiragino Sans GB"/>
              </a:rPr>
              <a:t>投研、咨询、售前、行业分析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49808" y="5742432"/>
            <a:ext cx="10533888" cy="548640"/>
          </a:xfrm>
          <a:prstGeom prst="roundRect">
            <a:avLst>
              <a:gd name="adj" fmla="val 23333"/>
            </a:avLst>
          </a:prstGeom>
          <a:solidFill>
            <a:srgbClr val="133843"/>
          </a:solidFill>
          <a:ln w="701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50976" y="5870448"/>
            <a:ext cx="1133856" cy="25603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7657"/>
                </a:solidFill>
                <a:latin typeface="Hiragino Sans GB"/>
                <a:ea typeface="Hiragino Sans GB"/>
              </a:rPr>
              <a:t>本页重点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57400" y="5843016"/>
            <a:ext cx="8887968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5F2E9"/>
                </a:solidFill>
                <a:latin typeface="Hiragino Sans GB"/>
                <a:ea typeface="Hiragino Sans GB"/>
              </a:rPr>
              <a:t>业务内容应来自自己的行业、经历或能够接触的材料。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0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4944" y="182880"/>
            <a:ext cx="9692640" cy="329184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36D6C2"/>
                </a:solidFill>
                <a:latin typeface="Hiragino Sans GB"/>
                <a:ea typeface="Hiragino Sans GB"/>
              </a:rPr>
              <a:t>第三节｜公共项目与个人项目的关系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00232" y="201168"/>
            <a:ext cx="502920" cy="27432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7B5BC"/>
                </a:solidFill>
                <a:latin typeface="Hiragino Sans GB"/>
                <a:ea typeface="Hiragino Sans GB"/>
              </a:rPr>
              <a:t>22</a:t>
            </a:r>
          </a:p>
        </p:txBody>
      </p:sp>
      <p:sp>
        <p:nvSpPr>
          <p:cNvPr id="4" name="Rectangle 3"/>
          <p:cNvSpPr/>
          <p:nvPr/>
        </p:nvSpPr>
        <p:spPr>
          <a:xfrm>
            <a:off x="694944" y="6556248"/>
            <a:ext cx="10808208" cy="12801"/>
          </a:xfrm>
          <a:prstGeom prst="rect">
            <a:avLst/>
          </a:prstGeom>
          <a:solidFill>
            <a:srgbClr val="416A7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deckkit-motif-quiet"/>
          <p:cNvSpPr/>
          <p:nvPr/>
        </p:nvSpPr>
        <p:spPr>
          <a:xfrm>
            <a:off x="694944" y="6501384"/>
            <a:ext cx="7926019" cy="36576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658368"/>
            <a:ext cx="10716768" cy="56692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F5F2E9"/>
                </a:solidFill>
                <a:latin typeface="Hiragino Sans GB"/>
                <a:ea typeface="Hiragino Sans GB"/>
              </a:rPr>
              <a:t>学方法，不照搬项目</a:t>
            </a:r>
          </a:p>
        </p:txBody>
      </p:sp>
      <p:sp>
        <p:nvSpPr>
          <p:cNvPr id="7" name="deckkit-motif-quiet"/>
          <p:cNvSpPr/>
          <p:nvPr/>
        </p:nvSpPr>
        <p:spPr>
          <a:xfrm>
            <a:off x="713232" y="1261872"/>
            <a:ext cx="1335024" cy="41148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371600"/>
            <a:ext cx="10661904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A7B5BC"/>
                </a:solidFill>
                <a:latin typeface="Hiragino Sans GB"/>
                <a:ea typeface="Hiragino Sans GB"/>
              </a:rPr>
              <a:t>判断是否真正做成自己的项目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1883664"/>
            <a:ext cx="5157216" cy="3621024"/>
          </a:xfrm>
          <a:prstGeom prst="roundRect">
            <a:avLst>
              <a:gd name="adj" fmla="val 4040"/>
            </a:avLst>
          </a:prstGeom>
          <a:solidFill>
            <a:srgbClr val="102B37"/>
          </a:solidFill>
          <a:ln w="9715">
            <a:solidFill>
              <a:srgbClr val="36D6C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084832"/>
            <a:ext cx="4645152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36D6C2"/>
                </a:solidFill>
                <a:latin typeface="Hiragino Sans GB"/>
                <a:ea typeface="Hiragino Sans GB"/>
              </a:rPr>
              <a:t>只改名字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7" y="2788920"/>
            <a:ext cx="91440" cy="91440"/>
          </a:xfrm>
          <a:prstGeom prst="roundRect">
            <a:avLst>
              <a:gd name="adj" fmla="val 50000"/>
            </a:avLst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61872" y="2633472"/>
            <a:ext cx="4352544" cy="43891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F5F2E9"/>
                </a:solidFill>
                <a:latin typeface="Hiragino Sans GB"/>
                <a:ea typeface="Hiragino Sans GB"/>
              </a:rPr>
              <a:t>用户和流程仍然一样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24127" y="3675888"/>
            <a:ext cx="91440" cy="91440"/>
          </a:xfrm>
          <a:prstGeom prst="roundRect">
            <a:avLst>
              <a:gd name="adj" fmla="val 50000"/>
            </a:avLst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61872" y="3520440"/>
            <a:ext cx="4352544" cy="43891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F5F2E9"/>
                </a:solidFill>
                <a:latin typeface="Hiragino Sans GB"/>
                <a:ea typeface="Hiragino Sans GB"/>
              </a:rPr>
              <a:t>材料与规则没有重新定义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24127" y="4562856"/>
            <a:ext cx="91440" cy="91440"/>
          </a:xfrm>
          <a:prstGeom prst="roundRect">
            <a:avLst>
              <a:gd name="adj" fmla="val 50000"/>
            </a:avLst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61872" y="4407408"/>
            <a:ext cx="4352544" cy="43891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F5F2E9"/>
                </a:solidFill>
                <a:latin typeface="Hiragino Sans GB"/>
                <a:ea typeface="Hiragino Sans GB"/>
              </a:rPr>
              <a:t>页面和测试直接照搬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26480" y="1883664"/>
            <a:ext cx="5157216" cy="3621024"/>
          </a:xfrm>
          <a:prstGeom prst="roundRect">
            <a:avLst>
              <a:gd name="adj" fmla="val 4040"/>
            </a:avLst>
          </a:prstGeom>
          <a:solidFill>
            <a:srgbClr val="102B37"/>
          </a:solidFill>
          <a:ln w="9715">
            <a:solidFill>
              <a:srgbClr val="68D39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82512" y="2084832"/>
            <a:ext cx="4645152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68D391"/>
                </a:solidFill>
                <a:latin typeface="Hiragino Sans GB"/>
                <a:ea typeface="Hiragino Sans GB"/>
              </a:rPr>
              <a:t>做成自己的项目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2788920"/>
            <a:ext cx="91440" cy="91440"/>
          </a:xfrm>
          <a:prstGeom prst="roundRect">
            <a:avLst>
              <a:gd name="adj" fmla="val 50000"/>
            </a:avLst>
          </a:prstGeom>
          <a:solidFill>
            <a:srgbClr val="68D39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38544" y="2633472"/>
            <a:ext cx="4352544" cy="43891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F5F2E9"/>
                </a:solidFill>
                <a:latin typeface="Hiragino Sans GB"/>
                <a:ea typeface="Hiragino Sans GB"/>
              </a:rPr>
              <a:t>重新描述真实用户和现状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0" y="3675888"/>
            <a:ext cx="91440" cy="91440"/>
          </a:xfrm>
          <a:prstGeom prst="roundRect">
            <a:avLst>
              <a:gd name="adj" fmla="val 50000"/>
            </a:avLst>
          </a:prstGeom>
          <a:solidFill>
            <a:srgbClr val="68D39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38544" y="3520440"/>
            <a:ext cx="4352544" cy="43891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F5F2E9"/>
                </a:solidFill>
                <a:latin typeface="Hiragino Sans GB"/>
                <a:ea typeface="Hiragino Sans GB"/>
              </a:rPr>
              <a:t>换成自己的材料、规则和风险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0" y="4562856"/>
            <a:ext cx="91440" cy="91440"/>
          </a:xfrm>
          <a:prstGeom prst="roundRect">
            <a:avLst>
              <a:gd name="adj" fmla="val 50000"/>
            </a:avLst>
          </a:prstGeom>
          <a:solidFill>
            <a:srgbClr val="68D39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38544" y="4407408"/>
            <a:ext cx="4352544" cy="43891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F5F2E9"/>
                </a:solidFill>
                <a:latin typeface="Hiragino Sans GB"/>
                <a:ea typeface="Hiragino Sans GB"/>
              </a:rPr>
              <a:t>重新确定范围、页面和测试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49808" y="5742432"/>
            <a:ext cx="10533888" cy="548640"/>
          </a:xfrm>
          <a:prstGeom prst="roundRect">
            <a:avLst>
              <a:gd name="adj" fmla="val 23333"/>
            </a:avLst>
          </a:prstGeom>
          <a:solidFill>
            <a:srgbClr val="133843"/>
          </a:solidFill>
          <a:ln w="701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50976" y="5870448"/>
            <a:ext cx="1133856" cy="25603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7657"/>
                </a:solidFill>
                <a:latin typeface="Hiragino Sans GB"/>
                <a:ea typeface="Hiragino Sans GB"/>
              </a:rPr>
              <a:t>判断标准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57400" y="5843016"/>
            <a:ext cx="8887968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5F2E9"/>
                </a:solidFill>
                <a:latin typeface="Hiragino Sans GB"/>
                <a:ea typeface="Hiragino Sans GB"/>
              </a:rPr>
              <a:t>第三课会追问：这些业务判断从哪里来？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0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4944" y="182880"/>
            <a:ext cx="9692640" cy="329184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36D6C2"/>
                </a:solidFill>
                <a:latin typeface="Hiragino Sans GB"/>
                <a:ea typeface="Hiragino Sans GB"/>
              </a:rPr>
              <a:t>第四节｜一个项目需要回答的五个问题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00232" y="201168"/>
            <a:ext cx="502920" cy="27432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7B5BC"/>
                </a:solidFill>
                <a:latin typeface="Hiragino Sans GB"/>
                <a:ea typeface="Hiragino Sans GB"/>
              </a:rPr>
              <a:t>23</a:t>
            </a:r>
          </a:p>
        </p:txBody>
      </p:sp>
      <p:sp>
        <p:nvSpPr>
          <p:cNvPr id="4" name="Rectangle 3"/>
          <p:cNvSpPr/>
          <p:nvPr/>
        </p:nvSpPr>
        <p:spPr>
          <a:xfrm>
            <a:off x="694944" y="6556248"/>
            <a:ext cx="10808208" cy="12801"/>
          </a:xfrm>
          <a:prstGeom prst="rect">
            <a:avLst/>
          </a:prstGeom>
          <a:solidFill>
            <a:srgbClr val="416A7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deckkit-motif-quiet"/>
          <p:cNvSpPr/>
          <p:nvPr/>
        </p:nvSpPr>
        <p:spPr>
          <a:xfrm>
            <a:off x="694944" y="6501384"/>
            <a:ext cx="8286292" cy="36576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658368"/>
            <a:ext cx="10716768" cy="56692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F5F2E9"/>
                </a:solidFill>
                <a:latin typeface="Hiragino Sans GB"/>
                <a:ea typeface="Hiragino Sans GB"/>
              </a:rPr>
              <a:t>一个项目需要回答的五个问题</a:t>
            </a:r>
          </a:p>
        </p:txBody>
      </p:sp>
      <p:sp>
        <p:nvSpPr>
          <p:cNvPr id="7" name="deckkit-motif-quiet"/>
          <p:cNvSpPr/>
          <p:nvPr/>
        </p:nvSpPr>
        <p:spPr>
          <a:xfrm>
            <a:off x="713232" y="1261872"/>
            <a:ext cx="1335024" cy="41148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371600"/>
            <a:ext cx="10661904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A7B5BC"/>
                </a:solidFill>
                <a:latin typeface="Hiragino Sans GB"/>
                <a:ea typeface="Hiragino Sans GB"/>
              </a:rPr>
              <a:t>后续三个项目共用同一组骨架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1883664"/>
            <a:ext cx="3401568" cy="1755647"/>
          </a:xfrm>
          <a:prstGeom prst="roundRect">
            <a:avLst>
              <a:gd name="adj" fmla="val 8333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50976" y="2084832"/>
            <a:ext cx="530352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6D6C2"/>
                </a:solidFill>
                <a:latin typeface="Hiragino Sans GB"/>
                <a:ea typeface="Hiragino Sans GB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976" y="2377440"/>
            <a:ext cx="2999232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F5F2E9"/>
                </a:solidFill>
                <a:latin typeface="Hiragino Sans GB"/>
                <a:ea typeface="Hiragino Sans GB"/>
              </a:rPr>
              <a:t>1｜谁遇到什么问题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0976" y="2798064"/>
            <a:ext cx="2999232" cy="731519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A7B5BC"/>
                </a:solidFill>
                <a:latin typeface="Hiragino Sans GB"/>
                <a:ea typeface="Hiragino Sans GB"/>
              </a:rPr>
              <a:t>用户、时刻和具体困难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15968" y="1883664"/>
            <a:ext cx="3401568" cy="1755647"/>
          </a:xfrm>
          <a:prstGeom prst="roundRect">
            <a:avLst>
              <a:gd name="adj" fmla="val 8333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17136" y="2084832"/>
            <a:ext cx="530352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6D6C2"/>
                </a:solidFill>
                <a:latin typeface="Hiragino Sans GB"/>
                <a:ea typeface="Hiragino Sans GB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17136" y="2377440"/>
            <a:ext cx="2999232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F5F2E9"/>
                </a:solidFill>
                <a:latin typeface="Hiragino Sans GB"/>
                <a:ea typeface="Hiragino Sans GB"/>
              </a:rPr>
              <a:t>2｜现在怎样完成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17136" y="2798064"/>
            <a:ext cx="2999232" cy="731519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A7B5BC"/>
                </a:solidFill>
                <a:latin typeface="Hiragino Sans GB"/>
                <a:ea typeface="Hiragino Sans GB"/>
              </a:rPr>
              <a:t>现状流程和主要卡点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882128" y="1883664"/>
            <a:ext cx="3401568" cy="1755647"/>
          </a:xfrm>
          <a:prstGeom prst="roundRect">
            <a:avLst>
              <a:gd name="adj" fmla="val 8333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83296" y="2084832"/>
            <a:ext cx="530352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0C565"/>
                </a:solidFill>
                <a:latin typeface="Hiragino Sans GB"/>
                <a:ea typeface="Hiragino Sans GB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83296" y="2377440"/>
            <a:ext cx="2999232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F5F2E9"/>
                </a:solidFill>
                <a:latin typeface="Hiragino Sans GB"/>
                <a:ea typeface="Hiragino Sans GB"/>
              </a:rPr>
              <a:t>3｜有哪些真实材料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83296" y="2798064"/>
            <a:ext cx="2999232" cy="731519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A7B5BC"/>
                </a:solidFill>
                <a:latin typeface="Hiragino Sans GB"/>
                <a:ea typeface="Hiragino Sans GB"/>
              </a:rPr>
              <a:t>输入、知识、规则和样本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49808" y="3822191"/>
            <a:ext cx="3401568" cy="1755647"/>
          </a:xfrm>
          <a:prstGeom prst="roundRect">
            <a:avLst>
              <a:gd name="adj" fmla="val 8333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50976" y="4023359"/>
            <a:ext cx="530352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7657"/>
                </a:solidFill>
                <a:latin typeface="Hiragino Sans GB"/>
                <a:ea typeface="Hiragino Sans GB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0976" y="4315968"/>
            <a:ext cx="2999232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F5F2E9"/>
                </a:solidFill>
                <a:latin typeface="Hiragino Sans GB"/>
                <a:ea typeface="Hiragino Sans GB"/>
              </a:rPr>
              <a:t>4｜AI进入哪一步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0976" y="4736592"/>
            <a:ext cx="2999232" cy="731519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A7B5BC"/>
                </a:solidFill>
                <a:latin typeface="Hiragino Sans GB"/>
                <a:ea typeface="Hiragino Sans GB"/>
              </a:rPr>
              <a:t>模型、规则、系统与人工怎样分工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15968" y="3822191"/>
            <a:ext cx="3401568" cy="1755647"/>
          </a:xfrm>
          <a:prstGeom prst="roundRect">
            <a:avLst>
              <a:gd name="adj" fmla="val 8333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17136" y="4023359"/>
            <a:ext cx="530352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68D391"/>
                </a:solidFill>
                <a:latin typeface="Hiragino Sans GB"/>
                <a:ea typeface="Hiragino Sans GB"/>
              </a:rP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17136" y="4315968"/>
            <a:ext cx="2999232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F5F2E9"/>
                </a:solidFill>
                <a:latin typeface="Hiragino Sans GB"/>
                <a:ea typeface="Hiragino Sans GB"/>
              </a:rPr>
              <a:t>5｜第一版怎样验证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17136" y="4736592"/>
            <a:ext cx="2999232" cy="731519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A7B5BC"/>
                </a:solidFill>
                <a:latin typeface="Hiragino Sans GB"/>
                <a:ea typeface="Hiragino Sans GB"/>
              </a:rPr>
              <a:t>边界、输出和有效标准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49808" y="5742432"/>
            <a:ext cx="10533888" cy="548640"/>
          </a:xfrm>
          <a:prstGeom prst="roundRect">
            <a:avLst>
              <a:gd name="adj" fmla="val 23333"/>
            </a:avLst>
          </a:prstGeom>
          <a:solidFill>
            <a:srgbClr val="133843"/>
          </a:solidFill>
          <a:ln w="701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50976" y="5870448"/>
            <a:ext cx="1133856" cy="25603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7657"/>
                </a:solidFill>
                <a:latin typeface="Hiragino Sans GB"/>
                <a:ea typeface="Hiragino Sans GB"/>
              </a:rPr>
              <a:t>本页重点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057400" y="5843016"/>
            <a:ext cx="8887968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5F2E9"/>
                </a:solidFill>
                <a:latin typeface="Hiragino Sans GB"/>
                <a:ea typeface="Hiragino Sans GB"/>
              </a:rPr>
              <a:t>五问会在公共项目、个人作业和点评中反复使用。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0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4944" y="182880"/>
            <a:ext cx="9692640" cy="329184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36D6C2"/>
                </a:solidFill>
                <a:latin typeface="Hiragino Sans GB"/>
                <a:ea typeface="Hiragino Sans GB"/>
              </a:rPr>
              <a:t>第四节｜一个项目需要回答的五个问题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00232" y="201168"/>
            <a:ext cx="502920" cy="27432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7B5BC"/>
                </a:solidFill>
                <a:latin typeface="Hiragino Sans GB"/>
                <a:ea typeface="Hiragino Sans GB"/>
              </a:rPr>
              <a:t>24</a:t>
            </a:r>
          </a:p>
        </p:txBody>
      </p:sp>
      <p:sp>
        <p:nvSpPr>
          <p:cNvPr id="4" name="Rectangle 3"/>
          <p:cNvSpPr/>
          <p:nvPr/>
        </p:nvSpPr>
        <p:spPr>
          <a:xfrm>
            <a:off x="694944" y="6556248"/>
            <a:ext cx="10808208" cy="12801"/>
          </a:xfrm>
          <a:prstGeom prst="rect">
            <a:avLst/>
          </a:prstGeom>
          <a:solidFill>
            <a:srgbClr val="416A7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deckkit-motif-quiet"/>
          <p:cNvSpPr/>
          <p:nvPr/>
        </p:nvSpPr>
        <p:spPr>
          <a:xfrm>
            <a:off x="694944" y="6501384"/>
            <a:ext cx="8646566" cy="36576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658368"/>
            <a:ext cx="10716768" cy="56692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F5F2E9"/>
                </a:solidFill>
                <a:latin typeface="Hiragino Sans GB"/>
                <a:ea typeface="Hiragino Sans GB"/>
              </a:rPr>
              <a:t>今天不要求回答完整</a:t>
            </a:r>
          </a:p>
        </p:txBody>
      </p:sp>
      <p:sp>
        <p:nvSpPr>
          <p:cNvPr id="7" name="deckkit-motif-quiet"/>
          <p:cNvSpPr/>
          <p:nvPr/>
        </p:nvSpPr>
        <p:spPr>
          <a:xfrm>
            <a:off x="713232" y="1261872"/>
            <a:ext cx="1335024" cy="41148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9536" y="1938528"/>
            <a:ext cx="10012680" cy="12252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5F2E9"/>
                </a:solidFill>
                <a:latin typeface="Hiragino Sans GB"/>
                <a:ea typeface="Hiragino Sans GB"/>
              </a:rPr>
              <a:t>先观察真实工作，不急着套模板</a:t>
            </a:r>
          </a:p>
        </p:txBody>
      </p:sp>
      <p:sp>
        <p:nvSpPr>
          <p:cNvPr id="9" name="Rectangle 8"/>
          <p:cNvSpPr/>
          <p:nvPr/>
        </p:nvSpPr>
        <p:spPr>
          <a:xfrm>
            <a:off x="868680" y="3401568"/>
            <a:ext cx="73152" cy="1097280"/>
          </a:xfrm>
          <a:prstGeom prst="rect">
            <a:avLst/>
          </a:prstGeom>
          <a:solidFill>
            <a:srgbClr val="F0C56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3401568"/>
            <a:ext cx="9674352" cy="109728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A7B5BC"/>
                </a:solidFill>
                <a:latin typeface="Hiragino Sans GB"/>
                <a:ea typeface="Hiragino Sans GB"/>
              </a:rPr>
              <a:t>在看过第一个公共项目之前，直接写完整方案很容易变成猜测。今天只做业务场景和材料盘点；第二课后再提交正式选题卡与项目V0.1。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0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4944" y="182880"/>
            <a:ext cx="9692640" cy="329184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36D6C2"/>
                </a:solidFill>
                <a:latin typeface="Hiragino Sans GB"/>
                <a:ea typeface="Hiragino Sans GB"/>
              </a:rPr>
              <a:t>第五节｜三个公共项目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00232" y="201168"/>
            <a:ext cx="502920" cy="27432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7B5BC"/>
                </a:solidFill>
                <a:latin typeface="Hiragino Sans GB"/>
                <a:ea typeface="Hiragino Sans GB"/>
              </a:rPr>
              <a:t>25</a:t>
            </a:r>
          </a:p>
        </p:txBody>
      </p:sp>
      <p:sp>
        <p:nvSpPr>
          <p:cNvPr id="4" name="Rectangle 3"/>
          <p:cNvSpPr/>
          <p:nvPr/>
        </p:nvSpPr>
        <p:spPr>
          <a:xfrm>
            <a:off x="694944" y="6556248"/>
            <a:ext cx="10808208" cy="12801"/>
          </a:xfrm>
          <a:prstGeom prst="rect">
            <a:avLst/>
          </a:prstGeom>
          <a:solidFill>
            <a:srgbClr val="416A7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deckkit-motif-quiet"/>
          <p:cNvSpPr/>
          <p:nvPr/>
        </p:nvSpPr>
        <p:spPr>
          <a:xfrm>
            <a:off x="694944" y="6501384"/>
            <a:ext cx="9006840" cy="36576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658368"/>
            <a:ext cx="10716768" cy="56692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F5F2E9"/>
                </a:solidFill>
                <a:latin typeface="Hiragino Sans GB"/>
                <a:ea typeface="Hiragino Sans GB"/>
              </a:rPr>
              <a:t>公共项目一：企业智能客服与业务办理</a:t>
            </a:r>
          </a:p>
        </p:txBody>
      </p:sp>
      <p:sp>
        <p:nvSpPr>
          <p:cNvPr id="7" name="deckkit-motif-quiet"/>
          <p:cNvSpPr/>
          <p:nvPr/>
        </p:nvSpPr>
        <p:spPr>
          <a:xfrm>
            <a:off x="713232" y="1261872"/>
            <a:ext cx="1335024" cy="41148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371600"/>
            <a:ext cx="10661904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A7B5BC"/>
                </a:solidFill>
                <a:latin typeface="Hiragino Sans GB"/>
                <a:ea typeface="Hiragino Sans GB"/>
              </a:rPr>
              <a:t>把咨询、业务查询、业务办理和转人工连接成可控流程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8096" y="1975104"/>
            <a:ext cx="2510028" cy="2157984"/>
          </a:xfrm>
          <a:prstGeom prst="roundRect">
            <a:avLst>
              <a:gd name="adj" fmla="val 6779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9264" y="2176272"/>
            <a:ext cx="530352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6D6C2"/>
                </a:solidFill>
                <a:latin typeface="Hiragino Sans GB"/>
                <a:ea typeface="Hiragino Sans GB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9264" y="2468880"/>
            <a:ext cx="2107692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F5F2E9"/>
                </a:solidFill>
                <a:latin typeface="Hiragino Sans GB"/>
                <a:ea typeface="Hiragino Sans GB"/>
              </a:rPr>
              <a:t>识别问题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9264" y="2889504"/>
            <a:ext cx="2107692" cy="1133855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80" b="0" i="0">
                <a:solidFill>
                  <a:srgbClr val="A7B5BC"/>
                </a:solidFill>
                <a:latin typeface="Hiragino Sans GB"/>
                <a:ea typeface="Hiragino Sans GB"/>
              </a:rPr>
              <a:t>理解用户意图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3259836" y="2962656"/>
            <a:ext cx="182880" cy="146304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424428" y="1975104"/>
            <a:ext cx="2510028" cy="2157984"/>
          </a:xfrm>
          <a:prstGeom prst="roundRect">
            <a:avLst>
              <a:gd name="adj" fmla="val 6779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25596" y="2176272"/>
            <a:ext cx="530352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6D6C2"/>
                </a:solidFill>
                <a:latin typeface="Hiragino Sans GB"/>
                <a:ea typeface="Hiragino Sans GB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25596" y="2468880"/>
            <a:ext cx="2107692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F5F2E9"/>
                </a:solidFill>
                <a:latin typeface="Hiragino Sans GB"/>
                <a:ea typeface="Hiragino Sans GB"/>
              </a:rPr>
              <a:t>获取信息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25596" y="2889504"/>
            <a:ext cx="2107692" cy="1133855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80" b="0" i="0">
                <a:solidFill>
                  <a:srgbClr val="A7B5BC"/>
                </a:solidFill>
                <a:latin typeface="Hiragino Sans GB"/>
                <a:ea typeface="Hiragino Sans GB"/>
              </a:rPr>
              <a:t>知识库或业务接口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5916168" y="2962656"/>
            <a:ext cx="182880" cy="146304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080760" y="1975104"/>
            <a:ext cx="2510028" cy="2157984"/>
          </a:xfrm>
          <a:prstGeom prst="roundRect">
            <a:avLst>
              <a:gd name="adj" fmla="val 6779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81928" y="2176272"/>
            <a:ext cx="530352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6D6C2"/>
                </a:solidFill>
                <a:latin typeface="Hiragino Sans GB"/>
                <a:ea typeface="Hiragino Sans GB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81928" y="2468880"/>
            <a:ext cx="2107692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F5F2E9"/>
                </a:solidFill>
                <a:latin typeface="Hiragino Sans GB"/>
                <a:ea typeface="Hiragino Sans GB"/>
              </a:rPr>
              <a:t>执行业务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81928" y="2889504"/>
            <a:ext cx="2107692" cy="1133855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80" b="0" i="0">
                <a:solidFill>
                  <a:srgbClr val="A7B5BC"/>
                </a:solidFill>
                <a:latin typeface="Hiragino Sans GB"/>
                <a:ea typeface="Hiragino Sans GB"/>
              </a:rPr>
              <a:t>规则与工作流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8572500" y="2962656"/>
            <a:ext cx="182880" cy="146304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737092" y="1975104"/>
            <a:ext cx="2510028" cy="2157984"/>
          </a:xfrm>
          <a:prstGeom prst="roundRect">
            <a:avLst>
              <a:gd name="adj" fmla="val 6779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938260" y="2176272"/>
            <a:ext cx="530352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6D6C2"/>
                </a:solidFill>
                <a:latin typeface="Hiragino Sans GB"/>
                <a:ea typeface="Hiragino Sans GB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38260" y="2468880"/>
            <a:ext cx="2107692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F5F2E9"/>
                </a:solidFill>
                <a:latin typeface="Hiragino Sans GB"/>
                <a:ea typeface="Hiragino Sans GB"/>
              </a:rPr>
              <a:t>人工接管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38260" y="2889504"/>
            <a:ext cx="2107692" cy="1133855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80" b="0" i="0">
                <a:solidFill>
                  <a:srgbClr val="A7B5BC"/>
                </a:solidFill>
                <a:latin typeface="Hiragino Sans GB"/>
                <a:ea typeface="Hiragino Sans GB"/>
              </a:rPr>
              <a:t>高风险与异常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49808" y="4956048"/>
            <a:ext cx="10533888" cy="548640"/>
          </a:xfrm>
          <a:prstGeom prst="roundRect">
            <a:avLst>
              <a:gd name="adj" fmla="val 23333"/>
            </a:avLst>
          </a:prstGeom>
          <a:solidFill>
            <a:srgbClr val="133843"/>
          </a:solidFill>
          <a:ln w="701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50976" y="5084064"/>
            <a:ext cx="1133856" cy="25603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36D6C2"/>
                </a:solidFill>
                <a:latin typeface="Hiragino Sans GB"/>
                <a:ea typeface="Hiragino Sans GB"/>
              </a:rPr>
              <a:t>主要训练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57400" y="5056632"/>
            <a:ext cx="8887968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5F2E9"/>
                </a:solidFill>
                <a:latin typeface="Hiragino Sans GB"/>
                <a:ea typeface="Hiragino Sans GB"/>
              </a:rPr>
              <a:t>对话入口、知识/接口/规则/人工分工，以及业务闭环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0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4944" y="182880"/>
            <a:ext cx="9692640" cy="329184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36D6C2"/>
                </a:solidFill>
                <a:latin typeface="Hiragino Sans GB"/>
                <a:ea typeface="Hiragino Sans GB"/>
              </a:rPr>
              <a:t>第五节｜三个公共项目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00232" y="201168"/>
            <a:ext cx="502920" cy="27432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7B5BC"/>
                </a:solidFill>
                <a:latin typeface="Hiragino Sans GB"/>
                <a:ea typeface="Hiragino Sans GB"/>
              </a:rPr>
              <a:t>26</a:t>
            </a:r>
          </a:p>
        </p:txBody>
      </p:sp>
      <p:sp>
        <p:nvSpPr>
          <p:cNvPr id="4" name="Rectangle 3"/>
          <p:cNvSpPr/>
          <p:nvPr/>
        </p:nvSpPr>
        <p:spPr>
          <a:xfrm>
            <a:off x="694944" y="6556248"/>
            <a:ext cx="10808208" cy="12801"/>
          </a:xfrm>
          <a:prstGeom prst="rect">
            <a:avLst/>
          </a:prstGeom>
          <a:solidFill>
            <a:srgbClr val="416A7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deckkit-motif-quiet"/>
          <p:cNvSpPr/>
          <p:nvPr/>
        </p:nvSpPr>
        <p:spPr>
          <a:xfrm>
            <a:off x="694944" y="6501384"/>
            <a:ext cx="9367113" cy="36576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658368"/>
            <a:ext cx="10716768" cy="56692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F5F2E9"/>
                </a:solidFill>
                <a:latin typeface="Hiragino Sans GB"/>
                <a:ea typeface="Hiragino Sans GB"/>
              </a:rPr>
              <a:t>公共项目二：业务材料审核与风险核验</a:t>
            </a:r>
          </a:p>
        </p:txBody>
      </p:sp>
      <p:sp>
        <p:nvSpPr>
          <p:cNvPr id="7" name="deckkit-motif-quiet"/>
          <p:cNvSpPr/>
          <p:nvPr/>
        </p:nvSpPr>
        <p:spPr>
          <a:xfrm>
            <a:off x="713232" y="1261872"/>
            <a:ext cx="1335024" cy="41148"/>
          </a:xfrm>
          <a:prstGeom prst="rect">
            <a:avLst/>
          </a:prstGeom>
          <a:solidFill>
            <a:srgbClr val="FF76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371600"/>
            <a:ext cx="10661904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A7B5BC"/>
                </a:solidFill>
                <a:latin typeface="Hiragino Sans GB"/>
                <a:ea typeface="Hiragino Sans GB"/>
              </a:rPr>
              <a:t>从合同、单据和申请材料中发现差异与风险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8096" y="1975104"/>
            <a:ext cx="2510028" cy="2157984"/>
          </a:xfrm>
          <a:prstGeom prst="roundRect">
            <a:avLst>
              <a:gd name="adj" fmla="val 6779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9264" y="2176272"/>
            <a:ext cx="530352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7657"/>
                </a:solidFill>
                <a:latin typeface="Hiragino Sans GB"/>
                <a:ea typeface="Hiragino Sans GB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9264" y="2468880"/>
            <a:ext cx="2107692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F5F2E9"/>
                </a:solidFill>
                <a:latin typeface="Hiragino Sans GB"/>
                <a:ea typeface="Hiragino Sans GB"/>
              </a:rPr>
              <a:t>读取材料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9264" y="2889504"/>
            <a:ext cx="2107692" cy="1133855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80" b="0" i="0">
                <a:solidFill>
                  <a:srgbClr val="A7B5BC"/>
                </a:solidFill>
                <a:latin typeface="Hiragino Sans GB"/>
                <a:ea typeface="Hiragino Sans GB"/>
              </a:rPr>
              <a:t>文本/表格/图片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3259836" y="2962656"/>
            <a:ext cx="182880" cy="146304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FF76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424428" y="1975104"/>
            <a:ext cx="2510028" cy="2157984"/>
          </a:xfrm>
          <a:prstGeom prst="roundRect">
            <a:avLst>
              <a:gd name="adj" fmla="val 6779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25596" y="2176272"/>
            <a:ext cx="530352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7657"/>
                </a:solidFill>
                <a:latin typeface="Hiragino Sans GB"/>
                <a:ea typeface="Hiragino Sans GB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25596" y="2468880"/>
            <a:ext cx="2107692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F5F2E9"/>
                </a:solidFill>
                <a:latin typeface="Hiragino Sans GB"/>
                <a:ea typeface="Hiragino Sans GB"/>
              </a:rPr>
              <a:t>提取字段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25596" y="2889504"/>
            <a:ext cx="2107692" cy="1133855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80" b="0" i="0">
                <a:solidFill>
                  <a:srgbClr val="A7B5BC"/>
                </a:solidFill>
                <a:latin typeface="Hiragino Sans GB"/>
                <a:ea typeface="Hiragino Sans GB"/>
              </a:rPr>
              <a:t>结构化关键信息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5916168" y="2962656"/>
            <a:ext cx="182880" cy="146304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FF76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080760" y="1975104"/>
            <a:ext cx="2510028" cy="2157984"/>
          </a:xfrm>
          <a:prstGeom prst="roundRect">
            <a:avLst>
              <a:gd name="adj" fmla="val 6779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81928" y="2176272"/>
            <a:ext cx="530352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7657"/>
                </a:solidFill>
                <a:latin typeface="Hiragino Sans GB"/>
                <a:ea typeface="Hiragino Sans GB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81928" y="2468880"/>
            <a:ext cx="2107692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F5F2E9"/>
                </a:solidFill>
                <a:latin typeface="Hiragino Sans GB"/>
                <a:ea typeface="Hiragino Sans GB"/>
              </a:rPr>
              <a:t>执行核验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81928" y="2889504"/>
            <a:ext cx="2107692" cy="1133855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80" b="0" i="0">
                <a:solidFill>
                  <a:srgbClr val="A7B5BC"/>
                </a:solidFill>
                <a:latin typeface="Hiragino Sans GB"/>
                <a:ea typeface="Hiragino Sans GB"/>
              </a:rPr>
              <a:t>规则与模型判断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8572500" y="2962656"/>
            <a:ext cx="182880" cy="146304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FF76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737092" y="1975104"/>
            <a:ext cx="2510028" cy="2157984"/>
          </a:xfrm>
          <a:prstGeom prst="roundRect">
            <a:avLst>
              <a:gd name="adj" fmla="val 6779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938260" y="2176272"/>
            <a:ext cx="530352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7657"/>
                </a:solidFill>
                <a:latin typeface="Hiragino Sans GB"/>
                <a:ea typeface="Hiragino Sans GB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38260" y="2468880"/>
            <a:ext cx="2107692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F5F2E9"/>
                </a:solidFill>
                <a:latin typeface="Hiragino Sans GB"/>
                <a:ea typeface="Hiragino Sans GB"/>
              </a:rPr>
              <a:t>人工复核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38260" y="2889504"/>
            <a:ext cx="2107692" cy="1133855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80" b="0" i="0">
                <a:solidFill>
                  <a:srgbClr val="A7B5BC"/>
                </a:solidFill>
                <a:latin typeface="Hiragino Sans GB"/>
                <a:ea typeface="Hiragino Sans GB"/>
              </a:rPr>
              <a:t>风险说明与处理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49808" y="4956048"/>
            <a:ext cx="10533888" cy="548640"/>
          </a:xfrm>
          <a:prstGeom prst="roundRect">
            <a:avLst>
              <a:gd name="adj" fmla="val 23333"/>
            </a:avLst>
          </a:prstGeom>
          <a:solidFill>
            <a:srgbClr val="133843"/>
          </a:solidFill>
          <a:ln w="701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50976" y="5084064"/>
            <a:ext cx="1133856" cy="25603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7657"/>
                </a:solidFill>
                <a:latin typeface="Hiragino Sans GB"/>
                <a:ea typeface="Hiragino Sans GB"/>
              </a:rPr>
              <a:t>主要训练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57400" y="5056632"/>
            <a:ext cx="8887968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5F2E9"/>
                </a:solidFill>
                <a:latin typeface="Hiragino Sans GB"/>
                <a:ea typeface="Hiragino Sans GB"/>
              </a:rPr>
              <a:t>确定性规则与模型判断的边界，以及可追溯的人工复核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0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4944" y="182880"/>
            <a:ext cx="9692640" cy="329184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36D6C2"/>
                </a:solidFill>
                <a:latin typeface="Hiragino Sans GB"/>
                <a:ea typeface="Hiragino Sans GB"/>
              </a:rPr>
              <a:t>第五节｜三个公共项目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00232" y="201168"/>
            <a:ext cx="502920" cy="27432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7B5BC"/>
                </a:solidFill>
                <a:latin typeface="Hiragino Sans GB"/>
                <a:ea typeface="Hiragino Sans GB"/>
              </a:rPr>
              <a:t>27</a:t>
            </a:r>
          </a:p>
        </p:txBody>
      </p:sp>
      <p:sp>
        <p:nvSpPr>
          <p:cNvPr id="4" name="Rectangle 3"/>
          <p:cNvSpPr/>
          <p:nvPr/>
        </p:nvSpPr>
        <p:spPr>
          <a:xfrm>
            <a:off x="694944" y="6556248"/>
            <a:ext cx="10808208" cy="12801"/>
          </a:xfrm>
          <a:prstGeom prst="rect">
            <a:avLst/>
          </a:prstGeom>
          <a:solidFill>
            <a:srgbClr val="416A7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deckkit-motif-quiet"/>
          <p:cNvSpPr/>
          <p:nvPr/>
        </p:nvSpPr>
        <p:spPr>
          <a:xfrm>
            <a:off x="694944" y="6501384"/>
            <a:ext cx="9727387" cy="36576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658368"/>
            <a:ext cx="10716768" cy="56692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F5F2E9"/>
                </a:solidFill>
                <a:latin typeface="Hiragino Sans GB"/>
                <a:ea typeface="Hiragino Sans GB"/>
              </a:rPr>
              <a:t>公共项目三：专业研究与方案生成</a:t>
            </a:r>
          </a:p>
        </p:txBody>
      </p:sp>
      <p:sp>
        <p:nvSpPr>
          <p:cNvPr id="7" name="deckkit-motif-quiet"/>
          <p:cNvSpPr/>
          <p:nvPr/>
        </p:nvSpPr>
        <p:spPr>
          <a:xfrm>
            <a:off x="713232" y="1261872"/>
            <a:ext cx="1335024" cy="41148"/>
          </a:xfrm>
          <a:prstGeom prst="rect">
            <a:avLst/>
          </a:prstGeom>
          <a:solidFill>
            <a:srgbClr val="F0C56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371600"/>
            <a:ext cx="10661904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A7B5BC"/>
                </a:solidFill>
                <a:latin typeface="Hiragino Sans GB"/>
                <a:ea typeface="Hiragino Sans GB"/>
              </a:rPr>
              <a:t>理解复杂要求，查找可信资料，形成可修改的专业文档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8096" y="1975104"/>
            <a:ext cx="2510028" cy="2157984"/>
          </a:xfrm>
          <a:prstGeom prst="roundRect">
            <a:avLst>
              <a:gd name="adj" fmla="val 6779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9264" y="2176272"/>
            <a:ext cx="530352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0C565"/>
                </a:solidFill>
                <a:latin typeface="Hiragino Sans GB"/>
                <a:ea typeface="Hiragino Sans GB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9264" y="2468880"/>
            <a:ext cx="2107692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F5F2E9"/>
                </a:solidFill>
                <a:latin typeface="Hiragino Sans GB"/>
                <a:ea typeface="Hiragino Sans GB"/>
              </a:rPr>
              <a:t>理解要求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9264" y="2889504"/>
            <a:ext cx="2107692" cy="1133855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80" b="0" i="0">
                <a:solidFill>
                  <a:srgbClr val="A7B5BC"/>
                </a:solidFill>
                <a:latin typeface="Hiragino Sans GB"/>
                <a:ea typeface="Hiragino Sans GB"/>
              </a:rPr>
              <a:t>拆解任务与限制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3259836" y="2962656"/>
            <a:ext cx="182880" cy="146304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F0C56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424428" y="1975104"/>
            <a:ext cx="2510028" cy="2157984"/>
          </a:xfrm>
          <a:prstGeom prst="roundRect">
            <a:avLst>
              <a:gd name="adj" fmla="val 6779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25596" y="2176272"/>
            <a:ext cx="530352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0C565"/>
                </a:solidFill>
                <a:latin typeface="Hiragino Sans GB"/>
                <a:ea typeface="Hiragino Sans GB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25596" y="2468880"/>
            <a:ext cx="2107692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F5F2E9"/>
                </a:solidFill>
                <a:latin typeface="Hiragino Sans GB"/>
                <a:ea typeface="Hiragino Sans GB"/>
              </a:rPr>
              <a:t>收集资料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25596" y="2889504"/>
            <a:ext cx="2107692" cy="1133855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80" b="0" i="0">
                <a:solidFill>
                  <a:srgbClr val="A7B5BC"/>
                </a:solidFill>
                <a:latin typeface="Hiragino Sans GB"/>
                <a:ea typeface="Hiragino Sans GB"/>
              </a:rPr>
              <a:t>内部知识与外部信息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5916168" y="2962656"/>
            <a:ext cx="182880" cy="146304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F0C56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080760" y="1975104"/>
            <a:ext cx="2510028" cy="2157984"/>
          </a:xfrm>
          <a:prstGeom prst="roundRect">
            <a:avLst>
              <a:gd name="adj" fmla="val 6779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81928" y="2176272"/>
            <a:ext cx="530352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0C565"/>
                </a:solidFill>
                <a:latin typeface="Hiragino Sans GB"/>
                <a:ea typeface="Hiragino Sans GB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81928" y="2468880"/>
            <a:ext cx="2107692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F5F2E9"/>
                </a:solidFill>
                <a:latin typeface="Hiragino Sans GB"/>
                <a:ea typeface="Hiragino Sans GB"/>
              </a:rPr>
              <a:t>形成方案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81928" y="2889504"/>
            <a:ext cx="2107692" cy="1133855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80" b="0" i="0">
                <a:solidFill>
                  <a:srgbClr val="A7B5BC"/>
                </a:solidFill>
                <a:latin typeface="Hiragino Sans GB"/>
                <a:ea typeface="Hiragino Sans GB"/>
              </a:rPr>
              <a:t>结构化分析与建议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8572500" y="2962656"/>
            <a:ext cx="182880" cy="146304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F0C56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737092" y="1975104"/>
            <a:ext cx="2510028" cy="2157984"/>
          </a:xfrm>
          <a:prstGeom prst="roundRect">
            <a:avLst>
              <a:gd name="adj" fmla="val 6779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938260" y="2176272"/>
            <a:ext cx="530352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0C565"/>
                </a:solidFill>
                <a:latin typeface="Hiragino Sans GB"/>
                <a:ea typeface="Hiragino Sans GB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38260" y="2468880"/>
            <a:ext cx="2107692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F5F2E9"/>
                </a:solidFill>
                <a:latin typeface="Hiragino Sans GB"/>
                <a:ea typeface="Hiragino Sans GB"/>
              </a:rPr>
              <a:t>审阅修改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38260" y="2889504"/>
            <a:ext cx="2107692" cy="1133855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80" b="0" i="0">
                <a:solidFill>
                  <a:srgbClr val="A7B5BC"/>
                </a:solidFill>
                <a:latin typeface="Hiragino Sans GB"/>
                <a:ea typeface="Hiragino Sans GB"/>
              </a:rPr>
              <a:t>来源、缺口与责任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49808" y="4956048"/>
            <a:ext cx="10533888" cy="548640"/>
          </a:xfrm>
          <a:prstGeom prst="roundRect">
            <a:avLst>
              <a:gd name="adj" fmla="val 23333"/>
            </a:avLst>
          </a:prstGeom>
          <a:solidFill>
            <a:srgbClr val="133843"/>
          </a:solidFill>
          <a:ln w="701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50976" y="5084064"/>
            <a:ext cx="1133856" cy="25603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0C565"/>
                </a:solidFill>
                <a:latin typeface="Hiragino Sans GB"/>
                <a:ea typeface="Hiragino Sans GB"/>
              </a:rPr>
              <a:t>主要训练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57400" y="5056632"/>
            <a:ext cx="8887968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5F2E9"/>
                </a:solidFill>
                <a:latin typeface="Hiragino Sans GB"/>
                <a:ea typeface="Hiragino Sans GB"/>
              </a:rPr>
              <a:t>复杂任务拆解、资料可信度、专业输出和人工责任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0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4944" y="182880"/>
            <a:ext cx="9692640" cy="329184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36D6C2"/>
                </a:solidFill>
                <a:latin typeface="Hiragino Sans GB"/>
                <a:ea typeface="Hiragino Sans GB"/>
              </a:rPr>
              <a:t>第六节｜第一份课后准备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00232" y="201168"/>
            <a:ext cx="502920" cy="27432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7B5BC"/>
                </a:solidFill>
                <a:latin typeface="Hiragino Sans GB"/>
                <a:ea typeface="Hiragino Sans GB"/>
              </a:rPr>
              <a:t>28</a:t>
            </a:r>
          </a:p>
        </p:txBody>
      </p:sp>
      <p:sp>
        <p:nvSpPr>
          <p:cNvPr id="4" name="Rectangle 3"/>
          <p:cNvSpPr/>
          <p:nvPr/>
        </p:nvSpPr>
        <p:spPr>
          <a:xfrm>
            <a:off x="694944" y="6556248"/>
            <a:ext cx="10808208" cy="12801"/>
          </a:xfrm>
          <a:prstGeom prst="rect">
            <a:avLst/>
          </a:prstGeom>
          <a:solidFill>
            <a:srgbClr val="416A7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deckkit-motif-quiet"/>
          <p:cNvSpPr/>
          <p:nvPr/>
        </p:nvSpPr>
        <p:spPr>
          <a:xfrm>
            <a:off x="694944" y="6501384"/>
            <a:ext cx="10087660" cy="36576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658368"/>
            <a:ext cx="10716768" cy="56692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F5F2E9"/>
                </a:solidFill>
                <a:latin typeface="Hiragino Sans GB"/>
                <a:ea typeface="Hiragino Sans GB"/>
              </a:rPr>
              <a:t>课后先做业务场景盘点</a:t>
            </a:r>
          </a:p>
        </p:txBody>
      </p:sp>
      <p:sp>
        <p:nvSpPr>
          <p:cNvPr id="7" name="deckkit-motif-quiet"/>
          <p:cNvSpPr/>
          <p:nvPr/>
        </p:nvSpPr>
        <p:spPr>
          <a:xfrm>
            <a:off x="713232" y="1261872"/>
            <a:ext cx="1335024" cy="41148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371600"/>
            <a:ext cx="10661904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A7B5BC"/>
                </a:solidFill>
                <a:latin typeface="Hiragino Sans GB"/>
                <a:ea typeface="Hiragino Sans GB"/>
              </a:rPr>
              <a:t>写三个真实场景，最后圈出自己最熟悉的一个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49808" y="1874519"/>
          <a:ext cx="10533888" cy="329184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325880"/>
                <a:gridCol w="2331720"/>
                <a:gridCol w="2240280"/>
                <a:gridCol w="2331720"/>
                <a:gridCol w="2304288"/>
              </a:tblGrid>
              <a:tr h="822960">
                <a:tc>
                  <a:txBody>
                    <a:bodyPr/>
                    <a:lstStyle/>
                    <a:p>
                      <a:pPr algn="l"/>
                      <a:r>
                        <a:rPr sz="1250" b="1" i="0">
                          <a:solidFill>
                            <a:srgbClr val="36D6C2"/>
                          </a:solidFill>
                          <a:latin typeface="Hiragino Sans GB"/>
                          <a:ea typeface="Hiragino Sans GB"/>
                        </a:rPr>
                        <a:t>场景</a:t>
                      </a:r>
                    </a:p>
                  </a:txBody>
                  <a:tcPr marL="88900" marR="88900" marT="25400" marB="25400" anchor="ctr">
                    <a:lnT w="17780" cap="flat" cmpd="sng" algn="ctr">
                      <a:solidFill>
                        <a:srgbClr val="36D6C2"/>
                      </a:solidFill>
                    </a:lnT>
                    <a:lnB w="10160" cap="flat" cmpd="sng" algn="ctr">
                      <a:solidFill>
                        <a:srgbClr val="416A7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 i="0">
                          <a:solidFill>
                            <a:srgbClr val="36D6C2"/>
                          </a:solidFill>
                          <a:latin typeface="Hiragino Sans GB"/>
                          <a:ea typeface="Hiragino Sans GB"/>
                        </a:rPr>
                        <a:t>谁在什么时候做</a:t>
                      </a:r>
                    </a:p>
                  </a:txBody>
                  <a:tcPr marL="88900" marR="88900" marT="25400" marB="25400" anchor="ctr">
                    <a:lnT w="17780" cap="flat" cmpd="sng" algn="ctr">
                      <a:solidFill>
                        <a:srgbClr val="36D6C2"/>
                      </a:solidFill>
                    </a:lnT>
                    <a:lnB w="10160" cap="flat" cmpd="sng" algn="ctr">
                      <a:solidFill>
                        <a:srgbClr val="416A7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 i="0">
                          <a:solidFill>
                            <a:srgbClr val="36D6C2"/>
                          </a:solidFill>
                          <a:latin typeface="Hiragino Sans GB"/>
                          <a:ea typeface="Hiragino Sans GB"/>
                        </a:rPr>
                        <a:t>现在怎样做</a:t>
                      </a:r>
                    </a:p>
                  </a:txBody>
                  <a:tcPr marL="88900" marR="88900" marT="25400" marB="25400" anchor="ctr">
                    <a:lnT w="17780" cap="flat" cmpd="sng" algn="ctr">
                      <a:solidFill>
                        <a:srgbClr val="36D6C2"/>
                      </a:solidFill>
                    </a:lnT>
                    <a:lnB w="10160" cap="flat" cmpd="sng" algn="ctr">
                      <a:solidFill>
                        <a:srgbClr val="416A7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 i="0">
                          <a:solidFill>
                            <a:srgbClr val="36D6C2"/>
                          </a:solidFill>
                          <a:latin typeface="Hiragino Sans GB"/>
                          <a:ea typeface="Hiragino Sans GB"/>
                        </a:rPr>
                        <a:t>哪里最麻烦</a:t>
                      </a:r>
                    </a:p>
                  </a:txBody>
                  <a:tcPr marL="88900" marR="88900" marT="25400" marB="25400" anchor="ctr">
                    <a:lnT w="17780" cap="flat" cmpd="sng" algn="ctr">
                      <a:solidFill>
                        <a:srgbClr val="36D6C2"/>
                      </a:solidFill>
                    </a:lnT>
                    <a:lnB w="10160" cap="flat" cmpd="sng" algn="ctr">
                      <a:solidFill>
                        <a:srgbClr val="416A7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 i="0">
                          <a:solidFill>
                            <a:srgbClr val="36D6C2"/>
                          </a:solidFill>
                          <a:latin typeface="Hiragino Sans GB"/>
                          <a:ea typeface="Hiragino Sans GB"/>
                        </a:rPr>
                        <a:t>材料能否获得</a:t>
                      </a:r>
                    </a:p>
                  </a:txBody>
                  <a:tcPr marL="88900" marR="88900" marT="25400" marB="25400" anchor="ctr">
                    <a:lnT w="17780" cap="flat" cmpd="sng" algn="ctr">
                      <a:solidFill>
                        <a:srgbClr val="36D6C2"/>
                      </a:solidFill>
                    </a:lnT>
                    <a:lnB w="10160" cap="flat" cmpd="sng" algn="ctr">
                      <a:solidFill>
                        <a:srgbClr val="416A78"/>
                      </a:solidFill>
                    </a:lnB>
                    <a:noFill/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l"/>
                      <a:r>
                        <a:rPr sz="125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场景1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</a:p>
                  </a:txBody>
                  <a:tcPr marL="88900" marR="889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</a:p>
                  </a:txBody>
                  <a:tcPr marL="88900" marR="889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</a:p>
                  </a:txBody>
                  <a:tcPr marL="88900" marR="889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</a:p>
                  </a:txBody>
                  <a:tcPr marL="88900" marR="88900" marT="25400" marB="25400" anchor="ctr">
                    <a:noFill/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l"/>
                      <a:r>
                        <a:rPr sz="125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场景2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</a:p>
                  </a:txBody>
                  <a:tcPr marL="88900" marR="889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</a:p>
                  </a:txBody>
                  <a:tcPr marL="88900" marR="889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</a:p>
                  </a:txBody>
                  <a:tcPr marL="88900" marR="889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</a:p>
                  </a:txBody>
                  <a:tcPr marL="88900" marR="88900" marT="25400" marB="25400" anchor="ctr">
                    <a:noFill/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l"/>
                      <a:r>
                        <a:rPr sz="125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场景3</a:t>
                      </a:r>
                    </a:p>
                  </a:txBody>
                  <a:tcPr marL="88900" marR="88900" marT="25400" marB="25400" anchor="ctr">
                    <a:lnB w="17780" cap="flat" cmpd="sng" algn="ctr">
                      <a:solidFill>
                        <a:srgbClr val="36D6C2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</a:p>
                  </a:txBody>
                  <a:tcPr marL="88900" marR="88900" marT="25400" marB="25400" anchor="ctr">
                    <a:lnB w="17780" cap="flat" cmpd="sng" algn="ctr">
                      <a:solidFill>
                        <a:srgbClr val="36D6C2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</a:p>
                  </a:txBody>
                  <a:tcPr marL="88900" marR="88900" marT="25400" marB="25400" anchor="ctr">
                    <a:lnB w="17780" cap="flat" cmpd="sng" algn="ctr">
                      <a:solidFill>
                        <a:srgbClr val="36D6C2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</a:p>
                  </a:txBody>
                  <a:tcPr marL="88900" marR="88900" marT="25400" marB="25400" anchor="ctr">
                    <a:lnB w="17780" cap="flat" cmpd="sng" algn="ctr">
                      <a:solidFill>
                        <a:srgbClr val="36D6C2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</a:p>
                  </a:txBody>
                  <a:tcPr marL="88900" marR="88900" marT="25400" marB="25400" anchor="ctr">
                    <a:lnB w="17780" cap="flat" cmpd="sng" algn="ctr">
                      <a:solidFill>
                        <a:srgbClr val="36D6C2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749808" y="5742432"/>
            <a:ext cx="10533888" cy="548640"/>
          </a:xfrm>
          <a:prstGeom prst="roundRect">
            <a:avLst>
              <a:gd name="adj" fmla="val 23333"/>
            </a:avLst>
          </a:prstGeom>
          <a:solidFill>
            <a:srgbClr val="133843"/>
          </a:solidFill>
          <a:ln w="701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50976" y="5870448"/>
            <a:ext cx="1133856" cy="25603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7657"/>
                </a:solidFill>
                <a:latin typeface="Hiragino Sans GB"/>
                <a:ea typeface="Hiragino Sans GB"/>
              </a:rPr>
              <a:t>本页重点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5843016"/>
            <a:ext cx="8887968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5F2E9"/>
                </a:solidFill>
                <a:latin typeface="Hiragino Sans GB"/>
                <a:ea typeface="Hiragino Sans GB"/>
              </a:rPr>
              <a:t>不是现在定项目，而是为第二课后的正式选题准备素材。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0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4944" y="182880"/>
            <a:ext cx="9692640" cy="329184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36D6C2"/>
                </a:solidFill>
                <a:latin typeface="Hiragino Sans GB"/>
                <a:ea typeface="Hiragino Sans GB"/>
              </a:rPr>
              <a:t>第六节｜第一份课后准备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00232" y="201168"/>
            <a:ext cx="502920" cy="27432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7B5BC"/>
                </a:solidFill>
                <a:latin typeface="Hiragino Sans GB"/>
                <a:ea typeface="Hiragino Sans GB"/>
              </a:rPr>
              <a:t>29</a:t>
            </a:r>
          </a:p>
        </p:txBody>
      </p:sp>
      <p:sp>
        <p:nvSpPr>
          <p:cNvPr id="4" name="Rectangle 3"/>
          <p:cNvSpPr/>
          <p:nvPr/>
        </p:nvSpPr>
        <p:spPr>
          <a:xfrm>
            <a:off x="694944" y="6556248"/>
            <a:ext cx="10808208" cy="12801"/>
          </a:xfrm>
          <a:prstGeom prst="rect">
            <a:avLst/>
          </a:prstGeom>
          <a:solidFill>
            <a:srgbClr val="416A7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deckkit-motif-quiet"/>
          <p:cNvSpPr/>
          <p:nvPr/>
        </p:nvSpPr>
        <p:spPr>
          <a:xfrm>
            <a:off x="694944" y="6501384"/>
            <a:ext cx="10447934" cy="36576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658368"/>
            <a:ext cx="10716768" cy="56692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F5F2E9"/>
                </a:solidFill>
                <a:latin typeface="Hiragino Sans GB"/>
                <a:ea typeface="Hiragino Sans GB"/>
              </a:rPr>
              <a:t>尽量带回这些材料</a:t>
            </a:r>
          </a:p>
        </p:txBody>
      </p:sp>
      <p:sp>
        <p:nvSpPr>
          <p:cNvPr id="7" name="deckkit-motif-quiet"/>
          <p:cNvSpPr/>
          <p:nvPr/>
        </p:nvSpPr>
        <p:spPr>
          <a:xfrm>
            <a:off x="713232" y="1261872"/>
            <a:ext cx="1335024" cy="41148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371600"/>
            <a:ext cx="10661904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A7B5BC"/>
                </a:solidFill>
                <a:latin typeface="Hiragino Sans GB"/>
                <a:ea typeface="Hiragino Sans GB"/>
              </a:rPr>
              <a:t>材料需要脱敏，数量不必多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1883664"/>
            <a:ext cx="2510028" cy="3694175"/>
          </a:xfrm>
          <a:prstGeom prst="roundRect">
            <a:avLst>
              <a:gd name="adj" fmla="val 5828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50976" y="2084832"/>
            <a:ext cx="530352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6D6C2"/>
                </a:solidFill>
                <a:latin typeface="Hiragino Sans GB"/>
                <a:ea typeface="Hiragino Sans GB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976" y="2377440"/>
            <a:ext cx="2107692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F5F2E9"/>
                </a:solidFill>
                <a:latin typeface="Hiragino Sans GB"/>
                <a:ea typeface="Hiragino Sans GB"/>
              </a:rPr>
              <a:t>5个真实问题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0976" y="2798064"/>
            <a:ext cx="2107692" cy="2670047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A7B5BC"/>
                </a:solidFill>
                <a:latin typeface="Hiragino Sans GB"/>
                <a:ea typeface="Hiragino Sans GB"/>
              </a:rPr>
              <a:t>用户、客户或同事实际会问的问题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24428" y="1883664"/>
            <a:ext cx="2510028" cy="3694175"/>
          </a:xfrm>
          <a:prstGeom prst="roundRect">
            <a:avLst>
              <a:gd name="adj" fmla="val 5828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25596" y="2084832"/>
            <a:ext cx="530352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0C565"/>
                </a:solidFill>
                <a:latin typeface="Hiragino Sans GB"/>
                <a:ea typeface="Hiragino Sans GB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25596" y="2377440"/>
            <a:ext cx="2107692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F5F2E9"/>
                </a:solidFill>
                <a:latin typeface="Hiragino Sans GB"/>
                <a:ea typeface="Hiragino Sans GB"/>
              </a:rPr>
              <a:t>1—3份材料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25596" y="2798064"/>
            <a:ext cx="2107692" cy="2670047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A7B5BC"/>
                </a:solidFill>
                <a:latin typeface="Hiragino Sans GB"/>
                <a:ea typeface="Hiragino Sans GB"/>
              </a:rPr>
              <a:t>FAQ、制度、表单、流程、记录或文档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99048" y="1883664"/>
            <a:ext cx="2510028" cy="3694175"/>
          </a:xfrm>
          <a:prstGeom prst="roundRect">
            <a:avLst>
              <a:gd name="adj" fmla="val 5828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00216" y="2084832"/>
            <a:ext cx="530352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7657"/>
                </a:solidFill>
                <a:latin typeface="Hiragino Sans GB"/>
                <a:ea typeface="Hiragino Sans GB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0216" y="2377440"/>
            <a:ext cx="2107692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F5F2E9"/>
                </a:solidFill>
                <a:latin typeface="Hiragino Sans GB"/>
                <a:ea typeface="Hiragino Sans GB"/>
              </a:rPr>
              <a:t>1个异常情况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0216" y="2798064"/>
            <a:ext cx="2107692" cy="2670047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A7B5BC"/>
                </a:solidFill>
                <a:latin typeface="Hiragino Sans GB"/>
                <a:ea typeface="Hiragino Sans GB"/>
              </a:rPr>
              <a:t>最容易出错、卡住或需要人工判断的情况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73668" y="1883664"/>
            <a:ext cx="2510028" cy="3694175"/>
          </a:xfrm>
          <a:prstGeom prst="roundRect">
            <a:avLst>
              <a:gd name="adj" fmla="val 5828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74836" y="2084832"/>
            <a:ext cx="530352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68D391"/>
                </a:solidFill>
                <a:latin typeface="Hiragino Sans GB"/>
                <a:ea typeface="Hiragino Sans GB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74836" y="2377440"/>
            <a:ext cx="2107692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F5F2E9"/>
                </a:solidFill>
                <a:latin typeface="Hiragino Sans GB"/>
                <a:ea typeface="Hiragino Sans GB"/>
              </a:rPr>
              <a:t>2个不知道的问题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74836" y="2798064"/>
            <a:ext cx="2107692" cy="2670047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A7B5BC"/>
                </a:solidFill>
                <a:latin typeface="Hiragino Sans GB"/>
                <a:ea typeface="Hiragino Sans GB"/>
              </a:rPr>
              <a:t>目前无法回答、需要后续核实的内容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49808" y="5742432"/>
            <a:ext cx="10533888" cy="548640"/>
          </a:xfrm>
          <a:prstGeom prst="roundRect">
            <a:avLst>
              <a:gd name="adj" fmla="val 23333"/>
            </a:avLst>
          </a:prstGeom>
          <a:solidFill>
            <a:srgbClr val="133843"/>
          </a:solidFill>
          <a:ln w="701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50976" y="5870448"/>
            <a:ext cx="1133856" cy="25603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7657"/>
                </a:solidFill>
                <a:latin typeface="Hiragino Sans GB"/>
                <a:ea typeface="Hiragino Sans GB"/>
              </a:rPr>
              <a:t>本页重点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57400" y="5843016"/>
            <a:ext cx="8887968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5F2E9"/>
                </a:solidFill>
                <a:latin typeface="Hiragino Sans GB"/>
                <a:ea typeface="Hiragino Sans GB"/>
              </a:rPr>
              <a:t>拿不到材料也要如实记录，这会影响后续项目选择。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0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4944" y="182880"/>
            <a:ext cx="9692640" cy="329184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36D6C2"/>
                </a:solidFill>
                <a:latin typeface="Hiragino Sans GB"/>
                <a:ea typeface="Hiragino Sans GB"/>
              </a:rPr>
              <a:t>第六节｜第一份课后准备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00232" y="201168"/>
            <a:ext cx="502920" cy="27432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7B5BC"/>
                </a:solidFill>
                <a:latin typeface="Hiragino Sans GB"/>
                <a:ea typeface="Hiragino Sans GB"/>
              </a:rPr>
              <a:t>30</a:t>
            </a:r>
          </a:p>
        </p:txBody>
      </p:sp>
      <p:sp>
        <p:nvSpPr>
          <p:cNvPr id="4" name="Rectangle 3"/>
          <p:cNvSpPr/>
          <p:nvPr/>
        </p:nvSpPr>
        <p:spPr>
          <a:xfrm>
            <a:off x="694944" y="6556248"/>
            <a:ext cx="10808208" cy="12801"/>
          </a:xfrm>
          <a:prstGeom prst="rect">
            <a:avLst/>
          </a:prstGeom>
          <a:solidFill>
            <a:srgbClr val="416A7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deckkit-motif-quiet"/>
          <p:cNvSpPr/>
          <p:nvPr/>
        </p:nvSpPr>
        <p:spPr>
          <a:xfrm>
            <a:off x="694944" y="6501384"/>
            <a:ext cx="10808208" cy="36576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658368"/>
            <a:ext cx="10716768" cy="56692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F5F2E9"/>
                </a:solidFill>
                <a:latin typeface="Hiragino Sans GB"/>
                <a:ea typeface="Hiragino Sans GB"/>
              </a:rPr>
              <a:t>下一课之前不用做什么</a:t>
            </a:r>
          </a:p>
        </p:txBody>
      </p:sp>
      <p:sp>
        <p:nvSpPr>
          <p:cNvPr id="7" name="deckkit-motif-quiet"/>
          <p:cNvSpPr/>
          <p:nvPr/>
        </p:nvSpPr>
        <p:spPr>
          <a:xfrm>
            <a:off x="713232" y="1261872"/>
            <a:ext cx="1335024" cy="41148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371600"/>
            <a:ext cx="10661904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A7B5BC"/>
                </a:solidFill>
                <a:latin typeface="Hiragino Sans GB"/>
                <a:ea typeface="Hiragino Sans GB"/>
              </a:rPr>
              <a:t>先准备素材，再开始正式项目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1883664"/>
            <a:ext cx="5157216" cy="3621024"/>
          </a:xfrm>
          <a:prstGeom prst="roundRect">
            <a:avLst>
              <a:gd name="adj" fmla="val 4040"/>
            </a:avLst>
          </a:prstGeom>
          <a:solidFill>
            <a:srgbClr val="102B37"/>
          </a:solidFill>
          <a:ln w="9715">
            <a:solidFill>
              <a:srgbClr val="36D6C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084832"/>
            <a:ext cx="4645152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36D6C2"/>
                </a:solidFill>
                <a:latin typeface="Hiragino Sans GB"/>
                <a:ea typeface="Hiragino Sans GB"/>
              </a:rPr>
              <a:t>本次不用提交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7" y="2788920"/>
            <a:ext cx="91440" cy="91440"/>
          </a:xfrm>
          <a:prstGeom prst="roundRect">
            <a:avLst>
              <a:gd name="adj" fmla="val 50000"/>
            </a:avLst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61872" y="2633472"/>
            <a:ext cx="4352544" cy="43891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F5F2E9"/>
                </a:solidFill>
                <a:latin typeface="Hiragino Sans GB"/>
                <a:ea typeface="Hiragino Sans GB"/>
              </a:rPr>
              <a:t>完整PRD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24127" y="3454146"/>
            <a:ext cx="91440" cy="91440"/>
          </a:xfrm>
          <a:prstGeom prst="roundRect">
            <a:avLst>
              <a:gd name="adj" fmla="val 50000"/>
            </a:avLst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61872" y="3298698"/>
            <a:ext cx="4352544" cy="43891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F5F2E9"/>
                </a:solidFill>
                <a:latin typeface="Hiragino Sans GB"/>
                <a:ea typeface="Hiragino Sans GB"/>
              </a:rPr>
              <a:t>页面原型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24127" y="4119372"/>
            <a:ext cx="91440" cy="91440"/>
          </a:xfrm>
          <a:prstGeom prst="roundRect">
            <a:avLst>
              <a:gd name="adj" fmla="val 50000"/>
            </a:avLst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61872" y="3963924"/>
            <a:ext cx="4352544" cy="43891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F5F2E9"/>
                </a:solidFill>
                <a:latin typeface="Hiragino Sans GB"/>
                <a:ea typeface="Hiragino Sans GB"/>
              </a:rPr>
              <a:t>模型与技术方案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24127" y="4784598"/>
            <a:ext cx="91440" cy="91440"/>
          </a:xfrm>
          <a:prstGeom prst="roundRect">
            <a:avLst>
              <a:gd name="adj" fmla="val 50000"/>
            </a:avLst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61872" y="4629150"/>
            <a:ext cx="4352544" cy="43891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F5F2E9"/>
                </a:solidFill>
                <a:latin typeface="Hiragino Sans GB"/>
                <a:ea typeface="Hiragino Sans GB"/>
              </a:rPr>
              <a:t>效果承诺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26480" y="1883664"/>
            <a:ext cx="5157216" cy="3621024"/>
          </a:xfrm>
          <a:prstGeom prst="roundRect">
            <a:avLst>
              <a:gd name="adj" fmla="val 4040"/>
            </a:avLst>
          </a:prstGeom>
          <a:solidFill>
            <a:srgbClr val="102B37"/>
          </a:solidFill>
          <a:ln w="9715">
            <a:solidFill>
              <a:srgbClr val="68D39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82512" y="2084832"/>
            <a:ext cx="4645152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68D391"/>
                </a:solidFill>
                <a:latin typeface="Hiragino Sans GB"/>
                <a:ea typeface="Hiragino Sans GB"/>
              </a:rPr>
              <a:t>下一步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0" y="2788920"/>
            <a:ext cx="91440" cy="91440"/>
          </a:xfrm>
          <a:prstGeom prst="roundRect">
            <a:avLst>
              <a:gd name="adj" fmla="val 50000"/>
            </a:avLst>
          </a:prstGeom>
          <a:solidFill>
            <a:srgbClr val="68D39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38544" y="2633472"/>
            <a:ext cx="4352544" cy="43891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F5F2E9"/>
                </a:solidFill>
                <a:latin typeface="Hiragino Sans GB"/>
                <a:ea typeface="Hiragino Sans GB"/>
              </a:rPr>
              <a:t>第二课学习智能客服公共项目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0" y="3454146"/>
            <a:ext cx="91440" cy="91440"/>
          </a:xfrm>
          <a:prstGeom prst="roundRect">
            <a:avLst>
              <a:gd name="adj" fmla="val 50000"/>
            </a:avLst>
          </a:prstGeom>
          <a:solidFill>
            <a:srgbClr val="68D39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38544" y="3298698"/>
            <a:ext cx="4352544" cy="43891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F5F2E9"/>
                </a:solidFill>
                <a:latin typeface="Hiragino Sans GB"/>
                <a:ea typeface="Hiragino Sans GB"/>
              </a:rPr>
              <a:t>课后24小时提交选题卡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0" y="4119372"/>
            <a:ext cx="91440" cy="91440"/>
          </a:xfrm>
          <a:prstGeom prst="roundRect">
            <a:avLst>
              <a:gd name="adj" fmla="val 50000"/>
            </a:avLst>
          </a:prstGeom>
          <a:solidFill>
            <a:srgbClr val="68D39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38544" y="3963924"/>
            <a:ext cx="4352544" cy="43891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F5F2E9"/>
                </a:solidFill>
                <a:latin typeface="Hiragino Sans GB"/>
                <a:ea typeface="Hiragino Sans GB"/>
              </a:rPr>
              <a:t>3—5天完成项目一V0.1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0" y="4784598"/>
            <a:ext cx="91440" cy="91440"/>
          </a:xfrm>
          <a:prstGeom prst="roundRect">
            <a:avLst>
              <a:gd name="adj" fmla="val 50000"/>
            </a:avLst>
          </a:prstGeom>
          <a:solidFill>
            <a:srgbClr val="68D39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38544" y="4629150"/>
            <a:ext cx="4352544" cy="43891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F5F2E9"/>
                </a:solidFill>
                <a:latin typeface="Hiragino Sans GB"/>
                <a:ea typeface="Hiragino Sans GB"/>
              </a:rPr>
              <a:t>第三课集中点评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49808" y="5742432"/>
            <a:ext cx="10533888" cy="548640"/>
          </a:xfrm>
          <a:prstGeom prst="roundRect">
            <a:avLst>
              <a:gd name="adj" fmla="val 23333"/>
            </a:avLst>
          </a:prstGeom>
          <a:solidFill>
            <a:srgbClr val="133843"/>
          </a:solidFill>
          <a:ln w="701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50976" y="5870448"/>
            <a:ext cx="1133856" cy="25603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7657"/>
                </a:solidFill>
                <a:latin typeface="Hiragino Sans GB"/>
                <a:ea typeface="Hiragino Sans GB"/>
              </a:rPr>
              <a:t>判断标准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057400" y="5843016"/>
            <a:ext cx="8887968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5F2E9"/>
                </a:solidFill>
                <a:latin typeface="Hiragino Sans GB"/>
                <a:ea typeface="Hiragino Sans GB"/>
              </a:rPr>
              <a:t>先建立共同参照，再让个人项目进入正式推进。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