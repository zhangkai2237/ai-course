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本课不要求正式选题、写PRD或画原型。</a:t>
            </a:r>
          </a:p>
          <a:p/>
          <a:p>
            <a:r>
              <a:t>&gt; 文档版本：v2.1 详细讲义版  </a:t>
            </a:r>
          </a:p>
          <a:p>
            <a:r>
              <a:t>&gt; 建议时长：约 80—100 分钟，可根据课堂讨论适当延长  </a:t>
            </a:r>
          </a:p>
          <a:p>
            <a:r>
              <a:t>&gt; 本课任务：让学员理解第二阶段的学习方式、三个公共项目的选择逻辑，并从自己的经历中找到可以迁移的个人项目方向  </a:t>
            </a:r>
          </a:p>
          <a:p>
            <a:r>
              <a:t>&gt; 本课边界：暂不要求正式选题，不写 PRD，不画原型，也不要求开发产品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今天主要讲四件事</a:t>
            </a:r>
          </a:p>
          <a:p/>
          <a:p>
            <a:r>
              <a:t>&gt; 文档版本：v2.1 详细讲义版  </a:t>
            </a:r>
          </a:p>
          <a:p>
            <a:r>
              <a:t>&gt; 建议时长：约 80—100 分钟，可根据课堂讨论适当延长  </a:t>
            </a:r>
          </a:p>
          <a:p>
            <a:r>
              <a:t>&gt; 本课任务：让学员理解第二阶段的学习方式、三个公共项目的选择逻辑，并从自己的经历中找到可以迁移的个人项目方向  </a:t>
            </a:r>
          </a:p>
          <a:p>
            <a:r>
              <a:t>&gt; 本课边界：暂不要求正式选题，不写 PRD，不画原型，也不要求开发产品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把已经学过的知识连续地用在真实项目中</a:t>
            </a:r>
          </a:p>
          <a:p/>
          <a:p>
            <a:r>
              <a:t>第一阶段的课程，是把 AI 产品经理需要掌握的关键问题逐个拆开。</a:t>
            </a:r>
          </a:p>
          <a:p/>
          <a:p>
            <a:r>
              <a:t>我们讨论过大模型能做什么、不能做什么；Prompt 怎样设计；Workflow、RAG 和 Agent 分别适合处理什么问题；怎样分析需求、定义 MVP、编写 AI 产品 PRD、设计原型；怎样准备评测集、分析 Bad Case；也讨论过模型选择、成本和 ROI。</a:t>
            </a:r>
          </a:p>
          <a:p/>
          <a:p>
            <a:r>
              <a:t>这些知识并不是彼此独立的。真实工作中，不会有一个需求只考察 Prompt，也很少有一个项目只使用 RAG 或只使用 Workflow。业务方交给产品经理的，通常只是一个还很模糊的问题：</a:t>
            </a:r>
          </a:p>
          <a:p/>
          <a:p>
            <a:r>
              <a:t>- 客服团队每天重复回答大量问题，能不能用 AI 降低压力？</a:t>
            </a:r>
          </a:p>
          <a:p>
            <a:r>
              <a:t>- 审核人员每天检查很多材料，能不能让 AI 先发现问题？</a:t>
            </a:r>
          </a:p>
          <a:p>
            <a:r>
              <a:t>- 售前准备一份客户方案要花两三天，能不能把时间缩短？</a:t>
            </a:r>
          </a:p>
          <a:p/>
          <a:p>
            <a:r>
              <a:t>面对这些问题，产品经理需要自己完成一连串判断：</a:t>
            </a:r>
          </a:p>
          <a:p/>
          <a:p>
            <a:r>
              <a:t>1. 这到底是不是一个值得解决的问题；</a:t>
            </a:r>
          </a:p>
          <a:p>
            <a:r>
              <a:t>2. 谁在什么情况下使用产品；</a:t>
            </a:r>
          </a:p>
          <a:p>
            <a:r>
              <a:t>3. 现在的业务流程怎样运行；</a:t>
            </a:r>
          </a:p>
          <a:p>
            <a:r>
              <a:t>4. 哪些环节适合交给大模型；</a:t>
            </a:r>
          </a:p>
          <a:p>
            <a:r>
              <a:t>5. 哪些环节应该使用规则、知识库、业务接口或人工；</a:t>
            </a:r>
          </a:p>
          <a:p>
            <a:r>
              <a:t>6. 第一版做到哪里就能够验证价值；</a:t>
            </a:r>
          </a:p>
          <a:p>
            <a:r>
              <a:t>7. 怎样判断产品是真的有效，而不是只做出了一个演示。</a:t>
            </a:r>
          </a:p>
          <a:p/>
          <a:p>
            <a:r>
              <a:t>第一阶段解决的是“每一种方法分别是什么”。第二阶段要训练的是：</a:t>
            </a:r>
          </a:p>
          <a:p/>
          <a:p>
            <a:r>
              <a:t>&gt; 面对一个不完整的业务问题，能否把已经学过的知识连续地组织起来，做成一套能够解释、验证和迭代的 AI 产品方案。</a:t>
            </a:r>
          </a:p>
          <a:p/>
          <a:p>
            <a:r>
              <a:t>因此，第二阶段不再按技术名词讲课。我们不会分别做一个 RAG 项目、一个 Workflow 项目、一个 Agent 项目。课程会先给出真实业务问题，再根据问题决定需要组合哪些能力。</a:t>
            </a:r>
          </a:p>
          <a:p/>
          <a:p>
            <a:r>
              <a:t>例如，企业智能客服与业务办理项目可能同时需要：</a:t>
            </a:r>
          </a:p>
          <a:p/>
          <a:p>
            <a:r>
              <a:t>- 大模型理解用户到底在问什么；</a:t>
            </a:r>
          </a:p>
          <a:p>
            <a:r>
              <a:t>- 知识库提供产品、制度和操作说明；</a:t>
            </a:r>
          </a:p>
          <a:p>
            <a:r>
              <a:t>- 业务接口查询订单、账户和服务状态；</a:t>
            </a:r>
          </a:p>
          <a:p>
            <a:r>
              <a:t>- 规则判断身份、权限和办理条件；</a:t>
            </a:r>
          </a:p>
          <a:p>
            <a:r>
              <a:t>- 工作流推动退款、报修、预约等任务继续执行；</a:t>
            </a:r>
          </a:p>
          <a:p>
            <a:r>
              <a:t>- 人工处理投诉、高风险请求和模型无法判断的情况。</a:t>
            </a:r>
          </a:p>
          <a:p/>
          <a:p>
            <a:r>
              <a:t>如果产品经理只是说“我要做一个 RAG 客服”，实际上还没有完成产品判断。RAG 只解决了知识获取的一部分问题，并没有解释服务如何完成。</a:t>
            </a:r>
          </a:p>
          <a:p/>
          <a:p>
            <a:r>
              <a:t>第二阶段真正训练的是：为了让业务问题得到解决，产品经理怎样安排模型、规则、数据、系统和人工之间的关系。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第一阶段已经解决的问题</a:t>
            </a:r>
          </a:p>
          <a:p/>
          <a:p>
            <a:r>
              <a:t>第一阶段的课程，是把 AI 产品经理需要掌握的关键问题逐个拆开。</a:t>
            </a:r>
          </a:p>
          <a:p/>
          <a:p>
            <a:r>
              <a:t>我们讨论过大模型能做什么、不能做什么；Prompt 怎样设计；Workflow、RAG 和 Agent 分别适合处理什么问题；怎样分析需求、定义 MVP、编写 AI 产品 PRD、设计原型；怎样准备评测集、分析 Bad Case；也讨论过模型选择、成本和 ROI。</a:t>
            </a:r>
          </a:p>
          <a:p/>
          <a:p>
            <a:r>
              <a:t>这些知识并不是彼此独立的。真实工作中，不会有一个需求只考察 Prompt，也很少有一个项目只使用 RAG 或只使用 Workflow。业务方交给产品经理的，通常只是一个还很模糊的问题：</a:t>
            </a:r>
          </a:p>
          <a:p/>
          <a:p>
            <a:r>
              <a:t>- 客服团队每天重复回答大量问题，能不能用 AI 降低压力？</a:t>
            </a:r>
          </a:p>
          <a:p>
            <a:r>
              <a:t>- 审核人员每天检查很多材料，能不能让 AI 先发现问题？</a:t>
            </a:r>
          </a:p>
          <a:p>
            <a:r>
              <a:t>- 售前准备一份客户方案要花两三天，能不能把时间缩短？</a:t>
            </a:r>
          </a:p>
          <a:p/>
          <a:p>
            <a:r>
              <a:t>面对这些问题，产品经理需要自己完成一连串判断：</a:t>
            </a:r>
          </a:p>
          <a:p/>
          <a:p>
            <a:r>
              <a:t>1. 这到底是不是一个值得解决的问题；</a:t>
            </a:r>
          </a:p>
          <a:p>
            <a:r>
              <a:t>2. 谁在什么情况下使用产品；</a:t>
            </a:r>
          </a:p>
          <a:p>
            <a:r>
              <a:t>3. 现在的业务流程怎样运行；</a:t>
            </a:r>
          </a:p>
          <a:p>
            <a:r>
              <a:t>4. 哪些环节适合交给大模型；</a:t>
            </a:r>
          </a:p>
          <a:p>
            <a:r>
              <a:t>5. 哪些环节应该使用规则、知识库、业务接口或人工；</a:t>
            </a:r>
          </a:p>
          <a:p>
            <a:r>
              <a:t>6. 第一版做到哪里就能够验证价值；</a:t>
            </a:r>
          </a:p>
          <a:p>
            <a:r>
              <a:t>7. 怎样判断产品是真的有效，而不是只做出了一个演示。</a:t>
            </a:r>
          </a:p>
          <a:p/>
          <a:p>
            <a:r>
              <a:t>第一阶段解决的是“每一种方法分别是什么”。第二阶段要训练的是：</a:t>
            </a:r>
          </a:p>
          <a:p/>
          <a:p>
            <a:r>
              <a:t>&gt; 面对一个不完整的业务问题，能否把已经学过的知识连续地组织起来，做成一套能够解释、验证和迭代的 AI 产品方案。</a:t>
            </a:r>
          </a:p>
          <a:p/>
          <a:p>
            <a:r>
              <a:t>因此，第二阶段不再按技术名词讲课。我们不会分别做一个 RAG 项目、一个 Workflow 项目、一个 Agent 项目。课程会先给出真实业务问题，再根据问题决定需要组合哪些能力。</a:t>
            </a:r>
          </a:p>
          <a:p/>
          <a:p>
            <a:r>
              <a:t>例如，企业智能客服与业务办理项目可能同时需要：</a:t>
            </a:r>
          </a:p>
          <a:p/>
          <a:p>
            <a:r>
              <a:t>- 大模型理解用户到底在问什么；</a:t>
            </a:r>
          </a:p>
          <a:p>
            <a:r>
              <a:t>- 知识库提供产品、制度和操作说明；</a:t>
            </a:r>
          </a:p>
          <a:p>
            <a:r>
              <a:t>- 业务接口查询订单、账户和服务状态；</a:t>
            </a:r>
          </a:p>
          <a:p>
            <a:r>
              <a:t>- 规则判断身份、权限和办理条件；</a:t>
            </a:r>
          </a:p>
          <a:p>
            <a:r>
              <a:t>- 工作流推动退款、报修、预约等任务继续执行；</a:t>
            </a:r>
          </a:p>
          <a:p>
            <a:r>
              <a:t>- 人工处理投诉、高风险请求和模型无法判断的情况。</a:t>
            </a:r>
          </a:p>
          <a:p/>
          <a:p>
            <a:r>
              <a:t>如果产品经理只是说“我要做一个 RAG 客服”，实际上还没有完成产品判断。RAG 只解决了知识获取的一部分问题，并没有解释服务如何完成。</a:t>
            </a:r>
          </a:p>
          <a:p/>
          <a:p>
            <a:r>
              <a:t>第二阶段真正训练的是：为了让业务问题得到解决，产品经理怎样安排模型、规则、数据、系统和人工之间的关系。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真实需求通常只有一句话</a:t>
            </a:r>
          </a:p>
          <a:p/>
          <a:p>
            <a:r>
              <a:t>第一阶段的课程，是把 AI 产品经理需要掌握的关键问题逐个拆开。</a:t>
            </a:r>
          </a:p>
          <a:p/>
          <a:p>
            <a:r>
              <a:t>我们讨论过大模型能做什么、不能做什么；Prompt 怎样设计；Workflow、RAG 和 Agent 分别适合处理什么问题；怎样分析需求、定义 MVP、编写 AI 产品 PRD、设计原型；怎样准备评测集、分析 Bad Case；也讨论过模型选择、成本和 ROI。</a:t>
            </a:r>
          </a:p>
          <a:p/>
          <a:p>
            <a:r>
              <a:t>这些知识并不是彼此独立的。真实工作中，不会有一个需求只考察 Prompt，也很少有一个项目只使用 RAG 或只使用 Workflow。业务方交给产品经理的，通常只是一个还很模糊的问题：</a:t>
            </a:r>
          </a:p>
          <a:p/>
          <a:p>
            <a:r>
              <a:t>- 客服团队每天重复回答大量问题，能不能用 AI 降低压力？</a:t>
            </a:r>
          </a:p>
          <a:p>
            <a:r>
              <a:t>- 审核人员每天检查很多材料，能不能让 AI 先发现问题？</a:t>
            </a:r>
          </a:p>
          <a:p>
            <a:r>
              <a:t>- 售前准备一份客户方案要花两三天，能不能把时间缩短？</a:t>
            </a:r>
          </a:p>
          <a:p/>
          <a:p>
            <a:r>
              <a:t>面对这些问题，产品经理需要自己完成一连串判断：</a:t>
            </a:r>
          </a:p>
          <a:p/>
          <a:p>
            <a:r>
              <a:t>1. 这到底是不是一个值得解决的问题；</a:t>
            </a:r>
          </a:p>
          <a:p>
            <a:r>
              <a:t>2. 谁在什么情况下使用产品；</a:t>
            </a:r>
          </a:p>
          <a:p>
            <a:r>
              <a:t>3. 现在的业务流程怎样运行；</a:t>
            </a:r>
          </a:p>
          <a:p>
            <a:r>
              <a:t>4. 哪些环节适合交给大模型；</a:t>
            </a:r>
          </a:p>
          <a:p>
            <a:r>
              <a:t>5. 哪些环节应该使用规则、知识库、业务接口或人工；</a:t>
            </a:r>
          </a:p>
          <a:p>
            <a:r>
              <a:t>6. 第一版做到哪里就能够验证价值；</a:t>
            </a:r>
          </a:p>
          <a:p>
            <a:r>
              <a:t>7. 怎样判断产品是真的有效，而不是只做出了一个演示。</a:t>
            </a:r>
          </a:p>
          <a:p/>
          <a:p>
            <a:r>
              <a:t>第一阶段解决的是“每一种方法分别是什么”。第二阶段要训练的是：</a:t>
            </a:r>
          </a:p>
          <a:p/>
          <a:p>
            <a:r>
              <a:t>&gt; 面对一个不完整的业务问题，能否把已经学过的知识连续地组织起来，做成一套能够解释、验证和迭代的 AI 产品方案。</a:t>
            </a:r>
          </a:p>
          <a:p/>
          <a:p>
            <a:r>
              <a:t>因此，第二阶段不再按技术名词讲课。我们不会分别做一个 RAG 项目、一个 Workflow 项目、一个 Agent 项目。课程会先给出真实业务问题，再根据问题决定需要组合哪些能力。</a:t>
            </a:r>
          </a:p>
          <a:p/>
          <a:p>
            <a:r>
              <a:t>例如，企业智能客服与业务办理项目可能同时需要：</a:t>
            </a:r>
          </a:p>
          <a:p/>
          <a:p>
            <a:r>
              <a:t>- 大模型理解用户到底在问什么；</a:t>
            </a:r>
          </a:p>
          <a:p>
            <a:r>
              <a:t>- 知识库提供产品、制度和操作说明；</a:t>
            </a:r>
          </a:p>
          <a:p>
            <a:r>
              <a:t>- 业务接口查询订单、账户和服务状态；</a:t>
            </a:r>
          </a:p>
          <a:p>
            <a:r>
              <a:t>- 规则判断身份、权限和办理条件；</a:t>
            </a:r>
          </a:p>
          <a:p>
            <a:r>
              <a:t>- 工作流推动退款、报修、预约等任务继续执行；</a:t>
            </a:r>
          </a:p>
          <a:p>
            <a:r>
              <a:t>- 人工处理投诉、高风险请求和模型无法判断的情况。</a:t>
            </a:r>
          </a:p>
          <a:p/>
          <a:p>
            <a:r>
              <a:t>如果产品经理只是说“我要做一个 RAG 客服”，实际上还没有完成产品判断。RAG 只解决了知识获取的一部分问题，并没有解释服务如何完成。</a:t>
            </a:r>
          </a:p>
          <a:p/>
          <a:p>
            <a:r>
              <a:t>第二阶段真正训练的是：为了让业务问题得到解决，产品经理怎样安排模型、规则、数据、系统和人工之间的关系。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一个项目包含连续判断</a:t>
            </a:r>
          </a:p>
          <a:p/>
          <a:p>
            <a:r>
              <a:t>第一阶段的课程，是把 AI 产品经理需要掌握的关键问题逐个拆开。</a:t>
            </a:r>
          </a:p>
          <a:p/>
          <a:p>
            <a:r>
              <a:t>我们讨论过大模型能做什么、不能做什么；Prompt 怎样设计；Workflow、RAG 和 Agent 分别适合处理什么问题；怎样分析需求、定义 MVP、编写 AI 产品 PRD、设计原型；怎样准备评测集、分析 Bad Case；也讨论过模型选择、成本和 ROI。</a:t>
            </a:r>
          </a:p>
          <a:p/>
          <a:p>
            <a:r>
              <a:t>这些知识并不是彼此独立的。真实工作中，不会有一个需求只考察 Prompt，也很少有一个项目只使用 RAG 或只使用 Workflow。业务方交给产品经理的，通常只是一个还很模糊的问题：</a:t>
            </a:r>
          </a:p>
          <a:p/>
          <a:p>
            <a:r>
              <a:t>- 客服团队每天重复回答大量问题，能不能用 AI 降低压力？</a:t>
            </a:r>
          </a:p>
          <a:p>
            <a:r>
              <a:t>- 审核人员每天检查很多材料，能不能让 AI 先发现问题？</a:t>
            </a:r>
          </a:p>
          <a:p>
            <a:r>
              <a:t>- 售前准备一份客户方案要花两三天，能不能把时间缩短？</a:t>
            </a:r>
          </a:p>
          <a:p/>
          <a:p>
            <a:r>
              <a:t>面对这些问题，产品经理需要自己完成一连串判断：</a:t>
            </a:r>
          </a:p>
          <a:p/>
          <a:p>
            <a:r>
              <a:t>1. 这到底是不是一个值得解决的问题；</a:t>
            </a:r>
          </a:p>
          <a:p>
            <a:r>
              <a:t>2. 谁在什么情况下使用产品；</a:t>
            </a:r>
          </a:p>
          <a:p>
            <a:r>
              <a:t>3. 现在的业务流程怎样运行；</a:t>
            </a:r>
          </a:p>
          <a:p>
            <a:r>
              <a:t>4. 哪些环节适合交给大模型；</a:t>
            </a:r>
          </a:p>
          <a:p>
            <a:r>
              <a:t>5. 哪些环节应该使用规则、知识库、业务接口或人工；</a:t>
            </a:r>
          </a:p>
          <a:p>
            <a:r>
              <a:t>6. 第一版做到哪里就能够验证价值；</a:t>
            </a:r>
          </a:p>
          <a:p>
            <a:r>
              <a:t>7. 怎样判断产品是真的有效，而不是只做出了一个演示。</a:t>
            </a:r>
          </a:p>
          <a:p/>
          <a:p>
            <a:r>
              <a:t>第一阶段解决的是“每一种方法分别是什么”。第二阶段要训练的是：</a:t>
            </a:r>
          </a:p>
          <a:p/>
          <a:p>
            <a:r>
              <a:t>&gt; 面对一个不完整的业务问题，能否把已经学过的知识连续地组织起来，做成一套能够解释、验证和迭代的 AI 产品方案。</a:t>
            </a:r>
          </a:p>
          <a:p/>
          <a:p>
            <a:r>
              <a:t>因此，第二阶段不再按技术名词讲课。我们不会分别做一个 RAG 项目、一个 Workflow 项目、一个 Agent 项目。课程会先给出真实业务问题，再根据问题决定需要组合哪些能力。</a:t>
            </a:r>
          </a:p>
          <a:p/>
          <a:p>
            <a:r>
              <a:t>例如，企业智能客服与业务办理项目可能同时需要：</a:t>
            </a:r>
          </a:p>
          <a:p/>
          <a:p>
            <a:r>
              <a:t>- 大模型理解用户到底在问什么；</a:t>
            </a:r>
          </a:p>
          <a:p>
            <a:r>
              <a:t>- 知识库提供产品、制度和操作说明；</a:t>
            </a:r>
          </a:p>
          <a:p>
            <a:r>
              <a:t>- 业务接口查询订单、账户和服务状态；</a:t>
            </a:r>
          </a:p>
          <a:p>
            <a:r>
              <a:t>- 规则判断身份、权限和办理条件；</a:t>
            </a:r>
          </a:p>
          <a:p>
            <a:r>
              <a:t>- 工作流推动退款、报修、预约等任务继续执行；</a:t>
            </a:r>
          </a:p>
          <a:p>
            <a:r>
              <a:t>- 人工处理投诉、高风险请求和模型无法判断的情况。</a:t>
            </a:r>
          </a:p>
          <a:p/>
          <a:p>
            <a:r>
              <a:t>如果产品经理只是说“我要做一个 RAG 客服”，实际上还没有完成产品判断。RAG 只解决了知识获取的一部分问题，并没有解释服务如何完成。</a:t>
            </a:r>
          </a:p>
          <a:p/>
          <a:p>
            <a:r>
              <a:t>第二阶段真正训练的是：为了让业务问题得到解决，产品经理怎样安排模型、规则、数据、系统和人工之间的关系。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智能客服项目需要多种能力</a:t>
            </a:r>
          </a:p>
          <a:p/>
          <a:p>
            <a:r>
              <a:t>第一阶段的课程，是把 AI 产品经理需要掌握的关键问题逐个拆开。</a:t>
            </a:r>
          </a:p>
          <a:p/>
          <a:p>
            <a:r>
              <a:t>我们讨论过大模型能做什么、不能做什么；Prompt 怎样设计；Workflow、RAG 和 Agent 分别适合处理什么问题；怎样分析需求、定义 MVP、编写 AI 产品 PRD、设计原型；怎样准备评测集、分析 Bad Case；也讨论过模型选择、成本和 ROI。</a:t>
            </a:r>
          </a:p>
          <a:p/>
          <a:p>
            <a:r>
              <a:t>这些知识并不是彼此独立的。真实工作中，不会有一个需求只考察 Prompt，也很少有一个项目只使用 RAG 或只使用 Workflow。业务方交给产品经理的，通常只是一个还很模糊的问题：</a:t>
            </a:r>
          </a:p>
          <a:p/>
          <a:p>
            <a:r>
              <a:t>- 客服团队每天重复回答大量问题，能不能用 AI 降低压力？</a:t>
            </a:r>
          </a:p>
          <a:p>
            <a:r>
              <a:t>- 审核人员每天检查很多材料，能不能让 AI 先发现问题？</a:t>
            </a:r>
          </a:p>
          <a:p>
            <a:r>
              <a:t>- 售前准备一份客户方案要花两三天，能不能把时间缩短？</a:t>
            </a:r>
          </a:p>
          <a:p/>
          <a:p>
            <a:r>
              <a:t>面对这些问题，产品经理需要自己完成一连串判断：</a:t>
            </a:r>
          </a:p>
          <a:p/>
          <a:p>
            <a:r>
              <a:t>1. 这到底是不是一个值得解决的问题；</a:t>
            </a:r>
          </a:p>
          <a:p>
            <a:r>
              <a:t>2. 谁在什么情况下使用产品；</a:t>
            </a:r>
          </a:p>
          <a:p>
            <a:r>
              <a:t>3. 现在的业务流程怎样运行；</a:t>
            </a:r>
          </a:p>
          <a:p>
            <a:r>
              <a:t>4. 哪些环节适合交给大模型；</a:t>
            </a:r>
          </a:p>
          <a:p>
            <a:r>
              <a:t>5. 哪些环节应该使用规则、知识库、业务接口或人工；</a:t>
            </a:r>
          </a:p>
          <a:p>
            <a:r>
              <a:t>6. 第一版做到哪里就能够验证价值；</a:t>
            </a:r>
          </a:p>
          <a:p>
            <a:r>
              <a:t>7. 怎样判断产品是真的有效，而不是只做出了一个演示。</a:t>
            </a:r>
          </a:p>
          <a:p/>
          <a:p>
            <a:r>
              <a:t>第一阶段解决的是“每一种方法分别是什么”。第二阶段要训练的是：</a:t>
            </a:r>
          </a:p>
          <a:p/>
          <a:p>
            <a:r>
              <a:t>&gt; 面对一个不完整的业务问题，能否把已经学过的知识连续地组织起来，做成一套能够解释、验证和迭代的 AI 产品方案。</a:t>
            </a:r>
          </a:p>
          <a:p/>
          <a:p>
            <a:r>
              <a:t>因此，第二阶段不再按技术名词讲课。我们不会分别做一个 RAG 项目、一个 Workflow 项目、一个 Agent 项目。课程会先给出真实业务问题，再根据问题决定需要组合哪些能力。</a:t>
            </a:r>
          </a:p>
          <a:p/>
          <a:p>
            <a:r>
              <a:t>例如，企业智能客服与业务办理项目可能同时需要：</a:t>
            </a:r>
          </a:p>
          <a:p/>
          <a:p>
            <a:r>
              <a:t>- 大模型理解用户到底在问什么；</a:t>
            </a:r>
          </a:p>
          <a:p>
            <a:r>
              <a:t>- 知识库提供产品、制度和操作说明；</a:t>
            </a:r>
          </a:p>
          <a:p>
            <a:r>
              <a:t>- 业务接口查询订单、账户和服务状态；</a:t>
            </a:r>
          </a:p>
          <a:p>
            <a:r>
              <a:t>- 规则判断身份、权限和办理条件；</a:t>
            </a:r>
          </a:p>
          <a:p>
            <a:r>
              <a:t>- 工作流推动退款、报修、预约等任务继续执行；</a:t>
            </a:r>
          </a:p>
          <a:p>
            <a:r>
              <a:t>- 人工处理投诉、高风险请求和模型无法判断的情况。</a:t>
            </a:r>
          </a:p>
          <a:p/>
          <a:p>
            <a:r>
              <a:t>如果产品经理只是说“我要做一个 RAG 客服”，实际上还没有完成产品判断。RAG 只解决了知识获取的一部分问题，并没有解释服务如何完成。</a:t>
            </a:r>
          </a:p>
          <a:p/>
          <a:p>
            <a:r>
              <a:t>第二阶段真正训练的是：为了让业务问题得到解决，产品经理怎样安排模型、规则、数据、系统和人工之间的关系。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公共项目与个人项目</a:t>
            </a:r>
          </a:p>
          <a:p/>
          <a:p>
            <a:r>
              <a:t>第二阶段安排三个公共项目，也要求每位学员完成三个个人项目。这两类项目承担不同作用。</a:t>
            </a:r>
          </a:p>
          <a:p/>
          <a:p>
            <a:r>
              <a:t>### 1. 公共项目解决“没有共同参照”的问题</a:t>
            </a:r>
          </a:p>
          <a:p/>
          <a:p>
            <a:r>
              <a:t>如果一开始就让每位学员自由选题，会出现一个很现实的问题：有人做客服，有人做医疗，有人做内容，有人做招聘。每个人的业务背景、材料和产品范围都不一样，课堂很难建立共同标准。</a:t>
            </a:r>
          </a:p>
          <a:p/>
          <a:p>
            <a:r>
              <a:t>因此，每一轮先由老师完整讲解一个公共项目。公共项目要展示的不只是最终答案，而是整个判断过程：</a:t>
            </a:r>
          </a:p>
          <a:p/>
          <a:p>
            <a:r>
              <a:t>- 原始需求为什么不够清楚；</a:t>
            </a:r>
          </a:p>
          <a:p>
            <a:r>
              <a:t>- 怎样梳理用户和业务流程；</a:t>
            </a:r>
          </a:p>
          <a:p>
            <a:r>
              <a:t>- 怎样判断 AI 应该介入哪一步；</a:t>
            </a:r>
          </a:p>
          <a:p>
            <a:r>
              <a:t>- 为什么某些功能放进 MVP，另一些暂时不做；</a:t>
            </a:r>
          </a:p>
          <a:p>
            <a:r>
              <a:t>- 页面怎样承载模型、规则和人工协作；</a:t>
            </a:r>
          </a:p>
          <a:p>
            <a:r>
              <a:t>- 测试时应该准备哪些问题；</a:t>
            </a:r>
          </a:p>
          <a:p>
            <a:r>
              <a:t>- 发现 Bad Case 后怎样修改方案。</a:t>
            </a:r>
          </a:p>
          <a:p/>
          <a:p>
            <a:r>
              <a:t>公共项目相当于一套教学母本。全班使用相同材料，才能讨论同一个问题，也才能看见不同方案之间的差异。</a:t>
            </a:r>
          </a:p>
          <a:p/>
          <a:p>
            <a:r>
              <a:t>### 2. 个人项目解决“会听但不会做”的问题</a:t>
            </a:r>
          </a:p>
          <a:p/>
          <a:p>
            <a:r>
              <a:t>只听公共项目，学员很容易产生一种错觉：老师讲的时候都能听懂，所以自己已经会了。</a:t>
            </a:r>
          </a:p>
          <a:p/>
          <a:p>
            <a:r>
              <a:t>但当项目换成自己的行业，很多问题会重新出现：</a:t>
            </a:r>
          </a:p>
          <a:p/>
          <a:p>
            <a:r>
              <a:t>- 用户是谁并不明确；</a:t>
            </a:r>
          </a:p>
          <a:p>
            <a:r>
              <a:t>- 工作流程说不清楚；</a:t>
            </a:r>
          </a:p>
          <a:p>
            <a:r>
              <a:t>- 业务材料拿不到；</a:t>
            </a:r>
          </a:p>
          <a:p>
            <a:r>
              <a:t>- 规则和大模型的边界不知道怎样划；</a:t>
            </a:r>
          </a:p>
          <a:p>
            <a:r>
              <a:t>- 想做的功能太多，无法形成第一版；</a:t>
            </a:r>
          </a:p>
          <a:p>
            <a:r>
              <a:t>- 能做出演示，却不知道怎样验证结果。</a:t>
            </a:r>
          </a:p>
          <a:p/>
          <a:p>
            <a:r>
              <a:t>所以每讲完一个公共项目，学员都要把同一种产品方法迁移到自己的业务中，独立完成一个个人项目。</a:t>
            </a:r>
          </a:p>
          <a:p/>
          <a:p>
            <a:r>
              <a:t>公共项目证明老师讲清楚了，个人项目才证明学员真正掌握了。</a:t>
            </a:r>
          </a:p>
          <a:p/>
          <a:p>
            <a:r>
              <a:t>### 3. 个人项目不是给公共项目换一个名字</a:t>
            </a:r>
          </a:p>
          <a:p/>
          <a:p>
            <a:r>
              <a:t>迁移不等于把“企业客服”改成“医疗客服”，也不等于更换页面颜色和行业词汇。</a:t>
            </a:r>
          </a:p>
          <a:p/>
          <a:p>
            <a:r>
              <a:t>一个项目真正发生迁移，至少要重新确定：</a:t>
            </a:r>
          </a:p>
          <a:p/>
          <a:p>
            <a:r>
              <a:t>- 用户是谁；</a:t>
            </a:r>
          </a:p>
          <a:p>
            <a:r>
              <a:t>- 用户在什么时刻遇到什么问题；</a:t>
            </a:r>
          </a:p>
          <a:p>
            <a:r>
              <a:t>- 当前流程怎样完成；</a:t>
            </a:r>
          </a:p>
          <a:p>
            <a:r>
              <a:t>- 可以使用哪些材料、数据和规则；</a:t>
            </a:r>
          </a:p>
          <a:p>
            <a:r>
              <a:t>- 哪些判断存在行业风险；</a:t>
            </a:r>
          </a:p>
          <a:p>
            <a:r>
              <a:t>- 第一版产品解决到什么程度；</a:t>
            </a:r>
          </a:p>
          <a:p>
            <a:r>
              <a:t>- 用什么案例判断产品有效。</a:t>
            </a:r>
          </a:p>
          <a:p/>
          <a:p>
            <a:r>
              <a:t>如果这些内容没有变化，项目仍然只是课堂案例的复制品。只有业务流程、输入材料、规则、异常情况和评测方式都进入自己的场景，项目才真正属于学员。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公共项目要展示判断过程</a:t>
            </a:r>
          </a:p>
          <a:p/>
          <a:p>
            <a:r>
              <a:t>如果一开始就让每位学员自由选题，会出现一个很现实的问题：有人做客服，有人做医疗，有人做内容，有人做招聘。每个人的业务背景、材料和产品范围都不一样，课堂很难建立共同标准。</a:t>
            </a:r>
          </a:p>
          <a:p/>
          <a:p>
            <a:r>
              <a:t>因此，每一轮先由老师完整讲解一个公共项目。公共项目要展示的不只是最终答案，而是整个判断过程：</a:t>
            </a:r>
          </a:p>
          <a:p/>
          <a:p>
            <a:r>
              <a:t>- 原始需求为什么不够清楚；</a:t>
            </a:r>
          </a:p>
          <a:p>
            <a:r>
              <a:t>- 怎样梳理用户和业务流程；</a:t>
            </a:r>
          </a:p>
          <a:p>
            <a:r>
              <a:t>- 怎样判断 AI 应该介入哪一步；</a:t>
            </a:r>
          </a:p>
          <a:p>
            <a:r>
              <a:t>- 为什么某些功能放进 MVP，另一些暂时不做；</a:t>
            </a:r>
          </a:p>
          <a:p>
            <a:r>
              <a:t>- 页面怎样承载模型、规则和人工协作；</a:t>
            </a:r>
          </a:p>
          <a:p>
            <a:r>
              <a:t>- 测试时应该准备哪些问题；</a:t>
            </a:r>
          </a:p>
          <a:p>
            <a:r>
              <a:t>- 发现 Bad Case 后怎样修改方案。</a:t>
            </a:r>
          </a:p>
          <a:p/>
          <a:p>
            <a:r>
              <a:t>公共项目相当于一套教学母本。全班使用相同材料，才能讨论同一个问题，也才能看见不同方案之间的差异。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个人项目必须真正发生变化</a:t>
            </a:r>
          </a:p>
          <a:p/>
          <a:p>
            <a:r>
              <a:t>迁移不等于把“企业客服”改成“医疗客服”，也不等于更换页面颜色和行业词汇。</a:t>
            </a:r>
          </a:p>
          <a:p/>
          <a:p>
            <a:r>
              <a:t>一个项目真正发生迁移，至少要重新确定：</a:t>
            </a:r>
          </a:p>
          <a:p/>
          <a:p>
            <a:r>
              <a:t>- 用户是谁；</a:t>
            </a:r>
          </a:p>
          <a:p>
            <a:r>
              <a:t>- 用户在什么时刻遇到什么问题；</a:t>
            </a:r>
          </a:p>
          <a:p>
            <a:r>
              <a:t>- 当前流程怎样完成；</a:t>
            </a:r>
          </a:p>
          <a:p>
            <a:r>
              <a:t>- 可以使用哪些材料、数据和规则；</a:t>
            </a:r>
          </a:p>
          <a:p>
            <a:r>
              <a:t>- 哪些判断存在行业风险；</a:t>
            </a:r>
          </a:p>
          <a:p>
            <a:r>
              <a:t>- 第一版产品解决到什么程度；</a:t>
            </a:r>
          </a:p>
          <a:p>
            <a:r>
              <a:t>- 用什么案例判断产品有效。</a:t>
            </a:r>
          </a:p>
          <a:p/>
          <a:p>
            <a:r>
              <a:t>如果这些内容没有变化，项目仍然只是课堂案例的复制品。只有业务流程、输入材料、规则、异常情况和评测方式都进入自己的场景，项目才真正属于学员。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一轮项目的推进方式</a:t>
            </a:r>
          </a:p>
          <a:p/>
          <a:p>
            <a:r>
              <a:t>三个项目都使用同一套学习节奏：</a:t>
            </a:r>
          </a:p>
          <a:p/>
          <a:p>
            <a:r>
              <a:t>&gt; 老师讲公共项目 → 学员完成个人项目 V0.1 → 小组互评 → 老师集中点评 → 学员修改为 V1.0。</a:t>
            </a:r>
          </a:p>
          <a:p/>
          <a:p>
            <a:r>
              <a:t>这套节奏不是为了增加作业，而是模拟真实产品工作的几个关键过程。</a:t>
            </a:r>
          </a:p>
          <a:p/>
          <a:p>
            <a:r>
              <a:t>### 1. 老师完整讲解公共项目</a:t>
            </a:r>
          </a:p>
          <a:p/>
          <a:p>
            <a:r>
              <a:t>公共项目课可以讲到三小时。课堂不是快速浏览一份 PRD，而是把一个项目从业务背景一直推进到产品方案、核心页面、测试和迭代。</a:t>
            </a:r>
          </a:p>
          <a:p/>
          <a:p>
            <a:r>
              <a:t>学员在这一环节要观察的，不只是“最后做了哪些功能”，而是每一个关键选择背后的理由。例如：</a:t>
            </a:r>
          </a:p>
          <a:p/>
          <a:p>
            <a:r>
              <a:t>- 为什么这个问题值得用 AI；</a:t>
            </a:r>
          </a:p>
          <a:p>
            <a:r>
              <a:t>- 为什么不是所有内容都交给模型；</a:t>
            </a:r>
          </a:p>
          <a:p>
            <a:r>
              <a:t>- 为什么必须保留人工接管；</a:t>
            </a:r>
          </a:p>
          <a:p>
            <a:r>
              <a:t>- 为什么某个看起来很高级的功能没有进入 MVP；</a:t>
            </a:r>
          </a:p>
          <a:p>
            <a:r>
              <a:t>- 为什么测试集要包含正常、异常和边界案例。</a:t>
            </a:r>
          </a:p>
          <a:p/>
          <a:p>
            <a:r>
              <a:t>### 2. 学员独立完成个人项目 V0.1</a:t>
            </a:r>
          </a:p>
          <a:p/>
          <a:p>
            <a:r>
              <a:t>公共项目课后，每位学员围绕自己的业务场景完成第一个版本。</a:t>
            </a:r>
          </a:p>
          <a:p/>
          <a:p>
            <a:r>
              <a:t>V0.1 不追求精美，也不要求一次正确。它的价值是把学员当前的判断暴露出来：哪里讲清楚了，哪里只是一个想法，哪里缺少业务材料，哪里范围过大。</a:t>
            </a:r>
          </a:p>
          <a:p/>
          <a:p>
            <a:r>
              <a:t>### 3. 固定小组进行互评</a:t>
            </a:r>
          </a:p>
          <a:p/>
          <a:p>
            <a:r>
              <a:t>第二阶段采用固定的 4—5 人互评小组，但小组不共同完成一个项目。</a:t>
            </a:r>
          </a:p>
          <a:p/>
          <a:p>
            <a:r>
              <a:t>每个人仍然独立选题、独立制作、独立提交。小组的作用是让每位学员在老师点评之前，先获得几位同学的外部视角。</a:t>
            </a:r>
          </a:p>
          <a:p/>
          <a:p>
            <a:r>
              <a:t>互评时不要求同学替别人设计产品，只需要围绕统一问题判断：</a:t>
            </a:r>
          </a:p>
          <a:p/>
          <a:p>
            <a:r>
              <a:t>- 我能不能听懂这个项目到底解决什么问题；</a:t>
            </a:r>
          </a:p>
          <a:p>
            <a:r>
              <a:t>- 用户和使用时刻是否具体；</a:t>
            </a:r>
          </a:p>
          <a:p>
            <a:r>
              <a:t>- 现在的业务过程是否讲清楚；</a:t>
            </a:r>
          </a:p>
          <a:p>
            <a:r>
              <a:t>- AI 的必要性是否成立；</a:t>
            </a:r>
          </a:p>
          <a:p>
            <a:r>
              <a:t>- 材料是否能够获得；</a:t>
            </a:r>
          </a:p>
          <a:p>
            <a:r>
              <a:t>- MVP 是否过大；</a:t>
            </a:r>
          </a:p>
          <a:p>
            <a:r>
              <a:t>- 哪个地方最需要老师进一步点评。</a:t>
            </a:r>
          </a:p>
          <a:p/>
          <a:p>
            <a:r>
              <a:t>固定小组还有一个额外价值：同组成员会连续看到彼此三个项目的变化，更容易发现一个人反复出现的习惯问题，例如总是把范围做得太大、总是忽略异常流程，或者过早进入页面设计。</a:t>
            </a:r>
          </a:p>
          <a:p/>
          <a:p>
            <a:r>
              <a:t>### 4. 老师集中点评代表问题</a:t>
            </a:r>
          </a:p>
          <a:p/>
          <a:p>
            <a:r>
              <a:t>人数较多时，老师不可能逐页讲完每一份作业。因此，小组需要从成员项目中归纳最典型的问题，再由老师在课堂上集中点评。</a:t>
            </a:r>
          </a:p>
          <a:p/>
          <a:p>
            <a:r>
              <a:t>老师点评的重点不是判断“这个创意好不好”，而是示范怎样修改：</a:t>
            </a:r>
          </a:p>
          <a:p/>
          <a:p>
            <a:r>
              <a:t>- 一个模糊场景怎样缩小；</a:t>
            </a:r>
          </a:p>
          <a:p>
            <a:r>
              <a:t>- 一个功能清单怎样变成业务闭环；</a:t>
            </a:r>
          </a:p>
          <a:p>
            <a:r>
              <a:t>- 一个过度依赖大模型的方案怎样加入规则与人工；</a:t>
            </a:r>
          </a:p>
          <a:p>
            <a:r>
              <a:t>- 一个看起来普通的项目怎样通过业务深度变得专业；</a:t>
            </a:r>
          </a:p>
          <a:p>
            <a:r>
              <a:t>- 一个无法验证的项目怎样建立样本和指标。</a:t>
            </a:r>
          </a:p>
          <a:p/>
          <a:p>
            <a:r>
              <a:t>即使没有被单独点评，学员也要把典型问题映射回自己的项目。</a:t>
            </a:r>
          </a:p>
          <a:p/>
          <a:p>
            <a:r>
              <a:t>### 5. 学员修改形成 V1.0</a:t>
            </a:r>
          </a:p>
          <a:p/>
          <a:p>
            <a:r>
              <a:t>点评后不能只“听懂”。每位学员都要提交修改后的 V1.0，并保留修改记录：</a:t>
            </a:r>
          </a:p>
          <a:p/>
          <a:p>
            <a:r>
              <a:t>- 原来怎样设计；</a:t>
            </a:r>
          </a:p>
          <a:p>
            <a:r>
              <a:t>- 收到了什么问题；</a:t>
            </a:r>
          </a:p>
          <a:p>
            <a:r>
              <a:t>- 修改了什么；</a:t>
            </a:r>
          </a:p>
          <a:p>
            <a:r>
              <a:t>- 为什么这样修改；</a:t>
            </a:r>
          </a:p>
          <a:p>
            <a:r>
              <a:t>- 哪些问题暂时没有解决。</a:t>
            </a:r>
          </a:p>
          <a:p/>
          <a:p>
            <a:r>
              <a:t>在作品集和面试中，修改过程往往比一张精美原型更能证明产品能力。因为真实产品工作从来不是一次写出正确答案，而是不断发现问题、做出取舍并留下依据。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固定小组怎样互评</a:t>
            </a:r>
          </a:p>
          <a:p/>
          <a:p>
            <a:r>
              <a:t>第二阶段采用固定的 4—5 人互评小组，但小组不共同完成一个项目。</a:t>
            </a:r>
          </a:p>
          <a:p/>
          <a:p>
            <a:r>
              <a:t>每个人仍然独立选题、独立制作、独立提交。小组的作用是让每位学员在老师点评之前，先获得几位同学的外部视角。</a:t>
            </a:r>
          </a:p>
          <a:p/>
          <a:p>
            <a:r>
              <a:t>互评时不要求同学替别人设计产品，只需要围绕统一问题判断：</a:t>
            </a:r>
          </a:p>
          <a:p/>
          <a:p>
            <a:r>
              <a:t>- 我能不能听懂这个项目到底解决什么问题；</a:t>
            </a:r>
          </a:p>
          <a:p>
            <a:r>
              <a:t>- 用户和使用时刻是否具体；</a:t>
            </a:r>
          </a:p>
          <a:p>
            <a:r>
              <a:t>- 现在的业务过程是否讲清楚；</a:t>
            </a:r>
          </a:p>
          <a:p>
            <a:r>
              <a:t>- AI 的必要性是否成立；</a:t>
            </a:r>
          </a:p>
          <a:p>
            <a:r>
              <a:t>- 材料是否能够获得；</a:t>
            </a:r>
          </a:p>
          <a:p>
            <a:r>
              <a:t>- MVP 是否过大；</a:t>
            </a:r>
          </a:p>
          <a:p>
            <a:r>
              <a:t>- 哪个地方最需要老师进一步点评。</a:t>
            </a:r>
          </a:p>
          <a:p/>
          <a:p>
            <a:r>
              <a:t>固定小组还有一个额外价值：同组成员会连续看到彼此三个项目的变化，更容易发现一个人反复出现的习惯问题，例如总是把范围做得太大、总是忽略异常流程，或者过早进入页面设计。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老师点评的重点</a:t>
            </a:r>
          </a:p>
          <a:p/>
          <a:p>
            <a:r>
              <a:t>人数较多时，老师不可能逐页讲完每一份作业。因此，小组需要从成员项目中归纳最典型的问题，再由老师在课堂上集中点评。</a:t>
            </a:r>
          </a:p>
          <a:p/>
          <a:p>
            <a:r>
              <a:t>老师点评的重点不是判断“这个创意好不好”，而是示范怎样修改：</a:t>
            </a:r>
          </a:p>
          <a:p/>
          <a:p>
            <a:r>
              <a:t>- 一个模糊场景怎样缩小；</a:t>
            </a:r>
          </a:p>
          <a:p>
            <a:r>
              <a:t>- 一个功能清单怎样变成业务闭环；</a:t>
            </a:r>
          </a:p>
          <a:p>
            <a:r>
              <a:t>- 一个过度依赖大模型的方案怎样加入规则与人工；</a:t>
            </a:r>
          </a:p>
          <a:p>
            <a:r>
              <a:t>- 一个看起来普通的项目怎样通过业务深度变得专业；</a:t>
            </a:r>
          </a:p>
          <a:p>
            <a:r>
              <a:t>- 一个无法验证的项目怎样建立样本和指标。</a:t>
            </a:r>
          </a:p>
          <a:p/>
          <a:p>
            <a:r>
              <a:t>即使没有被单独点评，学员也要把典型问题映射回自己的项目。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为什么不共同完成一个项目</a:t>
            </a:r>
          </a:p>
          <a:p/>
          <a:p>
            <a:r>
              <a:t>线上项目课很容易想到“分组做项目”。但本阶段不采用小组共同交付，原因有三点。</a:t>
            </a:r>
          </a:p>
          <a:p/>
          <a:p>
            <a:r>
              <a:t>第一，小组项目很容易变成分工项目。有人写背景，有人画原型，有人做 Demo，最终每个人只掌握其中一部分，无法独立讲清完整项目。</a:t>
            </a:r>
          </a:p>
          <a:p/>
          <a:p>
            <a:r>
              <a:t>第二，课程最终希望每位学员获得可以进入个人作品集和简历的成果。如果五个人共同完成同一个项目，很难界定每个人做过哪些关键判断。</a:t>
            </a:r>
          </a:p>
          <a:p/>
          <a:p>
            <a:r>
              <a:t>第三，学员的行业经历不同。独立项目更容易与自己的工作经验或目标岗位结合，也更容易在面试中讲出可信的业务细节。</a:t>
            </a:r>
          </a:p>
          <a:p/>
          <a:p>
            <a:r>
              <a:t>因此，我们保留小组互评的协作价值，但不牺牲个人完整交付：</a:t>
            </a:r>
          </a:p>
          <a:p/>
          <a:p>
            <a:r>
              <a:t>&gt; 小组帮助你发现问题，项目仍然由你独立负责。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十次课整体安排</a:t>
            </a:r>
          </a:p>
          <a:p/>
          <a:p>
            <a:r>
              <a:t>| 课次 | 课堂内容 | 学员主要产出 |</a:t>
            </a:r>
          </a:p>
          <a:p>
            <a:r>
              <a:t>|---|---|---|</a:t>
            </a:r>
          </a:p>
          <a:p>
            <a:r>
              <a:t>| 第 1 课 | 第二阶段启动与项目准备 | 三个候选场景和基础材料 |</a:t>
            </a:r>
          </a:p>
          <a:p>
            <a:r>
              <a:t>| 第 2 课 | 公共项目一：企业智能客服与业务办理 | 理解服务型 AI 产品完整闭环 |</a:t>
            </a:r>
          </a:p>
          <a:p>
            <a:r>
              <a:t>| 第 3 课 | 个人项目一点评与修改 | 个人项目一 V1.0 |</a:t>
            </a:r>
          </a:p>
          <a:p>
            <a:r>
              <a:t>| 第 4 课 | 公共项目二：业务材料审核与风险核验 | 理解材料、规则、模型和人工协作 |</a:t>
            </a:r>
          </a:p>
          <a:p>
            <a:r>
              <a:t>| 第 5 课 | 个人项目二点评与修改 | 个人项目二 V1.0 |</a:t>
            </a:r>
          </a:p>
          <a:p>
            <a:r>
              <a:t>| 第 6 课 | 公共项目三：专业研究与方案生成 | 理解复杂任务拆解与专业交付 |</a:t>
            </a:r>
          </a:p>
          <a:p>
            <a:r>
              <a:t>| 第 7 课 | 个人项目三点评与修改 | 个人项目三 V1.0 |</a:t>
            </a:r>
          </a:p>
          <a:p>
            <a:r>
              <a:t>| 第 8 课 | 选择一个主项目继续深化 | 主项目强化版本 |</a:t>
            </a:r>
          </a:p>
          <a:p>
            <a:r>
              <a:t>| 第 9 课 | 作品集、简历和项目讲述 | 作品集与项目表达材料 |</a:t>
            </a:r>
          </a:p>
          <a:p>
            <a:r>
              <a:t>| 第 10 课 | 项目路演、验收与阶段总结 | 最终展示与后续行动 |</a:t>
            </a:r>
          </a:p>
          <a:p/>
          <a:p>
            <a:r>
              <a:t>其中三次公共项目课可以根据内容讲到三小时。点评课也不是简单批改作业，而是让全班看到项目如何从 V0.1 变成 V1.0。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第二阶段的最终成果</a:t>
            </a:r>
          </a:p>
          <a:p/>
          <a:p>
            <a:r>
              <a:t>每位学员最终至少获得：</a:t>
            </a:r>
          </a:p>
          <a:p/>
          <a:p>
            <a:r>
              <a:t>- 三个独立完成的个人 AI 产品项目；</a:t>
            </a:r>
          </a:p>
          <a:p>
            <a:r>
              <a:t>- 一个进一步做深的主项目；</a:t>
            </a:r>
          </a:p>
          <a:p>
            <a:r>
              <a:t>- 一套能够放进作品集的项目材料；</a:t>
            </a:r>
          </a:p>
          <a:p>
            <a:r>
              <a:t>- 一套能够在简历和面试中讲清楚的项目表达；</a:t>
            </a:r>
          </a:p>
          <a:p>
            <a:r>
              <a:t>- 三轮从问题、反馈到修改的完整记录。</a:t>
            </a:r>
          </a:p>
          <a:p/>
          <a:p>
            <a:r>
              <a:t>三个项目不要求全部开发成生产级系统，也不要求三个项目做成完全相同的深度。</a:t>
            </a:r>
          </a:p>
          <a:p/>
          <a:p>
            <a:r>
              <a:t>更合理的结果是：三个项目都能够完整说明业务和方案，其中一个主项目拥有更扎实的原型、样本、测试、迭代或 Demo。</a:t>
            </a:r>
          </a:p>
          <a:p/>
          <a:p>
            <a:r>
              <a:t>这也意味着，第二阶段的价值不只是“多做了三个作业”。学员会反复练习一套可以迁移的工作方法：</a:t>
            </a:r>
          </a:p>
          <a:p/>
          <a:p>
            <a:r>
              <a:t>&gt; 看懂业务问题，组织产品方案，做出范围取舍，用材料和测试支撑判断，再把过程表达为职业成果。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什么项目适合全班共同学习</a:t>
            </a:r>
          </a:p>
          <a:p/>
          <a:p>
            <a:r>
              <a:t>课堂可以先请学员判断：什么项目最适合成为全班共同学习的公共项目？</a:t>
            </a:r>
          </a:p>
          <a:p/>
          <a:p>
            <a:r>
              <a:t>- 使用当前最热门的模型；</a:t>
            </a:r>
          </a:p>
          <a:p>
            <a:r>
              <a:t>- 名字听起来足够先进；</a:t>
            </a:r>
          </a:p>
          <a:p>
            <a:r>
              <a:t>- 很容易生成一个漂亮 Demo；</a:t>
            </a:r>
          </a:p>
          <a:p>
            <a:r>
              <a:t>- 有明确业务过程、真实材料和可判断结果。</a:t>
            </a:r>
          </a:p>
          <a:p/>
          <a:p>
            <a:r>
              <a:t>答案是最后一项。</a:t>
            </a:r>
          </a:p>
          <a:p/>
          <a:p>
            <a:r>
              <a:t>一个项目适不适合教学，不取决于名字是不是“智能体”，也不取决于技术栈看起来有多复杂。它至少要满足以下条件。</a:t>
            </a:r>
          </a:p>
          <a:p/>
          <a:p>
            <a:r>
              <a:t>### 1. 对应真实、常见而且有价值的业务问题</a:t>
            </a:r>
          </a:p>
          <a:p/>
          <a:p>
            <a:r>
              <a:t>项目不能只是为了展示模型能力。用户必须在现实中持续遇到这个问题，组织也愿意投入时间或成本解决它。</a:t>
            </a:r>
          </a:p>
          <a:p/>
          <a:p>
            <a:r>
              <a:t>### 2. 能够呈现完整业务过程</a:t>
            </a:r>
          </a:p>
          <a:p/>
          <a:p>
            <a:r>
              <a:t>课堂需要讲清输入从哪里来、谁做判断、结果交给谁、异常怎样处理，以及产品怎样进入现有流程。只有一句“上传文件，AI 自动分析”是不够的。</a:t>
            </a:r>
          </a:p>
          <a:p/>
          <a:p>
            <a:r>
              <a:t>### 3. 能自然组合多种 AI 产品能力</a:t>
            </a:r>
          </a:p>
          <a:p/>
          <a:p>
            <a:r>
              <a:t>好的公共项目不应该被某一种技术绑住。它应该允许我们讨论模型、知识库、规则、业务系统、工作流和人工怎样组合。</a:t>
            </a:r>
          </a:p>
          <a:p/>
          <a:p>
            <a:r>
              <a:t>### 4. 能够准备材料和测试案例</a:t>
            </a:r>
          </a:p>
          <a:p/>
          <a:p>
            <a:r>
              <a:t>没有材料，就无法讨论模型输入；没有正常、异常和边界案例，就无法判断产品是否可靠。适合上课的项目必须能够形成可演示、可评测的样本。</a:t>
            </a:r>
          </a:p>
          <a:p/>
          <a:p>
            <a:r>
              <a:t>### 5. 能迁移到多个行业和岗位</a:t>
            </a:r>
          </a:p>
          <a:p/>
          <a:p>
            <a:r>
              <a:t>全班学员的背景不同。公共项目必须像一种“母题”：业务结构稳定，但可以换成不同领域的具体问题。这样每位学员才能从中找到与自己相关的个人项目。</a:t>
            </a:r>
          </a:p>
          <a:p/>
          <a:p>
            <a:r>
              <a:t>### 6. 最终能够形成作品集中的专业内容</a:t>
            </a:r>
          </a:p>
          <a:p/>
          <a:p>
            <a:r>
              <a:t>项目要允许学员展示业务理解、流程设计、AI 边界、MVP 取舍、测试与迭代，而不只是展示几张页面。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公共项目的六项标准</a:t>
            </a:r>
          </a:p>
          <a:p/>
          <a:p>
            <a:r>
              <a:t>课堂可以先请学员判断：什么项目最适合成为全班共同学习的公共项目？</a:t>
            </a:r>
          </a:p>
          <a:p/>
          <a:p>
            <a:r>
              <a:t>- 使用当前最热门的模型；</a:t>
            </a:r>
          </a:p>
          <a:p>
            <a:r>
              <a:t>- 名字听起来足够先进；</a:t>
            </a:r>
          </a:p>
          <a:p>
            <a:r>
              <a:t>- 很容易生成一个漂亮 Demo；</a:t>
            </a:r>
          </a:p>
          <a:p>
            <a:r>
              <a:t>- 有明确业务过程、真实材料和可判断结果。</a:t>
            </a:r>
          </a:p>
          <a:p/>
          <a:p>
            <a:r>
              <a:t>答案是最后一项。</a:t>
            </a:r>
          </a:p>
          <a:p/>
          <a:p>
            <a:r>
              <a:t>一个项目适不适合教学，不取决于名字是不是“智能体”，也不取决于技术栈看起来有多复杂。它至少要满足以下条件。</a:t>
            </a:r>
          </a:p>
          <a:p/>
          <a:p>
            <a:r>
              <a:t>### 1. 对应真实、常见而且有价值的业务问题</a:t>
            </a:r>
          </a:p>
          <a:p/>
          <a:p>
            <a:r>
              <a:t>项目不能只是为了展示模型能力。用户必须在现实中持续遇到这个问题，组织也愿意投入时间或成本解决它。</a:t>
            </a:r>
          </a:p>
          <a:p/>
          <a:p>
            <a:r>
              <a:t>### 2. 能够呈现完整业务过程</a:t>
            </a:r>
          </a:p>
          <a:p/>
          <a:p>
            <a:r>
              <a:t>课堂需要讲清输入从哪里来、谁做判断、结果交给谁、异常怎样处理，以及产品怎样进入现有流程。只有一句“上传文件，AI 自动分析”是不够的。</a:t>
            </a:r>
          </a:p>
          <a:p/>
          <a:p>
            <a:r>
              <a:t>### 3. 能自然组合多种 AI 产品能力</a:t>
            </a:r>
          </a:p>
          <a:p/>
          <a:p>
            <a:r>
              <a:t>好的公共项目不应该被某一种技术绑住。它应该允许我们讨论模型、知识库、规则、业务系统、工作流和人工怎样组合。</a:t>
            </a:r>
          </a:p>
          <a:p/>
          <a:p>
            <a:r>
              <a:t>### 4. 能够准备材料和测试案例</a:t>
            </a:r>
          </a:p>
          <a:p/>
          <a:p>
            <a:r>
              <a:t>没有材料，就无法讨论模型输入；没有正常、异常和边界案例，就无法判断产品是否可靠。适合上课的项目必须能够形成可演示、可评测的样本。</a:t>
            </a:r>
          </a:p>
          <a:p/>
          <a:p>
            <a:r>
              <a:t>### 5. 能迁移到多个行业和岗位</a:t>
            </a:r>
          </a:p>
          <a:p/>
          <a:p>
            <a:r>
              <a:t>全班学员的背景不同。公共项目必须像一种“母题”：业务结构稳定，但可以换成不同领域的具体问题。这样每位学员才能从中找到与自己相关的个人项目。</a:t>
            </a:r>
          </a:p>
          <a:p/>
          <a:p>
            <a:r>
              <a:t>### 6. 最终能够形成作品集中的专业内容</a:t>
            </a:r>
          </a:p>
          <a:p/>
          <a:p>
            <a:r>
              <a:t>项目要允许学员展示业务理解、流程设计、AI 边界、MVP 取舍、测试与迭代，而不只是展示几张页面。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公共项目还要便于学习和迁移</a:t>
            </a:r>
          </a:p>
          <a:p/>
          <a:p>
            <a:r>
              <a:t>课堂可以先请学员判断：什么项目最适合成为全班共同学习的公共项目？</a:t>
            </a:r>
          </a:p>
          <a:p/>
          <a:p>
            <a:r>
              <a:t>- 使用当前最热门的模型；</a:t>
            </a:r>
          </a:p>
          <a:p>
            <a:r>
              <a:t>- 名字听起来足够先进；</a:t>
            </a:r>
          </a:p>
          <a:p>
            <a:r>
              <a:t>- 很容易生成一个漂亮 Demo；</a:t>
            </a:r>
          </a:p>
          <a:p>
            <a:r>
              <a:t>- 有明确业务过程、真实材料和可判断结果。</a:t>
            </a:r>
          </a:p>
          <a:p/>
          <a:p>
            <a:r>
              <a:t>答案是最后一项。</a:t>
            </a:r>
          </a:p>
          <a:p/>
          <a:p>
            <a:r>
              <a:t>一个项目适不适合教学，不取决于名字是不是“智能体”，也不取决于技术栈看起来有多复杂。它至少要满足以下条件。</a:t>
            </a:r>
          </a:p>
          <a:p/>
          <a:p>
            <a:r>
              <a:t>### 1. 对应真实、常见而且有价值的业务问题</a:t>
            </a:r>
          </a:p>
          <a:p/>
          <a:p>
            <a:r>
              <a:t>项目不能只是为了展示模型能力。用户必须在现实中持续遇到这个问题，组织也愿意投入时间或成本解决它。</a:t>
            </a:r>
          </a:p>
          <a:p/>
          <a:p>
            <a:r>
              <a:t>### 2. 能够呈现完整业务过程</a:t>
            </a:r>
          </a:p>
          <a:p/>
          <a:p>
            <a:r>
              <a:t>课堂需要讲清输入从哪里来、谁做判断、结果交给谁、异常怎样处理，以及产品怎样进入现有流程。只有一句“上传文件，AI 自动分析”是不够的。</a:t>
            </a:r>
          </a:p>
          <a:p/>
          <a:p>
            <a:r>
              <a:t>### 3. 能自然组合多种 AI 产品能力</a:t>
            </a:r>
          </a:p>
          <a:p/>
          <a:p>
            <a:r>
              <a:t>好的公共项目不应该被某一种技术绑住。它应该允许我们讨论模型、知识库、规则、业务系统、工作流和人工怎样组合。</a:t>
            </a:r>
          </a:p>
          <a:p/>
          <a:p>
            <a:r>
              <a:t>### 4. 能够准备材料和测试案例</a:t>
            </a:r>
          </a:p>
          <a:p/>
          <a:p>
            <a:r>
              <a:t>没有材料，就无法讨论模型输入；没有正常、异常和边界案例，就无法判断产品是否可靠。适合上课的项目必须能够形成可演示、可评测的样本。</a:t>
            </a:r>
          </a:p>
          <a:p/>
          <a:p>
            <a:r>
              <a:t>### 5. 能迁移到多个行业和岗位</a:t>
            </a:r>
          </a:p>
          <a:p/>
          <a:p>
            <a:r>
              <a:t>全班学员的背景不同。公共项目必须像一种“母题”：业务结构稳定，但可以换成不同领域的具体问题。这样每位学员才能从中找到与自己相关的个人项目。</a:t>
            </a:r>
          </a:p>
          <a:p/>
          <a:p>
            <a:r>
              <a:t>### 6. 最终能够形成作品集中的专业内容</a:t>
            </a:r>
          </a:p>
          <a:p/>
          <a:p>
            <a:r>
              <a:t>项目要允许学员展示业务理解、流程设计、AI 边界、MVP 取舍、测试与迭代，而不只是展示几张页面。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真实项目往往同时使用多种能力</a:t>
            </a:r>
          </a:p>
          <a:p/>
          <a:p>
            <a:r>
              <a:t>按技术方向设计课程，看起来结构很整齐，但容易产生两个问题。</a:t>
            </a:r>
          </a:p>
          <a:p/>
          <a:p>
            <a:r>
              <a:t>第一，学员会形成“先选技术，再找场景”的习惯。比如先决定做 Agent，然后把一个原本用普通流程就能完成的任务包装成 Agent。</a:t>
            </a:r>
          </a:p>
          <a:p/>
          <a:p>
            <a:r>
              <a:t>第二，同一个真实项目本来就可能使用多种能力。如果硬把它归类为某一种技术，反而会遮蔽真正重要的产品判断。</a:t>
            </a:r>
          </a:p>
          <a:p/>
          <a:p>
            <a:r>
              <a:t>以材料审核为例：</a:t>
            </a:r>
          </a:p>
          <a:p/>
          <a:p>
            <a:r>
              <a:t>- OCR 或文档解析负责读取材料；</a:t>
            </a:r>
          </a:p>
          <a:p>
            <a:r>
              <a:t>- 大模型负责理解非结构化表述；</a:t>
            </a:r>
          </a:p>
          <a:p>
            <a:r>
              <a:t>- 确定性规则负责金额、日期、资格等硬性校验；</a:t>
            </a:r>
          </a:p>
          <a:p>
            <a:r>
              <a:t>- 知识库提供制度和审核标准；</a:t>
            </a:r>
          </a:p>
          <a:p>
            <a:r>
              <a:t>- 工作流把风险交给不同审核人员；</a:t>
            </a:r>
          </a:p>
          <a:p>
            <a:r>
              <a:t>- 人工对高风险和不确定结果承担最终责任。</a:t>
            </a:r>
          </a:p>
          <a:p/>
          <a:p>
            <a:r>
              <a:t>它既可以包含 RAG，也可以包含 Workflow，还可能有类似 Agent 的任务编排。但项目的主题仍然是“怎样更可靠地完成业务审核”，而不是“怎样用某项技术”。</a:t>
            </a:r>
          </a:p>
          <a:p/>
          <a:p>
            <a:r>
              <a:t>产品经理的专业性，恰恰体现在不被技术名词牵着走。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材料审核项目的能力组合</a:t>
            </a:r>
          </a:p>
          <a:p/>
          <a:p>
            <a:r>
              <a:t>按技术方向设计课程，看起来结构很整齐，但容易产生两个问题。</a:t>
            </a:r>
          </a:p>
          <a:p/>
          <a:p>
            <a:r>
              <a:t>第一，学员会形成“先选技术，再找场景”的习惯。比如先决定做 Agent，然后把一个原本用普通流程就能完成的任务包装成 Agent。</a:t>
            </a:r>
          </a:p>
          <a:p/>
          <a:p>
            <a:r>
              <a:t>第二，同一个真实项目本来就可能使用多种能力。如果硬把它归类为某一种技术，反而会遮蔽真正重要的产品判断。</a:t>
            </a:r>
          </a:p>
          <a:p/>
          <a:p>
            <a:r>
              <a:t>以材料审核为例：</a:t>
            </a:r>
          </a:p>
          <a:p/>
          <a:p>
            <a:r>
              <a:t>- OCR 或文档解析负责读取材料；</a:t>
            </a:r>
          </a:p>
          <a:p>
            <a:r>
              <a:t>- 大模型负责理解非结构化表述；</a:t>
            </a:r>
          </a:p>
          <a:p>
            <a:r>
              <a:t>- 确定性规则负责金额、日期、资格等硬性校验；</a:t>
            </a:r>
          </a:p>
          <a:p>
            <a:r>
              <a:t>- 知识库提供制度和审核标准；</a:t>
            </a:r>
          </a:p>
          <a:p>
            <a:r>
              <a:t>- 工作流把风险交给不同审核人员；</a:t>
            </a:r>
          </a:p>
          <a:p>
            <a:r>
              <a:t>- 人工对高风险和不确定结果承担最终责任。</a:t>
            </a:r>
          </a:p>
          <a:p/>
          <a:p>
            <a:r>
              <a:t>它既可以包含 RAG，也可以包含 Workflow，还可能有类似 Agent 的任务编排。但项目的主题仍然是“怎样更可靠地完成业务审核”，而不是“怎样用某项技术”。</a:t>
            </a:r>
          </a:p>
          <a:p/>
          <a:p>
            <a:r>
              <a:t>产品经理的专业性，恰恰体现在不被技术名词牵着走。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三个公共项目覆盖的业务入口</a:t>
            </a:r>
          </a:p>
          <a:p/>
          <a:p>
            <a:r>
              <a:t>三个公共项目不是三个随机案例，而是三种非常典型的工作入口。</a:t>
            </a:r>
          </a:p>
          <a:p/>
          <a:p>
            <a:r>
              <a:t>| 公共项目 | 工作从哪里开始 | 产品要完成什么 | 主要业务价值 |</a:t>
            </a:r>
          </a:p>
          <a:p>
            <a:r>
              <a:t>|---|---|---|---|</a:t>
            </a:r>
          </a:p>
          <a:p>
            <a:r>
              <a:t>| 企业智能客服与业务办理 | 一个用户提出问题或请求 | 理解问题、调用知识与系统、推动服务完成 | 提升服务效率与体验 |</a:t>
            </a:r>
          </a:p>
          <a:p>
            <a:r>
              <a:t>| 业务材料审核与风险核验 | 一组材料进入业务流程 | 提取信息、核对规则、发现差异与风险 | 降低审核成本和业务风险 |</a:t>
            </a:r>
          </a:p>
          <a:p>
            <a:r>
              <a:t>| 专业研究与方案生成 | 专业人员接到复杂任务 | 拆解问题、组织资料、形成可审阅成果 | 提升知识工作的质量和速度 |</a:t>
            </a:r>
          </a:p>
          <a:p/>
          <a:p>
            <a:r>
              <a:t>可以把它们理解为：</a:t>
            </a:r>
          </a:p>
          <a:p/>
          <a:p>
            <a:r>
              <a:t>- 第一个项目处理“人”；</a:t>
            </a:r>
          </a:p>
          <a:p>
            <a:r>
              <a:t>- 第二个项目处理“材料”；</a:t>
            </a:r>
          </a:p>
          <a:p>
            <a:r>
              <a:t>- 第三个项目处理“复杂任务”。</a:t>
            </a:r>
          </a:p>
          <a:p/>
          <a:p>
            <a:r>
              <a:t>这三种入口覆盖了大量企业工作，也分别考察不同的 AI 产品能力。</a:t>
            </a:r>
          </a:p>
          <a:p/>
          <a:p>
            <a:r>
              <a:t>### 1. 企业智能客服与业务办理：从回答走向完成服务</a:t>
            </a:r>
          </a:p>
          <a:p/>
          <a:p>
            <a:r>
              <a:t>普通问答机器人只回答“怎么办”。真正的服务型 AI 产品还要知道用户是谁、当前业务状态是什么、是否满足办理条件，以及接下来应该推动什么动作。</a:t>
            </a:r>
          </a:p>
          <a:p/>
          <a:p>
            <a:r>
              <a:t>这个项目训练的是：怎样让对话、知识和业务流程形成闭环。</a:t>
            </a:r>
          </a:p>
          <a:p/>
          <a:p>
            <a:r>
              <a:t>### 2. 业务材料审核与风险核验：让 AI 进入高责任流程</a:t>
            </a:r>
          </a:p>
          <a:p/>
          <a:p>
            <a:r>
              <a:t>材料审核不是简单总结文件。系统要在多份材料中找到关键字段、判断是否一致、引用规则、标记风险，并让人工能够回到原文复核。</a:t>
            </a:r>
          </a:p>
          <a:p/>
          <a:p>
            <a:r>
              <a:t>这个项目训练的是：怎样在确定性规则、语义判断和人工责任之间建立可靠边界。</a:t>
            </a:r>
          </a:p>
          <a:p/>
          <a:p>
            <a:r>
              <a:t>### 3. 专业研究与方案生成：从生成文字走向专业交付</a:t>
            </a:r>
          </a:p>
          <a:p/>
          <a:p>
            <a:r>
              <a:t>普通写作助手可以很快生成一篇看起来通顺的文字，但专业工作要求来源可靠、问题拆解合理、观点有依据、信息缺口可见，并且允许专家持续修改。</a:t>
            </a:r>
          </a:p>
          <a:p/>
          <a:p>
            <a:r>
              <a:t>这个项目训练的是：怎样把复杂知识工作变成可追踪、可核实、可协作的产品流程。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三个项目分别训练什么</a:t>
            </a:r>
          </a:p>
          <a:p/>
          <a:p>
            <a:r>
              <a:t>三个公共项目不是三个随机案例，而是三种非常典型的工作入口。</a:t>
            </a:r>
          </a:p>
          <a:p/>
          <a:p>
            <a:r>
              <a:t>| 公共项目 | 工作从哪里开始 | 产品要完成什么 | 主要业务价值 |</a:t>
            </a:r>
          </a:p>
          <a:p>
            <a:r>
              <a:t>|---|---|---|---|</a:t>
            </a:r>
          </a:p>
          <a:p>
            <a:r>
              <a:t>| 企业智能客服与业务办理 | 一个用户提出问题或请求 | 理解问题、调用知识与系统、推动服务完成 | 提升服务效率与体验 |</a:t>
            </a:r>
          </a:p>
          <a:p>
            <a:r>
              <a:t>| 业务材料审核与风险核验 | 一组材料进入业务流程 | 提取信息、核对规则、发现差异与风险 | 降低审核成本和业务风险 |</a:t>
            </a:r>
          </a:p>
          <a:p>
            <a:r>
              <a:t>| 专业研究与方案生成 | 专业人员接到复杂任务 | 拆解问题、组织资料、形成可审阅成果 | 提升知识工作的质量和速度 |</a:t>
            </a:r>
          </a:p>
          <a:p/>
          <a:p>
            <a:r>
              <a:t>可以把它们理解为：</a:t>
            </a:r>
          </a:p>
          <a:p/>
          <a:p>
            <a:r>
              <a:t>- 第一个项目处理“人”；</a:t>
            </a:r>
          </a:p>
          <a:p>
            <a:r>
              <a:t>- 第二个项目处理“材料”；</a:t>
            </a:r>
          </a:p>
          <a:p>
            <a:r>
              <a:t>- 第三个项目处理“复杂任务”。</a:t>
            </a:r>
          </a:p>
          <a:p/>
          <a:p>
            <a:r>
              <a:t>这三种入口覆盖了大量企业工作，也分别考察不同的 AI 产品能力。</a:t>
            </a:r>
          </a:p>
          <a:p/>
          <a:p>
            <a:r>
              <a:t>### 1. 企业智能客服与业务办理：从回答走向完成服务</a:t>
            </a:r>
          </a:p>
          <a:p/>
          <a:p>
            <a:r>
              <a:t>普通问答机器人只回答“怎么办”。真正的服务型 AI 产品还要知道用户是谁、当前业务状态是什么、是否满足办理条件，以及接下来应该推动什么动作。</a:t>
            </a:r>
          </a:p>
          <a:p/>
          <a:p>
            <a:r>
              <a:t>这个项目训练的是：怎样让对话、知识和业务流程形成闭环。</a:t>
            </a:r>
          </a:p>
          <a:p/>
          <a:p>
            <a:r>
              <a:t>### 2. 业务材料审核与风险核验：让 AI 进入高责任流程</a:t>
            </a:r>
          </a:p>
          <a:p/>
          <a:p>
            <a:r>
              <a:t>材料审核不是简单总结文件。系统要在多份材料中找到关键字段、判断是否一致、引用规则、标记风险，并让人工能够回到原文复核。</a:t>
            </a:r>
          </a:p>
          <a:p/>
          <a:p>
            <a:r>
              <a:t>这个项目训练的是：怎样在确定性规则、语义判断和人工责任之间建立可靠边界。</a:t>
            </a:r>
          </a:p>
          <a:p/>
          <a:p>
            <a:r>
              <a:t>### 3. 专业研究与方案生成：从生成文字走向专业交付</a:t>
            </a:r>
          </a:p>
          <a:p/>
          <a:p>
            <a:r>
              <a:t>普通写作助手可以很快生成一篇看起来通顺的文字，但专业工作要求来源可靠、问题拆解合理、观点有依据、信息缺口可见，并且允许专家持续修改。</a:t>
            </a:r>
          </a:p>
          <a:p/>
          <a:p>
            <a:r>
              <a:t>这个项目训练的是：怎样把复杂知识工作变成可追踪、可核实、可协作的产品流程。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项目的专业感来自业务复杂度</a:t>
            </a:r>
          </a:p>
          <a:p/>
          <a:p>
            <a:r>
              <a:t>项目高级不等于页面多、模型多或者名称复杂。真正的高级感来自产品必须处理真实业务中的复杂关系。</a:t>
            </a:r>
          </a:p>
          <a:p/>
          <a:p>
            <a:r>
              <a:t>这三个项目都不止是“用户输入一句话，模型输出一段话”。它们共同包含：</a:t>
            </a:r>
          </a:p>
          <a:p/>
          <a:p>
            <a:r>
              <a:t>- 多种输入材料；</a:t>
            </a:r>
          </a:p>
          <a:p>
            <a:r>
              <a:t>- 多个角色和权限；</a:t>
            </a:r>
          </a:p>
          <a:p>
            <a:r>
              <a:t>- 模型、规则、系统和人工协作；</a:t>
            </a:r>
          </a:p>
          <a:p>
            <a:r>
              <a:t>- 正常流程、异常流程和责任边界；</a:t>
            </a:r>
          </a:p>
          <a:p>
            <a:r>
              <a:t>- 能够被验证的业务结果；</a:t>
            </a:r>
          </a:p>
          <a:p>
            <a:r>
              <a:t>- 可以逐步演进的产品范围。</a:t>
            </a:r>
          </a:p>
          <a:p/>
          <a:p>
            <a:r>
              <a:t>因此，学员最终呈现的不是“我调用了一个模型”，而是：</a:t>
            </a:r>
          </a:p>
          <a:p/>
          <a:p>
            <a:r>
              <a:t>&gt; 我理解了一个真实业务，知道 AI 在哪里创造价值，也知道哪些问题不能只依赖 AI，并设计了可以验证和迭代的产品方案。</a:t>
            </a:r>
          </a:p>
          <a:p/>
          <a:p>
            <a:r>
              <a:t>这种内容既能用于课堂训练，也更容易在作品集和面试中体现产品判断力。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为什么没有单独设置 C 端公共项目</a:t>
            </a:r>
          </a:p>
          <a:p/>
          <a:p>
            <a:r>
              <a:t>没有单独设置 C 端项目，不是因为 C 端不重要，也不是因为 AI 产品经理只需要学习 B 端产品。</a:t>
            </a:r>
          </a:p>
          <a:p/>
          <a:p>
            <a:r>
              <a:t>主要原因是公共教学项目需要具备共同材料和共同判断标准，而许多 C 端项目的核心成败条件不容易在课堂中还原。</a:t>
            </a:r>
          </a:p>
          <a:p/>
          <a:p>
            <a:r>
              <a:t>### 1. 很多 C 端项目依赖真实用户行为</a:t>
            </a:r>
          </a:p>
          <a:p/>
          <a:p>
            <a:r>
              <a:t>陪伴、效率、内容、学习、健康等 C 端产品，最终要看用户是否持续使用、是否愿意付费、是否形成留存。这些结论不能只靠产品经理想象，也不能通过几张原型证明。</a:t>
            </a:r>
          </a:p>
          <a:p/>
          <a:p>
            <a:r>
              <a:t>### 2. 很多 C 端项目依赖分发和增长</a:t>
            </a:r>
          </a:p>
          <a:p/>
          <a:p>
            <a:r>
              <a:t>产品本身可能不错，但没有渠道、流量和增长实验，仍然无法验证商业结果。课堂如果缺少真实用户，很容易把项目做成创意展示。</a:t>
            </a:r>
          </a:p>
          <a:p/>
          <a:p>
            <a:r>
              <a:t>### 3. C 端需求更容易停留在宽泛概念</a:t>
            </a:r>
          </a:p>
          <a:p/>
          <a:p>
            <a:r>
              <a:t>“AI 生活助手”“AI 情绪陪伴”“AI 学习助手”听起来都有吸引力，但如果没有真实用户和长期数据，范围很容易无限扩大，结果也很难评价。</a:t>
            </a:r>
          </a:p>
          <a:p/>
          <a:p>
            <a:r>
              <a:t>### 4. 三个公共项目本身可以包含面向个人用户的场景</a:t>
            </a:r>
          </a:p>
          <a:p/>
          <a:p>
            <a:r>
              <a:t>“企业场景”和“个人用户”并不矛盾。电商售后、在线教育服务、保险理赔服务、医疗预约服务都直接面向个人用户，但背后有清楚的业务流程、规则和服务结果。</a:t>
            </a:r>
          </a:p>
          <a:p/>
          <a:p>
            <a:r>
              <a:t>因此，本课程没有把“C 端”单独当成一种项目能力。我们优先选择可以讲清业务、材料和结果的母题，再允许学员根据自己的条件迁移到 C 端。</a:t>
            </a:r>
          </a:p>
          <a:p/>
          <a:p>
            <a:r>
              <a:t>### 5. 什么情况下学员可以做 C 端个人项目</a:t>
            </a:r>
          </a:p>
          <a:p/>
          <a:p>
            <a:r>
              <a:t>如果学员具备以下条件，完全可以选择 C 端个人项目：</a:t>
            </a:r>
          </a:p>
          <a:p/>
          <a:p>
            <a:r>
              <a:t>- 能够接触一批真实目标用户；</a:t>
            </a:r>
          </a:p>
          <a:p>
            <a:r>
              <a:t>- 能获得访谈、使用记录或行为数据；</a:t>
            </a:r>
          </a:p>
          <a:p>
            <a:r>
              <a:t>- 能把目标人群和使用时刻定义清楚；</a:t>
            </a:r>
          </a:p>
          <a:p>
            <a:r>
              <a:t>- 能设计留存、转化或任务完成等验证方式；</a:t>
            </a:r>
          </a:p>
          <a:p>
            <a:r>
              <a:t>- 能控制第一版范围，而不是做一个万能助手。</a:t>
            </a:r>
          </a:p>
          <a:p/>
          <a:p>
            <a:r>
              <a:t>课程评价的标准不是 B 端还是 C 端，而是：问题是否真实、材料是否可得、AI 是否必要、结果是否能够验证。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三个公共项目与个人项目方向</a:t>
            </a:r>
          </a:p>
          <a:p/>
          <a:p>
            <a:r>
              <a:t>这一节暂时不展开三个项目的完整 PRD。重点是让学员感受到：三个项目并不是固定行业的模板，而是三种可以迁移到大量岗位和业务中的产品结构。</a:t>
            </a:r>
          </a:p>
          <a:p/>
          <a:p>
            <a:r>
              <a:t>听这一节时，学员只需要持续思考两个问题：</a:t>
            </a:r>
          </a:p>
          <a:p/>
          <a:p>
            <a:r>
              <a:t>1. 哪一类工作与我的经历或目标岗位最接近？</a:t>
            </a:r>
          </a:p>
          <a:p>
            <a:r>
              <a:t>2. 哪一类材料是我比较容易获得或合理模拟的？</a:t>
            </a:r>
          </a:p>
          <a:p/>
          <a:p>
            <a:r>
              <a:t>## 一、企业智能客服与业务办理</a:t>
            </a:r>
          </a:p>
          <a:p/>
          <a:p>
            <a:r>
              <a:t>### 1. 项目简介</a:t>
            </a:r>
          </a:p>
          <a:p/>
          <a:p>
            <a:r>
              <a:t>这是一个面向客户、员工或合作伙伴的统一服务入口。</a:t>
            </a:r>
          </a:p>
          <a:p/>
          <a:p>
            <a:r>
              <a:t>用户用自然语言提出问题或办理请求，系统需要判断用户意图，结合知识和业务数据给出回应；如果涉及实际操作，还要确认身份、判断条件、调用业务系统、推动流程，并在必要时转交人工。</a:t>
            </a:r>
          </a:p>
          <a:p/>
          <a:p>
            <a:r>
              <a:t>它不是“把 FAQ 放进知识库”，而是把服务入口、知识、系统和流程连接起来。</a:t>
            </a:r>
          </a:p>
          <a:p/>
          <a:p>
            <a:r>
              <a:t>### 2. 这个项目为什么值得学习</a:t>
            </a:r>
          </a:p>
          <a:p/>
          <a:p>
            <a:r>
              <a:t>大多数企业都有服务问题：客户找不到答案，员工不知道找哪个部门，合作伙伴反复询问订单和政策，客服人员在多个系统间切换。</a:t>
            </a:r>
          </a:p>
          <a:p/>
          <a:p>
            <a:r>
              <a:t>这些问题看起来普通，但真正做好并不简单。系统必须回答：</a:t>
            </a:r>
          </a:p>
          <a:p/>
          <a:p>
            <a:r>
              <a:t>- 用户到底想问什么或办理什么；</a:t>
            </a:r>
          </a:p>
          <a:p>
            <a:r>
              <a:t>- 回答需要公共知识还是用户自己的业务数据；</a:t>
            </a:r>
          </a:p>
          <a:p>
            <a:r>
              <a:t>- 当前用户有没有权限查看或办理；</a:t>
            </a:r>
          </a:p>
          <a:p>
            <a:r>
              <a:t>- 满足什么条件才能继续；</a:t>
            </a:r>
          </a:p>
          <a:p>
            <a:r>
              <a:t>- 哪一步可以自动完成；</a:t>
            </a:r>
          </a:p>
          <a:p>
            <a:r>
              <a:t>- 什么情况必须交给人工；</a:t>
            </a:r>
          </a:p>
          <a:p>
            <a:r>
              <a:t>- 服务是否真正结束，而不是只生成了一段话。</a:t>
            </a:r>
          </a:p>
          <a:p/>
          <a:p>
            <a:r>
              <a:t>因此，这个项目能训练对话产品、知识库、业务接口、工作流、异常分流和人工接管等多种能力。</a:t>
            </a:r>
          </a:p>
          <a:p/>
          <a:p>
            <a:r>
              <a:t>### 3. 典型业务闭环</a:t>
            </a:r>
          </a:p>
          <a:p/>
          <a:p>
            <a:r>
              <a:t>一个完整的服务过程通常包含：</a:t>
            </a:r>
          </a:p>
          <a:p/>
          <a:p>
            <a:r>
              <a:t>1. 用户提出问题或请求；</a:t>
            </a:r>
          </a:p>
          <a:p>
            <a:r>
              <a:t>2. 系统识别意图和所需信息；</a:t>
            </a:r>
          </a:p>
          <a:p>
            <a:r>
              <a:t>3. 必要时确认身份、对象和权限；</a:t>
            </a:r>
          </a:p>
          <a:p>
            <a:r>
              <a:t>4. 查询知识或业务数据；</a:t>
            </a:r>
          </a:p>
          <a:p>
            <a:r>
              <a:t>5. 判断是否满足办理条件；</a:t>
            </a:r>
          </a:p>
          <a:p>
            <a:r>
              <a:t>6. 回答问题或发起业务动作；</a:t>
            </a:r>
          </a:p>
          <a:p>
            <a:r>
              <a:t>7. 返回办理结果和下一步；</a:t>
            </a:r>
          </a:p>
          <a:p>
            <a:r>
              <a:t>8. 无法判断、高风险或用户不满意时转人工；</a:t>
            </a:r>
          </a:p>
          <a:p>
            <a:r>
              <a:t>9. 记录服务结果，用于后续评测和优化。</a:t>
            </a:r>
          </a:p>
          <a:p/>
          <a:p>
            <a:r>
              <a:t>公共项目课会进一步讨论：哪些环节使用大模型，哪些环节使用规则和接口，以及页面如何让用户知道系统当前正在做什么。</a:t>
            </a:r>
          </a:p>
          <a:p/>
          <a:p>
            <a:r>
              <a:t>### 4. 可以迁移的项目变种</a:t>
            </a:r>
          </a:p>
          <a:p/>
          <a:p>
            <a:r>
              <a:t>#### 面向消费者的服务</a:t>
            </a:r>
          </a:p>
          <a:p/>
          <a:p>
            <a:r>
              <a:t>**电商售后服务助手**  </a:t>
            </a:r>
          </a:p>
          <a:p>
            <a:r>
              <a:t>用户询问订单状态、退换货条件或商品问题。产品可以查询订单，解释政策，收集原因和图片，并发起售后申请。项目重点不只是回答政策，而是把咨询推进为可跟踪的售后任务。</a:t>
            </a:r>
          </a:p>
          <a:p/>
          <a:p>
            <a:r>
              <a:t>**在线教育学员服务助手**  </a:t>
            </a:r>
          </a:p>
          <a:p>
            <a:r>
              <a:t>学员咨询课程安排、请假、补课、延期、退款和证书。系统需要结合课程规则、学员购买记录和学习进度，处理不同服务请求。</a:t>
            </a:r>
          </a:p>
          <a:p/>
          <a:p>
            <a:r>
              <a:t>**保险理赔服务助手**  </a:t>
            </a:r>
          </a:p>
          <a:p>
            <a:r>
              <a:t>用户描述事故后，系统判断可能的理赔类型，说明所需材料，检查基础信息并查询办理进度。高风险承诺和最终理赔结论仍由专业人员负责。</a:t>
            </a:r>
          </a:p>
          <a:p/>
          <a:p>
            <a:r>
              <a:t>**医疗服务助手**  </a:t>
            </a:r>
          </a:p>
          <a:p>
            <a:r>
              <a:t>帮助患者选择科室、完成预约、了解检查前准备、查询报告状态和接收复诊提醒。项目要特别处理医疗建议边界、隐私和人工服务入口。</a:t>
            </a:r>
          </a:p>
          <a:p/>
          <a:p>
            <a:r>
              <a:t>**银行业务服务助手**  </a:t>
            </a:r>
          </a:p>
          <a:p>
            <a:r>
              <a:t>解答账户、转账、信用卡和费用问题，并引导用户完成挂失、额度申请或材料准备。身份认证、权限和高风险交易是核心约束。</a:t>
            </a:r>
          </a:p>
          <a:p/>
          <a:p>
            <a:r>
              <a:t>**本地生活服务助手**  </a:t>
            </a:r>
          </a:p>
          <a:p>
            <a:r>
              <a:t>处理预约、改期、退款、会员权益和门店服务。它适合展示对话如何进入预约和订单系统。</a:t>
            </a:r>
          </a:p>
          <a:p/>
          <a:p>
            <a:r>
              <a:t>**旅游出行服务助手**  </a:t>
            </a:r>
          </a:p>
          <a:p>
            <a:r>
              <a:t>处理行程查询、退改政策、航班变化、酒店订单和异常出行。需要同时连接订单数据、供应商政策和人工服务。</a:t>
            </a:r>
          </a:p>
          <a:p/>
          <a:p>
            <a:r>
              <a:t>#### 面向企业客户与合作伙伴</a:t>
            </a:r>
          </a:p>
          <a:p/>
          <a:p>
            <a:r>
              <a:t>**企业软件客户服务助手**  </a:t>
            </a:r>
          </a:p>
          <a:p>
            <a:r>
              <a:t>根据客户购买版本、账号权限和使用环境解答产品问题；无法解决时自动整理上下文并创建工单，减少客户重复描述。</a:t>
            </a:r>
          </a:p>
          <a:p/>
          <a:p>
            <a:r>
              <a:t>**制造业设备售后助手**  </a:t>
            </a:r>
          </a:p>
          <a:p>
            <a:r>
              <a:t>识别设备型号和故障现象，调用说明书与维修知识，给出安全排查步骤，并在需要时预约工程师和准备备件。</a:t>
            </a:r>
          </a:p>
          <a:p/>
          <a:p>
            <a:r>
              <a:t>**经销商服务助手**  </a:t>
            </a:r>
          </a:p>
          <a:p>
            <a:r>
              <a:t>让经销商查询产品政策、价格、库存、订单、返利和活动要求。项目重点是不同经销商等级、区域和权限下的差异化回答。</a:t>
            </a:r>
          </a:p>
          <a:p/>
          <a:p>
            <a:r>
              <a:t>**供应商协同助手**  </a:t>
            </a:r>
          </a:p>
          <a:p>
            <a:r>
              <a:t>供应商可以查询采购要求、交货计划、验收状态和结算进度。系统既要回答制度问题，也要查询具体业务状态。</a:t>
            </a:r>
          </a:p>
          <a:p/>
          <a:p>
            <a:r>
              <a:t>**大客户服务助手**  </a:t>
            </a:r>
          </a:p>
          <a:p>
            <a:r>
              <a:t>围绕交付、续费、增购、服务升级和异常处理建立统一入口，并把客户历史、合同权益和服务记录带给客户经理。</a:t>
            </a:r>
          </a:p>
          <a:p/>
          <a:p>
            <a:r>
              <a:t>#### 面向企业内部员工</a:t>
            </a:r>
          </a:p>
          <a:p/>
          <a:p>
            <a:r>
              <a:t>**员工人事服务助手**  </a:t>
            </a:r>
          </a:p>
          <a:p>
            <a:r>
              <a:t>处理考勤、休假、薪酬、福利和证明申请。项目能够展示公共制度与个人数据之间的权限边界。</a:t>
            </a:r>
          </a:p>
          <a:p/>
          <a:p>
            <a:r>
              <a:t>**企业 IT 服务助手**  </a:t>
            </a:r>
          </a:p>
          <a:p>
            <a:r>
              <a:t>处理账号、权限、软件、设备和网络问题。简单问题自动排查，复杂问题带着已收集的信息进入工单。</a:t>
            </a:r>
          </a:p>
          <a:p/>
          <a:p>
            <a:r>
              <a:t>**财务共享服务助手**  </a:t>
            </a:r>
          </a:p>
          <a:p>
            <a:r>
              <a:t>回答报销、发票、付款和预算问题，查询单据状态，并提醒缺少的材料。</a:t>
            </a:r>
          </a:p>
          <a:p/>
          <a:p>
            <a:r>
              <a:t>**采购服务助手**  </a:t>
            </a:r>
          </a:p>
          <a:p>
            <a:r>
              <a:t>帮助员工理解采购规则、提交采购申请、查询订单和供应商状态，并将异常情况交给采购人员。</a:t>
            </a:r>
          </a:p>
          <a:p/>
          <a:p>
            <a:r>
              <a:t>**行政服务助手**  </a:t>
            </a:r>
          </a:p>
          <a:p>
            <a:r>
              <a:t>处理会议室、访客、办公用品、设备借用和证明开具等内部服务。</a:t>
            </a:r>
          </a:p>
          <a:p/>
          <a:p>
            <a:r>
              <a:t>### 5. 适合哪些学员</a:t>
            </a:r>
          </a:p>
          <a:p/>
          <a:p>
            <a:r>
              <a:t>这一方向尤其适合有客服、运营、售后、销售支持、人事、行政、IT、财务共享、平台服务经验的学员。</a:t>
            </a:r>
          </a:p>
          <a:p/>
          <a:p>
            <a:r>
              <a:t>即使没有客服经验，只要过去的工作中存在“很多人反复询问同一类问题，并且后面还要继续办理”的场景，也可以迁移这个项目。</a:t>
            </a:r>
          </a:p>
          <a:p/>
          <a:p>
            <a:r>
              <a:t>### 6. 个人项目可以展示什么</a:t>
            </a:r>
          </a:p>
          <a:p/>
          <a:p>
            <a:r>
              <a:t>一个有说服力的个人项目，可以重点展示：</a:t>
            </a:r>
          </a:p>
          <a:p/>
          <a:p>
            <a:r>
              <a:t>- 用户意图和服务场景分类；</a:t>
            </a:r>
          </a:p>
          <a:p>
            <a:r>
              <a:t>- 知识、业务数据与权限的关系；</a:t>
            </a:r>
          </a:p>
          <a:p>
            <a:r>
              <a:t>- 一条完整办理流程；</a:t>
            </a:r>
          </a:p>
          <a:p>
            <a:r>
              <a:t>- 正常、异常和转人工路径；</a:t>
            </a:r>
          </a:p>
          <a:p>
            <a:r>
              <a:t>- 核心对话及状态页面；</a:t>
            </a:r>
          </a:p>
          <a:p>
            <a:r>
              <a:t>- 一组真实或合理模拟的服务问题；</a:t>
            </a:r>
          </a:p>
          <a:p>
            <a:r>
              <a:t>- 对回答正确率、任务完成率和转人工率的设计。</a:t>
            </a:r>
          </a:p>
          <a:p/>
          <a:p>
            <a:r>
              <a:t>## 二、业务材料审核与风险核验</a:t>
            </a:r>
          </a:p>
          <a:p/>
          <a:p>
            <a:r>
              <a:t>### 1. 项目简介</a:t>
            </a:r>
          </a:p>
          <a:p/>
          <a:p>
            <a:r>
              <a:t>这是一个让 AI 进入企业审核流程的项目。</a:t>
            </a:r>
          </a:p>
          <a:p/>
          <a:p>
            <a:r>
              <a:t>用户提交合同、票据、申请表、资质证明、报告或其他业务材料。系统读取多份材料，提取关键信息，对照业务规则检查完整性和一致性，识别语义风险，并把结果连同原文依据交给审核人员。</a:t>
            </a:r>
          </a:p>
          <a:p/>
          <a:p>
            <a:r>
              <a:t>它不是“上传文档，让 AI 总结”，也不是让模型直接代替审核人员做最终决定。</a:t>
            </a:r>
          </a:p>
          <a:p/>
          <a:p>
            <a:r>
              <a:t>### 2. 这个项目为什么值得学习</a:t>
            </a:r>
          </a:p>
          <a:p/>
          <a:p>
            <a:r>
              <a:t>很多企业工作都围绕材料运行：报销、付款、合同、采购、准入、贷款、理赔、招聘、项目申报。人工审核通常耗时，也容易因为材料分散和规则复杂而遗漏问题。</a:t>
            </a:r>
          </a:p>
          <a:p/>
          <a:p>
            <a:r>
              <a:t>但审核又是高责任场景，不能简单地相信模型结论。产品经理必须设计：</a:t>
            </a:r>
          </a:p>
          <a:p/>
          <a:p>
            <a:r>
              <a:t>- 哪些字段需要准确提取；</a:t>
            </a:r>
          </a:p>
          <a:p>
            <a:r>
              <a:t>- 哪些问题是确定性规则，可以直接校验；</a:t>
            </a:r>
          </a:p>
          <a:p>
            <a:r>
              <a:t>- 哪些问题需要模型理解语义；</a:t>
            </a:r>
          </a:p>
          <a:p>
            <a:r>
              <a:t>- 风险结论如何引用原文和规则；</a:t>
            </a:r>
          </a:p>
          <a:p>
            <a:r>
              <a:t>- 不确定结果怎样表达；</a:t>
            </a:r>
          </a:p>
          <a:p>
            <a:r>
              <a:t>- 哪些情况必须交给人工复核；</a:t>
            </a:r>
          </a:p>
          <a:p>
            <a:r>
              <a:t>- 审核人员如何修改和反馈结果。</a:t>
            </a:r>
          </a:p>
          <a:p/>
          <a:p>
            <a:r>
              <a:t>这个项目能非常集中地训练 AI 与规则的分工、可解释性、置信度、风险分级和人工责任。</a:t>
            </a:r>
          </a:p>
          <a:p/>
          <a:p>
            <a:r>
              <a:t>### 3. 典型业务闭环</a:t>
            </a:r>
          </a:p>
          <a:p/>
          <a:p>
            <a:r>
              <a:t>1. 用户提交一份或多份业务材料；</a:t>
            </a:r>
          </a:p>
          <a:p>
            <a:r>
              <a:t>2. 系统识别材料类型并检查是否齐全；</a:t>
            </a:r>
          </a:p>
          <a:p>
            <a:r>
              <a:t>3. 提取关键字段、条款或结论；</a:t>
            </a:r>
          </a:p>
          <a:p>
            <a:r>
              <a:t>4. 对照规则进行确定性检查；</a:t>
            </a:r>
          </a:p>
          <a:p>
            <a:r>
              <a:t>5. 使用模型识别复杂表述、冲突和潜在风险；</a:t>
            </a:r>
          </a:p>
          <a:p>
            <a:r>
              <a:t>6. 将问题按缺失、差异、规则不符、语义风险等类型分类；</a:t>
            </a:r>
          </a:p>
          <a:p>
            <a:r>
              <a:t>7. 展示风险等级、依据和原文位置；</a:t>
            </a:r>
          </a:p>
          <a:p>
            <a:r>
              <a:t>8. 审核人员确认、修改或驳回；</a:t>
            </a:r>
          </a:p>
          <a:p>
            <a:r>
              <a:t>9. 结果进入后续审批或业务流程；</a:t>
            </a:r>
          </a:p>
          <a:p>
            <a:r>
              <a:t>10. 人工反馈进入评测集和规则迭代。</a:t>
            </a:r>
          </a:p>
          <a:p/>
          <a:p>
            <a:r>
              <a:t>### 4. 可以迁移的项目变种</a:t>
            </a:r>
          </a:p>
          <a:p/>
          <a:p>
            <a:r>
              <a:t>#### 财务与费用</a:t>
            </a:r>
          </a:p>
          <a:p/>
          <a:p>
            <a:r>
              <a:t>**员工报销审核助手**  </a:t>
            </a:r>
          </a:p>
          <a:p>
            <a:r>
              <a:t>核对发票、报销单、行程、费用科目和企业制度，发现日期、金额、人员、行程不一致及超标问题。</a:t>
            </a:r>
          </a:p>
          <a:p/>
          <a:p>
            <a:r>
              <a:t>**企业付款材料核验助手**  </a:t>
            </a:r>
          </a:p>
          <a:p>
            <a:r>
              <a:t>检查合同、采购订单、验收单、发票和付款申请之间是否一致，并判断是否满足付款条件。</a:t>
            </a:r>
          </a:p>
          <a:p/>
          <a:p>
            <a:r>
              <a:t>**预算申请审核助手**  </a:t>
            </a:r>
          </a:p>
          <a:p>
            <a:r>
              <a:t>核对预算科目、历史支出、申请理由和审批要求，帮助管理者快速找到异常点。</a:t>
            </a:r>
          </a:p>
          <a:p/>
          <a:p>
            <a:r>
              <a:t>#### 合同与法务</a:t>
            </a:r>
          </a:p>
          <a:p/>
          <a:p>
            <a:r>
              <a:t>**合同条款审核助手**  </a:t>
            </a:r>
          </a:p>
          <a:p>
            <a:r>
              <a:t>识别付款、交付、验收、违约、知识产权、数据安全和自动续约等风险，并引用原文条款和企业标准。</a:t>
            </a:r>
          </a:p>
          <a:p/>
          <a:p>
            <a:r>
              <a:t>**合同履约检查助手**  </a:t>
            </a:r>
          </a:p>
          <a:p>
            <a:r>
              <a:t>对照合同约定和实际交付材料，判断是否达到验收、开票或付款条件。</a:t>
            </a:r>
          </a:p>
          <a:p/>
          <a:p>
            <a:r>
              <a:t>**企业制度合规检查助手**  </a:t>
            </a:r>
          </a:p>
          <a:p>
            <a:r>
              <a:t>判断业务申请、营销文案或操作流程是否符合内部制度，并指出适用条款。</a:t>
            </a:r>
          </a:p>
          <a:p/>
          <a:p>
            <a:r>
              <a:t>#### 采购与供应商</a:t>
            </a:r>
          </a:p>
          <a:p/>
          <a:p>
            <a:r>
              <a:t>**供应商准入审核助手**  </a:t>
            </a:r>
          </a:p>
          <a:p>
            <a:r>
              <a:t>核验营业执照、行业资质、财务信息和准入条件，发现过期、缺失和不一致材料。</a:t>
            </a:r>
          </a:p>
          <a:p/>
          <a:p>
            <a:r>
              <a:t>**采购申请审核助手**  </a:t>
            </a:r>
          </a:p>
          <a:p>
            <a:r>
              <a:t>检查预算、需求说明、询价记录和供应商选择过程是否完整、合理并符合制度。</a:t>
            </a:r>
          </a:p>
          <a:p/>
          <a:p>
            <a:r>
              <a:t>**招投标文件检查助手**  </a:t>
            </a:r>
          </a:p>
          <a:p>
            <a:r>
              <a:t>对照招标文件检查响应材料、资格证明、技术参数和签章，提前发现废标风险。</a:t>
            </a:r>
          </a:p>
          <a:p/>
          <a:p>
            <a:r>
              <a:t>#### 金融与保险</a:t>
            </a:r>
          </a:p>
          <a:p/>
          <a:p>
            <a:r>
              <a:t>**企业开户材料审核助手**  </a:t>
            </a:r>
          </a:p>
          <a:p>
            <a:r>
              <a:t>检查企业身份、股权结构、受益人和经营证明材料，辅助识别缺失与冲突。</a:t>
            </a:r>
          </a:p>
          <a:p/>
          <a:p>
            <a:r>
              <a:t>**贷款申请材料预审助手**  </a:t>
            </a:r>
          </a:p>
          <a:p>
            <a:r>
              <a:t>核对收入、资产、负债、交易记录和资金用途，帮助审核人员快速定位需要进一步核实的问题。</a:t>
            </a:r>
          </a:p>
          <a:p/>
          <a:p>
            <a:r>
              <a:t>**保险理赔材料审核助手**  </a:t>
            </a:r>
          </a:p>
          <a:p>
            <a:r>
              <a:t>核对保单责任、事故证明、医疗或维修凭证和费用清单，识别材料缺失与异常对应关系。</a:t>
            </a:r>
          </a:p>
          <a:p/>
          <a:p>
            <a:r>
              <a:t>#### 人事、行政与公共服务</a:t>
            </a:r>
          </a:p>
          <a:p/>
          <a:p>
            <a:r>
              <a:t>**招聘入职材料审核助手**  </a:t>
            </a:r>
          </a:p>
          <a:p>
            <a:r>
              <a:t>检查身份、学历、工作经历、资质和入职文件的完整性与一致性。</a:t>
            </a:r>
          </a:p>
          <a:p/>
          <a:p>
            <a:r>
              <a:t>**项目申报材料预审助手**  </a:t>
            </a:r>
          </a:p>
          <a:p>
            <a:r>
              <a:t>对照申报指南检查企业资格、项目条件、预算和附件，提前发现形式和内容问题。</a:t>
            </a:r>
          </a:p>
          <a:p/>
          <a:p>
            <a:r>
              <a:t>**政府办事材料预审助手**  </a:t>
            </a:r>
          </a:p>
          <a:p>
            <a:r>
              <a:t>让申请人在正式提交前了解所需条件、缺少材料和填写错误，减少往返办理。</a:t>
            </a:r>
          </a:p>
          <a:p/>
          <a:p>
            <a:r>
              <a:t>**质量检测报告核验助手**  </a:t>
            </a:r>
          </a:p>
          <a:p>
            <a:r>
              <a:t>检查检测项目、数值、结论、标准、签章和样品信息，发现报告内部或多份报告之间的不一致。</a:t>
            </a:r>
          </a:p>
          <a:p/>
          <a:p>
            <a:r>
              <a:t>**内容发布合规检查助手**  </a:t>
            </a:r>
          </a:p>
          <a:p>
            <a:r>
              <a:t>检查广告、商品详情、公开材料中的敏感表述、绝对化承诺和行业合规风险。</a:t>
            </a:r>
          </a:p>
          <a:p/>
          <a:p>
            <a:r>
              <a:t>### 5. 适合哪些学员</a:t>
            </a:r>
          </a:p>
          <a:p/>
          <a:p>
            <a:r>
              <a:t>这一方向适合有财务、法务、采购、风控、金融、保险、人事、政务、质量管理、内容审核等经验的学员。</a:t>
            </a:r>
          </a:p>
          <a:p/>
          <a:p>
            <a:r>
              <a:t>如果过去的工作中经常出现“收到一组材料，对照标准判断能不能继续”的任务，就可以迁移到这个方向。</a:t>
            </a:r>
          </a:p>
          <a:p/>
          <a:p>
            <a:r>
              <a:t>### 6. 个人项目可以展示什么</a:t>
            </a:r>
          </a:p>
          <a:p/>
          <a:p>
            <a:r>
              <a:t>- 材料清单及相互关系；</a:t>
            </a:r>
          </a:p>
          <a:p>
            <a:r>
              <a:t>- 关键字段和风险分类；</a:t>
            </a:r>
          </a:p>
          <a:p>
            <a:r>
              <a:t>- 规则、大模型与人工的分工表；</a:t>
            </a:r>
          </a:p>
          <a:p>
            <a:r>
              <a:t>- 风险结果及原文依据页面；</a:t>
            </a:r>
          </a:p>
          <a:p>
            <a:r>
              <a:t>- 正常、缺失、冲突、模糊和高风险样本；</a:t>
            </a:r>
          </a:p>
          <a:p>
            <a:r>
              <a:t>- 审核人员确认和纠错流程；</a:t>
            </a:r>
          </a:p>
          <a:p>
            <a:r>
              <a:t>- 准确率、召回率、人工节省时间和严重漏检等指标。</a:t>
            </a:r>
          </a:p>
          <a:p/>
          <a:p>
            <a:r>
              <a:t>## 三、专业研究与方案生成</a:t>
            </a:r>
          </a:p>
          <a:p/>
          <a:p>
            <a:r>
              <a:t>### 1. 项目简介</a:t>
            </a:r>
          </a:p>
          <a:p/>
          <a:p>
            <a:r>
              <a:t>这是一个面向销售、售前、产品、咨询、研究和管理者的知识工作平台。</a:t>
            </a:r>
          </a:p>
          <a:p/>
          <a:p>
            <a:r>
              <a:t>用户不是让系统随便写一篇文章，而是提交一个复杂任务。系统需要理解目标，拆解问题，收集和组织多来源资料，识别信息冲突与缺口，形成带有依据和待核实项的研究结果或方案初稿，再由专业人员审阅和修改。</a:t>
            </a:r>
          </a:p>
          <a:p/>
          <a:p>
            <a:r>
              <a:t>它的核心不是“生成得快”，而是让复杂知识工作的过程更系统、更透明、更容易复用。</a:t>
            </a:r>
          </a:p>
          <a:p/>
          <a:p>
            <a:r>
              <a:t>### 2. 这个项目为什么值得学习</a:t>
            </a:r>
          </a:p>
          <a:p/>
          <a:p>
            <a:r>
              <a:t>生成一段通顺文字已经不难，真正困难的是：</a:t>
            </a:r>
          </a:p>
          <a:p/>
          <a:p>
            <a:r>
              <a:t>- 是否理解了任务和受众；</a:t>
            </a:r>
          </a:p>
          <a:p>
            <a:r>
              <a:t>- 是否提出了正确的问题；</a:t>
            </a:r>
          </a:p>
          <a:p>
            <a:r>
              <a:t>- 使用了哪些内部和外部资料；</a:t>
            </a:r>
          </a:p>
          <a:p>
            <a:r>
              <a:t>- 来源是否可信、是否过时；</a:t>
            </a:r>
          </a:p>
          <a:p>
            <a:r>
              <a:t>- 不同来源冲突时怎样处理；</a:t>
            </a:r>
          </a:p>
          <a:p>
            <a:r>
              <a:t>- 哪些结论可以确认，哪些仍需核实；</a:t>
            </a:r>
          </a:p>
          <a:p>
            <a:r>
              <a:t>- 方案是否符合企业能力和业务约束；</a:t>
            </a:r>
          </a:p>
          <a:p>
            <a:r>
              <a:t>- 专业人员怎样审阅、修改和承担责任。</a:t>
            </a:r>
          </a:p>
          <a:p/>
          <a:p>
            <a:r>
              <a:t>这个项目把普通“AI 写作”升级为任务拆解、研究过程、信息治理和专业协作产品。</a:t>
            </a:r>
          </a:p>
          <a:p/>
          <a:p>
            <a:r>
              <a:t>### 3. 典型业务闭环</a:t>
            </a:r>
          </a:p>
          <a:p/>
          <a:p>
            <a:r>
              <a:t>1. 用户输入任务目标、受众、范围和交付要求；</a:t>
            </a:r>
          </a:p>
          <a:p>
            <a:r>
              <a:t>2. 系统将复杂任务拆解为需要回答的问题；</a:t>
            </a:r>
          </a:p>
          <a:p>
            <a:r>
              <a:t>3. 搜索或读取内部材料与外部资料；</a:t>
            </a:r>
          </a:p>
          <a:p>
            <a:r>
              <a:t>4. 对资料进行分类、去重、核实和关联；</a:t>
            </a:r>
          </a:p>
          <a:p>
            <a:r>
              <a:t>5. 识别信息缺口、冲突和需要追问的内容；</a:t>
            </a:r>
          </a:p>
          <a:p>
            <a:r>
              <a:t>6. 形成研究框架或方案结构；</a:t>
            </a:r>
          </a:p>
          <a:p>
            <a:r>
              <a:t>7. 生成带来源、假设和待确认项的初稿；</a:t>
            </a:r>
          </a:p>
          <a:p>
            <a:r>
              <a:t>8. 专业人员审阅、补充和修改；</a:t>
            </a:r>
          </a:p>
          <a:p>
            <a:r>
              <a:t>9. 输出面向不同对象的正式成果；</a:t>
            </a:r>
          </a:p>
          <a:p>
            <a:r>
              <a:t>10. 将模板、反馈和优质案例沉淀为组织能力。</a:t>
            </a:r>
          </a:p>
          <a:p/>
          <a:p>
            <a:r>
              <a:t>### 4. 可以迁移的项目变种</a:t>
            </a:r>
          </a:p>
          <a:p/>
          <a:p>
            <a:r>
              <a:t>#### 销售与售前</a:t>
            </a:r>
          </a:p>
          <a:p/>
          <a:p>
            <a:r>
              <a:t>**客户需求分析助手**  </a:t>
            </a:r>
          </a:p>
          <a:p>
            <a:r>
              <a:t>整理访谈纪要、需求文件、历史沟通和现有系统信息，形成需求地图、待确认问题和优先级建议。</a:t>
            </a:r>
          </a:p>
          <a:p/>
          <a:p>
            <a:r>
              <a:t>**大客户拜访准备助手**  </a:t>
            </a:r>
          </a:p>
          <a:p>
            <a:r>
              <a:t>汇总客户背景、经营动态、关键人员、合作历史和潜在机会，生成拜访重点与提问清单。</a:t>
            </a:r>
          </a:p>
          <a:p/>
          <a:p>
            <a:r>
              <a:t>**企业解决方案生成助手**  </a:t>
            </a:r>
          </a:p>
          <a:p>
            <a:r>
              <a:t>把客户需求、企业产品能力、行业案例和实施约束组织成一份可审阅的解决方案，而不是直接生成泛泛的销售文案。</a:t>
            </a:r>
          </a:p>
          <a:p/>
          <a:p>
            <a:r>
              <a:t>**招标需求分析助手**  </a:t>
            </a:r>
          </a:p>
          <a:p>
            <a:r>
              <a:t>拆解资格条件、技术要求、评分标准和商务条款，形成响应任务和风险清单。</a:t>
            </a:r>
          </a:p>
          <a:p/>
          <a:p>
            <a:r>
              <a:t>**投标响应助手**  </a:t>
            </a:r>
          </a:p>
          <a:p>
            <a:r>
              <a:t>将招标要求映射到产品能力、案例和证明材料，标记不能满足或需要确认的内容。</a:t>
            </a:r>
          </a:p>
          <a:p/>
          <a:p>
            <a:r>
              <a:t>#### 产品与运营</a:t>
            </a:r>
          </a:p>
          <a:p/>
          <a:p>
            <a:r>
              <a:t>**竞品研究助手**  </a:t>
            </a:r>
          </a:p>
          <a:p>
            <a:r>
              <a:t>持续整理竞品功能、价格、用户评价、市场动作和版本变化，并区分事实、推断和待核实信息。</a:t>
            </a:r>
          </a:p>
          <a:p/>
          <a:p>
            <a:r>
              <a:t>**产品机会分析助手**  </a:t>
            </a:r>
          </a:p>
          <a:p>
            <a:r>
              <a:t>把用户反馈、客服记录、销售反馈和业务数据结合起来，识别高频问题和潜在机会。</a:t>
            </a:r>
          </a:p>
          <a:p/>
          <a:p>
            <a:r>
              <a:t>**产品规划助手**  </a:t>
            </a:r>
          </a:p>
          <a:p>
            <a:r>
              <a:t>根据战略目标、用户问题、业务约束和当前能力形成规划草案，并记录优先级依据。</a:t>
            </a:r>
          </a:p>
          <a:p/>
          <a:p>
            <a:r>
              <a:t>**用户研究分析助手**  </a:t>
            </a:r>
          </a:p>
          <a:p>
            <a:r>
              <a:t>汇总访谈、问卷和反馈，形成用户类型、任务、痛点、反例和原始材料引用。</a:t>
            </a:r>
          </a:p>
          <a:p/>
          <a:p>
            <a:r>
              <a:t>**运营活动方案助手**  </a:t>
            </a:r>
          </a:p>
          <a:p>
            <a:r>
              <a:t>结合目标、用户、渠道、资源和历史活动生成方案，同时标出关键假设和验证指标。</a:t>
            </a:r>
          </a:p>
          <a:p/>
          <a:p>
            <a:r>
              <a:t>#### 行业研究与管理</a:t>
            </a:r>
          </a:p>
          <a:p/>
          <a:p>
            <a:r>
              <a:t>**行业研究助手**  </a:t>
            </a:r>
          </a:p>
          <a:p>
            <a:r>
              <a:t>组织市场规模、产业链、竞争格局、政策、技术趋势和代表企业资料，形成可追溯的研究框架。</a:t>
            </a:r>
          </a:p>
          <a:p/>
          <a:p>
            <a:r>
              <a:t>**市场进入分析助手**  </a:t>
            </a:r>
          </a:p>
          <a:p>
            <a:r>
              <a:t>研究新地区或新行业的需求、竞争、渠道、政策和实施风险，帮助管理者判断是否进入以及如何进入。</a:t>
            </a:r>
          </a:p>
          <a:p/>
          <a:p>
            <a:r>
              <a:t>**政策研究助手**  </a:t>
            </a:r>
          </a:p>
          <a:p>
            <a:r>
              <a:t>分析政策适用对象、时间范围、影响环节和企业行动，并保留原文依据和解释边界。</a:t>
            </a:r>
          </a:p>
          <a:p/>
          <a:p>
            <a:r>
              <a:t>**经营分析助手**  </a:t>
            </a:r>
          </a:p>
          <a:p>
            <a:r>
              <a:t>汇总经营数据、部门反馈和异常事件，形成问题假设、需要补充的数据和行动建议。</a:t>
            </a:r>
          </a:p>
          <a:p/>
          <a:p>
            <a:r>
              <a:t>**战略规划助手**  </a:t>
            </a:r>
          </a:p>
          <a:p>
            <a:r>
              <a:t>组织外部环境、企业能力、业务目标和资源约束，为战略讨论提供结构化输入，而不是代替管理层作决定。</a:t>
            </a:r>
          </a:p>
          <a:p/>
          <a:p>
            <a:r>
              <a:t>#### 专业服务与组织能力</a:t>
            </a:r>
          </a:p>
          <a:p/>
          <a:p>
            <a:r>
              <a:t>**咨询项目研究助手**  </a:t>
            </a:r>
          </a:p>
          <a:p>
            <a:r>
              <a:t>围绕客户问题组织访谈、数据和外部资料，形成问题树、研究发现和交付材料初稿。</a:t>
            </a:r>
          </a:p>
          <a:p/>
          <a:p>
            <a:r>
              <a:t>**投资研究助手**  </a:t>
            </a:r>
          </a:p>
          <a:p>
            <a:r>
              <a:t>汇总公司、行业、财务、竞争和风险信息，区分公开事实、分析假设和不确定因素。</a:t>
            </a:r>
          </a:p>
          <a:p/>
          <a:p>
            <a:r>
              <a:t>**课程研发助手**  </a:t>
            </a:r>
          </a:p>
          <a:p>
            <a:r>
              <a:t>根据学习目标、学员背景和参考资料设计课程结构、案例、练习和评测方式。</a:t>
            </a:r>
          </a:p>
          <a:p/>
          <a:p>
            <a:r>
              <a:t>**培训方案助手**  </a:t>
            </a:r>
          </a:p>
          <a:p>
            <a:r>
              <a:t>分析组织目标、岗位任务和能力差距，形成培训内容、练习和效果评估设计。</a:t>
            </a:r>
          </a:p>
          <a:p/>
          <a:p>
            <a:r>
              <a:t>**技术选型研究助手**  </a:t>
            </a:r>
          </a:p>
          <a:p>
            <a:r>
              <a:t>对比技术路线、供应商、成本、实施条件和长期风险，保留比较依据和未确认信息。</a:t>
            </a:r>
          </a:p>
          <a:p/>
          <a:p>
            <a:r>
              <a:t>### 5. 适合哪些学员</a:t>
            </a:r>
          </a:p>
          <a:p/>
          <a:p>
            <a:r>
              <a:t>这一方向适合产品、运营、销售、售前、市场、咨询、战略、研究、培训、管理和专业服务岗位。</a:t>
            </a:r>
          </a:p>
          <a:p/>
          <a:p>
            <a:r>
              <a:t>如果过去的工作经常需要“接到一个复杂问题，查很多资料，再形成报告或方案”，就可以从这个方向迁移。</a:t>
            </a:r>
          </a:p>
          <a:p/>
          <a:p>
            <a:r>
              <a:t>### 6. 个人项目可以展示什么</a:t>
            </a:r>
          </a:p>
          <a:p/>
          <a:p>
            <a:r>
              <a:t>- 任务定义和目标用户；</a:t>
            </a:r>
          </a:p>
          <a:p>
            <a:r>
              <a:t>- 复杂任务的拆解方式；</a:t>
            </a:r>
          </a:p>
          <a:p>
            <a:r>
              <a:t>- 内部与外部资料来源；</a:t>
            </a:r>
          </a:p>
          <a:p>
            <a:r>
              <a:t>- 信息筛选、核实和冲突处理机制；</a:t>
            </a:r>
          </a:p>
          <a:p>
            <a:r>
              <a:t>- 研究过程和方案生成工作流；</a:t>
            </a:r>
          </a:p>
          <a:p>
            <a:r>
              <a:t>- 来源引用、待核实项和人工审阅界面；</a:t>
            </a:r>
          </a:p>
          <a:p>
            <a:r>
              <a:t>- 一组输入任务与交付结果；</a:t>
            </a:r>
          </a:p>
          <a:p>
            <a:r>
              <a:t>- 对完整性、准确性、可用性和节省时间的评测。</a:t>
            </a:r>
          </a:p>
          <a:p/>
          <a:p>
            <a:r>
              <a:t>## 四、怎样从公共项目找到自己的方向</a:t>
            </a:r>
          </a:p>
          <a:p/>
          <a:p>
            <a:r>
              <a:t>不要先问“我最想用哪种技术”，而要从自己的真实条件出发。</a:t>
            </a:r>
          </a:p>
          <a:p/>
          <a:p>
            <a:r>
              <a:t>### 1. 先看过去做过的工作</a:t>
            </a:r>
          </a:p>
          <a:p/>
          <a:p>
            <a:r>
              <a:t>过去反复处理过的问题，往往最适合成为第一个项目。因为你知道谁在使用、流程怎样运行、哪里最麻烦，也更容易补充普通人不知道的异常情况。</a:t>
            </a:r>
          </a:p>
          <a:p/>
          <a:p>
            <a:r>
              <a:t>例如：</a:t>
            </a:r>
          </a:p>
          <a:p/>
          <a:p>
            <a:r>
              <a:t>- 做过客服或运营，可以从服务问题切入；</a:t>
            </a:r>
          </a:p>
          <a:p>
            <a:r>
              <a:t>- 做过财务、采购或法务，可以从材料审核切入；</a:t>
            </a:r>
          </a:p>
          <a:p>
            <a:r>
              <a:t>- 做过销售、产品或咨询，可以从研究与方案切入。</a:t>
            </a:r>
          </a:p>
          <a:p/>
          <a:p>
            <a:r>
              <a:t>### 2. 再看能够获得什么材料</a:t>
            </a:r>
          </a:p>
          <a:p/>
          <a:p>
            <a:r>
              <a:t>AI 项目不能只有一句需求。至少要有一些可以支撑设计和测试的材料，例如：</a:t>
            </a:r>
          </a:p>
          <a:p/>
          <a:p>
            <a:r>
              <a:t>- 常见问题、服务规则、工单或对话记录；</a:t>
            </a:r>
          </a:p>
          <a:p>
            <a:r>
              <a:t>- 合同、票据、申请表、资质材料和审核标准；</a:t>
            </a:r>
          </a:p>
          <a:p>
            <a:r>
              <a:t>- 客户需求、访谈、行业资料、历史报告和方案模板。</a:t>
            </a:r>
          </a:p>
          <a:p/>
          <a:p>
            <a:r>
              <a:t>真实材料需要脱敏；拿不到真实材料时，可以参考真实业务结构进行合理模拟，但要说明哪些是模拟内容。</a:t>
            </a:r>
          </a:p>
          <a:p/>
          <a:p>
            <a:r>
              <a:t>### 3. 最后看目标岗位</a:t>
            </a:r>
          </a:p>
          <a:p/>
          <a:p>
            <a:r>
              <a:t>如果学员正准备转岗，可以选择与目标岗位接近、同时又能利用过去经验的交叉场景。</a:t>
            </a:r>
          </a:p>
          <a:p/>
          <a:p>
            <a:r>
              <a:t>例如，过去做教育运营、希望转 AI 产品，可以做学员服务与业务办理；过去做财务、希望转 AI 产品，可以做付款材料核验；过去做销售、希望转 AI 产品，可以做客户研究与解决方案生成。</a:t>
            </a:r>
          </a:p>
          <a:p/>
          <a:p>
            <a:r>
              <a:t>这种项目既能体现 AI 产品能力，也能利用原有行业积累，通常比完全陌生的热门项目更可信。</a:t>
            </a:r>
          </a:p>
          <a:p/>
          <a:p>
            <a:r>
              <a:t>## 五、课堂快速选择</a:t>
            </a:r>
          </a:p>
          <a:p/>
          <a:p>
            <a:r>
              <a:t>课堂上只做快速判断，不要求现在正式确定项目。</a:t>
            </a:r>
          </a:p>
          <a:p/>
          <a:p>
            <a:r>
              <a:t>问题一：你的工作更接近哪一类？</a:t>
            </a:r>
          </a:p>
          <a:p/>
          <a:p>
            <a:r>
              <a:t>- A. 回答问题、提供服务或办理业务；</a:t>
            </a:r>
          </a:p>
          <a:p>
            <a:r>
              <a:t>- B. 检查材料、核对规则或发现风险；</a:t>
            </a:r>
          </a:p>
          <a:p>
            <a:r>
              <a:t>- C. 搜集信息、研究问题或输出方案；</a:t>
            </a:r>
          </a:p>
          <a:p>
            <a:r>
              <a:t>- D. 暂时无法归类。</a:t>
            </a:r>
          </a:p>
          <a:p/>
          <a:p>
            <a:r>
              <a:t>问题二：你更容易获得哪一类材料？</a:t>
            </a:r>
          </a:p>
          <a:p/>
          <a:p>
            <a:r>
              <a:t>- A. 常见问题、服务规则和业务记录；</a:t>
            </a:r>
          </a:p>
          <a:p>
            <a:r>
              <a:t>- B. 合同、票据、申请表和审核标准；</a:t>
            </a:r>
          </a:p>
          <a:p>
            <a:r>
              <a:t>- C. 客户需求、研究资料、历史报告和方案模板；</a:t>
            </a:r>
          </a:p>
          <a:p>
            <a:r>
              <a:t>- D. 暂时不确定。</a:t>
            </a:r>
          </a:p>
          <a:p/>
          <a:p>
            <a:r>
              <a:t>问题三：刚才列出的项目变种中，哪三个与你的经历、资源或目标岗位最接近？如果没有完全对应，可以写出自己的变种。</a:t>
            </a:r>
          </a:p>
          <a:p/>
          <a:p>
            <a:r>
              <a:t>此时只需要留下候选方向，不需要为了“显得高级”仓促选择一个陌生项目。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公共项目一：企业智能客服与业务办理</a:t>
            </a:r>
          </a:p>
          <a:p/>
          <a:p>
            <a:r>
              <a:t>普通问答机器人只回答“怎么办”。真正的服务型 AI 产品还要知道用户是谁、当前业务状态是什么、是否满足办理条件，以及接下来应该推动什么动作。</a:t>
            </a:r>
          </a:p>
          <a:p/>
          <a:p>
            <a:r>
              <a:t>这个项目训练的是：怎样让对话、知识和业务流程形成闭环。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智能客服的完整业务闭环</a:t>
            </a:r>
          </a:p>
          <a:p/>
          <a:p>
            <a:r>
              <a:t>一个完整的服务过程通常包含：</a:t>
            </a:r>
          </a:p>
          <a:p/>
          <a:p>
            <a:r>
              <a:t>1. 用户提出问题或请求；</a:t>
            </a:r>
          </a:p>
          <a:p>
            <a:r>
              <a:t>2. 系统识别意图和所需信息；</a:t>
            </a:r>
          </a:p>
          <a:p>
            <a:r>
              <a:t>3. 必要时确认身份、对象和权限；</a:t>
            </a:r>
          </a:p>
          <a:p>
            <a:r>
              <a:t>4. 查询知识或业务数据；</a:t>
            </a:r>
          </a:p>
          <a:p>
            <a:r>
              <a:t>5. 判断是否满足办理条件；</a:t>
            </a:r>
          </a:p>
          <a:p>
            <a:r>
              <a:t>6. 回答问题或发起业务动作；</a:t>
            </a:r>
          </a:p>
          <a:p>
            <a:r>
              <a:t>7. 返回办理结果和下一步；</a:t>
            </a:r>
          </a:p>
          <a:p>
            <a:r>
              <a:t>8. 无法判断、高风险或用户不满意时转人工；</a:t>
            </a:r>
          </a:p>
          <a:p>
            <a:r>
              <a:t>9. 记录服务结果，用于后续评测和优化。</a:t>
            </a:r>
          </a:p>
          <a:p/>
          <a:p>
            <a:r>
              <a:t>公共项目课会进一步讨论：哪些环节使用大模型，哪些环节使用规则和接口，以及页面如何让用户知道系统当前正在做什么。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智能客服中的能力分工</a:t>
            </a:r>
          </a:p>
          <a:p/>
          <a:p>
            <a:r>
              <a:t>大多数企业都有服务问题：客户找不到答案，员工不知道找哪个部门，合作伙伴反复询问订单和政策，客服人员在多个系统间切换。</a:t>
            </a:r>
          </a:p>
          <a:p/>
          <a:p>
            <a:r>
              <a:t>这些问题看起来普通，但真正做好并不简单。系统必须回答：</a:t>
            </a:r>
          </a:p>
          <a:p/>
          <a:p>
            <a:r>
              <a:t>- 用户到底想问什么或办理什么；</a:t>
            </a:r>
          </a:p>
          <a:p>
            <a:r>
              <a:t>- 回答需要公共知识还是用户自己的业务数据；</a:t>
            </a:r>
          </a:p>
          <a:p>
            <a:r>
              <a:t>- 当前用户有没有权限查看或办理；</a:t>
            </a:r>
          </a:p>
          <a:p>
            <a:r>
              <a:t>- 满足什么条件才能继续；</a:t>
            </a:r>
          </a:p>
          <a:p>
            <a:r>
              <a:t>- 哪一步可以自动完成；</a:t>
            </a:r>
          </a:p>
          <a:p>
            <a:r>
              <a:t>- 什么情况必须交给人工；</a:t>
            </a:r>
          </a:p>
          <a:p>
            <a:r>
              <a:t>- 服务是否真正结束，而不是只生成了一段话。</a:t>
            </a:r>
          </a:p>
          <a:p/>
          <a:p>
            <a:r>
              <a:t>因此，这个项目能训练对话产品、知识库、业务接口、工作流、异常分流和人工接管等多种能力。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智能客服变种：消费者服务</a:t>
            </a:r>
          </a:p>
          <a:p/>
          <a:p>
            <a:r>
              <a:t>**电商售后服务助手**  </a:t>
            </a:r>
          </a:p>
          <a:p>
            <a:r>
              <a:t>用户询问订单状态、退换货条件或商品问题。产品可以查询订单，解释政策，收集原因和图片，并发起售后申请。项目重点不只是回答政策，而是把咨询推进为可跟踪的售后任务。</a:t>
            </a:r>
          </a:p>
          <a:p/>
          <a:p>
            <a:r>
              <a:t>**在线教育学员服务助手**  </a:t>
            </a:r>
          </a:p>
          <a:p>
            <a:r>
              <a:t>学员咨询课程安排、请假、补课、延期、退款和证书。系统需要结合课程规则、学员购买记录和学习进度，处理不同服务请求。</a:t>
            </a:r>
          </a:p>
          <a:p/>
          <a:p>
            <a:r>
              <a:t>**保险理赔服务助手**  </a:t>
            </a:r>
          </a:p>
          <a:p>
            <a:r>
              <a:t>用户描述事故后，系统判断可能的理赔类型，说明所需材料，检查基础信息并查询办理进度。高风险承诺和最终理赔结论仍由专业人员负责。</a:t>
            </a:r>
          </a:p>
          <a:p/>
          <a:p>
            <a:r>
              <a:t>**医疗服务助手**  </a:t>
            </a:r>
          </a:p>
          <a:p>
            <a:r>
              <a:t>帮助患者选择科室、完成预约、了解检查前准备、查询报告状态和接收复诊提醒。项目要特别处理医疗建议边界、隐私和人工服务入口。</a:t>
            </a:r>
          </a:p>
          <a:p/>
          <a:p>
            <a:r>
              <a:t>**银行业务服务助手**  </a:t>
            </a:r>
          </a:p>
          <a:p>
            <a:r>
              <a:t>解答账户、转账、信用卡和费用问题，并引导用户完成挂失、额度申请或材料准备。身份认证、权限和高风险交易是核心约束。</a:t>
            </a:r>
          </a:p>
          <a:p/>
          <a:p>
            <a:r>
              <a:t>**本地生活服务助手**  </a:t>
            </a:r>
          </a:p>
          <a:p>
            <a:r>
              <a:t>处理预约、改期、退款、会员权益和门店服务。它适合展示对话如何进入预约和订单系统。</a:t>
            </a:r>
          </a:p>
          <a:p/>
          <a:p>
            <a:r>
              <a:t>**旅游出行服务助手**  </a:t>
            </a:r>
          </a:p>
          <a:p>
            <a:r>
              <a:t>处理行程查询、退改政策、航班变化、酒店订单和异常出行。需要同时连接订单数据、供应商政策和人工服务。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智能客服变种：企业客户与合作伙伴</a:t>
            </a:r>
          </a:p>
          <a:p/>
          <a:p>
            <a:r>
              <a:t>**企业软件客户服务助手**  </a:t>
            </a:r>
          </a:p>
          <a:p>
            <a:r>
              <a:t>根据客户购买版本、账号权限和使用环境解答产品问题；无法解决时自动整理上下文并创建工单，减少客户重复描述。</a:t>
            </a:r>
          </a:p>
          <a:p/>
          <a:p>
            <a:r>
              <a:t>**制造业设备售后助手**  </a:t>
            </a:r>
          </a:p>
          <a:p>
            <a:r>
              <a:t>识别设备型号和故障现象，调用说明书与维修知识，给出安全排查步骤，并在需要时预约工程师和准备备件。</a:t>
            </a:r>
          </a:p>
          <a:p/>
          <a:p>
            <a:r>
              <a:t>**经销商服务助手**  </a:t>
            </a:r>
          </a:p>
          <a:p>
            <a:r>
              <a:t>让经销商查询产品政策、价格、库存、订单、返利和活动要求。项目重点是不同经销商等级、区域和权限下的差异化回答。</a:t>
            </a:r>
          </a:p>
          <a:p/>
          <a:p>
            <a:r>
              <a:t>**供应商协同助手**  </a:t>
            </a:r>
          </a:p>
          <a:p>
            <a:r>
              <a:t>供应商可以查询采购要求、交货计划、验收状态和结算进度。系统既要回答制度问题，也要查询具体业务状态。</a:t>
            </a:r>
          </a:p>
          <a:p/>
          <a:p>
            <a:r>
              <a:t>**大客户服务助手**  </a:t>
            </a:r>
          </a:p>
          <a:p>
            <a:r>
              <a:t>围绕交付、续费、增购、服务升级和异常处理建立统一入口，并把客户历史、合同权益和服务记录带给客户经理。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智能客服变种：企业内部服务</a:t>
            </a:r>
          </a:p>
          <a:p/>
          <a:p>
            <a:r>
              <a:t>**员工人事服务助手**  </a:t>
            </a:r>
          </a:p>
          <a:p>
            <a:r>
              <a:t>处理考勤、休假、薪酬、福利和证明申请。项目能够展示公共制度与个人数据之间的权限边界。</a:t>
            </a:r>
          </a:p>
          <a:p/>
          <a:p>
            <a:r>
              <a:t>**企业 IT 服务助手**  </a:t>
            </a:r>
          </a:p>
          <a:p>
            <a:r>
              <a:t>处理账号、权限、软件、设备和网络问题。简单问题自动排查，复杂问题带着已收集的信息进入工单。</a:t>
            </a:r>
          </a:p>
          <a:p/>
          <a:p>
            <a:r>
              <a:t>**财务共享服务助手**  </a:t>
            </a:r>
          </a:p>
          <a:p>
            <a:r>
              <a:t>回答报销、发票、付款和预算问题，查询单据状态，并提醒缺少的材料。</a:t>
            </a:r>
          </a:p>
          <a:p/>
          <a:p>
            <a:r>
              <a:t>**采购服务助手**  </a:t>
            </a:r>
          </a:p>
          <a:p>
            <a:r>
              <a:t>帮助员工理解采购规则、提交采购申请、查询订单和供应商状态，并将异常情况交给采购人员。</a:t>
            </a:r>
          </a:p>
          <a:p/>
          <a:p>
            <a:r>
              <a:t>**行政服务助手**  </a:t>
            </a:r>
          </a:p>
          <a:p>
            <a:r>
              <a:t>处理会议室、访客、办公用品、设备借用和证明开具等内部服务。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智能客服项目可以展示什么</a:t>
            </a:r>
          </a:p>
          <a:p/>
          <a:p>
            <a:r>
              <a:t>一个有说服力的个人项目，可以重点展示：</a:t>
            </a:r>
          </a:p>
          <a:p/>
          <a:p>
            <a:r>
              <a:t>- 用户意图和服务场景分类；</a:t>
            </a:r>
          </a:p>
          <a:p>
            <a:r>
              <a:t>- 知识、业务数据与权限的关系；</a:t>
            </a:r>
          </a:p>
          <a:p>
            <a:r>
              <a:t>- 一条完整办理流程；</a:t>
            </a:r>
          </a:p>
          <a:p>
            <a:r>
              <a:t>- 正常、异常和转人工路径；</a:t>
            </a:r>
          </a:p>
          <a:p>
            <a:r>
              <a:t>- 核心对话及状态页面；</a:t>
            </a:r>
          </a:p>
          <a:p>
            <a:r>
              <a:t>- 一组真实或合理模拟的服务问题；</a:t>
            </a:r>
          </a:p>
          <a:p>
            <a:r>
              <a:t>- 对回答正确率、任务完成率和转人工率的设计。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公共项目二：业务材料审核与风险核验</a:t>
            </a:r>
          </a:p>
          <a:p/>
          <a:p>
            <a:r>
              <a:t>材料审核不是简单总结文件。系统要在多份材料中找到关键字段、判断是否一致、引用规则、标记风险，并让人工能够回到原文复核。</a:t>
            </a:r>
          </a:p>
          <a:p/>
          <a:p>
            <a:r>
              <a:t>这个项目训练的是：怎样在确定性规则、语义判断和人工责任之间建立可靠边界。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材料审核的完整业务闭环</a:t>
            </a:r>
          </a:p>
          <a:p/>
          <a:p>
            <a:r>
              <a:t>一个完整的服务过程通常包含：</a:t>
            </a:r>
          </a:p>
          <a:p/>
          <a:p>
            <a:r>
              <a:t>1. 用户提出问题或请求；</a:t>
            </a:r>
          </a:p>
          <a:p>
            <a:r>
              <a:t>2. 系统识别意图和所需信息；</a:t>
            </a:r>
          </a:p>
          <a:p>
            <a:r>
              <a:t>3. 必要时确认身份、对象和权限；</a:t>
            </a:r>
          </a:p>
          <a:p>
            <a:r>
              <a:t>4. 查询知识或业务数据；</a:t>
            </a:r>
          </a:p>
          <a:p>
            <a:r>
              <a:t>5. 判断是否满足办理条件；</a:t>
            </a:r>
          </a:p>
          <a:p>
            <a:r>
              <a:t>6. 回答问题或发起业务动作；</a:t>
            </a:r>
          </a:p>
          <a:p>
            <a:r>
              <a:t>7. 返回办理结果和下一步；</a:t>
            </a:r>
          </a:p>
          <a:p>
            <a:r>
              <a:t>8. 无法判断、高风险或用户不满意时转人工；</a:t>
            </a:r>
          </a:p>
          <a:p>
            <a:r>
              <a:t>9. 记录服务结果，用于后续评测和优化。</a:t>
            </a:r>
          </a:p>
          <a:p/>
          <a:p>
            <a:r>
              <a:t>公共项目课会进一步讨论：哪些环节使用大模型，哪些环节使用规则和接口，以及页面如何让用户知道系统当前正在做什么。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审核项目中的判断边界</a:t>
            </a:r>
          </a:p>
          <a:p/>
          <a:p>
            <a:r>
              <a:t>大多数企业都有服务问题：客户找不到答案，员工不知道找哪个部门，合作伙伴反复询问订单和政策，客服人员在多个系统间切换。</a:t>
            </a:r>
          </a:p>
          <a:p/>
          <a:p>
            <a:r>
              <a:t>这些问题看起来普通，但真正做好并不简单。系统必须回答：</a:t>
            </a:r>
          </a:p>
          <a:p/>
          <a:p>
            <a:r>
              <a:t>- 用户到底想问什么或办理什么；</a:t>
            </a:r>
          </a:p>
          <a:p>
            <a:r>
              <a:t>- 回答需要公共知识还是用户自己的业务数据；</a:t>
            </a:r>
          </a:p>
          <a:p>
            <a:r>
              <a:t>- 当前用户有没有权限查看或办理；</a:t>
            </a:r>
          </a:p>
          <a:p>
            <a:r>
              <a:t>- 满足什么条件才能继续；</a:t>
            </a:r>
          </a:p>
          <a:p>
            <a:r>
              <a:t>- 哪一步可以自动完成；</a:t>
            </a:r>
          </a:p>
          <a:p>
            <a:r>
              <a:t>- 什么情况必须交给人工；</a:t>
            </a:r>
          </a:p>
          <a:p>
            <a:r>
              <a:t>- 服务是否真正结束，而不是只生成了一段话。</a:t>
            </a:r>
          </a:p>
          <a:p/>
          <a:p>
            <a:r>
              <a:t>因此，这个项目能训练对话产品、知识库、业务接口、工作流、异常分流和人工接管等多种能力。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审核变种：财务、合同与采购</a:t>
            </a:r>
          </a:p>
          <a:p/>
          <a:p>
            <a:r>
              <a:t>**员工报销审核助手**  </a:t>
            </a:r>
          </a:p>
          <a:p>
            <a:r>
              <a:t>核对发票、报销单、行程、费用科目和企业制度，发现日期、金额、人员、行程不一致及超标问题。</a:t>
            </a:r>
          </a:p>
          <a:p/>
          <a:p>
            <a:r>
              <a:t>**企业付款材料核验助手**  </a:t>
            </a:r>
          </a:p>
          <a:p>
            <a:r>
              <a:t>检查合同、采购订单、验收单、发票和付款申请之间是否一致，并判断是否满足付款条件。</a:t>
            </a:r>
          </a:p>
          <a:p/>
          <a:p>
            <a:r>
              <a:t>**预算申请审核助手**  </a:t>
            </a:r>
          </a:p>
          <a:p>
            <a:r>
              <a:t>核对预算科目、历史支出、申请理由和审批要求，帮助管理者快速找到异常点。</a:t>
            </a:r>
          </a:p>
          <a:p/>
          <a:p>
            <a:r>
              <a:t>**合同条款审核助手**  </a:t>
            </a:r>
          </a:p>
          <a:p>
            <a:r>
              <a:t>识别付款、交付、验收、违约、知识产权、数据安全和自动续约等风险，并引用原文条款和企业标准。</a:t>
            </a:r>
          </a:p>
          <a:p/>
          <a:p>
            <a:r>
              <a:t>**合同履约检查助手**  </a:t>
            </a:r>
          </a:p>
          <a:p>
            <a:r>
              <a:t>对照合同约定和实际交付材料，判断是否达到验收、开票或付款条件。</a:t>
            </a:r>
          </a:p>
          <a:p/>
          <a:p>
            <a:r>
              <a:t>**企业制度合规检查助手**  </a:t>
            </a:r>
          </a:p>
          <a:p>
            <a:r>
              <a:t>判断业务申请、营销文案或操作流程是否符合内部制度，并指出适用条款。</a:t>
            </a:r>
          </a:p>
          <a:p/>
          <a:p>
            <a:r>
              <a:t>**供应商准入审核助手**  </a:t>
            </a:r>
          </a:p>
          <a:p>
            <a:r>
              <a:t>核验营业执照、行业资质、财务信息和准入条件，发现过期、缺失和不一致材料。</a:t>
            </a:r>
          </a:p>
          <a:p/>
          <a:p>
            <a:r>
              <a:t>**采购申请审核助手**  </a:t>
            </a:r>
          </a:p>
          <a:p>
            <a:r>
              <a:t>检查预算、需求说明、询价记录和供应商选择过程是否完整、合理并符合制度。</a:t>
            </a:r>
          </a:p>
          <a:p/>
          <a:p>
            <a:r>
              <a:t>**招投标文件检查助手**  </a:t>
            </a:r>
          </a:p>
          <a:p>
            <a:r>
              <a:t>对照招标文件检查响应材料、资格证明、技术参数和签章，提前发现废标风险。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审核变种：金融、人事与公共服务</a:t>
            </a:r>
          </a:p>
          <a:p/>
          <a:p>
            <a:r>
              <a:t>**企业开户材料审核助手**  </a:t>
            </a:r>
          </a:p>
          <a:p>
            <a:r>
              <a:t>检查企业身份、股权结构、受益人和经营证明材料，辅助识别缺失与冲突。</a:t>
            </a:r>
          </a:p>
          <a:p/>
          <a:p>
            <a:r>
              <a:t>**贷款申请材料预审助手**  </a:t>
            </a:r>
          </a:p>
          <a:p>
            <a:r>
              <a:t>核对收入、资产、负债、交易记录和资金用途，帮助审核人员快速定位需要进一步核实的问题。</a:t>
            </a:r>
          </a:p>
          <a:p/>
          <a:p>
            <a:r>
              <a:t>**保险理赔材料审核助手**  </a:t>
            </a:r>
          </a:p>
          <a:p>
            <a:r>
              <a:t>核对保单责任、事故证明、医疗或维修凭证和费用清单，识别材料缺失与异常对应关系。</a:t>
            </a:r>
          </a:p>
          <a:p/>
          <a:p>
            <a:r>
              <a:t>**招聘入职材料审核助手**  </a:t>
            </a:r>
          </a:p>
          <a:p>
            <a:r>
              <a:t>检查身份、学历、工作经历、资质和入职文件的完整性与一致性。</a:t>
            </a:r>
          </a:p>
          <a:p/>
          <a:p>
            <a:r>
              <a:t>**项目申报材料预审助手**  </a:t>
            </a:r>
          </a:p>
          <a:p>
            <a:r>
              <a:t>对照申报指南检查企业资格、项目条件、预算和附件，提前发现形式和内容问题。</a:t>
            </a:r>
          </a:p>
          <a:p/>
          <a:p>
            <a:r>
              <a:t>**政府办事材料预审助手**  </a:t>
            </a:r>
          </a:p>
          <a:p>
            <a:r>
              <a:t>让申请人在正式提交前了解所需条件、缺少材料和填写错误，减少往返办理。</a:t>
            </a:r>
          </a:p>
          <a:p/>
          <a:p>
            <a:r>
              <a:t>**质量检测报告核验助手**  </a:t>
            </a:r>
          </a:p>
          <a:p>
            <a:r>
              <a:t>检查检测项目、数值、结论、标准、签章和样品信息，发现报告内部或多份报告之间的不一致。</a:t>
            </a:r>
          </a:p>
          <a:p/>
          <a:p>
            <a:r>
              <a:t>**内容发布合规检查助手**  </a:t>
            </a:r>
          </a:p>
          <a:p>
            <a:r>
              <a:t>检查广告、商品详情、公开材料中的敏感表述、绝对化承诺和行业合规风险。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材料审核项目可以展示什么</a:t>
            </a:r>
          </a:p>
          <a:p/>
          <a:p>
            <a:r>
              <a:t>一个有说服力的个人项目，可以重点展示：</a:t>
            </a:r>
          </a:p>
          <a:p/>
          <a:p>
            <a:r>
              <a:t>- 用户意图和服务场景分类；</a:t>
            </a:r>
          </a:p>
          <a:p>
            <a:r>
              <a:t>- 知识、业务数据与权限的关系；</a:t>
            </a:r>
          </a:p>
          <a:p>
            <a:r>
              <a:t>- 一条完整办理流程；</a:t>
            </a:r>
          </a:p>
          <a:p>
            <a:r>
              <a:t>- 正常、异常和转人工路径；</a:t>
            </a:r>
          </a:p>
          <a:p>
            <a:r>
              <a:t>- 核心对话及状态页面；</a:t>
            </a:r>
          </a:p>
          <a:p>
            <a:r>
              <a:t>- 一组真实或合理模拟的服务问题；</a:t>
            </a:r>
          </a:p>
          <a:p>
            <a:r>
              <a:t>- 对回答正确率、任务完成率和转人工率的设计。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公共项目三：专业研究与方案生成</a:t>
            </a:r>
          </a:p>
          <a:p/>
          <a:p>
            <a:r>
              <a:t>普通写作助手可以很快生成一篇看起来通顺的文字，但专业工作要求来源可靠、问题拆解合理、观点有依据、信息缺口可见，并且允许专家持续修改。</a:t>
            </a:r>
          </a:p>
          <a:p/>
          <a:p>
            <a:r>
              <a:t>这个项目训练的是：怎样把复杂知识工作变成可追踪、可核实、可协作的产品流程。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研究与方案生成的完整闭环</a:t>
            </a:r>
          </a:p>
          <a:p/>
          <a:p>
            <a:r>
              <a:t>一个完整的服务过程通常包含：</a:t>
            </a:r>
          </a:p>
          <a:p/>
          <a:p>
            <a:r>
              <a:t>1. 用户提出问题或请求；</a:t>
            </a:r>
          </a:p>
          <a:p>
            <a:r>
              <a:t>2. 系统识别意图和所需信息；</a:t>
            </a:r>
          </a:p>
          <a:p>
            <a:r>
              <a:t>3. 必要时确认身份、对象和权限；</a:t>
            </a:r>
          </a:p>
          <a:p>
            <a:r>
              <a:t>4. 查询知识或业务数据；</a:t>
            </a:r>
          </a:p>
          <a:p>
            <a:r>
              <a:t>5. 判断是否满足办理条件；</a:t>
            </a:r>
          </a:p>
          <a:p>
            <a:r>
              <a:t>6. 回答问题或发起业务动作；</a:t>
            </a:r>
          </a:p>
          <a:p>
            <a:r>
              <a:t>7. 返回办理结果和下一步；</a:t>
            </a:r>
          </a:p>
          <a:p>
            <a:r>
              <a:t>8. 无法判断、高风险或用户不满意时转人工；</a:t>
            </a:r>
          </a:p>
          <a:p>
            <a:r>
              <a:t>9. 记录服务结果，用于后续评测和优化。</a:t>
            </a:r>
          </a:p>
          <a:p/>
          <a:p>
            <a:r>
              <a:t>公共项目课会进一步讨论：哪些环节使用大模型，哪些环节使用规则和接口，以及页面如何让用户知道系统当前正在做什么。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专业交付比生成文字多什么</a:t>
            </a:r>
          </a:p>
          <a:p/>
          <a:p>
            <a:r>
              <a:t>大多数企业都有服务问题：客户找不到答案，员工不知道找哪个部门，合作伙伴反复询问订单和政策，客服人员在多个系统间切换。</a:t>
            </a:r>
          </a:p>
          <a:p/>
          <a:p>
            <a:r>
              <a:t>这些问题看起来普通，但真正做好并不简单。系统必须回答：</a:t>
            </a:r>
          </a:p>
          <a:p/>
          <a:p>
            <a:r>
              <a:t>- 用户到底想问什么或办理什么；</a:t>
            </a:r>
          </a:p>
          <a:p>
            <a:r>
              <a:t>- 回答需要公共知识还是用户自己的业务数据；</a:t>
            </a:r>
          </a:p>
          <a:p>
            <a:r>
              <a:t>- 当前用户有没有权限查看或办理；</a:t>
            </a:r>
          </a:p>
          <a:p>
            <a:r>
              <a:t>- 满足什么条件才能继续；</a:t>
            </a:r>
          </a:p>
          <a:p>
            <a:r>
              <a:t>- 哪一步可以自动完成；</a:t>
            </a:r>
          </a:p>
          <a:p>
            <a:r>
              <a:t>- 什么情况必须交给人工；</a:t>
            </a:r>
          </a:p>
          <a:p>
            <a:r>
              <a:t>- 服务是否真正结束，而不是只生成了一段话。</a:t>
            </a:r>
          </a:p>
          <a:p/>
          <a:p>
            <a:r>
              <a:t>因此，这个项目能训练对话产品、知识库、业务接口、工作流、异常分流和人工接管等多种能力。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研究变种：销售、产品与运营</a:t>
            </a:r>
          </a:p>
          <a:p/>
          <a:p>
            <a:r>
              <a:t>**客户需求分析助手**  </a:t>
            </a:r>
          </a:p>
          <a:p>
            <a:r>
              <a:t>整理访谈纪要、需求文件、历史沟通和现有系统信息，形成需求地图、待确认问题和优先级建议。</a:t>
            </a:r>
          </a:p>
          <a:p/>
          <a:p>
            <a:r>
              <a:t>**大客户拜访准备助手**  </a:t>
            </a:r>
          </a:p>
          <a:p>
            <a:r>
              <a:t>汇总客户背景、经营动态、关键人员、合作历史和潜在机会，生成拜访重点与提问清单。</a:t>
            </a:r>
          </a:p>
          <a:p/>
          <a:p>
            <a:r>
              <a:t>**企业解决方案生成助手**  </a:t>
            </a:r>
          </a:p>
          <a:p>
            <a:r>
              <a:t>把客户需求、企业产品能力、行业案例和实施约束组织成一份可审阅的解决方案，而不是直接生成泛泛的销售文案。</a:t>
            </a:r>
          </a:p>
          <a:p/>
          <a:p>
            <a:r>
              <a:t>**招标需求分析助手**  </a:t>
            </a:r>
          </a:p>
          <a:p>
            <a:r>
              <a:t>拆解资格条件、技术要求、评分标准和商务条款，形成响应任务和风险清单。</a:t>
            </a:r>
          </a:p>
          <a:p/>
          <a:p>
            <a:r>
              <a:t>**投标响应助手**  </a:t>
            </a:r>
          </a:p>
          <a:p>
            <a:r>
              <a:t>将招标要求映射到产品能力、案例和证明材料，标记不能满足或需要确认的内容。</a:t>
            </a:r>
          </a:p>
          <a:p/>
          <a:p>
            <a:r>
              <a:t>**竞品研究助手**  </a:t>
            </a:r>
          </a:p>
          <a:p>
            <a:r>
              <a:t>持续整理竞品功能、价格、用户评价、市场动作和版本变化，并区分事实、推断和待核实信息。</a:t>
            </a:r>
          </a:p>
          <a:p/>
          <a:p>
            <a:r>
              <a:t>**产品机会分析助手**  </a:t>
            </a:r>
          </a:p>
          <a:p>
            <a:r>
              <a:t>把用户反馈、客服记录、销售反馈和业务数据结合起来，识别高频问题和潜在机会。</a:t>
            </a:r>
          </a:p>
          <a:p/>
          <a:p>
            <a:r>
              <a:t>**产品规划助手**  </a:t>
            </a:r>
          </a:p>
          <a:p>
            <a:r>
              <a:t>根据战略目标、用户问题、业务约束和当前能力形成规划草案，并记录优先级依据。</a:t>
            </a:r>
          </a:p>
          <a:p/>
          <a:p>
            <a:r>
              <a:t>**用户研究分析助手**  </a:t>
            </a:r>
          </a:p>
          <a:p>
            <a:r>
              <a:t>汇总访谈、问卷和反馈，形成用户类型、任务、痛点、反例和原始材料引用。</a:t>
            </a:r>
          </a:p>
          <a:p/>
          <a:p>
            <a:r>
              <a:t>**运营活动方案助手**  </a:t>
            </a:r>
          </a:p>
          <a:p>
            <a:r>
              <a:t>结合目标、用户、渠道、资源和历史活动生成方案，同时标出关键假设和验证指标。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研究变种：行业、管理与专业服务</a:t>
            </a:r>
          </a:p>
          <a:p/>
          <a:p>
            <a:r>
              <a:t>**行业研究助手**  </a:t>
            </a:r>
          </a:p>
          <a:p>
            <a:r>
              <a:t>组织市场规模、产业链、竞争格局、政策、技术趋势和代表企业资料，形成可追溯的研究框架。</a:t>
            </a:r>
          </a:p>
          <a:p/>
          <a:p>
            <a:r>
              <a:t>**市场进入分析助手**  </a:t>
            </a:r>
          </a:p>
          <a:p>
            <a:r>
              <a:t>研究新地区或新行业的需求、竞争、渠道、政策和实施风险，帮助管理者判断是否进入以及如何进入。</a:t>
            </a:r>
          </a:p>
          <a:p/>
          <a:p>
            <a:r>
              <a:t>**政策研究助手**  </a:t>
            </a:r>
          </a:p>
          <a:p>
            <a:r>
              <a:t>分析政策适用对象、时间范围、影响环节和企业行动，并保留原文依据和解释边界。</a:t>
            </a:r>
          </a:p>
          <a:p/>
          <a:p>
            <a:r>
              <a:t>**经营分析助手**  </a:t>
            </a:r>
          </a:p>
          <a:p>
            <a:r>
              <a:t>汇总经营数据、部门反馈和异常事件，形成问题假设、需要补充的数据和行动建议。</a:t>
            </a:r>
          </a:p>
          <a:p/>
          <a:p>
            <a:r>
              <a:t>**战略规划助手**  </a:t>
            </a:r>
          </a:p>
          <a:p>
            <a:r>
              <a:t>组织外部环境、企业能力、业务目标和资源约束，为战略讨论提供结构化输入，而不是代替管理层作决定。</a:t>
            </a:r>
          </a:p>
          <a:p/>
          <a:p>
            <a:r>
              <a:t>**咨询项目研究助手**  </a:t>
            </a:r>
          </a:p>
          <a:p>
            <a:r>
              <a:t>围绕客户问题组织访谈、数据和外部资料，形成问题树、研究发现和交付材料初稿。</a:t>
            </a:r>
          </a:p>
          <a:p/>
          <a:p>
            <a:r>
              <a:t>**投资研究助手**  </a:t>
            </a:r>
          </a:p>
          <a:p>
            <a:r>
              <a:t>汇总公司、行业、财务、竞争和风险信息，区分公开事实、分析假设和不确定因素。</a:t>
            </a:r>
          </a:p>
          <a:p/>
          <a:p>
            <a:r>
              <a:t>**课程研发助手**  </a:t>
            </a:r>
          </a:p>
          <a:p>
            <a:r>
              <a:t>根据学习目标、学员背景和参考资料设计课程结构、案例、练习和评测方式。</a:t>
            </a:r>
          </a:p>
          <a:p/>
          <a:p>
            <a:r>
              <a:t>**培训方案助手**  </a:t>
            </a:r>
          </a:p>
          <a:p>
            <a:r>
              <a:t>分析组织目标、岗位任务和能力差距，形成培训内容、练习和效果评估设计。</a:t>
            </a:r>
          </a:p>
          <a:p/>
          <a:p>
            <a:r>
              <a:t>**技术选型研究助手**  </a:t>
            </a:r>
          </a:p>
          <a:p>
            <a:r>
              <a:t>对比技术路线、供应商、成本、实施条件和长期风险，保留比较依据和未确认信息。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研究与方案项目可以展示什么</a:t>
            </a:r>
          </a:p>
          <a:p/>
          <a:p>
            <a:r>
              <a:t>一个有说服力的个人项目，可以重点展示：</a:t>
            </a:r>
          </a:p>
          <a:p/>
          <a:p>
            <a:r>
              <a:t>- 用户意图和服务场景分类；</a:t>
            </a:r>
          </a:p>
          <a:p>
            <a:r>
              <a:t>- 知识、业务数据与权限的关系；</a:t>
            </a:r>
          </a:p>
          <a:p>
            <a:r>
              <a:t>- 一条完整办理流程；</a:t>
            </a:r>
          </a:p>
          <a:p>
            <a:r>
              <a:t>- 正常、异常和转人工路径；</a:t>
            </a:r>
          </a:p>
          <a:p>
            <a:r>
              <a:t>- 核心对话及状态页面；</a:t>
            </a:r>
          </a:p>
          <a:p>
            <a:r>
              <a:t>- 一组真实或合理模拟的服务问题；</a:t>
            </a:r>
          </a:p>
          <a:p>
            <a:r>
              <a:t>- 对回答正确率、任务完成率和转人工率的设计。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怎样找到自己的项目方向</a:t>
            </a:r>
          </a:p>
          <a:p/>
          <a:p>
            <a:r>
              <a:t>不要先问“我最想用哪种技术”，而要从自己的真实条件出发。</a:t>
            </a:r>
          </a:p>
          <a:p/>
          <a:p>
            <a:r>
              <a:t>### 1. 先看过去做过的工作</a:t>
            </a:r>
          </a:p>
          <a:p/>
          <a:p>
            <a:r>
              <a:t>过去反复处理过的问题，往往最适合成为第一个项目。因为你知道谁在使用、流程怎样运行、哪里最麻烦，也更容易补充普通人不知道的异常情况。</a:t>
            </a:r>
          </a:p>
          <a:p/>
          <a:p>
            <a:r>
              <a:t>例如：</a:t>
            </a:r>
          </a:p>
          <a:p/>
          <a:p>
            <a:r>
              <a:t>- 做过客服或运营，可以从服务问题切入；</a:t>
            </a:r>
          </a:p>
          <a:p>
            <a:r>
              <a:t>- 做过财务、采购或法务，可以从材料审核切入；</a:t>
            </a:r>
          </a:p>
          <a:p>
            <a:r>
              <a:t>- 做过销售、产品或咨询，可以从研究与方案切入。</a:t>
            </a:r>
          </a:p>
          <a:p/>
          <a:p>
            <a:r>
              <a:t>### 2. 再看能够获得什么材料</a:t>
            </a:r>
          </a:p>
          <a:p/>
          <a:p>
            <a:r>
              <a:t>AI 项目不能只有一句需求。至少要有一些可以支撑设计和测试的材料，例如：</a:t>
            </a:r>
          </a:p>
          <a:p/>
          <a:p>
            <a:r>
              <a:t>- 常见问题、服务规则、工单或对话记录；</a:t>
            </a:r>
          </a:p>
          <a:p>
            <a:r>
              <a:t>- 合同、票据、申请表、资质材料和审核标准；</a:t>
            </a:r>
          </a:p>
          <a:p>
            <a:r>
              <a:t>- 客户需求、访谈、行业资料、历史报告和方案模板。</a:t>
            </a:r>
          </a:p>
          <a:p/>
          <a:p>
            <a:r>
              <a:t>真实材料需要脱敏；拿不到真实材料时，可以参考真实业务结构进行合理模拟，但要说明哪些是模拟内容。</a:t>
            </a:r>
          </a:p>
          <a:p/>
          <a:p>
            <a:r>
              <a:t>### 3. 最后看目标岗位</a:t>
            </a:r>
          </a:p>
          <a:p/>
          <a:p>
            <a:r>
              <a:t>如果学员正准备转岗，可以选择与目标岗位接近、同时又能利用过去经验的交叉场景。</a:t>
            </a:r>
          </a:p>
          <a:p/>
          <a:p>
            <a:r>
              <a:t>例如，过去做教育运营、希望转 AI 产品，可以做学员服务与业务办理；过去做财务、希望转 AI 产品，可以做付款材料核验；过去做销售、希望转 AI 产品，可以做客户研究与解决方案生成。</a:t>
            </a:r>
          </a:p>
          <a:p/>
          <a:p>
            <a:r>
              <a:t>这种项目既能体现 AI 产品能力，也能利用原有行业积累，通常比完全陌生的热门项目更可信。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个人方向的课堂选择</a:t>
            </a:r>
          </a:p>
          <a:p/>
          <a:p>
            <a:r>
              <a:t>课堂上只做快速判断，不要求现在正式确定项目。</a:t>
            </a:r>
          </a:p>
          <a:p/>
          <a:p>
            <a:r>
              <a:t>问题一：你的工作更接近哪一类？</a:t>
            </a:r>
          </a:p>
          <a:p/>
          <a:p>
            <a:r>
              <a:t>- A. 回答问题、提供服务或办理业务；</a:t>
            </a:r>
          </a:p>
          <a:p>
            <a:r>
              <a:t>- B. 检查材料、核对规则或发现风险；</a:t>
            </a:r>
          </a:p>
          <a:p>
            <a:r>
              <a:t>- C. 搜集信息、研究问题或输出方案；</a:t>
            </a:r>
          </a:p>
          <a:p>
            <a:r>
              <a:t>- D. 暂时无法归类。</a:t>
            </a:r>
          </a:p>
          <a:p/>
          <a:p>
            <a:r>
              <a:t>问题二：你更容易获得哪一类材料？</a:t>
            </a:r>
          </a:p>
          <a:p/>
          <a:p>
            <a:r>
              <a:t>- A. 常见问题、服务规则和业务记录；</a:t>
            </a:r>
          </a:p>
          <a:p>
            <a:r>
              <a:t>- B. 合同、票据、申请表和审核标准；</a:t>
            </a:r>
          </a:p>
          <a:p>
            <a:r>
              <a:t>- C. 客户需求、研究资料、历史报告和方案模板；</a:t>
            </a:r>
          </a:p>
          <a:p>
            <a:r>
              <a:t>- D. 暂时不确定。</a:t>
            </a:r>
          </a:p>
          <a:p/>
          <a:p>
            <a:r>
              <a:t>问题三：刚才列出的项目变种中，哪三个与你的经历、资源或目标岗位最接近？如果没有完全对应，可以写出自己的变种。</a:t>
            </a:r>
          </a:p>
          <a:p/>
          <a:p>
            <a:r>
              <a:t>此时只需要留下候选方向，不需要为了“显得高级”仓促选择一个陌生项目。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第一课课后准备</a:t>
            </a:r>
          </a:p>
          <a:p/>
          <a:p>
            <a:r>
              <a:t>第一课和第二课之间，学员还没有完整学习第一个公共项目，所以这次作业只做场景和材料准备，不要求提前完成产品方案。</a:t>
            </a:r>
          </a:p>
          <a:p/>
          <a:p>
            <a:r>
              <a:t>## 一、找到三个候选场景</a:t>
            </a:r>
          </a:p>
          <a:p/>
          <a:p>
            <a:r>
              <a:t>从自己的经历、所在行业或目标岗位中，写出三个可能的业务场景。每个场景只回答：</a:t>
            </a:r>
          </a:p>
          <a:p/>
          <a:p>
            <a:r>
              <a:t>- 谁在使用；</a:t>
            </a:r>
          </a:p>
          <a:p>
            <a:r>
              <a:t>- 要完成什么事情；</a:t>
            </a:r>
          </a:p>
          <a:p>
            <a:r>
              <a:t>- 现在怎样完成；</a:t>
            </a:r>
          </a:p>
          <a:p>
            <a:r>
              <a:t>- 最主要的问题是什么；</a:t>
            </a:r>
          </a:p>
          <a:p>
            <a:r>
              <a:t>- 会使用哪些材料；</a:t>
            </a:r>
          </a:p>
          <a:p>
            <a:r>
              <a:t>- 这些材料能否获得。</a:t>
            </a:r>
          </a:p>
          <a:p/>
          <a:p>
            <a:r>
              <a:t>每项写一两句话即可。</a:t>
            </a:r>
          </a:p>
          <a:p/>
          <a:p>
            <a:r>
              <a:t>## 二、准备一个场景的基础材料</a:t>
            </a:r>
          </a:p>
          <a:p/>
          <a:p>
            <a:r>
              <a:t>从三个场景中选最熟悉的一个，准备：</a:t>
            </a:r>
          </a:p>
          <a:p/>
          <a:p>
            <a:r>
              <a:t>- 5 个常见问题或业务案例；</a:t>
            </a:r>
          </a:p>
          <a:p>
            <a:r>
              <a:t>- 1—3 份相关材料；</a:t>
            </a:r>
          </a:p>
          <a:p>
            <a:r>
              <a:t>- 1 个正常情况；</a:t>
            </a:r>
          </a:p>
          <a:p>
            <a:r>
              <a:t>- 1 个特殊情况；</a:t>
            </a:r>
          </a:p>
          <a:p>
            <a:r>
              <a:t>- 2 个目前还不知道答案的问题。</a:t>
            </a:r>
          </a:p>
          <a:p/>
          <a:p>
            <a:r>
              <a:t>材料可以脱敏，也可以基于真实业务合理模拟。</a:t>
            </a:r>
          </a:p>
          <a:p/>
          <a:p>
            <a:r>
              <a:t>## 三、这次不需要做什么</a:t>
            </a:r>
          </a:p>
          <a:p/>
          <a:p>
            <a:r>
              <a:t>- 不需要确定最终选题；</a:t>
            </a:r>
          </a:p>
          <a:p>
            <a:r>
              <a:t>- 不需要写 PRD；</a:t>
            </a:r>
          </a:p>
          <a:p>
            <a:r>
              <a:t>- 不需要画原型；</a:t>
            </a:r>
          </a:p>
          <a:p>
            <a:r>
              <a:t>- 不需要选择模型；</a:t>
            </a:r>
          </a:p>
          <a:p>
            <a:r>
              <a:t>- 不需要开发 Demo。</a:t>
            </a:r>
          </a:p>
          <a:p/>
          <a:p>
            <a:r>
              <a:t>第二课完整学习“企业智能客服与业务办理”之后，再确定第一个个人项目并制作 V0.1。</a:t>
            </a:r>
          </a:p>
          <a:p/>
          <a:p>
            <a:r>
              <a:t>## 四、提交格式</a:t>
            </a:r>
          </a:p>
          <a:p/>
          <a:p>
            <a:r>
              <a:t>| 候选场景 | 使用者 | 要完成的事情 | 当前问题 | 可用材料 |</a:t>
            </a:r>
          </a:p>
          <a:p>
            <a:r>
              <a:t>|---|---|---|---|---|</a:t>
            </a:r>
          </a:p>
          <a:p>
            <a:r>
              <a:t>| 场景一 |  |  |  |  |</a:t>
            </a:r>
          </a:p>
          <a:p>
            <a:r>
              <a:t>| 场景二 |  |  |  |  |</a:t>
            </a:r>
          </a:p>
          <a:p>
            <a:r>
              <a:t>| 场景三 |  |  |  |  |</a:t>
            </a:r>
          </a:p>
          <a:p/>
          <a:p>
            <a:r>
              <a:t>另外附上最熟悉场景的 5 个问题或案例、1—3 份材料、1 个正常情况、1 个特殊情况和 2 个未知问题。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三个候选业务场景</a:t>
            </a:r>
          </a:p>
          <a:p/>
          <a:p>
            <a:r>
              <a:t>从自己的经历、所在行业或目标岗位中，写出三个可能的业务场景。每个场景只回答：</a:t>
            </a:r>
          </a:p>
          <a:p/>
          <a:p>
            <a:r>
              <a:t>- 谁在使用；</a:t>
            </a:r>
          </a:p>
          <a:p>
            <a:r>
              <a:t>- 要完成什么事情；</a:t>
            </a:r>
          </a:p>
          <a:p>
            <a:r>
              <a:t>- 现在怎样完成；</a:t>
            </a:r>
          </a:p>
          <a:p>
            <a:r>
              <a:t>- 最主要的问题是什么；</a:t>
            </a:r>
          </a:p>
          <a:p>
            <a:r>
              <a:t>- 会使用哪些材料；</a:t>
            </a:r>
          </a:p>
          <a:p>
            <a:r>
              <a:t>- 这些材料能否获得。</a:t>
            </a:r>
          </a:p>
          <a:p/>
          <a:p>
            <a:r>
              <a:t>每项写一两句话即可。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最熟悉场景的基础材料</a:t>
            </a:r>
          </a:p>
          <a:p/>
          <a:p>
            <a:r>
              <a:t>从三个场景中选最熟悉的一个，准备：</a:t>
            </a:r>
          </a:p>
          <a:p/>
          <a:p>
            <a:r>
              <a:t>- 5 个常见问题或业务案例；</a:t>
            </a:r>
          </a:p>
          <a:p>
            <a:r>
              <a:t>- 1—3 份相关材料；</a:t>
            </a:r>
          </a:p>
          <a:p>
            <a:r>
              <a:t>- 1 个正常情况；</a:t>
            </a:r>
          </a:p>
          <a:p>
            <a:r>
              <a:t>- 1 个特殊情况；</a:t>
            </a:r>
          </a:p>
          <a:p>
            <a:r>
              <a:t>- 2 个目前还不知道答案的问题。</a:t>
            </a:r>
          </a:p>
          <a:p/>
          <a:p>
            <a:r>
              <a:t>材料可以脱敏，也可以基于真实业务合理模拟。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下一课之前的任务边界</a:t>
            </a:r>
          </a:p>
          <a:p/>
          <a:p>
            <a:r>
              <a:t>- 不需要确定最终选题；</a:t>
            </a:r>
          </a:p>
          <a:p>
            <a:r>
              <a:t>- 不需要写 PRD；</a:t>
            </a:r>
          </a:p>
          <a:p>
            <a:r>
              <a:t>- 不需要画原型；</a:t>
            </a:r>
          </a:p>
          <a:p>
            <a:r>
              <a:t>- 不需要选择模型；</a:t>
            </a:r>
          </a:p>
          <a:p>
            <a:r>
              <a:t>- 不需要开发 Demo。</a:t>
            </a:r>
          </a:p>
          <a:p/>
          <a:p>
            <a:r>
              <a:t>第二课完整学习“企业智能客服与业务办理”之后，再确定第一个个人项目并制作 V0.1。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先建立共同参照，再开始个人项目</a:t>
            </a:r>
          </a:p>
          <a:p/>
          <a:p>
            <a:r>
              <a:t>第一课不是让学员立刻做项目，而是先完成四件事：</a:t>
            </a:r>
          </a:p>
          <a:p/>
          <a:p>
            <a:r>
              <a:t>1. 理解第二阶段为什么从知识学习转向连续项目实践；</a:t>
            </a:r>
          </a:p>
          <a:p>
            <a:r>
              <a:t>2. 理解公共项目、个人项目、互评和老师点评怎样共同工作；</a:t>
            </a:r>
          </a:p>
          <a:p>
            <a:r>
              <a:t>3. 理解为什么选择服务、审核和研究方案这三个公共项目；</a:t>
            </a:r>
          </a:p>
          <a:p>
            <a:r>
              <a:t>4. 从自己的经历中找到可能迁移的场景，并准备最基础的业务材料。</a:t>
            </a:r>
          </a:p>
          <a:p/>
          <a:p>
            <a:r>
              <a:t>本课最终需要学员记住的，不是三个项目名称，而是第二阶段的工作方式：</a:t>
            </a:r>
          </a:p>
          <a:p/>
          <a:p>
            <a:r>
              <a:t>&gt; 老师用公共项目讲清方法，学员用个人项目完成迁移；先做出 V0.1，再通过互评、点评和修改形成 V1.0。</a:t>
            </a:r>
          </a:p>
          <a:p/>
          <a:p>
            <a:r>
              <a:t>下一课将进入第一个公共项目“企业智能客服与业务办理”，完整走一遍从业务问题到产品方案、核心页面和测试迭代的过程。</a:t>
            </a:r>
          </a:p>
          <a:p/>
          <a:p>
            <a:r>
              <a:t>---</a:t>
            </a:r>
          </a:p>
          <a:p/>
          <a:p>
            <a:r>
              <a:t>[讲义来源]</a:t>
            </a:r>
          </a:p>
          <a:p>
            <a:r>
              <a:t>/Users/keivn/Project/AI-Course/课程生产/第二阶段/03_第一课_第二阶段项目启动与准备_老师版完整讲义_v2.1.md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03504"/>
            <a:ext cx="53035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6D6C2"/>
                </a:solidFill>
                <a:latin typeface="Hiragino Sans GB"/>
                <a:ea typeface="Hiragino Sans GB"/>
              </a:rPr>
              <a:t>AI PRODUCT MANAGER · PROJECT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98448"/>
            <a:ext cx="9875520" cy="13258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第二阶段项目
启动与准备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2971800"/>
            <a:ext cx="9326880" cy="40233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2E9"/>
                </a:solidFill>
                <a:latin typeface="Hiragino Sans GB"/>
                <a:ea typeface="Hiragino Sans GB"/>
              </a:rPr>
              <a:t>第一课｜学习方式、公共项目与个人素材准备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" y="3474720"/>
            <a:ext cx="1901952" cy="45720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3749039"/>
            <a:ext cx="932688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先建立共同参照，再进入正式项目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37192" y="4315968"/>
            <a:ext cx="12344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6144768"/>
            <a:ext cx="4389120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A7B5BC"/>
                </a:solidFill>
                <a:latin typeface="Hiragino Sans GB"/>
                <a:ea typeface="Hiragino Sans GB"/>
              </a:rPr>
              <a:t>第二阶段 · 项目实战班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课程导入｜第二阶段项目启动与准备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1570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今天主要讲四件事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第一课先建立方向和共同参照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学习方式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第二阶段怎样上课、做作业和接受点评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选择逻辑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为什么选择这三个公共项目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项目方向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三个项目怎样迁移到不同业务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课后准备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盘点场景并准备少量材料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本课不正式选题，也不写 PRD。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2355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第二阶段的学习目标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把已经学过的知识连续地用在真实项目中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学员需要从一个不完整的业务问题出发，完成分析、方案、页面、测试和修改。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3140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第一阶段已经解决的问题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知识点已经具备，接下来要练习组合使用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2377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06040"/>
                <a:gridCol w="2606040"/>
                <a:gridCol w="2606040"/>
                <a:gridCol w="2715768"/>
              </a:tblGrid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产品判断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产品方案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产品实现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效果与经营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需求分析</a:t>
                      </a:r>
                    </a:p>
                    <a:p>
                      <a:r>
                        <a:t>AI 是否必要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MVP、PRD</a:t>
                      </a:r>
                    </a:p>
                    <a:p>
                      <a:r>
                        <a:t>AI 与规则分工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Prompt、RAG</a:t>
                      </a:r>
                    </a:p>
                    <a:p>
                      <a:r>
                        <a:t>Workflow、Agent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评测、Bad Case</a:t>
                      </a:r>
                    </a:p>
                    <a:p>
                      <a:r>
                        <a:t>模型、成本、ROI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第二阶段不再逐个重复概念，而是把这些能力放进同一个项目。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3925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真实需求通常只有一句话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产品经理要把模糊问题继续拆开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客服压力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每天重复回答大量问题，能不能用 AI？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审核效率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材料太多容易漏看，能不能先让 AI 检查？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方案周期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准备客户方案要两三天，能不能缩短？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业务方给出的是问题，产品经理要补全用户、流程、边界和验证方式。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247100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一个项目包含连续判断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每一步都会影响下一步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是否值得解决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谁在何时使用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当前怎样完成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分工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模型、规则、系统和人工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范围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第一版做到哪里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怎样判断有效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第二阶段训练的重点，是把这些判断连接起来。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45495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智能客服项目需要多种能力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RAG 只能解决其中一部分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625328" cy="34015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2834640"/>
                <a:gridCol w="5870448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业务环节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主要能力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需要回答的问题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理解请求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大模型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用户到底在问什么或要办理什么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获取信息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知识库、业务接口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答案来自制度还是用户自己的业务数据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判断条件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规则、权限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当前用户是否能够查询或办理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推动办理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工作流、业务系统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下一步动作由谁执行，结果怎样返回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处理异常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人工接管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投诉、高风险或无法判断时交给谁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产品经理根据业务问题安排能力，而不是为了使用某项技术寻找项目。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66280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公共项目与个人项目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两类项目承担不同作用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公共项目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全班使用相同材料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老师展示完整判断过程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建立共同分析标准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iragino Sans GB"/>
                <a:ea typeface="Hiragino Sans GB"/>
              </a:rPr>
              <a:t>个人项目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结合自己的行业或经历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重新定义流程、材料和边界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证明能够独立迁移方法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公共项目提供参照，个人项目证明学员真正掌握。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87065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公共项目要展示判断过程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课堂不只阅读最终 PRD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需求变化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原始需求为什么不够清楚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方案选择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AI、规则和人工怎样分工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范围取舍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什么进入 MVP，什么暂时不做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产品承载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页面如何支撑业务闭环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验证修改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测试发现问题后怎样调整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全班先看同一个项目，才能讨论同一个问题。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07850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个人项目必须真正发生变化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只替换项目名称和页面颜色不算迁移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谁在使用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时刻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什么时候遇到问题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现在怎样完成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有哪些数据、文档和规则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风险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哪些判断不能只靠模型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82128" y="3822191"/>
            <a:ext cx="3401568" cy="1755647"/>
          </a:xfrm>
          <a:prstGeom prst="roundRect">
            <a:avLst>
              <a:gd name="adj" fmla="val 8333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4023359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315968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3296" y="4736592"/>
            <a:ext cx="2999232" cy="73151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用什么案例判断有效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业务流程、材料和异常情况改变后，项目才真正属于学员。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28635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一轮项目的推进方式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三个项目都使用同一套节奏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老师完整讲解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30398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5846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701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014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个人 V0.1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独立完成初稿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6436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884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3052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小组互评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提前发现问题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0247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57923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9091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9091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老师点评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讲代表案例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3851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93961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5129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5129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个人 V1.0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5129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修改并记录原因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从 V0.1 到 V1.0 的变化，也是项目能力的一部分。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494201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固定小组怎样互评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4—5 人一组，每个人仍然独立完成项目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能否听懂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项目到底解决什么问题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场景是否具体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用户和使用时刻是否清楚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AI 是否必要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模型介入能否改善业务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材料能否获得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设计和测试是否有基础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范围是否可控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第一版能否形成闭环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互评负责提出问题，不替别人重新设计项目。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70205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老师点评的重点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课堂示范一个项目怎样被修改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缩小场景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把宽泛想法变成具体任务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补全闭环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把功能清单放回业务流程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调整分工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减少对大模型的盲目依赖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建立验证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补充样本、标准和指标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没有被单独点评的学员，也要把典型问题映射回自己的项目。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290990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为什么不共同完成一个项目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协作发生在互评，成果仍由个人负责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小组共同交付的风险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容易变成写文档、画原型和做 Demo 的分工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每个人只掌握一部分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难以界定个人判断与贡献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个人项目加互评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每个人走完完整项目过程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项目能够结合个人经历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作品集和面试表达更可信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小组帮助发现问题，项目始终由个人独立负责。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11775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十次课的整体安排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启动、三轮项目、深化与成果表达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01952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48256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启动准备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901952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048256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377440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2624" y="1901952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7216" y="2048256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2377440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项目一点评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14031" y="1901952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8623" y="2048256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623" y="2377440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901952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2048256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377440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项目二点评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474720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621024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50208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71215" y="3474720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5808" y="3621024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5808" y="3950208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项目三点评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92624" y="3474720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F0C5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57216" y="3621024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7216" y="3950208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主项目深化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14031" y="3474720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8623" y="3621024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8623" y="3950208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作品集与简历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3474720"/>
            <a:ext cx="1938528" cy="1115568"/>
          </a:xfrm>
          <a:prstGeom prst="roundRect">
            <a:avLst>
              <a:gd name="adj" fmla="val 13114"/>
            </a:avLst>
          </a:prstGeom>
          <a:solidFill>
            <a:srgbClr val="102B37"/>
          </a:solidFill>
          <a:ln w="8636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3621024"/>
            <a:ext cx="41148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3950208"/>
            <a:ext cx="1591056" cy="3474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路演与总结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课程节奏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公共项目讲深，个人项目在互评、点评和修改中完成。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第一节｜第二阶段怎样学习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32560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第二阶段的最终成果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三个完整项目，其中一个继续做深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3 个个人项目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都能完整说明业务、方案、页面和测试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 个主项目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补充更扎实的验证、迭代或 Demo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修改记录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保留从 V0.1 到 V1.0 的关键变化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职业表达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形成作品集、简历和面试讲法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第二阶段的产出，是项目成果与独立判断能力。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53345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什么项目适合全班共同学习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先请学员做一个选择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A｜技术热门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使用当前最热门的模型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B｜名称先进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听起来足够复杂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C｜业务清楚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流程、材料和结果可以展示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D｜演示好看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容易快速制作 Demo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老师选择 C。教学项目首先要能讲清业务判断。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74130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公共项目的六项标准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前三项判断项目能否讲清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真实问题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企业持续遇到，也愿意投入成本解决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完整过程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输入、判断、结果和异常都能说明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能力组合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模型、知识、规则、系统和人工自然协作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项目必须先成立，技术复杂度才有意义。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3949152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公共项目还要便于学习和迁移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后三项决定课堂价值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可以准备材料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能够形成输入样本和测试案例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容易迁移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可以发展为多个行业和岗位变种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能够形成作品集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可以展示判断、取舍和迭代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公共项目是一类业务问题的母题，不是固定答案。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15700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项目不按技术方向划分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真实项目往往同时使用多种能力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先做一个 RAG、Workflow 或 Agent 项目，会让学员养成先选技术再找问题的习惯。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36485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材料审核项目的能力组合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项目主题是可靠完成审核，而不是使用某项技术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58444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34640"/>
                <a:gridCol w="7699248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能力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负责的工作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文档解析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读取合同、票据、申请表和图片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大模型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理解复杂表述和语义风险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规则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校验金额、日期、资格等确定条件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知识库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提供制度和审核标准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工作流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把不同风险交给对应人员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人工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2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复核不确定和高风险结果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产品经理的专业性体现在能力分工，而不是堆叠技术名词。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57270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三个公共项目覆盖的业务入口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分别从人、材料和复杂任务切入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625328" cy="28529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1760"/>
                <a:gridCol w="2514600"/>
                <a:gridCol w="3246120"/>
                <a:gridCol w="2212848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公共项目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工作从哪里开始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要完成什么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主要价值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智能客服与业务办理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用户提出问题或请求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回答并推动服务完成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服务效率与体验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材料审核与风险核验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材料进入业务流程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发现缺失、差异与风险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审核效率与风险控制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专业研究与方案生成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专业人员接到复杂任务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组织资料并形成成果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知识工作质量与速度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三个母题覆盖大量企业服务、运营、风控和知识工作。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78055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三个项目分别训练什么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项目之间不是行业区别，而是能力重点不同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服务闭环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对话、知识和业务办理怎样连接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可靠审核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规则、语义判断和人工责任怎样划分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专业交付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复杂任务怎样拆解、核实并接受审阅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三个项目共同构成 AI 产品经理的业务方案能力。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498840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项目的专业感来自业务复杂度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名称、页面数量和模型数量都不是标准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多种材料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知识、数据、文档与样本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多个角色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用户、运营、审核者与专家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多方协作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模型、规则、系统和人工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异常与责任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失败路径、风险和接管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结果可验证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业务结果和评测案例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作品集展示的是对真实业务的理解和产品判断。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第二节｜为什么选择这三个公共项目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196253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为什么没有单独设置 C 端公共项目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公共教学更需要共同材料和共同标准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很多 C 端项目依赖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真实用户和持续行为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流量、增长和转化实验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留存、付费和长期运营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FF765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7657"/>
                </a:solidFill>
                <a:latin typeface="Hiragino Sans GB"/>
                <a:ea typeface="Hiragino Sans GB"/>
              </a:rPr>
              <a:t>课程仍然支持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直接面向个人用户的服务场景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有用户、经验或数据的 C 端个人项目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用真实问题和可验证结果评价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项目是否成立，比 B 端或 C 端标签更重要。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4041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三个公共项目与个人项目方向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听项目时持续关注两个问题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84648" cy="3694175"/>
          </a:xfrm>
          <a:prstGeom prst="roundRect">
            <a:avLst>
              <a:gd name="adj" fmla="val 396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478231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与经历的距离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478231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哪类工作和自己的岗位、行业最接近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1883664"/>
            <a:ext cx="5184648" cy="3694175"/>
          </a:xfrm>
          <a:prstGeom prst="roundRect">
            <a:avLst>
              <a:gd name="adj" fmla="val 396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377440"/>
            <a:ext cx="478231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材料可获得性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798064"/>
            <a:ext cx="478231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哪类资料、规则或案例比较容易找到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本课只形成候选方向，不急着正式选题。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61195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公共项目一：企业智能客服与业务办理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面向客户、员工或合作伙伴的统一服务入口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理解请求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识别意图和信息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9836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4428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5596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获取答案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知识与业务数据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0760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推动办理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规则、接口与工作流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2500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37092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8260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260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处理异常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人工接管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084064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6D6C2"/>
                </a:solidFill>
                <a:latin typeface="Hiragino Sans GB"/>
                <a:ea typeface="Hiragino Sans GB"/>
              </a:rPr>
              <a:t>项目价值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56632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把咨询、查询、办理和转人工连接成完整服务流程。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58198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智能客服的完整业务闭环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回答问题只是服务过程的一部分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提出请求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问题或办理事项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30398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5846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701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014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识别意图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补充必要信息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6436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884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3052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查询判断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知识、数据和条件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0247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57923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9091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9091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回答办理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执行动作并反馈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3851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93961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5129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5129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异常处理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5129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转人工并记录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最终判断服务是否真正完成。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02765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智能客服中的能力分工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不同环节使用不同能力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7" cy="34015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011680"/>
                <a:gridCol w="3749039"/>
                <a:gridCol w="4773168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参与方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主要职责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典型问题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大模型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理解表达、追问和组织回答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用户说得不完整或不标准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知识库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提供产品、制度和操作信息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政策或说明从哪里获得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业务系统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查询订单、账户和服务状态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用户自己的业务现在怎样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规则与权限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判断身份、条件和可执行范围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当前用户能否办理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6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人工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处理投诉、高风险和特殊情况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系统无法安全完成时怎么办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服务型 AI 产品必须同时考虑效果、权限、流程和责任。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2355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智能客服变种：消费者服务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面向个人用户，也可以拥有清楚的业务闭环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4844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17520"/>
                <a:gridCol w="7516368"/>
              </a:tblGrid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可以解决的核心任务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电商售后服务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查询订单、解释政策、收集信息并发起售后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在线教育学员服务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处理课程咨询、请假、补课、延期和退款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保险理赔服务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识别理赔类型、说明材料并查询进度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医疗服务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科室选择、预约、检查准备和复诊提醒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银行业务服务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账户问题、信用卡服务和业务办理引导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旅游与本地生活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7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预约、改期、退款、退改政策和行程变化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C 端服务项目同样要处理业务数据、办理条件和异常情况。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44335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智能客服变种：企业客户与合作伙伴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服务对象不同，权限和业务数据也会变化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4564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17520"/>
                <a:gridCol w="7516368"/>
              </a:tblGrid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可以解决的核心任务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企业软件客户服务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产品使用、账户权限、问题排查和工单创建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制造业设备售后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识别设备与故障，指导排查并预约工程师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经销商服务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查询价格、库存、订单、返利和活动要求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供应商协同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查询采购要求、交货、验收和结算状态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大客户服务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处理交付、续费、增购和服务升级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企业服务项目要把客户身份、合同权益和服务记录带入流程。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651204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智能客服变种：企业内部服务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员工同样需要统一服务入口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4564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17520"/>
                <a:gridCol w="7516368"/>
              </a:tblGrid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可以解决的核心任务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员工人事服务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考勤、休假、薪酬、福利和证明申请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企业 IT 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账号、权限、软件、设备和网络问题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财务共享服务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报销、发票、付款、预算和单据状态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采购服务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采购规则、申请、订单和供应商状态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行政服务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会议室、访客、办公用品和设备借用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只要存在反复咨询并继续办理的工作，就可以迁移这个项目。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685905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智能客服项目可以展示什么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作品集要呈现服务怎样被完成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场景分类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用户意图和服务入口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信息连接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知识、业务数据与权限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完整流程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正常、异常和转人工路径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核心页面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对话、状态和人工接管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测试设计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问题集、任务完成率和转人工率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这一方向适合客服、运营、售后、人事、IT 和共享服务背景。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06690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公共项目二：业务材料审核与风险核验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处理合同、票据、申请表、资质和报告等材料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识别材料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类型与完整性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9836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4428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5596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提取信息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字段、条款与关系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0760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执行核验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规则与语义判断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2500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F76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37092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8260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260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人工复核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依据、风险与处理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084064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项目价值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56632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在多份材料中发现缺失、差异和风险，并让审核人员能够复核。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27475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材料审核的完整业务闭环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系统先检查，人工承担最终责任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提交材料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一份或多份文件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30398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5846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701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014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识别提取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类型、字段和条款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6436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884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3052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规则核验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硬性条件与一致性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0247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57923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9091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9091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风险定位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语义问题和原文依据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3851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93961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5129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5129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人工处理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5129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确认、修改或驳回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人工反馈继续进入测试集和规则优化。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48260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审核项目中的判断边界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不是所有问题都交给大模型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86000"/>
                <a:gridCol w="3200400"/>
                <a:gridCol w="5047488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问题类型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适合的处理方式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示例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明确字段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解析、结构化提取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名称、日期、金额、编号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确定条件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规则校验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金额超限、证照过期、附件缺失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复杂表述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大模型理解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责任条款、模糊承诺、语义冲突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高风险结论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人工复核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拒绝申请、合同重大风险、合规判断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solidFill>
                      <a:srgbClr val="13384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结果需要给出风险等级、原文位置和适用规则。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69045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审核变种：财务、合同与采购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材料关系与审核规则构成项目深度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4844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7607808"/>
              </a:tblGrid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需要核对的主要内容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报销审核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发票、报销单、行程、费用科目和企业制度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付款材料核验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合同、订单、验收单、发票和付款条件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预算申请审核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预算科目、历史支出、理由和审批要求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合同条款审核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付款、交付、违约、知识产权和数据安全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供应商准入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营业执照、行业资质、财务信息和准入条件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招投标文件检查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响应材料、资格证明、技术参数和签章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同一种审核方法可以随着材料和规则迁移。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7898305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审核变种：金融、人事与公共服务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高责任场景必须保留人工判断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4844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7607808"/>
              </a:tblGrid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需要核对的主要内容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企业开户预审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企业身份、股权结构、受益人和经营证明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贷款申请预审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收入、资产、负债、交易记录和资金用途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保险理赔审核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保单、事故证明、费用凭证和责任范围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招聘入职审核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身份、学历、经历、资质和入职文件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项目申报预审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申报资格、项目条件、预算和附件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质量报告核验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检测项目、数值、标准、结论和签章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项目价值来自减少重复检查，同时降低严重漏检。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39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1061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材料审核项目可以展示什么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作品集要说明结果为什么可信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材料关系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文件清单、字段和对应关系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风险体系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缺失、冲突、规则不符和语义风险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能力分工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规则、大模型与人工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复核页面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原文定位、依据和纠错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评测指标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准确率、召回率、时间和严重漏检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这一方向适合财务、法务、采购、风控、金融和质量管理背景。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31400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公共项目三：专业研究与方案生成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面向销售、产品、咨询、研究与管理者的知识工作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理解任务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目标、受众与限制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59836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4428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5596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组织资料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5596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内部与外部来源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16168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80760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形成成果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研究、简报或方案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72500" y="2962656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F0C5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37092" y="1975104"/>
            <a:ext cx="2510028" cy="2157984"/>
          </a:xfrm>
          <a:prstGeom prst="roundRect">
            <a:avLst>
              <a:gd name="adj" fmla="val 6779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38260" y="217627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38260" y="246888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5F2E9"/>
                </a:solidFill>
                <a:latin typeface="Hiragino Sans GB"/>
                <a:ea typeface="Hiragino Sans GB"/>
              </a:rPr>
              <a:t>专业审阅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8260" y="2889504"/>
            <a:ext cx="2107692" cy="1133855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A7B5BC"/>
                </a:solidFill>
                <a:latin typeface="Hiragino Sans GB"/>
                <a:ea typeface="Hiragino Sans GB"/>
              </a:rPr>
              <a:t>依据、缺口与责任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956048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084064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0C565"/>
                </a:solidFill>
                <a:latin typeface="Hiragino Sans GB"/>
                <a:ea typeface="Hiragino Sans GB"/>
              </a:rPr>
              <a:t>项目价值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056632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让复杂知识工作的过程可以追踪、核实、修改和复用。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5218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研究与方案生成的完整闭环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专业交付从问题拆解开始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定义任务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目标、受众和范围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730398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5846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7014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7014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拆解问题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7014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明确需要回答什么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6436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884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3052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3052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组织资料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3052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分类、核实和关联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02475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57923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9091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9091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形成初稿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依据、假设和待确认项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138513" y="3630168"/>
            <a:ext cx="182880" cy="146304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93961" y="1938528"/>
            <a:ext cx="1989734" cy="3529584"/>
          </a:xfrm>
          <a:prstGeom prst="roundRect">
            <a:avLst>
              <a:gd name="adj" fmla="val 7352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95129" y="2139696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5129" y="2432304"/>
            <a:ext cx="1587398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F5F2E9"/>
                </a:solidFill>
                <a:latin typeface="Hiragino Sans GB"/>
                <a:ea typeface="Hiragino Sans GB"/>
              </a:rPr>
              <a:t>专家审阅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5129" y="2852928"/>
            <a:ext cx="1587398" cy="2505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A7B5BC"/>
                </a:solidFill>
                <a:latin typeface="Hiragino Sans GB"/>
                <a:ea typeface="Hiragino Sans GB"/>
              </a:rPr>
              <a:t>修改并正式交付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处理结果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模板、反馈和优质案例继续沉淀为组织能力。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72970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专业交付比生成文字多什么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文字通顺只是最低要求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理解任务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受众、目标和交付要求是否明确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拆解问题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是否提出了正确的问题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核实来源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资料是否可信、过时或互相冲突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暴露缺口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哪些结论仍需确认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专业审阅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谁修改判断并承担责任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项目将普通 AI 写作升级为可以检查的专业工作流程。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43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89375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研究变种：销售、产品与运营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复杂任务不同，方法可以迁移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4844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7607808"/>
              </a:tblGrid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需要组织的主要信息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客户需求分析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访谈、需求文件、历史沟通和待确认问题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大客户拜访准备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客户背景、经营动态、合作历史和提问清单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解决方案与投标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客户要求、产品能力、案例和证明材料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竞品与机会研究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功能、价格、评价、市场动作和用户反馈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产品规划与用户研究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战略目标、业务约束、访谈和问卷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运营活动方案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目标用户、渠道、资源、历史活动和指标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优先选择自己能够判断内容对错的专业领域。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44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14540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研究变种：行业、管理与专业服务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从信息收集走向有依据的专业建议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648449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7607808"/>
              </a:tblGrid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项目变种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需要组织的主要信息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行业研究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市场、产业链、竞争、政策和趋势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市场进入分析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需求、竞争、渠道、政策和实施风险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政策研究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7657"/>
                          </a:solidFill>
                          <a:latin typeface="Hiragino Sans GB"/>
                          <a:ea typeface="Hiragino Sans GB"/>
                        </a:rPr>
                        <a:t>适用对象、时间、影响环节和企业行动</a:t>
                      </a:r>
                    </a:p>
                  </a:txBody>
                  <a:tcPr marL="88900" marR="88900" marT="25400" marB="25400" anchor="ctr">
                    <a:solidFill>
                      <a:srgbClr val="133843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经营与战略分析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经营数据、部门反馈、目标和资源约束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咨询或投资研究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访谈、公司、行业、财务和风险资料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课程或技术选型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学习目标、参考资料、方案、成本和风险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这一方向适合产品、运营、销售、咨询、研究、培训和管理岗位。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45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353256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研究与方案项目可以展示什么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作品集要呈现研究过程，而不只展示最终长文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任务定义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目标用户、受众与交付要求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问题拆解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复杂任务怎样分成研究问题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资料机制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来源、筛选、核实和冲突处理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审阅界面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引用、待核实项和专家修改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结果评测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完整性、准确性、可用性和时间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专业领域判断力，是这个项目最重要的基础。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46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56110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怎样找到自己的项目方向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按照真实条件逐步缩小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过去的工作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优先选择自己了解流程和异常的场景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可用的材料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确认能获得文档、规则、案例或数据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8" y="1883664"/>
            <a:ext cx="3401568" cy="3694175"/>
          </a:xfrm>
          <a:prstGeom prst="roundRect">
            <a:avLst>
              <a:gd name="adj" fmla="val 4301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2377440"/>
            <a:ext cx="299923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目标岗位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2798064"/>
            <a:ext cx="299923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让项目与下一份工作形成联系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熟悉的业务做深，比陌生的热门项目更可信。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第三节｜三个公共项目与个人项目方向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47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76895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个人方向的课堂选择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先记录候选方向，不正式选题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A｜服务与办理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回答问题、提供服务或推动办理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442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B｜审核与核验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检查材料、核对规则或发现风险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C｜研究与方案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搜集信息、研究问题或输出方案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3668" y="1883664"/>
            <a:ext cx="2510028" cy="3694175"/>
          </a:xfrm>
          <a:prstGeom prst="roundRect">
            <a:avLst>
              <a:gd name="adj" fmla="val 5828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483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4836" y="2377440"/>
            <a:ext cx="210769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D｜暂不确定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836" y="2798064"/>
            <a:ext cx="210769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继续观察工作和可用材料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再写下与自己经历、资源或目标岗位最接近的三个变种。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48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997680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第一课课后准备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本次只完成两项轻量准备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84648" cy="3694175"/>
          </a:xfrm>
          <a:prstGeom prst="roundRect">
            <a:avLst>
              <a:gd name="adj" fmla="val 396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478231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三个候选场景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478231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从工作经历、所在行业或目标岗位中寻找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8" y="1883664"/>
            <a:ext cx="5184648" cy="3694175"/>
          </a:xfrm>
          <a:prstGeom prst="roundRect">
            <a:avLst>
              <a:gd name="adj" fmla="val 3960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377440"/>
            <a:ext cx="4782312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一组基础材料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798064"/>
            <a:ext cx="4782312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从最熟悉的场景准备少量问题和样本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第二课完整学习公共项目后，再确定第一个个人项目。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49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18465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三个候选业务场景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每个问题写一两句话即可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874519"/>
          <a:ext cx="1053388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17320"/>
                <a:gridCol w="2011680"/>
                <a:gridCol w="2560320"/>
                <a:gridCol w="2331720"/>
                <a:gridCol w="2212848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候选场景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使用者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要完成的事情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当前问题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80" b="1" i="0">
                          <a:solidFill>
                            <a:srgbClr val="36D6C2"/>
                          </a:solidFill>
                          <a:latin typeface="Hiragino Sans GB"/>
                          <a:ea typeface="Hiragino Sans GB"/>
                        </a:rPr>
                        <a:t>可用材料</a:t>
                      </a:r>
                    </a:p>
                  </a:txBody>
                  <a:tcPr marL="88900" marR="88900" marT="25400" marB="25400" anchor="ctr">
                    <a:lnT w="17780" cap="flat" cmpd="sng" algn="ctr">
                      <a:solidFill>
                        <a:srgbClr val="36D6C2"/>
                      </a:solidFill>
                    </a:lnT>
                    <a:lnB w="10160" cap="flat" cmpd="sng" algn="ctr">
                      <a:solidFill>
                        <a:srgbClr val="416A78"/>
                      </a:solidFill>
                    </a:lnB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场景一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场景二</a:t>
                      </a:r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noFill/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80" b="0" i="0">
                          <a:solidFill>
                            <a:srgbClr val="A7B5BC"/>
                          </a:solidFill>
                          <a:latin typeface="Hiragino Sans GB"/>
                          <a:ea typeface="Hiragino Sans GB"/>
                        </a:rPr>
                        <a:t>场景三</a:t>
                      </a:r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88900" marR="88900" marT="25400" marB="25400" anchor="ctr">
                    <a:lnB w="17780" cap="flat" cmpd="sng" algn="ctr">
                      <a:solidFill>
                        <a:srgbClr val="36D6C2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先确认场景和材料，不需要现在设计解决方案。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50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39250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最熟悉场景的基础材料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数量不必多，可以脱敏或合理模拟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5 个问题或案例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真实业务中可能遇到的问题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1—3 份材料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制度、表单、记录或业务样例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8D391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 个正常情况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业务顺利完成的过程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68896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0064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1 个特殊情况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容易出错或需要人工判断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08592" y="1883664"/>
            <a:ext cx="1975103" cy="3694175"/>
          </a:xfrm>
          <a:prstGeom prst="roundRect">
            <a:avLst>
              <a:gd name="adj" fmla="val 7407"/>
            </a:avLst>
          </a:prstGeom>
          <a:solidFill>
            <a:srgbClr val="102B37"/>
          </a:solidFill>
          <a:ln w="863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084832"/>
            <a:ext cx="530352" cy="2286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1572767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5F2E9"/>
                </a:solidFill>
                <a:latin typeface="Hiragino Sans GB"/>
                <a:ea typeface="Hiragino Sans GB"/>
              </a:rPr>
              <a:t>2 个未知问题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798064"/>
            <a:ext cx="1572767" cy="2670047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7B5BC"/>
                </a:solidFill>
                <a:latin typeface="Hiragino Sans GB"/>
                <a:ea typeface="Hiragino Sans GB"/>
              </a:rPr>
              <a:t>后续需要继续核实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本页重点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未知问题也要保留，它们会影响后续产品边界。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51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600357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下一课之前的任务边界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10661904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7B5BC"/>
                </a:solidFill>
                <a:latin typeface="Hiragino Sans GB"/>
                <a:ea typeface="Hiragino Sans GB"/>
              </a:rPr>
              <a:t>先准备业务素材，再进入正式项目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36D6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6D6C2"/>
                </a:solidFill>
                <a:latin typeface="Hiragino Sans GB"/>
                <a:ea typeface="Hiragino Sans GB"/>
              </a:rPr>
              <a:t>本次不用完成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7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最终选题和完整 PRD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7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页面原型与技术方案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7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模型选择和 Demo 开发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83664"/>
            <a:ext cx="5157216" cy="3621024"/>
          </a:xfrm>
          <a:prstGeom prst="roundRect">
            <a:avLst>
              <a:gd name="adj" fmla="val 4040"/>
            </a:avLst>
          </a:prstGeom>
          <a:solidFill>
            <a:srgbClr val="102B37"/>
          </a:solidFill>
          <a:ln w="9715">
            <a:solidFill>
              <a:srgbClr val="68D39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084832"/>
            <a:ext cx="4645152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8D391"/>
                </a:solidFill>
                <a:latin typeface="Hiragino Sans GB"/>
                <a:ea typeface="Hiragino Sans GB"/>
              </a:rPr>
              <a:t>下一步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7889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633472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第二课学习智能客服公共项目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758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40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课后确定第一个个人项目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628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68D3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407408"/>
            <a:ext cx="4352544" cy="43891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F5F2E9"/>
                </a:solidFill>
                <a:latin typeface="Hiragino Sans GB"/>
                <a:ea typeface="Hiragino Sans GB"/>
              </a:rPr>
              <a:t>完成 V0.1 并参加第三课点评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5742432"/>
            <a:ext cx="10533888" cy="548640"/>
          </a:xfrm>
          <a:prstGeom prst="roundRect">
            <a:avLst>
              <a:gd name="adj" fmla="val 23333"/>
            </a:avLst>
          </a:prstGeom>
          <a:solidFill>
            <a:srgbClr val="133843"/>
          </a:solidFill>
          <a:ln w="7016">
            <a:solidFill>
              <a:srgbClr val="416A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870448"/>
            <a:ext cx="1133856" cy="25603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843016"/>
            <a:ext cx="8887968" cy="3108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2E9"/>
                </a:solidFill>
                <a:latin typeface="Hiragino Sans GB"/>
                <a:ea typeface="Hiragino Sans GB"/>
              </a:rPr>
              <a:t>第一课和第二课之间，只准备场景与材料。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182880"/>
            <a:ext cx="9692640" cy="329184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36D6C2"/>
                </a:solidFill>
                <a:latin typeface="Hiragino Sans GB"/>
                <a:ea typeface="Hiragino Sans GB"/>
              </a:rPr>
              <a:t>第四节｜第一课课后准备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0232" y="201168"/>
            <a:ext cx="502920" cy="2743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7B5BC"/>
                </a:solidFill>
                <a:latin typeface="Hiragino Sans GB"/>
                <a:ea typeface="Hiragino Sans GB"/>
              </a:rPr>
              <a:t>52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6556248"/>
            <a:ext cx="10808208" cy="12801"/>
          </a:xfrm>
          <a:prstGeom prst="rect">
            <a:avLst/>
          </a:prstGeom>
          <a:solidFill>
            <a:srgbClr val="416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motif-quiet"/>
          <p:cNvSpPr/>
          <p:nvPr/>
        </p:nvSpPr>
        <p:spPr>
          <a:xfrm>
            <a:off x="694944" y="6501384"/>
            <a:ext cx="10808208" cy="36576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10716768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2E9"/>
                </a:solidFill>
                <a:latin typeface="Hiragino Sans GB"/>
                <a:ea typeface="Hiragino Sans GB"/>
              </a:rPr>
              <a:t>第一课总结</a:t>
            </a:r>
          </a:p>
        </p:txBody>
      </p:sp>
      <p:sp>
        <p:nvSpPr>
          <p:cNvPr id="7" name="deckkit-motif-quiet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38528"/>
            <a:ext cx="10012680" cy="1225296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5F2E9"/>
                </a:solidFill>
                <a:latin typeface="Hiragino Sans GB"/>
                <a:ea typeface="Hiragino Sans GB"/>
              </a:rPr>
              <a:t>先建立共同参照，再开始个人项目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401568"/>
            <a:ext cx="73152" cy="1097280"/>
          </a:xfrm>
          <a:prstGeom prst="rect">
            <a:avLst/>
          </a:prstGeom>
          <a:solidFill>
            <a:srgbClr val="36D6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01568"/>
            <a:ext cx="9674352" cy="10972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7B5BC"/>
                </a:solidFill>
                <a:latin typeface="Hiragino Sans GB"/>
                <a:ea typeface="Hiragino Sans GB"/>
              </a:rPr>
              <a:t>理解学习方式、项目选择逻辑和迁移方向后，下一课将完整拆解企业智能客服与业务办理。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